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3.png" ContentType="image/png"/>
  <Override PartName="/ppt/media/image4.png" ContentType="image/png"/>
  <Override PartName="/ppt/media/image9.png" ContentType="image/png"/>
  <Override PartName="/ppt/media/image18.png" ContentType="image/png"/>
  <Override PartName="/ppt/media/image20.png" ContentType="image/png"/>
  <Override PartName="/ppt/media/image12.png" ContentType="image/png"/>
  <Override PartName="/ppt/media/image3.png" ContentType="image/png"/>
  <Override PartName="/ppt/media/image8.png" ContentType="image/png"/>
  <Override PartName="/ppt/media/image17.png" ContentType="image/png"/>
  <Override PartName="/ppt/media/image11.png" ContentType="image/png"/>
  <Override PartName="/ppt/media/image2.png" ContentType="image/png"/>
  <Override PartName="/ppt/media/image7.png" ContentType="image/png"/>
  <Override PartName="/ppt/media/image16.png" ContentType="image/png"/>
  <Override PartName="/ppt/media/image10.png" ContentType="image/png"/>
  <Override PartName="/ppt/media/image1.png" ContentType="image/png"/>
  <Override PartName="/ppt/media/image28.png" ContentType="image/png"/>
  <Override PartName="/ppt/media/image27.png" ContentType="image/png"/>
  <Override PartName="/ppt/media/image26.png" ContentType="image/png"/>
  <Override PartName="/ppt/media/image25.png" ContentType="image/png"/>
  <Override PartName="/ppt/media/image24.png" ContentType="image/png"/>
  <Override PartName="/ppt/media/image23.png" ContentType="image/png"/>
  <Override PartName="/ppt/media/image22.png" ContentType="image/png"/>
  <Override PartName="/ppt/media/image15.png" ContentType="image/png"/>
  <Override PartName="/ppt/media/image6.png" ContentType="image/png"/>
  <Override PartName="/ppt/media/image14.png" ContentType="image/png"/>
  <Override PartName="/ppt/media/image5.png" ContentType="image/png"/>
  <Override PartName="/ppt/media/image21.png" ContentType="image/png"/>
  <Override PartName="/ppt/media/image19.png" ContentType="image/png"/>
  <Override PartName="/ppt/slides/_rels/slide71.xml.rels" ContentType="application/vnd.openxmlformats-package.relationships+xml"/>
  <Override PartName="/ppt/slides/_rels/slide70.xml.rels" ContentType="application/vnd.openxmlformats-package.relationships+xml"/>
  <Override PartName="/ppt/slides/_rels/slide61.xml.rels" ContentType="application/vnd.openxmlformats-package.relationships+xml"/>
  <Override PartName="/ppt/slides/_rels/slide60.xml.rels" ContentType="application/vnd.openxmlformats-package.relationships+xml"/>
  <Override PartName="/ppt/slides/_rels/slide93.xml.rels" ContentType="application/vnd.openxmlformats-package.relationships+xml"/>
  <Override PartName="/ppt/slides/_rels/slide25.xml.rels" ContentType="application/vnd.openxmlformats-package.relationships+xml"/>
  <Override PartName="/ppt/slides/_rels/slide28.xml.rels" ContentType="application/vnd.openxmlformats-package.relationships+xml"/>
  <Override PartName="/ppt/slides/_rels/slide96.xml.rels" ContentType="application/vnd.openxmlformats-package.relationships+xml"/>
  <Override PartName="/ppt/slides/_rels/slide141.xml.rels" ContentType="application/vnd.openxmlformats-package.relationships+xml"/>
  <Override PartName="/ppt/slides/_rels/slide14.xml.rels" ContentType="application/vnd.openxmlformats-package.relationships+xml"/>
  <Override PartName="/ppt/slides/_rels/slide82.xml.rels" ContentType="application/vnd.openxmlformats-package.relationships+xml"/>
  <Override PartName="/ppt/slides/_rels/slide12.xml.rels" ContentType="application/vnd.openxmlformats-package.relationships+xml"/>
  <Override PartName="/ppt/slides/_rels/slide80.xml.rels" ContentType="application/vnd.openxmlformats-package.relationships+xml"/>
  <Override PartName="/ppt/slides/_rels/slide15.xml.rels" ContentType="application/vnd.openxmlformats-package.relationships+xml"/>
  <Override PartName="/ppt/slides/_rels/slide83.xml.rels" ContentType="application/vnd.openxmlformats-package.relationships+xml"/>
  <Override PartName="/ppt/slides/_rels/slide7.xml.rels" ContentType="application/vnd.openxmlformats-package.relationships+xml"/>
  <Override PartName="/ppt/slides/_rels/slide94.xml.rels" ContentType="application/vnd.openxmlformats-package.relationships+xml"/>
  <Override PartName="/ppt/slides/_rels/slide26.xml.rels" ContentType="application/vnd.openxmlformats-package.relationships+xml"/>
  <Override PartName="/ppt/slides/_rels/slide29.xml.rels" ContentType="application/vnd.openxmlformats-package.relationships+xml"/>
  <Override PartName="/ppt/slides/_rels/slide97.xml.rels" ContentType="application/vnd.openxmlformats-package.relationships+xml"/>
  <Override PartName="/ppt/slides/_rels/slide142.xml.rels" ContentType="application/vnd.openxmlformats-package.relationships+xml"/>
  <Override PartName="/ppt/slides/_rels/slide1.xml.rels" ContentType="application/vnd.openxmlformats-package.relationships+xml"/>
  <Override PartName="/ppt/slides/_rels/slide129.xml.rels" ContentType="application/vnd.openxmlformats-package.relationships+xml"/>
  <Override PartName="/ppt/slides/_rels/slide46.xml.rels" ContentType="application/vnd.openxmlformats-package.relationships+xml"/>
  <Override PartName="/ppt/slides/_rels/slide13.xml.rels" ContentType="application/vnd.openxmlformats-package.relationships+xml"/>
  <Override PartName="/ppt/slides/_rels/slide81.xml.rels" ContentType="application/vnd.openxmlformats-package.relationships+xml"/>
  <Override PartName="/ppt/slides/_rels/slide16.xml.rels" ContentType="application/vnd.openxmlformats-package.relationships+xml"/>
  <Override PartName="/ppt/slides/_rels/slide84.xml.rels" ContentType="application/vnd.openxmlformats-package.relationships+xml"/>
  <Override PartName="/ppt/slides/_rels/slide8.xml.rels" ContentType="application/vnd.openxmlformats-package.relationships+xml"/>
  <Override PartName="/ppt/slides/_rels/slide2.xml.rels" ContentType="application/vnd.openxmlformats-package.relationships+xml"/>
  <Override PartName="/ppt/slides/_rels/slide145.xml.rels" ContentType="application/vnd.openxmlformats-package.relationships+xml"/>
  <Override PartName="/ppt/slides/_rels/slide54.xml.rels" ContentType="application/vnd.openxmlformats-package.relationships+xml"/>
  <Override PartName="/ppt/slides/_rels/slide156.xml.rels" ContentType="application/vnd.openxmlformats-package.relationships+xml"/>
  <Override PartName="/ppt/slides/_rels/slide155.xml.rels" ContentType="application/vnd.openxmlformats-package.relationships+xml"/>
  <Override PartName="/ppt/slides/_rels/slide154.xml.rels" ContentType="application/vnd.openxmlformats-package.relationships+xml"/>
  <Override PartName="/ppt/slides/_rels/slide153.xml.rels" ContentType="application/vnd.openxmlformats-package.relationships+xml"/>
  <Override PartName="/ppt/slides/_rels/slide74.xml.rels" ContentType="application/vnd.openxmlformats-package.relationships+xml"/>
  <Override PartName="/ppt/slides/_rels/slide87.xml.rels" ContentType="application/vnd.openxmlformats-package.relationships+xml"/>
  <Override PartName="/ppt/slides/_rels/slide132.xml.rels" ContentType="application/vnd.openxmlformats-package.relationships+xml"/>
  <Override PartName="/ppt/slides/_rels/slide19.xml.rels" ContentType="application/vnd.openxmlformats-package.relationships+xml"/>
  <Override PartName="/ppt/slides/_rels/slide152.xml.rels" ContentType="application/vnd.openxmlformats-package.relationships+xml"/>
  <Override PartName="/ppt/slides/_rels/slide39.xml.rels" ContentType="application/vnd.openxmlformats-package.relationships+xml"/>
  <Override PartName="/ppt/slides/_rels/slide117.xml.rels" ContentType="application/vnd.openxmlformats-package.relationships+xml"/>
  <Override PartName="/ppt/slides/_rels/slide73.xml.rels" ContentType="application/vnd.openxmlformats-package.relationships+xml"/>
  <Override PartName="/ppt/slides/_rels/slide67.xml.rels" ContentType="application/vnd.openxmlformats-package.relationships+xml"/>
  <Override PartName="/ppt/slides/_rels/slide112.xml.rels" ContentType="application/vnd.openxmlformats-package.relationships+xml"/>
  <Override PartName="/ppt/slides/_rels/slide34.xml.rels" ContentType="application/vnd.openxmlformats-package.relationships+xml"/>
  <Override PartName="/ppt/slides/_rels/slide149.xml.rels" ContentType="application/vnd.openxmlformats-package.relationships+xml"/>
  <Override PartName="/ppt/slides/_rels/slide72.xml.rels" ContentType="application/vnd.openxmlformats-package.relationships+xml"/>
  <Override PartName="/ppt/slides/_rels/slide148.xml.rels" ContentType="application/vnd.openxmlformats-package.relationships+xml"/>
  <Override PartName="/ppt/slides/_rels/slide36.xml.rels" ContentType="application/vnd.openxmlformats-package.relationships+xml"/>
  <Override PartName="/ppt/slides/_rels/slide147.xml.rels" ContentType="application/vnd.openxmlformats-package.relationships+xml"/>
  <Override PartName="/ppt/slides/_rels/slide114.xml.rels" ContentType="application/vnd.openxmlformats-package.relationships+xml"/>
  <Override PartName="/ppt/slides/_rels/slide69.xml.rels" ContentType="application/vnd.openxmlformats-package.relationships+xml"/>
  <Override PartName="/ppt/slides/_rels/slide134.xml.rels" ContentType="application/vnd.openxmlformats-package.relationships+xml"/>
  <Override PartName="/ppt/slides/_rels/slide89.xml.rels" ContentType="application/vnd.openxmlformats-package.relationships+xml"/>
  <Override PartName="/ppt/slides/_rels/slide35.xml.rels" ContentType="application/vnd.openxmlformats-package.relationships+xml"/>
  <Override PartName="/ppt/slides/_rels/slide146.xml.rels" ContentType="application/vnd.openxmlformats-package.relationships+xml"/>
  <Override PartName="/ppt/slides/_rels/slide113.xml.rels" ContentType="application/vnd.openxmlformats-package.relationships+xml"/>
  <Override PartName="/ppt/slides/_rels/slide68.xml.rels" ContentType="application/vnd.openxmlformats-package.relationships+xml"/>
  <Override PartName="/ppt/slides/_rels/slide150.xml.rels" ContentType="application/vnd.openxmlformats-package.relationships+xml"/>
  <Override PartName="/ppt/slides/_rels/slide37.xml.rels" ContentType="application/vnd.openxmlformats-package.relationships+xml"/>
  <Override PartName="/ppt/slides/_rels/slide115.xml.rels" ContentType="application/vnd.openxmlformats-package.relationships+xml"/>
  <Override PartName="/ppt/slides/_rels/slide128.xml.rels" ContentType="application/vnd.openxmlformats-package.relationships+xml"/>
  <Override PartName="/ppt/slides/_rels/slide88.xml.rels" ContentType="application/vnd.openxmlformats-package.relationships+xml"/>
  <Override PartName="/ppt/slides/_rels/slide133.xml.rels" ContentType="application/vnd.openxmlformats-package.relationships+xml"/>
  <Override PartName="/ppt/slides/_rels/slide157.xml.rels" ContentType="application/vnd.openxmlformats-package.relationships+xml"/>
  <Override PartName="/ppt/slides/_rels/slide106.xml.rels" ContentType="application/vnd.openxmlformats-package.relationships+xml"/>
  <Override PartName="/ppt/slides/_rels/slide108.xml.rels" ContentType="application/vnd.openxmlformats-package.relationships+xml"/>
  <Override PartName="/ppt/slides/_rels/slide109.xml.rels" ContentType="application/vnd.openxmlformats-package.relationships+xml"/>
  <Override PartName="/ppt/slides/_rels/slide3.xml.rels" ContentType="application/vnd.openxmlformats-package.relationships+xml"/>
  <Override PartName="/ppt/slides/_rels/slide116.xml.rels" ContentType="application/vnd.openxmlformats-package.relationships+xml"/>
  <Override PartName="/ppt/slides/_rels/slide151.xml.rels" ContentType="application/vnd.openxmlformats-package.relationships+xml"/>
  <Override PartName="/ppt/slides/_rels/slide38.xml.rels" ContentType="application/vnd.openxmlformats-package.relationships+xml"/>
  <Override PartName="/ppt/slides/_rels/slide118.xml.rels" ContentType="application/vnd.openxmlformats-package.relationships+xml"/>
  <Override PartName="/ppt/slides/_rels/slide107.xml.rels" ContentType="application/vnd.openxmlformats-package.relationships+xml"/>
  <Override PartName="/ppt/slides/_rels/slide119.xml.rels" ContentType="application/vnd.openxmlformats-package.relationships+xml"/>
  <Override PartName="/ppt/slides/_rels/slide76.xml.rels" ContentType="application/vnd.openxmlformats-package.relationships+xml"/>
  <Override PartName="/ppt/slides/_rels/slide121.xml.rels" ContentType="application/vnd.openxmlformats-package.relationships+xml"/>
  <Override PartName="/ppt/slides/_rels/slide43.xml.rels" ContentType="application/vnd.openxmlformats-package.relationships+xml"/>
  <Override PartName="/ppt/slides/_rels/slide30.xml.rels" ContentType="application/vnd.openxmlformats-package.relationships+xml"/>
  <Override PartName="/ppt/slides/_rels/slide105.xml.rels" ContentType="application/vnd.openxmlformats-package.relationships+xml"/>
  <Override PartName="/ppt/slides/_rels/slide137.xml.rels" ContentType="application/vnd.openxmlformats-package.relationships+xml"/>
  <Override PartName="/ppt/slides/_rels/slide77.xml.rels" ContentType="application/vnd.openxmlformats-package.relationships+xml"/>
  <Override PartName="/ppt/slides/_rels/slide122.xml.rels" ContentType="application/vnd.openxmlformats-package.relationships+xml"/>
  <Override PartName="/ppt/slides/_rels/slide44.xml.rels" ContentType="application/vnd.openxmlformats-package.relationships+xml"/>
  <Override PartName="/ppt/slides/_rels/slide31.xml.rels" ContentType="application/vnd.openxmlformats-package.relationships+xml"/>
  <Override PartName="/ppt/slides/_rels/slide78.xml.rels" ContentType="application/vnd.openxmlformats-package.relationships+xml"/>
  <Override PartName="/ppt/slides/_rels/slide123.xml.rels" ContentType="application/vnd.openxmlformats-package.relationships+xml"/>
  <Override PartName="/ppt/slides/_rels/slide45.xml.rels" ContentType="application/vnd.openxmlformats-package.relationships+xml"/>
  <Override PartName="/ppt/slides/_rels/slide32.xml.rels" ContentType="application/vnd.openxmlformats-package.relationships+xml"/>
  <Override PartName="/ppt/slides/_rels/slide79.xml.rels" ContentType="application/vnd.openxmlformats-package.relationships+xml"/>
  <Override PartName="/ppt/slides/_rels/slide124.xml.rels" ContentType="application/vnd.openxmlformats-package.relationships+xml"/>
  <Override PartName="/ppt/slides/_rels/slide33.xml.rels" ContentType="application/vnd.openxmlformats-package.relationships+xml"/>
  <Override PartName="/ppt/slides/_rels/slide125.xml.rels" ContentType="application/vnd.openxmlformats-package.relationships+xml"/>
  <Override PartName="/ppt/slides/_rels/slide47.xml.rels" ContentType="application/vnd.openxmlformats-package.relationships+xml"/>
  <Override PartName="/ppt/slides/_rels/slide126.xml.rels" ContentType="application/vnd.openxmlformats-package.relationships+xml"/>
  <Override PartName="/ppt/slides/_rels/slide48.xml.rels" ContentType="application/vnd.openxmlformats-package.relationships+xml"/>
  <Override PartName="/ppt/slides/_rels/slide127.xml.rels" ContentType="application/vnd.openxmlformats-package.relationships+xml"/>
  <Override PartName="/ppt/slides/_rels/slide49.xml.rels" ContentType="application/vnd.openxmlformats-package.relationships+xml"/>
  <Override PartName="/ppt/slides/_rels/slide53.xml.rels" ContentType="application/vnd.openxmlformats-package.relationships+xml"/>
  <Override PartName="/ppt/slides/_rels/slide131.xml.rels" ContentType="application/vnd.openxmlformats-package.relationships+xml"/>
  <Override PartName="/ppt/slides/_rels/slide86.xml.rels" ContentType="application/vnd.openxmlformats-package.relationships+xml"/>
  <Override PartName="/ppt/slides/_rels/slide18.xml.rels" ContentType="application/vnd.openxmlformats-package.relationships+xml"/>
  <Override PartName="/ppt/slides/_rels/slide111.xml.rels" ContentType="application/vnd.openxmlformats-package.relationships+xml"/>
  <Override PartName="/ppt/slides/_rels/slide66.xml.rels" ContentType="application/vnd.openxmlformats-package.relationships+xml"/>
  <Override PartName="/ppt/slides/_rels/slide52.xml.rels" ContentType="application/vnd.openxmlformats-package.relationships+xml"/>
  <Override PartName="/ppt/slides/_rels/slide130.xml.rels" ContentType="application/vnd.openxmlformats-package.relationships+xml"/>
  <Override PartName="/ppt/slides/_rels/slide85.xml.rels" ContentType="application/vnd.openxmlformats-package.relationships+xml"/>
  <Override PartName="/ppt/slides/_rels/slide17.xml.rels" ContentType="application/vnd.openxmlformats-package.relationships+xml"/>
  <Override PartName="/ppt/slides/_rels/slide110.xml.rels" ContentType="application/vnd.openxmlformats-package.relationships+xml"/>
  <Override PartName="/ppt/slides/_rels/slide65.xml.rels" ContentType="application/vnd.openxmlformats-package.relationships+xml"/>
  <Override PartName="/ppt/slides/_rels/slide51.xml.rels" ContentType="application/vnd.openxmlformats-package.relationships+xml"/>
  <Override PartName="/ppt/slides/_rels/slide64.xml.rels" ContentType="application/vnd.openxmlformats-package.relationships+xml"/>
  <Override PartName="/ppt/slides/_rels/slide50.xml.rels" ContentType="application/vnd.openxmlformats-package.relationships+xml"/>
  <Override PartName="/ppt/slides/_rels/slide63.xml.rels" ContentType="application/vnd.openxmlformats-package.relationships+xml"/>
  <Override PartName="/ppt/slides/_rels/slide92.xml.rels" ContentType="application/vnd.openxmlformats-package.relationships+xml"/>
  <Override PartName="/ppt/slides/_rels/slide24.xml.rels" ContentType="application/vnd.openxmlformats-package.relationships+xml"/>
  <Override PartName="/ppt/slides/_rels/slide139.xml.rels" ContentType="application/vnd.openxmlformats-package.relationships+xml"/>
  <Override PartName="/ppt/slides/_rels/slide95.xml.rels" ContentType="application/vnd.openxmlformats-package.relationships+xml"/>
  <Override PartName="/ppt/slides/_rels/slide27.xml.rels" ContentType="application/vnd.openxmlformats-package.relationships+xml"/>
  <Override PartName="/ppt/slides/_rels/slide140.xml.rels" ContentType="application/vnd.openxmlformats-package.relationships+xml"/>
  <Override PartName="/ppt/slides/_rels/slide62.xml.rels" ContentType="application/vnd.openxmlformats-package.relationships+xml"/>
  <Override PartName="/ppt/slides/_rels/slide56.xml.rels" ContentType="application/vnd.openxmlformats-package.relationships+xml"/>
  <Override PartName="/ppt/slides/_rels/slide101.xml.rels" ContentType="application/vnd.openxmlformats-package.relationships+xml"/>
  <Override PartName="/ppt/slides/_rels/slide138.xml.rels" ContentType="application/vnd.openxmlformats-package.relationships+xml"/>
  <Override PartName="/ppt/slides/_rels/slide55.xml.rels" ContentType="application/vnd.openxmlformats-package.relationships+xml"/>
  <Override PartName="/ppt/slides/_rels/slide100.xml.rels" ContentType="application/vnd.openxmlformats-package.relationships+xml"/>
  <Override PartName="/ppt/slides/_rels/slide22.xml.rels" ContentType="application/vnd.openxmlformats-package.relationships+xml"/>
  <Override PartName="/ppt/slides/_rels/slide90.xml.rels" ContentType="application/vnd.openxmlformats-package.relationships+xml"/>
  <Override PartName="/ppt/slides/_rels/slide136.xml.rels" ContentType="application/vnd.openxmlformats-package.relationships+xml"/>
  <Override PartName="/ppt/slides/_rels/slide103.xml.rels" ContentType="application/vnd.openxmlformats-package.relationships+xml"/>
  <Override PartName="/ppt/slides/_rels/slide58.xml.rels" ContentType="application/vnd.openxmlformats-package.relationships+xml"/>
  <Override PartName="/ppt/slides/_rels/slide135.xml.rels" ContentType="application/vnd.openxmlformats-package.relationships+xml"/>
  <Override PartName="/ppt/slides/_rels/slide102.xml.rels" ContentType="application/vnd.openxmlformats-package.relationships+xml"/>
  <Override PartName="/ppt/slides/_rels/slide57.xml.rels" ContentType="application/vnd.openxmlformats-package.relationships+xml"/>
  <Override PartName="/ppt/slides/_rels/slide42.xml.rels" ContentType="application/vnd.openxmlformats-package.relationships+xml"/>
  <Override PartName="/ppt/slides/_rels/slide75.xml.rels" ContentType="application/vnd.openxmlformats-package.relationships+xml"/>
  <Override PartName="/ppt/slides/_rels/slide120.xml.rels" ContentType="application/vnd.openxmlformats-package.relationships+xml"/>
  <Override PartName="/ppt/slides/_rels/slide41.xml.rels" ContentType="application/vnd.openxmlformats-package.relationships+xml"/>
  <Override PartName="/ppt/slides/_rels/slide40.xml.rels" ContentType="application/vnd.openxmlformats-package.relationships+xml"/>
  <Override PartName="/ppt/slides/_rels/slide5.xml.rels" ContentType="application/vnd.openxmlformats-package.relationships+xml"/>
  <Override PartName="/ppt/slides/_rels/slide143.xml.rels" ContentType="application/vnd.openxmlformats-package.relationships+xml"/>
  <Override PartName="/ppt/slides/_rels/slide98.xml.rels" ContentType="application/vnd.openxmlformats-package.relationships+xml"/>
  <Override PartName="/ppt/slides/_rels/slide59.xml.rels" ContentType="application/vnd.openxmlformats-package.relationships+xml"/>
  <Override PartName="/ppt/slides/_rels/slide104.xml.rels" ContentType="application/vnd.openxmlformats-package.relationships+xml"/>
  <Override PartName="/ppt/slides/_rels/slide23.xml.rels" ContentType="application/vnd.openxmlformats-package.relationships+xml"/>
  <Override PartName="/ppt/slides/_rels/slide91.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44.xml.rels" ContentType="application/vnd.openxmlformats-package.relationships+xml"/>
  <Override PartName="/ppt/slides/_rels/slide99.xml.rels" ContentType="application/vnd.openxmlformats-package.relationships+xml"/>
  <Override PartName="/ppt/slides/_rels/slide6.xml.rels" ContentType="application/vnd.openxmlformats-package.relationships+xml"/>
  <Override PartName="/ppt/slides/_rels/slide20.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slide127.xml" ContentType="application/vnd.openxmlformats-officedocument.presentationml.slide+xml"/>
  <Override PartName="/ppt/slides/slide126.xml" ContentType="application/vnd.openxmlformats-officedocument.presentationml.slide+xml"/>
  <Override PartName="/ppt/slides/slide119.xml" ContentType="application/vnd.openxmlformats-officedocument.presentationml.slide+xml"/>
  <Override PartName="/ppt/slides/slide118.xml" ContentType="application/vnd.openxmlformats-officedocument.presentationml.slide+xml"/>
  <Override PartName="/ppt/slides/slide117.xml" ContentType="application/vnd.openxmlformats-officedocument.presentationml.slide+xml"/>
  <Override PartName="/ppt/slides/slide116.xml" ContentType="application/vnd.openxmlformats-officedocument.presentationml.slide+xml"/>
  <Override PartName="/ppt/slides/slide109.xml" ContentType="application/vnd.openxmlformats-officedocument.presentationml.slide+xml"/>
  <Override PartName="/ppt/slides/slide108.xml" ContentType="application/vnd.openxmlformats-officedocument.presentationml.slide+xml"/>
  <Override PartName="/ppt/slides/slide107.xml" ContentType="application/vnd.openxmlformats-officedocument.presentationml.slide+xml"/>
  <Override PartName="/ppt/slides/slide106.xml" ContentType="application/vnd.openxmlformats-officedocument.presentationml.slide+xml"/>
  <Override PartName="/ppt/slides/slide95.xml" ContentType="application/vnd.openxmlformats-officedocument.presentationml.slide+xml"/>
  <Override PartName="/ppt/slides/slide27.xml" ContentType="application/vnd.openxmlformats-officedocument.presentationml.slide+xml"/>
  <Override PartName="/ppt/slides/slide89.xml" ContentType="application/vnd.openxmlformats-officedocument.presentationml.slide+xml"/>
  <Override PartName="/ppt/slides/slide88.xml" ContentType="application/vnd.openxmlformats-officedocument.presentationml.slide+xml"/>
  <Override PartName="/ppt/slides/slide87.xml" ContentType="application/vnd.openxmlformats-officedocument.presentationml.slide+xml"/>
  <Override PartName="/ppt/slides/slide19.xml" ContentType="application/vnd.openxmlformats-officedocument.presentationml.slide+xml"/>
  <Override PartName="/ppt/slides/slide86.xml" ContentType="application/vnd.openxmlformats-officedocument.presentationml.slide+xml"/>
  <Override PartName="/ppt/slides/slide18.xml" ContentType="application/vnd.openxmlformats-officedocument.presentationml.slide+xml"/>
  <Override PartName="/ppt/slides/slide85.xml" ContentType="application/vnd.openxmlformats-officedocument.presentationml.slide+xml"/>
  <Override PartName="/ppt/slides/slide17.xml" ContentType="application/vnd.openxmlformats-officedocument.presentationml.slide+xml"/>
  <Override PartName="/ppt/slides/slide125.xml" ContentType="application/vnd.openxmlformats-officedocument.presentationml.slide+xml"/>
  <Override PartName="/ppt/slides/slide79.xml" ContentType="application/vnd.openxmlformats-officedocument.presentationml.slide+xml"/>
  <Override PartName="/ppt/slides/slide124.xml" ContentType="application/vnd.openxmlformats-officedocument.presentationml.slide+xml"/>
  <Override PartName="/ppt/slides/slide78.xml" ContentType="application/vnd.openxmlformats-officedocument.presentationml.slide+xml"/>
  <Override PartName="/ppt/slides/slide123.xml" ContentType="application/vnd.openxmlformats-officedocument.presentationml.slide+xml"/>
  <Override PartName="/ppt/slides/slide77.xml" ContentType="application/vnd.openxmlformats-officedocument.presentationml.slide+xml"/>
  <Override PartName="/ppt/slides/slide122.xml" ContentType="application/vnd.openxmlformats-officedocument.presentationml.slide+xml"/>
  <Override PartName="/ppt/slides/slide76.xml" ContentType="application/vnd.openxmlformats-officedocument.presentationml.slide+xml"/>
  <Override PartName="/ppt/slides/slide121.xml" ContentType="application/vnd.openxmlformats-officedocument.presentationml.slide+xml"/>
  <Override PartName="/ppt/slides/slide75.xml" ContentType="application/vnd.openxmlformats-officedocument.presentationml.slide+xml"/>
  <Override PartName="/ppt/slides/slide59.xml" ContentType="application/vnd.openxmlformats-officedocument.presentationml.slide+xml"/>
  <Override PartName="/ppt/slides/slide105.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100.xml" ContentType="application/vnd.openxmlformats-officedocument.presentationml.slide+xml"/>
  <Override PartName="/ppt/slides/slide55.xml" ContentType="application/vnd.openxmlformats-officedocument.presentationml.slide+xml"/>
  <Override PartName="/ppt/slides/slide101.xml" ContentType="application/vnd.openxmlformats-officedocument.presentationml.slide+xml"/>
  <Override PartName="/ppt/slides/slide56.xml" ContentType="application/vnd.openxmlformats-officedocument.presentationml.slide+xml"/>
  <Override PartName="/ppt/slides/slide102.xml" ContentType="application/vnd.openxmlformats-officedocument.presentationml.slide+xml"/>
  <Override PartName="/ppt/slides/slide128.xml" ContentType="application/vnd.openxmlformats-officedocument.presentationml.slide+xml"/>
  <Override PartName="/ppt/slides/slide146.xml" ContentType="application/vnd.openxmlformats-officedocument.presentationml.slide+xml"/>
  <Override PartName="/ppt/slides/slide5.xml" ContentType="application/vnd.openxmlformats-officedocument.presentationml.slide+xml"/>
  <Override PartName="/ppt/slides/slide147.xml" ContentType="application/vnd.openxmlformats-officedocument.presentationml.slide+xml"/>
  <Override PartName="/ppt/slides/slide6.xml" ContentType="application/vnd.openxmlformats-officedocument.presentationml.slide+xml"/>
  <Override PartName="/ppt/slides/slide148.xml" ContentType="application/vnd.openxmlformats-officedocument.presentationml.slide+xml"/>
  <Override PartName="/ppt/slides/slide7.xml" ContentType="application/vnd.openxmlformats-officedocument.presentationml.slide+xml"/>
  <Override PartName="/ppt/slides/slide45.xml" ContentType="application/vnd.openxmlformats-officedocument.presentationml.slide+xml"/>
  <Override PartName="/ppt/slides/slide150.xml" ContentType="application/vnd.openxmlformats-officedocument.presentationml.slide+xml"/>
  <Override PartName="/ppt/slides/slide39.xml" ContentType="application/vnd.openxmlformats-officedocument.presentationml.slide+xml"/>
  <Override PartName="/ppt/slides/slide149.xml" ContentType="application/vnd.openxmlformats-officedocument.presentationml.slide+xml"/>
  <Override PartName="/ppt/slides/slide8.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45.xml" ContentType="application/vnd.openxmlformats-officedocument.presentationml.slide+xml"/>
  <Override PartName="/ppt/slides/slide4.xml" ContentType="application/vnd.openxmlformats-officedocument.presentationml.slide+xml"/>
  <Override PartName="/ppt/slides/slide99.xml" ContentType="application/vnd.openxmlformats-officedocument.presentationml.slide+xml"/>
  <Override PartName="/ppt/slides/slide157.xml" ContentType="application/vnd.openxmlformats-officedocument.presentationml.slide+xml"/>
  <Override PartName="/ppt/slides/slide144.xml" ContentType="application/vnd.openxmlformats-officedocument.presentationml.slide+xml"/>
  <Override PartName="/ppt/slides/slide3.xml" ContentType="application/vnd.openxmlformats-officedocument.presentationml.slide+xml"/>
  <Override PartName="/ppt/slides/slide98.xml" ContentType="application/vnd.openxmlformats-officedocument.presentationml.slide+xml"/>
  <Override PartName="/ppt/slides/slide38.xml" ContentType="application/vnd.openxmlformats-officedocument.presentationml.slide+xml"/>
  <Override PartName="/ppt/slides/slide143.xml" ContentType="application/vnd.openxmlformats-officedocument.presentationml.slide+xml"/>
  <Override PartName="/ppt/slides/slide2.xml" ContentType="application/vnd.openxmlformats-officedocument.presentationml.slide+xml"/>
  <Override PartName="/ppt/slides/slide37.xml" ContentType="application/vnd.openxmlformats-officedocument.presentationml.slide+xml"/>
  <Override PartName="/ppt/slides/slide142.xml" ContentType="application/vnd.openxmlformats-officedocument.presentationml.slide+xml"/>
  <Override PartName="/ppt/slides/slide1.xml" ContentType="application/vnd.openxmlformats-officedocument.presentationml.slide+xml"/>
  <Override PartName="/ppt/slides/slide36.xml" ContentType="application/vnd.openxmlformats-officedocument.presentationml.slide+xml"/>
  <Override PartName="/ppt/slides/slide141.xml" ContentType="application/vnd.openxmlformats-officedocument.presentationml.slide+xml"/>
  <Override PartName="/ppt/slides/slide139.xml" ContentType="application/vnd.openxmlformats-officedocument.presentationml.slide+xml"/>
  <Override PartName="/ppt/slides/slide35.xml" ContentType="application/vnd.openxmlformats-officedocument.presentationml.slide+xml"/>
  <Override PartName="/ppt/slides/slide140.xml" ContentType="application/vnd.openxmlformats-officedocument.presentationml.slide+xml"/>
  <Override PartName="/ppt/slides/slide97.xml" ContentType="application/vnd.openxmlformats-officedocument.presentationml.slide+xml"/>
  <Override PartName="/ppt/slides/slide29.xml" ContentType="application/vnd.openxmlformats-officedocument.presentationml.slide+xml"/>
  <Override PartName="/ppt/slides/slide138.xml" ContentType="application/vnd.openxmlformats-officedocument.presentationml.slide+xml"/>
  <Override PartName="/ppt/slides/slide137.xml" ContentType="application/vnd.openxmlformats-officedocument.presentationml.slide+xml"/>
  <Override PartName="/ppt/slides/slide136.xml" ContentType="application/vnd.openxmlformats-officedocument.presentationml.slide+xml"/>
  <Override PartName="/ppt/slides/slide135.xml" ContentType="application/vnd.openxmlformats-officedocument.presentationml.slide+xml"/>
  <Override PartName="/ppt/slides/slide134.xml" ContentType="application/vnd.openxmlformats-officedocument.presentationml.slide+xml"/>
  <Override PartName="/ppt/slides/slide133.xml" ContentType="application/vnd.openxmlformats-officedocument.presentationml.slide+xml"/>
  <Override PartName="/ppt/slides/slide132.xml" ContentType="application/vnd.openxmlformats-officedocument.presentationml.slide+xml"/>
  <Override PartName="/ppt/slides/slide131.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90.xml" ContentType="application/vnd.openxmlformats-officedocument.presentationml.slide+xml"/>
  <Override PartName="/ppt/slides/slide22.xml" ContentType="application/vnd.openxmlformats-officedocument.presentationml.slide+xml"/>
  <Override PartName="/ppt/slides/slide58.xml" ContentType="application/vnd.openxmlformats-officedocument.presentationml.slide+xml"/>
  <Override PartName="/ppt/slides/slide104.xml" ContentType="application/vnd.openxmlformats-officedocument.presentationml.slide+xml"/>
  <Override PartName="/ppt/slides/slide21.xml" ContentType="application/vnd.openxmlformats-officedocument.presentationml.slide+xml"/>
  <Override PartName="/ppt/slides/slide49.xml" ContentType="application/vnd.openxmlformats-officedocument.presentationml.slide+xml"/>
  <Override PartName="/ppt/slides/slide57.xml" ContentType="application/vnd.openxmlformats-officedocument.presentationml.slide+xml"/>
  <Override PartName="/ppt/slides/slide103.xml" ContentType="application/vnd.openxmlformats-officedocument.presentationml.slide+xml"/>
  <Override PartName="/ppt/slides/slide20.xml" ContentType="application/vnd.openxmlformats-officedocument.presentationml.slide+xml"/>
  <Override PartName="/ppt/slides/slide4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47.xml" ContentType="application/vnd.openxmlformats-officedocument.presentationml.slide+xml"/>
  <Override PartName="/ppt/slides/slide10.xml" ContentType="application/vnd.openxmlformats-officedocument.presentationml.slide+xml"/>
  <Override PartName="/ppt/slides/slide84.xml" ContentType="application/vnd.openxmlformats-officedocument.presentationml.slide+xml"/>
  <Override PartName="/ppt/slides/slide16.xml" ContentType="application/vnd.openxmlformats-officedocument.presentationml.slide+xml"/>
  <Override PartName="/ppt/slides/slide81.xml" ContentType="application/vnd.openxmlformats-officedocument.presentationml.slide+xml"/>
  <Override PartName="/ppt/slides/slide13.xml" ContentType="application/vnd.openxmlformats-officedocument.presentationml.slide+xml"/>
  <Override PartName="/ppt/slides/slide46.xml" ContentType="application/vnd.openxmlformats-officedocument.presentationml.slide+xml"/>
  <Override PartName="/ppt/slides/slide83.xml" ContentType="application/vnd.openxmlformats-officedocument.presentationml.slide+xml"/>
  <Override PartName="/ppt/slides/slide15.xml" ContentType="application/vnd.openxmlformats-officedocument.presentationml.slide+xml"/>
  <Override PartName="/ppt/slides/slide80.xml" ContentType="application/vnd.openxmlformats-officedocument.presentationml.slide+xml"/>
  <Override PartName="/ppt/slides/slide12.xml" ContentType="application/vnd.openxmlformats-officedocument.presentationml.slide+xml"/>
  <Override PartName="/ppt/slides/slide82.xml" ContentType="application/vnd.openxmlformats-officedocument.presentationml.slide+xml"/>
  <Override PartName="/ppt/slides/slide14.xml" ContentType="application/vnd.openxmlformats-officedocument.presentationml.slide+xml"/>
  <Override PartName="/ppt/slides/slide23.xml" ContentType="application/vnd.openxmlformats-officedocument.presentationml.slide+xml"/>
  <Override PartName="/ppt/slides/slide91.xml" ContentType="application/vnd.openxmlformats-officedocument.presentationml.slide+xml"/>
  <Override PartName="/ppt/slides/slide94.xml" ContentType="application/vnd.openxmlformats-officedocument.presentationml.slide+xml"/>
  <Override PartName="/ppt/slides/slide26.xml" ContentType="application/vnd.openxmlformats-officedocument.presentationml.slide+xml"/>
  <Override PartName="/ppt/slides/slide24.xml" ContentType="application/vnd.openxmlformats-officedocument.presentationml.slide+xml"/>
  <Override PartName="/ppt/slides/slide92.xml" ContentType="application/vnd.openxmlformats-officedocument.presentationml.slide+xml"/>
  <Override PartName="/ppt/slides/slide96.xml" ContentType="application/vnd.openxmlformats-officedocument.presentationml.slide+xml"/>
  <Override PartName="/ppt/slides/slide28.xml" ContentType="application/vnd.openxmlformats-officedocument.presentationml.slide+xml"/>
  <Override PartName="/ppt/slides/slide25.xml" ContentType="application/vnd.openxmlformats-officedocument.presentationml.slide+xml"/>
  <Override PartName="/ppt/slides/slide93.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110.xml" ContentType="application/vnd.openxmlformats-officedocument.presentationml.slide+xml"/>
  <Override PartName="/ppt/slides/slide65.xml" ContentType="application/vnd.openxmlformats-officedocument.presentationml.slide+xml"/>
  <Override PartName="/ppt/slides/slide111.xml" ContentType="application/vnd.openxmlformats-officedocument.presentationml.slide+xml"/>
  <Override PartName="/ppt/slides/slide66.xml" ContentType="application/vnd.openxmlformats-officedocument.presentationml.slide+xml"/>
  <Override PartName="/ppt/slides/slide112.xml" ContentType="application/vnd.openxmlformats-officedocument.presentationml.slide+xml"/>
  <Override PartName="/ppt/slides/slide67.xml" ContentType="application/vnd.openxmlformats-officedocument.presentationml.slide+xml"/>
  <Override PartName="/ppt/slides/slide113.xml" ContentType="application/vnd.openxmlformats-officedocument.presentationml.slide+xml"/>
  <Override PartName="/ppt/slides/slide68.xml" ContentType="application/vnd.openxmlformats-officedocument.presentationml.slide+xml"/>
  <Override PartName="/ppt/slides/slide114.xml" ContentType="application/vnd.openxmlformats-officedocument.presentationml.slide+xml"/>
  <Override PartName="/ppt/slides/slide69.xml" ContentType="application/vnd.openxmlformats-officedocument.presentationml.slide+xml"/>
  <Override PartName="/ppt/slides/slide115.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120.xml" ContentType="application/vnd.openxmlformats-officedocument.presentationml.slide+xml"/>
  <Override PartName="/ppt/notesSlides/notesSlide124.xml" ContentType="application/vnd.openxmlformats-officedocument.presentationml.notesSlide+xml"/>
  <Override PartName="/ppt/notesSlides/notesSlide64.xml" ContentType="application/vnd.openxmlformats-officedocument.presentationml.notesSlide+xml"/>
  <Override PartName="/ppt/notesSlides/notesSlide123.xml" ContentType="application/vnd.openxmlformats-officedocument.presentationml.notesSlide+xml"/>
  <Override PartName="/ppt/notesSlides/notesSlide63.xml" ContentType="application/vnd.openxmlformats-officedocument.presentationml.notesSlide+xml"/>
  <Override PartName="/ppt/notesSlides/notesSlide122.xml" ContentType="application/vnd.openxmlformats-officedocument.presentationml.notesSlide+xml"/>
  <Override PartName="/ppt/notesSlides/notesSlide62.xml" ContentType="application/vnd.openxmlformats-officedocument.presentationml.notesSlide+xml"/>
  <Override PartName="/ppt/notesSlides/notesSlide121.xml" ContentType="application/vnd.openxmlformats-officedocument.presentationml.notesSlide+xml"/>
  <Override PartName="/ppt/notesSlides/notesSlide61.xml" ContentType="application/vnd.openxmlformats-officedocument.presentationml.notesSlide+xml"/>
  <Override PartName="/ppt/notesSlides/notesSlide120.xml" ContentType="application/vnd.openxmlformats-officedocument.presentationml.notesSlide+xml"/>
  <Override PartName="/ppt/notesSlides/notesSlide60.xml" ContentType="application/vnd.openxmlformats-officedocument.presentationml.notesSlide+xml"/>
  <Override PartName="/ppt/notesSlides/notesSlide114.xml" ContentType="application/vnd.openxmlformats-officedocument.presentationml.notesSlide+xml"/>
  <Override PartName="/ppt/notesSlides/notesSlide54.xml" ContentType="application/vnd.openxmlformats-officedocument.presentationml.notesSlide+xml"/>
  <Override PartName="/ppt/notesSlides/notesSlide113.xml" ContentType="application/vnd.openxmlformats-officedocument.presentationml.notesSlide+xml"/>
  <Override PartName="/ppt/notesSlides/notesSlide53.xml" ContentType="application/vnd.openxmlformats-officedocument.presentationml.notesSlide+xml"/>
  <Override PartName="/ppt/notesSlides/notesSlide112.xml" ContentType="application/vnd.openxmlformats-officedocument.presentationml.notesSlide+xml"/>
  <Override PartName="/ppt/notesSlides/notesSlide52.xml" ContentType="application/vnd.openxmlformats-officedocument.presentationml.notesSlide+xml"/>
  <Override PartName="/ppt/notesSlides/notesSlide111.xml" ContentType="application/vnd.openxmlformats-officedocument.presentationml.notesSlide+xml"/>
  <Override PartName="/ppt/notesSlides/notesSlide51.xml" ContentType="application/vnd.openxmlformats-officedocument.presentationml.notesSlide+xml"/>
  <Override PartName="/ppt/notesSlides/notesSlide110.xml" ContentType="application/vnd.openxmlformats-officedocument.presentationml.notesSlide+xml"/>
  <Override PartName="/ppt/notesSlides/notesSlide50.xml" ContentType="application/vnd.openxmlformats-officedocument.presentationml.notesSlide+xml"/>
  <Override PartName="/ppt/notesSlides/notesSlide109.xml" ContentType="application/vnd.openxmlformats-officedocument.presentationml.notesSlide+xml"/>
  <Override PartName="/ppt/notesSlides/notesSlide49.xml" ContentType="application/vnd.openxmlformats-officedocument.presentationml.notesSlide+xml"/>
  <Override PartName="/ppt/notesSlides/notesSlide108.xml" ContentType="application/vnd.openxmlformats-officedocument.presentationml.notesSlide+xml"/>
  <Override PartName="/ppt/notesSlides/notesSlide48.xml" ContentType="application/vnd.openxmlformats-officedocument.presentationml.notesSlide+xml"/>
  <Override PartName="/ppt/notesSlides/notesSlide107.xml" ContentType="application/vnd.openxmlformats-officedocument.presentationml.notesSlide+xml"/>
  <Override PartName="/ppt/notesSlides/notesSlide47.xml" ContentType="application/vnd.openxmlformats-officedocument.presentationml.notesSlide+xml"/>
  <Override PartName="/ppt/notesSlides/notesSlide106.xml" ContentType="application/vnd.openxmlformats-officedocument.presentationml.notesSlide+xml"/>
  <Override PartName="/ppt/notesSlides/notesSlide46.xml" ContentType="application/vnd.openxmlformats-officedocument.presentationml.notesSlide+xml"/>
  <Override PartName="/ppt/notesSlides/notesSlide105.xml" ContentType="application/vnd.openxmlformats-officedocument.presentationml.notesSlide+xml"/>
  <Override PartName="/ppt/notesSlides/notesSlide45.xml" ContentType="application/vnd.openxmlformats-officedocument.presentationml.notesSlide+xml"/>
  <Override PartName="/ppt/notesSlides/notesSlide34.xml" ContentType="application/vnd.openxmlformats-officedocument.presentationml.notesSlide+xml"/>
  <Override PartName="/ppt/notesSlides/_rels/notesSlide44.xml.rels" ContentType="application/vnd.openxmlformats-package.relationships+xml"/>
  <Override PartName="/ppt/notesSlides/_rels/notesSlide147.xml.rels" ContentType="application/vnd.openxmlformats-package.relationships+xml"/>
  <Override PartName="/ppt/notesSlides/_rels/notesSlide43.xml.rels" ContentType="application/vnd.openxmlformats-package.relationships+xml"/>
  <Override PartName="/ppt/notesSlides/_rels/notesSlide146.xml.rels" ContentType="application/vnd.openxmlformats-package.relationships+xml"/>
  <Override PartName="/ppt/notesSlides/_rels/notesSlide42.xml.rels" ContentType="application/vnd.openxmlformats-package.relationships+xml"/>
  <Override PartName="/ppt/notesSlides/_rels/notesSlide145.xml.rels" ContentType="application/vnd.openxmlformats-package.relationships+xml"/>
  <Override PartName="/ppt/notesSlides/_rels/notesSlide41.xml.rels" ContentType="application/vnd.openxmlformats-package.relationships+xml"/>
  <Override PartName="/ppt/notesSlides/_rels/notesSlide144.xml.rels" ContentType="application/vnd.openxmlformats-package.relationships+xml"/>
  <Override PartName="/ppt/notesSlides/_rels/notesSlide40.xml.rels" ContentType="application/vnd.openxmlformats-package.relationships+xml"/>
  <Override PartName="/ppt/notesSlides/_rels/notesSlide143.xml.rels" ContentType="application/vnd.openxmlformats-package.relationships+xml"/>
  <Override PartName="/ppt/notesSlides/_rels/notesSlide157.xml.rels" ContentType="application/vnd.openxmlformats-package.relationships+xml"/>
  <Override PartName="/ppt/notesSlides/_rels/notesSlide54.xml.rels" ContentType="application/vnd.openxmlformats-package.relationships+xml"/>
  <Override PartName="/ppt/notesSlides/_rels/notesSlide96.xml.rels" ContentType="application/vnd.openxmlformats-package.relationships+xml"/>
  <Override PartName="/ppt/notesSlides/_rels/notesSlide28.xml.rels" ContentType="application/vnd.openxmlformats-package.relationships+xml"/>
  <Override PartName="/ppt/notesSlides/_rels/notesSlide156.xml.rels" ContentType="application/vnd.openxmlformats-package.relationships+xml"/>
  <Override PartName="/ppt/notesSlides/_rels/notesSlide53.xml.rels" ContentType="application/vnd.openxmlformats-package.relationships+xml"/>
  <Override PartName="/ppt/notesSlides/_rels/notesSlide95.xml.rels" ContentType="application/vnd.openxmlformats-package.relationships+xml"/>
  <Override PartName="/ppt/notesSlides/_rels/notesSlide27.xml.rels" ContentType="application/vnd.openxmlformats-package.relationships+xml"/>
  <Override PartName="/ppt/notesSlides/_rels/notesSlide155.xml.rels" ContentType="application/vnd.openxmlformats-package.relationships+xml"/>
  <Override PartName="/ppt/notesSlides/_rels/notesSlide52.xml.rels" ContentType="application/vnd.openxmlformats-package.relationships+xml"/>
  <Override PartName="/ppt/notesSlides/_rels/notesSlide89.xml.rels" ContentType="application/vnd.openxmlformats-package.relationships+xml"/>
  <Override PartName="/ppt/notesSlides/_rels/notesSlide88.xml.rels" ContentType="application/vnd.openxmlformats-package.relationships+xml"/>
  <Override PartName="/ppt/notesSlides/_rels/notesSlide148.xml.rels" ContentType="application/vnd.openxmlformats-package.relationships+xml"/>
  <Override PartName="/ppt/notesSlides/_rels/notesSlide45.xml.rels" ContentType="application/vnd.openxmlformats-package.relationships+xml"/>
  <Override PartName="/ppt/notesSlides/_rels/notesSlide87.xml.rels" ContentType="application/vnd.openxmlformats-package.relationships+xml"/>
  <Override PartName="/ppt/notesSlides/_rels/notesSlide19.xml.rels" ContentType="application/vnd.openxmlformats-package.relationships+xml"/>
  <Override PartName="/ppt/notesSlides/_rels/notesSlide104.xml.rels" ContentType="application/vnd.openxmlformats-package.relationships+xml"/>
  <Override PartName="/ppt/notesSlides/_rels/notesSlide86.xml.rels" ContentType="application/vnd.openxmlformats-package.relationships+xml"/>
  <Override PartName="/ppt/notesSlides/_rels/notesSlide18.xml.rels" ContentType="application/vnd.openxmlformats-package.relationships+xml"/>
  <Override PartName="/ppt/notesSlides/_rels/notesSlide103.xml.rels" ContentType="application/vnd.openxmlformats-package.relationships+xml"/>
  <Override PartName="/ppt/notesSlides/_rels/notesSlide32.xml.rels" ContentType="application/vnd.openxmlformats-package.relationships+xml"/>
  <Override PartName="/ppt/notesSlides/_rels/notesSlide135.xml.rels" ContentType="application/vnd.openxmlformats-package.relationships+xml"/>
  <Override PartName="/ppt/notesSlides/_rels/notesSlide100.xml.rels" ContentType="application/vnd.openxmlformats-package.relationships+xml"/>
  <Override PartName="/ppt/notesSlides/_rels/notesSlide5.xml.rels" ContentType="application/vnd.openxmlformats-package.relationships+xml"/>
  <Override PartName="/ppt/notesSlides/_rels/notesSlide33.xml.rels" ContentType="application/vnd.openxmlformats-package.relationships+xml"/>
  <Override PartName="/ppt/notesSlides/_rels/notesSlide136.xml.rels" ContentType="application/vnd.openxmlformats-package.relationships+xml"/>
  <Override PartName="/ppt/notesSlides/_rels/notesSlide101.xml.rels" ContentType="application/vnd.openxmlformats-package.relationships+xml"/>
  <Override PartName="/ppt/notesSlides/_rels/notesSlide35.xml.rels" ContentType="application/vnd.openxmlformats-package.relationships+xml"/>
  <Override PartName="/ppt/notesSlides/_rels/notesSlide138.xml.rels" ContentType="application/vnd.openxmlformats-package.relationships+xml"/>
  <Override PartName="/ppt/notesSlides/_rels/notesSlide140.xml.rels" ContentType="application/vnd.openxmlformats-package.relationships+xml"/>
  <Override PartName="/ppt/notesSlides/_rels/notesSlide57.xml.rels" ContentType="application/vnd.openxmlformats-package.relationships+xml"/>
  <Override PartName="/ppt/notesSlides/_rels/notesSlide1.xml.rels" ContentType="application/vnd.openxmlformats-package.relationships+xml"/>
  <Override PartName="/ppt/notesSlides/_rels/notesSlide20.xml.rels" ContentType="application/vnd.openxmlformats-package.relationships+xml"/>
  <Override PartName="/ppt/notesSlides/_rels/notesSlide123.xml.rels" ContentType="application/vnd.openxmlformats-package.relationships+xml"/>
  <Override PartName="/ppt/notesSlides/_rels/notesSlide75.xml.rels" ContentType="application/vnd.openxmlformats-package.relationships+xml"/>
  <Override PartName="/ppt/notesSlides/_rels/notesSlide34.xml.rels" ContentType="application/vnd.openxmlformats-package.relationships+xml"/>
  <Override PartName="/ppt/notesSlides/_rels/notesSlide137.xml.rels" ContentType="application/vnd.openxmlformats-package.relationships+xml"/>
  <Override PartName="/ppt/notesSlides/_rels/notesSlide102.xml.rels" ContentType="application/vnd.openxmlformats-package.relationships+xml"/>
  <Override PartName="/ppt/notesSlides/_rels/notesSlide122.xml.rels" ContentType="application/vnd.openxmlformats-package.relationships+xml"/>
  <Override PartName="/ppt/notesSlides/_rels/notesSlide39.xml.rels" ContentType="application/vnd.openxmlformats-package.relationships+xml"/>
  <Override PartName="/ppt/notesSlides/_rels/notesSlide112.xml.rels" ContentType="application/vnd.openxmlformats-package.relationships+xml"/>
  <Override PartName="/ppt/notesSlides/_rels/notesSlide49.xml.rels" ContentType="application/vnd.openxmlformats-package.relationships+xml"/>
  <Override PartName="/ppt/notesSlides/_rels/notesSlide132.xml.rels" ContentType="application/vnd.openxmlformats-package.relationships+xml"/>
  <Override PartName="/ppt/notesSlides/_rels/notesSlide120.xml.rels" ContentType="application/vnd.openxmlformats-package.relationships+xml"/>
  <Override PartName="/ppt/notesSlides/_rels/notesSlide37.xml.rels" ContentType="application/vnd.openxmlformats-package.relationships+xml"/>
  <Override PartName="/ppt/notesSlides/_rels/notesSlide98.xml.rels" ContentType="application/vnd.openxmlformats-package.relationships+xml"/>
  <Override PartName="/ppt/notesSlides/_rels/notesSlide61.xml.rels" ContentType="application/vnd.openxmlformats-package.relationships+xml"/>
  <Override PartName="/ppt/notesSlides/_rels/notesSlide59.xml.rels" ContentType="application/vnd.openxmlformats-package.relationships+xml"/>
  <Override PartName="/ppt/notesSlides/_rels/notesSlide142.xml.rels" ContentType="application/vnd.openxmlformats-package.relationships+xml"/>
  <Override PartName="/ppt/notesSlides/_rels/notesSlide121.xml.rels" ContentType="application/vnd.openxmlformats-package.relationships+xml"/>
  <Override PartName="/ppt/notesSlides/_rels/notesSlide38.xml.rels" ContentType="application/vnd.openxmlformats-package.relationships+xml"/>
  <Override PartName="/ppt/notesSlides/_rels/notesSlide99.xml.rels" ContentType="application/vnd.openxmlformats-package.relationships+xml"/>
  <Override PartName="/ppt/notesSlides/_rels/notesSlide82.xml.rels" ContentType="application/vnd.openxmlformats-package.relationships+xml"/>
  <Override PartName="/ppt/notesSlides/_rels/notesSlide14.xml.rels" ContentType="application/vnd.openxmlformats-package.relationships+xml"/>
  <Override PartName="/ppt/notesSlides/_rels/notesSlide117.xml.rels" ContentType="application/vnd.openxmlformats-package.relationships+xml"/>
  <Override PartName="/ppt/notesSlides/_rels/notesSlide62.xml.rels" ContentType="application/vnd.openxmlformats-package.relationships+xml"/>
  <Override PartName="/ppt/notesSlides/_rels/notesSlide83.xml.rels" ContentType="application/vnd.openxmlformats-package.relationships+xml"/>
  <Override PartName="/ppt/notesSlides/_rels/notesSlide118.xml.rels" ContentType="application/vnd.openxmlformats-package.relationships+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0.xml.rels" ContentType="application/vnd.openxmlformats-package.relationships+xml"/>
  <Override PartName="/ppt/notesSlides/_rels/notesSlide8.xml.rels" ContentType="application/vnd.openxmlformats-package.relationships+xml"/>
  <Override PartName="/ppt/notesSlides/_rels/notesSlide63.xml.rels" ContentType="application/vnd.openxmlformats-package.relationships+xml"/>
  <Override PartName="/ppt/notesSlides/_rels/notesSlide64.xml.rels" ContentType="application/vnd.openxmlformats-package.relationships+xml"/>
  <Override PartName="/ppt/notesSlides/_rels/notesSlide60.xml.rels" ContentType="application/vnd.openxmlformats-package.relationships+xml"/>
  <Override PartName="/ppt/notesSlides/_rels/notesSlide76.xml.rels" ContentType="application/vnd.openxmlformats-package.relationships+xml"/>
  <Override PartName="/ppt/notesSlides/_rels/notesSlide78.xml.rels" ContentType="application/vnd.openxmlformats-package.relationships+xml"/>
  <Override PartName="/ppt/notesSlides/_rels/notesSlide77.xml.rels" ContentType="application/vnd.openxmlformats-package.relationships+xml"/>
  <Override PartName="/ppt/notesSlides/_rels/notesSlide47.xml.rels" ContentType="application/vnd.openxmlformats-package.relationships+xml"/>
  <Override PartName="/ppt/notesSlides/_rels/notesSlide130.xml.rels" ContentType="application/vnd.openxmlformats-package.relationships+xml"/>
  <Override PartName="/ppt/notesSlides/_rels/notesSlide113.xml.rels" ContentType="application/vnd.openxmlformats-package.relationships+xml"/>
  <Override PartName="/ppt/notesSlides/_rels/notesSlide10.xml.rels" ContentType="application/vnd.openxmlformats-package.relationships+xml"/>
  <Override PartName="/ppt/notesSlides/_rels/notesSlide48.xml.rels" ContentType="application/vnd.openxmlformats-package.relationships+xml"/>
  <Override PartName="/ppt/notesSlides/_rels/notesSlide131.xml.rels" ContentType="application/vnd.openxmlformats-package.relationships+xml"/>
  <Override PartName="/ppt/notesSlides/_rels/notesSlide2.xml.rels" ContentType="application/vnd.openxmlformats-package.relationships+xml"/>
  <Override PartName="/ppt/notesSlides/_rels/notesSlide124.xml.rels" ContentType="application/vnd.openxmlformats-package.relationships+xml"/>
  <Override PartName="/ppt/notesSlides/_rels/notesSlide21.xml.rels" ContentType="application/vnd.openxmlformats-package.relationships+xml"/>
  <Override PartName="/ppt/notesSlides/_rels/notesSlide58.xml.rels" ContentType="application/vnd.openxmlformats-package.relationships+xml"/>
  <Override PartName="/ppt/notesSlides/_rels/notesSlide141.xml.rels" ContentType="application/vnd.openxmlformats-package.relationships+xml"/>
  <Override PartName="/ppt/notesSlides/_rels/notesSlide149.xml.rels" ContentType="application/vnd.openxmlformats-package.relationships+xml"/>
  <Override PartName="/ppt/notesSlides/_rels/notesSlide46.xml.rels" ContentType="application/vnd.openxmlformats-package.relationships+xml"/>
  <Override PartName="/ppt/notesSlides/_rels/notesSlide84.xml.rels" ContentType="application/vnd.openxmlformats-package.relationships+xml"/>
  <Override PartName="/ppt/notesSlides/_rels/notesSlide119.xml.rels" ContentType="application/vnd.openxmlformats-package.relationships+xml"/>
  <Override PartName="/ppt/notesSlides/_rels/notesSlide16.xml.rels" ContentType="application/vnd.openxmlformats-package.relationships+xml"/>
  <Override PartName="/ppt/notesSlides/_rels/notesSlide111.xml.rels" ContentType="application/vnd.openxmlformats-package.relationships+xml"/>
  <Override PartName="/ppt/notesSlides/_rels/notesSlide9.xml.rels" ContentType="application/vnd.openxmlformats-package.relationships+xml"/>
  <Override PartName="/ppt/notesSlides/_rels/notesSlide7.xml.rels" ContentType="application/vnd.openxmlformats-package.relationships+xml"/>
  <Override PartName="/ppt/notesSlides/_rels/notesSlide139.xml.rels" ContentType="application/vnd.openxmlformats-package.relationships+xml"/>
  <Override PartName="/ppt/notesSlides/_rels/notesSlide36.xml.rels" ContentType="application/vnd.openxmlformats-package.relationships+xml"/>
  <Override PartName="/ppt/notesSlides/_rels/notesSlide108.xml.rels" ContentType="application/vnd.openxmlformats-package.relationships+xml"/>
  <Override PartName="/ppt/notesSlides/_rels/notesSlide73.xml.rels" ContentType="application/vnd.openxmlformats-package.relationships+xml"/>
  <Override PartName="/ppt/notesSlides/_rels/notesSlide109.xml.rels" ContentType="application/vnd.openxmlformats-package.relationships+xml"/>
  <Override PartName="/ppt/notesSlides/_rels/notesSlide74.xml.rels" ContentType="application/vnd.openxmlformats-package.relationships+xml"/>
  <Override PartName="/ppt/notesSlides/_rels/notesSlide56.xml.rels" ContentType="application/vnd.openxmlformats-package.relationships+xml"/>
  <Override PartName="/ppt/notesSlides/_rels/notesSlide114.xml.rels" ContentType="application/vnd.openxmlformats-package.relationships+xml"/>
  <Override PartName="/ppt/notesSlides/_rels/notesSlide11.xml.rels" ContentType="application/vnd.openxmlformats-package.relationships+xml"/>
  <Override PartName="/ppt/notesSlides/_rels/notesSlide31.xml.rels" ContentType="application/vnd.openxmlformats-package.relationships+xml"/>
  <Override PartName="/ppt/notesSlides/_rels/notesSlide134.xml.rels" ContentType="application/vnd.openxmlformats-package.relationships+xml"/>
  <Override PartName="/ppt/notesSlides/_rels/notesSlide55.xml.rels" ContentType="application/vnd.openxmlformats-package.relationships+xml"/>
  <Override PartName="/ppt/notesSlides/_rels/notesSlide30.xml.rels" ContentType="application/vnd.openxmlformats-package.relationships+xml"/>
  <Override PartName="/ppt/notesSlides/_rels/notesSlide133.xml.rels" ContentType="application/vnd.openxmlformats-package.relationships+xml"/>
  <Override PartName="/ppt/notesSlides/_rels/notesSlide3.xml.rels" ContentType="application/vnd.openxmlformats-package.relationships+xml"/>
  <Override PartName="/ppt/notesSlides/_rels/notesSlide29.xml.rels" ContentType="application/vnd.openxmlformats-package.relationships+xml"/>
  <Override PartName="/ppt/notesSlides/_rels/notesSlide97.xml.rels" ContentType="application/vnd.openxmlformats-package.relationships+xml"/>
  <Override PartName="/ppt/notesSlides/_rels/notesSlide80.xml.rels" ContentType="application/vnd.openxmlformats-package.relationships+xml"/>
  <Override PartName="/ppt/notesSlides/_rels/notesSlide115.xml.rels" ContentType="application/vnd.openxmlformats-package.relationships+xml"/>
  <Override PartName="/ppt/notesSlides/_rels/notesSlide12.xml.rels" ContentType="application/vnd.openxmlformats-package.relationships+xml"/>
  <Override PartName="/ppt/notesSlides/_rels/notesSlide4.xml.rels" ContentType="application/vnd.openxmlformats-package.relationships+xml"/>
  <Override PartName="/ppt/notesSlides/_rels/notesSlide116.xml.rels" ContentType="application/vnd.openxmlformats-package.relationships+xml"/>
  <Override PartName="/ppt/notesSlides/_rels/notesSlide81.xml.rels" ContentType="application/vnd.openxmlformats-package.relationships+xml"/>
  <Override PartName="/ppt/notesSlides/_rels/notesSlide13.xml.rels" ContentType="application/vnd.openxmlformats-package.relationships+xml"/>
  <Override PartName="/ppt/notesSlides/_rels/notesSlide79.xml.rels" ContentType="application/vnd.openxmlformats-package.relationships+xml"/>
  <Override PartName="/ppt/notesSlides/_rels/notesSlide152.xml.rels" ContentType="application/vnd.openxmlformats-package.relationships+xml"/>
  <Override PartName="/ppt/notesSlides/_rels/notesSlide69.xml.rels" ContentType="application/vnd.openxmlformats-package.relationships+xml"/>
  <Override PartName="/ppt/notesSlides/_rels/notesSlide50.xml.rels" ContentType="application/vnd.openxmlformats-package.relationships+xml"/>
  <Override PartName="/ppt/notesSlides/_rels/notesSlide153.xml.rels" ContentType="application/vnd.openxmlformats-package.relationships+xml"/>
  <Override PartName="/ppt/notesSlides/_rels/notesSlide150.xml.rels" ContentType="application/vnd.openxmlformats-package.relationships+xml"/>
  <Override PartName="/ppt/notesSlides/_rels/notesSlide67.xml.rels" ContentType="application/vnd.openxmlformats-package.relationships+xml"/>
  <Override PartName="/ppt/notesSlides/_rels/notesSlide51.xml.rels" ContentType="application/vnd.openxmlformats-package.relationships+xml"/>
  <Override PartName="/ppt/notesSlides/_rels/notesSlide154.xml.rels" ContentType="application/vnd.openxmlformats-package.relationships+xml"/>
  <Override PartName="/ppt/notesSlides/_rels/notesSlide151.xml.rels" ContentType="application/vnd.openxmlformats-package.relationships+xml"/>
  <Override PartName="/ppt/notesSlides/_rels/notesSlide68.xml.rels" ContentType="application/vnd.openxmlformats-package.relationships+xml"/>
  <Override PartName="/ppt/notesSlides/_rels/notesSlide90.xml.rels" ContentType="application/vnd.openxmlformats-package.relationships+xml"/>
  <Override PartName="/ppt/notesSlides/_rels/notesSlide22.xml.rels" ContentType="application/vnd.openxmlformats-package.relationships+xml"/>
  <Override PartName="/ppt/notesSlides/_rels/notesSlide125.xml.rels" ContentType="application/vnd.openxmlformats-package.relationships+xml"/>
  <Override PartName="/ppt/notesSlides/_rels/notesSlide65.xml.rels" ContentType="application/vnd.openxmlformats-package.relationships+xml"/>
  <Override PartName="/ppt/notesSlides/_rels/notesSlide91.xml.rels" ContentType="application/vnd.openxmlformats-package.relationships+xml"/>
  <Override PartName="/ppt/notesSlides/_rels/notesSlide23.xml.rels" ContentType="application/vnd.openxmlformats-package.relationships+xml"/>
  <Override PartName="/ppt/notesSlides/_rels/notesSlide126.xml.rels" ContentType="application/vnd.openxmlformats-package.relationships+xml"/>
  <Override PartName="/ppt/notesSlides/_rels/notesSlide66.xml.rels" ContentType="application/vnd.openxmlformats-package.relationships+xml"/>
  <Override PartName="/ppt/notesSlides/_rels/notesSlide24.xml.rels" ContentType="application/vnd.openxmlformats-package.relationships+xml"/>
  <Override PartName="/ppt/notesSlides/_rels/notesSlide92.xml.rels" ContentType="application/vnd.openxmlformats-package.relationships+xml"/>
  <Override PartName="/ppt/notesSlides/_rels/notesSlide127.xml.rels" ContentType="application/vnd.openxmlformats-package.relationships+xml"/>
  <Override PartName="/ppt/notesSlides/_rels/notesSlide25.xml.rels" ContentType="application/vnd.openxmlformats-package.relationships+xml"/>
  <Override PartName="/ppt/notesSlides/_rels/notesSlide93.xml.rels" ContentType="application/vnd.openxmlformats-package.relationships+xml"/>
  <Override PartName="/ppt/notesSlides/_rels/notesSlide128.xml.rels" ContentType="application/vnd.openxmlformats-package.relationships+xml"/>
  <Override PartName="/ppt/notesSlides/_rels/notesSlide94.xml.rels" ContentType="application/vnd.openxmlformats-package.relationships+xml"/>
  <Override PartName="/ppt/notesSlides/_rels/notesSlide26.xml.rels" ContentType="application/vnd.openxmlformats-package.relationships+xml"/>
  <Override PartName="/ppt/notesSlides/_rels/notesSlide129.xml.rels" ContentType="application/vnd.openxmlformats-package.relationships+xml"/>
  <Override PartName="/ppt/notesSlides/_rels/notesSlide105.xml.rels" ContentType="application/vnd.openxmlformats-package.relationships+xml"/>
  <Override PartName="/ppt/notesSlides/_rels/notesSlide70.xml.rels" ContentType="application/vnd.openxmlformats-package.relationships+xml"/>
  <Override PartName="/ppt/notesSlides/_rels/notesSlide106.xml.rels" ContentType="application/vnd.openxmlformats-package.relationships+xml"/>
  <Override PartName="/ppt/notesSlides/_rels/notesSlide71.xml.rels" ContentType="application/vnd.openxmlformats-package.relationships+xml"/>
  <Override PartName="/ppt/notesSlides/_rels/notesSlide107.xml.rels" ContentType="application/vnd.openxmlformats-package.relationships+xml"/>
  <Override PartName="/ppt/notesSlides/_rels/notesSlide72.xml.rels" ContentType="application/vnd.openxmlformats-package.relationships+xml"/>
  <Override PartName="/ppt/notesSlides/_rels/notesSlide17.xml.rels" ContentType="application/vnd.openxmlformats-package.relationships+xml"/>
  <Override PartName="/ppt/notesSlides/_rels/notesSlide85.xml.rels" ContentType="application/vnd.openxmlformats-package.relationships+xml"/>
  <Override PartName="/ppt/notesSlides/notesSlide7.xml" ContentType="application/vnd.openxmlformats-officedocument.presentationml.notesSlide+xml"/>
  <Override PartName="/ppt/notesSlides/notesSlide139.xml" ContentType="application/vnd.openxmlformats-officedocument.presentationml.notesSlide+xml"/>
  <Override PartName="/ppt/notesSlides/notesSlide79.xml" ContentType="application/vnd.openxmlformats-officedocument.presentationml.notesSlide+xml"/>
  <Override PartName="/ppt/notesSlides/notesSlide33.xml" ContentType="application/vnd.openxmlformats-officedocument.presentationml.notesSlide+xml"/>
  <Override PartName="/ppt/notesSlides/notesSlide138.xml" ContentType="application/vnd.openxmlformats-officedocument.presentationml.notesSlide+xml"/>
  <Override PartName="/ppt/notesSlides/notesSlide78.xml" ContentType="application/vnd.openxmlformats-officedocument.presentationml.notesSlide+xml"/>
  <Override PartName="/ppt/notesSlides/notesSlide6.xml" ContentType="application/vnd.openxmlformats-officedocument.presentationml.notesSlide+xml"/>
  <Override PartName="/ppt/notesSlides/notesSlide32.xml" ContentType="application/vnd.openxmlformats-officedocument.presentationml.notesSlide+xml"/>
  <Override PartName="/ppt/notesSlides/notesSlide137.xml" ContentType="application/vnd.openxmlformats-officedocument.presentationml.notesSlide+xml"/>
  <Override PartName="/ppt/notesSlides/notesSlide77.xml" ContentType="application/vnd.openxmlformats-officedocument.presentationml.notesSlide+xml"/>
  <Override PartName="/ppt/notesSlides/notesSlide5.xml" ContentType="application/vnd.openxmlformats-officedocument.presentationml.notesSlide+xml"/>
  <Override PartName="/ppt/notesSlides/notesSlide31.xml" ContentType="application/vnd.openxmlformats-officedocument.presentationml.notesSlide+xml"/>
  <Override PartName="/ppt/notesSlides/notesSlide119.xml" ContentType="application/vnd.openxmlformats-officedocument.presentationml.notesSlide+xml"/>
  <Override PartName="/ppt/notesSlides/notesSlide59.xml" ContentType="application/vnd.openxmlformats-officedocument.presentationml.notesSlide+xml"/>
  <Override PartName="/ppt/notesSlides/notesSlide136.xml" ContentType="application/vnd.openxmlformats-officedocument.presentationml.notesSlide+xml"/>
  <Override PartName="/ppt/notesSlides/notesSlide76.xml" ContentType="application/vnd.openxmlformats-officedocument.presentationml.notesSlide+xml"/>
  <Override PartName="/ppt/notesSlides/notesSlide4.xml" ContentType="application/vnd.openxmlformats-officedocument.presentationml.notesSlide+xml"/>
  <Override PartName="/ppt/notesSlides/notesSlide30.xml" ContentType="application/vnd.openxmlformats-officedocument.presentationml.notesSlide+xml"/>
  <Override PartName="/ppt/notesSlides/notesSlide21.xml" ContentType="application/vnd.openxmlformats-officedocument.presentationml.notesSlide+xml"/>
  <Override PartName="/ppt/notesSlides/notesSlide118.xml" ContentType="application/vnd.openxmlformats-officedocument.presentationml.notesSlide+xml"/>
  <Override PartName="/ppt/notesSlides/notesSlide58.xml" ContentType="application/vnd.openxmlformats-officedocument.presentationml.notesSlide+xml"/>
  <Override PartName="/ppt/notesSlides/notesSlide16.xml" ContentType="application/vnd.openxmlformats-officedocument.presentationml.notesSlide+xml"/>
  <Override PartName="/ppt/notesSlides/notesSlide144.xml" ContentType="application/vnd.openxmlformats-officedocument.presentationml.notesSlide+xml"/>
  <Override PartName="/ppt/notesSlides/notesSlide84.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135.xml" ContentType="application/vnd.openxmlformats-officedocument.presentationml.notesSlide+xml"/>
  <Override PartName="/ppt/notesSlides/notesSlide75.xml" ContentType="application/vnd.openxmlformats-officedocument.presentationml.notesSlide+xml"/>
  <Override PartName="/ppt/notesSlides/notesSlide117.xml" ContentType="application/vnd.openxmlformats-officedocument.presentationml.notesSlide+xml"/>
  <Override PartName="/ppt/notesSlides/notesSlide57.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81.xml" ContentType="application/vnd.openxmlformats-officedocument.presentationml.notesSlide+xml"/>
  <Override PartName="/ppt/notesSlides/notesSlide141.xml" ContentType="application/vnd.openxmlformats-officedocument.presentationml.notesSlide+xml"/>
  <Override PartName="/ppt/notesSlides/notesSlide15.xml" ContentType="application/vnd.openxmlformats-officedocument.presentationml.notesSlide+xml"/>
  <Override PartName="/ppt/notesSlides/notesSlide143.xml" ContentType="application/vnd.openxmlformats-officedocument.presentationml.notesSlide+xml"/>
  <Override PartName="/ppt/notesSlides/notesSlide83.xml" ContentType="application/vnd.openxmlformats-officedocument.presentationml.notesSlide+xml"/>
  <Override PartName="/ppt/notesSlides/notesSlide14.xml" ContentType="application/vnd.openxmlformats-officedocument.presentationml.notesSlide+xml"/>
  <Override PartName="/ppt/notesSlides/notesSlide82.xml" ContentType="application/vnd.openxmlformats-officedocument.presentationml.notesSlide+xml"/>
  <Override PartName="/ppt/notesSlides/notesSlide142.xml" ContentType="application/vnd.openxmlformats-officedocument.presentationml.notesSlide+xml"/>
  <Override PartName="/ppt/notesSlides/notesSlide10.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1.xml" ContentType="application/vnd.openxmlformats-officedocument.presentationml.notesSlide+xml"/>
  <Override PartName="/ppt/notesSlides/notesSlide37.xml" ContentType="application/vnd.openxmlformats-officedocument.presentationml.notesSlide+xml"/>
  <Override PartName="/ppt/notesSlides/notesSlide2.xml" ContentType="application/vnd.openxmlformats-officedocument.presentationml.notesSlide+xml"/>
  <Override PartName="/ppt/notesSlides/notesSlide116.xml" ContentType="application/vnd.openxmlformats-officedocument.presentationml.notesSlide+xml"/>
  <Override PartName="/ppt/notesSlides/notesSlide56.xml" ContentType="application/vnd.openxmlformats-officedocument.presentationml.notesSlide+xml"/>
  <Override PartName="/ppt/notesSlides/notesSlide74.xml" ContentType="application/vnd.openxmlformats-officedocument.presentationml.notesSlide+xml"/>
  <Override PartName="/ppt/notesSlides/notesSlide134.xml" ContentType="application/vnd.openxmlformats-officedocument.presentationml.notesSlide+xml"/>
  <Override PartName="/ppt/notesSlides/notesSlide115.xml" ContentType="application/vnd.openxmlformats-officedocument.presentationml.notesSlide+xml"/>
  <Override PartName="/ppt/notesSlides/notesSlide55.xml" ContentType="application/vnd.openxmlformats-officedocument.presentationml.notesSlide+xml"/>
  <Override PartName="/ppt/notesSlides/notesSlide73.xml" ContentType="application/vnd.openxmlformats-officedocument.presentationml.notesSlide+xml"/>
  <Override PartName="/ppt/notesSlides/notesSlide133.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12.xml" ContentType="application/vnd.openxmlformats-officedocument.presentationml.notesSlide+xml"/>
  <Override PartName="/ppt/notesSlides/notesSlide80.xml" ContentType="application/vnd.openxmlformats-officedocument.presentationml.notesSlide+xml"/>
  <Override PartName="/ppt/notesSlides/notesSlide140.xml" ContentType="application/vnd.openxmlformats-officedocument.presentationml.notesSlide+xml"/>
  <Override PartName="/ppt/notesSlides/notesSlide9.xml" ContentType="application/vnd.openxmlformats-officedocument.presentationml.notesSlide+xml"/>
  <Override PartName="/ppt/notesSlides/notesSlide152.xml" ContentType="application/vnd.openxmlformats-officedocument.presentationml.notesSlide+xml"/>
  <Override PartName="/ppt/notesSlides/notesSlide92.xml" ContentType="application/vnd.openxmlformats-officedocument.presentationml.notesSlide+xml"/>
  <Override PartName="/ppt/notesSlides/notesSlide24.xml" ContentType="application/vnd.openxmlformats-officedocument.presentationml.notesSlide+xml"/>
  <Override PartName="/ppt/notesSlides/notesSlide8.xml" ContentType="application/vnd.openxmlformats-officedocument.presentationml.notesSlide+xml"/>
  <Override PartName="/ppt/notesSlides/notesSlide153.xml" ContentType="application/vnd.openxmlformats-officedocument.presentationml.notesSlide+xml"/>
  <Override PartName="/ppt/notesSlides/notesSlide93.xml" ContentType="application/vnd.openxmlformats-officedocument.presentationml.notesSlide+xml"/>
  <Override PartName="/ppt/notesSlides/notesSlide25.xml" ContentType="application/vnd.openxmlformats-officedocument.presentationml.notesSlide+xml"/>
  <Override PartName="/ppt/notesSlides/notesSlide90.xml" ContentType="application/vnd.openxmlformats-officedocument.presentationml.notesSlide+xml"/>
  <Override PartName="/ppt/notesSlides/notesSlide150.xml" ContentType="application/vnd.openxmlformats-officedocument.presentationml.notesSlide+xml"/>
  <Override PartName="/ppt/notesSlides/notesSlide22.xml" ContentType="application/vnd.openxmlformats-officedocument.presentationml.notesSlide+xml"/>
  <Override PartName="/ppt/notesSlides/notesSlide154.xml" ContentType="application/vnd.openxmlformats-officedocument.presentationml.notesSlide+xml"/>
  <Override PartName="/ppt/notesSlides/notesSlide94.xml" ContentType="application/vnd.openxmlformats-officedocument.presentationml.notesSlide+xml"/>
  <Override PartName="/ppt/notesSlides/notesSlide26.xml" ContentType="application/vnd.openxmlformats-officedocument.presentationml.notesSlide+xml"/>
  <Override PartName="/ppt/notesSlides/notesSlide91.xml" ContentType="application/vnd.openxmlformats-officedocument.presentationml.notesSlide+xml"/>
  <Override PartName="/ppt/notesSlides/notesSlide151.xml" ContentType="application/vnd.openxmlformats-officedocument.presentationml.notesSlide+xml"/>
  <Override PartName="/ppt/notesSlides/notesSlide23.xml" ContentType="application/vnd.openxmlformats-officedocument.presentationml.notesSlide+xml"/>
  <Override PartName="/ppt/notesSlides/notesSlide125.xml" ContentType="application/vnd.openxmlformats-officedocument.presentationml.notesSlide+xml"/>
  <Override PartName="/ppt/notesSlides/notesSlide65.xml" ContentType="application/vnd.openxmlformats-officedocument.presentationml.notesSlide+xml"/>
  <Override PartName="/ppt/notesSlides/notesSlide126.xml" ContentType="application/vnd.openxmlformats-officedocument.presentationml.notesSlide+xml"/>
  <Override PartName="/ppt/notesSlides/notesSlide66.xml" ContentType="application/vnd.openxmlformats-officedocument.presentationml.notesSlide+xml"/>
  <Override PartName="/ppt/notesSlides/notesSlide127.xml" ContentType="application/vnd.openxmlformats-officedocument.presentationml.notesSlide+xml"/>
  <Override PartName="/ppt/notesSlides/notesSlide67.xml" ContentType="application/vnd.openxmlformats-officedocument.presentationml.notesSlide+xml"/>
  <Override PartName="/ppt/notesSlides/notesSlide128.xml" ContentType="application/vnd.openxmlformats-officedocument.presentationml.notesSlide+xml"/>
  <Override PartName="/ppt/notesSlides/notesSlide68.xml" ContentType="application/vnd.openxmlformats-officedocument.presentationml.notesSlide+xml"/>
  <Override PartName="/ppt/notesSlides/notesSlide129.xml" ContentType="application/vnd.openxmlformats-officedocument.presentationml.notesSlide+xml"/>
  <Override PartName="/ppt/notesSlides/notesSlide69.xml" ContentType="application/vnd.openxmlformats-officedocument.presentationml.notesSlide+xml"/>
  <Override PartName="/ppt/notesSlides/notesSlide130.xml" ContentType="application/vnd.openxmlformats-officedocument.presentationml.notesSlide+xml"/>
  <Override PartName="/ppt/notesSlides/notesSlide70.xml" ContentType="application/vnd.openxmlformats-officedocument.presentationml.notesSlide+xml"/>
  <Override PartName="/ppt/notesSlides/notesSlide131.xml" ContentType="application/vnd.openxmlformats-officedocument.presentationml.notesSlide+xml"/>
  <Override PartName="/ppt/notesSlides/notesSlide71.xml" ContentType="application/vnd.openxmlformats-officedocument.presentationml.notesSlide+xml"/>
  <Override PartName="/ppt/notesSlides/notesSlide132.xml" ContentType="application/vnd.openxmlformats-officedocument.presentationml.notesSlide+xml"/>
  <Override PartName="/ppt/notesSlides/notesSlide72.xml" ContentType="application/vnd.openxmlformats-officedocument.presentationml.notesSlide+xml"/>
  <Override PartName="/ppt/notesSlides/notesSlide17.xml" ContentType="application/vnd.openxmlformats-officedocument.presentationml.notesSlide+xml"/>
  <Override PartName="/ppt/notesSlides/notesSlide145.xml" ContentType="application/vnd.openxmlformats-officedocument.presentationml.notesSlide+xml"/>
  <Override PartName="/ppt/notesSlides/notesSlide85.xml" ContentType="application/vnd.openxmlformats-officedocument.presentationml.notesSlide+xml"/>
  <Override PartName="/ppt/notesSlides/notesSlide18.xml" ContentType="application/vnd.openxmlformats-officedocument.presentationml.notesSlide+xml"/>
  <Override PartName="/ppt/notesSlides/notesSlide146.xml" ContentType="application/vnd.openxmlformats-officedocument.presentationml.notesSlide+xml"/>
  <Override PartName="/ppt/notesSlides/notesSlide86.xml" ContentType="application/vnd.openxmlformats-officedocument.presentationml.notesSlide+xml"/>
  <Override PartName="/ppt/notesSlides/notesSlide19.xml" ContentType="application/vnd.openxmlformats-officedocument.presentationml.notesSlide+xml"/>
  <Override PartName="/ppt/notesSlides/notesSlide147.xml" ContentType="application/vnd.openxmlformats-officedocument.presentationml.notesSlide+xml"/>
  <Override PartName="/ppt/notesSlides/notesSlide87.xml" ContentType="application/vnd.openxmlformats-officedocument.presentationml.notesSlide+xml"/>
  <Override PartName="/ppt/notesSlides/notesSlide148.xml" ContentType="application/vnd.openxmlformats-officedocument.presentationml.notesSlide+xml"/>
  <Override PartName="/ppt/notesSlides/notesSlide88.xml" ContentType="application/vnd.openxmlformats-officedocument.presentationml.notesSlide+xml"/>
  <Override PartName="/ppt/notesSlides/notesSlide149.xml" ContentType="application/vnd.openxmlformats-officedocument.presentationml.notesSlide+xml"/>
  <Override PartName="/ppt/notesSlides/notesSlide89.xml" ContentType="application/vnd.openxmlformats-officedocument.presentationml.notesSlide+xml"/>
  <Override PartName="/ppt/notesSlides/notesSlide27.xml" ContentType="application/vnd.openxmlformats-officedocument.presentationml.notesSlide+xml"/>
  <Override PartName="/ppt/notesSlides/notesSlide155.xml" ContentType="application/vnd.openxmlformats-officedocument.presentationml.notesSlide+xml"/>
  <Override PartName="/ppt/notesSlides/notesSlide95.xml" ContentType="application/vnd.openxmlformats-officedocument.presentationml.notesSlide+xml"/>
  <Override PartName="/ppt/notesSlides/notesSlide28.xml" ContentType="application/vnd.openxmlformats-officedocument.presentationml.notesSlide+xml"/>
  <Override PartName="/ppt/notesSlides/notesSlide156.xml" ContentType="application/vnd.openxmlformats-officedocument.presentationml.notesSlide+xml"/>
  <Override PartName="/ppt/notesSlides/notesSlide96.xml" ContentType="application/vnd.openxmlformats-officedocument.presentationml.notesSlide+xml"/>
  <Override PartName="/ppt/notesSlides/notesSlide29.xml" ContentType="application/vnd.openxmlformats-officedocument.presentationml.notesSlide+xml"/>
  <Override PartName="/ppt/notesSlides/notesSlide157.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40.xml" ContentType="application/vnd.openxmlformats-officedocument.presentationml.notesSlide+xml"/>
  <Override PartName="/ppt/notesSlides/notesSlide100.xml" ContentType="application/vnd.openxmlformats-officedocument.presentationml.notesSlide+xml"/>
  <Override PartName="/ppt/notesSlides/notesSlide41.xml" ContentType="application/vnd.openxmlformats-officedocument.presentationml.notesSlide+xml"/>
  <Override PartName="/ppt/notesSlides/notesSlide101.xml" ContentType="application/vnd.openxmlformats-officedocument.presentationml.notesSlide+xml"/>
  <Override PartName="/ppt/notesSlides/notesSlide42.xml" ContentType="application/vnd.openxmlformats-officedocument.presentationml.notesSlide+xml"/>
  <Override PartName="/ppt/notesSlides/notesSlide102.xml" ContentType="application/vnd.openxmlformats-officedocument.presentationml.notesSlide+xml"/>
  <Override PartName="/ppt/notesSlides/notesSlide43.xml" ContentType="application/vnd.openxmlformats-officedocument.presentationml.notesSlide+xml"/>
  <Override PartName="/ppt/notesSlides/notesSlide103.xml" ContentType="application/vnd.openxmlformats-officedocument.presentationml.notesSlide+xml"/>
  <Override PartName="/ppt/notesSlides/notesSlide44.xml" ContentType="application/vnd.openxmlformats-officedocument.presentationml.notesSlide+xml"/>
  <Override PartName="/ppt/notesSlides/notesSlide10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11" r:id="rId69"/>
    <p:sldId id="312" r:id="rId70"/>
    <p:sldId id="313" r:id="rId71"/>
    <p:sldId id="314" r:id="rId72"/>
    <p:sldId id="315" r:id="rId73"/>
    <p:sldId id="316" r:id="rId74"/>
    <p:sldId id="317" r:id="rId75"/>
    <p:sldId id="318" r:id="rId76"/>
    <p:sldId id="319" r:id="rId77"/>
    <p:sldId id="320" r:id="rId78"/>
    <p:sldId id="321" r:id="rId79"/>
    <p:sldId id="322" r:id="rId80"/>
    <p:sldId id="323" r:id="rId81"/>
    <p:sldId id="324" r:id="rId82"/>
    <p:sldId id="325" r:id="rId83"/>
    <p:sldId id="326" r:id="rId84"/>
    <p:sldId id="327" r:id="rId85"/>
    <p:sldId id="328" r:id="rId86"/>
    <p:sldId id="329" r:id="rId87"/>
    <p:sldId id="330" r:id="rId88"/>
    <p:sldId id="331" r:id="rId89"/>
    <p:sldId id="332" r:id="rId90"/>
    <p:sldId id="333" r:id="rId91"/>
    <p:sldId id="334" r:id="rId92"/>
    <p:sldId id="335" r:id="rId93"/>
    <p:sldId id="336" r:id="rId94"/>
    <p:sldId id="337" r:id="rId95"/>
    <p:sldId id="338" r:id="rId96"/>
    <p:sldId id="339" r:id="rId97"/>
    <p:sldId id="340" r:id="rId98"/>
    <p:sldId id="341" r:id="rId99"/>
    <p:sldId id="342" r:id="rId100"/>
    <p:sldId id="343" r:id="rId101"/>
    <p:sldId id="344" r:id="rId102"/>
    <p:sldId id="345" r:id="rId103"/>
    <p:sldId id="346" r:id="rId104"/>
    <p:sldId id="347" r:id="rId105"/>
    <p:sldId id="348" r:id="rId106"/>
    <p:sldId id="349" r:id="rId107"/>
    <p:sldId id="350" r:id="rId108"/>
    <p:sldId id="351" r:id="rId109"/>
    <p:sldId id="352" r:id="rId110"/>
    <p:sldId id="353" r:id="rId111"/>
    <p:sldId id="354" r:id="rId112"/>
    <p:sldId id="355" r:id="rId113"/>
    <p:sldId id="356" r:id="rId114"/>
    <p:sldId id="357" r:id="rId115"/>
    <p:sldId id="358" r:id="rId116"/>
    <p:sldId id="359" r:id="rId117"/>
    <p:sldId id="360" r:id="rId118"/>
    <p:sldId id="361" r:id="rId119"/>
    <p:sldId id="362" r:id="rId120"/>
    <p:sldId id="363" r:id="rId121"/>
    <p:sldId id="364" r:id="rId122"/>
    <p:sldId id="365" r:id="rId123"/>
    <p:sldId id="366" r:id="rId124"/>
    <p:sldId id="367" r:id="rId125"/>
    <p:sldId id="368" r:id="rId126"/>
    <p:sldId id="369" r:id="rId127"/>
    <p:sldId id="370" r:id="rId128"/>
    <p:sldId id="371" r:id="rId129"/>
    <p:sldId id="372" r:id="rId130"/>
    <p:sldId id="373" r:id="rId131"/>
    <p:sldId id="374" r:id="rId132"/>
    <p:sldId id="375" r:id="rId133"/>
    <p:sldId id="376" r:id="rId134"/>
    <p:sldId id="377" r:id="rId135"/>
    <p:sldId id="378" r:id="rId136"/>
    <p:sldId id="379" r:id="rId137"/>
    <p:sldId id="380" r:id="rId138"/>
    <p:sldId id="381" r:id="rId139"/>
    <p:sldId id="382" r:id="rId140"/>
    <p:sldId id="383" r:id="rId141"/>
    <p:sldId id="384" r:id="rId142"/>
    <p:sldId id="385" r:id="rId143"/>
    <p:sldId id="386" r:id="rId144"/>
    <p:sldId id="387" r:id="rId145"/>
    <p:sldId id="388" r:id="rId146"/>
    <p:sldId id="389" r:id="rId147"/>
    <p:sldId id="390" r:id="rId148"/>
    <p:sldId id="391" r:id="rId149"/>
    <p:sldId id="392" r:id="rId150"/>
    <p:sldId id="393" r:id="rId151"/>
    <p:sldId id="394" r:id="rId152"/>
    <p:sldId id="395" r:id="rId153"/>
    <p:sldId id="396" r:id="rId154"/>
    <p:sldId id="397" r:id="rId155"/>
    <p:sldId id="398" r:id="rId156"/>
    <p:sldId id="399" r:id="rId157"/>
    <p:sldId id="400" r:id="rId158"/>
    <p:sldId id="401" r:id="rId159"/>
    <p:sldId id="402" r:id="rId160"/>
    <p:sldId id="403" r:id="rId161"/>
    <p:sldId id="404" r:id="rId162"/>
    <p:sldId id="405" r:id="rId163"/>
    <p:sldId id="406" r:id="rId164"/>
    <p:sldId id="407" r:id="rId165"/>
    <p:sldId id="408" r:id="rId166"/>
    <p:sldId id="409" r:id="rId167"/>
    <p:sldId id="410" r:id="rId168"/>
    <p:sldId id="411" r:id="rId169"/>
    <p:sldId id="412" r:id="rId17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 Id="rId78" Type="http://schemas.openxmlformats.org/officeDocument/2006/relationships/slide" Target="slides/slide65.xml"/><Relationship Id="rId79" Type="http://schemas.openxmlformats.org/officeDocument/2006/relationships/slide" Target="slides/slide66.xml"/><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 Id="rId85" Type="http://schemas.openxmlformats.org/officeDocument/2006/relationships/slide" Target="slides/slide72.xml"/><Relationship Id="rId86" Type="http://schemas.openxmlformats.org/officeDocument/2006/relationships/slide" Target="slides/slide73.xml"/><Relationship Id="rId87" Type="http://schemas.openxmlformats.org/officeDocument/2006/relationships/slide" Target="slides/slide74.xml"/><Relationship Id="rId88" Type="http://schemas.openxmlformats.org/officeDocument/2006/relationships/slide" Target="slides/slide75.xml"/><Relationship Id="rId89" Type="http://schemas.openxmlformats.org/officeDocument/2006/relationships/slide" Target="slides/slide76.xml"/><Relationship Id="rId90" Type="http://schemas.openxmlformats.org/officeDocument/2006/relationships/slide" Target="slides/slide77.xml"/><Relationship Id="rId91" Type="http://schemas.openxmlformats.org/officeDocument/2006/relationships/slide" Target="slides/slide78.xml"/><Relationship Id="rId92" Type="http://schemas.openxmlformats.org/officeDocument/2006/relationships/slide" Target="slides/slide79.xml"/><Relationship Id="rId93" Type="http://schemas.openxmlformats.org/officeDocument/2006/relationships/slide" Target="slides/slide80.xml"/><Relationship Id="rId94" Type="http://schemas.openxmlformats.org/officeDocument/2006/relationships/slide" Target="slides/slide81.xml"/><Relationship Id="rId95" Type="http://schemas.openxmlformats.org/officeDocument/2006/relationships/slide" Target="slides/slide82.xml"/><Relationship Id="rId96" Type="http://schemas.openxmlformats.org/officeDocument/2006/relationships/slide" Target="slides/slide83.xml"/><Relationship Id="rId97" Type="http://schemas.openxmlformats.org/officeDocument/2006/relationships/slide" Target="slides/slide84.xml"/><Relationship Id="rId98" Type="http://schemas.openxmlformats.org/officeDocument/2006/relationships/slide" Target="slides/slide85.xml"/><Relationship Id="rId99" Type="http://schemas.openxmlformats.org/officeDocument/2006/relationships/slide" Target="slides/slide86.xml"/><Relationship Id="rId100" Type="http://schemas.openxmlformats.org/officeDocument/2006/relationships/slide" Target="slides/slide87.xml"/><Relationship Id="rId101" Type="http://schemas.openxmlformats.org/officeDocument/2006/relationships/slide" Target="slides/slide88.xml"/><Relationship Id="rId102" Type="http://schemas.openxmlformats.org/officeDocument/2006/relationships/slide" Target="slides/slide89.xml"/><Relationship Id="rId103" Type="http://schemas.openxmlformats.org/officeDocument/2006/relationships/slide" Target="slides/slide90.xml"/><Relationship Id="rId104" Type="http://schemas.openxmlformats.org/officeDocument/2006/relationships/slide" Target="slides/slide91.xml"/><Relationship Id="rId105" Type="http://schemas.openxmlformats.org/officeDocument/2006/relationships/slide" Target="slides/slide92.xml"/><Relationship Id="rId106" Type="http://schemas.openxmlformats.org/officeDocument/2006/relationships/slide" Target="slides/slide93.xml"/><Relationship Id="rId107" Type="http://schemas.openxmlformats.org/officeDocument/2006/relationships/slide" Target="slides/slide94.xml"/><Relationship Id="rId108" Type="http://schemas.openxmlformats.org/officeDocument/2006/relationships/slide" Target="slides/slide95.xml"/><Relationship Id="rId109" Type="http://schemas.openxmlformats.org/officeDocument/2006/relationships/slide" Target="slides/slide96.xml"/><Relationship Id="rId110" Type="http://schemas.openxmlformats.org/officeDocument/2006/relationships/slide" Target="slides/slide97.xml"/><Relationship Id="rId111" Type="http://schemas.openxmlformats.org/officeDocument/2006/relationships/slide" Target="slides/slide98.xml"/><Relationship Id="rId112" Type="http://schemas.openxmlformats.org/officeDocument/2006/relationships/slide" Target="slides/slide99.xml"/><Relationship Id="rId113" Type="http://schemas.openxmlformats.org/officeDocument/2006/relationships/slide" Target="slides/slide100.xml"/><Relationship Id="rId114" Type="http://schemas.openxmlformats.org/officeDocument/2006/relationships/slide" Target="slides/slide101.xml"/><Relationship Id="rId115" Type="http://schemas.openxmlformats.org/officeDocument/2006/relationships/slide" Target="slides/slide102.xml"/><Relationship Id="rId116" Type="http://schemas.openxmlformats.org/officeDocument/2006/relationships/slide" Target="slides/slide103.xml"/><Relationship Id="rId117" Type="http://schemas.openxmlformats.org/officeDocument/2006/relationships/slide" Target="slides/slide104.xml"/><Relationship Id="rId118" Type="http://schemas.openxmlformats.org/officeDocument/2006/relationships/slide" Target="slides/slide105.xml"/><Relationship Id="rId119" Type="http://schemas.openxmlformats.org/officeDocument/2006/relationships/slide" Target="slides/slide106.xml"/><Relationship Id="rId120" Type="http://schemas.openxmlformats.org/officeDocument/2006/relationships/slide" Target="slides/slide107.xml"/><Relationship Id="rId121" Type="http://schemas.openxmlformats.org/officeDocument/2006/relationships/slide" Target="slides/slide108.xml"/><Relationship Id="rId122" Type="http://schemas.openxmlformats.org/officeDocument/2006/relationships/slide" Target="slides/slide109.xml"/><Relationship Id="rId123" Type="http://schemas.openxmlformats.org/officeDocument/2006/relationships/slide" Target="slides/slide110.xml"/><Relationship Id="rId124" Type="http://schemas.openxmlformats.org/officeDocument/2006/relationships/slide" Target="slides/slide111.xml"/><Relationship Id="rId125" Type="http://schemas.openxmlformats.org/officeDocument/2006/relationships/slide" Target="slides/slide112.xml"/><Relationship Id="rId126" Type="http://schemas.openxmlformats.org/officeDocument/2006/relationships/slide" Target="slides/slide113.xml"/><Relationship Id="rId127" Type="http://schemas.openxmlformats.org/officeDocument/2006/relationships/slide" Target="slides/slide114.xml"/><Relationship Id="rId128" Type="http://schemas.openxmlformats.org/officeDocument/2006/relationships/slide" Target="slides/slide115.xml"/><Relationship Id="rId129" Type="http://schemas.openxmlformats.org/officeDocument/2006/relationships/slide" Target="slides/slide116.xml"/><Relationship Id="rId130" Type="http://schemas.openxmlformats.org/officeDocument/2006/relationships/slide" Target="slides/slide117.xml"/><Relationship Id="rId131" Type="http://schemas.openxmlformats.org/officeDocument/2006/relationships/slide" Target="slides/slide118.xml"/><Relationship Id="rId132" Type="http://schemas.openxmlformats.org/officeDocument/2006/relationships/slide" Target="slides/slide119.xml"/><Relationship Id="rId133" Type="http://schemas.openxmlformats.org/officeDocument/2006/relationships/slide" Target="slides/slide120.xml"/><Relationship Id="rId134" Type="http://schemas.openxmlformats.org/officeDocument/2006/relationships/slide" Target="slides/slide121.xml"/><Relationship Id="rId135" Type="http://schemas.openxmlformats.org/officeDocument/2006/relationships/slide" Target="slides/slide122.xml"/><Relationship Id="rId136" Type="http://schemas.openxmlformats.org/officeDocument/2006/relationships/slide" Target="slides/slide123.xml"/><Relationship Id="rId137" Type="http://schemas.openxmlformats.org/officeDocument/2006/relationships/slide" Target="slides/slide124.xml"/><Relationship Id="rId138" Type="http://schemas.openxmlformats.org/officeDocument/2006/relationships/slide" Target="slides/slide125.xml"/><Relationship Id="rId139" Type="http://schemas.openxmlformats.org/officeDocument/2006/relationships/slide" Target="slides/slide126.xml"/><Relationship Id="rId140" Type="http://schemas.openxmlformats.org/officeDocument/2006/relationships/slide" Target="slides/slide127.xml"/><Relationship Id="rId141" Type="http://schemas.openxmlformats.org/officeDocument/2006/relationships/slide" Target="slides/slide128.xml"/><Relationship Id="rId142" Type="http://schemas.openxmlformats.org/officeDocument/2006/relationships/slide" Target="slides/slide129.xml"/><Relationship Id="rId143" Type="http://schemas.openxmlformats.org/officeDocument/2006/relationships/slide" Target="slides/slide130.xml"/><Relationship Id="rId144" Type="http://schemas.openxmlformats.org/officeDocument/2006/relationships/slide" Target="slides/slide131.xml"/><Relationship Id="rId145" Type="http://schemas.openxmlformats.org/officeDocument/2006/relationships/slide" Target="slides/slide132.xml"/><Relationship Id="rId146" Type="http://schemas.openxmlformats.org/officeDocument/2006/relationships/slide" Target="slides/slide133.xml"/><Relationship Id="rId147" Type="http://schemas.openxmlformats.org/officeDocument/2006/relationships/slide" Target="slides/slide134.xml"/><Relationship Id="rId148" Type="http://schemas.openxmlformats.org/officeDocument/2006/relationships/slide" Target="slides/slide135.xml"/><Relationship Id="rId149" Type="http://schemas.openxmlformats.org/officeDocument/2006/relationships/slide" Target="slides/slide136.xml"/><Relationship Id="rId150" Type="http://schemas.openxmlformats.org/officeDocument/2006/relationships/slide" Target="slides/slide137.xml"/><Relationship Id="rId151" Type="http://schemas.openxmlformats.org/officeDocument/2006/relationships/slide" Target="slides/slide138.xml"/><Relationship Id="rId152" Type="http://schemas.openxmlformats.org/officeDocument/2006/relationships/slide" Target="slides/slide139.xml"/><Relationship Id="rId153" Type="http://schemas.openxmlformats.org/officeDocument/2006/relationships/slide" Target="slides/slide140.xml"/><Relationship Id="rId154" Type="http://schemas.openxmlformats.org/officeDocument/2006/relationships/slide" Target="slides/slide141.xml"/><Relationship Id="rId155" Type="http://schemas.openxmlformats.org/officeDocument/2006/relationships/slide" Target="slides/slide142.xml"/><Relationship Id="rId156" Type="http://schemas.openxmlformats.org/officeDocument/2006/relationships/slide" Target="slides/slide143.xml"/><Relationship Id="rId157" Type="http://schemas.openxmlformats.org/officeDocument/2006/relationships/slide" Target="slides/slide144.xml"/><Relationship Id="rId158" Type="http://schemas.openxmlformats.org/officeDocument/2006/relationships/slide" Target="slides/slide145.xml"/><Relationship Id="rId159" Type="http://schemas.openxmlformats.org/officeDocument/2006/relationships/slide" Target="slides/slide146.xml"/><Relationship Id="rId160" Type="http://schemas.openxmlformats.org/officeDocument/2006/relationships/slide" Target="slides/slide147.xml"/><Relationship Id="rId161" Type="http://schemas.openxmlformats.org/officeDocument/2006/relationships/slide" Target="slides/slide148.xml"/><Relationship Id="rId162" Type="http://schemas.openxmlformats.org/officeDocument/2006/relationships/slide" Target="slides/slide149.xml"/><Relationship Id="rId163" Type="http://schemas.openxmlformats.org/officeDocument/2006/relationships/slide" Target="slides/slide150.xml"/><Relationship Id="rId164" Type="http://schemas.openxmlformats.org/officeDocument/2006/relationships/slide" Target="slides/slide151.xml"/><Relationship Id="rId165" Type="http://schemas.openxmlformats.org/officeDocument/2006/relationships/slide" Target="slides/slide152.xml"/><Relationship Id="rId166" Type="http://schemas.openxmlformats.org/officeDocument/2006/relationships/slide" Target="slides/slide153.xml"/><Relationship Id="rId167" Type="http://schemas.openxmlformats.org/officeDocument/2006/relationships/slide" Target="slides/slide154.xml"/><Relationship Id="rId168" Type="http://schemas.openxmlformats.org/officeDocument/2006/relationships/slide" Target="slides/slide155.xml"/><Relationship Id="rId169" Type="http://schemas.openxmlformats.org/officeDocument/2006/relationships/slide" Target="slides/slide156.xml"/><Relationship Id="rId170" Type="http://schemas.openxmlformats.org/officeDocument/2006/relationships/slide" Target="slides/slide157.xml"/><Relationship Id="rId171"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PlaceHolder 1"/>
          <p:cNvSpPr>
            <a:spLocks noGrp="1"/>
          </p:cNvSpPr>
          <p:nvPr>
            <p:ph type="sldImg"/>
          </p:nvPr>
        </p:nvSpPr>
        <p:spPr>
          <a:xfrm>
            <a:off x="0" y="764280"/>
            <a:ext cx="0" cy="0"/>
          </a:xfrm>
          <a:prstGeom prst="rect">
            <a:avLst/>
          </a:prstGeom>
          <a:noFill/>
          <a:ln w="0">
            <a:noFill/>
          </a:ln>
        </p:spPr>
        <p:txBody>
          <a:bodyPr lIns="0" rIns="0" tIns="0" bIns="0" anchor="ctr">
            <a:noAutofit/>
          </a:bodyPr>
          <a:p>
            <a:r>
              <a:rPr b="0" lang="en-US" sz="1800" spc="-1" strike="noStrike">
                <a:solidFill>
                  <a:schemeClr val="dk1"/>
                </a:solidFill>
                <a:latin typeface="Calibri"/>
              </a:rPr>
              <a:t>Click to move the slide</a:t>
            </a:r>
            <a:endParaRPr b="0" lang="en-US" sz="1800" spc="-1" strike="noStrike">
              <a:solidFill>
                <a:schemeClr val="dk1"/>
              </a:solidFill>
              <a:latin typeface="Calibri"/>
            </a:endParaRPr>
          </a:p>
        </p:txBody>
      </p:sp>
      <p:sp>
        <p:nvSpPr>
          <p:cNvPr id="68"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69"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70" name="PlaceHolder 4"/>
          <p:cNvSpPr>
            <a:spLocks noGrp="1"/>
          </p:cNvSpPr>
          <p:nvPr>
            <p:ph type="dt" idx="34"/>
          </p:nvPr>
        </p:nvSpPr>
        <p:spPr>
          <a:xfrm>
            <a:off x="4399200" y="0"/>
            <a:ext cx="3372840" cy="50256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1" name="PlaceHolder 5"/>
          <p:cNvSpPr>
            <a:spLocks noGrp="1"/>
          </p:cNvSpPr>
          <p:nvPr>
            <p:ph type="ftr" idx="35"/>
          </p:nvPr>
        </p:nvSpPr>
        <p:spPr>
          <a:xfrm>
            <a:off x="0" y="9555480"/>
            <a:ext cx="3372840" cy="5025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2" name="PlaceHolder 6"/>
          <p:cNvSpPr>
            <a:spLocks noGrp="1"/>
          </p:cNvSpPr>
          <p:nvPr>
            <p:ph type="sldNum" idx="36"/>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BEA2E2B4-6998-4010-802A-D48DE8002B75}"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_rels/notesSlide48.xml.rels><?xml version="1.0" encoding="UTF-8"?>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
</Relationships>
</file>

<file path=ppt/notesSlides/_rels/notesSlide49.xml.rels><?xml version="1.0" encoding="UTF-8"?>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
</Relationships>
</file>

<file path=ppt/notesSlides/_rels/notesSlide50.xml.rels><?xml version="1.0" encoding="UTF-8"?>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
</Relationships>
</file>

<file path=ppt/notesSlides/_rels/notesSlide51.xml.rels><?xml version="1.0" encoding="UTF-8"?>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
</Relationships>
</file>

<file path=ppt/notesSlides/_rels/notesSlide52.xml.rels><?xml version="1.0" encoding="UTF-8"?>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
</Relationships>
</file>

<file path=ppt/notesSlides/_rels/notesSlide53.xml.rels><?xml version="1.0" encoding="UTF-8"?>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
</Relationships>
</file>

<file path=ppt/notesSlides/_rels/notesSlide54.xml.rels><?xml version="1.0" encoding="UTF-8"?>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
</Relationships>
</file>

<file path=ppt/notesSlides/_rels/notesSlide55.xml.rels><?xml version="1.0" encoding="UTF-8"?>
<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
</Relationships>
</file>

<file path=ppt/notesSlides/_rels/notesSlide56.xml.rels><?xml version="1.0" encoding="UTF-8"?>
<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
</Relationships>
</file>

<file path=ppt/notesSlides/_rels/notesSlide57.xml.rels><?xml version="1.0" encoding="UTF-8"?>
<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
</Relationships>
</file>

<file path=ppt/notesSlides/_rels/notesSlide58.xml.rels><?xml version="1.0" encoding="UTF-8"?>
<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
</Relationships>
</file>

<file path=ppt/notesSlides/_rels/notesSlide59.xml.rels><?xml version="1.0" encoding="UTF-8"?>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
</Relationships>
</file>

<file path=ppt/notesSlides/_rels/notesSlide60.xml.rels><?xml version="1.0" encoding="UTF-8"?>
<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
</Relationships>
</file>

<file path=ppt/notesSlides/_rels/notesSlide61.xml.rels><?xml version="1.0" encoding="UTF-8"?>
<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
</Relationships>
</file>

<file path=ppt/notesSlides/_rels/notesSlide62.xml.rels><?xml version="1.0" encoding="UTF-8"?>
<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
</Relationships>
</file>

<file path=ppt/notesSlides/_rels/notesSlide63.xml.rels><?xml version="1.0" encoding="UTF-8"?>
<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
</Relationships>
</file>

<file path=ppt/notesSlides/_rels/notesSlide64.xml.rels><?xml version="1.0" encoding="UTF-8"?>
<Relationships xmlns="http://schemas.openxmlformats.org/package/2006/relationships"><Relationship Id="rId1" Type="http://schemas.openxmlformats.org/officeDocument/2006/relationships/slide" Target="../slides/slide64.xml"/><Relationship Id="rId2" Type="http://schemas.openxmlformats.org/officeDocument/2006/relationships/notesMaster" Target="../notesMasters/notesMaster1.xml"/>
</Relationships>
</file>

<file path=ppt/notesSlides/_rels/notesSlide65.xml.rels><?xml version="1.0" encoding="UTF-8"?>
<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
</Relationships>
</file>

<file path=ppt/notesSlides/_rels/notesSlide66.xml.rels><?xml version="1.0" encoding="UTF-8"?>
<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
</Relationships>
</file>

<file path=ppt/notesSlides/_rels/notesSlide67.xml.rels><?xml version="1.0" encoding="UTF-8"?>
<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
</Relationships>
</file>

<file path=ppt/notesSlides/_rels/notesSlide68.xml.rels><?xml version="1.0" encoding="UTF-8"?>
<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
</Relationships>
</file>

<file path=ppt/notesSlides/_rels/notesSlide69.xml.rels><?xml version="1.0" encoding="UTF-8"?>
<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
</Relationships>
</file>

<file path=ppt/notesSlides/_rels/notesSlide70.xml.rels><?xml version="1.0" encoding="UTF-8"?>
<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
</Relationships>
</file>

<file path=ppt/notesSlides/_rels/notesSlide71.xml.rels><?xml version="1.0" encoding="UTF-8"?>
<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
</Relationships>
</file>

<file path=ppt/notesSlides/_rels/notesSlide72.xml.rels><?xml version="1.0" encoding="UTF-8"?>
<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
</Relationships>
</file>

<file path=ppt/notesSlides/_rels/notesSlide73.xml.rels><?xml version="1.0" encoding="UTF-8"?>
<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
</Relationships>
</file>

<file path=ppt/notesSlides/_rels/notesSlide74.xml.rels><?xml version="1.0" encoding="UTF-8"?>
<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
</Relationships>
</file>

<file path=ppt/notesSlides/_rels/notesSlide75.xml.rels><?xml version="1.0" encoding="UTF-8"?>
<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
</Relationships>
</file>

<file path=ppt/notesSlides/_rels/notesSlide76.xml.rels><?xml version="1.0" encoding="UTF-8"?>
<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
</Relationships>
</file>

<file path=ppt/notesSlides/_rels/notesSlide77.xml.rels><?xml version="1.0" encoding="UTF-8"?>
<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
</Relationships>
</file>

<file path=ppt/notesSlides/_rels/notesSlide78.xml.rels><?xml version="1.0" encoding="UTF-8"?>
<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
</Relationships>
</file>

<file path=ppt/notesSlides/_rels/notesSlide79.xml.rels><?xml version="1.0" encoding="UTF-8"?>
<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
</Relationships>
</file>

<file path=ppt/notesSlides/_rels/notesSlide80.xml.rels><?xml version="1.0" encoding="UTF-8"?>
<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
</Relationships>
</file>

<file path=ppt/notesSlides/_rels/notesSlide81.xml.rels><?xml version="1.0" encoding="UTF-8"?>
<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
</Relationships>
</file>

<file path=ppt/notesSlides/_rels/notesSlide82.xml.rels><?xml version="1.0" encoding="UTF-8"?>
<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
</Relationships>
</file>

<file path=ppt/notesSlides/_rels/notesSlide83.xml.rels><?xml version="1.0" encoding="UTF-8"?>
<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
</Relationships>
</file>

<file path=ppt/notesSlides/_rels/notesSlide84.xml.rels><?xml version="1.0" encoding="UTF-8"?>
<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
</Relationships>
</file>

<file path=ppt/notesSlides/_rels/notesSlide85.xml.rels><?xml version="1.0" encoding="UTF-8"?>
<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
</Relationships>
</file>

<file path=ppt/notesSlides/_rels/notesSlide86.xml.rels><?xml version="1.0" encoding="UTF-8"?>
<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
</Relationships>
</file>

<file path=ppt/notesSlides/_rels/notesSlide87.xml.rels><?xml version="1.0" encoding="UTF-8"?>
<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
</Relationships>
</file>

<file path=ppt/notesSlides/_rels/notesSlide88.xml.rels><?xml version="1.0" encoding="UTF-8"?>
<Relationships xmlns="http://schemas.openxmlformats.org/package/2006/relationships"><Relationship Id="rId1" Type="http://schemas.openxmlformats.org/officeDocument/2006/relationships/slide" Target="../slides/slide88.xml"/><Relationship Id="rId2" Type="http://schemas.openxmlformats.org/officeDocument/2006/relationships/notesMaster" Target="../notesMasters/notesMaster1.xml"/>
</Relationships>
</file>

<file path=ppt/notesSlides/_rels/notesSlide89.xml.rels><?xml version="1.0" encoding="UTF-8"?>
<Relationships xmlns="http://schemas.openxmlformats.org/package/2006/relationships"><Relationship Id="rId1" Type="http://schemas.openxmlformats.org/officeDocument/2006/relationships/slide" Target="../slides/slide89.xml"/><Relationship Id="rId2" Type="http://schemas.openxmlformats.org/officeDocument/2006/relationships/notesMaster" Target="../notesMasters/notesMaster1.xml"/>
</Relationships>
</file>

<file path=ppt/notesSlides/_rels/notesSlide90.xml.rels><?xml version="1.0" encoding="UTF-8"?>
<Relationships xmlns="http://schemas.openxmlformats.org/package/2006/relationships"><Relationship Id="rId1" Type="http://schemas.openxmlformats.org/officeDocument/2006/relationships/slide" Target="../slides/slide90.xml"/><Relationship Id="rId2" Type="http://schemas.openxmlformats.org/officeDocument/2006/relationships/notesMaster" Target="../notesMasters/notesMaster1.xml"/>
</Relationships>
</file>

<file path=ppt/notesSlides/_rels/notesSlide91.xml.rels><?xml version="1.0" encoding="UTF-8"?>
<Relationships xmlns="http://schemas.openxmlformats.org/package/2006/relationships"><Relationship Id="rId1" Type="http://schemas.openxmlformats.org/officeDocument/2006/relationships/slide" Target="../slides/slide91.xml"/><Relationship Id="rId2" Type="http://schemas.openxmlformats.org/officeDocument/2006/relationships/notesMaster" Target="../notesMasters/notesMaster1.xml"/>
</Relationships>
</file>

<file path=ppt/notesSlides/_rels/notesSlide92.xml.rels><?xml version="1.0" encoding="UTF-8"?>
<Relationships xmlns="http://schemas.openxmlformats.org/package/2006/relationships"><Relationship Id="rId1" Type="http://schemas.openxmlformats.org/officeDocument/2006/relationships/slide" Target="../slides/slide92.xml"/><Relationship Id="rId2" Type="http://schemas.openxmlformats.org/officeDocument/2006/relationships/notesMaster" Target="../notesMasters/notesMaster1.xml"/>
</Relationships>
</file>

<file path=ppt/notesSlides/_rels/notesSlide93.xml.rels><?xml version="1.0" encoding="UTF-8"?>
<Relationships xmlns="http://schemas.openxmlformats.org/package/2006/relationships"><Relationship Id="rId1" Type="http://schemas.openxmlformats.org/officeDocument/2006/relationships/slide" Target="../slides/slide93.xml"/><Relationship Id="rId2" Type="http://schemas.openxmlformats.org/officeDocument/2006/relationships/notesMaster" Target="../notesMasters/notesMaster1.xml"/>
</Relationships>
</file>

<file path=ppt/notesSlides/_rels/notesSlide94.xml.rels><?xml version="1.0" encoding="UTF-8"?>
<Relationships xmlns="http://schemas.openxmlformats.org/package/2006/relationships"><Relationship Id="rId1" Type="http://schemas.openxmlformats.org/officeDocument/2006/relationships/slide" Target="../slides/slide94.xml"/><Relationship Id="rId2" Type="http://schemas.openxmlformats.org/officeDocument/2006/relationships/notesMaster" Target="../notesMasters/notesMaster1.xml"/>
</Relationships>
</file>

<file path=ppt/notesSlides/_rels/notesSlide95.xml.rels><?xml version="1.0" encoding="UTF-8"?>
<Relationships xmlns="http://schemas.openxmlformats.org/package/2006/relationships"><Relationship Id="rId1" Type="http://schemas.openxmlformats.org/officeDocument/2006/relationships/slide" Target="../slides/slide95.xml"/><Relationship Id="rId2" Type="http://schemas.openxmlformats.org/officeDocument/2006/relationships/notesMaster" Target="../notesMasters/notesMaster1.xml"/>
</Relationships>
</file>

<file path=ppt/notesSlides/_rels/notesSlide96.xml.rels><?xml version="1.0" encoding="UTF-8"?>
<Relationships xmlns="http://schemas.openxmlformats.org/package/2006/relationships"><Relationship Id="rId1" Type="http://schemas.openxmlformats.org/officeDocument/2006/relationships/slide" Target="../slides/slide96.xml"/><Relationship Id="rId2" Type="http://schemas.openxmlformats.org/officeDocument/2006/relationships/notesMaster" Target="../notesMasters/notesMaster1.xml"/>
</Relationships>
</file>

<file path=ppt/notesSlides/_rels/notesSlide97.xml.rels><?xml version="1.0" encoding="UTF-8"?>
<Relationships xmlns="http://schemas.openxmlformats.org/package/2006/relationships"><Relationship Id="rId1" Type="http://schemas.openxmlformats.org/officeDocument/2006/relationships/slide" Target="../slides/slide97.xml"/><Relationship Id="rId2" Type="http://schemas.openxmlformats.org/officeDocument/2006/relationships/notesMaster" Target="../notesMasters/notesMaster1.xml"/>
</Relationships>
</file>

<file path=ppt/notesSlides/_rels/notesSlide98.xml.rels><?xml version="1.0" encoding="UTF-8"?>
<Relationships xmlns="http://schemas.openxmlformats.org/package/2006/relationships"><Relationship Id="rId1" Type="http://schemas.openxmlformats.org/officeDocument/2006/relationships/slide" Target="../slides/slide98.xml"/><Relationship Id="rId2" Type="http://schemas.openxmlformats.org/officeDocument/2006/relationships/notesMaster" Target="../notesMasters/notesMaster1.xml"/>
</Relationships>
</file>

<file path=ppt/notesSlides/_rels/notesSlide99.xml.rels><?xml version="1.0" encoding="UTF-8"?>
<Relationships xmlns="http://schemas.openxmlformats.org/package/2006/relationships"><Relationship Id="rId1" Type="http://schemas.openxmlformats.org/officeDocument/2006/relationships/slide" Target="../slides/slide99.xml"/><Relationship Id="rId2" Type="http://schemas.openxmlformats.org/officeDocument/2006/relationships/notesMaster" Target="../notesMasters/notesMaster1.xml"/>
</Relationships>
</file>

<file path=ppt/notesSlides/_rels/notesSlide100.xml.rels><?xml version="1.0" encoding="UTF-8"?>
<Relationships xmlns="http://schemas.openxmlformats.org/package/2006/relationships"><Relationship Id="rId1" Type="http://schemas.openxmlformats.org/officeDocument/2006/relationships/slide" Target="../slides/slide100.xml"/><Relationship Id="rId2" Type="http://schemas.openxmlformats.org/officeDocument/2006/relationships/notesMaster" Target="../notesMasters/notesMaster1.xml"/>
</Relationships>
</file>

<file path=ppt/notesSlides/_rels/notesSlide101.xml.rels><?xml version="1.0" encoding="UTF-8"?>
<Relationships xmlns="http://schemas.openxmlformats.org/package/2006/relationships"><Relationship Id="rId1" Type="http://schemas.openxmlformats.org/officeDocument/2006/relationships/slide" Target="../slides/slide101.xml"/><Relationship Id="rId2" Type="http://schemas.openxmlformats.org/officeDocument/2006/relationships/notesMaster" Target="../notesMasters/notesMaster1.xml"/>
</Relationships>
</file>

<file path=ppt/notesSlides/_rels/notesSlide102.xml.rels><?xml version="1.0" encoding="UTF-8"?>
<Relationships xmlns="http://schemas.openxmlformats.org/package/2006/relationships"><Relationship Id="rId1" Type="http://schemas.openxmlformats.org/officeDocument/2006/relationships/slide" Target="../slides/slide102.xml"/><Relationship Id="rId2" Type="http://schemas.openxmlformats.org/officeDocument/2006/relationships/notesMaster" Target="../notesMasters/notesMaster1.xml"/>
</Relationships>
</file>

<file path=ppt/notesSlides/_rels/notesSlide103.xml.rels><?xml version="1.0" encoding="UTF-8"?>
<Relationships xmlns="http://schemas.openxmlformats.org/package/2006/relationships"><Relationship Id="rId1" Type="http://schemas.openxmlformats.org/officeDocument/2006/relationships/slide" Target="../slides/slide103.xml"/><Relationship Id="rId2" Type="http://schemas.openxmlformats.org/officeDocument/2006/relationships/notesMaster" Target="../notesMasters/notesMaster1.xml"/>
</Relationships>
</file>

<file path=ppt/notesSlides/_rels/notesSlide104.xml.rels><?xml version="1.0" encoding="UTF-8"?>
<Relationships xmlns="http://schemas.openxmlformats.org/package/2006/relationships"><Relationship Id="rId1" Type="http://schemas.openxmlformats.org/officeDocument/2006/relationships/slide" Target="../slides/slide104.xml"/><Relationship Id="rId2" Type="http://schemas.openxmlformats.org/officeDocument/2006/relationships/notesMaster" Target="../notesMasters/notesMaster1.xml"/>
</Relationships>
</file>

<file path=ppt/notesSlides/_rels/notesSlide105.xml.rels><?xml version="1.0" encoding="UTF-8"?>
<Relationships xmlns="http://schemas.openxmlformats.org/package/2006/relationships"><Relationship Id="rId1" Type="http://schemas.openxmlformats.org/officeDocument/2006/relationships/slide" Target="../slides/slide105.xml"/><Relationship Id="rId2" Type="http://schemas.openxmlformats.org/officeDocument/2006/relationships/notesMaster" Target="../notesMasters/notesMaster1.xml"/>
</Relationships>
</file>

<file path=ppt/notesSlides/_rels/notesSlide106.xml.rels><?xml version="1.0" encoding="UTF-8"?>
<Relationships xmlns="http://schemas.openxmlformats.org/package/2006/relationships"><Relationship Id="rId1" Type="http://schemas.openxmlformats.org/officeDocument/2006/relationships/slide" Target="../slides/slide106.xml"/><Relationship Id="rId2" Type="http://schemas.openxmlformats.org/officeDocument/2006/relationships/notesMaster" Target="../notesMasters/notesMaster1.xml"/>
</Relationships>
</file>

<file path=ppt/notesSlides/_rels/notesSlide107.xml.rels><?xml version="1.0" encoding="UTF-8"?>
<Relationships xmlns="http://schemas.openxmlformats.org/package/2006/relationships"><Relationship Id="rId1" Type="http://schemas.openxmlformats.org/officeDocument/2006/relationships/slide" Target="../slides/slide107.xml"/><Relationship Id="rId2" Type="http://schemas.openxmlformats.org/officeDocument/2006/relationships/notesMaster" Target="../notesMasters/notesMaster1.xml"/>
</Relationships>
</file>

<file path=ppt/notesSlides/_rels/notesSlide108.xml.rels><?xml version="1.0" encoding="UTF-8"?>
<Relationships xmlns="http://schemas.openxmlformats.org/package/2006/relationships"><Relationship Id="rId1" Type="http://schemas.openxmlformats.org/officeDocument/2006/relationships/slide" Target="../slides/slide108.xml"/><Relationship Id="rId2" Type="http://schemas.openxmlformats.org/officeDocument/2006/relationships/notesMaster" Target="../notesMasters/notesMaster1.xml"/>
</Relationships>
</file>

<file path=ppt/notesSlides/_rels/notesSlide109.xml.rels><?xml version="1.0" encoding="UTF-8"?>
<Relationships xmlns="http://schemas.openxmlformats.org/package/2006/relationships"><Relationship Id="rId1" Type="http://schemas.openxmlformats.org/officeDocument/2006/relationships/slide" Target="../slides/slide109.xml"/><Relationship Id="rId2" Type="http://schemas.openxmlformats.org/officeDocument/2006/relationships/notesMaster" Target="../notesMasters/notesMaster1.xml"/>
</Relationships>
</file>

<file path=ppt/notesSlides/_rels/notesSlide110.xml.rels><?xml version="1.0" encoding="UTF-8"?>
<Relationships xmlns="http://schemas.openxmlformats.org/package/2006/relationships"><Relationship Id="rId1" Type="http://schemas.openxmlformats.org/officeDocument/2006/relationships/slide" Target="../slides/slide110.xml"/><Relationship Id="rId2" Type="http://schemas.openxmlformats.org/officeDocument/2006/relationships/notesMaster" Target="../notesMasters/notesMaster1.xml"/>
</Relationships>
</file>

<file path=ppt/notesSlides/_rels/notesSlide111.xml.rels><?xml version="1.0" encoding="UTF-8"?>
<Relationships xmlns="http://schemas.openxmlformats.org/package/2006/relationships"><Relationship Id="rId1" Type="http://schemas.openxmlformats.org/officeDocument/2006/relationships/slide" Target="../slides/slide111.xml"/><Relationship Id="rId2" Type="http://schemas.openxmlformats.org/officeDocument/2006/relationships/notesMaster" Target="../notesMasters/notesMaster1.xml"/>
</Relationships>
</file>

<file path=ppt/notesSlides/_rels/notesSlide112.xml.rels><?xml version="1.0" encoding="UTF-8"?>
<Relationships xmlns="http://schemas.openxmlformats.org/package/2006/relationships"><Relationship Id="rId1" Type="http://schemas.openxmlformats.org/officeDocument/2006/relationships/slide" Target="../slides/slide112.xml"/><Relationship Id="rId2" Type="http://schemas.openxmlformats.org/officeDocument/2006/relationships/notesMaster" Target="../notesMasters/notesMaster1.xml"/>
</Relationships>
</file>

<file path=ppt/notesSlides/_rels/notesSlide113.xml.rels><?xml version="1.0" encoding="UTF-8"?>
<Relationships xmlns="http://schemas.openxmlformats.org/package/2006/relationships"><Relationship Id="rId1" Type="http://schemas.openxmlformats.org/officeDocument/2006/relationships/slide" Target="../slides/slide113.xml"/><Relationship Id="rId2" Type="http://schemas.openxmlformats.org/officeDocument/2006/relationships/notesMaster" Target="../notesMasters/notesMaster1.xml"/>
</Relationships>
</file>

<file path=ppt/notesSlides/_rels/notesSlide114.xml.rels><?xml version="1.0" encoding="UTF-8"?>
<Relationships xmlns="http://schemas.openxmlformats.org/package/2006/relationships"><Relationship Id="rId1" Type="http://schemas.openxmlformats.org/officeDocument/2006/relationships/slide" Target="../slides/slide114.xml"/><Relationship Id="rId2" Type="http://schemas.openxmlformats.org/officeDocument/2006/relationships/notesMaster" Target="../notesMasters/notesMaster1.xml"/>
</Relationships>
</file>

<file path=ppt/notesSlides/_rels/notesSlide115.xml.rels><?xml version="1.0" encoding="UTF-8"?>
<Relationships xmlns="http://schemas.openxmlformats.org/package/2006/relationships"><Relationship Id="rId1" Type="http://schemas.openxmlformats.org/officeDocument/2006/relationships/slide" Target="../slides/slide115.xml"/><Relationship Id="rId2" Type="http://schemas.openxmlformats.org/officeDocument/2006/relationships/notesMaster" Target="../notesMasters/notesMaster1.xml"/>
</Relationships>
</file>

<file path=ppt/notesSlides/_rels/notesSlide116.xml.rels><?xml version="1.0" encoding="UTF-8"?>
<Relationships xmlns="http://schemas.openxmlformats.org/package/2006/relationships"><Relationship Id="rId1" Type="http://schemas.openxmlformats.org/officeDocument/2006/relationships/slide" Target="../slides/slide116.xml"/><Relationship Id="rId2" Type="http://schemas.openxmlformats.org/officeDocument/2006/relationships/notesMaster" Target="../notesMasters/notesMaster1.xml"/>
</Relationships>
</file>

<file path=ppt/notesSlides/_rels/notesSlide117.xml.rels><?xml version="1.0" encoding="UTF-8"?>
<Relationships xmlns="http://schemas.openxmlformats.org/package/2006/relationships"><Relationship Id="rId1" Type="http://schemas.openxmlformats.org/officeDocument/2006/relationships/slide" Target="../slides/slide117.xml"/><Relationship Id="rId2" Type="http://schemas.openxmlformats.org/officeDocument/2006/relationships/notesMaster" Target="../notesMasters/notesMaster1.xml"/>
</Relationships>
</file>

<file path=ppt/notesSlides/_rels/notesSlide118.xml.rels><?xml version="1.0" encoding="UTF-8"?>
<Relationships xmlns="http://schemas.openxmlformats.org/package/2006/relationships"><Relationship Id="rId1" Type="http://schemas.openxmlformats.org/officeDocument/2006/relationships/slide" Target="../slides/slide118.xml"/><Relationship Id="rId2" Type="http://schemas.openxmlformats.org/officeDocument/2006/relationships/notesMaster" Target="../notesMasters/notesMaster1.xml"/>
</Relationships>
</file>

<file path=ppt/notesSlides/_rels/notesSlide119.xml.rels><?xml version="1.0" encoding="UTF-8"?>
<Relationships xmlns="http://schemas.openxmlformats.org/package/2006/relationships"><Relationship Id="rId1" Type="http://schemas.openxmlformats.org/officeDocument/2006/relationships/slide" Target="../slides/slide119.xml"/><Relationship Id="rId2" Type="http://schemas.openxmlformats.org/officeDocument/2006/relationships/notesMaster" Target="../notesMasters/notesMaster1.xml"/>
</Relationships>
</file>

<file path=ppt/notesSlides/_rels/notesSlide120.xml.rels><?xml version="1.0" encoding="UTF-8"?>
<Relationships xmlns="http://schemas.openxmlformats.org/package/2006/relationships"><Relationship Id="rId1" Type="http://schemas.openxmlformats.org/officeDocument/2006/relationships/slide" Target="../slides/slide120.xml"/><Relationship Id="rId2" Type="http://schemas.openxmlformats.org/officeDocument/2006/relationships/notesMaster" Target="../notesMasters/notesMaster1.xml"/>
</Relationships>
</file>

<file path=ppt/notesSlides/_rels/notesSlide121.xml.rels><?xml version="1.0" encoding="UTF-8"?>
<Relationships xmlns="http://schemas.openxmlformats.org/package/2006/relationships"><Relationship Id="rId1" Type="http://schemas.openxmlformats.org/officeDocument/2006/relationships/slide" Target="../slides/slide121.xml"/><Relationship Id="rId2" Type="http://schemas.openxmlformats.org/officeDocument/2006/relationships/notesMaster" Target="../notesMasters/notesMaster1.xml"/>
</Relationships>
</file>

<file path=ppt/notesSlides/_rels/notesSlide122.xml.rels><?xml version="1.0" encoding="UTF-8"?>
<Relationships xmlns="http://schemas.openxmlformats.org/package/2006/relationships"><Relationship Id="rId1" Type="http://schemas.openxmlformats.org/officeDocument/2006/relationships/slide" Target="../slides/slide122.xml"/><Relationship Id="rId2" Type="http://schemas.openxmlformats.org/officeDocument/2006/relationships/notesMaster" Target="../notesMasters/notesMaster1.xml"/>
</Relationships>
</file>

<file path=ppt/notesSlides/_rels/notesSlide123.xml.rels><?xml version="1.0" encoding="UTF-8"?>
<Relationships xmlns="http://schemas.openxmlformats.org/package/2006/relationships"><Relationship Id="rId1" Type="http://schemas.openxmlformats.org/officeDocument/2006/relationships/slide" Target="../slides/slide123.xml"/><Relationship Id="rId2" Type="http://schemas.openxmlformats.org/officeDocument/2006/relationships/notesMaster" Target="../notesMasters/notesMaster1.xml"/>
</Relationships>
</file>

<file path=ppt/notesSlides/_rels/notesSlide124.xml.rels><?xml version="1.0" encoding="UTF-8"?>
<Relationships xmlns="http://schemas.openxmlformats.org/package/2006/relationships"><Relationship Id="rId1" Type="http://schemas.openxmlformats.org/officeDocument/2006/relationships/slide" Target="../slides/slide124.xml"/><Relationship Id="rId2" Type="http://schemas.openxmlformats.org/officeDocument/2006/relationships/notesMaster" Target="../notesMasters/notesMaster1.xml"/>
</Relationships>
</file>

<file path=ppt/notesSlides/_rels/notesSlide125.xml.rels><?xml version="1.0" encoding="UTF-8"?>
<Relationships xmlns="http://schemas.openxmlformats.org/package/2006/relationships"><Relationship Id="rId1" Type="http://schemas.openxmlformats.org/officeDocument/2006/relationships/slide" Target="../slides/slide125.xml"/><Relationship Id="rId2" Type="http://schemas.openxmlformats.org/officeDocument/2006/relationships/notesMaster" Target="../notesMasters/notesMaster1.xml"/>
</Relationships>
</file>

<file path=ppt/notesSlides/_rels/notesSlide126.xml.rels><?xml version="1.0" encoding="UTF-8"?>
<Relationships xmlns="http://schemas.openxmlformats.org/package/2006/relationships"><Relationship Id="rId1" Type="http://schemas.openxmlformats.org/officeDocument/2006/relationships/slide" Target="../slides/slide126.xml"/><Relationship Id="rId2" Type="http://schemas.openxmlformats.org/officeDocument/2006/relationships/notesMaster" Target="../notesMasters/notesMaster1.xml"/>
</Relationships>
</file>

<file path=ppt/notesSlides/_rels/notesSlide127.xml.rels><?xml version="1.0" encoding="UTF-8"?>
<Relationships xmlns="http://schemas.openxmlformats.org/package/2006/relationships"><Relationship Id="rId1" Type="http://schemas.openxmlformats.org/officeDocument/2006/relationships/slide" Target="../slides/slide127.xml"/><Relationship Id="rId2" Type="http://schemas.openxmlformats.org/officeDocument/2006/relationships/notesMaster" Target="../notesMasters/notesMaster1.xml"/>
</Relationships>
</file>

<file path=ppt/notesSlides/_rels/notesSlide128.xml.rels><?xml version="1.0" encoding="UTF-8"?>
<Relationships xmlns="http://schemas.openxmlformats.org/package/2006/relationships"><Relationship Id="rId1" Type="http://schemas.openxmlformats.org/officeDocument/2006/relationships/slide" Target="../slides/slide128.xml"/><Relationship Id="rId2" Type="http://schemas.openxmlformats.org/officeDocument/2006/relationships/notesMaster" Target="../notesMasters/notesMaster1.xml"/>
</Relationships>
</file>

<file path=ppt/notesSlides/_rels/notesSlide129.xml.rels><?xml version="1.0" encoding="UTF-8"?>
<Relationships xmlns="http://schemas.openxmlformats.org/package/2006/relationships"><Relationship Id="rId1" Type="http://schemas.openxmlformats.org/officeDocument/2006/relationships/slide" Target="../slides/slide129.xml"/><Relationship Id="rId2" Type="http://schemas.openxmlformats.org/officeDocument/2006/relationships/notesMaster" Target="../notesMasters/notesMaster1.xml"/>
</Relationships>
</file>

<file path=ppt/notesSlides/_rels/notesSlide130.xml.rels><?xml version="1.0" encoding="UTF-8"?>
<Relationships xmlns="http://schemas.openxmlformats.org/package/2006/relationships"><Relationship Id="rId1" Type="http://schemas.openxmlformats.org/officeDocument/2006/relationships/slide" Target="../slides/slide130.xml"/><Relationship Id="rId2" Type="http://schemas.openxmlformats.org/officeDocument/2006/relationships/notesMaster" Target="../notesMasters/notesMaster1.xml"/>
</Relationships>
</file>

<file path=ppt/notesSlides/_rels/notesSlide131.xml.rels><?xml version="1.0" encoding="UTF-8"?>
<Relationships xmlns="http://schemas.openxmlformats.org/package/2006/relationships"><Relationship Id="rId1" Type="http://schemas.openxmlformats.org/officeDocument/2006/relationships/slide" Target="../slides/slide131.xml"/><Relationship Id="rId2" Type="http://schemas.openxmlformats.org/officeDocument/2006/relationships/notesMaster" Target="../notesMasters/notesMaster1.xml"/>
</Relationships>
</file>

<file path=ppt/notesSlides/_rels/notesSlide132.xml.rels><?xml version="1.0" encoding="UTF-8"?>
<Relationships xmlns="http://schemas.openxmlformats.org/package/2006/relationships"><Relationship Id="rId1" Type="http://schemas.openxmlformats.org/officeDocument/2006/relationships/slide" Target="../slides/slide132.xml"/><Relationship Id="rId2" Type="http://schemas.openxmlformats.org/officeDocument/2006/relationships/notesMaster" Target="../notesMasters/notesMaster1.xml"/>
</Relationships>
</file>

<file path=ppt/notesSlides/_rels/notesSlide133.xml.rels><?xml version="1.0" encoding="UTF-8"?>
<Relationships xmlns="http://schemas.openxmlformats.org/package/2006/relationships"><Relationship Id="rId1" Type="http://schemas.openxmlformats.org/officeDocument/2006/relationships/slide" Target="../slides/slide133.xml"/><Relationship Id="rId2" Type="http://schemas.openxmlformats.org/officeDocument/2006/relationships/notesMaster" Target="../notesMasters/notesMaster1.xml"/>
</Relationships>
</file>

<file path=ppt/notesSlides/_rels/notesSlide134.xml.rels><?xml version="1.0" encoding="UTF-8"?>
<Relationships xmlns="http://schemas.openxmlformats.org/package/2006/relationships"><Relationship Id="rId1" Type="http://schemas.openxmlformats.org/officeDocument/2006/relationships/slide" Target="../slides/slide134.xml"/><Relationship Id="rId2" Type="http://schemas.openxmlformats.org/officeDocument/2006/relationships/notesMaster" Target="../notesMasters/notesMaster1.xml"/>
</Relationships>
</file>

<file path=ppt/notesSlides/_rels/notesSlide135.xml.rels><?xml version="1.0" encoding="UTF-8"?>
<Relationships xmlns="http://schemas.openxmlformats.org/package/2006/relationships"><Relationship Id="rId1" Type="http://schemas.openxmlformats.org/officeDocument/2006/relationships/slide" Target="../slides/slide135.xml"/><Relationship Id="rId2" Type="http://schemas.openxmlformats.org/officeDocument/2006/relationships/notesMaster" Target="../notesMasters/notesMaster1.xml"/>
</Relationships>
</file>

<file path=ppt/notesSlides/_rels/notesSlide136.xml.rels><?xml version="1.0" encoding="UTF-8"?>
<Relationships xmlns="http://schemas.openxmlformats.org/package/2006/relationships"><Relationship Id="rId1" Type="http://schemas.openxmlformats.org/officeDocument/2006/relationships/slide" Target="../slides/slide136.xml"/><Relationship Id="rId2" Type="http://schemas.openxmlformats.org/officeDocument/2006/relationships/notesMaster" Target="../notesMasters/notesMaster1.xml"/>
</Relationships>
</file>

<file path=ppt/notesSlides/_rels/notesSlide137.xml.rels><?xml version="1.0" encoding="UTF-8"?>
<Relationships xmlns="http://schemas.openxmlformats.org/package/2006/relationships"><Relationship Id="rId1" Type="http://schemas.openxmlformats.org/officeDocument/2006/relationships/slide" Target="../slides/slide137.xml"/><Relationship Id="rId2" Type="http://schemas.openxmlformats.org/officeDocument/2006/relationships/notesMaster" Target="../notesMasters/notesMaster1.xml"/>
</Relationships>
</file>

<file path=ppt/notesSlides/_rels/notesSlide138.xml.rels><?xml version="1.0" encoding="UTF-8"?>
<Relationships xmlns="http://schemas.openxmlformats.org/package/2006/relationships"><Relationship Id="rId1" Type="http://schemas.openxmlformats.org/officeDocument/2006/relationships/slide" Target="../slides/slide138.xml"/><Relationship Id="rId2" Type="http://schemas.openxmlformats.org/officeDocument/2006/relationships/notesMaster" Target="../notesMasters/notesMaster1.xml"/>
</Relationships>
</file>

<file path=ppt/notesSlides/_rels/notesSlide139.xml.rels><?xml version="1.0" encoding="UTF-8"?>
<Relationships xmlns="http://schemas.openxmlformats.org/package/2006/relationships"><Relationship Id="rId1" Type="http://schemas.openxmlformats.org/officeDocument/2006/relationships/slide" Target="../slides/slide139.xml"/><Relationship Id="rId2" Type="http://schemas.openxmlformats.org/officeDocument/2006/relationships/notesMaster" Target="../notesMasters/notesMaster1.xml"/>
</Relationships>
</file>

<file path=ppt/notesSlides/_rels/notesSlide140.xml.rels><?xml version="1.0" encoding="UTF-8"?>
<Relationships xmlns="http://schemas.openxmlformats.org/package/2006/relationships"><Relationship Id="rId1" Type="http://schemas.openxmlformats.org/officeDocument/2006/relationships/slide" Target="../slides/slide140.xml"/><Relationship Id="rId2" Type="http://schemas.openxmlformats.org/officeDocument/2006/relationships/notesMaster" Target="../notesMasters/notesMaster1.xml"/>
</Relationships>
</file>

<file path=ppt/notesSlides/_rels/notesSlide141.xml.rels><?xml version="1.0" encoding="UTF-8"?>
<Relationships xmlns="http://schemas.openxmlformats.org/package/2006/relationships"><Relationship Id="rId1" Type="http://schemas.openxmlformats.org/officeDocument/2006/relationships/slide" Target="../slides/slide141.xml"/><Relationship Id="rId2" Type="http://schemas.openxmlformats.org/officeDocument/2006/relationships/notesMaster" Target="../notesMasters/notesMaster1.xml"/>
</Relationships>
</file>

<file path=ppt/notesSlides/_rels/notesSlide142.xml.rels><?xml version="1.0" encoding="UTF-8"?>
<Relationships xmlns="http://schemas.openxmlformats.org/package/2006/relationships"><Relationship Id="rId1" Type="http://schemas.openxmlformats.org/officeDocument/2006/relationships/slide" Target="../slides/slide142.xml"/><Relationship Id="rId2" Type="http://schemas.openxmlformats.org/officeDocument/2006/relationships/notesMaster" Target="../notesMasters/notesMaster1.xml"/>
</Relationships>
</file>

<file path=ppt/notesSlides/_rels/notesSlide143.xml.rels><?xml version="1.0" encoding="UTF-8"?>
<Relationships xmlns="http://schemas.openxmlformats.org/package/2006/relationships"><Relationship Id="rId1" Type="http://schemas.openxmlformats.org/officeDocument/2006/relationships/slide" Target="../slides/slide143.xml"/><Relationship Id="rId2" Type="http://schemas.openxmlformats.org/officeDocument/2006/relationships/notesMaster" Target="../notesMasters/notesMaster1.xml"/>
</Relationships>
</file>

<file path=ppt/notesSlides/_rels/notesSlide144.xml.rels><?xml version="1.0" encoding="UTF-8"?>
<Relationships xmlns="http://schemas.openxmlformats.org/package/2006/relationships"><Relationship Id="rId1" Type="http://schemas.openxmlformats.org/officeDocument/2006/relationships/slide" Target="../slides/slide144.xml"/><Relationship Id="rId2" Type="http://schemas.openxmlformats.org/officeDocument/2006/relationships/notesMaster" Target="../notesMasters/notesMaster1.xml"/>
</Relationships>
</file>

<file path=ppt/notesSlides/_rels/notesSlide145.xml.rels><?xml version="1.0" encoding="UTF-8"?>
<Relationships xmlns="http://schemas.openxmlformats.org/package/2006/relationships"><Relationship Id="rId1" Type="http://schemas.openxmlformats.org/officeDocument/2006/relationships/slide" Target="../slides/slide145.xml"/><Relationship Id="rId2" Type="http://schemas.openxmlformats.org/officeDocument/2006/relationships/notesMaster" Target="../notesMasters/notesMaster1.xml"/>
</Relationships>
</file>

<file path=ppt/notesSlides/_rels/notesSlide146.xml.rels><?xml version="1.0" encoding="UTF-8"?>
<Relationships xmlns="http://schemas.openxmlformats.org/package/2006/relationships"><Relationship Id="rId1" Type="http://schemas.openxmlformats.org/officeDocument/2006/relationships/slide" Target="../slides/slide146.xml"/><Relationship Id="rId2" Type="http://schemas.openxmlformats.org/officeDocument/2006/relationships/notesMaster" Target="../notesMasters/notesMaster1.xml"/>
</Relationships>
</file>

<file path=ppt/notesSlides/_rels/notesSlide147.xml.rels><?xml version="1.0" encoding="UTF-8"?>
<Relationships xmlns="http://schemas.openxmlformats.org/package/2006/relationships"><Relationship Id="rId1" Type="http://schemas.openxmlformats.org/officeDocument/2006/relationships/slide" Target="../slides/slide147.xml"/><Relationship Id="rId2" Type="http://schemas.openxmlformats.org/officeDocument/2006/relationships/notesMaster" Target="../notesMasters/notesMaster1.xml"/>
</Relationships>
</file>

<file path=ppt/notesSlides/_rels/notesSlide148.xml.rels><?xml version="1.0" encoding="UTF-8"?>
<Relationships xmlns="http://schemas.openxmlformats.org/package/2006/relationships"><Relationship Id="rId1" Type="http://schemas.openxmlformats.org/officeDocument/2006/relationships/slide" Target="../slides/slide148.xml"/><Relationship Id="rId2" Type="http://schemas.openxmlformats.org/officeDocument/2006/relationships/notesMaster" Target="../notesMasters/notesMaster1.xml"/>
</Relationships>
</file>

<file path=ppt/notesSlides/_rels/notesSlide149.xml.rels><?xml version="1.0" encoding="UTF-8"?>
<Relationships xmlns="http://schemas.openxmlformats.org/package/2006/relationships"><Relationship Id="rId1" Type="http://schemas.openxmlformats.org/officeDocument/2006/relationships/slide" Target="../slides/slide149.xml"/><Relationship Id="rId2" Type="http://schemas.openxmlformats.org/officeDocument/2006/relationships/notesMaster" Target="../notesMasters/notesMaster1.xml"/>
</Relationships>
</file>

<file path=ppt/notesSlides/_rels/notesSlide150.xml.rels><?xml version="1.0" encoding="UTF-8"?>
<Relationships xmlns="http://schemas.openxmlformats.org/package/2006/relationships"><Relationship Id="rId1" Type="http://schemas.openxmlformats.org/officeDocument/2006/relationships/slide" Target="../slides/slide150.xml"/><Relationship Id="rId2" Type="http://schemas.openxmlformats.org/officeDocument/2006/relationships/notesMaster" Target="../notesMasters/notesMaster1.xml"/>
</Relationships>
</file>

<file path=ppt/notesSlides/_rels/notesSlide151.xml.rels><?xml version="1.0" encoding="UTF-8"?>
<Relationships xmlns="http://schemas.openxmlformats.org/package/2006/relationships"><Relationship Id="rId1" Type="http://schemas.openxmlformats.org/officeDocument/2006/relationships/slide" Target="../slides/slide151.xml"/><Relationship Id="rId2" Type="http://schemas.openxmlformats.org/officeDocument/2006/relationships/notesMaster" Target="../notesMasters/notesMaster1.xml"/>
</Relationships>
</file>

<file path=ppt/notesSlides/_rels/notesSlide152.xml.rels><?xml version="1.0" encoding="UTF-8"?>
<Relationships xmlns="http://schemas.openxmlformats.org/package/2006/relationships"><Relationship Id="rId1" Type="http://schemas.openxmlformats.org/officeDocument/2006/relationships/slide" Target="../slides/slide152.xml"/><Relationship Id="rId2" Type="http://schemas.openxmlformats.org/officeDocument/2006/relationships/notesMaster" Target="../notesMasters/notesMaster1.xml"/>
</Relationships>
</file>

<file path=ppt/notesSlides/_rels/notesSlide153.xml.rels><?xml version="1.0" encoding="UTF-8"?>
<Relationships xmlns="http://schemas.openxmlformats.org/package/2006/relationships"><Relationship Id="rId1" Type="http://schemas.openxmlformats.org/officeDocument/2006/relationships/slide" Target="../slides/slide153.xml"/><Relationship Id="rId2" Type="http://schemas.openxmlformats.org/officeDocument/2006/relationships/notesMaster" Target="../notesMasters/notesMaster1.xml"/>
</Relationships>
</file>

<file path=ppt/notesSlides/_rels/notesSlide154.xml.rels><?xml version="1.0" encoding="UTF-8"?>
<Relationships xmlns="http://schemas.openxmlformats.org/package/2006/relationships"><Relationship Id="rId1" Type="http://schemas.openxmlformats.org/officeDocument/2006/relationships/slide" Target="../slides/slide154.xml"/><Relationship Id="rId2" Type="http://schemas.openxmlformats.org/officeDocument/2006/relationships/notesMaster" Target="../notesMasters/notesMaster1.xml"/>
</Relationships>
</file>

<file path=ppt/notesSlides/_rels/notesSlide155.xml.rels><?xml version="1.0" encoding="UTF-8"?>
<Relationships xmlns="http://schemas.openxmlformats.org/package/2006/relationships"><Relationship Id="rId1" Type="http://schemas.openxmlformats.org/officeDocument/2006/relationships/slide" Target="../slides/slide155.xml"/><Relationship Id="rId2" Type="http://schemas.openxmlformats.org/officeDocument/2006/relationships/notesMaster" Target="../notesMasters/notesMaster1.xml"/>
</Relationships>
</file>

<file path=ppt/notesSlides/_rels/notesSlide156.xml.rels><?xml version="1.0" encoding="UTF-8"?>
<Relationships xmlns="http://schemas.openxmlformats.org/package/2006/relationships"><Relationship Id="rId1" Type="http://schemas.openxmlformats.org/officeDocument/2006/relationships/slide" Target="../slides/slide156.xml"/><Relationship Id="rId2" Type="http://schemas.openxmlformats.org/officeDocument/2006/relationships/notesMaster" Target="../notesMasters/notesMaster1.xml"/>
</Relationships>
</file>

<file path=ppt/notesSlides/_rels/notesSlide157.xml.rels><?xml version="1.0" encoding="UTF-8"?>
<Relationships xmlns="http://schemas.openxmlformats.org/package/2006/relationships"><Relationship Id="rId1" Type="http://schemas.openxmlformats.org/officeDocument/2006/relationships/slide" Target="../slides/slide157.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6" name="PlaceHolder 1"/>
          <p:cNvSpPr>
            <a:spLocks noGrp="1"/>
          </p:cNvSpPr>
          <p:nvPr>
            <p:ph type="sldImg"/>
          </p:nvPr>
        </p:nvSpPr>
        <p:spPr>
          <a:xfrm>
            <a:off x="1143000" y="685800"/>
            <a:ext cx="4571640" cy="3428640"/>
          </a:xfrm>
          <a:prstGeom prst="rect">
            <a:avLst/>
          </a:prstGeom>
          <a:ln w="0">
            <a:noFill/>
          </a:ln>
        </p:spPr>
      </p:sp>
      <p:sp>
        <p:nvSpPr>
          <p:cNvPr id="305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Bienvenida. Preséntese y pregunte por la experiencia previa del grupo: ¿han trabajado con variadores de frecuencia? ¿con PLC? ¿con servos de otras marcas? El curso está diseñado para que alguien sin experiencia previa pueda seguirlo, pero avanza hasta técnicas de sintonización avanzada.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Deje claro desde el primer minuto el mensaje central: un servo no se 'instala', se DIMENSIONA, se instala, se parametriza y se SINTONIZA. Saltarse cualquiera de esos cuatro pasos es la causa de la mayoría de los problemas en campo.</a:t>
            </a:r>
            <a:endParaRPr b="0" lang="en-US" sz="2000" spc="-1" strike="noStrike">
              <a:solidFill>
                <a:srgbClr val="000000"/>
              </a:solidFill>
              <a:latin typeface="Arial"/>
            </a:endParaRPr>
          </a:p>
        </p:txBody>
      </p:sp>
      <p:sp>
        <p:nvSpPr>
          <p:cNvPr id="3058" name="PlaceHolder 3"/>
          <p:cNvSpPr>
            <a:spLocks noGrp="1"/>
          </p:cNvSpPr>
          <p:nvPr>
            <p:ph type="sldNum" idx="3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E435D04-8A90-466C-8D74-F5187A34A00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9" name="PlaceHolder 1"/>
          <p:cNvSpPr>
            <a:spLocks noGrp="1"/>
          </p:cNvSpPr>
          <p:nvPr>
            <p:ph type="sldImg"/>
          </p:nvPr>
        </p:nvSpPr>
        <p:spPr>
          <a:xfrm>
            <a:off x="1143000" y="685800"/>
            <a:ext cx="4571640" cy="3428640"/>
          </a:xfrm>
          <a:prstGeom prst="rect">
            <a:avLst/>
          </a:prstGeom>
          <a:ln w="0">
            <a:noFill/>
          </a:ln>
        </p:spPr>
      </p:sp>
      <p:sp>
        <p:nvSpPr>
          <p:cNvPr id="306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Lea los objetivos en voz alta: funcionan como contrato con el alumno. Al final del curso conviene volver a esta diapositiva y verificar uno a uno los seis puntos.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Si el grupo es de mantenimiento y no de diseño, insista en los puntos 4, 5 y 6. Si es de ingeniería de proyecto, en los puntos 1, 2 y 3.</a:t>
            </a:r>
            <a:endParaRPr b="0" lang="en-US" sz="2000" spc="-1" strike="noStrike">
              <a:solidFill>
                <a:srgbClr val="000000"/>
              </a:solidFill>
              <a:latin typeface="Arial"/>
            </a:endParaRPr>
          </a:p>
        </p:txBody>
      </p:sp>
      <p:sp>
        <p:nvSpPr>
          <p:cNvPr id="3061" name="PlaceHolder 3"/>
          <p:cNvSpPr>
            <a:spLocks noGrp="1"/>
          </p:cNvSpPr>
          <p:nvPr>
            <p:ph type="sldNum" idx="3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75A158D-99CD-40C8-A8C8-801DEB87D71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2" name="PlaceHolder 1"/>
          <p:cNvSpPr>
            <a:spLocks noGrp="1"/>
          </p:cNvSpPr>
          <p:nvPr>
            <p:ph type="sldImg"/>
          </p:nvPr>
        </p:nvSpPr>
        <p:spPr>
          <a:xfrm>
            <a:off x="1143000" y="685800"/>
            <a:ext cx="4571640" cy="3428640"/>
          </a:xfrm>
          <a:prstGeom prst="rect">
            <a:avLst/>
          </a:prstGeom>
          <a:ln w="0">
            <a:noFill/>
          </a:ln>
        </p:spPr>
      </p:sp>
      <p:sp>
        <p:nvSpPr>
          <p:cNvPr id="306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Si no dispone de hardware real, todo el curso puede seguirse con SigmaWin+ en modo offline: permite crear un proyecto, editar el juego completo de parámetros y estudiar las pantallas de ajuste sin drive.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que las prácticas con tensión requieren autorización y EPP. El bus de continua del SERVOPACK conserva carga después de desconectar.</a:t>
            </a:r>
            <a:endParaRPr b="0" lang="en-US" sz="2000" spc="-1" strike="noStrike">
              <a:solidFill>
                <a:srgbClr val="000000"/>
              </a:solidFill>
              <a:latin typeface="Arial"/>
            </a:endParaRPr>
          </a:p>
        </p:txBody>
      </p:sp>
      <p:sp>
        <p:nvSpPr>
          <p:cNvPr id="3064" name="PlaceHolder 3"/>
          <p:cNvSpPr>
            <a:spLocks noGrp="1"/>
          </p:cNvSpPr>
          <p:nvPr>
            <p:ph type="sldNum" idx="3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B95DEE1-5ED1-49A9-A5BA-B1B49775180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5" name="PlaceHolder 1"/>
          <p:cNvSpPr>
            <a:spLocks noGrp="1"/>
          </p:cNvSpPr>
          <p:nvPr>
            <p:ph type="sldImg"/>
          </p:nvPr>
        </p:nvSpPr>
        <p:spPr>
          <a:xfrm>
            <a:off x="1143000" y="685800"/>
            <a:ext cx="4571640" cy="3428640"/>
          </a:xfrm>
          <a:prstGeom prst="rect">
            <a:avLst/>
          </a:prstGeom>
          <a:ln w="0">
            <a:noFill/>
          </a:ln>
        </p:spPr>
      </p:sp>
      <p:sp>
        <p:nvSpPr>
          <p:cNvPr id="306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Explique la lógica del recorrido: primero se entiende el principio (01-03), después se justifica la selección con cálculo (04), luego se monta (05-06), se configura (07), se arranca (08), se afina (09), se protege (10) y se mantiene (11).</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Es tentador saltar directamente al módulo 08 o 09. Advierta que el 80 % de los problemas de sintonización que se ven en campo son en realidad problemas de dimensionamiento (módulo 04) o de cableado y apantallamiento (módulo 05).</a:t>
            </a:r>
            <a:endParaRPr b="0" lang="en-US" sz="2000" spc="-1" strike="noStrike">
              <a:solidFill>
                <a:srgbClr val="000000"/>
              </a:solidFill>
              <a:latin typeface="Arial"/>
            </a:endParaRPr>
          </a:p>
        </p:txBody>
      </p:sp>
      <p:sp>
        <p:nvSpPr>
          <p:cNvPr id="3067" name="PlaceHolder 3"/>
          <p:cNvSpPr>
            <a:spLocks noGrp="1"/>
          </p:cNvSpPr>
          <p:nvPr>
            <p:ph type="sldNum" idx="4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DC134DB-AD94-471A-821C-10B321DB4E0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68" name="PlaceHolder 1"/>
          <p:cNvSpPr>
            <a:spLocks noGrp="1"/>
          </p:cNvSpPr>
          <p:nvPr>
            <p:ph type="sldImg"/>
          </p:nvPr>
        </p:nvSpPr>
        <p:spPr>
          <a:xfrm>
            <a:off x="1143000" y="685800"/>
            <a:ext cx="4571640" cy="3428640"/>
          </a:xfrm>
          <a:prstGeom prst="rect">
            <a:avLst/>
          </a:prstGeom>
          <a:ln w="0">
            <a:noFill/>
          </a:ln>
        </p:spPr>
      </p:sp>
      <p:sp>
        <p:nvSpPr>
          <p:cNvPr id="306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Insista en la advertencia: el objetivo del curso es que el alumno sepa QUÉ buscar y DÓNDE buscarlo en el manual, no que memorice tablas. Un buen técnico de servos es el que maneja el manual con agilidad.</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Manual de referencia principal del curso: 'Σ-X-Series AC Servo Drive · Σ-XS SERVOPACK with Analog Voltage/Pulse Train References · Product Manual' (modelo SGDXS-□□□□00□, MANUAL NO. SIEP C710812 03I), descargable gratuitamente desde la web de YASKAWA. Complementarios: el catálogo Σ-X de 200 V y el manual de selección de periféricos.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IMPORTANTE sobre el sufijo -Y3600A: identifica un producto de especificación personalizada (Y-spec). El comportamiento base es el del SGDXS-200A00A, pero puede haber parámetros de fábrica, asignaciones de E/S o funciones modificadas. Solicite al fabricante la hoja de especificación Y antes de dar por buena cualquier configuración por defecto.</a:t>
            </a:r>
            <a:endParaRPr b="0" lang="en-US" sz="2000" spc="-1" strike="noStrike">
              <a:solidFill>
                <a:srgbClr val="000000"/>
              </a:solidFill>
              <a:latin typeface="Arial"/>
            </a:endParaRPr>
          </a:p>
        </p:txBody>
      </p:sp>
      <p:sp>
        <p:nvSpPr>
          <p:cNvPr id="3070" name="PlaceHolder 3"/>
          <p:cNvSpPr>
            <a:spLocks noGrp="1"/>
          </p:cNvSpPr>
          <p:nvPr>
            <p:ph type="sldNum" idx="4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7643429-454A-49FD-B1AA-01CEFF7DC39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1" name="PlaceHolder 1"/>
          <p:cNvSpPr>
            <a:spLocks noGrp="1"/>
          </p:cNvSpPr>
          <p:nvPr>
            <p:ph type="sldImg"/>
          </p:nvPr>
        </p:nvSpPr>
        <p:spPr>
          <a:xfrm>
            <a:off x="1143000" y="685800"/>
            <a:ext cx="4571640" cy="3428640"/>
          </a:xfrm>
          <a:prstGeom prst="rect">
            <a:avLst/>
          </a:prstGeom>
          <a:ln w="0">
            <a:noFill/>
          </a:ln>
        </p:spPr>
      </p:sp>
      <p:sp>
        <p:nvSpPr>
          <p:cNvPr id="307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No pase esta diapositiva rápido. Si el curso incluye laboratorio, haga firmar la hoja de riesgos aquí.</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Dato práctico: el LED CHARGE del SERVOPACK indica que el bus de continua sigue cargado. Que esté apagado es condición necesaria, pero la verificación con multímetro sigue siendo obligatoria.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Anécdota útil para fijar el mensaje: la avería más cara y más frecuente en puesta en marcha es alimentar por U/V/W por confusión con los bornes L1/L2/L3. El SERVOPACK se destruye instantáneamente y no está cubierto por garantía.</a:t>
            </a:r>
            <a:endParaRPr b="0" lang="en-US" sz="2000" spc="-1" strike="noStrike">
              <a:solidFill>
                <a:srgbClr val="000000"/>
              </a:solidFill>
              <a:latin typeface="Arial"/>
            </a:endParaRPr>
          </a:p>
        </p:txBody>
      </p:sp>
      <p:sp>
        <p:nvSpPr>
          <p:cNvPr id="3073" name="PlaceHolder 3"/>
          <p:cNvSpPr>
            <a:spLocks noGrp="1"/>
          </p:cNvSpPr>
          <p:nvPr>
            <p:ph type="sldNum" idx="4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96CEEF2-B806-4B59-B4F9-403502A6038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4" name="PlaceHolder 1"/>
          <p:cNvSpPr>
            <a:spLocks noGrp="1"/>
          </p:cNvSpPr>
          <p:nvPr>
            <p:ph type="sldImg"/>
          </p:nvPr>
        </p:nvSpPr>
        <p:spPr>
          <a:xfrm>
            <a:off x="1143000" y="685800"/>
            <a:ext cx="4571640" cy="3428640"/>
          </a:xfrm>
          <a:prstGeom prst="rect">
            <a:avLst/>
          </a:prstGeom>
          <a:ln w="0">
            <a:noFill/>
          </a:ln>
        </p:spPr>
      </p:sp>
      <p:sp>
        <p:nvSpPr>
          <p:cNvPr id="307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módulo es la base conceptual. Aunque el grupo tenga experiencia, no lo salte: la mayoría de los errores de sintonización nacen de no tener claro el modelo mental del lazo en cascada y de la relación de inercias.</a:t>
            </a:r>
            <a:endParaRPr b="0" lang="en-US" sz="2000" spc="-1" strike="noStrike">
              <a:solidFill>
                <a:srgbClr val="000000"/>
              </a:solidFill>
              <a:latin typeface="Arial"/>
            </a:endParaRPr>
          </a:p>
        </p:txBody>
      </p:sp>
      <p:sp>
        <p:nvSpPr>
          <p:cNvPr id="3076" name="PlaceHolder 3"/>
          <p:cNvSpPr>
            <a:spLocks noGrp="1"/>
          </p:cNvSpPr>
          <p:nvPr>
            <p:ph type="sldNum" idx="4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359771A-AB0B-4F0F-AEB3-00027E951AE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7" name="PlaceHolder 1"/>
          <p:cNvSpPr>
            <a:spLocks noGrp="1"/>
          </p:cNvSpPr>
          <p:nvPr>
            <p:ph type="sldImg"/>
          </p:nvPr>
        </p:nvSpPr>
        <p:spPr>
          <a:xfrm>
            <a:off x="1143000" y="685800"/>
            <a:ext cx="4571640" cy="3428640"/>
          </a:xfrm>
          <a:prstGeom prst="rect">
            <a:avLst/>
          </a:prstGeom>
          <a:ln w="0">
            <a:noFill/>
          </a:ln>
        </p:spPr>
      </p:sp>
      <p:sp>
        <p:nvSpPr>
          <p:cNvPr id="307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Analogía útil: conducir un coche con los ojos cerrados (lazo abierto) frente a conducir mirando la carretera y corrigiendo el volante (lazo cerrado). El motor paso a paso es el primero; el servo, el segundo.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Pregunta para el grupo: ¿por qué un servo puede dar par a velocidad cero y un motor asíncrono con variador tiene problemas para hacerlo? Respuesta: porque el servo conoce la posición exacta del rotor gracias al encoder y puede orientar el campo con precisión (control vectorial con realimentación de posición absoluta del rotor), mientras que en lazo abierto se estima.</a:t>
            </a:r>
            <a:endParaRPr b="0" lang="en-US" sz="2000" spc="-1" strike="noStrike">
              <a:solidFill>
                <a:srgbClr val="000000"/>
              </a:solidFill>
              <a:latin typeface="Arial"/>
            </a:endParaRPr>
          </a:p>
        </p:txBody>
      </p:sp>
      <p:sp>
        <p:nvSpPr>
          <p:cNvPr id="3079" name="PlaceHolder 3"/>
          <p:cNvSpPr>
            <a:spLocks noGrp="1"/>
          </p:cNvSpPr>
          <p:nvPr>
            <p:ph type="sldNum" idx="4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090E2AC-ACF5-40AB-8C63-59849AAEFA8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0" name="PlaceHolder 1"/>
          <p:cNvSpPr>
            <a:spLocks noGrp="1"/>
          </p:cNvSpPr>
          <p:nvPr>
            <p:ph type="sldImg"/>
          </p:nvPr>
        </p:nvSpPr>
        <p:spPr>
          <a:xfrm>
            <a:off x="1143000" y="685800"/>
            <a:ext cx="4571640" cy="3428640"/>
          </a:xfrm>
          <a:prstGeom prst="rect">
            <a:avLst/>
          </a:prstGeom>
          <a:ln w="0">
            <a:noFill/>
          </a:ln>
        </p:spPr>
      </p:sp>
      <p:sp>
        <p:nvSpPr>
          <p:cNvPr id="308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Recorra el diagrama dos veces: primero la cadena de mando de izquierda a derecha (quién manda a quién) y después la cadena de realimentación de derecha a izquierda (quién informa a quién).</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Insista en que el encoder informa al SERVOPACK, no al controlador. El controlador sólo recibe un 'acuse' (señal /COIN de posicionado completado, o la posición real por bus). Esto explica por qué el ajuste fino del eje se hace en el drive y no en el PLC.</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Pregunte: si el eje vibra, ¿dónde está el problema? Puede estar en cualquiera de los cuatro bloques y en los dos enlaces. El método de diagnóstico del Módulo 11 consiste precisamente en aislar bloque por bloque.</a:t>
            </a:r>
            <a:endParaRPr b="0" lang="en-US" sz="2000" spc="-1" strike="noStrike">
              <a:solidFill>
                <a:srgbClr val="000000"/>
              </a:solidFill>
              <a:latin typeface="Arial"/>
            </a:endParaRPr>
          </a:p>
        </p:txBody>
      </p:sp>
      <p:sp>
        <p:nvSpPr>
          <p:cNvPr id="3082" name="PlaceHolder 3"/>
          <p:cNvSpPr>
            <a:spLocks noGrp="1"/>
          </p:cNvSpPr>
          <p:nvPr>
            <p:ph type="sldNum" idx="4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8E14FBF-D9D8-4D95-96CA-C3F75AA9D0D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3" name="PlaceHolder 1"/>
          <p:cNvSpPr>
            <a:spLocks noGrp="1"/>
          </p:cNvSpPr>
          <p:nvPr>
            <p:ph type="sldImg"/>
          </p:nvPr>
        </p:nvSpPr>
        <p:spPr>
          <a:xfrm>
            <a:off x="1143000" y="685800"/>
            <a:ext cx="4571640" cy="3428640"/>
          </a:xfrm>
          <a:prstGeom prst="rect">
            <a:avLst/>
          </a:prstGeom>
          <a:ln w="0">
            <a:noFill/>
          </a:ln>
        </p:spPr>
      </p:sp>
      <p:sp>
        <p:nvSpPr>
          <p:cNvPr id="308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punto que más conviene remarcar es el de 'pierde pasos en silencio': es la razón principal por la que se sustituyen steppers por servos en máquinas de producción. El servo nunca pierde la referencia sin avisar; si no puede seguir la consigna, dispara A.d00 (exceso de error de posición) o A.710/A.720 (sobrecarga).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Matiz honesto: los variadores modernos con control vectorial en lazo cerrado y encoder se acercan mucho al servo en par a velocidad cero. La diferencia real queda en la dinámica (inercia del rotor mucho menor en el servomotor) y en la resolución de la realimentación.</a:t>
            </a:r>
            <a:endParaRPr b="0" lang="en-US" sz="2000" spc="-1" strike="noStrike">
              <a:solidFill>
                <a:srgbClr val="000000"/>
              </a:solidFill>
              <a:latin typeface="Arial"/>
            </a:endParaRPr>
          </a:p>
        </p:txBody>
      </p:sp>
      <p:sp>
        <p:nvSpPr>
          <p:cNvPr id="3085" name="PlaceHolder 3"/>
          <p:cNvSpPr>
            <a:spLocks noGrp="1"/>
          </p:cNvSpPr>
          <p:nvPr>
            <p:ph type="sldNum" idx="4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BE6B839-AE86-4787-9DFA-6D4685FDA0D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6" name="PlaceHolder 1"/>
          <p:cNvSpPr>
            <a:spLocks noGrp="1"/>
          </p:cNvSpPr>
          <p:nvPr>
            <p:ph type="sldImg"/>
          </p:nvPr>
        </p:nvSpPr>
        <p:spPr>
          <a:xfrm>
            <a:off x="1143000" y="685800"/>
            <a:ext cx="4571640" cy="3428640"/>
          </a:xfrm>
          <a:prstGeom prst="rect">
            <a:avLst/>
          </a:prstGeom>
          <a:ln w="0">
            <a:noFill/>
          </a:ln>
        </p:spPr>
      </p:sp>
      <p:sp>
        <p:nvSpPr>
          <p:cNvPr id="308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es el diagrama más importante del curso. Todo el Módulo 09 (sintonización) consiste en ajustar las ganancias de estos tres lazos en el orden correcto: de dentro hacia fuera.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Frecuencias de actualización típicas en la Σ-X: el lazo de corriente trabaja en el orden de decenas de kHz, el de velocidad en unos pocos kHz y el de posición algo más lento. Regla universal del control en cascada: el lazo interno debe ser al menos 4-5 veces más rápido que el externo.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Consecuencia práctica que hay que anunciar ya: si el lazo de velocidad no está bien ajustado, subir la ganancia de posición Pn102 sólo produce inestabilidad. Nunca se empieza por fuera.</a:t>
            </a:r>
            <a:endParaRPr b="0" lang="en-US" sz="2000" spc="-1" strike="noStrike">
              <a:solidFill>
                <a:srgbClr val="000000"/>
              </a:solidFill>
              <a:latin typeface="Arial"/>
            </a:endParaRPr>
          </a:p>
        </p:txBody>
      </p:sp>
      <p:sp>
        <p:nvSpPr>
          <p:cNvPr id="3088" name="PlaceHolder 3"/>
          <p:cNvSpPr>
            <a:spLocks noGrp="1"/>
          </p:cNvSpPr>
          <p:nvPr>
            <p:ph type="sldNum" idx="4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1B156F6-83B7-4FDD-BAE9-CE87DC43F19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9" name="PlaceHolder 1"/>
          <p:cNvSpPr>
            <a:spLocks noGrp="1"/>
          </p:cNvSpPr>
          <p:nvPr>
            <p:ph type="sldImg"/>
          </p:nvPr>
        </p:nvSpPr>
        <p:spPr>
          <a:xfrm>
            <a:off x="1143000" y="685800"/>
            <a:ext cx="4571640" cy="3428640"/>
          </a:xfrm>
          <a:prstGeom prst="rect">
            <a:avLst/>
          </a:prstGeom>
          <a:ln w="0">
            <a:noFill/>
          </a:ln>
        </p:spPr>
      </p:sp>
      <p:sp>
        <p:nvSpPr>
          <p:cNvPr id="309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Idea clave que hay que dejar clarísima: el modo de par es el lazo interno, el de velocidad añade el lazo intermedio y el de posición añade el externo. Elegir 'modo velocidad' no desactiva el lazo de par; simplemente el drive genera internamente la consigna de par.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Pn000.1 admite además modos combinados con conmutación por entrada digital (por ejemplo velocidad↔par con /P-CON), útiles en aplicaciones de tensión de material donde se arranca en velocidad y se pasa a par.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En modelos de bus (MECHATROLINK-III / EtherCAT) el modo se selecciona por telegrama con los modos de operación del perfil CiA 402: par, velocidad, posición cíclica, homing e interpolación.</a:t>
            </a:r>
            <a:endParaRPr b="0" lang="en-US" sz="2000" spc="-1" strike="noStrike">
              <a:solidFill>
                <a:srgbClr val="000000"/>
              </a:solidFill>
              <a:latin typeface="Arial"/>
            </a:endParaRPr>
          </a:p>
        </p:txBody>
      </p:sp>
      <p:sp>
        <p:nvSpPr>
          <p:cNvPr id="3091" name="PlaceHolder 3"/>
          <p:cNvSpPr>
            <a:spLocks noGrp="1"/>
          </p:cNvSpPr>
          <p:nvPr>
            <p:ph type="sldNum" idx="4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3C2A61AE-046C-45AC-A737-1D13EE517BE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92" name="PlaceHolder 1"/>
          <p:cNvSpPr>
            <a:spLocks noGrp="1"/>
          </p:cNvSpPr>
          <p:nvPr>
            <p:ph type="sldImg"/>
          </p:nvPr>
        </p:nvSpPr>
        <p:spPr>
          <a:xfrm>
            <a:off x="1143000" y="685800"/>
            <a:ext cx="4571640" cy="3428640"/>
          </a:xfrm>
          <a:prstGeom prst="rect">
            <a:avLst/>
          </a:prstGeom>
          <a:ln w="0">
            <a:noFill/>
          </a:ln>
        </p:spPr>
      </p:sp>
      <p:sp>
        <p:nvSpPr>
          <p:cNvPr id="309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La batería del encoder absoluto es una fuente clásica de paradas: genera el aviso A.930 (batería baja) y, si se agota con el equipo sin tensión, la alarma A.810 (fallo de respaldo del encoder), que obliga a repetir Fn008 y a rehacer el origen de la máquina.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Recomendación de mantenimiento: sustituir la batería con el equipo ENERGIZADO (control power ON). Así el encoder no pierde el contaje multivuelta y no hay que rehacer el origen. Anótelo, porque este truco ahorra horas de parada.</a:t>
            </a:r>
            <a:endParaRPr b="0" lang="en-US" sz="2000" spc="-1" strike="noStrike">
              <a:solidFill>
                <a:srgbClr val="000000"/>
              </a:solidFill>
              <a:latin typeface="Arial"/>
            </a:endParaRPr>
          </a:p>
        </p:txBody>
      </p:sp>
      <p:sp>
        <p:nvSpPr>
          <p:cNvPr id="3094" name="PlaceHolder 3"/>
          <p:cNvSpPr>
            <a:spLocks noGrp="1"/>
          </p:cNvSpPr>
          <p:nvPr>
            <p:ph type="sldNum" idx="4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DA3F8B7-A2B0-49A1-9221-B16C59C1512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95" name="PlaceHolder 1"/>
          <p:cNvSpPr>
            <a:spLocks noGrp="1"/>
          </p:cNvSpPr>
          <p:nvPr>
            <p:ph type="sldImg"/>
          </p:nvPr>
        </p:nvSpPr>
        <p:spPr>
          <a:xfrm>
            <a:off x="1143000" y="685800"/>
            <a:ext cx="4571640" cy="3428640"/>
          </a:xfrm>
          <a:prstGeom prst="rect">
            <a:avLst/>
          </a:prstGeom>
          <a:ln w="0">
            <a:noFill/>
          </a:ln>
        </p:spPr>
      </p:sp>
      <p:sp>
        <p:nvSpPr>
          <p:cNvPr id="309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La fórmula del recuadro es la herramienta más rentable de todo el curso: permite verificar en dos segundos si una propuesta comercial tiene sentido.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Ejercicio en pizarra: 'necesito 15 N·m continuos a 2.000 rpm, ¿me vale un motor de 3 kW?'. P = 15 × 2π × 2000/60 = 3.140 W. Está justo en el límite: habría que ir a la versión de 1.500 rpm (SGMXG-30A, 18,6 N·m) o subir de tamaño. Este razonamiento se desarrolla en el Módulo 04.</a:t>
            </a:r>
            <a:endParaRPr b="0" lang="en-US" sz="2000" spc="-1" strike="noStrike">
              <a:solidFill>
                <a:srgbClr val="000000"/>
              </a:solidFill>
              <a:latin typeface="Arial"/>
            </a:endParaRPr>
          </a:p>
        </p:txBody>
      </p:sp>
      <p:sp>
        <p:nvSpPr>
          <p:cNvPr id="3097" name="PlaceHolder 3"/>
          <p:cNvSpPr>
            <a:spLocks noGrp="1"/>
          </p:cNvSpPr>
          <p:nvPr>
            <p:ph type="sldNum" idx="5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6004AD7-706E-47A5-A2DE-753F7176292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98" name="PlaceHolder 1"/>
          <p:cNvSpPr>
            <a:spLocks noGrp="1"/>
          </p:cNvSpPr>
          <p:nvPr>
            <p:ph type="sldImg"/>
          </p:nvPr>
        </p:nvSpPr>
        <p:spPr>
          <a:xfrm>
            <a:off x="1143000" y="685800"/>
            <a:ext cx="4571640" cy="3428640"/>
          </a:xfrm>
          <a:prstGeom prst="rect">
            <a:avLst/>
          </a:prstGeom>
          <a:ln w="0">
            <a:noFill/>
          </a:ln>
        </p:spPr>
      </p:sp>
      <p:sp>
        <p:nvSpPr>
          <p:cNvPr id="309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Dibuje mentalmente el ciclo de la máquina sobre esta curva: la aceleración debe caer dentro de la zona intermitente y el par eficaz (RMS) de todo el ciclo, dentro de la zona continua.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 caída de la curva a alta velocidad tiene una causa física: la fuerza contraelectromotriz crece con la velocidad y llega un punto en que la tensión del bus de continua ya no puede forzar más corriente. Por eso la curva depende de la tensión de red: con 200 V la curva es más baja que con 230 V. En instalaciones con red débil o larga, esto se nota.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Advertencia práctica: trabajar de forma continuada en la zona intermitente provoca A.720 (sobrecarga continua). El drive lleva un modelo térmico I²t que integra el exceso de corriente.</a:t>
            </a:r>
            <a:endParaRPr b="0" lang="en-US" sz="2000" spc="-1" strike="noStrike">
              <a:solidFill>
                <a:srgbClr val="000000"/>
              </a:solidFill>
              <a:latin typeface="Arial"/>
            </a:endParaRPr>
          </a:p>
        </p:txBody>
      </p:sp>
      <p:sp>
        <p:nvSpPr>
          <p:cNvPr id="3100" name="PlaceHolder 3"/>
          <p:cNvSpPr>
            <a:spLocks noGrp="1"/>
          </p:cNvSpPr>
          <p:nvPr>
            <p:ph type="sldNum" idx="5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AB9000E-05D2-4107-AB57-6A32AE032DD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1" name="PlaceHolder 1"/>
          <p:cNvSpPr>
            <a:spLocks noGrp="1"/>
          </p:cNvSpPr>
          <p:nvPr>
            <p:ph type="sldImg"/>
          </p:nvPr>
        </p:nvSpPr>
        <p:spPr>
          <a:xfrm>
            <a:off x="1143000" y="685800"/>
            <a:ext cx="4571640" cy="3428640"/>
          </a:xfrm>
          <a:prstGeom prst="rect">
            <a:avLst/>
          </a:prstGeom>
          <a:ln w="0">
            <a:noFill/>
          </a:ln>
        </p:spPr>
      </p:sp>
      <p:sp>
        <p:nvSpPr>
          <p:cNvPr id="310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Recomiende a los alumnos fotografiar esta diapositiva: es la que más se consulta durante los primeros días de trabajo con el equipo.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Cuidado con un falso amigo habitual: en castellano se dice 'ganancia alta = respuesta rápida', pero ganancia alta también significa 'menos margen de estabilidad'. Todo el Módulo 09 consiste en encontrar el punto de equilibrio.</a:t>
            </a:r>
            <a:endParaRPr b="0" lang="en-US" sz="2000" spc="-1" strike="noStrike">
              <a:solidFill>
                <a:srgbClr val="000000"/>
              </a:solidFill>
              <a:latin typeface="Arial"/>
            </a:endParaRPr>
          </a:p>
        </p:txBody>
      </p:sp>
      <p:sp>
        <p:nvSpPr>
          <p:cNvPr id="3103" name="PlaceHolder 3"/>
          <p:cNvSpPr>
            <a:spLocks noGrp="1"/>
          </p:cNvSpPr>
          <p:nvPr>
            <p:ph type="sldNum" idx="5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602FD8A-5A69-4D4E-9D0B-E6AF7B6E131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4" name="PlaceHolder 1"/>
          <p:cNvSpPr>
            <a:spLocks noGrp="1"/>
          </p:cNvSpPr>
          <p:nvPr>
            <p:ph type="sldImg"/>
          </p:nvPr>
        </p:nvSpPr>
        <p:spPr>
          <a:xfrm>
            <a:off x="1143000" y="685800"/>
            <a:ext cx="4571640" cy="3428640"/>
          </a:xfrm>
          <a:prstGeom prst="rect">
            <a:avLst/>
          </a:prstGeom>
          <a:ln w="0">
            <a:noFill/>
          </a:ln>
        </p:spPr>
      </p:sp>
      <p:sp>
        <p:nvSpPr>
          <p:cNvPr id="310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objetivo del módulo es que el alumno pueda mirar la etiqueta de un SERVOPACK cualquiera y deducir en 10 segundos: tensión, potencia, interfaz de comando y generación. Es una habilidad muy práctica en mantenimiento y en compras de repuesto.</a:t>
            </a:r>
            <a:endParaRPr b="0" lang="en-US" sz="2000" spc="-1" strike="noStrike">
              <a:solidFill>
                <a:srgbClr val="000000"/>
              </a:solidFill>
              <a:latin typeface="Arial"/>
            </a:endParaRPr>
          </a:p>
        </p:txBody>
      </p:sp>
      <p:sp>
        <p:nvSpPr>
          <p:cNvPr id="3106" name="PlaceHolder 3"/>
          <p:cNvSpPr>
            <a:spLocks noGrp="1"/>
          </p:cNvSpPr>
          <p:nvPr>
            <p:ph type="sldNum" idx="5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4243FAC-508D-4F66-9050-7EF05773C13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7" name="PlaceHolder 1"/>
          <p:cNvSpPr>
            <a:spLocks noGrp="1"/>
          </p:cNvSpPr>
          <p:nvPr>
            <p:ph type="sldImg"/>
          </p:nvPr>
        </p:nvSpPr>
        <p:spPr>
          <a:xfrm>
            <a:off x="1143000" y="685800"/>
            <a:ext cx="4571640" cy="3428640"/>
          </a:xfrm>
          <a:prstGeom prst="rect">
            <a:avLst/>
          </a:prstGeom>
          <a:ln w="0">
            <a:noFill/>
          </a:ln>
        </p:spPr>
      </p:sp>
      <p:sp>
        <p:nvSpPr>
          <p:cNvPr id="310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Pregunte al grupo qué generación tienen instalada. En planta suele haber mezcla, y saber distinguirlas por el código (SGDH / SGDV / SGDX) evita pedir repuestos equivocados.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Dato útil: subir la resolución del encoder no da tanto 'más precisión de posicionado' como una medida de velocidad mucho más limpia a baja velocidad, lo que permite ganancias más altas sin ruido. Ese es el motivo real de que la Σ-X alcance 3,5 kHz de ancho de banda.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modo de compatibilidad de E/S con Σ-7 (Pn50A = n.□□□1) es un detalle muy práctico en retrofit: permite reutilizar el cableado de CN1 de una máquina antigua sin rehacer el armario.</a:t>
            </a:r>
            <a:endParaRPr b="0" lang="en-US" sz="2000" spc="-1" strike="noStrike">
              <a:solidFill>
                <a:srgbClr val="000000"/>
              </a:solidFill>
              <a:latin typeface="Arial"/>
            </a:endParaRPr>
          </a:p>
        </p:txBody>
      </p:sp>
      <p:sp>
        <p:nvSpPr>
          <p:cNvPr id="3109" name="PlaceHolder 3"/>
          <p:cNvSpPr>
            <a:spLocks noGrp="1"/>
          </p:cNvSpPr>
          <p:nvPr>
            <p:ph type="sldNum" idx="5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2E1B238-34B0-4757-93C1-42EC6F9B860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10" name="PlaceHolder 1"/>
          <p:cNvSpPr>
            <a:spLocks noGrp="1"/>
          </p:cNvSpPr>
          <p:nvPr>
            <p:ph type="sldImg"/>
          </p:nvPr>
        </p:nvSpPr>
        <p:spPr>
          <a:xfrm>
            <a:off x="1143000" y="685800"/>
            <a:ext cx="4571640" cy="3428640"/>
          </a:xfrm>
          <a:prstGeom prst="rect">
            <a:avLst/>
          </a:prstGeom>
          <a:ln w="0">
            <a:noFill/>
          </a:ln>
        </p:spPr>
      </p:sp>
      <p:sp>
        <p:nvSpPr>
          <p:cNvPr id="311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Criterio de decisión rápido:</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¿El movimiento lo calcula un PLC/CNC que ya existe? → SGDXS.</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¿Muchos ejes pequeños y armario ajustado? → evaluar SGDXW.</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¿Máquina sencilla sin controlador de movimiento? → SGDXT.</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Para 3 kW la línea SGDXW habitualmente no llega en potencia por eje, así que la decisión está prácticamente tomada.</a:t>
            </a:r>
            <a:endParaRPr b="0" lang="en-US" sz="2000" spc="-1" strike="noStrike">
              <a:solidFill>
                <a:srgbClr val="000000"/>
              </a:solidFill>
              <a:latin typeface="Arial"/>
            </a:endParaRPr>
          </a:p>
        </p:txBody>
      </p:sp>
      <p:sp>
        <p:nvSpPr>
          <p:cNvPr id="3112" name="PlaceHolder 3"/>
          <p:cNvSpPr>
            <a:spLocks noGrp="1"/>
          </p:cNvSpPr>
          <p:nvPr>
            <p:ph type="sldNum" idx="5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B40A81E-BB0E-4265-8200-89350161CD5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13" name="PlaceHolder 1"/>
          <p:cNvSpPr>
            <a:spLocks noGrp="1"/>
          </p:cNvSpPr>
          <p:nvPr>
            <p:ph type="sldImg"/>
          </p:nvPr>
        </p:nvSpPr>
        <p:spPr>
          <a:xfrm>
            <a:off x="1143000" y="685800"/>
            <a:ext cx="4571640" cy="3428640"/>
          </a:xfrm>
          <a:prstGeom prst="rect">
            <a:avLst/>
          </a:prstGeom>
          <a:ln w="0">
            <a:noFill/>
          </a:ln>
        </p:spPr>
      </p:sp>
      <p:sp>
        <p:nvSpPr>
          <p:cNvPr id="311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Recorra el camino de la energía: rectificador → bus de continua → inversor IGBT → motor. Y el camino de la información: encoder → control → modulación PWM.</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Tres consecuencias prácticas que hay que extraer del diagrama:</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1) El bus de continua almacena energía en condensadores: por eso hay que esperar antes de tocar los bornes y por eso existe el LED CHARGE.</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2) Al frenar, el motor actúa como generador y devuelve energía al bus; si la tensión sube demasiado salta A.400 (sobretensión). La resistencia de regeneración existe para quemar ese exceso.</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3) El circuito de control tiene alimentación propia (L1C/L2C), lo que permite diagnosticar con la potencia cortada.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freno dinámico es un cortocircuito controlado de las fases del motor: frena rápido sin necesidad de electrónica, pero no mantiene la carga parada ni sirve como freno de seguridad.</a:t>
            </a:r>
            <a:endParaRPr b="0" lang="en-US" sz="2000" spc="-1" strike="noStrike">
              <a:solidFill>
                <a:srgbClr val="000000"/>
              </a:solidFill>
              <a:latin typeface="Arial"/>
            </a:endParaRPr>
          </a:p>
        </p:txBody>
      </p:sp>
      <p:sp>
        <p:nvSpPr>
          <p:cNvPr id="3115" name="PlaceHolder 3"/>
          <p:cNvSpPr>
            <a:spLocks noGrp="1"/>
          </p:cNvSpPr>
          <p:nvPr>
            <p:ph type="sldNum" idx="5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98AF667-D310-4946-B0BA-38950BEF2DF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16" name="PlaceHolder 1"/>
          <p:cNvSpPr>
            <a:spLocks noGrp="1"/>
          </p:cNvSpPr>
          <p:nvPr>
            <p:ph type="sldImg"/>
          </p:nvPr>
        </p:nvSpPr>
        <p:spPr>
          <a:xfrm>
            <a:off x="1143000" y="685800"/>
            <a:ext cx="4571640" cy="3428640"/>
          </a:xfrm>
          <a:prstGeom prst="rect">
            <a:avLst/>
          </a:prstGeom>
          <a:ln w="0">
            <a:noFill/>
          </a:ln>
        </p:spPr>
      </p:sp>
      <p:sp>
        <p:nvSpPr>
          <p:cNvPr id="311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Ésta es la misma idea del diagrama simplificado anterior, pero en la versión oficial y para el modelo exacto del alumno. Merece la pena recorrerla despacio.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Señale los elementos que el diagrama simplificado no mostraba: el varistor de entrada (absorbe sobretensiones de red), los sensores de tensión y temperatura, el detector de corriente y el ventilador.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Fíjese en que CN11 y CN12 son conectores de módulo opcional (seguridad y realimentación). En la Σ-7 no existían con esa denominación: es una de las novedades de la Σ-X.</a:t>
            </a:r>
            <a:endParaRPr b="0" lang="en-US" sz="2000" spc="-1" strike="noStrike">
              <a:solidFill>
                <a:srgbClr val="000000"/>
              </a:solidFill>
              <a:latin typeface="Arial"/>
            </a:endParaRPr>
          </a:p>
        </p:txBody>
      </p:sp>
      <p:sp>
        <p:nvSpPr>
          <p:cNvPr id="3118" name="PlaceHolder 3"/>
          <p:cNvSpPr>
            <a:spLocks noGrp="1"/>
          </p:cNvSpPr>
          <p:nvPr>
            <p:ph type="sldNum" idx="5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7F745DD-BC19-40BD-808D-A9758AB227A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19" name="PlaceHolder 1"/>
          <p:cNvSpPr>
            <a:spLocks noGrp="1"/>
          </p:cNvSpPr>
          <p:nvPr>
            <p:ph type="sldImg"/>
          </p:nvPr>
        </p:nvSpPr>
        <p:spPr>
          <a:xfrm>
            <a:off x="1143000" y="685800"/>
            <a:ext cx="4571640" cy="3428640"/>
          </a:xfrm>
          <a:prstGeom prst="rect">
            <a:avLst/>
          </a:prstGeom>
          <a:ln w="0">
            <a:noFill/>
          </a:ln>
        </p:spPr>
      </p:sp>
      <p:sp>
        <p:nvSpPr>
          <p:cNvPr id="312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Haga que los alumnos localicen físicamente cada elemento en el equipo real antes de continuar. Es un ejercicio de 5 minutos que ahorra muchos errores después.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Puntos de atención:</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CN7 (USB) es la vía normal de conexión con SigmaWin+.</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CN8 viene con un conector puente de fábrica. Si se retira sin cablear la seguridad, el drive queda en baseblock y no habrá par: es la causa número uno de 'el motor no arranca y no da alarma'.</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El LED CHARGE indica bus cargado. Nunca es sustituto de la medida con multímetro.</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El display de 7 segmentos muestra el estado, la alarma y los valores durante la parametrización desde el panel.</a:t>
            </a:r>
            <a:endParaRPr b="0" lang="en-US" sz="2000" spc="-1" strike="noStrike">
              <a:solidFill>
                <a:srgbClr val="000000"/>
              </a:solidFill>
              <a:latin typeface="Arial"/>
            </a:endParaRPr>
          </a:p>
        </p:txBody>
      </p:sp>
      <p:sp>
        <p:nvSpPr>
          <p:cNvPr id="3121" name="PlaceHolder 3"/>
          <p:cNvSpPr>
            <a:spLocks noGrp="1"/>
          </p:cNvSpPr>
          <p:nvPr>
            <p:ph type="sldNum" idx="5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A4CEBCF-14C4-486B-BB25-D0D5519CACA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2" name="PlaceHolder 1"/>
          <p:cNvSpPr>
            <a:spLocks noGrp="1"/>
          </p:cNvSpPr>
          <p:nvPr>
            <p:ph type="sldImg"/>
          </p:nvPr>
        </p:nvSpPr>
        <p:spPr>
          <a:xfrm>
            <a:off x="1143000" y="685800"/>
            <a:ext cx="4571640" cy="3428640"/>
          </a:xfrm>
          <a:prstGeom prst="rect">
            <a:avLst/>
          </a:prstGeom>
          <a:ln w="0">
            <a:noFill/>
          </a:ln>
        </p:spPr>
      </p:sp>
      <p:sp>
        <p:nvSpPr>
          <p:cNvPr id="312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Ejercicio de cinco minutos: que cada alumno localice en el equipo real los elementos numerados de la figura. Ahorra muchos errores después.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Puntos de atención:</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CN7 (USB) es la vía normal de trabajo con SigmaWin+.</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CN8 viene con un conector puente de fábrica; retirarlo sin cablear la seguridad deja el eje sin par y sin alarma evidente.</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El LED CHARGE encendido significa bus cargado: nunca es sustituto de la medida con multímetro.</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La placa de características lleva el modelo completo, incluido el sufijo -Y3600A: fotografíela en la puesta en marcha.</a:t>
            </a:r>
            <a:endParaRPr b="0" lang="en-US" sz="2000" spc="-1" strike="noStrike">
              <a:solidFill>
                <a:srgbClr val="000000"/>
              </a:solidFill>
              <a:latin typeface="Arial"/>
            </a:endParaRPr>
          </a:p>
        </p:txBody>
      </p:sp>
      <p:sp>
        <p:nvSpPr>
          <p:cNvPr id="3124" name="PlaceHolder 3"/>
          <p:cNvSpPr>
            <a:spLocks noGrp="1"/>
          </p:cNvSpPr>
          <p:nvPr>
            <p:ph type="sldNum" idx="5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3C38C686-B485-4B10-BCAE-9A34BEBFC72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5" name="PlaceHolder 1"/>
          <p:cNvSpPr>
            <a:spLocks noGrp="1"/>
          </p:cNvSpPr>
          <p:nvPr>
            <p:ph type="sldImg"/>
          </p:nvPr>
        </p:nvSpPr>
        <p:spPr>
          <a:xfrm>
            <a:off x="1143000" y="685800"/>
            <a:ext cx="4571640" cy="3428640"/>
          </a:xfrm>
          <a:prstGeom prst="rect">
            <a:avLst/>
          </a:prstGeom>
          <a:ln w="0">
            <a:noFill/>
          </a:ln>
        </p:spPr>
      </p:sp>
      <p:sp>
        <p:nvSpPr>
          <p:cNvPr id="312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Ejercicio recomendado: reparta fotos de etiquetas reales (o pida a los alumnos que fotografíen las de su planta) y que decodifiquen el modelo en voz alta.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campo crítico es la interfaz de comando: determina el hardware y no se puede cambiar. El segundo campo crítico es el tamaño (200 = 3,0 kW), que fija corriente, protecciones y resistencia de regeneración interna.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Advertencia honesta que hay que trasladar al alumno: los dígitos de interfaz y de opciones varían según catálogo, región y revisión. La estructura del código es estable, los códigos concretos hay que verificarlos en el catálogo vigente antes de pedir.</a:t>
            </a:r>
            <a:endParaRPr b="0" lang="en-US" sz="2000" spc="-1" strike="noStrike">
              <a:solidFill>
                <a:srgbClr val="000000"/>
              </a:solidFill>
              <a:latin typeface="Arial"/>
            </a:endParaRPr>
          </a:p>
        </p:txBody>
      </p:sp>
      <p:sp>
        <p:nvSpPr>
          <p:cNvPr id="3127" name="PlaceHolder 3"/>
          <p:cNvSpPr>
            <a:spLocks noGrp="1"/>
          </p:cNvSpPr>
          <p:nvPr>
            <p:ph type="sldNum" idx="6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9818A11-4C08-46F7-8D0D-45E4949C741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8" name="PlaceHolder 1"/>
          <p:cNvSpPr>
            <a:spLocks noGrp="1"/>
          </p:cNvSpPr>
          <p:nvPr>
            <p:ph type="sldImg"/>
          </p:nvPr>
        </p:nvSpPr>
        <p:spPr>
          <a:xfrm>
            <a:off x="1143000" y="685800"/>
            <a:ext cx="4571640" cy="3428640"/>
          </a:xfrm>
          <a:prstGeom prst="rect">
            <a:avLst/>
          </a:prstGeom>
          <a:ln w="0">
            <a:noFill/>
          </a:ln>
        </p:spPr>
      </p:sp>
      <p:sp>
        <p:nvSpPr>
          <p:cNvPr id="312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Fíjese en un detalle muy revelador: el -180A (2 kW) da 18,5 A continuos y el -200A (3 kW) da 19,6 A. Apenas un 6 % más de corriente para un 50 % más de potencia declarada. La diferencia real está en la corriente de pico (42 A frente a 56 A) y en la capacidad térmica.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De ahí la regla: la selección se hace por COMBINACIÓN homologada motor+drive, no eligiendo cada pieza por amperios.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Regla de repuesto: nunca sustituya un SERVOPACK por otro de tamaño distinto 'porque encaja'. Cambian la protección, la resistencia de regeneración interna y la combinación admitida.</a:t>
            </a:r>
            <a:endParaRPr b="0" lang="en-US" sz="2000" spc="-1" strike="noStrike">
              <a:solidFill>
                <a:srgbClr val="000000"/>
              </a:solidFill>
              <a:latin typeface="Arial"/>
            </a:endParaRPr>
          </a:p>
        </p:txBody>
      </p:sp>
      <p:sp>
        <p:nvSpPr>
          <p:cNvPr id="3130" name="PlaceHolder 3"/>
          <p:cNvSpPr>
            <a:spLocks noGrp="1"/>
          </p:cNvSpPr>
          <p:nvPr>
            <p:ph type="sldNum" idx="6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1660E9D-4B05-484F-A78E-6B6ABAB24A7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1" name="PlaceHolder 1"/>
          <p:cNvSpPr>
            <a:spLocks noGrp="1"/>
          </p:cNvSpPr>
          <p:nvPr>
            <p:ph type="sldImg"/>
          </p:nvPr>
        </p:nvSpPr>
        <p:spPr>
          <a:xfrm>
            <a:off x="1143000" y="685800"/>
            <a:ext cx="4571640" cy="3428640"/>
          </a:xfrm>
          <a:prstGeom prst="rect">
            <a:avLst/>
          </a:prstGeom>
          <a:ln w="0">
            <a:noFill/>
          </a:ln>
        </p:spPr>
      </p:sp>
      <p:sp>
        <p:nvSpPr>
          <p:cNvPr id="313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Las cuatro cifras que hay que memorizar: 15 A de entrada, 19,6 A de salida continua, 56 A de pico y 130 W de pérdidas. Con ellas se dimensionan cable, magnetotérmico, contactor, filtro y climatización del armario.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Ojo con la resistencia de regeneración: la interna es de 10 Ω y 60 W, pero su consumo admisible continuo es de sólo 30 W. Ese es el número que hay que comparar con la potencia media de regeneración calculada en el Módulo 04.</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 resistencia externa mínima admisible también es de 10 Ω: poner una de menor valor hace circular más corriente de la que soporta el transistor de frenado y lo destruye.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que el sufijo -Y3600A puede alterar algún dato: contraste con la placa de características y con la hoja de especificación Y.</a:t>
            </a:r>
            <a:endParaRPr b="0" lang="en-US" sz="2000" spc="-1" strike="noStrike">
              <a:solidFill>
                <a:srgbClr val="000000"/>
              </a:solidFill>
              <a:latin typeface="Arial"/>
            </a:endParaRPr>
          </a:p>
        </p:txBody>
      </p:sp>
      <p:sp>
        <p:nvSpPr>
          <p:cNvPr id="3133" name="PlaceHolder 3"/>
          <p:cNvSpPr>
            <a:spLocks noGrp="1"/>
          </p:cNvSpPr>
          <p:nvPr>
            <p:ph type="sldNum" idx="6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4AC753F-68CA-4B0A-BB17-4C6EC7C911B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4" name="PlaceHolder 1"/>
          <p:cNvSpPr>
            <a:spLocks noGrp="1"/>
          </p:cNvSpPr>
          <p:nvPr>
            <p:ph type="sldImg"/>
          </p:nvPr>
        </p:nvSpPr>
        <p:spPr>
          <a:xfrm>
            <a:off x="1143000" y="685800"/>
            <a:ext cx="4571640" cy="3428640"/>
          </a:xfrm>
          <a:prstGeom prst="rect">
            <a:avLst/>
          </a:prstGeom>
          <a:ln w="0">
            <a:noFill/>
          </a:ln>
        </p:spPr>
      </p:sp>
      <p:sp>
        <p:nvSpPr>
          <p:cNvPr id="313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es el error de compra más caro y más frecuente: pedir el tamaño correcto con la interfaz equivocada. La interfaz NO es una opción configurable por parámetro ni una tarjeta que se añada después; define el hardware del amplificador.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Consejo de proyecto: si el controlador aún no está decidido, la variante analógica/pulsos es la más 'neutra', pero pierde diagnóstico remoto y obliga a cablear mucha señal. En instalación nueva, EtherCAT suele ser la mejor relación coste/prestaciones.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Con bus, además, el ajuste y la monitorización se pueden hacer en remoto, algo muy valorado en mantenimiento.</a:t>
            </a:r>
            <a:endParaRPr b="0" lang="en-US" sz="2000" spc="-1" strike="noStrike">
              <a:solidFill>
                <a:srgbClr val="000000"/>
              </a:solidFill>
              <a:latin typeface="Arial"/>
            </a:endParaRPr>
          </a:p>
        </p:txBody>
      </p:sp>
      <p:sp>
        <p:nvSpPr>
          <p:cNvPr id="3136" name="PlaceHolder 3"/>
          <p:cNvSpPr>
            <a:spLocks noGrp="1"/>
          </p:cNvSpPr>
          <p:nvPr>
            <p:ph type="sldNum" idx="6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148A821-370A-489A-8197-50F88E889CD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7" name="PlaceHolder 1"/>
          <p:cNvSpPr>
            <a:spLocks noGrp="1"/>
          </p:cNvSpPr>
          <p:nvPr>
            <p:ph type="sldImg"/>
          </p:nvPr>
        </p:nvSpPr>
        <p:spPr>
          <a:xfrm>
            <a:off x="1143000" y="685800"/>
            <a:ext cx="4571640" cy="3428640"/>
          </a:xfrm>
          <a:prstGeom prst="rect">
            <a:avLst/>
          </a:prstGeom>
          <a:ln w="0">
            <a:noFill/>
          </a:ln>
        </p:spPr>
      </p:sp>
      <p:sp>
        <p:nvSpPr>
          <p:cNvPr id="313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Sugerencia: proyecte esta diapositiva cuando el grupo esté preparando un presupuesto. El coste oculto de un eje servo no está en el drive, sino en cables originales, filtro y resistencia de frenado.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Insista en los cables: fabricar cables de encoder 'a mano' es una fuente constante de alarmas intermitentes A.C90 (error de comunicación con el encoder), casi imposibles de diagnosticar. Compre siempre cable original confeccionado.</a:t>
            </a:r>
            <a:endParaRPr b="0" lang="en-US" sz="2000" spc="-1" strike="noStrike">
              <a:solidFill>
                <a:srgbClr val="000000"/>
              </a:solidFill>
              <a:latin typeface="Arial"/>
            </a:endParaRPr>
          </a:p>
        </p:txBody>
      </p:sp>
      <p:sp>
        <p:nvSpPr>
          <p:cNvPr id="3139" name="PlaceHolder 3"/>
          <p:cNvSpPr>
            <a:spLocks noGrp="1"/>
          </p:cNvSpPr>
          <p:nvPr>
            <p:ph type="sldNum" idx="6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479C3FF-1A81-4B56-9C45-E4A81903E0F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0" name="PlaceHolder 1"/>
          <p:cNvSpPr>
            <a:spLocks noGrp="1"/>
          </p:cNvSpPr>
          <p:nvPr>
            <p:ph type="sldImg"/>
          </p:nvPr>
        </p:nvSpPr>
        <p:spPr>
          <a:xfrm>
            <a:off x="1143000" y="685800"/>
            <a:ext cx="4571640" cy="3428640"/>
          </a:xfrm>
          <a:prstGeom prst="rect">
            <a:avLst/>
          </a:prstGeom>
          <a:ln w="0">
            <a:noFill/>
          </a:ln>
        </p:spPr>
      </p:sp>
      <p:sp>
        <p:nvSpPr>
          <p:cNvPr id="314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motor determina el comportamiento de la máquina mucho más que el amplificador. Dos motores de la misma potencia pueden dar resultados radicalmente distintos según su inercia y su velocidad nominal. Ese es el mensaje central del módulo.</a:t>
            </a:r>
            <a:endParaRPr b="0" lang="en-US" sz="2000" spc="-1" strike="noStrike">
              <a:solidFill>
                <a:srgbClr val="000000"/>
              </a:solidFill>
              <a:latin typeface="Arial"/>
            </a:endParaRPr>
          </a:p>
        </p:txBody>
      </p:sp>
      <p:sp>
        <p:nvSpPr>
          <p:cNvPr id="3142" name="PlaceHolder 3"/>
          <p:cNvSpPr>
            <a:spLocks noGrp="1"/>
          </p:cNvSpPr>
          <p:nvPr>
            <p:ph type="sldNum" idx="6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06EE64C-E30B-48B7-86E3-21B634A63AF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3" name="PlaceHolder 1"/>
          <p:cNvSpPr>
            <a:spLocks noGrp="1"/>
          </p:cNvSpPr>
          <p:nvPr>
            <p:ph type="sldImg"/>
          </p:nvPr>
        </p:nvSpPr>
        <p:spPr>
          <a:xfrm>
            <a:off x="1143000" y="685800"/>
            <a:ext cx="4571640" cy="3428640"/>
          </a:xfrm>
          <a:prstGeom prst="rect">
            <a:avLst/>
          </a:prstGeom>
          <a:ln w="0">
            <a:noFill/>
          </a:ln>
        </p:spPr>
      </p:sp>
      <p:sp>
        <p:nvSpPr>
          <p:cNvPr id="314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punto de la f.c.e.m. explica de golpe tres cosas que preguntan siempre los alumnos: por qué la curva de par cae a alta velocidad, por qué frenar genera energía que hay que disipar, y por qué es peligroso manipular el conector del motor en un eje que puede girar por gravedad o por arrastre.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Demostración vistosa si hay motor en el aula: gire el eje a mano con el conector libre y mida tensión alterna entre dos fases con el multímetro. Con 3 kW y giro rápido se obtienen decenas de voltios.</a:t>
            </a:r>
            <a:endParaRPr b="0" lang="en-US" sz="2000" spc="-1" strike="noStrike">
              <a:solidFill>
                <a:srgbClr val="000000"/>
              </a:solidFill>
              <a:latin typeface="Arial"/>
            </a:endParaRPr>
          </a:p>
        </p:txBody>
      </p:sp>
      <p:sp>
        <p:nvSpPr>
          <p:cNvPr id="3145" name="PlaceHolder 3"/>
          <p:cNvSpPr>
            <a:spLocks noGrp="1"/>
          </p:cNvSpPr>
          <p:nvPr>
            <p:ph type="sldNum" idx="6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95965AB-C78F-4E66-9A92-274EBB8F29F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6" name="PlaceHolder 1"/>
          <p:cNvSpPr>
            <a:spLocks noGrp="1"/>
          </p:cNvSpPr>
          <p:nvPr>
            <p:ph type="sldImg"/>
          </p:nvPr>
        </p:nvSpPr>
        <p:spPr>
          <a:xfrm>
            <a:off x="1143000" y="685800"/>
            <a:ext cx="4571640" cy="3428640"/>
          </a:xfrm>
          <a:prstGeom prst="rect">
            <a:avLst/>
          </a:prstGeom>
          <a:ln w="0">
            <a:noFill/>
          </a:ln>
        </p:spPr>
      </p:sp>
      <p:sp>
        <p:nvSpPr>
          <p:cNvPr id="314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Insista: la potencia es el resultado, no el criterio. El criterio es el par necesario a la velocidad necesaria y la inercia que hay que mover.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Regla mnemotécnica para las familias: J = 'justo lo normal', A = 'ágil' (baja inercia), G = 'grande' (alto par, baja velocidad), P = 'plano'.</a:t>
            </a:r>
            <a:endParaRPr b="0" lang="en-US" sz="2000" spc="-1" strike="noStrike">
              <a:solidFill>
                <a:srgbClr val="000000"/>
              </a:solidFill>
              <a:latin typeface="Arial"/>
            </a:endParaRPr>
          </a:p>
        </p:txBody>
      </p:sp>
      <p:sp>
        <p:nvSpPr>
          <p:cNvPr id="3148" name="PlaceHolder 3"/>
          <p:cNvSpPr>
            <a:spLocks noGrp="1"/>
          </p:cNvSpPr>
          <p:nvPr>
            <p:ph type="sldNum" idx="6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303347D-E295-4C1B-81B9-8BF3B514EE8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9" name="PlaceHolder 1"/>
          <p:cNvSpPr>
            <a:spLocks noGrp="1"/>
          </p:cNvSpPr>
          <p:nvPr>
            <p:ph type="sldImg"/>
          </p:nvPr>
        </p:nvSpPr>
        <p:spPr>
          <a:xfrm>
            <a:off x="1143000" y="685800"/>
            <a:ext cx="4571640" cy="3428640"/>
          </a:xfrm>
          <a:prstGeom prst="rect">
            <a:avLst/>
          </a:prstGeom>
          <a:ln w="0">
            <a:noFill/>
          </a:ln>
        </p:spPr>
      </p:sp>
      <p:sp>
        <p:nvSpPr>
          <p:cNvPr id="315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es probablemente el criterio de ingeniería más valioso del curso. La mayoría de los ejes 'que vibran y no hay manera de ajustar' son ejes con motor de baja inercia acoplado directamente a una carga de gran inercia.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Explique la física: una reducción de relación i multiplica el par por i y divide la inercia reflejada por i². La reducción es la herramienta más potente para arreglar una relación de inercias mala, pero introduce holgura y un punto de mantenimiento.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Dato que conviene remarcar, tomado de la tabla de combinaciones del manual (apartado 1.5): el SGMXG-30A figura como 2,9 kW, pero con una nota al pie que indica 2,4 kW cuando se usa con un SERVOPACK SGDXS-200A. Es exactamente el tipo de detalle que se pasa por alto en un proyecto y aparece después como falta de par.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Los valores de par son de catálogo y varían con la versión exacta del motor; verifíquelos antes de calcular.</a:t>
            </a:r>
            <a:endParaRPr b="0" lang="en-US" sz="2000" spc="-1" strike="noStrike">
              <a:solidFill>
                <a:srgbClr val="000000"/>
              </a:solidFill>
              <a:latin typeface="Arial"/>
            </a:endParaRPr>
          </a:p>
        </p:txBody>
      </p:sp>
      <p:sp>
        <p:nvSpPr>
          <p:cNvPr id="3151" name="PlaceHolder 3"/>
          <p:cNvSpPr>
            <a:spLocks noGrp="1"/>
          </p:cNvSpPr>
          <p:nvPr>
            <p:ph type="sldNum" idx="6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DA42544-451F-4B2A-A3FA-B3AC6F628EA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2" name="PlaceHolder 1"/>
          <p:cNvSpPr>
            <a:spLocks noGrp="1"/>
          </p:cNvSpPr>
          <p:nvPr>
            <p:ph type="sldImg"/>
          </p:nvPr>
        </p:nvSpPr>
        <p:spPr>
          <a:xfrm>
            <a:off x="1143000" y="685800"/>
            <a:ext cx="4571640" cy="3428640"/>
          </a:xfrm>
          <a:prstGeom prst="rect">
            <a:avLst/>
          </a:prstGeom>
          <a:ln w="0">
            <a:noFill/>
          </a:ln>
        </p:spPr>
      </p:sp>
      <p:sp>
        <p:nvSpPr>
          <p:cNvPr id="315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Lo importante no es memorizar los códigos, sino saber que en la referencia del motor están codificados el freno, el tipo de eje y el encoder. Es lo que hace que dos motores 'iguales' no sean intercambiables.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Al pedir un repuesto hay que transcribir el código COMPLETO de la placa, carácter a carácter. Recomiende fotografiar la placa en lugar de copiarla a mano.</a:t>
            </a:r>
            <a:endParaRPr b="0" lang="en-US" sz="2000" spc="-1" strike="noStrike">
              <a:solidFill>
                <a:srgbClr val="000000"/>
              </a:solidFill>
              <a:latin typeface="Arial"/>
            </a:endParaRPr>
          </a:p>
        </p:txBody>
      </p:sp>
      <p:sp>
        <p:nvSpPr>
          <p:cNvPr id="3154" name="PlaceHolder 3"/>
          <p:cNvSpPr>
            <a:spLocks noGrp="1"/>
          </p:cNvSpPr>
          <p:nvPr>
            <p:ph type="sldNum" idx="6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464ECEA-5ADD-491D-A9DC-7C5875A9ADD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5" name="PlaceHolder 1"/>
          <p:cNvSpPr>
            <a:spLocks noGrp="1"/>
          </p:cNvSpPr>
          <p:nvPr>
            <p:ph type="sldImg"/>
          </p:nvPr>
        </p:nvSpPr>
        <p:spPr>
          <a:xfrm>
            <a:off x="1143000" y="685800"/>
            <a:ext cx="4571640" cy="3428640"/>
          </a:xfrm>
          <a:prstGeom prst="rect">
            <a:avLst/>
          </a:prstGeom>
          <a:ln w="0">
            <a:noFill/>
          </a:ln>
        </p:spPr>
      </p:sp>
      <p:sp>
        <p:nvSpPr>
          <p:cNvPr id="315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Marque en la tabla los cuatro datos que se usarán en el Módulo 04: par nominal, par máximo, velocidad nominal e inercia del rotor. El resto son datos de instalación.</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Una observación honesta: la inercia del rotor cambia bastante entre familias y entre versiones con y sin freno. El freno de retención añade inercia y hay que incluirla en el cálculo.</a:t>
            </a:r>
            <a:endParaRPr b="0" lang="en-US" sz="2000" spc="-1" strike="noStrike">
              <a:solidFill>
                <a:srgbClr val="000000"/>
              </a:solidFill>
              <a:latin typeface="Arial"/>
            </a:endParaRPr>
          </a:p>
        </p:txBody>
      </p:sp>
      <p:sp>
        <p:nvSpPr>
          <p:cNvPr id="3157" name="PlaceHolder 3"/>
          <p:cNvSpPr>
            <a:spLocks noGrp="1"/>
          </p:cNvSpPr>
          <p:nvPr>
            <p:ph type="sldNum" idx="7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5EB7C74-E266-42BF-BB1E-A4BFC2047D9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8" name="PlaceHolder 1"/>
          <p:cNvSpPr>
            <a:spLocks noGrp="1"/>
          </p:cNvSpPr>
          <p:nvPr>
            <p:ph type="sldImg"/>
          </p:nvPr>
        </p:nvSpPr>
        <p:spPr>
          <a:xfrm>
            <a:off x="1143000" y="685800"/>
            <a:ext cx="4571640" cy="3428640"/>
          </a:xfrm>
          <a:prstGeom prst="rect">
            <a:avLst/>
          </a:prstGeom>
          <a:ln w="0">
            <a:noFill/>
          </a:ln>
        </p:spPr>
      </p:sp>
      <p:sp>
        <p:nvSpPr>
          <p:cNvPr id="315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Cuente el caso típico: parada de planta de tres semanas en agosto, armarios sin tensión, y a la vuelta cuatro ejes con A.810 y todos los orígenes perdidos. Es un día entero de trabajo que se evita con 20 euros de baterías y un procedimiento.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Detalle importante y poco conocido: montar batería en el drive Y en el cable a la vez puede producir corrientes de circulación entre ambas. Elija una de las dos ubicaciones.</a:t>
            </a:r>
            <a:endParaRPr b="0" lang="en-US" sz="2000" spc="-1" strike="noStrike">
              <a:solidFill>
                <a:srgbClr val="000000"/>
              </a:solidFill>
              <a:latin typeface="Arial"/>
            </a:endParaRPr>
          </a:p>
        </p:txBody>
      </p:sp>
      <p:sp>
        <p:nvSpPr>
          <p:cNvPr id="3160" name="PlaceHolder 3"/>
          <p:cNvSpPr>
            <a:spLocks noGrp="1"/>
          </p:cNvSpPr>
          <p:nvPr>
            <p:ph type="sldNum" idx="7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389034F9-5752-4000-83BB-30D0CF1EA4E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1" name="PlaceHolder 1"/>
          <p:cNvSpPr>
            <a:spLocks noGrp="1"/>
          </p:cNvSpPr>
          <p:nvPr>
            <p:ph type="sldImg"/>
          </p:nvPr>
        </p:nvSpPr>
        <p:spPr>
          <a:xfrm>
            <a:off x="1143000" y="685800"/>
            <a:ext cx="4571640" cy="3428640"/>
          </a:xfrm>
          <a:prstGeom prst="rect">
            <a:avLst/>
          </a:prstGeom>
          <a:ln w="0">
            <a:noFill/>
          </a:ln>
        </p:spPr>
      </p:sp>
      <p:sp>
        <p:nvSpPr>
          <p:cNvPr id="316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Concepto que hay que dejar grabado: el freno de retención es ELECTROMAGNÉTICO Y NORMALMENTE CERRADO. Sin 24 V está frenado. Sirve para sostener la carga con el servo desactivado, no para frenar en movimiento. Frenar con él a velocidad destruye el forro en pocos ciclos.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 secuencia importa mucho en ejes verticales:</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Al arrancar: primero servo ON (el motor sostiene la carga), después liberar el freno. Si se libera antes, la carga cae unos milímetros.</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Al parar: primero cerrar el freno, esperar a que agarre, y sólo entonces quitar el par. Pn506 y Pn508 gobiernan estos retardos.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Parámetros implicados: Pn506 (retardo entre orden de freno y servo OFF con el motor parado), Pn507 (velocidad por debajo de la cual se aplica el freno con el motor en marcha), Pn508 (tiempo de espera antes de quitar el par tras ordenar el freno). La señal de salida es /BK y hay que asignarla a una salida física con Pn50F.</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Advertencia de seguridad: el freno de retención NO es un elemento de seguridad certificado por sí solo. Para proteger a una persona bajo una carga suspendida hace falta un análisis de riesgos específico.</a:t>
            </a:r>
            <a:endParaRPr b="0" lang="en-US" sz="2000" spc="-1" strike="noStrike">
              <a:solidFill>
                <a:srgbClr val="000000"/>
              </a:solidFill>
              <a:latin typeface="Arial"/>
            </a:endParaRPr>
          </a:p>
        </p:txBody>
      </p:sp>
      <p:sp>
        <p:nvSpPr>
          <p:cNvPr id="3163" name="PlaceHolder 3"/>
          <p:cNvSpPr>
            <a:spLocks noGrp="1"/>
          </p:cNvSpPr>
          <p:nvPr>
            <p:ph type="sldNum" idx="7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1282DCC-1D52-4461-9C2E-EA45493A4EA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4" name="PlaceHolder 1"/>
          <p:cNvSpPr>
            <a:spLocks noGrp="1"/>
          </p:cNvSpPr>
          <p:nvPr>
            <p:ph type="sldImg"/>
          </p:nvPr>
        </p:nvSpPr>
        <p:spPr>
          <a:xfrm>
            <a:off x="1143000" y="685800"/>
            <a:ext cx="4571640" cy="3428640"/>
          </a:xfrm>
          <a:prstGeom prst="rect">
            <a:avLst/>
          </a:prstGeom>
          <a:ln w="0">
            <a:noFill/>
          </a:ln>
        </p:spPr>
      </p:sp>
      <p:sp>
        <p:nvSpPr>
          <p:cNvPr id="316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Insista en tres cosas: cable original, malla a tierra en ambos extremos y separación física respecto a los cables de potencia (mínimo 30 cm en paralelo, cruces a 90°).</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'efecto sifón' del último punto es real: el agua recorre el cable y entra por el conector si éste queda hacia arriba. Se resuelve dejando un bucle de goteo antes del conector.</a:t>
            </a:r>
            <a:endParaRPr b="0" lang="en-US" sz="2000" spc="-1" strike="noStrike">
              <a:solidFill>
                <a:srgbClr val="000000"/>
              </a:solidFill>
              <a:latin typeface="Arial"/>
            </a:endParaRPr>
          </a:p>
        </p:txBody>
      </p:sp>
      <p:sp>
        <p:nvSpPr>
          <p:cNvPr id="3166" name="PlaceHolder 3"/>
          <p:cNvSpPr>
            <a:spLocks noGrp="1"/>
          </p:cNvSpPr>
          <p:nvPr>
            <p:ph type="sldNum" idx="7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E8F64DD-A0E1-4B56-8849-3B2157F579D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67" name="PlaceHolder 1"/>
          <p:cNvSpPr>
            <a:spLocks noGrp="1"/>
          </p:cNvSpPr>
          <p:nvPr>
            <p:ph type="sldImg"/>
          </p:nvPr>
        </p:nvSpPr>
        <p:spPr>
          <a:xfrm>
            <a:off x="1143000" y="685800"/>
            <a:ext cx="4571640" cy="3428640"/>
          </a:xfrm>
          <a:prstGeom prst="rect">
            <a:avLst/>
          </a:prstGeom>
          <a:ln w="0">
            <a:noFill/>
          </a:ln>
        </p:spPr>
      </p:sp>
      <p:sp>
        <p:nvSpPr>
          <p:cNvPr id="316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Esta diapositiva evita disgustos en almacén. Explique que un motor aparentemente idéntico puede diferir en el tipo de encoder (absoluto vs incremental), en el freno o en el eje (con o sin chavetero), y que todo eso está en el código.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Consejo de gestión: mantenga en el CMMS el código completo de cada conjunto motor+drive por eje, con foto de las dos etiquetas. Ahorra horas cuando hay que pedir un repuesto urgente.</a:t>
            </a:r>
            <a:endParaRPr b="0" lang="en-US" sz="2000" spc="-1" strike="noStrike">
              <a:solidFill>
                <a:srgbClr val="000000"/>
              </a:solidFill>
              <a:latin typeface="Arial"/>
            </a:endParaRPr>
          </a:p>
        </p:txBody>
      </p:sp>
      <p:sp>
        <p:nvSpPr>
          <p:cNvPr id="3169" name="PlaceHolder 3"/>
          <p:cNvSpPr>
            <a:spLocks noGrp="1"/>
          </p:cNvSpPr>
          <p:nvPr>
            <p:ph type="sldNum" idx="7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1819EFE-AF82-4655-A9E8-6D6B39E3529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70" name="PlaceHolder 1"/>
          <p:cNvSpPr>
            <a:spLocks noGrp="1"/>
          </p:cNvSpPr>
          <p:nvPr>
            <p:ph type="sldImg"/>
          </p:nvPr>
        </p:nvSpPr>
        <p:spPr>
          <a:xfrm>
            <a:off x="1143000" y="685800"/>
            <a:ext cx="4571640" cy="3428640"/>
          </a:xfrm>
          <a:prstGeom prst="rect">
            <a:avLst/>
          </a:prstGeom>
          <a:ln w="0">
            <a:noFill/>
          </a:ln>
        </p:spPr>
      </p:sp>
      <p:sp>
        <p:nvSpPr>
          <p:cNvPr id="317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es el módulo con más contenido de ingeniería y el que marca la diferencia entre un técnico y un especialista. Tómese el tiempo necesario: si el grupo entiende el ejemplo numérico, entenderá cualquier eje.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Tenga a mano una calculadora y, si es posible, una hoja de cálculo proyectada para repetir el ejemplo cambiando datos.</a:t>
            </a:r>
            <a:endParaRPr b="0" lang="en-US" sz="2000" spc="-1" strike="noStrike">
              <a:solidFill>
                <a:srgbClr val="000000"/>
              </a:solidFill>
              <a:latin typeface="Arial"/>
            </a:endParaRPr>
          </a:p>
        </p:txBody>
      </p:sp>
      <p:sp>
        <p:nvSpPr>
          <p:cNvPr id="3172" name="PlaceHolder 3"/>
          <p:cNvSpPr>
            <a:spLocks noGrp="1"/>
          </p:cNvSpPr>
          <p:nvPr>
            <p:ph type="sldNum" idx="7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809A065-4B16-466D-86C0-9E21D87FE7A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73" name="PlaceHolder 1"/>
          <p:cNvSpPr>
            <a:spLocks noGrp="1"/>
          </p:cNvSpPr>
          <p:nvPr>
            <p:ph type="sldImg"/>
          </p:nvPr>
        </p:nvSpPr>
        <p:spPr>
          <a:xfrm>
            <a:off x="1143000" y="685800"/>
            <a:ext cx="4571640" cy="3428640"/>
          </a:xfrm>
          <a:prstGeom prst="rect">
            <a:avLst/>
          </a:prstGeom>
          <a:ln w="0">
            <a:noFill/>
          </a:ln>
        </p:spPr>
      </p:sp>
      <p:sp>
        <p:nvSpPr>
          <p:cNvPr id="317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Pida ejemplos al grupo de ejes que 'nunca han ido bien'. Casi siempre aparecerán síntomas de esta diapositiva.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Mensaje que hay que repetir a lo largo del módulo: sintonizar no arregla un dimensionamiento equivocado. Sólo lo disimula.</a:t>
            </a:r>
            <a:endParaRPr b="0" lang="en-US" sz="2000" spc="-1" strike="noStrike">
              <a:solidFill>
                <a:srgbClr val="000000"/>
              </a:solidFill>
              <a:latin typeface="Arial"/>
            </a:endParaRPr>
          </a:p>
        </p:txBody>
      </p:sp>
      <p:sp>
        <p:nvSpPr>
          <p:cNvPr id="3175" name="PlaceHolder 3"/>
          <p:cNvSpPr>
            <a:spLocks noGrp="1"/>
          </p:cNvSpPr>
          <p:nvPr>
            <p:ph type="sldNum" idx="7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E3A5F3A-1177-4959-9F27-5D55B4B1BF2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76" name="PlaceHolder 1"/>
          <p:cNvSpPr>
            <a:spLocks noGrp="1"/>
          </p:cNvSpPr>
          <p:nvPr>
            <p:ph type="sldImg"/>
          </p:nvPr>
        </p:nvSpPr>
        <p:spPr>
          <a:xfrm>
            <a:off x="1143000" y="685800"/>
            <a:ext cx="4571640" cy="3428640"/>
          </a:xfrm>
          <a:prstGeom prst="rect">
            <a:avLst/>
          </a:prstGeom>
          <a:ln w="0">
            <a:noFill/>
          </a:ln>
        </p:spPr>
      </p:sp>
      <p:sp>
        <p:nvSpPr>
          <p:cNvPr id="317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Advierta de que el dato que más se falsea es la masa: se olvidan las piezas transportadas, la herramienta, la mesa y los cables. Multiplique por un factor de seguridad si hay dudas.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segundo dato más traicionero es el tiempo de movimiento: comercial vende '30 ciclos por minuto' y nadie ha comprobado si eso es físicamente posible con la mecánica prevista. Este cálculo sirve precisamente para responder a esa pregunta antes de comprar.</a:t>
            </a:r>
            <a:endParaRPr b="0" lang="en-US" sz="2000" spc="-1" strike="noStrike">
              <a:solidFill>
                <a:srgbClr val="000000"/>
              </a:solidFill>
              <a:latin typeface="Arial"/>
            </a:endParaRPr>
          </a:p>
        </p:txBody>
      </p:sp>
      <p:sp>
        <p:nvSpPr>
          <p:cNvPr id="3178" name="PlaceHolder 3"/>
          <p:cNvSpPr>
            <a:spLocks noGrp="1"/>
          </p:cNvSpPr>
          <p:nvPr>
            <p:ph type="sldNum" idx="7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3E1BCE80-18AD-48A3-844B-BB94504424E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79" name="PlaceHolder 1"/>
          <p:cNvSpPr>
            <a:spLocks noGrp="1"/>
          </p:cNvSpPr>
          <p:nvPr>
            <p:ph type="sldImg"/>
          </p:nvPr>
        </p:nvSpPr>
        <p:spPr>
          <a:xfrm>
            <a:off x="1143000" y="685800"/>
            <a:ext cx="4571640" cy="3428640"/>
          </a:xfrm>
          <a:prstGeom prst="rect">
            <a:avLst/>
          </a:prstGeom>
          <a:ln w="0">
            <a:noFill/>
          </a:ln>
        </p:spPr>
      </p:sp>
      <p:sp>
        <p:nvSpPr>
          <p:cNvPr id="318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Deduzca en pizarra la fórmula del husillo: en una vuelta el motor avanza p metros, luego la relación de transmisión equivalente es p/2π metros por radián. La inercia equivalente de una masa m en traslación con ese 'radio efectivo' es m·(p/2π)².</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Numéricamente: con p = 20 mm, el radio efectivo es 3,18 mm. Una masa de 400 kg 'pesa' inercialmente lo mismo que un volante de 400 kg a 3,18 mm de radio: 40,5×10⁻⁴ kg·m². Sorprendentemente poco, y por eso los husillos de paso fino son tan cómodos para el servo (pero limitan la velocidad).</a:t>
            </a:r>
            <a:endParaRPr b="0" lang="en-US" sz="2000" spc="-1" strike="noStrike">
              <a:solidFill>
                <a:srgbClr val="000000"/>
              </a:solidFill>
              <a:latin typeface="Arial"/>
            </a:endParaRPr>
          </a:p>
        </p:txBody>
      </p:sp>
      <p:sp>
        <p:nvSpPr>
          <p:cNvPr id="3181" name="PlaceHolder 3"/>
          <p:cNvSpPr>
            <a:spLocks noGrp="1"/>
          </p:cNvSpPr>
          <p:nvPr>
            <p:ph type="sldNum" idx="7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E9B278E-6BE9-48FB-9738-1369EF48285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2" name="PlaceHolder 1"/>
          <p:cNvSpPr>
            <a:spLocks noGrp="1"/>
          </p:cNvSpPr>
          <p:nvPr>
            <p:ph type="sldImg"/>
          </p:nvPr>
        </p:nvSpPr>
        <p:spPr>
          <a:xfrm>
            <a:off x="1143000" y="685800"/>
            <a:ext cx="4571640" cy="3428640"/>
          </a:xfrm>
          <a:prstGeom prst="rect">
            <a:avLst/>
          </a:prstGeom>
          <a:ln w="0">
            <a:noFill/>
          </a:ln>
        </p:spPr>
      </p:sp>
      <p:sp>
        <p:nvSpPr>
          <p:cNvPr id="318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Analogía útil: llevar de la mano a un niño (relación baja, controlas el movimiento) frente a tirar de un remolque pesado con una cuerda elástica (relación alta con acoplamiento blando: el remolque hace lo que quiere).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Dato práctico: Pn103 mal ajustado es una causa muy frecuente de comportamiento extraño. Si el autotuning estima 300 % y alguien lo deja en 0 %, el lazo de velocidad queda mal escalado y el eje responde lento o inestable.</a:t>
            </a:r>
            <a:endParaRPr b="0" lang="en-US" sz="2000" spc="-1" strike="noStrike">
              <a:solidFill>
                <a:srgbClr val="000000"/>
              </a:solidFill>
              <a:latin typeface="Arial"/>
            </a:endParaRPr>
          </a:p>
        </p:txBody>
      </p:sp>
      <p:sp>
        <p:nvSpPr>
          <p:cNvPr id="3184" name="PlaceHolder 3"/>
          <p:cNvSpPr>
            <a:spLocks noGrp="1"/>
          </p:cNvSpPr>
          <p:nvPr>
            <p:ph type="sldNum" idx="7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635CE6D-481A-4B36-AAE8-E121ED07A56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5" name="PlaceHolder 1"/>
          <p:cNvSpPr>
            <a:spLocks noGrp="1"/>
          </p:cNvSpPr>
          <p:nvPr>
            <p:ph type="sldImg"/>
          </p:nvPr>
        </p:nvSpPr>
        <p:spPr>
          <a:xfrm>
            <a:off x="1143000" y="685800"/>
            <a:ext cx="4571640" cy="3428640"/>
          </a:xfrm>
          <a:prstGeom prst="rect">
            <a:avLst/>
          </a:prstGeom>
          <a:ln w="0">
            <a:noFill/>
          </a:ln>
        </p:spPr>
      </p:sp>
      <p:sp>
        <p:nvSpPr>
          <p:cNvPr id="318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diagrama explica visualmente el corazón del dimensionamiento: el par es alto sólo mientras cambia la velocidad. A velocidad constante sólo hay que vencer la fricción.</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Señale la asimetría entre aceleración y frenado: al frenar, la fricción ayuda, por lo que el par de deceleración es algo menor en valor absoluto. En ejes verticales ocurre lo contrario al subir y bajar, y hay que calcular ambos sentidos.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Mencione el perfil en S: suaviza el cambio de aceleración (limita el 'jerk'), reduce la excitación de resonancias y el desgaste mecánico, a cambio de exigir algo más de par pico para el mismo tiempo de ciclo. En máquinas con estructura elástica suele compensar.</a:t>
            </a:r>
            <a:endParaRPr b="0" lang="en-US" sz="2000" spc="-1" strike="noStrike">
              <a:solidFill>
                <a:srgbClr val="000000"/>
              </a:solidFill>
              <a:latin typeface="Arial"/>
            </a:endParaRPr>
          </a:p>
        </p:txBody>
      </p:sp>
      <p:sp>
        <p:nvSpPr>
          <p:cNvPr id="3187" name="PlaceHolder 3"/>
          <p:cNvSpPr>
            <a:spLocks noGrp="1"/>
          </p:cNvSpPr>
          <p:nvPr>
            <p:ph type="sldNum" idx="8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97E26D6-763C-40A0-8551-3307B9F974E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8" name="PlaceHolder 1"/>
          <p:cNvSpPr>
            <a:spLocks noGrp="1"/>
          </p:cNvSpPr>
          <p:nvPr>
            <p:ph type="sldImg"/>
          </p:nvPr>
        </p:nvSpPr>
        <p:spPr>
          <a:xfrm>
            <a:off x="1143000" y="685800"/>
            <a:ext cx="4571640" cy="3428640"/>
          </a:xfrm>
          <a:prstGeom prst="rect">
            <a:avLst/>
          </a:prstGeom>
          <a:ln w="0">
            <a:noFill/>
          </a:ln>
        </p:spPr>
      </p:sp>
      <p:sp>
        <p:nvSpPr>
          <p:cNvPr id="318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Explique por qué se eleva al cuadrado: las pérdidas por efecto Joule son proporcionales a I², y el par es proporcional a I. Por eso un pico de par corto pesa mucho en el valor eficaz.</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Ejercicio mental muy útil: si se duplica la cadencia de la máquina (la mitad de tiempo de ciclo con el mismo movimiento), el par RMS se multiplica por √2 ≈ 1,41. Es la forma rápida de responder a la pregunta '¿puedo ir más rápido con este motor?'.</a:t>
            </a:r>
            <a:endParaRPr b="0" lang="en-US" sz="2000" spc="-1" strike="noStrike">
              <a:solidFill>
                <a:srgbClr val="000000"/>
              </a:solidFill>
              <a:latin typeface="Arial"/>
            </a:endParaRPr>
          </a:p>
        </p:txBody>
      </p:sp>
      <p:sp>
        <p:nvSpPr>
          <p:cNvPr id="3190" name="PlaceHolder 3"/>
          <p:cNvSpPr>
            <a:spLocks noGrp="1"/>
          </p:cNvSpPr>
          <p:nvPr>
            <p:ph type="sldNum" idx="8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8F985D4-05B4-4171-8CB1-656D602B8FF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1" name="PlaceHolder 1"/>
          <p:cNvSpPr>
            <a:spLocks noGrp="1"/>
          </p:cNvSpPr>
          <p:nvPr>
            <p:ph type="sldImg"/>
          </p:nvPr>
        </p:nvSpPr>
        <p:spPr>
          <a:xfrm>
            <a:off x="1143000" y="685800"/>
            <a:ext cx="4571640" cy="3428640"/>
          </a:xfrm>
          <a:prstGeom prst="rect">
            <a:avLst/>
          </a:prstGeom>
          <a:ln w="0">
            <a:noFill/>
          </a:ln>
        </p:spPr>
      </p:sp>
      <p:sp>
        <p:nvSpPr>
          <p:cNvPr id="319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Haga el cálculo en pizarra o en hoja de cálculo en paralelo. Es importante que vean que no hay magia: son cuatro fórmulas.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Comente el resultado de la inercia: la masa de 400 kg contribuye 40,5 y el husillo, que 'sólo' pesa 14,8 kg, contribuye 29,6. En husillos largos y gruesos, el husillo puede dominar el cálculo. Es un resultado contraintuitivo que conviene remarcar.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Si el grupo quiere jugar: pregunte qué pasa si se duplica el paso a 40 mm. La inercia de la masa se multiplica por 4 (162×10⁻⁴), la velocidad del motor se reduce a la mitad (1.200 rpm) y el par sube. Es el compromiso clásico del husillo.</a:t>
            </a:r>
            <a:endParaRPr b="0" lang="en-US" sz="2000" spc="-1" strike="noStrike">
              <a:solidFill>
                <a:srgbClr val="000000"/>
              </a:solidFill>
              <a:latin typeface="Arial"/>
            </a:endParaRPr>
          </a:p>
        </p:txBody>
      </p:sp>
      <p:sp>
        <p:nvSpPr>
          <p:cNvPr id="3193" name="PlaceHolder 3"/>
          <p:cNvSpPr>
            <a:spLocks noGrp="1"/>
          </p:cNvSpPr>
          <p:nvPr>
            <p:ph type="sldNum" idx="8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D3188C7-C59D-4BF7-BB83-D08EBDA8D12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4" name="PlaceHolder 1"/>
          <p:cNvSpPr>
            <a:spLocks noGrp="1"/>
          </p:cNvSpPr>
          <p:nvPr>
            <p:ph type="sldImg"/>
          </p:nvPr>
        </p:nvSpPr>
        <p:spPr>
          <a:xfrm>
            <a:off x="1143000" y="685800"/>
            <a:ext cx="4571640" cy="3428640"/>
          </a:xfrm>
          <a:prstGeom prst="rect">
            <a:avLst/>
          </a:prstGeom>
          <a:ln w="0">
            <a:noFill/>
          </a:ln>
        </p:spPr>
      </p:sp>
      <p:sp>
        <p:nvSpPr>
          <p:cNvPr id="319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Cierre el ejemplo con la lectura de ingeniería: el eje está holgado en par, lo que da margen para aumentar cadencia en el futuro. Pero al bajar de tamaño de motor la inercia del rotor cae y la relación de inercias empeora, con lo que la sintonización se complica. Ese compromiso —par sobrado frente a relación de inercias— es la esencia del oficio.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Sobre la regeneración: el cálculo de 288 J es la energía cinética total. Parte se disipa en la fricción y en las pérdidas del motor y del drive, y parte la absorben los condensadores del bus. Lo que llega a la resistencia es bastante menos. Por eso el criterio práctico es comparar la potencia media de regeneración con la capacidad de la resistencia interna, y ante la duda, medir en la puesta en marcha con la función de traza.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Los ejes verticales son el caso crítico de regeneración: al bajar, la gravedad aporta energía de forma continua y la resistencia interna se queda corta casi siempre.</a:t>
            </a:r>
            <a:endParaRPr b="0" lang="en-US" sz="2000" spc="-1" strike="noStrike">
              <a:solidFill>
                <a:srgbClr val="000000"/>
              </a:solidFill>
              <a:latin typeface="Arial"/>
            </a:endParaRPr>
          </a:p>
        </p:txBody>
      </p:sp>
      <p:sp>
        <p:nvSpPr>
          <p:cNvPr id="3196" name="PlaceHolder 3"/>
          <p:cNvSpPr>
            <a:spLocks noGrp="1"/>
          </p:cNvSpPr>
          <p:nvPr>
            <p:ph type="sldNum" idx="8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25D13E0-7B00-4609-95E4-B6718335A8B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97" name="PlaceHolder 1"/>
          <p:cNvSpPr>
            <a:spLocks noGrp="1"/>
          </p:cNvSpPr>
          <p:nvPr>
            <p:ph type="sldImg"/>
          </p:nvPr>
        </p:nvSpPr>
        <p:spPr>
          <a:xfrm>
            <a:off x="1143000" y="685800"/>
            <a:ext cx="4571640" cy="3428640"/>
          </a:xfrm>
          <a:prstGeom prst="rect">
            <a:avLst/>
          </a:prstGeom>
          <a:ln w="0">
            <a:noFill/>
          </a:ln>
        </p:spPr>
      </p:sp>
      <p:sp>
        <p:nvSpPr>
          <p:cNvPr id="319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Explique el mecanismo: al frenar, el motor genera y la corriente entra al bus de continua elevando su tensión. Cuando supera un umbral (alrededor de 400 V), el drive conecta el transistor de frenado y quema la energía en la resistencia. Si la energía es mayor que la que la resistencia puede disipar, la tensión sigue subiendo hasta A.400.</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Advertencia práctica: la resistencia externa puede superar los 200 °C. Nunca se monta pegada a cables ni bajo materiales sensibles, y siempre se cablea con conductor resistente a temperatura.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configurar Pn600: si se monta una resistencia externa y no se declara, el drive sigue calculando con la interna y protege mal.</a:t>
            </a:r>
            <a:endParaRPr b="0" lang="en-US" sz="2000" spc="-1" strike="noStrike">
              <a:solidFill>
                <a:srgbClr val="000000"/>
              </a:solidFill>
              <a:latin typeface="Arial"/>
            </a:endParaRPr>
          </a:p>
        </p:txBody>
      </p:sp>
      <p:sp>
        <p:nvSpPr>
          <p:cNvPr id="3199" name="PlaceHolder 3"/>
          <p:cNvSpPr>
            <a:spLocks noGrp="1"/>
          </p:cNvSpPr>
          <p:nvPr>
            <p:ph type="sldNum" idx="8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5CE120B-2202-4FF6-A418-A2AE00CB1C8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0" name="PlaceHolder 1"/>
          <p:cNvSpPr>
            <a:spLocks noGrp="1"/>
          </p:cNvSpPr>
          <p:nvPr>
            <p:ph type="sldImg"/>
          </p:nvPr>
        </p:nvSpPr>
        <p:spPr>
          <a:xfrm>
            <a:off x="1143000" y="685800"/>
            <a:ext cx="4571640" cy="3428640"/>
          </a:xfrm>
          <a:prstGeom prst="rect">
            <a:avLst/>
          </a:prstGeom>
          <a:ln w="0">
            <a:noFill/>
          </a:ln>
        </p:spPr>
      </p:sp>
      <p:sp>
        <p:nvSpPr>
          <p:cNvPr id="320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paso 8 es el que casi nadie hace y el que más valor aporta: comparar el cálculo teórico con la medida real en la máquina. Si el par medido es muy superior al calculado, hay fricción no prevista, desalineación o un problema mecánico que conviene resolver antes de que rompa algo.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Sugerencia de trabajo: crear una plantilla de hoja de cálculo corporativa con estas fórmulas y archivarla junto a la documentación de cada máquina.</a:t>
            </a:r>
            <a:endParaRPr b="0" lang="en-US" sz="2000" spc="-1" strike="noStrike">
              <a:solidFill>
                <a:srgbClr val="000000"/>
              </a:solidFill>
              <a:latin typeface="Arial"/>
            </a:endParaRPr>
          </a:p>
        </p:txBody>
      </p:sp>
      <p:sp>
        <p:nvSpPr>
          <p:cNvPr id="3202" name="PlaceHolder 3"/>
          <p:cNvSpPr>
            <a:spLocks noGrp="1"/>
          </p:cNvSpPr>
          <p:nvPr>
            <p:ph type="sldNum" idx="8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B28D723-7D18-4764-8915-14F6BD06186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3" name="PlaceHolder 1"/>
          <p:cNvSpPr>
            <a:spLocks noGrp="1"/>
          </p:cNvSpPr>
          <p:nvPr>
            <p:ph type="sldImg"/>
          </p:nvPr>
        </p:nvSpPr>
        <p:spPr>
          <a:xfrm>
            <a:off x="1143000" y="685800"/>
            <a:ext cx="4571640" cy="3428640"/>
          </a:xfrm>
          <a:prstGeom prst="rect">
            <a:avLst/>
          </a:prstGeom>
          <a:ln w="0">
            <a:noFill/>
          </a:ln>
        </p:spPr>
      </p:sp>
      <p:sp>
        <p:nvSpPr>
          <p:cNvPr id="320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Módulo eminentemente práctico. Si hay armario disponible, alterne diapositiva y equipo real.</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Mensaje transversal: la mayoría de los fallos 'raros' de un servo (alarmas intermitentes, ruido en la medida, pérdidas de comunicación) son problemas de instalación, no de configuración.</a:t>
            </a:r>
            <a:endParaRPr b="0" lang="en-US" sz="2000" spc="-1" strike="noStrike">
              <a:solidFill>
                <a:srgbClr val="000000"/>
              </a:solidFill>
              <a:latin typeface="Arial"/>
            </a:endParaRPr>
          </a:p>
        </p:txBody>
      </p:sp>
      <p:sp>
        <p:nvSpPr>
          <p:cNvPr id="3205" name="PlaceHolder 3"/>
          <p:cNvSpPr>
            <a:spLocks noGrp="1"/>
          </p:cNvSpPr>
          <p:nvPr>
            <p:ph type="sldNum" idx="8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7434F50-E2CE-47D6-8FAD-633F41F989D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6" name="PlaceHolder 1"/>
          <p:cNvSpPr>
            <a:spLocks noGrp="1"/>
          </p:cNvSpPr>
          <p:nvPr>
            <p:ph type="sldImg"/>
          </p:nvPr>
        </p:nvSpPr>
        <p:spPr>
          <a:xfrm>
            <a:off x="1143000" y="685800"/>
            <a:ext cx="4571640" cy="3428640"/>
          </a:xfrm>
          <a:prstGeom prst="rect">
            <a:avLst/>
          </a:prstGeom>
          <a:ln w="0">
            <a:noFill/>
          </a:ln>
        </p:spPr>
      </p:sp>
      <p:sp>
        <p:nvSpPr>
          <p:cNvPr id="320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La condensación merece un comentario: en instalaciones estacionales o con paradas largas, la resistencia de caldeo del armario evita averías electrónicas caras. Cuesta muy poco.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Sobre las pérdidas: el dato exacto está en el manual por modelo. Lo importante es que el alumno recuerde que un eje servo no es 'frío': aporta calor real al armario y hay que incluirlo en el balance térmico junto con el resto de equipos.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Truco de mantenimiento: registrar con una cámara térmica el armario recién puesto en marcha, para tener una referencia con la que comparar años después.</a:t>
            </a:r>
            <a:endParaRPr b="0" lang="en-US" sz="2000" spc="-1" strike="noStrike">
              <a:solidFill>
                <a:srgbClr val="000000"/>
              </a:solidFill>
              <a:latin typeface="Arial"/>
            </a:endParaRPr>
          </a:p>
        </p:txBody>
      </p:sp>
      <p:sp>
        <p:nvSpPr>
          <p:cNvPr id="3208" name="PlaceHolder 3"/>
          <p:cNvSpPr>
            <a:spLocks noGrp="1"/>
          </p:cNvSpPr>
          <p:nvPr>
            <p:ph type="sldNum" idx="8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66564D5-E396-434A-9E01-9B1BA789EB6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9" name="PlaceHolder 1"/>
          <p:cNvSpPr>
            <a:spLocks noGrp="1"/>
          </p:cNvSpPr>
          <p:nvPr>
            <p:ph type="sldImg"/>
          </p:nvPr>
        </p:nvSpPr>
        <p:spPr>
          <a:xfrm>
            <a:off x="1143000" y="685800"/>
            <a:ext cx="4571640" cy="3428640"/>
          </a:xfrm>
          <a:prstGeom prst="rect">
            <a:avLst/>
          </a:prstGeom>
          <a:ln w="0">
            <a:noFill/>
          </a:ln>
        </p:spPr>
      </p:sp>
      <p:sp>
        <p:nvSpPr>
          <p:cNvPr id="321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Recorra el esquema de izquierda a derecha. Los puntos que hay que destacar: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La alimentación de control (L1C/L2C) se toma ANTES del contactor. Así, al abrir el contactor por emergencia el drive sigue vivo: mantiene la comunicación, el encoder absoluto y el diagnóstico. Es la diferencia entre 'la máquina paró y sé por qué' y 'la máquina se apagó'.</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El filtro va lo más cerca posible del amplificador y con carcasa a masa.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La salida de alarma ALM del drive se cablea normalmente en serie con la bobina del contactor, de modo que una alarma grave corta la potencia.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La resistencia de regeneración se conecta entre B1 y B2 retirando previamente el puente B2-B3.</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Todas las tierras van en estrella a la placa de montaje.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Advertencia: no usar el contactor para arrancar y parar la máquina en cada ciclo. El circuito de precarga tiene un número limitado de maniobras y se degrada.</a:t>
            </a:r>
            <a:endParaRPr b="0" lang="en-US" sz="2000" spc="-1" strike="noStrike">
              <a:solidFill>
                <a:srgbClr val="000000"/>
              </a:solidFill>
              <a:latin typeface="Arial"/>
            </a:endParaRPr>
          </a:p>
        </p:txBody>
      </p:sp>
      <p:sp>
        <p:nvSpPr>
          <p:cNvPr id="3211" name="PlaceHolder 3"/>
          <p:cNvSpPr>
            <a:spLocks noGrp="1"/>
          </p:cNvSpPr>
          <p:nvPr>
            <p:ph type="sldNum" idx="8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6E848D2-1778-4625-A9F8-721BAAD61A8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2" name="PlaceHolder 1"/>
          <p:cNvSpPr>
            <a:spLocks noGrp="1"/>
          </p:cNvSpPr>
          <p:nvPr>
            <p:ph type="sldImg"/>
          </p:nvPr>
        </p:nvSpPr>
        <p:spPr>
          <a:xfrm>
            <a:off x="1143000" y="685800"/>
            <a:ext cx="4571640" cy="3428640"/>
          </a:xfrm>
          <a:prstGeom prst="rect">
            <a:avLst/>
          </a:prstGeom>
          <a:ln w="0">
            <a:noFill/>
          </a:ln>
        </p:spPr>
      </p:sp>
      <p:sp>
        <p:nvSpPr>
          <p:cNvPr id="321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Insista en dos puntos que se olvidan casi siempre:</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1) El diferencial debe ser tipo B. Un inversor genera corrientes de fuga de alta frecuencia y con componente continua que un diferencial tipo A o AC no detecta correctamente y que provoca disparos intempestivos.</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2) Las corrientes de fuga capacitivas crecen con la longitud del cable de motor. Con varios ejes y cables largos pueden sumar cientos de miliamperios: por eso se recomienda sensibilidad de 300 mA o superior y una buena red de tierras.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contactor de línea es opcional desde el punto de vista funcional, pero es la forma correcta de implementar el corte de potencia manteniendo el control vivo. No conviene usarlo para arrancar y parar la máquina ciclo a ciclo: se limita a maniobras de seguridad y mantenimiento.</a:t>
            </a:r>
            <a:endParaRPr b="0" lang="en-US" sz="2000" spc="-1" strike="noStrike">
              <a:solidFill>
                <a:srgbClr val="000000"/>
              </a:solidFill>
              <a:latin typeface="Arial"/>
            </a:endParaRPr>
          </a:p>
        </p:txBody>
      </p:sp>
      <p:sp>
        <p:nvSpPr>
          <p:cNvPr id="3214" name="PlaceHolder 3"/>
          <p:cNvSpPr>
            <a:spLocks noGrp="1"/>
          </p:cNvSpPr>
          <p:nvPr>
            <p:ph type="sldNum" idx="8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720E89B-6806-493D-858F-78A9F57BBCA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5" name="PlaceHolder 1"/>
          <p:cNvSpPr>
            <a:spLocks noGrp="1"/>
          </p:cNvSpPr>
          <p:nvPr>
            <p:ph type="sldImg"/>
          </p:nvPr>
        </p:nvSpPr>
        <p:spPr>
          <a:xfrm>
            <a:off x="1143000" y="685800"/>
            <a:ext cx="4571640" cy="3428640"/>
          </a:xfrm>
          <a:prstGeom prst="rect">
            <a:avLst/>
          </a:prstGeom>
          <a:ln w="0">
            <a:noFill/>
          </a:ln>
        </p:spPr>
      </p:sp>
      <p:sp>
        <p:nvSpPr>
          <p:cNvPr id="321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La secuencia de arranque es siempre la misma: control → potencia → esperar a que el drive esté listo (/S-RDY) → servo ON → mover.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retardo entre la potencia y el servo ON no es un capricho: el circuito de precarga necesita cargar los condensadores del bus antes de que el relé de bypass los conecte a la red. Dar servo ON demasiado pronto produce alarma de subtensión (A.410) o un aviso de secuencia inválida.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En la parada, el orden inverso protege al motor: primero quitar la consigna y esperar a velocidad cero, después servo OFF (con freno si corresponde) y sólo entonces cortar la potencia.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Comente el caso especial de la parada de emergencia: al abrir el contactor con el motor en marcha, el drive detecta pérdida de fase y detiene por freno dinámico. Es aceptable en emergencia, pero no debe ser el modo normal de parada.</a:t>
            </a:r>
            <a:endParaRPr b="0" lang="en-US" sz="2000" spc="-1" strike="noStrike">
              <a:solidFill>
                <a:srgbClr val="000000"/>
              </a:solidFill>
              <a:latin typeface="Arial"/>
            </a:endParaRPr>
          </a:p>
        </p:txBody>
      </p:sp>
      <p:sp>
        <p:nvSpPr>
          <p:cNvPr id="3217" name="PlaceHolder 3"/>
          <p:cNvSpPr>
            <a:spLocks noGrp="1"/>
          </p:cNvSpPr>
          <p:nvPr>
            <p:ph type="sldNum" idx="9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0ED0CFC-A973-406F-B08B-81B1924B594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18" name="PlaceHolder 1"/>
          <p:cNvSpPr>
            <a:spLocks noGrp="1"/>
          </p:cNvSpPr>
          <p:nvPr>
            <p:ph type="sldImg"/>
          </p:nvPr>
        </p:nvSpPr>
        <p:spPr>
          <a:xfrm>
            <a:off x="1143000" y="685800"/>
            <a:ext cx="4571640" cy="3428640"/>
          </a:xfrm>
          <a:prstGeom prst="rect">
            <a:avLst/>
          </a:prstGeom>
          <a:ln w="0">
            <a:noFill/>
          </a:ln>
        </p:spPr>
      </p:sp>
      <p:sp>
        <p:nvSpPr>
          <p:cNvPr id="321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Explique por qué la conexión de 360° importa: a las frecuencias en juego (MHz), un conductor de 10 cm tiene una impedancia apreciable, así que la malla deja de hacer de pantalla. La abrazadera metálica que rodea la malla completa es la solución correcta y cuesta céntimos.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Sobre la conexión de la malla en ambos extremos: la objeción clásica es el 'bucle de tierra'. En un armario industrial con red de masas correcta el beneficio de apantallamiento supera con mucho al problema del bucle. Los fabricantes de drives lo recomiendan de forma unánime.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Anécdota real muy útil: ejes que fallan sólo cuando arranca otra máquina de la nave. Es un problema de acoplamiento por red o por tierra, no del servo.</a:t>
            </a:r>
            <a:endParaRPr b="0" lang="en-US" sz="2000" spc="-1" strike="noStrike">
              <a:solidFill>
                <a:srgbClr val="000000"/>
              </a:solidFill>
              <a:latin typeface="Arial"/>
            </a:endParaRPr>
          </a:p>
        </p:txBody>
      </p:sp>
      <p:sp>
        <p:nvSpPr>
          <p:cNvPr id="3220" name="PlaceHolder 3"/>
          <p:cNvSpPr>
            <a:spLocks noGrp="1"/>
          </p:cNvSpPr>
          <p:nvPr>
            <p:ph type="sldNum" idx="9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97A4175-2A66-4B6B-ADB9-07FA0133598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21" name="PlaceHolder 1"/>
          <p:cNvSpPr>
            <a:spLocks noGrp="1"/>
          </p:cNvSpPr>
          <p:nvPr>
            <p:ph type="sldImg"/>
          </p:nvPr>
        </p:nvSpPr>
        <p:spPr>
          <a:xfrm>
            <a:off x="1143000" y="685800"/>
            <a:ext cx="4571640" cy="3428640"/>
          </a:xfrm>
          <a:prstGeom prst="rect">
            <a:avLst/>
          </a:prstGeom>
          <a:ln w="0">
            <a:noFill/>
          </a:ln>
        </p:spPr>
      </p:sp>
      <p:sp>
        <p:nvSpPr>
          <p:cNvPr id="322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Regeneración: el puente entre B2 y B3 conecta la resistencia interna. Si se monta una externa hay que RETIRARLO; si no, quedan las dos en paralelo, baja la resistencia total por debajo del mínimo admisible y se puede dañar el transistor de frenado. Además hay que declarar la capacidad de la resistencia externa en Pn600 para que la protección térmica del drive calcule bien.</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Freno: es un electroimán de 24 V CC normalmente cerrado. Tres reglas:</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1) Fuente propia o al menos circuito propio: la corriente de conexión/desconexión es alta y perturba las E/S.</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2) Supresor de sobretensión (varistor o diodo) en la bobina; al cortar una bobina se generan picos de cientos de voltios que destruyen contactos y perturban la electrónica.</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3) El contacto de mando debe estar dimensionado para carga inductiva de continua, que es mucho más exigente que la alterna.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/BK es una señal lógica del drive que hay que asignar a una salida física con Pn50F y que normalmente ataca a un relé intermedio.</a:t>
            </a:r>
            <a:endParaRPr b="0" lang="en-US" sz="2000" spc="-1" strike="noStrike">
              <a:solidFill>
                <a:srgbClr val="000000"/>
              </a:solidFill>
              <a:latin typeface="Arial"/>
            </a:endParaRPr>
          </a:p>
        </p:txBody>
      </p:sp>
      <p:sp>
        <p:nvSpPr>
          <p:cNvPr id="3223" name="PlaceHolder 3"/>
          <p:cNvSpPr>
            <a:spLocks noGrp="1"/>
          </p:cNvSpPr>
          <p:nvPr>
            <p:ph type="sldNum" idx="9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9B85D82-D2CF-483A-A69F-CB263A6963B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24" name="PlaceHolder 1"/>
          <p:cNvSpPr>
            <a:spLocks noGrp="1"/>
          </p:cNvSpPr>
          <p:nvPr>
            <p:ph type="sldImg"/>
          </p:nvPr>
        </p:nvSpPr>
        <p:spPr>
          <a:xfrm>
            <a:off x="1143000" y="685800"/>
            <a:ext cx="4571640" cy="3428640"/>
          </a:xfrm>
          <a:prstGeom prst="rect">
            <a:avLst/>
          </a:prstGeom>
          <a:ln w="0">
            <a:noFill/>
          </a:ln>
        </p:spPr>
      </p:sp>
      <p:sp>
        <p:nvSpPr>
          <p:cNvPr id="322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Ésta es probablemente la figura más útil de todo el manual y conviene imprimirla en A3 y tenerla en el armario durante la instalación.</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Recórrala por zonas, no de golpe:</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1) Arriba a la izquierda, el circuito de potencia: 1QF (interruptor automático), 1FLT (filtro), 2KM (contactor de potencia), 1KM (contactor de control) y la maniobra de marcha/paro con 1Ry y la lámpara 1PL de alarma.</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2) Arriba a la derecha, motor (U, V, W) y encoder por CN2, más los monitores analógicos de CN5.</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3) En el centro-izquierda, las consignas: V-REF (velocidad), T-REF (par) y el tren de pulsos PULS/SIGN con su señal de borrado CLR.</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4) En el centro-derecha, las salidas: códigos de alarma ALO1-3, salidas de encoder PAO/PBO/PCO, salida de posición absoluta PSO y las tres salidas de propósito general /SO1, /SO2 y /SO3, más la de alarma ALM.</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5) Abajo, las entradas de secuencia /SI0 a /SI6 alimentadas desde +24VIN, y el conector de seguridad CN8 con sus dos canales HWBB y la salida EDM1.</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Detalle importante que aparece en el pie de la figura: la fuente de 24 V CC no la suministra YASKAWA y debe ser de aislamiento doble o reforzado.</a:t>
            </a:r>
            <a:endParaRPr b="0" lang="en-US" sz="2000" spc="-1" strike="noStrike">
              <a:solidFill>
                <a:srgbClr val="000000"/>
              </a:solidFill>
              <a:latin typeface="Arial"/>
            </a:endParaRPr>
          </a:p>
        </p:txBody>
      </p:sp>
      <p:sp>
        <p:nvSpPr>
          <p:cNvPr id="3226" name="PlaceHolder 3"/>
          <p:cNvSpPr>
            <a:spLocks noGrp="1"/>
          </p:cNvSpPr>
          <p:nvPr>
            <p:ph type="sldNum" idx="9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4F0BD3C-C388-4A01-9EA6-14ED98DAD19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27" name="PlaceHolder 1"/>
          <p:cNvSpPr>
            <a:spLocks noGrp="1"/>
          </p:cNvSpPr>
          <p:nvPr>
            <p:ph type="sldImg"/>
          </p:nvPr>
        </p:nvSpPr>
        <p:spPr>
          <a:xfrm>
            <a:off x="1143000" y="685800"/>
            <a:ext cx="4571640" cy="3428640"/>
          </a:xfrm>
          <a:prstGeom prst="rect">
            <a:avLst/>
          </a:prstGeom>
          <a:ln w="0">
            <a:noFill/>
          </a:ln>
        </p:spPr>
      </p:sp>
      <p:sp>
        <p:nvSpPr>
          <p:cNvPr id="322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esquema responde exactamente a la petición de 'potencia y protecciones eléctricas'. Es el circuito recomendado por el fabricante y conviene tomarlo como referencia de diseño.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Puntos que hay que explicar:</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Los absorbedores de sobretensión (1SA, 2SA, 3SA) van sobre las bobinas de los contactores y en la entrada: protegen frente a los picos de maniobra, que son una fuente clásica de averías electrónicas.</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El diodo 1D en la bobina del relé cumple la misma función en continua.</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La cadena de alarma es lo que convierte un fallo del drive en un corte real de potencia, en lugar de dejar la máquina energizada con un eje muerto.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Para el SGDXS-200A00A: 15 A de entrada, luego el 1QF y el 2KM se dimensionan por encima de ese valor, consultando la tabla de periféricos del manual.</a:t>
            </a:r>
            <a:endParaRPr b="0" lang="en-US" sz="2000" spc="-1" strike="noStrike">
              <a:solidFill>
                <a:srgbClr val="000000"/>
              </a:solidFill>
              <a:latin typeface="Arial"/>
            </a:endParaRPr>
          </a:p>
        </p:txBody>
      </p:sp>
      <p:sp>
        <p:nvSpPr>
          <p:cNvPr id="3229" name="PlaceHolder 3"/>
          <p:cNvSpPr>
            <a:spLocks noGrp="1"/>
          </p:cNvSpPr>
          <p:nvPr>
            <p:ph type="sldNum" idx="9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2376780-2A95-43DB-975A-0DCE1DF3308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0" name="PlaceHolder 1"/>
          <p:cNvSpPr>
            <a:spLocks noGrp="1"/>
          </p:cNvSpPr>
          <p:nvPr>
            <p:ph type="sldImg"/>
          </p:nvPr>
        </p:nvSpPr>
        <p:spPr>
          <a:xfrm>
            <a:off x="1143000" y="685800"/>
            <a:ext cx="4571640" cy="3428640"/>
          </a:xfrm>
          <a:prstGeom prst="rect">
            <a:avLst/>
          </a:prstGeom>
          <a:ln w="0">
            <a:noFill/>
          </a:ln>
        </p:spPr>
      </p:sp>
      <p:sp>
        <p:nvSpPr>
          <p:cNvPr id="323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cronograma es la versión oficial de la secuencia que vimos en la lámina anterior. Merece la pena compararlas.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dato de seguridad más importante de todo el módulo está aquí: el manual exige esperar al menos 15 minutos tras cortar la alimentación antes de manipular los bornes. Es más de lo que la mayoría de los técnicos supone, y es tiempo de seguridad, no una recomendación conservadora.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Insista: el indicador CHARGE apagado es condición necesaria pero no suficiente. Siempre verificación de ausencia de tensión con multímetro.</a:t>
            </a:r>
            <a:endParaRPr b="0" lang="en-US" sz="2000" spc="-1" strike="noStrike">
              <a:solidFill>
                <a:srgbClr val="000000"/>
              </a:solidFill>
              <a:latin typeface="Arial"/>
            </a:endParaRPr>
          </a:p>
        </p:txBody>
      </p:sp>
      <p:sp>
        <p:nvSpPr>
          <p:cNvPr id="3232" name="PlaceHolder 3"/>
          <p:cNvSpPr>
            <a:spLocks noGrp="1"/>
          </p:cNvSpPr>
          <p:nvPr>
            <p:ph type="sldNum" idx="9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B01C2CD-A9BD-4C7E-95A5-4810D53450A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3" name="PlaceHolder 1"/>
          <p:cNvSpPr>
            <a:spLocks noGrp="1"/>
          </p:cNvSpPr>
          <p:nvPr>
            <p:ph type="sldImg"/>
          </p:nvPr>
        </p:nvSpPr>
        <p:spPr>
          <a:xfrm>
            <a:off x="1143000" y="685800"/>
            <a:ext cx="4571640" cy="3428640"/>
          </a:xfrm>
          <a:prstGeom prst="rect">
            <a:avLst/>
          </a:prstGeom>
          <a:ln w="0">
            <a:noFill/>
          </a:ln>
        </p:spPr>
      </p:sp>
      <p:sp>
        <p:nvSpPr>
          <p:cNvPr id="323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Novedad de la Σ-X frente a la Σ-7: además de Pn600 (capacidad en vatios) hay que ajustar Pn603 (resistencia en ohmios). En la Σ-7 sólo existía el primero. Es un error habitual en quien viene de la serie anterior.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Si se dejan las dos resistencias en paralelo por no retirar el puente, la resistencia total baja de los 10 Ω mínimos y el transistor de frenado puede destruirse.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que la resistencia externa se monta ventilada, con termostato de seguridad, y que alcanza temperaturas muy altas.</a:t>
            </a:r>
            <a:endParaRPr b="0" lang="en-US" sz="2000" spc="-1" strike="noStrike">
              <a:solidFill>
                <a:srgbClr val="000000"/>
              </a:solidFill>
              <a:latin typeface="Arial"/>
            </a:endParaRPr>
          </a:p>
        </p:txBody>
      </p:sp>
      <p:sp>
        <p:nvSpPr>
          <p:cNvPr id="3235" name="PlaceHolder 3"/>
          <p:cNvSpPr>
            <a:spLocks noGrp="1"/>
          </p:cNvSpPr>
          <p:nvPr>
            <p:ph type="sldNum" idx="9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F1A5B6C-922F-4145-829E-869891D8CF6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6" name="PlaceHolder 1"/>
          <p:cNvSpPr>
            <a:spLocks noGrp="1"/>
          </p:cNvSpPr>
          <p:nvPr>
            <p:ph type="sldImg"/>
          </p:nvPr>
        </p:nvSpPr>
        <p:spPr>
          <a:xfrm>
            <a:off x="1143000" y="685800"/>
            <a:ext cx="4571640" cy="3428640"/>
          </a:xfrm>
          <a:prstGeom prst="rect">
            <a:avLst/>
          </a:prstGeom>
          <a:ln w="0">
            <a:noFill/>
          </a:ln>
        </p:spPr>
      </p:sp>
      <p:sp>
        <p:nvSpPr>
          <p:cNvPr id="323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La figura muestra las dos formas de alimentar el respaldo del encoder absoluto. Insista en que hay que elegir una.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el procedimiento de mantenimiento: sustituir la batería con la alimentación de control conectada evita perder el contaje multivuelta y tener que rehacer el origen de la máquina.</a:t>
            </a:r>
            <a:endParaRPr b="0" lang="en-US" sz="2000" spc="-1" strike="noStrike">
              <a:solidFill>
                <a:srgbClr val="000000"/>
              </a:solidFill>
              <a:latin typeface="Arial"/>
            </a:endParaRPr>
          </a:p>
        </p:txBody>
      </p:sp>
      <p:sp>
        <p:nvSpPr>
          <p:cNvPr id="3238" name="PlaceHolder 3"/>
          <p:cNvSpPr>
            <a:spLocks noGrp="1"/>
          </p:cNvSpPr>
          <p:nvPr>
            <p:ph type="sldNum" idx="9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DA1E460-500C-4284-9AC0-FE1D3093776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39" name="PlaceHolder 1"/>
          <p:cNvSpPr>
            <a:spLocks noGrp="1"/>
          </p:cNvSpPr>
          <p:nvPr>
            <p:ph type="sldImg"/>
          </p:nvPr>
        </p:nvSpPr>
        <p:spPr>
          <a:xfrm>
            <a:off x="1143000" y="685800"/>
            <a:ext cx="4571640" cy="3428640"/>
          </a:xfrm>
          <a:prstGeom prst="rect">
            <a:avLst/>
          </a:prstGeom>
          <a:ln w="0">
            <a:noFill/>
          </a:ln>
        </p:spPr>
      </p:sp>
      <p:sp>
        <p:nvSpPr>
          <p:cNvPr id="324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Compare esta figura con el esquema simplificado que vimos antes: es la misma idea, con el detalle real del fabricante.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manual advierte expresamente de que, si se usa un freno de 24 V, hay que instalar una fuente separada de la de las señales de E/S del conector CN1; si se comparte, las señales pueden funcionar mal.</a:t>
            </a:r>
            <a:endParaRPr b="0" lang="en-US" sz="2000" spc="-1" strike="noStrike">
              <a:solidFill>
                <a:srgbClr val="000000"/>
              </a:solidFill>
              <a:latin typeface="Arial"/>
            </a:endParaRPr>
          </a:p>
        </p:txBody>
      </p:sp>
      <p:sp>
        <p:nvSpPr>
          <p:cNvPr id="3241" name="PlaceHolder 3"/>
          <p:cNvSpPr>
            <a:spLocks noGrp="1"/>
          </p:cNvSpPr>
          <p:nvPr>
            <p:ph type="sldNum" idx="9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4CD496F-67BB-401F-9BFA-AAEB288BB70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2" name="PlaceHolder 1"/>
          <p:cNvSpPr>
            <a:spLocks noGrp="1"/>
          </p:cNvSpPr>
          <p:nvPr>
            <p:ph type="sldImg"/>
          </p:nvPr>
        </p:nvSpPr>
        <p:spPr>
          <a:xfrm>
            <a:off x="1143000" y="685800"/>
            <a:ext cx="4571640" cy="3428640"/>
          </a:xfrm>
          <a:prstGeom prst="rect">
            <a:avLst/>
          </a:prstGeom>
          <a:ln w="0">
            <a:noFill/>
          </a:ln>
        </p:spPr>
      </p:sp>
      <p:sp>
        <p:nvSpPr>
          <p:cNvPr id="324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Ésta es la figura que hay que enseñar al montador del armario. La diferencia entre un eje que funciona y uno con alarmas intermitentes está muchas veces en estos detalles.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 tabla que acompaña a la figura en el manual indica qué cables deben ser apantallados: el de señales de E/S, el del dispositivo de seguridad, el del encoder y el del motor.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el porqué físico de la abrazadera de 360°: a frecuencias de MHz un conductor de 10 cm tiene impedancia apreciable y la pantalla deja de serlo.</a:t>
            </a:r>
            <a:endParaRPr b="0" lang="en-US" sz="2000" spc="-1" strike="noStrike">
              <a:solidFill>
                <a:srgbClr val="000000"/>
              </a:solidFill>
              <a:latin typeface="Arial"/>
            </a:endParaRPr>
          </a:p>
        </p:txBody>
      </p:sp>
      <p:sp>
        <p:nvSpPr>
          <p:cNvPr id="3244" name="PlaceHolder 3"/>
          <p:cNvSpPr>
            <a:spLocks noGrp="1"/>
          </p:cNvSpPr>
          <p:nvPr>
            <p:ph type="sldNum" idx="9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C8E3734-CCDD-4A0F-A363-30CDAD014B3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5" name="PlaceHolder 1"/>
          <p:cNvSpPr>
            <a:spLocks noGrp="1"/>
          </p:cNvSpPr>
          <p:nvPr>
            <p:ph type="sldImg"/>
          </p:nvPr>
        </p:nvSpPr>
        <p:spPr>
          <a:xfrm>
            <a:off x="1143000" y="685800"/>
            <a:ext cx="4571640" cy="3428640"/>
          </a:xfrm>
          <a:prstGeom prst="rect">
            <a:avLst/>
          </a:prstGeom>
          <a:ln w="0">
            <a:noFill/>
          </a:ln>
        </p:spPr>
      </p:sp>
      <p:sp>
        <p:nvSpPr>
          <p:cNvPr id="324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La figura es pequeña porque el recorte del manual lo es: el mensaje es el de la tierra en estrella. Explíquela junto a la de EMC.</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valor de 100 Ω es el criterio de aceptación de la lista de verificación del módulo.</a:t>
            </a:r>
            <a:endParaRPr b="0" lang="en-US" sz="2000" spc="-1" strike="noStrike">
              <a:solidFill>
                <a:srgbClr val="000000"/>
              </a:solidFill>
              <a:latin typeface="Arial"/>
            </a:endParaRPr>
          </a:p>
        </p:txBody>
      </p:sp>
      <p:sp>
        <p:nvSpPr>
          <p:cNvPr id="3247" name="PlaceHolder 3"/>
          <p:cNvSpPr>
            <a:spLocks noGrp="1"/>
          </p:cNvSpPr>
          <p:nvPr>
            <p:ph type="sldNum" idx="10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6020FDE-8175-48AA-BE76-ABC8AD2EEBB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8" name="PlaceHolder 1"/>
          <p:cNvSpPr>
            <a:spLocks noGrp="1"/>
          </p:cNvSpPr>
          <p:nvPr>
            <p:ph type="sldImg"/>
          </p:nvPr>
        </p:nvSpPr>
        <p:spPr>
          <a:xfrm>
            <a:off x="1143000" y="685800"/>
            <a:ext cx="4571640" cy="3428640"/>
          </a:xfrm>
          <a:prstGeom prst="rect">
            <a:avLst/>
          </a:prstGeom>
          <a:ln w="0">
            <a:noFill/>
          </a:ln>
        </p:spPr>
      </p:sp>
      <p:sp>
        <p:nvSpPr>
          <p:cNvPr id="324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es el puente entre el módulo de instalación y el de sintonización. Si el alumno entiende que la rigidez mecánica fija el techo de las ganancias, entenderá por qué en el Módulo 09 a veces no hay nada más que hacer desde el drive.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Dato práctico: sustituir un acoplamiento elastomérico por uno de fuelle metálico puede permitir subir la ganancia un 50 % o más en ejes exigentes. Es una mejora barata cuando un eje 'no llega'.</a:t>
            </a:r>
            <a:endParaRPr b="0" lang="en-US" sz="2000" spc="-1" strike="noStrike">
              <a:solidFill>
                <a:srgbClr val="000000"/>
              </a:solidFill>
              <a:latin typeface="Arial"/>
            </a:endParaRPr>
          </a:p>
        </p:txBody>
      </p:sp>
      <p:sp>
        <p:nvSpPr>
          <p:cNvPr id="3250" name="PlaceHolder 3"/>
          <p:cNvSpPr>
            <a:spLocks noGrp="1"/>
          </p:cNvSpPr>
          <p:nvPr>
            <p:ph type="sldNum" idx="10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C67E2B7-BF26-4919-AA3A-0BBF7DE108C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51" name="PlaceHolder 1"/>
          <p:cNvSpPr>
            <a:spLocks noGrp="1"/>
          </p:cNvSpPr>
          <p:nvPr>
            <p:ph type="sldImg"/>
          </p:nvPr>
        </p:nvSpPr>
        <p:spPr>
          <a:xfrm>
            <a:off x="1143000" y="685800"/>
            <a:ext cx="4571640" cy="3428640"/>
          </a:xfrm>
          <a:prstGeom prst="rect">
            <a:avLst/>
          </a:prstGeom>
          <a:ln w="0">
            <a:noFill/>
          </a:ln>
        </p:spPr>
      </p:sp>
      <p:sp>
        <p:nvSpPr>
          <p:cNvPr id="325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Recomiende convertir esta lista en un documento de calidad firmado por el instalador. En caso de incidencia, tener el registro de que se verificó cada punto cambia por completo la conversación.</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punto 4 merece un comentario: si se intercambian dos fases del motor, el eje puede embalarse al activar el servo o disparar alarma de sobrecorriente inmediatamente. Se comprueba en la prueba de JOG del Módulo 08, siempre con la carga desacoplada la primera vez.</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punto 9 es el que más veces provoca la llamada 'el motor no hace nada y no da alarma'.</a:t>
            </a:r>
            <a:endParaRPr b="0" lang="en-US" sz="2000" spc="-1" strike="noStrike">
              <a:solidFill>
                <a:srgbClr val="000000"/>
              </a:solidFill>
              <a:latin typeface="Arial"/>
            </a:endParaRPr>
          </a:p>
        </p:txBody>
      </p:sp>
      <p:sp>
        <p:nvSpPr>
          <p:cNvPr id="3253" name="PlaceHolder 3"/>
          <p:cNvSpPr>
            <a:spLocks noGrp="1"/>
          </p:cNvSpPr>
          <p:nvPr>
            <p:ph type="sldNum" idx="10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DB6AC37-3DA1-4E5B-8B58-C79223C351F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54" name="PlaceHolder 1"/>
          <p:cNvSpPr>
            <a:spLocks noGrp="1"/>
          </p:cNvSpPr>
          <p:nvPr>
            <p:ph type="sldImg"/>
          </p:nvPr>
        </p:nvSpPr>
        <p:spPr>
          <a:xfrm>
            <a:off x="1143000" y="685800"/>
            <a:ext cx="4571640" cy="3428640"/>
          </a:xfrm>
          <a:prstGeom prst="rect">
            <a:avLst/>
          </a:prstGeom>
          <a:ln w="0">
            <a:noFill/>
          </a:ln>
        </p:spPr>
      </p:sp>
      <p:sp>
        <p:nvSpPr>
          <p:cNvPr id="325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módulo conecta el drive con el mundo exterior. El objetivo es que el alumno sea capaz de leer el esquema de un armario ajeno y entender qué señal hace qué, y de diseñar el suyo propio.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a lo largo del módulo que los números de pin concretos dependen de la variante de interfaz del amplificador: hay que verificarlos en el manual del modelo instalado.</a:t>
            </a:r>
            <a:endParaRPr b="0" lang="en-US" sz="2000" spc="-1" strike="noStrike">
              <a:solidFill>
                <a:srgbClr val="000000"/>
              </a:solidFill>
              <a:latin typeface="Arial"/>
            </a:endParaRPr>
          </a:p>
        </p:txBody>
      </p:sp>
      <p:sp>
        <p:nvSpPr>
          <p:cNvPr id="3256" name="PlaceHolder 3"/>
          <p:cNvSpPr>
            <a:spLocks noGrp="1"/>
          </p:cNvSpPr>
          <p:nvPr>
            <p:ph type="sldNum" idx="10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AA388DB-FFE7-41AD-9C83-11EE43BC077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57" name="PlaceHolder 1"/>
          <p:cNvSpPr>
            <a:spLocks noGrp="1"/>
          </p:cNvSpPr>
          <p:nvPr>
            <p:ph type="sldImg"/>
          </p:nvPr>
        </p:nvSpPr>
        <p:spPr>
          <a:xfrm>
            <a:off x="1143000" y="685800"/>
            <a:ext cx="4571640" cy="3428640"/>
          </a:xfrm>
          <a:prstGeom prst="rect">
            <a:avLst/>
          </a:prstGeom>
          <a:ln w="0">
            <a:noFill/>
          </a:ln>
        </p:spPr>
      </p:sp>
      <p:sp>
        <p:nvSpPr>
          <p:cNvPr id="325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Insista en CN7 y CN8. CN7 porque es la puerta de entrada al equipo para cualquier trabajo serio, y CN8 porque su puente de fábrica es la causa más frecuente de 'no da par y no da alarma'.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CN5 (monitor analógico) es una joya poco conocida: permite sacar velocidad y par a un osciloscopio con una escala configurable por parámetro. En sintonización de ejes difíciles, ver la señal real en un osciloscopio de verdad sigue siendo insustituible.</a:t>
            </a:r>
            <a:endParaRPr b="0" lang="en-US" sz="2000" spc="-1" strike="noStrike">
              <a:solidFill>
                <a:srgbClr val="000000"/>
              </a:solidFill>
              <a:latin typeface="Arial"/>
            </a:endParaRPr>
          </a:p>
        </p:txBody>
      </p:sp>
      <p:sp>
        <p:nvSpPr>
          <p:cNvPr id="3259" name="PlaceHolder 3"/>
          <p:cNvSpPr>
            <a:spLocks noGrp="1"/>
          </p:cNvSpPr>
          <p:nvPr>
            <p:ph type="sldNum" idx="10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A542818-28EB-46C8-AE50-CBBA85034FF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0" name="PlaceHolder 1"/>
          <p:cNvSpPr>
            <a:spLocks noGrp="1"/>
          </p:cNvSpPr>
          <p:nvPr>
            <p:ph type="sldImg"/>
          </p:nvPr>
        </p:nvSpPr>
        <p:spPr>
          <a:xfrm>
            <a:off x="1143000" y="685800"/>
            <a:ext cx="4571640" cy="3428640"/>
          </a:xfrm>
          <a:prstGeom prst="rect">
            <a:avLst/>
          </a:prstGeom>
          <a:ln w="0">
            <a:noFill/>
          </a:ln>
        </p:spPr>
      </p:sp>
      <p:sp>
        <p:nvSpPr>
          <p:cNvPr id="326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Explique el concepto de alimentación de las entradas: el drive no alimenta sus propias entradas digitales. Hay que llevar los 24 V a un terminal común (+24VIN) y desde ahí los contactos externos cierran cada entrada. Es la causa número uno de 'las entradas no responden' en un primer montaje.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Las entradas son por optoacoplador con común configurable, lo que permite trabajar en lógica positiva (source) o negativa (sink) según cómo se alimente el común. Hay que decidirlo al diseñar el armario y mantener el criterio en toda la máquina.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Las salidas son transistores de colector abierto con capacidad limitada (decenas de miliamperios): no atacan directamente contactores ni electroválvulas. Hay que usar relés intermedios y siempre con supresor en las cargas inductivas.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Los números de pin dependen de la variante: verifíquelos en el manual del equipo instalado antes de cablear.</a:t>
            </a:r>
            <a:endParaRPr b="0" lang="en-US" sz="2000" spc="-1" strike="noStrike">
              <a:solidFill>
                <a:srgbClr val="000000"/>
              </a:solidFill>
              <a:latin typeface="Arial"/>
            </a:endParaRPr>
          </a:p>
        </p:txBody>
      </p:sp>
      <p:sp>
        <p:nvSpPr>
          <p:cNvPr id="3262" name="PlaceHolder 3"/>
          <p:cNvSpPr>
            <a:spLocks noGrp="1"/>
          </p:cNvSpPr>
          <p:nvPr>
            <p:ph type="sldNum" idx="10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39ECD3A-5E70-44BB-9550-BDFEA6C7EEC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3" name="PlaceHolder 1"/>
          <p:cNvSpPr>
            <a:spLocks noGrp="1"/>
          </p:cNvSpPr>
          <p:nvPr>
            <p:ph type="sldImg"/>
          </p:nvPr>
        </p:nvSpPr>
        <p:spPr>
          <a:xfrm>
            <a:off x="1143000" y="685800"/>
            <a:ext cx="4571640" cy="3428640"/>
          </a:xfrm>
          <a:prstGeom prst="rect">
            <a:avLst/>
          </a:prstGeom>
          <a:ln w="0">
            <a:noFill/>
          </a:ln>
        </p:spPr>
      </p:sp>
      <p:sp>
        <p:nvSpPr>
          <p:cNvPr id="326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Explique el concepto de asignación: en la Σ-X las señales lógicas no están atadas a un pin. Con Pn50A/Pn50B se decide qué terminal físico (SI0…SI6) activa cada señal lógica, e incluso se puede fijar una señal como 'siempre activa' sin cablearla.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Eso último es muy práctico en un banco de pruebas (por ejemplo, forzar P-OT y N-OT a inactivo para no tener que cablear finales de carrera), pero es PELIGROSO dejarlo así en una máquina de producción. Debe quedar documentado y revisado.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Detalle que confunde a todo el mundo la primera vez: P-OT y N-OT son señales de seguridad con lógica negativa. El contacto debe estar CERRADO en funcionamiento normal, de modo que un cable roto detenga el eje. Es la filosofía correcta, pero sorprende a quien viene de otras marcas.</a:t>
            </a:r>
            <a:endParaRPr b="0" lang="en-US" sz="2000" spc="-1" strike="noStrike">
              <a:solidFill>
                <a:srgbClr val="000000"/>
              </a:solidFill>
              <a:latin typeface="Arial"/>
            </a:endParaRPr>
          </a:p>
        </p:txBody>
      </p:sp>
      <p:sp>
        <p:nvSpPr>
          <p:cNvPr id="3265" name="PlaceHolder 3"/>
          <p:cNvSpPr>
            <a:spLocks noGrp="1"/>
          </p:cNvSpPr>
          <p:nvPr>
            <p:ph type="sldNum" idx="10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DC73C45-5D33-4547-A698-B8B83C9780B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6" name="PlaceHolder 1"/>
          <p:cNvSpPr>
            <a:spLocks noGrp="1"/>
          </p:cNvSpPr>
          <p:nvPr>
            <p:ph type="sldImg"/>
          </p:nvPr>
        </p:nvSpPr>
        <p:spPr>
          <a:xfrm>
            <a:off x="1143000" y="685800"/>
            <a:ext cx="4571640" cy="3428640"/>
          </a:xfrm>
          <a:prstGeom prst="rect">
            <a:avLst/>
          </a:prstGeom>
          <a:ln w="0">
            <a:noFill/>
          </a:ln>
        </p:spPr>
      </p:sp>
      <p:sp>
        <p:nvSpPr>
          <p:cNvPr id="326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ajuste de Pn522 merece una explicación con dibujo: es una ventana alrededor del destino. Se fija en unidades de referencia, es decir, después del engranaje electrónico.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Método práctico para ajustarla: haz un posicionado, mira el error final estabilizado en Un008 y pon Pn522 en un valor unas 3-5 veces mayor que ese error residual, siempre dentro de la tolerancia mecánica de la aplicación.</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Un fallo clásico: /COIN se activa antes de que el eje esté realmente quieto porque la ventana es enorme. La máquina empieza la siguiente operación y aparecen defectos de calidad intermitentes.</a:t>
            </a:r>
            <a:endParaRPr b="0" lang="en-US" sz="2000" spc="-1" strike="noStrike">
              <a:solidFill>
                <a:srgbClr val="000000"/>
              </a:solidFill>
              <a:latin typeface="Arial"/>
            </a:endParaRPr>
          </a:p>
        </p:txBody>
      </p:sp>
      <p:sp>
        <p:nvSpPr>
          <p:cNvPr id="3268" name="PlaceHolder 3"/>
          <p:cNvSpPr>
            <a:spLocks noGrp="1"/>
          </p:cNvSpPr>
          <p:nvPr>
            <p:ph type="sldNum" idx="10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D570206-49C5-4B24-907B-1C36C4FCBF3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9" name="PlaceHolder 1"/>
          <p:cNvSpPr>
            <a:spLocks noGrp="1"/>
          </p:cNvSpPr>
          <p:nvPr>
            <p:ph type="sldImg"/>
          </p:nvPr>
        </p:nvSpPr>
        <p:spPr>
          <a:xfrm>
            <a:off x="1143000" y="685800"/>
            <a:ext cx="4571640" cy="3428640"/>
          </a:xfrm>
          <a:prstGeom prst="rect">
            <a:avLst/>
          </a:prstGeom>
          <a:ln w="0">
            <a:noFill/>
          </a:ln>
        </p:spPr>
      </p:sp>
      <p:sp>
        <p:nvSpPr>
          <p:cNvPr id="327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Explique la arquitectura clásica de máquina-herramienta: el CNC lee la posición (por el encoder del drive o por una regla), cierra el lazo de posición y envía una consigna de velocidad analógica al drive. El drive es un 'regulador de velocidad de alta calidad'.</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ajuste del offset es un procedimiento clásico de puesta en marcha: con consigna a cero, el eje debe quedar completamente parado. La Σ-X tiene funciones de utilidad específicas para el ajuste automático y manual del offset de las entradas analógicas.</a:t>
            </a:r>
            <a:endParaRPr b="0" lang="en-US" sz="2000" spc="-1" strike="noStrike">
              <a:solidFill>
                <a:srgbClr val="000000"/>
              </a:solidFill>
              <a:latin typeface="Arial"/>
            </a:endParaRPr>
          </a:p>
        </p:txBody>
      </p:sp>
      <p:sp>
        <p:nvSpPr>
          <p:cNvPr id="3271" name="PlaceHolder 3"/>
          <p:cNvSpPr>
            <a:spLocks noGrp="1"/>
          </p:cNvSpPr>
          <p:nvPr>
            <p:ph type="sldNum" idx="10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3B248C3D-103E-47C8-94C7-57D940241D0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2" name="PlaceHolder 1"/>
          <p:cNvSpPr>
            <a:spLocks noGrp="1"/>
          </p:cNvSpPr>
          <p:nvPr>
            <p:ph type="sldImg"/>
          </p:nvPr>
        </p:nvSpPr>
        <p:spPr>
          <a:xfrm>
            <a:off x="1143000" y="685800"/>
            <a:ext cx="4571640" cy="3428640"/>
          </a:xfrm>
          <a:prstGeom prst="rect">
            <a:avLst/>
          </a:prstGeom>
          <a:ln w="0">
            <a:noFill/>
          </a:ln>
        </p:spPr>
      </p:sp>
      <p:sp>
        <p:nvSpPr>
          <p:cNvPr id="327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Los tres formatos de tren de pulsos se seleccionan con Pn200.0. Hay que configurar EXACTAMENTE el que emite el controlador; si no, el eje se mueve al revés, a media velocidad o no se mueve.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Diferencia crítica entre line driver y colector abierto: el line driver (RS-422) es diferencial, admite frecuencias altas y cables largos con buena inmunidad. El colector abierto es más sencillo pero limita mucho la frecuencia y la longitud. En un eje de 3 kW con dinámica exigente, usa siempre line driver.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 salida de encoder (PAO/PBO/PCO) reproduce la posición hacia el controlador con la resolución que fije Pn212. Sirve para que el CNC cierre su propio lazo o para sincronizar otro eje como esclavo. PCO es el pulso de marca por vuelta, usado en la búsqueda de origen.</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Ojo con Pn212: pedir una resolución de salida demasiado alta a velocidad elevada supera la frecuencia máxima de salida y dispara la alarma correspondiente.</a:t>
            </a:r>
            <a:endParaRPr b="0" lang="en-US" sz="2000" spc="-1" strike="noStrike">
              <a:solidFill>
                <a:srgbClr val="000000"/>
              </a:solidFill>
              <a:latin typeface="Arial"/>
            </a:endParaRPr>
          </a:p>
        </p:txBody>
      </p:sp>
      <p:sp>
        <p:nvSpPr>
          <p:cNvPr id="3274" name="PlaceHolder 3"/>
          <p:cNvSpPr>
            <a:spLocks noGrp="1"/>
          </p:cNvSpPr>
          <p:nvPr>
            <p:ph type="sldNum" idx="10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07315BC-906F-41D5-938C-220840820F7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5" name="PlaceHolder 1"/>
          <p:cNvSpPr>
            <a:spLocks noGrp="1"/>
          </p:cNvSpPr>
          <p:nvPr>
            <p:ph type="sldImg"/>
          </p:nvPr>
        </p:nvSpPr>
        <p:spPr>
          <a:xfrm>
            <a:off x="1143000" y="685800"/>
            <a:ext cx="4571640" cy="3428640"/>
          </a:xfrm>
          <a:prstGeom prst="rect">
            <a:avLst/>
          </a:prstGeom>
          <a:ln w="0">
            <a:noFill/>
          </a:ln>
        </p:spPr>
      </p:sp>
      <p:sp>
        <p:nvSpPr>
          <p:cNvPr id="327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Aviso del propio manual que conviene leer en voz alta: el conector de este SERVOPACK es el mismo que el del Σ-XT, así que antes de la prueba de funcionamiento hay que confirmar que se ha conectado el conector correcto.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Insista en la comprobación con los monitores Un005 y Un006: es la forma más rápida de validar un cableado de CN1 sin multímetro.</a:t>
            </a:r>
            <a:endParaRPr b="0" lang="en-US" sz="2000" spc="-1" strike="noStrike">
              <a:solidFill>
                <a:srgbClr val="000000"/>
              </a:solidFill>
              <a:latin typeface="Arial"/>
            </a:endParaRPr>
          </a:p>
        </p:txBody>
      </p:sp>
      <p:sp>
        <p:nvSpPr>
          <p:cNvPr id="3277" name="PlaceHolder 3"/>
          <p:cNvSpPr>
            <a:spLocks noGrp="1"/>
          </p:cNvSpPr>
          <p:nvPr>
            <p:ph type="sldNum" idx="11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C6B3B44-3FEB-4C3B-BDC7-E584B58B26C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78" name="PlaceHolder 1"/>
          <p:cNvSpPr>
            <a:spLocks noGrp="1"/>
          </p:cNvSpPr>
          <p:nvPr>
            <p:ph type="sldImg"/>
          </p:nvPr>
        </p:nvSpPr>
        <p:spPr>
          <a:xfrm>
            <a:off x="1143000" y="685800"/>
            <a:ext cx="4571640" cy="3428640"/>
          </a:xfrm>
          <a:prstGeom prst="rect">
            <a:avLst/>
          </a:prstGeom>
          <a:ln w="0">
            <a:noFill/>
          </a:ln>
        </p:spPr>
      </p:sp>
      <p:sp>
        <p:nvSpPr>
          <p:cNvPr id="327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Ésta es la tabla de consulta que hay que tener delante al cablear. Dos señales son nuevas respecto de la serie Σ-7 y conviene señalarlas:</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PSO / /PSO (pines 48-49): salida de posición absoluta, que permite al controlador leer la posición sin secuencia SEN.</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TH (pin 50): entrada de protección contra sobrecalentamiento, pensada para el sensor térmico de motores lineales y de accionamiento directo.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el pin 47 (+24VIN): sin él alimentado, ninguna entrada digital funciona y el drive no da ninguna alarma por ello.</a:t>
            </a:r>
            <a:endParaRPr b="0" lang="en-US" sz="2000" spc="-1" strike="noStrike">
              <a:solidFill>
                <a:srgbClr val="000000"/>
              </a:solidFill>
              <a:latin typeface="Arial"/>
            </a:endParaRPr>
          </a:p>
        </p:txBody>
      </p:sp>
      <p:sp>
        <p:nvSpPr>
          <p:cNvPr id="3280" name="PlaceHolder 3"/>
          <p:cNvSpPr>
            <a:spLocks noGrp="1"/>
          </p:cNvSpPr>
          <p:nvPr>
            <p:ph type="sldNum" idx="11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7E60F82-ED18-4937-B78F-BB6C4A7BDC0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1" name="PlaceHolder 1"/>
          <p:cNvSpPr>
            <a:spLocks noGrp="1"/>
          </p:cNvSpPr>
          <p:nvPr>
            <p:ph type="sldImg"/>
          </p:nvPr>
        </p:nvSpPr>
        <p:spPr>
          <a:xfrm>
            <a:off x="1143000" y="685800"/>
            <a:ext cx="4571640" cy="3428640"/>
          </a:xfrm>
          <a:prstGeom prst="rect">
            <a:avLst/>
          </a:prstGeom>
          <a:ln w="0">
            <a:noFill/>
          </a:ln>
        </p:spPr>
      </p:sp>
      <p:sp>
        <p:nvSpPr>
          <p:cNvPr id="328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Recorra la figura por zonas:</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Izquierda arriba: la consigna de velocidad V-REF y el límite externo de par T-REF, ambos ±12 V máximo, con par trenzado.</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Izquierda centro: la batería del encoder absoluto y la señal SEN.</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Izquierda abajo: las siete entradas de secuencia alimentadas desde +24VIN, con contactos secos.</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Derecha arriba: códigos de alarma y salidas de encoder, que exigen receptor de línea en el controlador.</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Derecha abajo: las salidas por fotoacoplador, con sus límites de 30 V CC y 50 mA.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Dos notas del manual que conviene leer: la fuente de 24 V no la suministra YASKAWA y debe ser de aislamiento doble o reforzado; y si se usa freno de 24 V hay que alimentarlo con una fuente distinta de la de las señales de CN1.</a:t>
            </a:r>
            <a:endParaRPr b="0" lang="en-US" sz="2000" spc="-1" strike="noStrike">
              <a:solidFill>
                <a:srgbClr val="000000"/>
              </a:solidFill>
              <a:latin typeface="Arial"/>
            </a:endParaRPr>
          </a:p>
        </p:txBody>
      </p:sp>
      <p:sp>
        <p:nvSpPr>
          <p:cNvPr id="3283" name="PlaceHolder 3"/>
          <p:cNvSpPr>
            <a:spLocks noGrp="1"/>
          </p:cNvSpPr>
          <p:nvPr>
            <p:ph type="sldNum" idx="11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BA979EC-5C40-4865-8FA3-C2A2733FB47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4" name="PlaceHolder 1"/>
          <p:cNvSpPr>
            <a:spLocks noGrp="1"/>
          </p:cNvSpPr>
          <p:nvPr>
            <p:ph type="sldImg"/>
          </p:nvPr>
        </p:nvSpPr>
        <p:spPr>
          <a:xfrm>
            <a:off x="1143000" y="685800"/>
            <a:ext cx="4571640" cy="3428640"/>
          </a:xfrm>
          <a:prstGeom prst="rect">
            <a:avLst/>
          </a:prstGeom>
          <a:ln w="0">
            <a:noFill/>
          </a:ln>
        </p:spPr>
      </p:sp>
      <p:sp>
        <p:nvSpPr>
          <p:cNvPr id="328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La diferencia respecto del ejemplo de velocidad está en la entrada: aquí aparecen PULS//PULS, SIGN//SIGN y CLR//CLR en lugar de la consigna analógica.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Observe que la señal de borrado del error de posición (CLR) es parte del interfaz: el controlador la usa al hacer el origen y al habilitar el eje. Si queda activa por error, el eje no se mueve aunque lleguen pulsos; es una causa de avería recogida en el capítulo de resolución de problemas del manual.</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parámetro Pn200 define el formato del tren de pulsos y también la forma de la señal CLR.</a:t>
            </a:r>
            <a:endParaRPr b="0" lang="en-US" sz="2000" spc="-1" strike="noStrike">
              <a:solidFill>
                <a:srgbClr val="000000"/>
              </a:solidFill>
              <a:latin typeface="Arial"/>
            </a:endParaRPr>
          </a:p>
        </p:txBody>
      </p:sp>
      <p:sp>
        <p:nvSpPr>
          <p:cNvPr id="3286" name="PlaceHolder 3"/>
          <p:cNvSpPr>
            <a:spLocks noGrp="1"/>
          </p:cNvSpPr>
          <p:nvPr>
            <p:ph type="sldNum" idx="11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3723509-4887-463B-8359-D1E91D6E01B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7" name="PlaceHolder 1"/>
          <p:cNvSpPr>
            <a:spLocks noGrp="1"/>
          </p:cNvSpPr>
          <p:nvPr>
            <p:ph type="sldImg"/>
          </p:nvPr>
        </p:nvSpPr>
        <p:spPr>
          <a:xfrm>
            <a:off x="1143000" y="685800"/>
            <a:ext cx="4571640" cy="3428640"/>
          </a:xfrm>
          <a:prstGeom prst="rect">
            <a:avLst/>
          </a:prstGeom>
          <a:ln w="0">
            <a:noFill/>
          </a:ln>
        </p:spPr>
      </p:sp>
      <p:sp>
        <p:nvSpPr>
          <p:cNvPr id="328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Esta figura es la respuesta técnica a la pregunta '¿por qué mi eje pierde pulsos?'. La mayoría de los casos son un colector abierto mal adaptado o un cable demasiado largo.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 tabla de resistencias de pull-up del manual es muy concreta y casi nadie la consulta. Si el controlador tiene salida a colector abierto con fuente propia, hay que verificarla antes de cablear.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Recomendación general: en un eje de 3 kW con dinámica exigente, siempre line driver.</a:t>
            </a:r>
            <a:endParaRPr b="0" lang="en-US" sz="2000" spc="-1" strike="noStrike">
              <a:solidFill>
                <a:srgbClr val="000000"/>
              </a:solidFill>
              <a:latin typeface="Arial"/>
            </a:endParaRPr>
          </a:p>
        </p:txBody>
      </p:sp>
      <p:sp>
        <p:nvSpPr>
          <p:cNvPr id="3289" name="PlaceHolder 3"/>
          <p:cNvSpPr>
            <a:spLocks noGrp="1"/>
          </p:cNvSpPr>
          <p:nvPr>
            <p:ph type="sldNum" idx="11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F306716-B318-43EF-BDC0-D6D93D8A897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0" name="PlaceHolder 1"/>
          <p:cNvSpPr>
            <a:spLocks noGrp="1"/>
          </p:cNvSpPr>
          <p:nvPr>
            <p:ph type="sldImg"/>
          </p:nvPr>
        </p:nvSpPr>
        <p:spPr>
          <a:xfrm>
            <a:off x="1143000" y="685800"/>
            <a:ext cx="4571640" cy="3428640"/>
          </a:xfrm>
          <a:prstGeom prst="rect">
            <a:avLst/>
          </a:prstGeom>
          <a:ln w="0">
            <a:noFill/>
          </a:ln>
        </p:spPr>
      </p:sp>
      <p:sp>
        <p:nvSpPr>
          <p:cNvPr id="329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Los 50 mA son el dato que hay que retener. Un relé industrial pequeño consume del orden de 20-40 mA, así que está en el límite; conviene elegir relés de bajo consumo o interponer una tarjeta de acondicionamiento.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Un error clásico es conectar una lámpara de señalización directamente a la salida de alarma: consume más de lo admisible y acaba destruyendo la salida.</a:t>
            </a:r>
            <a:endParaRPr b="0" lang="en-US" sz="2000" spc="-1" strike="noStrike">
              <a:solidFill>
                <a:srgbClr val="000000"/>
              </a:solidFill>
              <a:latin typeface="Arial"/>
            </a:endParaRPr>
          </a:p>
        </p:txBody>
      </p:sp>
      <p:sp>
        <p:nvSpPr>
          <p:cNvPr id="3292" name="PlaceHolder 3"/>
          <p:cNvSpPr>
            <a:spLocks noGrp="1"/>
          </p:cNvSpPr>
          <p:nvPr>
            <p:ph type="sldNum" idx="11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CB4EA3C-2204-474C-9B05-43E0BFCBE7B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3" name="PlaceHolder 1"/>
          <p:cNvSpPr>
            <a:spLocks noGrp="1"/>
          </p:cNvSpPr>
          <p:nvPr>
            <p:ph type="sldImg"/>
          </p:nvPr>
        </p:nvSpPr>
        <p:spPr>
          <a:xfrm>
            <a:off x="1143000" y="685800"/>
            <a:ext cx="4571640" cy="3428640"/>
          </a:xfrm>
          <a:prstGeom prst="rect">
            <a:avLst/>
          </a:prstGeom>
          <a:ln w="0">
            <a:noFill/>
          </a:ln>
        </p:spPr>
      </p:sp>
      <p:sp>
        <p:nvSpPr>
          <p:cNvPr id="329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La figura del manual muestra dos casos: la conexión desde un convertidor D/A del controlador y el ejemplo de cableado para marcha en un solo sentido con una fuente de 12 V y resistencias.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dato de 30 kΩ de impedancia importa cuando el controlador tiene una salida de baja capacidad o cuando se usan divisores resistivos.</a:t>
            </a:r>
            <a:endParaRPr b="0" lang="en-US" sz="2000" spc="-1" strike="noStrike">
              <a:solidFill>
                <a:srgbClr val="000000"/>
              </a:solidFill>
              <a:latin typeface="Arial"/>
            </a:endParaRPr>
          </a:p>
        </p:txBody>
      </p:sp>
      <p:sp>
        <p:nvSpPr>
          <p:cNvPr id="3295" name="PlaceHolder 3"/>
          <p:cNvSpPr>
            <a:spLocks noGrp="1"/>
          </p:cNvSpPr>
          <p:nvPr>
            <p:ph type="sldNum" idx="11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D594DAB-DF0D-45BA-BBAE-346EDB7CF70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6" name="PlaceHolder 1"/>
          <p:cNvSpPr>
            <a:spLocks noGrp="1"/>
          </p:cNvSpPr>
          <p:nvPr>
            <p:ph type="sldImg"/>
          </p:nvPr>
        </p:nvSpPr>
        <p:spPr>
          <a:xfrm>
            <a:off x="1143000" y="685800"/>
            <a:ext cx="4571640" cy="3428640"/>
          </a:xfrm>
          <a:prstGeom prst="rect">
            <a:avLst/>
          </a:prstGeom>
          <a:ln w="0">
            <a:noFill/>
          </a:ln>
        </p:spPr>
      </p:sp>
      <p:sp>
        <p:nvSpPr>
          <p:cNvPr id="329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Comente la diferencia entre parada de sobrerrecorrido y parada de emergencia: la primera es una función del drive, la segunda es una función de seguridad de la máquina que debe resolverse con la cadena de seguridad (Módulo 10).</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Detalle importante en ejes verticales: si al detectar sobrerrecorrido el eje queda libre, la carga cae. Hay que configurar la parada con enclavamiento y coordinar con el freno de retención.</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Consejo de puesta en marcha: pruebe físicamente los finales de carrera moviendo el eje a baja velocidad y accionándolos a mano antes de trabajar a velocidad nominal.</a:t>
            </a:r>
            <a:endParaRPr b="0" lang="en-US" sz="2000" spc="-1" strike="noStrike">
              <a:solidFill>
                <a:srgbClr val="000000"/>
              </a:solidFill>
              <a:latin typeface="Arial"/>
            </a:endParaRPr>
          </a:p>
        </p:txBody>
      </p:sp>
      <p:sp>
        <p:nvSpPr>
          <p:cNvPr id="3298" name="PlaceHolder 3"/>
          <p:cNvSpPr>
            <a:spLocks noGrp="1"/>
          </p:cNvSpPr>
          <p:nvPr>
            <p:ph type="sldNum" idx="11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4343E76-9EAF-4456-A446-B80E9A0C660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9" name="PlaceHolder 1"/>
          <p:cNvSpPr>
            <a:spLocks noGrp="1"/>
          </p:cNvSpPr>
          <p:nvPr>
            <p:ph type="sldImg"/>
          </p:nvPr>
        </p:nvSpPr>
        <p:spPr>
          <a:xfrm>
            <a:off x="1143000" y="685800"/>
            <a:ext cx="4571640" cy="3428640"/>
          </a:xfrm>
          <a:prstGeom prst="rect">
            <a:avLst/>
          </a:prstGeom>
          <a:ln w="0">
            <a:noFill/>
          </a:ln>
        </p:spPr>
      </p:sp>
      <p:sp>
        <p:nvSpPr>
          <p:cNvPr id="330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Aclare un malentendido habitual: aunque se use bus, la seguridad (CN8/HWBB) y normalmente los finales de carrera siguen siendo cableado físico. El bus transporta el mando, no la seguridad, salvo que se use una capa de seguridad certificada (FSoE).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Sobre los modos CiA 402: el que se usa en el 90 % de las máquinas es csp (cyclic synchronous position), en el que el maestro envía una posición objetivo cada ciclo de bus (típicamente 1-2 ms) y el drive interpola entre puntos. Toda la trayectoria la calcula el maestro.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Ventaja de mantenimiento poco valorada: con bus, los parámetros y el estado del drive son accesibles desde el PLC, lo que permite diagnóstico remoto y sustitución de equipo con recarga automática de parámetros.</a:t>
            </a:r>
            <a:endParaRPr b="0" lang="en-US" sz="2000" spc="-1" strike="noStrike">
              <a:solidFill>
                <a:srgbClr val="000000"/>
              </a:solidFill>
              <a:latin typeface="Arial"/>
            </a:endParaRPr>
          </a:p>
        </p:txBody>
      </p:sp>
      <p:sp>
        <p:nvSpPr>
          <p:cNvPr id="3301" name="PlaceHolder 3"/>
          <p:cNvSpPr>
            <a:spLocks noGrp="1"/>
          </p:cNvSpPr>
          <p:nvPr>
            <p:ph type="sldNum" idx="11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1F2BC83-09C8-4A6B-8879-648590CA658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2" name="PlaceHolder 1"/>
          <p:cNvSpPr>
            <a:spLocks noGrp="1"/>
          </p:cNvSpPr>
          <p:nvPr>
            <p:ph type="sldImg"/>
          </p:nvPr>
        </p:nvSpPr>
        <p:spPr>
          <a:xfrm>
            <a:off x="1143000" y="685800"/>
            <a:ext cx="4571640" cy="3428640"/>
          </a:xfrm>
          <a:prstGeom prst="rect">
            <a:avLst/>
          </a:prstGeom>
          <a:ln w="0">
            <a:noFill/>
          </a:ln>
        </p:spPr>
      </p:sp>
      <p:sp>
        <p:nvSpPr>
          <p:cNvPr id="330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Cierre el módulo con una recomendación clara: en proyecto nuevo, bus. En retrofit, analógica o pulsos, salvo que también se cambie el controlador.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Un aviso de coste: el bus reduce mucho el cableado y el tiempo de montaje, pero exige competencias de red industrial en el equipo de mantenimiento. Si la planta no las tiene, hay que formar antes de instalar; si no, el primer fallo de comunicación será un día de parada.</a:t>
            </a:r>
            <a:endParaRPr b="0" lang="en-US" sz="2000" spc="-1" strike="noStrike">
              <a:solidFill>
                <a:srgbClr val="000000"/>
              </a:solidFill>
              <a:latin typeface="Arial"/>
            </a:endParaRPr>
          </a:p>
        </p:txBody>
      </p:sp>
      <p:sp>
        <p:nvSpPr>
          <p:cNvPr id="3304" name="PlaceHolder 3"/>
          <p:cNvSpPr>
            <a:spLocks noGrp="1"/>
          </p:cNvSpPr>
          <p:nvPr>
            <p:ph type="sldNum" idx="11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4272D82-8F1F-4B20-B901-9E6B4A0DC56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5" name="PlaceHolder 1"/>
          <p:cNvSpPr>
            <a:spLocks noGrp="1"/>
          </p:cNvSpPr>
          <p:nvPr>
            <p:ph type="sldImg"/>
          </p:nvPr>
        </p:nvSpPr>
        <p:spPr>
          <a:xfrm>
            <a:off x="1143000" y="685800"/>
            <a:ext cx="4571640" cy="3428640"/>
          </a:xfrm>
          <a:prstGeom prst="rect">
            <a:avLst/>
          </a:prstGeom>
          <a:ln w="0">
            <a:noFill/>
          </a:ln>
        </p:spPr>
      </p:sp>
      <p:sp>
        <p:nvSpPr>
          <p:cNvPr id="330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A partir de aquí el curso se vuelve práctico con el equipo. Si dispone de un drive, mantenga este módulo con el equipo encendido y el PC conectado.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Regla que hay que establecer desde el principio: antes de tocar nada, guardar una copia de la configuración actual. Siempre.</a:t>
            </a:r>
            <a:endParaRPr b="0" lang="en-US" sz="2000" spc="-1" strike="noStrike">
              <a:solidFill>
                <a:srgbClr val="000000"/>
              </a:solidFill>
              <a:latin typeface="Arial"/>
            </a:endParaRPr>
          </a:p>
        </p:txBody>
      </p:sp>
      <p:sp>
        <p:nvSpPr>
          <p:cNvPr id="3307" name="PlaceHolder 3"/>
          <p:cNvSpPr>
            <a:spLocks noGrp="1"/>
          </p:cNvSpPr>
          <p:nvPr>
            <p:ph type="sldNum" idx="12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E09E2E6-563F-4B23-A77F-AE322FFF645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08" name="PlaceHolder 1"/>
          <p:cNvSpPr>
            <a:spLocks noGrp="1"/>
          </p:cNvSpPr>
          <p:nvPr>
            <p:ph type="sldImg"/>
          </p:nvPr>
        </p:nvSpPr>
        <p:spPr>
          <a:xfrm>
            <a:off x="1143000" y="685800"/>
            <a:ext cx="4571640" cy="3428640"/>
          </a:xfrm>
          <a:prstGeom prst="rect">
            <a:avLst/>
          </a:prstGeom>
          <a:ln w="0">
            <a:noFill/>
          </a:ln>
        </p:spPr>
      </p:sp>
      <p:sp>
        <p:nvSpPr>
          <p:cNvPr id="330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Enseñe a interpretar el display en el equipo real. Al energizar, el drive muestra su estado; ante un fallo, el código de alarma con el formato A.xxx.</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 navegación por el panel sigue siempre el mismo patrón: se elige la familia de función (parámetros, monitores, funciones de utilidad), se navega hasta el número deseado, se entra en el valor, se modifica y se confirma.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panel es suficiente para diagnóstico y para cambios puntuales, pero para sintonizar o para cargar una configuración completa hay que usar SigmaWin+. Nadie sintoniza un eje con cinco dígitos y cuatro teclas.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Detalle útil: el punto decimal parpadeante en algunos dígitos indica estados concretos (por ejemplo, que el valor mostrado está pendiente de confirmación). Consulte la leyenda del manual.</a:t>
            </a:r>
            <a:endParaRPr b="0" lang="en-US" sz="2000" spc="-1" strike="noStrike">
              <a:solidFill>
                <a:srgbClr val="000000"/>
              </a:solidFill>
              <a:latin typeface="Arial"/>
            </a:endParaRPr>
          </a:p>
        </p:txBody>
      </p:sp>
      <p:sp>
        <p:nvSpPr>
          <p:cNvPr id="3310" name="PlaceHolder 3"/>
          <p:cNvSpPr>
            <a:spLocks noGrp="1"/>
          </p:cNvSpPr>
          <p:nvPr>
            <p:ph type="sldNum" idx="12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6B41914-782F-4F67-A0D1-EF440862B87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11" name="PlaceHolder 1"/>
          <p:cNvSpPr>
            <a:spLocks noGrp="1"/>
          </p:cNvSpPr>
          <p:nvPr>
            <p:ph type="sldImg"/>
          </p:nvPr>
        </p:nvSpPr>
        <p:spPr>
          <a:xfrm>
            <a:off x="1143000" y="685800"/>
            <a:ext cx="4571640" cy="3428640"/>
          </a:xfrm>
          <a:prstGeom prst="rect">
            <a:avLst/>
          </a:prstGeom>
          <a:ln w="0">
            <a:noFill/>
          </a:ln>
        </p:spPr>
      </p:sp>
      <p:sp>
        <p:nvSpPr>
          <p:cNvPr id="331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Truco didáctico: pida a los alumnos que asocien cada familia con un verbo. Pn = configurar. Fn = hacer. Un = mirar.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Los monitores Un son la herramienta de diagnóstico más rápida que existe: sin PC, sin cables, directamente en el display. Un005 y Un006 (estado de entradas y salidas) resuelven en 30 segundos la pregunta '¿le está llegando la señal de servo ON o no?'.</a:t>
            </a:r>
            <a:endParaRPr b="0" lang="en-US" sz="2000" spc="-1" strike="noStrike">
              <a:solidFill>
                <a:srgbClr val="000000"/>
              </a:solidFill>
              <a:latin typeface="Arial"/>
            </a:endParaRPr>
          </a:p>
        </p:txBody>
      </p:sp>
      <p:sp>
        <p:nvSpPr>
          <p:cNvPr id="3313" name="PlaceHolder 3"/>
          <p:cNvSpPr>
            <a:spLocks noGrp="1"/>
          </p:cNvSpPr>
          <p:nvPr>
            <p:ph type="sldNum" idx="12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50CB764-3B5B-4546-9EC4-DCDEC44505D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14" name="PlaceHolder 1"/>
          <p:cNvSpPr>
            <a:spLocks noGrp="1"/>
          </p:cNvSpPr>
          <p:nvPr>
            <p:ph type="sldImg"/>
          </p:nvPr>
        </p:nvSpPr>
        <p:spPr>
          <a:xfrm>
            <a:off x="1143000" y="685800"/>
            <a:ext cx="4571640" cy="3428640"/>
          </a:xfrm>
          <a:prstGeom prst="rect">
            <a:avLst/>
          </a:prstGeom>
          <a:ln w="0">
            <a:noFill/>
          </a:ln>
        </p:spPr>
      </p:sp>
      <p:sp>
        <p:nvSpPr>
          <p:cNvPr id="331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paso 5 es el más importante desde el punto de vista metodológico. En sintonización, cambiar varias cosas a la vez es la forma más rápida de perderse.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Sobre los avisos de reinicio: es una fuente de confusión clásica. El técnico cambia el parámetro, prueba, no ve diferencia, y concluye que el parámetro 'no hace nada'. En realidad hacía falta un ciclo de alimentación.</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Recomiende una convención de nombres para los ficheros de parámetros: MAQUINA_EJE_FECHA_motivo.  Por ejemplo: LINEA3_EJEX_20240115_ajuste_ganancias.</a:t>
            </a:r>
            <a:endParaRPr b="0" lang="en-US" sz="2000" spc="-1" strike="noStrike">
              <a:solidFill>
                <a:srgbClr val="000000"/>
              </a:solidFill>
              <a:latin typeface="Arial"/>
            </a:endParaRPr>
          </a:p>
        </p:txBody>
      </p:sp>
      <p:sp>
        <p:nvSpPr>
          <p:cNvPr id="3316" name="PlaceHolder 3"/>
          <p:cNvSpPr>
            <a:spLocks noGrp="1"/>
          </p:cNvSpPr>
          <p:nvPr>
            <p:ph type="sldNum" idx="12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3F99B10-A72C-40D2-9FB3-59B10B64F8E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17" name="PlaceHolder 1"/>
          <p:cNvSpPr>
            <a:spLocks noGrp="1"/>
          </p:cNvSpPr>
          <p:nvPr>
            <p:ph type="sldImg"/>
          </p:nvPr>
        </p:nvSpPr>
        <p:spPr>
          <a:xfrm>
            <a:off x="1143000" y="685800"/>
            <a:ext cx="4571640" cy="3428640"/>
          </a:xfrm>
          <a:prstGeom prst="rect">
            <a:avLst/>
          </a:prstGeom>
          <a:ln w="0">
            <a:noFill/>
          </a:ln>
        </p:spPr>
      </p:sp>
      <p:sp>
        <p:nvSpPr>
          <p:cNvPr id="331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Insista en la función de traza: es lo que separa el ajuste 'por oído' del ajuste con criterio. Ver el error de seguimiento en función del tiempo, superpuesto al perfil de velocidad, permite decidir con datos qué ganancia tocar.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modo offline es un argumento de venta interno muy potente: permite que un ingeniero prepare toda la configuración desde la oficina y que la puesta en marcha en cliente se reduzca a volcar y verificar.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Comente que el SGDXS (Σ-X) se trabaja con **SigmaWin+ Ver.7**. La versión 5 es otra generación de interfaz: no la mezcle en el aula. Descargue siempre la última versión compatible desde la web de YASKAWA.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Las láminas siguientes son capturas oficiales de SigmaWin+ Ver.7 tomadas del manual SIEP C710812 03I. El aspecto puede variar ligeramente según la revisión del software, pero los bloques del menú y el flujo son los mismos.</a:t>
            </a:r>
            <a:endParaRPr b="0" lang="en-US" sz="2000" spc="-1" strike="noStrike">
              <a:solidFill>
                <a:srgbClr val="000000"/>
              </a:solidFill>
              <a:latin typeface="Arial"/>
            </a:endParaRPr>
          </a:p>
        </p:txBody>
      </p:sp>
      <p:sp>
        <p:nvSpPr>
          <p:cNvPr id="3319" name="PlaceHolder 3"/>
          <p:cNvSpPr>
            <a:spLocks noGrp="1"/>
          </p:cNvSpPr>
          <p:nvPr>
            <p:ph type="sldNum" idx="12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A7B4416-8EA8-42EF-AE36-76E8312F568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0" name="PlaceHolder 1"/>
          <p:cNvSpPr>
            <a:spLocks noGrp="1"/>
          </p:cNvSpPr>
          <p:nvPr>
            <p:ph type="sldImg"/>
          </p:nvPr>
        </p:nvSpPr>
        <p:spPr>
          <a:xfrm>
            <a:off x="1143000" y="685800"/>
            <a:ext cx="4571640" cy="3428640"/>
          </a:xfrm>
          <a:prstGeom prst="rect">
            <a:avLst/>
          </a:prstGeom>
          <a:ln w="0">
            <a:noFill/>
          </a:ln>
        </p:spPr>
      </p:sp>
      <p:sp>
        <p:nvSpPr>
          <p:cNvPr id="332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La figura del operador digital es textual en el manual: el mensaje importante es usar el cable original y el conector correcto.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CN7 es USB; CN3 es el operador. No se intercambian.</a:t>
            </a:r>
            <a:endParaRPr b="0" lang="en-US" sz="2000" spc="-1" strike="noStrike">
              <a:solidFill>
                <a:srgbClr val="000000"/>
              </a:solidFill>
              <a:latin typeface="Arial"/>
            </a:endParaRPr>
          </a:p>
        </p:txBody>
      </p:sp>
      <p:sp>
        <p:nvSpPr>
          <p:cNvPr id="3322" name="PlaceHolder 3"/>
          <p:cNvSpPr>
            <a:spLocks noGrp="1"/>
          </p:cNvSpPr>
          <p:nvPr>
            <p:ph type="sldNum" idx="12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7014E77-4051-438E-8A87-2E22D7D5F20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3" name="PlaceHolder 1"/>
          <p:cNvSpPr>
            <a:spLocks noGrp="1"/>
          </p:cNvSpPr>
          <p:nvPr>
            <p:ph type="sldImg"/>
          </p:nvPr>
        </p:nvSpPr>
        <p:spPr>
          <a:xfrm>
            <a:off x="1143000" y="685800"/>
            <a:ext cx="4571640" cy="3428640"/>
          </a:xfrm>
          <a:prstGeom prst="rect">
            <a:avLst/>
          </a:prstGeom>
          <a:ln w="0">
            <a:noFill/>
          </a:ln>
        </p:spPr>
      </p:sp>
      <p:sp>
        <p:nvSpPr>
          <p:cNvPr id="332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Esta es la lámina de orientación. El alumno debe poder señalar, sin pensar, en qué bloque está cada tarea.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Truco de aula: pida nueve voluntarios y asigne un bloque a cada uno. Luego lance situaciones ('el eje no gira', 'quiero ver el error de seguimiento', 'hay una alarma A.720') y que el grupo diga el bloque.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HBB encendido = el CN8 está abriendo el HWBB: el eje no dará par aunque todo lo demás esté bien. Es el primer LED que hay que mirar.</a:t>
            </a:r>
            <a:endParaRPr b="0" lang="en-US" sz="2000" spc="-1" strike="noStrike">
              <a:solidFill>
                <a:srgbClr val="000000"/>
              </a:solidFill>
              <a:latin typeface="Arial"/>
            </a:endParaRPr>
          </a:p>
        </p:txBody>
      </p:sp>
      <p:sp>
        <p:nvSpPr>
          <p:cNvPr id="3325" name="PlaceHolder 3"/>
          <p:cNvSpPr>
            <a:spLocks noGrp="1"/>
          </p:cNvSpPr>
          <p:nvPr>
            <p:ph type="sldNum" idx="12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664001C-CE23-4B17-9363-FB2C207A2A9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6" name="PlaceHolder 1"/>
          <p:cNvSpPr>
            <a:spLocks noGrp="1"/>
          </p:cNvSpPr>
          <p:nvPr>
            <p:ph type="sldImg"/>
          </p:nvPr>
        </p:nvSpPr>
        <p:spPr>
          <a:xfrm>
            <a:off x="1143000" y="685800"/>
            <a:ext cx="4571640" cy="3428640"/>
          </a:xfrm>
          <a:prstGeom prst="rect">
            <a:avLst/>
          </a:prstGeom>
          <a:ln w="0">
            <a:noFill/>
          </a:ln>
        </p:spPr>
      </p:sp>
      <p:sp>
        <p:nvSpPr>
          <p:cNvPr id="332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Haga este flujo en el banco, en voz alta, la primera vez. Luego pida a cada alumno que lo repita solo.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Sobre el driver USB: si el PC no ve el drive, no es un problema de SigmaWin+, es de Windows. Compruebe el Administrador de dispositivos antes de reinstalar el software.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Modo offline: se puede preparar un proyecto sin drive (útil en oficina). Al llegar a planta se conecta y se vuelca. No sustituye la copia 'como llegó' del equipo real.</a:t>
            </a:r>
            <a:endParaRPr b="0" lang="en-US" sz="2000" spc="-1" strike="noStrike">
              <a:solidFill>
                <a:srgbClr val="000000"/>
              </a:solidFill>
              <a:latin typeface="Arial"/>
            </a:endParaRPr>
          </a:p>
        </p:txBody>
      </p:sp>
      <p:sp>
        <p:nvSpPr>
          <p:cNvPr id="3328" name="PlaceHolder 3"/>
          <p:cNvSpPr>
            <a:spLocks noGrp="1"/>
          </p:cNvSpPr>
          <p:nvPr>
            <p:ph type="sldNum" idx="12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FCF95DC-466C-44DE-B97E-EF1B68999CC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9" name="PlaceHolder 1"/>
          <p:cNvSpPr>
            <a:spLocks noGrp="1"/>
          </p:cNvSpPr>
          <p:nvPr>
            <p:ph type="sldImg"/>
          </p:nvPr>
        </p:nvSpPr>
        <p:spPr>
          <a:xfrm>
            <a:off x="1143000" y="685800"/>
            <a:ext cx="4571640" cy="3428640"/>
          </a:xfrm>
          <a:prstGeom prst="rect">
            <a:avLst/>
          </a:prstGeom>
          <a:ln w="0">
            <a:noFill/>
          </a:ln>
        </p:spPr>
      </p:sp>
      <p:sp>
        <p:nvSpPr>
          <p:cNvPr id="333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Demuestre en vivo el ciclo verde → Write → blanco. Es el gesto que hay que automatizar.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Compare con el panel: en el display no ves el nombre, ni el rango, ni las unidades. Por eso se edita mal y se confirma peor.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Edited Parameters vs All Parameters: lo normal es escribir sólo lo cambiado. All Parameters se usa al clonar un eje o al restaurar un fichero completo.</a:t>
            </a:r>
            <a:endParaRPr b="0" lang="en-US" sz="2000" spc="-1" strike="noStrike">
              <a:solidFill>
                <a:srgbClr val="000000"/>
              </a:solidFill>
              <a:latin typeface="Arial"/>
            </a:endParaRPr>
          </a:p>
        </p:txBody>
      </p:sp>
      <p:sp>
        <p:nvSpPr>
          <p:cNvPr id="3331" name="PlaceHolder 3"/>
          <p:cNvSpPr>
            <a:spLocks noGrp="1"/>
          </p:cNvSpPr>
          <p:nvPr>
            <p:ph type="sldNum" idx="12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9E7E536-F891-4553-8647-108DB6B0714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2" name="PlaceHolder 1"/>
          <p:cNvSpPr>
            <a:spLocks noGrp="1"/>
          </p:cNvSpPr>
          <p:nvPr>
            <p:ph type="sldImg"/>
          </p:nvPr>
        </p:nvSpPr>
        <p:spPr>
          <a:xfrm>
            <a:off x="1143000" y="685800"/>
            <a:ext cx="4571640" cy="3428640"/>
          </a:xfrm>
          <a:prstGeom prst="rect">
            <a:avLst/>
          </a:prstGeom>
          <a:ln w="0">
            <a:noFill/>
          </a:ln>
        </p:spPr>
      </p:sp>
      <p:sp>
        <p:nvSpPr>
          <p:cNvPr id="333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JOG es la prueba de que potencia, encoder y motor están bien. Si el motor no gira aquí, no tiene sentido pasar al PLC.</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Insista en el 'dead-man': sólo se mueve mientras se mantiene el botón. Eso evita que un clic accidental deje el eje lanzado.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Pn304 a 500 min⁻¹ como en la captura del manual es demasiado para un primer arranque didáctico. Bájelo.</a:t>
            </a:r>
            <a:endParaRPr b="0" lang="en-US" sz="2000" spc="-1" strike="noStrike">
              <a:solidFill>
                <a:srgbClr val="000000"/>
              </a:solidFill>
              <a:latin typeface="Arial"/>
            </a:endParaRPr>
          </a:p>
        </p:txBody>
      </p:sp>
      <p:sp>
        <p:nvSpPr>
          <p:cNvPr id="3334" name="PlaceHolder 3"/>
          <p:cNvSpPr>
            <a:spLocks noGrp="1"/>
          </p:cNvSpPr>
          <p:nvPr>
            <p:ph type="sldNum" idx="12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77D7198-4340-437A-9B92-ABDC5D5A22D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5" name="PlaceHolder 1"/>
          <p:cNvSpPr>
            <a:spLocks noGrp="1"/>
          </p:cNvSpPr>
          <p:nvPr>
            <p:ph type="sldImg"/>
          </p:nvPr>
        </p:nvSpPr>
        <p:spPr>
          <a:xfrm>
            <a:off x="1143000" y="685800"/>
            <a:ext cx="4571640" cy="3428640"/>
          </a:xfrm>
          <a:prstGeom prst="rect">
            <a:avLst/>
          </a:prstGeom>
          <a:ln w="0">
            <a:noFill/>
          </a:ln>
        </p:spPr>
      </p:sp>
      <p:sp>
        <p:nvSpPr>
          <p:cNvPr id="333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Rutina de tres pestañas: Operation (¿qué hace el eje?), Status (¿está listo?) e I/O (¿le llegan las señales?).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A.810 es un ejemplo didáctico excelente: mucha gente busca un fallo de sintonización y es la pila del encoder absoluto.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Compare con Un005/Un006 del panel: misma información, menos cómoda.</a:t>
            </a:r>
            <a:endParaRPr b="0" lang="en-US" sz="2000" spc="-1" strike="noStrike">
              <a:solidFill>
                <a:srgbClr val="000000"/>
              </a:solidFill>
              <a:latin typeface="Arial"/>
            </a:endParaRPr>
          </a:p>
        </p:txBody>
      </p:sp>
      <p:sp>
        <p:nvSpPr>
          <p:cNvPr id="3337" name="PlaceHolder 3"/>
          <p:cNvSpPr>
            <a:spLocks noGrp="1"/>
          </p:cNvSpPr>
          <p:nvPr>
            <p:ph type="sldNum" idx="13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0ACE771-D4EB-4AF2-A421-9C271F74B92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38" name="PlaceHolder 1"/>
          <p:cNvSpPr>
            <a:spLocks noGrp="1"/>
          </p:cNvSpPr>
          <p:nvPr>
            <p:ph type="sldImg"/>
          </p:nvPr>
        </p:nvSpPr>
        <p:spPr>
          <a:xfrm>
            <a:off x="1143000" y="685800"/>
            <a:ext cx="4571640" cy="3428640"/>
          </a:xfrm>
          <a:prstGeom prst="rect">
            <a:avLst/>
          </a:prstGeom>
          <a:ln w="0">
            <a:noFill/>
          </a:ln>
        </p:spPr>
      </p:sp>
      <p:sp>
        <p:nvSpPr>
          <p:cNvPr id="333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Esta es la herramienta que separa al técnico que 'o ye el eje' del que decide con datos. Dedíquele tiempo de práctica.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Ejercicio: capture un posicionamiento, identifique sobrepaso, tiempo de establecimiento y par de punta. Luego suba Pn102 un 20 % y repita. La comparación enseña más que diez láminas.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Real Time Trace es la versión continua; Trace es la de disparo, más útil para un ciclo concreto.</a:t>
            </a:r>
            <a:endParaRPr b="0" lang="en-US" sz="2000" spc="-1" strike="noStrike">
              <a:solidFill>
                <a:srgbClr val="000000"/>
              </a:solidFill>
              <a:latin typeface="Arial"/>
            </a:endParaRPr>
          </a:p>
        </p:txBody>
      </p:sp>
      <p:sp>
        <p:nvSpPr>
          <p:cNvPr id="3340" name="PlaceHolder 3"/>
          <p:cNvSpPr>
            <a:spLocks noGrp="1"/>
          </p:cNvSpPr>
          <p:nvPr>
            <p:ph type="sldNum" idx="13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CFC6C48-7E74-4992-8D60-62CBF5EF3C9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1" name="PlaceHolder 1"/>
          <p:cNvSpPr>
            <a:spLocks noGrp="1"/>
          </p:cNvSpPr>
          <p:nvPr>
            <p:ph type="sldImg"/>
          </p:nvPr>
        </p:nvSpPr>
        <p:spPr>
          <a:xfrm>
            <a:off x="1143000" y="685800"/>
            <a:ext cx="4571640" cy="3428640"/>
          </a:xfrm>
          <a:prstGeom prst="rect">
            <a:avLst/>
          </a:prstGeom>
          <a:ln w="0">
            <a:noFill/>
          </a:ln>
        </p:spPr>
      </p:sp>
      <p:sp>
        <p:nvSpPr>
          <p:cNvPr id="334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Muestre la tabla before/after: es la prueba de que el software no es 'magia', escribe Pn100, Pn101, Pn102, Pn103, filtros…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Después del autoajuste, verifique con el ciclo real y con la traza. Aceptar a ciegas el resultado es tan malo como no usarlo.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detalle de Pn103 (inercia) es el puente con el Módulo 04: compare el valor medido con el calculado.</a:t>
            </a:r>
            <a:endParaRPr b="0" lang="en-US" sz="2000" spc="-1" strike="noStrike">
              <a:solidFill>
                <a:srgbClr val="000000"/>
              </a:solidFill>
              <a:latin typeface="Arial"/>
            </a:endParaRPr>
          </a:p>
        </p:txBody>
      </p:sp>
      <p:sp>
        <p:nvSpPr>
          <p:cNvPr id="3343" name="PlaceHolder 3"/>
          <p:cNvSpPr>
            <a:spLocks noGrp="1"/>
          </p:cNvSpPr>
          <p:nvPr>
            <p:ph type="sldNum" idx="13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B3961A0-9D95-4F07-82E7-08DEB9485E2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4" name="PlaceHolder 1"/>
          <p:cNvSpPr>
            <a:spLocks noGrp="1"/>
          </p:cNvSpPr>
          <p:nvPr>
            <p:ph type="sldImg"/>
          </p:nvPr>
        </p:nvSpPr>
        <p:spPr>
          <a:xfrm>
            <a:off x="1143000" y="685800"/>
            <a:ext cx="4571640" cy="3428640"/>
          </a:xfrm>
          <a:prstGeom prst="rect">
            <a:avLst/>
          </a:prstGeom>
          <a:ln w="0">
            <a:noFill/>
          </a:ln>
        </p:spPr>
      </p:sp>
      <p:sp>
        <p:nvSpPr>
          <p:cNvPr id="334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Conecte esta lámina con el Módulo 09: notch, EasyFFT y análisis en frecuencia dejan de ser abstractos cuando se ve la gráfica.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Interpretación mínima: un pico de ganancia = la mecánica 'canta' a esa frecuencia. El notch la atenúa para poder subir ganancias sin que el eje silbe o oscile.</a:t>
            </a:r>
            <a:endParaRPr b="0" lang="en-US" sz="2000" spc="-1" strike="noStrike">
              <a:solidFill>
                <a:srgbClr val="000000"/>
              </a:solidFill>
              <a:latin typeface="Arial"/>
            </a:endParaRPr>
          </a:p>
        </p:txBody>
      </p:sp>
      <p:sp>
        <p:nvSpPr>
          <p:cNvPr id="3346" name="PlaceHolder 3"/>
          <p:cNvSpPr>
            <a:spLocks noGrp="1"/>
          </p:cNvSpPr>
          <p:nvPr>
            <p:ph type="sldNum" idx="13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507F2F0-9D58-4CDE-957C-FA5A5BAE53C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7" name="PlaceHolder 1"/>
          <p:cNvSpPr>
            <a:spLocks noGrp="1"/>
          </p:cNvSpPr>
          <p:nvPr>
            <p:ph type="sldImg"/>
          </p:nvPr>
        </p:nvSpPr>
        <p:spPr>
          <a:xfrm>
            <a:off x="1143000" y="685800"/>
            <a:ext cx="4571640" cy="3428640"/>
          </a:xfrm>
          <a:prstGeom prst="rect">
            <a:avLst/>
          </a:prstGeom>
          <a:ln w="0">
            <a:noFill/>
          </a:ln>
        </p:spPr>
      </p:sp>
      <p:sp>
        <p:nvSpPr>
          <p:cNvPr id="334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historial es oro en mantenimiento: '¿esto es nuevo o ya pasaba hace dos semanas?'. Enséñeles a no pulsar Clear por higiene.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Puente con el Módulo 11: el método de diagnóstico empieza siempre aquí, no en cambiar ganancias.</a:t>
            </a:r>
            <a:endParaRPr b="0" lang="en-US" sz="2000" spc="-1" strike="noStrike">
              <a:solidFill>
                <a:srgbClr val="000000"/>
              </a:solidFill>
              <a:latin typeface="Arial"/>
            </a:endParaRPr>
          </a:p>
        </p:txBody>
      </p:sp>
      <p:sp>
        <p:nvSpPr>
          <p:cNvPr id="3349" name="PlaceHolder 3"/>
          <p:cNvSpPr>
            <a:spLocks noGrp="1"/>
          </p:cNvSpPr>
          <p:nvPr>
            <p:ph type="sldNum" idx="13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E04D312-4DD6-498C-8784-A3F044C3674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50" name="PlaceHolder 1"/>
          <p:cNvSpPr>
            <a:spLocks noGrp="1"/>
          </p:cNvSpPr>
          <p:nvPr>
            <p:ph type="sldImg"/>
          </p:nvPr>
        </p:nvSpPr>
        <p:spPr>
          <a:xfrm>
            <a:off x="1143000" y="685800"/>
            <a:ext cx="4571640" cy="3428640"/>
          </a:xfrm>
          <a:prstGeom prst="rect">
            <a:avLst/>
          </a:prstGeom>
          <a:ln w="0">
            <a:noFill/>
          </a:ln>
        </p:spPr>
      </p:sp>
      <p:sp>
        <p:nvSpPr>
          <p:cNvPr id="335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Cierre del bloque de software con una chuleta. Imprímala y péguela en el maletín junto al cable USB.</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el panel frontal sigue siendo válido para JOG, Un y Fn cuando no hay PC. SigmaWin+ no sustituye el criterio; lo acelera.</a:t>
            </a:r>
            <a:endParaRPr b="0" lang="en-US" sz="2000" spc="-1" strike="noStrike">
              <a:solidFill>
                <a:srgbClr val="000000"/>
              </a:solidFill>
              <a:latin typeface="Arial"/>
            </a:endParaRPr>
          </a:p>
        </p:txBody>
      </p:sp>
      <p:sp>
        <p:nvSpPr>
          <p:cNvPr id="3352" name="PlaceHolder 3"/>
          <p:cNvSpPr>
            <a:spLocks noGrp="1"/>
          </p:cNvSpPr>
          <p:nvPr>
            <p:ph type="sldNum" idx="13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FBBD4F8-A396-4AA7-BA23-DB561F65592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53" name="PlaceHolder 1"/>
          <p:cNvSpPr>
            <a:spLocks noGrp="1"/>
          </p:cNvSpPr>
          <p:nvPr>
            <p:ph type="sldImg"/>
          </p:nvPr>
        </p:nvSpPr>
        <p:spPr>
          <a:xfrm>
            <a:off x="1143000" y="685800"/>
            <a:ext cx="4571640" cy="3428640"/>
          </a:xfrm>
          <a:prstGeom prst="rect">
            <a:avLst/>
          </a:prstGeom>
          <a:ln w="0">
            <a:noFill/>
          </a:ln>
        </p:spPr>
      </p:sp>
      <p:sp>
        <p:nvSpPr>
          <p:cNvPr id="335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CN5 es una herramienta poco conocida y muy valiosa. En ejes difíciles, ver la señal real en un osciloscopio sigue siendo insustituible.</a:t>
            </a:r>
            <a:endParaRPr b="0" lang="en-US" sz="2000" spc="-1" strike="noStrike">
              <a:solidFill>
                <a:srgbClr val="000000"/>
              </a:solidFill>
              <a:latin typeface="Arial"/>
            </a:endParaRPr>
          </a:p>
        </p:txBody>
      </p:sp>
      <p:sp>
        <p:nvSpPr>
          <p:cNvPr id="3355" name="PlaceHolder 3"/>
          <p:cNvSpPr>
            <a:spLocks noGrp="1"/>
          </p:cNvSpPr>
          <p:nvPr>
            <p:ph type="sldNum" idx="13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D80A592-53E8-4477-962C-634B03C9EDD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56" name="PlaceHolder 1"/>
          <p:cNvSpPr>
            <a:spLocks noGrp="1"/>
          </p:cNvSpPr>
          <p:nvPr>
            <p:ph type="sldImg"/>
          </p:nvPr>
        </p:nvSpPr>
        <p:spPr>
          <a:xfrm>
            <a:off x="1143000" y="685800"/>
            <a:ext cx="4571640" cy="3428640"/>
          </a:xfrm>
          <a:prstGeom prst="rect">
            <a:avLst/>
          </a:prstGeom>
          <a:ln w="0">
            <a:noFill/>
          </a:ln>
        </p:spPr>
      </p:sp>
      <p:sp>
        <p:nvSpPr>
          <p:cNvPr id="335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concepto genera muchas dudas, así que conviene explicarlo con una pregunta: ¿en qué unidades quieres programar la máquina? ¿En milímetros? ¿En micras? ¿En grados? El engranaje electrónico es lo que traduce esa unidad de referencia a cuentas del encoder.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Fórmula general: B/A = (resolución del encoder × relación de transmisión) / (unidades de referencia por vuelta del eje de carga).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Ejemplo del diagrama: encoder de 24 bits (16.777.216 cuentas/vuelta), husillo de 20 mm de paso, y queremos programar en micras. Una vuelta de motor son 20 mm = 20.000 micras. Luego B/A = 16.777.216 / 20.000.</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Dos advertencias:</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1) Si la fracción no es exacta, hay error de redondeo que se acumula. Elija unidades que den fracciones exactas siempre que pueda.</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2) Cambiar el engranaje cambia el significado de TODOS los parámetros expresados en unidades de referencia (Pn522, Pn520, velocidades de consigna). Hay que revisarlos después.</a:t>
            </a:r>
            <a:endParaRPr b="0" lang="en-US" sz="2000" spc="-1" strike="noStrike">
              <a:solidFill>
                <a:srgbClr val="000000"/>
              </a:solidFill>
              <a:latin typeface="Arial"/>
            </a:endParaRPr>
          </a:p>
        </p:txBody>
      </p:sp>
      <p:sp>
        <p:nvSpPr>
          <p:cNvPr id="3358" name="PlaceHolder 3"/>
          <p:cNvSpPr>
            <a:spLocks noGrp="1"/>
          </p:cNvSpPr>
          <p:nvPr>
            <p:ph type="sldNum" idx="13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EB9F3DC-DCF3-464C-BBC5-25288769586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59" name="PlaceHolder 1"/>
          <p:cNvSpPr>
            <a:spLocks noGrp="1"/>
          </p:cNvSpPr>
          <p:nvPr>
            <p:ph type="sldImg"/>
          </p:nvPr>
        </p:nvSpPr>
        <p:spPr>
          <a:xfrm>
            <a:off x="1143000" y="685800"/>
            <a:ext cx="4571640" cy="3428640"/>
          </a:xfrm>
          <a:prstGeom prst="rect">
            <a:avLst/>
          </a:prstGeom>
          <a:ln w="0">
            <a:noFill/>
          </a:ln>
        </p:spPr>
      </p:sp>
      <p:sp>
        <p:nvSpPr>
          <p:cNvPr id="336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caso de la mesa rotativa merece atención: si la fracción no es exacta, el error se acumula vuelta tras vuelta y al cabo de miles de posicionados la mesa se ha 'ido'. En ejes rotativos infinitos hay que elegir la unidad de referencia de modo que la fracción sea exacta, o usar la función de límite multivuelta coherente con la relación de transmisión.</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Comprobación práctica infalible tras configurar el engranaje: ordena un movimiento de 100 mm (o de 100 unidades conocidas) y **mídelo con un metro o un comparador**. Si no coincide, el engranaje está mal. Esta comprobación de 2 minutos evita fallos que aparecerían meses después.</a:t>
            </a:r>
            <a:endParaRPr b="0" lang="en-US" sz="2000" spc="-1" strike="noStrike">
              <a:solidFill>
                <a:srgbClr val="000000"/>
              </a:solidFill>
              <a:latin typeface="Arial"/>
            </a:endParaRPr>
          </a:p>
        </p:txBody>
      </p:sp>
      <p:sp>
        <p:nvSpPr>
          <p:cNvPr id="3361" name="PlaceHolder 3"/>
          <p:cNvSpPr>
            <a:spLocks noGrp="1"/>
          </p:cNvSpPr>
          <p:nvPr>
            <p:ph type="sldNum" idx="13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B51AA7A-2E5A-4868-BA9C-171DEC007ED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2" name="PlaceHolder 1"/>
          <p:cNvSpPr>
            <a:spLocks noGrp="1"/>
          </p:cNvSpPr>
          <p:nvPr>
            <p:ph type="sldImg"/>
          </p:nvPr>
        </p:nvSpPr>
        <p:spPr>
          <a:xfrm>
            <a:off x="1143000" y="685800"/>
            <a:ext cx="4571640" cy="3428640"/>
          </a:xfrm>
          <a:prstGeom prst="rect">
            <a:avLst/>
          </a:prstGeom>
          <a:ln w="0">
            <a:noFill/>
          </a:ln>
        </p:spPr>
      </p:sp>
      <p:sp>
        <p:nvSpPr>
          <p:cNvPr id="336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Pn000.0 merece un comentario: cambiar el sentido de giro por parámetro es lo correcto. Intercambiar dos fases del motor 'para que gire al revés' es un error grave: el encoder sigue indicando el sentido original, la realimentación queda invertida y el eje se embala o dispara alarma.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Pn520 es el guardián de la mecánica: si el eje no puede seguir la consigna (choque, atasco, dimensionamiento insuficiente), esta alarma detiene el movimiento antes de romper algo. No lo suba sin entender por qué está saltando.</a:t>
            </a:r>
            <a:endParaRPr b="0" lang="en-US" sz="2000" spc="-1" strike="noStrike">
              <a:solidFill>
                <a:srgbClr val="000000"/>
              </a:solidFill>
              <a:latin typeface="Arial"/>
            </a:endParaRPr>
          </a:p>
        </p:txBody>
      </p:sp>
      <p:sp>
        <p:nvSpPr>
          <p:cNvPr id="3364" name="PlaceHolder 3"/>
          <p:cNvSpPr>
            <a:spLocks noGrp="1"/>
          </p:cNvSpPr>
          <p:nvPr>
            <p:ph type="sldNum" idx="13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C6DA0B7-B1F8-4B10-A827-415B20582E9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5" name="PlaceHolder 1"/>
          <p:cNvSpPr>
            <a:spLocks noGrp="1"/>
          </p:cNvSpPr>
          <p:nvPr>
            <p:ph type="sldImg"/>
          </p:nvPr>
        </p:nvSpPr>
        <p:spPr>
          <a:xfrm>
            <a:off x="1143000" y="685800"/>
            <a:ext cx="4571640" cy="3428640"/>
          </a:xfrm>
          <a:prstGeom prst="rect">
            <a:avLst/>
          </a:prstGeom>
          <a:ln w="0">
            <a:noFill/>
          </a:ln>
        </p:spPr>
      </p:sp>
      <p:sp>
        <p:nvSpPr>
          <p:cNvPr id="336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No entre en detalle aquí: es un mapa, no el territorio. Basta con que el alumno sepa que existe un conjunto reducido de parámetros que resuelve el 95 % de los casos.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Mensaje importante: el manual tiene cientos de parámetros, pero en la práctica un especialista toca habitualmente unos veinte. Eso tranquiliza mucho a quien empieza.</a:t>
            </a:r>
            <a:endParaRPr b="0" lang="en-US" sz="2000" spc="-1" strike="noStrike">
              <a:solidFill>
                <a:srgbClr val="000000"/>
              </a:solidFill>
              <a:latin typeface="Arial"/>
            </a:endParaRPr>
          </a:p>
        </p:txBody>
      </p:sp>
      <p:sp>
        <p:nvSpPr>
          <p:cNvPr id="3367" name="PlaceHolder 3"/>
          <p:cNvSpPr>
            <a:spLocks noGrp="1"/>
          </p:cNvSpPr>
          <p:nvPr>
            <p:ph type="sldNum" idx="14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A51AA32-C8AE-4928-BC91-3F946F60736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8" name="PlaceHolder 1"/>
          <p:cNvSpPr>
            <a:spLocks noGrp="1"/>
          </p:cNvSpPr>
          <p:nvPr>
            <p:ph type="sldImg"/>
          </p:nvPr>
        </p:nvSpPr>
        <p:spPr>
          <a:xfrm>
            <a:off x="1143000" y="685800"/>
            <a:ext cx="4571640" cy="3428640"/>
          </a:xfrm>
          <a:prstGeom prst="rect">
            <a:avLst/>
          </a:prstGeom>
          <a:ln w="0">
            <a:noFill/>
          </a:ln>
        </p:spPr>
      </p:sp>
      <p:sp>
        <p:nvSpPr>
          <p:cNvPr id="336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Enseñe la rutina de diagnóstico en tres monitores: Un005 (¿llegan las señales?), Un002 (¿cuánto par está pidiendo?) y Un008 (¿está siguiendo la consigna?). Con esos tres se descarta el 70 % de las causas en cinco minutos.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Un002 tiene un valor especial para el ingeniero: permite comparar el par real con el calculado en el Módulo 04. Si el eje pide un 90 % de par donde el cálculo decía 47 %, hay un problema mecánico que hay que resolver antes de que rompa algo.</a:t>
            </a:r>
            <a:endParaRPr b="0" lang="en-US" sz="2000" spc="-1" strike="noStrike">
              <a:solidFill>
                <a:srgbClr val="000000"/>
              </a:solidFill>
              <a:latin typeface="Arial"/>
            </a:endParaRPr>
          </a:p>
        </p:txBody>
      </p:sp>
      <p:sp>
        <p:nvSpPr>
          <p:cNvPr id="3370" name="PlaceHolder 3"/>
          <p:cNvSpPr>
            <a:spLocks noGrp="1"/>
          </p:cNvSpPr>
          <p:nvPr>
            <p:ph type="sldNum" idx="14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086AF44-27DA-48D2-BFBA-0D0468F0AF0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71" name="PlaceHolder 1"/>
          <p:cNvSpPr>
            <a:spLocks noGrp="1"/>
          </p:cNvSpPr>
          <p:nvPr>
            <p:ph type="sldImg"/>
          </p:nvPr>
        </p:nvSpPr>
        <p:spPr>
          <a:xfrm>
            <a:off x="1143000" y="685800"/>
            <a:ext cx="4571640" cy="3428640"/>
          </a:xfrm>
          <a:prstGeom prst="rect">
            <a:avLst/>
          </a:prstGeom>
          <a:ln w="0">
            <a:noFill/>
          </a:ln>
        </p:spPr>
      </p:sp>
      <p:sp>
        <p:nvSpPr>
          <p:cNvPr id="337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es el módulo donde conviene hablar de gestión: el mejor técnico del mundo no puede arreglar en una hora una máquina cuya configuración se perdió.</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Proponga un formato de etiqueta para pegar dentro del armario, junto al drive, con: modelo de drive, modelo de motor, versión de firmware, fecha de puesta en marcha, fecha del último cambio de batería y ruta del fichero de parámetros en el servidor.</a:t>
            </a:r>
            <a:endParaRPr b="0" lang="en-US" sz="2000" spc="-1" strike="noStrike">
              <a:solidFill>
                <a:srgbClr val="000000"/>
              </a:solidFill>
              <a:latin typeface="Arial"/>
            </a:endParaRPr>
          </a:p>
        </p:txBody>
      </p:sp>
      <p:sp>
        <p:nvSpPr>
          <p:cNvPr id="3373" name="PlaceHolder 3"/>
          <p:cNvSpPr>
            <a:spLocks noGrp="1"/>
          </p:cNvSpPr>
          <p:nvPr>
            <p:ph type="sldNum" idx="14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305744B-FCC3-4D8D-B3C9-61A9C8A5E96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74" name="PlaceHolder 1"/>
          <p:cNvSpPr>
            <a:spLocks noGrp="1"/>
          </p:cNvSpPr>
          <p:nvPr>
            <p:ph type="sldImg"/>
          </p:nvPr>
        </p:nvSpPr>
        <p:spPr>
          <a:xfrm>
            <a:off x="1143000" y="685800"/>
            <a:ext cx="4571640" cy="3428640"/>
          </a:xfrm>
          <a:prstGeom prst="rect">
            <a:avLst/>
          </a:prstGeom>
          <a:ln w="0">
            <a:noFill/>
          </a:ln>
        </p:spPr>
      </p:sp>
      <p:sp>
        <p:nvSpPr>
          <p:cNvPr id="337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es el módulo más práctico del curso. Si hay banco de pruebas, dedique la mayor parte del tiempo a ejecutar el procedimiento con los alumnos.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principio rector es 'aislar variables': se prueba primero el amplificador solo, después el motor sin carga, después con carga a baja velocidad, y sólo al final el ciclo completo. Cada fase debe superarse antes de pasar a la siguiente. Cuando algo falla, se sabe exactamente qué se acaba de cambiar.</a:t>
            </a:r>
            <a:endParaRPr b="0" lang="en-US" sz="2000" spc="-1" strike="noStrike">
              <a:solidFill>
                <a:srgbClr val="000000"/>
              </a:solidFill>
              <a:latin typeface="Arial"/>
            </a:endParaRPr>
          </a:p>
        </p:txBody>
      </p:sp>
      <p:sp>
        <p:nvSpPr>
          <p:cNvPr id="3376" name="PlaceHolder 3"/>
          <p:cNvSpPr>
            <a:spLocks noGrp="1"/>
          </p:cNvSpPr>
          <p:nvPr>
            <p:ph type="sldNum" idx="14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3AB6CCB1-0675-4AF3-AFFE-032B4E60402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77" name="PlaceHolder 1"/>
          <p:cNvSpPr>
            <a:spLocks noGrp="1"/>
          </p:cNvSpPr>
          <p:nvPr>
            <p:ph type="sldImg"/>
          </p:nvPr>
        </p:nvSpPr>
        <p:spPr>
          <a:xfrm>
            <a:off x="1143000" y="685800"/>
            <a:ext cx="4571640" cy="3428640"/>
          </a:xfrm>
          <a:prstGeom prst="rect">
            <a:avLst/>
          </a:prstGeom>
          <a:ln w="0">
            <a:noFill/>
          </a:ln>
        </p:spPr>
      </p:sp>
      <p:sp>
        <p:nvSpPr>
          <p:cNvPr id="337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Explique el principio de aislamiento de variables. Si se conecta todo y se arranca, cuando algo falla hay veinte causas posibles. Avanzando por fases, cuando algo falla sólo hay una: lo último que se ha cambiado.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Este método no es más lento; es mucho más rápido, porque el tiempo perdido en diagnóstico a ciegas siempre supera al tiempo invertido en hacer las cosas en orden.</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Insista en la fase 0: la verificación previa es la que evita destruir equipo. Cinco minutos con el multímetro antes de energizar.</a:t>
            </a:r>
            <a:endParaRPr b="0" lang="en-US" sz="2000" spc="-1" strike="noStrike">
              <a:solidFill>
                <a:srgbClr val="000000"/>
              </a:solidFill>
              <a:latin typeface="Arial"/>
            </a:endParaRPr>
          </a:p>
        </p:txBody>
      </p:sp>
      <p:sp>
        <p:nvSpPr>
          <p:cNvPr id="3379" name="PlaceHolder 3"/>
          <p:cNvSpPr>
            <a:spLocks noGrp="1"/>
          </p:cNvSpPr>
          <p:nvPr>
            <p:ph type="sldNum" idx="14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E089195-326C-4B2E-834E-BBBE2D1ED87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0" name="PlaceHolder 1"/>
          <p:cNvSpPr>
            <a:spLocks noGrp="1"/>
          </p:cNvSpPr>
          <p:nvPr>
            <p:ph type="sldImg"/>
          </p:nvPr>
        </p:nvSpPr>
        <p:spPr>
          <a:xfrm>
            <a:off x="1143000" y="685800"/>
            <a:ext cx="4571640" cy="3428640"/>
          </a:xfrm>
          <a:prstGeom prst="rect">
            <a:avLst/>
          </a:prstGeom>
          <a:ln w="0">
            <a:noFill/>
          </a:ln>
        </p:spPr>
      </p:sp>
      <p:sp>
        <p:nvSpPr>
          <p:cNvPr id="338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Insista en la primera línea: motor desacoplado. Si el sentido de giro está invertido o el engranaje electrónico mal calculado, un eje acoplado puede embalarse contra el tope mecánico en menos de un segundo.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 comprobación de Un005 es un truco muy útil que ahorra tiempo: en lugar de medir con el multímetro pin a pin, el drive te dice qué entradas ve activas.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el caso de CN8: si el puente de seguridad no está y el circuito HWBB no está cableado, /S-RDY no se activará o el eje no dará par sin alarma evidente.</a:t>
            </a:r>
            <a:endParaRPr b="0" lang="en-US" sz="2000" spc="-1" strike="noStrike">
              <a:solidFill>
                <a:srgbClr val="000000"/>
              </a:solidFill>
              <a:latin typeface="Arial"/>
            </a:endParaRPr>
          </a:p>
        </p:txBody>
      </p:sp>
      <p:sp>
        <p:nvSpPr>
          <p:cNvPr id="3382" name="PlaceHolder 3"/>
          <p:cNvSpPr>
            <a:spLocks noGrp="1"/>
          </p:cNvSpPr>
          <p:nvPr>
            <p:ph type="sldNum" idx="14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60D6D8D-DD5F-4408-9ED9-A38DBB2441D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3" name="PlaceHolder 1"/>
          <p:cNvSpPr>
            <a:spLocks noGrp="1"/>
          </p:cNvSpPr>
          <p:nvPr>
            <p:ph type="sldImg"/>
          </p:nvPr>
        </p:nvSpPr>
        <p:spPr>
          <a:xfrm>
            <a:off x="1143000" y="685800"/>
            <a:ext cx="4571640" cy="3428640"/>
          </a:xfrm>
          <a:prstGeom prst="rect">
            <a:avLst/>
          </a:prstGeom>
          <a:ln w="0">
            <a:noFill/>
          </a:ln>
        </p:spPr>
      </p:sp>
      <p:sp>
        <p:nvSpPr>
          <p:cNvPr id="338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La prueba de JOG es el mejor diagnóstico inicial que existe. Un motor que gira suave y silencioso en vacío, con par casi nulo, es un motor sano bien cableado.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Si el motor vibra o hace ruido en vacío, las causas más probables son: ganancias de fábrica demasiado altas para esa mecánica, problema en el cable de encoder, o fases mal conectadas.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Sobre el sentido de giro: la convención de YASKAWA es que el sentido positivo se ve antihorario mirando desde el lado del eje. Pn000.0 invierte esa convención sin tocar nada más del sistema.</a:t>
            </a:r>
            <a:endParaRPr b="0" lang="en-US" sz="2000" spc="-1" strike="noStrike">
              <a:solidFill>
                <a:srgbClr val="000000"/>
              </a:solidFill>
              <a:latin typeface="Arial"/>
            </a:endParaRPr>
          </a:p>
        </p:txBody>
      </p:sp>
      <p:sp>
        <p:nvSpPr>
          <p:cNvPr id="3385" name="PlaceHolder 3"/>
          <p:cNvSpPr>
            <a:spLocks noGrp="1"/>
          </p:cNvSpPr>
          <p:nvPr>
            <p:ph type="sldNum" idx="14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86A53FA-8418-409A-BB21-D092D6A0AAE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6" name="PlaceHolder 1"/>
          <p:cNvSpPr>
            <a:spLocks noGrp="1"/>
          </p:cNvSpPr>
          <p:nvPr>
            <p:ph type="sldImg"/>
          </p:nvPr>
        </p:nvSpPr>
        <p:spPr>
          <a:xfrm>
            <a:off x="1143000" y="685800"/>
            <a:ext cx="4571640" cy="3428640"/>
          </a:xfrm>
          <a:prstGeom prst="rect">
            <a:avLst/>
          </a:prstGeom>
          <a:ln w="0">
            <a:noFill/>
          </a:ln>
        </p:spPr>
      </p:sp>
      <p:sp>
        <p:nvSpPr>
          <p:cNvPr id="338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Ordene los pasos por dependencia: el engranaje electrónico debe estar antes que Pn520 y Pn522, porque estos últimos se expresan en unidades de referencia y su significado cambia con el engranaje.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 comprobación del engranaje midiendo un desplazamiento real es obligatoria y no admite atajos. Dos minutos aquí evitan semanas de desconcierto.</a:t>
            </a:r>
            <a:endParaRPr b="0" lang="en-US" sz="2000" spc="-1" strike="noStrike">
              <a:solidFill>
                <a:srgbClr val="000000"/>
              </a:solidFill>
              <a:latin typeface="Arial"/>
            </a:endParaRPr>
          </a:p>
        </p:txBody>
      </p:sp>
      <p:sp>
        <p:nvSpPr>
          <p:cNvPr id="3388" name="PlaceHolder 3"/>
          <p:cNvSpPr>
            <a:spLocks noGrp="1"/>
          </p:cNvSpPr>
          <p:nvPr>
            <p:ph type="sldNum" idx="14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24844E5-399B-4F4E-A264-0D209762D33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9" name="PlaceHolder 1"/>
          <p:cNvSpPr>
            <a:spLocks noGrp="1"/>
          </p:cNvSpPr>
          <p:nvPr>
            <p:ph type="sldImg"/>
          </p:nvPr>
        </p:nvSpPr>
        <p:spPr>
          <a:xfrm>
            <a:off x="1143000" y="685800"/>
            <a:ext cx="4571640" cy="3428640"/>
          </a:xfrm>
          <a:prstGeom prst="rect">
            <a:avLst/>
          </a:prstGeom>
          <a:ln w="0">
            <a:noFill/>
          </a:ln>
        </p:spPr>
      </p:sp>
      <p:sp>
        <p:nvSpPr>
          <p:cNvPr id="339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Explique la diferencia entre 'posición absoluta del encoder' y 'cero de la máquina'. El encoder sabe dónde está el rotor; sólo la máquina sabe dónde está su cero útil. La relación entre ambos es el offset de origen, que vive en el controlador.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En algunas arquitecturas ese offset se guarda en el propio drive; en otras, en el PLC. Sea cual sea, debe estar documentado y respaldado.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Ejercicio recomendado: simule una sustitución de drive. Cargue los parámetros en otro equipo, ejecute Fn008 y compruebe cuánto se tarda en recuperar el eje. Es un ensayo que vale su peso en oro cuando ocurra de verdad.</a:t>
            </a:r>
            <a:endParaRPr b="0" lang="en-US" sz="2000" spc="-1" strike="noStrike">
              <a:solidFill>
                <a:srgbClr val="000000"/>
              </a:solidFill>
              <a:latin typeface="Arial"/>
            </a:endParaRPr>
          </a:p>
        </p:txBody>
      </p:sp>
      <p:sp>
        <p:nvSpPr>
          <p:cNvPr id="3391" name="PlaceHolder 3"/>
          <p:cNvSpPr>
            <a:spLocks noGrp="1"/>
          </p:cNvSpPr>
          <p:nvPr>
            <p:ph type="sldNum" idx="14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654A890-95B1-4A3C-90AA-C183F3F4EAC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92" name="PlaceHolder 1"/>
          <p:cNvSpPr>
            <a:spLocks noGrp="1"/>
          </p:cNvSpPr>
          <p:nvPr>
            <p:ph type="sldImg"/>
          </p:nvPr>
        </p:nvSpPr>
        <p:spPr>
          <a:xfrm>
            <a:off x="1143000" y="685800"/>
            <a:ext cx="4571640" cy="3428640"/>
          </a:xfrm>
          <a:prstGeom prst="rect">
            <a:avLst/>
          </a:prstGeom>
          <a:ln w="0">
            <a:noFill/>
          </a:ln>
        </p:spPr>
      </p:sp>
      <p:sp>
        <p:nvSpPr>
          <p:cNvPr id="339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paso 3 (recorrer todo el rango a baja velocidad observando el par) es un diagnóstico mecánico de altísimo valor y coste cero. Un husillo torcido, un rodamiento dañado o una guía sucia se detectan inmediatamente como un aumento local del par.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paso 7 es el que más se salta y el que más problemas evita: muchos ejes funcionan perfectamente durante diez ciclos y disparan A.720 (sobrecarga continua) tras media hora de producción, porque el par RMS real es mayor que el calculado.</a:t>
            </a:r>
            <a:endParaRPr b="0" lang="en-US" sz="2000" spc="-1" strike="noStrike">
              <a:solidFill>
                <a:srgbClr val="000000"/>
              </a:solidFill>
              <a:latin typeface="Arial"/>
            </a:endParaRPr>
          </a:p>
        </p:txBody>
      </p:sp>
      <p:sp>
        <p:nvSpPr>
          <p:cNvPr id="3394" name="PlaceHolder 3"/>
          <p:cNvSpPr>
            <a:spLocks noGrp="1"/>
          </p:cNvSpPr>
          <p:nvPr>
            <p:ph type="sldNum" idx="14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951C582-4974-43DB-B35D-8AE9B876961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95" name="PlaceHolder 1"/>
          <p:cNvSpPr>
            <a:spLocks noGrp="1"/>
          </p:cNvSpPr>
          <p:nvPr>
            <p:ph type="sldImg"/>
          </p:nvPr>
        </p:nvSpPr>
        <p:spPr>
          <a:xfrm>
            <a:off x="1143000" y="685800"/>
            <a:ext cx="4571640" cy="3428640"/>
          </a:xfrm>
          <a:prstGeom prst="rect">
            <a:avLst/>
          </a:prstGeom>
          <a:ln w="0">
            <a:noFill/>
          </a:ln>
        </p:spPr>
      </p:sp>
      <p:sp>
        <p:nvSpPr>
          <p:cNvPr id="339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Insista en el valor económico de documentar: el coste de media hora de documentación frente al coste de un día de parada por no saber cómo estaba configurado un eje.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Sugerencia: convertir esta tabla en una plantilla corporativa (Word o formulario digital) que se rellene en cada puesta en marcha.</a:t>
            </a:r>
            <a:endParaRPr b="0" lang="en-US" sz="2000" spc="-1" strike="noStrike">
              <a:solidFill>
                <a:srgbClr val="000000"/>
              </a:solidFill>
              <a:latin typeface="Arial"/>
            </a:endParaRPr>
          </a:p>
        </p:txBody>
      </p:sp>
      <p:sp>
        <p:nvSpPr>
          <p:cNvPr id="3397" name="PlaceHolder 3"/>
          <p:cNvSpPr>
            <a:spLocks noGrp="1"/>
          </p:cNvSpPr>
          <p:nvPr>
            <p:ph type="sldNum" idx="15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DD59AD2-8BC2-4412-B8BB-ABC72EA5F2C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98" name="PlaceHolder 1"/>
          <p:cNvSpPr>
            <a:spLocks noGrp="1"/>
          </p:cNvSpPr>
          <p:nvPr>
            <p:ph type="sldImg"/>
          </p:nvPr>
        </p:nvSpPr>
        <p:spPr>
          <a:xfrm>
            <a:off x="1143000" y="685800"/>
            <a:ext cx="4571640" cy="3428640"/>
          </a:xfrm>
          <a:prstGeom prst="rect">
            <a:avLst/>
          </a:prstGeom>
          <a:ln w="0">
            <a:noFill/>
          </a:ln>
        </p:spPr>
      </p:sp>
      <p:sp>
        <p:nvSpPr>
          <p:cNvPr id="339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Puede usar esta tabla como cierre del módulo y como test rápido: pida a los alumnos que expliquen por qué cada error tiene la consecuencia indicada. Si saben justificarlo, han entendido el módulo.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error número 5 (autoajuste sin carga) es sutil y muy común: el técnico prueba en vacío porque es cómodo, obtiene un ajuste 'que va bien', acopla la carga y todo se degrada. La inercia es lo que el autoajuste mide, y sin carga mide otra máquina.</a:t>
            </a:r>
            <a:endParaRPr b="0" lang="en-US" sz="2000" spc="-1" strike="noStrike">
              <a:solidFill>
                <a:srgbClr val="000000"/>
              </a:solidFill>
              <a:latin typeface="Arial"/>
            </a:endParaRPr>
          </a:p>
        </p:txBody>
      </p:sp>
      <p:sp>
        <p:nvSpPr>
          <p:cNvPr id="3400" name="PlaceHolder 3"/>
          <p:cNvSpPr>
            <a:spLocks noGrp="1"/>
          </p:cNvSpPr>
          <p:nvPr>
            <p:ph type="sldNum" idx="15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9E43968-D694-4905-A040-A9A0F93DDAD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1" name="PlaceHolder 1"/>
          <p:cNvSpPr>
            <a:spLocks noGrp="1"/>
          </p:cNvSpPr>
          <p:nvPr>
            <p:ph type="sldImg"/>
          </p:nvPr>
        </p:nvSpPr>
        <p:spPr>
          <a:xfrm>
            <a:off x="1143000" y="685800"/>
            <a:ext cx="4571640" cy="3428640"/>
          </a:xfrm>
          <a:prstGeom prst="rect">
            <a:avLst/>
          </a:prstGeom>
          <a:ln w="0">
            <a:noFill/>
          </a:ln>
        </p:spPr>
      </p:sp>
      <p:sp>
        <p:nvSpPr>
          <p:cNvPr id="340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módulo más técnico y el que más practica requiere. Conviene alternar teoría con ejercicios en el banco.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Advertencia pedagógica: la sintonización no es un procedimiento cerrado sino un compromiso entre rapidez, precisión y estabilidad. El alumno debe salir sabiendo qué está negociando en cada momento.</a:t>
            </a:r>
            <a:endParaRPr b="0" lang="en-US" sz="2000" spc="-1" strike="noStrike">
              <a:solidFill>
                <a:srgbClr val="000000"/>
              </a:solidFill>
              <a:latin typeface="Arial"/>
            </a:endParaRPr>
          </a:p>
        </p:txBody>
      </p:sp>
      <p:sp>
        <p:nvSpPr>
          <p:cNvPr id="3403" name="PlaceHolder 3"/>
          <p:cNvSpPr>
            <a:spLocks noGrp="1"/>
          </p:cNvSpPr>
          <p:nvPr>
            <p:ph type="sldNum" idx="15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AE98A8D-0D49-4D9D-82A0-891B2DE606C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4" name="PlaceHolder 1"/>
          <p:cNvSpPr>
            <a:spLocks noGrp="1"/>
          </p:cNvSpPr>
          <p:nvPr>
            <p:ph type="sldImg"/>
          </p:nvPr>
        </p:nvSpPr>
        <p:spPr>
          <a:xfrm>
            <a:off x="1143000" y="685800"/>
            <a:ext cx="4571640" cy="3428640"/>
          </a:xfrm>
          <a:prstGeom prst="rect">
            <a:avLst/>
          </a:prstGeom>
          <a:ln w="0">
            <a:noFill/>
          </a:ln>
        </p:spPr>
      </p:sp>
      <p:sp>
        <p:nvSpPr>
          <p:cNvPr id="340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diagrama es el vocabulario visual del módulo. Los alumnos deben aprender a clasificar de un vistazo la traza que ven en SigmaWin+.</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Sobreamortiguado: llega tarde pero sin pasarse. Ganancia insuficiente. Seguro pero lento; en muchas aplicaciones industriales es un ajuste aceptable si el tiempo de ciclo lo permite.</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Óptimo: llega rápido, con un sobrepasamiento mínimo o nulo, y se queda quieto. Es el objetivo.</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Subamortiguado: se pasa y oscila varias veces antes de estabilizarse. Ganancia excesiva o mal repartida entre lazos. Aunque el tiempo hasta el primer cruce sea corto, el tiempo hasta estabilizar es mayor: es más lento en la práctica y castiga la mecánica.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Insista en esto último, que es contraintuitivo: pasarse de ganancia no hace la máquina más rápida, la hace más lenta y más ruidosa.</a:t>
            </a:r>
            <a:endParaRPr b="0" lang="en-US" sz="2000" spc="-1" strike="noStrike">
              <a:solidFill>
                <a:srgbClr val="000000"/>
              </a:solidFill>
              <a:latin typeface="Arial"/>
            </a:endParaRPr>
          </a:p>
        </p:txBody>
      </p:sp>
      <p:sp>
        <p:nvSpPr>
          <p:cNvPr id="3406" name="PlaceHolder 3"/>
          <p:cNvSpPr>
            <a:spLocks noGrp="1"/>
          </p:cNvSpPr>
          <p:nvPr>
            <p:ph type="sldNum" idx="15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4DEEC12-6D7E-47F3-B961-8A626CA8322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7" name="PlaceHolder 1"/>
          <p:cNvSpPr>
            <a:spLocks noGrp="1"/>
          </p:cNvSpPr>
          <p:nvPr>
            <p:ph type="sldImg"/>
          </p:nvPr>
        </p:nvSpPr>
        <p:spPr>
          <a:xfrm>
            <a:off x="1143000" y="685800"/>
            <a:ext cx="4571640" cy="3428640"/>
          </a:xfrm>
          <a:prstGeom prst="rect">
            <a:avLst/>
          </a:prstGeom>
          <a:ln w="0">
            <a:noFill/>
          </a:ln>
        </p:spPr>
      </p:sp>
      <p:sp>
        <p:nvSpPr>
          <p:cNvPr id="340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Ejemplos que aclaran el compromiso:</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Máquina de corte por láser: prioridad al error de seguimiento durante la trayectoria; un error de contorno estropea la pieza.</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Paletizadora: prioridad al tiempo de ciclo y a la suavidad; da igual un error de 0,5 mm durante el movimiento.</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Rectificadora: prioridad a la estabilidad y al acabado; una vibración de alta frecuencia deja marcas en la pieza.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indicador de rigidez en parado se comprueba de forma muy visual: empujando el eje a mano (cuando es seguro hacerlo) y observando cuánto cede y cómo vuelve.</a:t>
            </a:r>
            <a:endParaRPr b="0" lang="en-US" sz="2000" spc="-1" strike="noStrike">
              <a:solidFill>
                <a:srgbClr val="000000"/>
              </a:solidFill>
              <a:latin typeface="Arial"/>
            </a:endParaRPr>
          </a:p>
        </p:txBody>
      </p:sp>
      <p:sp>
        <p:nvSpPr>
          <p:cNvPr id="3409" name="PlaceHolder 3"/>
          <p:cNvSpPr>
            <a:spLocks noGrp="1"/>
          </p:cNvSpPr>
          <p:nvPr>
            <p:ph type="sldNum" idx="15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279E74E-AD23-40F1-8557-809BE6B69F3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10" name="PlaceHolder 1"/>
          <p:cNvSpPr>
            <a:spLocks noGrp="1"/>
          </p:cNvSpPr>
          <p:nvPr>
            <p:ph type="sldImg"/>
          </p:nvPr>
        </p:nvSpPr>
        <p:spPr>
          <a:xfrm>
            <a:off x="1143000" y="685800"/>
            <a:ext cx="4571640" cy="3428640"/>
          </a:xfrm>
          <a:prstGeom prst="rect">
            <a:avLst/>
          </a:prstGeom>
          <a:ln w="0">
            <a:noFill/>
          </a:ln>
        </p:spPr>
      </p:sp>
      <p:sp>
        <p:nvSpPr>
          <p:cNvPr id="341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Establezca la estrategia recomendada:</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1) Empiece por el autoajuste avanzado con la carga real.</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2) Afine con el ajuste de un parámetro hasta el límite de ruido.</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3) Sólo si no basta, pase a manual y a filtros.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error típico del principiante es ir directo al ajuste manual 'porque es más profesional'. El autoajuste de la Σ-X es muy bueno y deja un punto de partida difícil de mejorar a mano en poco tiempo.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error típico del experimentado es dejar activo el tuning-less mientras intenta ajustar a mano y no entender por qué sus cambios 'no hacen nada'.</a:t>
            </a:r>
            <a:endParaRPr b="0" lang="en-US" sz="2000" spc="-1" strike="noStrike">
              <a:solidFill>
                <a:srgbClr val="000000"/>
              </a:solidFill>
              <a:latin typeface="Arial"/>
            </a:endParaRPr>
          </a:p>
        </p:txBody>
      </p:sp>
      <p:sp>
        <p:nvSpPr>
          <p:cNvPr id="3412" name="PlaceHolder 3"/>
          <p:cNvSpPr>
            <a:spLocks noGrp="1"/>
          </p:cNvSpPr>
          <p:nvPr>
            <p:ph type="sldNum" idx="15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E97F20CE-1B0D-4F02-BDF1-7173861C3BE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13" name="PlaceHolder 1"/>
          <p:cNvSpPr>
            <a:spLocks noGrp="1"/>
          </p:cNvSpPr>
          <p:nvPr>
            <p:ph type="sldImg"/>
          </p:nvPr>
        </p:nvSpPr>
        <p:spPr>
          <a:xfrm>
            <a:off x="1143000" y="685800"/>
            <a:ext cx="4571640" cy="3428640"/>
          </a:xfrm>
          <a:prstGeom prst="rect">
            <a:avLst/>
          </a:prstGeom>
          <a:ln w="0">
            <a:noFill/>
          </a:ln>
        </p:spPr>
      </p:sp>
      <p:sp>
        <p:nvSpPr>
          <p:cNvPr id="341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Comente qué hace realmente el autoajuste: excita el sistema, mide la respuesta, estima la inercia y sube la ganancia hasta detectar el principio de inestabilidad; después retrocede con un margen de seguridad y coloca filtros notch en las resonancias detectadas.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Por eso hace ruido: está buscando el límite a propósito.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dato más valioso que devuelve es Pn103, la relación de inercias medida. Compárela con la calculada en el Módulo 04: si difieren mucho, alguna hipótesis del cálculo era falsa y conviene averiguar cuál.</a:t>
            </a:r>
            <a:endParaRPr b="0" lang="en-US" sz="2000" spc="-1" strike="noStrike">
              <a:solidFill>
                <a:srgbClr val="000000"/>
              </a:solidFill>
              <a:latin typeface="Arial"/>
            </a:endParaRPr>
          </a:p>
        </p:txBody>
      </p:sp>
      <p:sp>
        <p:nvSpPr>
          <p:cNvPr id="3415" name="PlaceHolder 3"/>
          <p:cNvSpPr>
            <a:spLocks noGrp="1"/>
          </p:cNvSpPr>
          <p:nvPr>
            <p:ph type="sldNum" idx="15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3B6F0FA-8D7C-4252-AEFC-BD014E1A507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16" name="PlaceHolder 1"/>
          <p:cNvSpPr>
            <a:spLocks noGrp="1"/>
          </p:cNvSpPr>
          <p:nvPr>
            <p:ph type="sldImg"/>
          </p:nvPr>
        </p:nvSpPr>
        <p:spPr>
          <a:xfrm>
            <a:off x="1143000" y="685800"/>
            <a:ext cx="4571640" cy="3428640"/>
          </a:xfrm>
          <a:prstGeom prst="rect">
            <a:avLst/>
          </a:prstGeom>
          <a:ln w="0">
            <a:noFill/>
          </a:ln>
        </p:spPr>
      </p:sp>
      <p:sp>
        <p:nvSpPr>
          <p:cNvPr id="341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Explique la relación entre los lazos: el lazo de velocidad debe ser sensiblemente más rápido que el de posición (una regla habitual es un factor de 4 a 5 entre sus anchos de banda). Si se violenta esa relación, el sistema oscila.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Método práctico para Pn100: subir en escalones del 20 %, y en cada escalón hacer un movimiento corto y escuchar. El oído humano detecta el principio de inestabilidad antes que muchos instrumentos.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Un detalle sobre Pn401: es tentador subirlo para 'silenciar' el eje, pero el filtro introduce retardo en el lazo más interno, que es exactamente donde menos se puede permitir. Si hay ruido de alta frecuencia, casi siempre es mejor un filtro notch bien colocado que un filtro de par alto.</a:t>
            </a:r>
            <a:endParaRPr b="0" lang="en-US" sz="2000" spc="-1" strike="noStrike">
              <a:solidFill>
                <a:srgbClr val="000000"/>
              </a:solidFill>
              <a:latin typeface="Arial"/>
            </a:endParaRPr>
          </a:p>
        </p:txBody>
      </p:sp>
      <p:sp>
        <p:nvSpPr>
          <p:cNvPr id="3418" name="PlaceHolder 3"/>
          <p:cNvSpPr>
            <a:spLocks noGrp="1"/>
          </p:cNvSpPr>
          <p:nvPr>
            <p:ph type="sldNum" idx="15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F914ADB-EE4D-4B8A-A3FD-BC25A01CDC5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19" name="PlaceHolder 1"/>
          <p:cNvSpPr>
            <a:spLocks noGrp="1"/>
          </p:cNvSpPr>
          <p:nvPr>
            <p:ph type="sldImg"/>
          </p:nvPr>
        </p:nvSpPr>
        <p:spPr>
          <a:xfrm>
            <a:off x="1143000" y="685800"/>
            <a:ext cx="4571640" cy="3428640"/>
          </a:xfrm>
          <a:prstGeom prst="rect">
            <a:avLst/>
          </a:prstGeom>
          <a:ln w="0">
            <a:noFill/>
          </a:ln>
        </p:spPr>
      </p:sp>
      <p:sp>
        <p:nvSpPr>
          <p:cNvPr id="342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Explique la física: motor, acoplamiento y carga forman un sistema masa-muelle-masa con una frecuencia de resonancia propia. Si el lazo de control tiene ganancia suficiente a esa frecuencia, el sistema oscila.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Hay dos formas de resolverlo: bajar la ganancia (funciona, pero sacrifica prestaciones en todo el rango) o quitar ganancia sólo en esa frecuencia concreta. Eso último es exactamente lo que hace un filtro notch.</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Procedimiento: se localiza la frecuencia con la función de análisis (Fn206 / análisis mecánico de SigmaWin+), se introduce en Pn409, y se ajusta la anchura con el factor Q (Pn40A) y la profundidad (Pn40B). Un notch demasiado ancho resta prestaciones; demasiado estrecho no atrapa la resonancia si esta se desplaza con la posición o la temperatura.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Hay dos filtros notch disponibles, lo que permite atacar dos resonancias distintas. El autoajuste avanzado los coloca automáticamente cuando detecta resonancia.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Advertencia importante: el filtro notch enmascara el síntoma pero no arregla la mecánica. Si la resonancia procede de un acoplamiento flojo o de un rodamiento dañado, hay que repararlo.</a:t>
            </a:r>
            <a:endParaRPr b="0" lang="en-US" sz="2000" spc="-1" strike="noStrike">
              <a:solidFill>
                <a:srgbClr val="000000"/>
              </a:solidFill>
              <a:latin typeface="Arial"/>
            </a:endParaRPr>
          </a:p>
        </p:txBody>
      </p:sp>
      <p:sp>
        <p:nvSpPr>
          <p:cNvPr id="3421" name="PlaceHolder 3"/>
          <p:cNvSpPr>
            <a:spLocks noGrp="1"/>
          </p:cNvSpPr>
          <p:nvPr>
            <p:ph type="sldNum" idx="15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190D50A-3799-48F0-B8FC-4E35C40A4A7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2" name="PlaceHolder 1"/>
          <p:cNvSpPr>
            <a:spLocks noGrp="1"/>
          </p:cNvSpPr>
          <p:nvPr>
            <p:ph type="sldImg"/>
          </p:nvPr>
        </p:nvSpPr>
        <p:spPr>
          <a:xfrm>
            <a:off x="1143000" y="685800"/>
            <a:ext cx="4571640" cy="3428640"/>
          </a:xfrm>
          <a:prstGeom prst="rect">
            <a:avLst/>
          </a:prstGeom>
          <a:ln w="0">
            <a:noFill/>
          </a:ln>
        </p:spPr>
      </p:sp>
      <p:sp>
        <p:nvSpPr>
          <p:cNvPr id="342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La distinción clave para el alumno: resonancia de alta frecuencia (cientos o miles de hercios, ruido agudo, se resuelve con notch) frente a vibración de baja frecuencia (unos pocos hercios, se ve a simple vista, se resuelve con supresión de vibración o rigidizando).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Sobre el control por modelo en interpolación: es un punto fino. Si un eje tiene MFC y otro no, sus respuestas dinámicas difieren y la trayectoria resultante se deforma en las esquinas. En máquinas de contorneado hay que configurar todos los ejes de forma homogénea.</a:t>
            </a:r>
            <a:endParaRPr b="0" lang="en-US" sz="2000" spc="-1" strike="noStrike">
              <a:solidFill>
                <a:srgbClr val="000000"/>
              </a:solidFill>
              <a:latin typeface="Arial"/>
            </a:endParaRPr>
          </a:p>
        </p:txBody>
      </p:sp>
      <p:sp>
        <p:nvSpPr>
          <p:cNvPr id="3424" name="PlaceHolder 3"/>
          <p:cNvSpPr>
            <a:spLocks noGrp="1"/>
          </p:cNvSpPr>
          <p:nvPr>
            <p:ph type="sldNum" idx="15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7793B12-416F-48B4-B6D7-9B246178419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5" name="PlaceHolder 1"/>
          <p:cNvSpPr>
            <a:spLocks noGrp="1"/>
          </p:cNvSpPr>
          <p:nvPr>
            <p:ph type="sldImg"/>
          </p:nvPr>
        </p:nvSpPr>
        <p:spPr>
          <a:xfrm>
            <a:off x="1143000" y="685800"/>
            <a:ext cx="4571640" cy="3428640"/>
          </a:xfrm>
          <a:prstGeom prst="rect">
            <a:avLst/>
          </a:prstGeom>
          <a:ln w="0">
            <a:noFill/>
          </a:ln>
        </p:spPr>
      </p:sp>
      <p:sp>
        <p:nvSpPr>
          <p:cNvPr id="342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La última fila merece énfasis: cuando un eje que iba bien empieza a ir mal, la causa casi nunca está en el drive. Los parámetros no se cambian solos; la mecánica sí se desgasta.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Ese es también el mejor argumento para guardar las trazas de la puesta en marcha: permiten comparar objetivamente el comportamiento de hoy con el de hace dos años y demostrar que algo ha cambiado en la máquina.</a:t>
            </a:r>
            <a:endParaRPr b="0" lang="en-US" sz="2000" spc="-1" strike="noStrike">
              <a:solidFill>
                <a:srgbClr val="000000"/>
              </a:solidFill>
              <a:latin typeface="Arial"/>
            </a:endParaRPr>
          </a:p>
        </p:txBody>
      </p:sp>
      <p:sp>
        <p:nvSpPr>
          <p:cNvPr id="3427" name="PlaceHolder 3"/>
          <p:cNvSpPr>
            <a:spLocks noGrp="1"/>
          </p:cNvSpPr>
          <p:nvPr>
            <p:ph type="sldNum" idx="16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3E50A1E-A86D-4A67-89AF-75195D06361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8" name="PlaceHolder 1"/>
          <p:cNvSpPr>
            <a:spLocks noGrp="1"/>
          </p:cNvSpPr>
          <p:nvPr>
            <p:ph type="sldImg"/>
          </p:nvPr>
        </p:nvSpPr>
        <p:spPr>
          <a:xfrm>
            <a:off x="1143000" y="685800"/>
            <a:ext cx="4571640" cy="3428640"/>
          </a:xfrm>
          <a:prstGeom prst="rect">
            <a:avLst/>
          </a:prstGeom>
          <a:ln w="0">
            <a:noFill/>
          </a:ln>
        </p:spPr>
      </p:sp>
      <p:sp>
        <p:nvSpPr>
          <p:cNvPr id="342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Cierre el módulo con esta idea: el objetivo no es demostrar lo rápido que puede ir el eje, sino entregar una máquina que funcione de forma estable durante años.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Comente el efecto de la temperatura: la viscosidad del lubricante cambia con la temperatura, y con ella la fricción y el amortiguamiento del sistema. Un ajuste hecho al límite con la máquina caliente puede oscilar en el primer arranque de un lunes de invierno. Por eso el margen del 10-20 % no es opcional.</a:t>
            </a:r>
            <a:endParaRPr b="0" lang="en-US" sz="2000" spc="-1" strike="noStrike">
              <a:solidFill>
                <a:srgbClr val="000000"/>
              </a:solidFill>
              <a:latin typeface="Arial"/>
            </a:endParaRPr>
          </a:p>
        </p:txBody>
      </p:sp>
      <p:sp>
        <p:nvSpPr>
          <p:cNvPr id="3430" name="PlaceHolder 3"/>
          <p:cNvSpPr>
            <a:spLocks noGrp="1"/>
          </p:cNvSpPr>
          <p:nvPr>
            <p:ph type="sldNum" idx="16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487A72F-DE70-48FC-8CD6-CD82E909370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31" name="PlaceHolder 1"/>
          <p:cNvSpPr>
            <a:spLocks noGrp="1"/>
          </p:cNvSpPr>
          <p:nvPr>
            <p:ph type="sldImg"/>
          </p:nvPr>
        </p:nvSpPr>
        <p:spPr>
          <a:xfrm>
            <a:off x="1143000" y="685800"/>
            <a:ext cx="4571640" cy="3428640"/>
          </a:xfrm>
          <a:prstGeom prst="rect">
            <a:avLst/>
          </a:prstGeom>
          <a:ln w="0">
            <a:noFill/>
          </a:ln>
        </p:spPr>
      </p:sp>
      <p:sp>
        <p:nvSpPr>
          <p:cNvPr id="343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Módulo corto pero crítico. El objetivo no es convertir al alumno en experto en seguridad de máquinas, sino que sepa qué ofrece el drive, qué no ofrece, y cuándo hay que llamar a un especialista.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Advertencia que hay que hacer explícita: el diseño de la función de seguridad de una máquina requiere un análisis de riesgos y competencias específicas. Este módulo explica la pieza que aporta el SERVOPACK, no sustituye a ese análisis.</a:t>
            </a:r>
            <a:endParaRPr b="0" lang="en-US" sz="2000" spc="-1" strike="noStrike">
              <a:solidFill>
                <a:srgbClr val="000000"/>
              </a:solidFill>
              <a:latin typeface="Arial"/>
            </a:endParaRPr>
          </a:p>
        </p:txBody>
      </p:sp>
      <p:sp>
        <p:nvSpPr>
          <p:cNvPr id="3433" name="PlaceHolder 3"/>
          <p:cNvSpPr>
            <a:spLocks noGrp="1"/>
          </p:cNvSpPr>
          <p:nvPr>
            <p:ph type="sldNum" idx="16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1AFB66C-6EA0-44D6-8010-9E73B7067A1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34" name="PlaceHolder 1"/>
          <p:cNvSpPr>
            <a:spLocks noGrp="1"/>
          </p:cNvSpPr>
          <p:nvPr>
            <p:ph type="sldImg"/>
          </p:nvPr>
        </p:nvSpPr>
        <p:spPr>
          <a:xfrm>
            <a:off x="1143000" y="685800"/>
            <a:ext cx="4571640" cy="3428640"/>
          </a:xfrm>
          <a:prstGeom prst="rect">
            <a:avLst/>
          </a:prstGeom>
          <a:ln w="0">
            <a:noFill/>
          </a:ln>
        </p:spPr>
      </p:sp>
      <p:sp>
        <p:nvSpPr>
          <p:cNvPr id="343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punto del recuadro es el más malinterpretado del módulo. Un componente 'apto para PL e' insertado en una arquitectura de categoría 1 no da PL 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Sobre las funciones de IEC 61800-5-2: STO (par desactivado) es la base y la que implementa el hardware del drive. Otras funciones como SS1 (parada controlada seguida de STO) se construyen combinando el drive con un módulo de seguridad temporizado o con un drive con funciones de seguridad ampliadas.</a:t>
            </a:r>
            <a:endParaRPr b="0" lang="en-US" sz="2000" spc="-1" strike="noStrike">
              <a:solidFill>
                <a:srgbClr val="000000"/>
              </a:solidFill>
              <a:latin typeface="Arial"/>
            </a:endParaRPr>
          </a:p>
        </p:txBody>
      </p:sp>
      <p:sp>
        <p:nvSpPr>
          <p:cNvPr id="3436" name="PlaceHolder 3"/>
          <p:cNvSpPr>
            <a:spLocks noGrp="1"/>
          </p:cNvSpPr>
          <p:nvPr>
            <p:ph type="sldNum" idx="16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00AFF8F-ED29-4B6A-A8DB-A246FA9CFF1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37" name="PlaceHolder 1"/>
          <p:cNvSpPr>
            <a:spLocks noGrp="1"/>
          </p:cNvSpPr>
          <p:nvPr>
            <p:ph type="sldImg"/>
          </p:nvPr>
        </p:nvSpPr>
        <p:spPr>
          <a:xfrm>
            <a:off x="1143000" y="685800"/>
            <a:ext cx="4571640" cy="3428640"/>
          </a:xfrm>
          <a:prstGeom prst="rect">
            <a:avLst/>
          </a:prstGeom>
          <a:ln w="0">
            <a:noFill/>
          </a:ln>
        </p:spPr>
      </p:sp>
      <p:sp>
        <p:nvSpPr>
          <p:cNvPr id="343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Explique la arquitectura de dos canales: el módulo de seguridad abre simultáneamente dos circuitos independientes. Cada uno, por separado, es capaz de bloquear los transistores de potencia. Así, un fallo en un canal (un contacto pegado, un cable cortado) no impide que la función actúe.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 señal EDM (External Device Monitoring) cierra el lazo de diagnóstico: el drive informa al módulo de seguridad de que efectivamente ha entrado en estado seguro. Si el módulo abre los canales y EDM no cambia de estado, hay un fallo interno y el sistema debe pasar a estado seguro y avisar. Esta vigilancia cruzada es lo que permite alcanzar categoría 3 / PL 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Dato práctico fundamental: CN8 se suministra con un conector puente de fábrica. Si se retira sin cablear la seguridad, el drive queda permanentemente en baseblock: no dará par y no habrá alarma evidente. Es la causa número uno de la llamada 'el motor nuevo no funciona'.</a:t>
            </a:r>
            <a:endParaRPr b="0" lang="en-US" sz="2000" spc="-1" strike="noStrike">
              <a:solidFill>
                <a:srgbClr val="000000"/>
              </a:solidFill>
              <a:latin typeface="Arial"/>
            </a:endParaRPr>
          </a:p>
        </p:txBody>
      </p:sp>
      <p:sp>
        <p:nvSpPr>
          <p:cNvPr id="3439" name="PlaceHolder 3"/>
          <p:cNvSpPr>
            <a:spLocks noGrp="1"/>
          </p:cNvSpPr>
          <p:nvPr>
            <p:ph type="sldNum" idx="16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6662A6A-764B-4559-AE0C-0E8B33EFD9A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0" name="PlaceHolder 1"/>
          <p:cNvSpPr>
            <a:spLocks noGrp="1"/>
          </p:cNvSpPr>
          <p:nvPr>
            <p:ph type="sldImg"/>
          </p:nvPr>
        </p:nvSpPr>
        <p:spPr>
          <a:xfrm>
            <a:off x="1143000" y="685800"/>
            <a:ext cx="4571640" cy="3428640"/>
          </a:xfrm>
          <a:prstGeom prst="rect">
            <a:avLst/>
          </a:prstGeom>
          <a:ln w="0">
            <a:noFill/>
          </a:ln>
        </p:spPr>
      </p:sp>
      <p:sp>
        <p:nvSpPr>
          <p:cNvPr id="344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Detalle que el manual recoge expresamente y que sorprende: los pines 1 y 2 no deben usarse porque están conectados a circuitos internos.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Y una precisión importante del propio manual: el uso o no de la señal EDM1 no afecta al nivel de prestaciones de los parámetros de seguridad del drive. Aun así, sin EDM1 el módulo de seguridad no puede detectar un fallo interno del amplificador, con lo que el diagnóstico del conjunto empeora.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CN8 se suministra con un conector puente instalado. Para usar la función de seguridad hay que retirarlo y conectar el dispositivo.</a:t>
            </a:r>
            <a:endParaRPr b="0" lang="en-US" sz="2000" spc="-1" strike="noStrike">
              <a:solidFill>
                <a:srgbClr val="000000"/>
              </a:solidFill>
              <a:latin typeface="Arial"/>
            </a:endParaRPr>
          </a:p>
        </p:txBody>
      </p:sp>
      <p:sp>
        <p:nvSpPr>
          <p:cNvPr id="3442" name="PlaceHolder 3"/>
          <p:cNvSpPr>
            <a:spLocks noGrp="1"/>
          </p:cNvSpPr>
          <p:nvPr>
            <p:ph type="sldNum" idx="16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5B5C805-AD7C-46DA-ADC3-D1FBC4F6302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3" name="PlaceHolder 1"/>
          <p:cNvSpPr>
            <a:spLocks noGrp="1"/>
          </p:cNvSpPr>
          <p:nvPr>
            <p:ph type="sldImg"/>
          </p:nvPr>
        </p:nvSpPr>
        <p:spPr>
          <a:xfrm>
            <a:off x="1143000" y="685800"/>
            <a:ext cx="4571640" cy="3428640"/>
          </a:xfrm>
          <a:prstGeom prst="rect">
            <a:avLst/>
          </a:prstGeom>
          <a:ln w="0">
            <a:noFill/>
          </a:ln>
        </p:spPr>
      </p:sp>
      <p:sp>
        <p:nvSpPr>
          <p:cNvPr id="344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Dos advertencias del manual que hay que trasladar: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1) La lógica de las señales de seguridad es la contraria a la del resto del conector: aquí el común es 0 V y la salida es de tipo source. Esto confunde a quien cablea CN1 y CN8 el mismo día.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2) Hay que usar un interruptor con contactos de muy baja corriente. Los contactos de potencia forman una capa de óxido cuando conmutan corrientes muy pequeñas y pueden dejar de conducir: es un modo de fallo peligroso en un circuito de seguridad.</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fusible protege el cableado frente a un cortocircuito que dejaría la función de seguridad inoperante.</a:t>
            </a:r>
            <a:endParaRPr b="0" lang="en-US" sz="2000" spc="-1" strike="noStrike">
              <a:solidFill>
                <a:srgbClr val="000000"/>
              </a:solidFill>
              <a:latin typeface="Arial"/>
            </a:endParaRPr>
          </a:p>
        </p:txBody>
      </p:sp>
      <p:sp>
        <p:nvSpPr>
          <p:cNvPr id="3445" name="PlaceHolder 3"/>
          <p:cNvSpPr>
            <a:spLocks noGrp="1"/>
          </p:cNvSpPr>
          <p:nvPr>
            <p:ph type="sldNum" idx="16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418B928-4907-425C-B531-66D3776649A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6" name="PlaceHolder 1"/>
          <p:cNvSpPr>
            <a:spLocks noGrp="1"/>
          </p:cNvSpPr>
          <p:nvPr>
            <p:ph type="sldImg"/>
          </p:nvPr>
        </p:nvSpPr>
        <p:spPr>
          <a:xfrm>
            <a:off x="1143000" y="685800"/>
            <a:ext cx="4571640" cy="3428640"/>
          </a:xfrm>
          <a:prstGeom prst="rect">
            <a:avLst/>
          </a:prstGeom>
          <a:ln w="0">
            <a:noFill/>
          </a:ln>
        </p:spPr>
      </p:sp>
      <p:sp>
        <p:nvSpPr>
          <p:cNvPr id="344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es el mensaje que hay que asegurarse de que se lleven a casa. Es un error que se comete con frecuencia en máquinas reales.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Explique la diferencia entre 'quitar el par' y 'parar'. Con una gran inercia, quitar el par y dejar el eje libre puede ser MÁS peligroso que una parada controlada, porque el eje sigue moviéndose sin control.</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Por eso existe SS1: primero se frena de forma controlada con el drive y después, una vez parado, se aplica STO. Se implementa con un relé de seguridad temporizado, y el análisis de riesgos decide el tiempo.</a:t>
            </a:r>
            <a:endParaRPr b="0" lang="en-US" sz="2000" spc="-1" strike="noStrike">
              <a:solidFill>
                <a:srgbClr val="000000"/>
              </a:solidFill>
              <a:latin typeface="Arial"/>
            </a:endParaRPr>
          </a:p>
        </p:txBody>
      </p:sp>
      <p:sp>
        <p:nvSpPr>
          <p:cNvPr id="3448" name="PlaceHolder 3"/>
          <p:cNvSpPr>
            <a:spLocks noGrp="1"/>
          </p:cNvSpPr>
          <p:nvPr>
            <p:ph type="sldNum" idx="16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1ADE87F-5DBB-47FC-B44B-550E891D911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9" name="PlaceHolder 1"/>
          <p:cNvSpPr>
            <a:spLocks noGrp="1"/>
          </p:cNvSpPr>
          <p:nvPr>
            <p:ph type="sldImg"/>
          </p:nvPr>
        </p:nvSpPr>
        <p:spPr>
          <a:xfrm>
            <a:off x="1143000" y="685800"/>
            <a:ext cx="4571640" cy="3428640"/>
          </a:xfrm>
          <a:prstGeom prst="rect">
            <a:avLst/>
          </a:prstGeom>
          <a:ln w="0">
            <a:noFill/>
          </a:ln>
        </p:spPr>
      </p:sp>
      <p:sp>
        <p:nvSpPr>
          <p:cNvPr id="345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paso 4 (medir el tiempo de parada real) es el que más se omite y el que tiene consecuencias más directas: las distancias de seguridad de una barrera inmaterial se calculan a partir del tiempo de parada. Si el tiempo real es mayor que el supuesto, la protección es insuficiente.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también que el tiempo de parada aumenta con el desgaste del freno y con cambios en la carga, y que por eso hay que volver a medirlo periódicamente.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Insista en que el diseño de la función de seguridad corresponde a personal cualificado y debe quedar documentado en el expediente técnico de la máquina.</a:t>
            </a:r>
            <a:endParaRPr b="0" lang="en-US" sz="2000" spc="-1" strike="noStrike">
              <a:solidFill>
                <a:srgbClr val="000000"/>
              </a:solidFill>
              <a:latin typeface="Arial"/>
            </a:endParaRPr>
          </a:p>
        </p:txBody>
      </p:sp>
      <p:sp>
        <p:nvSpPr>
          <p:cNvPr id="3451" name="PlaceHolder 3"/>
          <p:cNvSpPr>
            <a:spLocks noGrp="1"/>
          </p:cNvSpPr>
          <p:nvPr>
            <p:ph type="sldNum" idx="16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C1EB61D-F1F3-4A39-9B4D-B17DC35D8C7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52" name="PlaceHolder 1"/>
          <p:cNvSpPr>
            <a:spLocks noGrp="1"/>
          </p:cNvSpPr>
          <p:nvPr>
            <p:ph type="sldImg"/>
          </p:nvPr>
        </p:nvSpPr>
        <p:spPr>
          <a:xfrm>
            <a:off x="1143000" y="685800"/>
            <a:ext cx="4571640" cy="3428640"/>
          </a:xfrm>
          <a:prstGeom prst="rect">
            <a:avLst/>
          </a:prstGeom>
          <a:ln w="0">
            <a:noFill/>
          </a:ln>
        </p:spPr>
      </p:sp>
      <p:sp>
        <p:nvSpPr>
          <p:cNvPr id="345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Módulo orientado a mantenimiento. El objetivo es reducir el tiempo medio de reparación, y eso se consigue con método, no con memoria.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Si el grupo es de mantenimiento, este es probablemente el módulo que más van a usar. Dedique tiempo a los árboles de decisión y practique con averías simuladas si dispone de banco.</a:t>
            </a:r>
            <a:endParaRPr b="0" lang="en-US" sz="2000" spc="-1" strike="noStrike">
              <a:solidFill>
                <a:srgbClr val="000000"/>
              </a:solidFill>
              <a:latin typeface="Arial"/>
            </a:endParaRPr>
          </a:p>
        </p:txBody>
      </p:sp>
      <p:sp>
        <p:nvSpPr>
          <p:cNvPr id="3454" name="PlaceHolder 3"/>
          <p:cNvSpPr>
            <a:spLocks noGrp="1"/>
          </p:cNvSpPr>
          <p:nvPr>
            <p:ph type="sldNum" idx="16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11BABCE-025A-46AA-AA0C-73678D250D3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55" name="PlaceHolder 1"/>
          <p:cNvSpPr>
            <a:spLocks noGrp="1"/>
          </p:cNvSpPr>
          <p:nvPr>
            <p:ph type="sldImg"/>
          </p:nvPr>
        </p:nvSpPr>
        <p:spPr>
          <a:xfrm>
            <a:off x="1143000" y="685800"/>
            <a:ext cx="4571640" cy="3428640"/>
          </a:xfrm>
          <a:prstGeom prst="rect">
            <a:avLst/>
          </a:prstGeom>
          <a:ln w="0">
            <a:noFill/>
          </a:ln>
        </p:spPr>
      </p:sp>
      <p:sp>
        <p:nvSpPr>
          <p:cNvPr id="345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error clásico en diagnóstico es empezar cambiando piezas. Este método obliga a recoger información antes de actuar.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Los pasos 1 y 2 (qué dice el drive y qué dice el historial) resuelven una parte muy grande de los casos en dos minutos, sin herramientas.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paso 4, dividir el sistema, es la idea central: el sistema tiene cuatro bloques (controlador, drive, motor, mecánica) y dos enlaces (cableado de mando, cableado de potencia y encoder). Cada prueba debe descartar un bloque. Por ejemplo, un JOG desde el panel descarta de golpe el controlador y todo el cableado de mando.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paso 6 (documentar) es el que convierte una reparación en conocimiento de planta.</a:t>
            </a:r>
            <a:endParaRPr b="0" lang="en-US" sz="2000" spc="-1" strike="noStrike">
              <a:solidFill>
                <a:srgbClr val="000000"/>
              </a:solidFill>
              <a:latin typeface="Arial"/>
            </a:endParaRPr>
          </a:p>
        </p:txBody>
      </p:sp>
      <p:sp>
        <p:nvSpPr>
          <p:cNvPr id="3457" name="PlaceHolder 3"/>
          <p:cNvSpPr>
            <a:spLocks noGrp="1"/>
          </p:cNvSpPr>
          <p:nvPr>
            <p:ph type="sldNum" idx="17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7DD5F53-0300-43BC-93D2-D54BD1EFF34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58" name="PlaceHolder 1"/>
          <p:cNvSpPr>
            <a:spLocks noGrp="1"/>
          </p:cNvSpPr>
          <p:nvPr>
            <p:ph type="sldImg"/>
          </p:nvPr>
        </p:nvSpPr>
        <p:spPr>
          <a:xfrm>
            <a:off x="1143000" y="685800"/>
            <a:ext cx="4571640" cy="3428640"/>
          </a:xfrm>
          <a:prstGeom prst="rect">
            <a:avLst/>
          </a:prstGeom>
          <a:ln w="0">
            <a:noFill/>
          </a:ln>
        </p:spPr>
      </p:sp>
      <p:sp>
        <p:nvSpPr>
          <p:cNvPr id="345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Insista en el valor de los avisos: el drive dispone de un modelo térmico que sabe cuánto margen de sobrecarga queda. Esa información, llevada al HMI, permite planificar.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Sobre el historial de alarmas: es la primera herramienta a consultar en cualquier avería. Muchas veces la alarma que ve el operario es consecuencia de otra anterior, y sólo el historial lo revela.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Advertencia sobre el reset compulsivo: reiniciar una alarma de sobrecarga sin resolver la causa térmica es una manera eficaz de destruir un motor.</a:t>
            </a:r>
            <a:endParaRPr b="0" lang="en-US" sz="2000" spc="-1" strike="noStrike">
              <a:solidFill>
                <a:srgbClr val="000000"/>
              </a:solidFill>
              <a:latin typeface="Arial"/>
            </a:endParaRPr>
          </a:p>
        </p:txBody>
      </p:sp>
      <p:sp>
        <p:nvSpPr>
          <p:cNvPr id="3460" name="PlaceHolder 3"/>
          <p:cNvSpPr>
            <a:spLocks noGrp="1"/>
          </p:cNvSpPr>
          <p:nvPr>
            <p:ph type="sldNum" idx="17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91A215D-867A-4799-9EA7-A79066BFA14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1" name="PlaceHolder 1"/>
          <p:cNvSpPr>
            <a:spLocks noGrp="1"/>
          </p:cNvSpPr>
          <p:nvPr>
            <p:ph type="sldImg"/>
          </p:nvPr>
        </p:nvSpPr>
        <p:spPr>
          <a:xfrm>
            <a:off x="1143000" y="685800"/>
            <a:ext cx="4571640" cy="3428640"/>
          </a:xfrm>
          <a:prstGeom prst="rect">
            <a:avLst/>
          </a:prstGeom>
          <a:ln w="0">
            <a:noFill/>
          </a:ln>
        </p:spPr>
      </p:sp>
      <p:sp>
        <p:nvSpPr>
          <p:cNvPr id="346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Enseñe a razonar por familias en lugar de memorizar códigos. Con el prefijo ya se sabe si el problema es de potencia, térmico, de seguimiento o del encoder.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A.7__ (sobrecarga) es la alarma que más aparece en producción y casi siempre tiene causa mecánica: guías secas, rodamiento agarrotado, freno que no libera del todo, o producto atascado. Antes de tocar el drive, compruebe el par con Un002 y compare con el histórico.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A.d__ (error de posición) merece una regla: nunca se resuelve subiendo el umbral Pn520. Eso es apagar la alarma de incendios.</a:t>
            </a:r>
            <a:endParaRPr b="0" lang="en-US" sz="2000" spc="-1" strike="noStrike">
              <a:solidFill>
                <a:srgbClr val="000000"/>
              </a:solidFill>
              <a:latin typeface="Arial"/>
            </a:endParaRPr>
          </a:p>
        </p:txBody>
      </p:sp>
      <p:sp>
        <p:nvSpPr>
          <p:cNvPr id="3463" name="PlaceHolder 3"/>
          <p:cNvSpPr>
            <a:spLocks noGrp="1"/>
          </p:cNvSpPr>
          <p:nvPr>
            <p:ph type="sldNum" idx="17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8DF63A6-657D-468D-9017-775284F17CE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4" name="PlaceHolder 1"/>
          <p:cNvSpPr>
            <a:spLocks noGrp="1"/>
          </p:cNvSpPr>
          <p:nvPr>
            <p:ph type="sldImg"/>
          </p:nvPr>
        </p:nvSpPr>
        <p:spPr>
          <a:xfrm>
            <a:off x="1143000" y="685800"/>
            <a:ext cx="4571640" cy="3428640"/>
          </a:xfrm>
          <a:prstGeom prst="rect">
            <a:avLst/>
          </a:prstGeom>
          <a:ln w="0">
            <a:noFill/>
          </a:ln>
        </p:spPr>
      </p:sp>
      <p:sp>
        <p:nvSpPr>
          <p:cNvPr id="346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Cuente la estrategia para alarmas intermitentes de encoder, que son las más frustrantes:</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1) Mover el cable con la máquina en marcha (con seguridad) para ver si se reproduce: delata rotura por fatiga en cadena portacables.</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2) Comprobar que la malla está a tierra en ambos extremos con abrazadera de 360°.</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3) Comprobar separación respecto a cables de potencia.</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4) Sustituir el cable por uno nuevo original antes de sustituir el motor: es mucho más barato y resuelve la mayoría de los casos.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Sobre A.81_: es la alarma que aparece tras las paradas largas de planta. La solución es preventiva: cambiar baterías cada dos años con el equipo energizado.</a:t>
            </a:r>
            <a:endParaRPr b="0" lang="en-US" sz="2000" spc="-1" strike="noStrike">
              <a:solidFill>
                <a:srgbClr val="000000"/>
              </a:solidFill>
              <a:latin typeface="Arial"/>
            </a:endParaRPr>
          </a:p>
        </p:txBody>
      </p:sp>
      <p:sp>
        <p:nvSpPr>
          <p:cNvPr id="3466" name="PlaceHolder 3"/>
          <p:cNvSpPr>
            <a:spLocks noGrp="1"/>
          </p:cNvSpPr>
          <p:nvPr>
            <p:ph type="sldNum" idx="17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D846AA3-7F3F-43B0-A6CB-915429323B9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7" name="PlaceHolder 1"/>
          <p:cNvSpPr>
            <a:spLocks noGrp="1"/>
          </p:cNvSpPr>
          <p:nvPr>
            <p:ph type="sldImg"/>
          </p:nvPr>
        </p:nvSpPr>
        <p:spPr>
          <a:xfrm>
            <a:off x="1143000" y="685800"/>
            <a:ext cx="4571640" cy="3428640"/>
          </a:xfrm>
          <a:prstGeom prst="rect">
            <a:avLst/>
          </a:prstGeom>
          <a:ln w="0">
            <a:noFill/>
          </a:ln>
        </p:spPr>
      </p:sp>
      <p:sp>
        <p:nvSpPr>
          <p:cNvPr id="346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Recorra el árbol de izquierda a derecha con el grupo, planteando cada pregunta en voz alta.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 primera bifurcación (¿hay alarma?) es decisiva: con alarma, el drive ya ha hecho el diagnóstico y sólo hay que interpretarlo. Sin alarma, el problema está casi siempre en las condiciones de habilitación: servo ON, seguridad CN8, finales de carrera o consigna.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caso 'sin alarma y sin par' es el más confuso para el principiante y tiene tres sospechosos habituales: CN8 sin cablear tras retirar el puente, /S-ON no llega (comprobable en Un005) o falta la alimentación de +24VIN de las entradas.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caso 'con par pero sin movimiento' apunta a consigna ausente (Un007 sin pulsos, o telegrama de bus sin actualizar) o a bloqueo mecánico, que se distingue porque el par sube al máximo.</a:t>
            </a:r>
            <a:endParaRPr b="0" lang="en-US" sz="2000" spc="-1" strike="noStrike">
              <a:solidFill>
                <a:srgbClr val="000000"/>
              </a:solidFill>
              <a:latin typeface="Arial"/>
            </a:endParaRPr>
          </a:p>
        </p:txBody>
      </p:sp>
      <p:sp>
        <p:nvSpPr>
          <p:cNvPr id="3469" name="PlaceHolder 3"/>
          <p:cNvSpPr>
            <a:spLocks noGrp="1"/>
          </p:cNvSpPr>
          <p:nvPr>
            <p:ph type="sldNum" idx="17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BFBE443-88EA-4539-BACC-61F13976EE5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70" name="PlaceHolder 1"/>
          <p:cNvSpPr>
            <a:spLocks noGrp="1"/>
          </p:cNvSpPr>
          <p:nvPr>
            <p:ph type="sldImg"/>
          </p:nvPr>
        </p:nvSpPr>
        <p:spPr>
          <a:xfrm>
            <a:off x="1143000" y="685800"/>
            <a:ext cx="4571640" cy="3428640"/>
          </a:xfrm>
          <a:prstGeom prst="rect">
            <a:avLst/>
          </a:prstGeom>
          <a:ln w="0">
            <a:noFill/>
          </a:ln>
        </p:spPr>
      </p:sp>
      <p:sp>
        <p:nvSpPr>
          <p:cNvPr id="347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La Σ-X dispone de monitores de vida útil de componentes (ventilador, condensadores, relés internos) que estiman el porcentaje consumido. Consúltelos en SigmaWin+ y llévelos al plan de mantenimiento: es mantenimiento predictivo gratuito que casi nadie usa.</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reapriete de bornes es una tarea humilde y muy rentable: un borne flojo en un cable de motor de 18 A provoca calentamiento, caída de tensión asimétrica y, con el tiempo, un incendio o una avería del amplificador.</a:t>
            </a:r>
            <a:endParaRPr b="0" lang="en-US" sz="2000" spc="-1" strike="noStrike">
              <a:solidFill>
                <a:srgbClr val="000000"/>
              </a:solidFill>
              <a:latin typeface="Arial"/>
            </a:endParaRPr>
          </a:p>
        </p:txBody>
      </p:sp>
      <p:sp>
        <p:nvSpPr>
          <p:cNvPr id="3472" name="PlaceHolder 3"/>
          <p:cNvSpPr>
            <a:spLocks noGrp="1"/>
          </p:cNvSpPr>
          <p:nvPr>
            <p:ph type="sldNum" idx="17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A7E8057-FB6A-4073-9D56-B3590DB8785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73" name="PlaceHolder 1"/>
          <p:cNvSpPr>
            <a:spLocks noGrp="1"/>
          </p:cNvSpPr>
          <p:nvPr>
            <p:ph type="sldImg"/>
          </p:nvPr>
        </p:nvSpPr>
        <p:spPr>
          <a:xfrm>
            <a:off x="1143000" y="685800"/>
            <a:ext cx="4571640" cy="3428640"/>
          </a:xfrm>
          <a:prstGeom prst="rect">
            <a:avLst/>
          </a:prstGeom>
          <a:ln w="0">
            <a:noFill/>
          </a:ln>
        </p:spPr>
      </p:sp>
      <p:sp>
        <p:nvSpPr>
          <p:cNvPr id="347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paso 6 es el que convierte una sustitución rutinaria en un problema. Insista de nuevo: el origen no viaja en el fichero de parámetros.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Sobre el paso 3: en almacén acaban conviviendo equipos parecidos con sufijos distintos. Un SGDXS-200A00A con interfaz de bus no sirve para sustituir a uno con interfaz analógica, aunque físicamente encaje.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Recomiende ensayar el procedimiento una vez en condiciones controladas, por ejemplo durante una parada programada. La primera vez siempre aparecen sorpresas, y es mejor que aparezcan un martes por la mañana.</a:t>
            </a:r>
            <a:endParaRPr b="0" lang="en-US" sz="2000" spc="-1" strike="noStrike">
              <a:solidFill>
                <a:srgbClr val="000000"/>
              </a:solidFill>
              <a:latin typeface="Arial"/>
            </a:endParaRPr>
          </a:p>
        </p:txBody>
      </p:sp>
      <p:sp>
        <p:nvSpPr>
          <p:cNvPr id="3475" name="PlaceHolder 3"/>
          <p:cNvSpPr>
            <a:spLocks noGrp="1"/>
          </p:cNvSpPr>
          <p:nvPr>
            <p:ph type="sldNum" idx="17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A0DB652-74F1-46F9-967B-0962CBBCA2F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76" name="PlaceHolder 1"/>
          <p:cNvSpPr>
            <a:spLocks noGrp="1"/>
          </p:cNvSpPr>
          <p:nvPr>
            <p:ph type="sldImg"/>
          </p:nvPr>
        </p:nvSpPr>
        <p:spPr>
          <a:xfrm>
            <a:off x="1143000" y="685800"/>
            <a:ext cx="4571640" cy="3428640"/>
          </a:xfrm>
          <a:prstGeom prst="rect">
            <a:avLst/>
          </a:prstGeom>
          <a:ln w="0">
            <a:noFill/>
          </a:ln>
        </p:spPr>
      </p:sp>
      <p:sp>
        <p:nvSpPr>
          <p:cNvPr id="347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proyecto integrador es la parte que consolida el aprendizaje. Idealmente se trabaja en grupos de dos o tres personas a lo largo del curso, entregando cada bloque al terminar el módulo correspondiente.</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Si el grupo tiene una máquina real en su planta, sustituya el enunciado por esa máquina: el valor formativo se multiplica.</a:t>
            </a:r>
            <a:endParaRPr b="0" lang="en-US" sz="2000" spc="-1" strike="noStrike">
              <a:solidFill>
                <a:srgbClr val="000000"/>
              </a:solidFill>
              <a:latin typeface="Arial"/>
            </a:endParaRPr>
          </a:p>
        </p:txBody>
      </p:sp>
      <p:sp>
        <p:nvSpPr>
          <p:cNvPr id="3478" name="PlaceHolder 3"/>
          <p:cNvSpPr>
            <a:spLocks noGrp="1"/>
          </p:cNvSpPr>
          <p:nvPr>
            <p:ph type="sldNum" idx="17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26341BD-A911-4A66-AB9B-80B691BDF17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79" name="PlaceHolder 1"/>
          <p:cNvSpPr>
            <a:spLocks noGrp="1"/>
          </p:cNvSpPr>
          <p:nvPr>
            <p:ph type="sldImg"/>
          </p:nvPr>
        </p:nvSpPr>
        <p:spPr>
          <a:xfrm>
            <a:off x="1143000" y="685800"/>
            <a:ext cx="4571640" cy="3428640"/>
          </a:xfrm>
          <a:prstGeom prst="rect">
            <a:avLst/>
          </a:prstGeom>
          <a:ln w="0">
            <a:noFill/>
          </a:ln>
        </p:spPr>
      </p:sp>
      <p:sp>
        <p:nvSpPr>
          <p:cNvPr id="348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ejercicio de traducir requisitos a decisiones técnicas es el más valioso del proyecto. Hágalo en común en la pizarra antes de que los grupos empiecen a calcular.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Requisitos y sus consecuencias:</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Repetibilidad ±0,05 mm → mecánica de precisión, ventana Pn522 coherente y sintonización cuidada.</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Tres turnos en nave sin climatizar → margen térmico amplio, verificación de par RMS con holgura y atención a la condensación.</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Parada segura → CN8 cableado y validado, no puenteado.</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 Caídas de red del 10 % → comprobar la curva a tensión mínima y considerar la alarma A.410.</a:t>
            </a:r>
            <a:endParaRPr b="0" lang="en-US" sz="2000" spc="-1" strike="noStrike">
              <a:solidFill>
                <a:srgbClr val="000000"/>
              </a:solidFill>
              <a:latin typeface="Arial"/>
            </a:endParaRPr>
          </a:p>
        </p:txBody>
      </p:sp>
      <p:sp>
        <p:nvSpPr>
          <p:cNvPr id="3481" name="PlaceHolder 3"/>
          <p:cNvSpPr>
            <a:spLocks noGrp="1"/>
          </p:cNvSpPr>
          <p:nvPr>
            <p:ph type="sldNum" idx="17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17E8A49-9183-4385-B634-F6BE955710B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2" name="PlaceHolder 1"/>
          <p:cNvSpPr>
            <a:spLocks noGrp="1"/>
          </p:cNvSpPr>
          <p:nvPr>
            <p:ph type="sldImg"/>
          </p:nvPr>
        </p:nvSpPr>
        <p:spPr>
          <a:xfrm>
            <a:off x="1143000" y="685800"/>
            <a:ext cx="4571640" cy="3428640"/>
          </a:xfrm>
          <a:prstGeom prst="rect">
            <a:avLst/>
          </a:prstGeom>
          <a:ln w="0">
            <a:noFill/>
          </a:ln>
        </p:spPr>
      </p:sp>
      <p:sp>
        <p:nvSpPr>
          <p:cNvPr id="348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Insista en el criterio 'ninguna cifra sin origen documentado'. En ingeniería, un número sin trazabilidad es una opinión.</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Valore especialmente la alternativa: pedir que comparen SGMXA-30A (3.000 rpm) con SGMXG-30A (1.500 rpm) obliga a razonar sobre par, velocidad e inercia en lugar de aplicar una receta.</a:t>
            </a:r>
            <a:endParaRPr b="0" lang="en-US" sz="2000" spc="-1" strike="noStrike">
              <a:solidFill>
                <a:srgbClr val="000000"/>
              </a:solidFill>
              <a:latin typeface="Arial"/>
            </a:endParaRPr>
          </a:p>
        </p:txBody>
      </p:sp>
      <p:sp>
        <p:nvSpPr>
          <p:cNvPr id="3484" name="PlaceHolder 3"/>
          <p:cNvSpPr>
            <a:spLocks noGrp="1"/>
          </p:cNvSpPr>
          <p:nvPr>
            <p:ph type="sldNum" idx="17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990FC1D-B6A3-4400-878B-CFE641A96B8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5" name="PlaceHolder 1"/>
          <p:cNvSpPr>
            <a:spLocks noGrp="1"/>
          </p:cNvSpPr>
          <p:nvPr>
            <p:ph type="sldImg"/>
          </p:nvPr>
        </p:nvSpPr>
        <p:spPr>
          <a:xfrm>
            <a:off x="1143000" y="685800"/>
            <a:ext cx="4571640" cy="3428640"/>
          </a:xfrm>
          <a:prstGeom prst="rect">
            <a:avLst/>
          </a:prstGeom>
          <a:ln w="0">
            <a:noFill/>
          </a:ln>
        </p:spPr>
      </p:sp>
      <p:sp>
        <p:nvSpPr>
          <p:cNvPr id="348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entregable es el más 'de oficina técnica'. Si el grupo no tiene experiencia en esquemas, acepte croquis a mano alzada: lo importante es el razonamiento, no la herramienta de dibujo.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Punto de discusión interesante: el requisito de diagnóstico remoto empuja hacia una variante de bus, lo que a su vez simplifica el cableado de CN1. Es un buen ejemplo de cómo un requisito aparentemente menor cambia la arquitectura completa.</a:t>
            </a:r>
            <a:endParaRPr b="0" lang="en-US" sz="2000" spc="-1" strike="noStrike">
              <a:solidFill>
                <a:srgbClr val="000000"/>
              </a:solidFill>
              <a:latin typeface="Arial"/>
            </a:endParaRPr>
          </a:p>
        </p:txBody>
      </p:sp>
      <p:sp>
        <p:nvSpPr>
          <p:cNvPr id="3487" name="PlaceHolder 3"/>
          <p:cNvSpPr>
            <a:spLocks noGrp="1"/>
          </p:cNvSpPr>
          <p:nvPr>
            <p:ph type="sldNum" idx="18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2A39B23-20BC-439A-98A5-CE910427552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8" name="PlaceHolder 1"/>
          <p:cNvSpPr>
            <a:spLocks noGrp="1"/>
          </p:cNvSpPr>
          <p:nvPr>
            <p:ph type="sldImg"/>
          </p:nvPr>
        </p:nvSpPr>
        <p:spPr>
          <a:xfrm>
            <a:off x="1143000" y="685800"/>
            <a:ext cx="4571640" cy="3428640"/>
          </a:xfrm>
          <a:prstGeom prst="rect">
            <a:avLst/>
          </a:prstGeom>
          <a:ln w="0">
            <a:noFill/>
          </a:ln>
        </p:spPr>
      </p:sp>
      <p:sp>
        <p:nvSpPr>
          <p:cNvPr id="348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El detalle más formativo de este entregable es la comparación entre la relación de inercias calculada y la medida por el autoajuste. Es el momento en que la teoría se enfrenta a la realidad.</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Pn522 exige un razonamiento fino: la repetibilidad de ±0,05 mm es una característica del sistema mecánico completo, mientras que Pn522 es la ventana que declara 'posición alcanzada'. No son lo mismo, y conviene que lo discutan.</a:t>
            </a:r>
            <a:endParaRPr b="0" lang="en-US" sz="2000" spc="-1" strike="noStrike">
              <a:solidFill>
                <a:srgbClr val="000000"/>
              </a:solidFill>
              <a:latin typeface="Arial"/>
            </a:endParaRPr>
          </a:p>
        </p:txBody>
      </p:sp>
      <p:sp>
        <p:nvSpPr>
          <p:cNvPr id="3490" name="PlaceHolder 3"/>
          <p:cNvSpPr>
            <a:spLocks noGrp="1"/>
          </p:cNvSpPr>
          <p:nvPr>
            <p:ph type="sldNum" idx="18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ED526E9E-3B02-4F8B-B623-55C5B5A4C1E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91" name="PlaceHolder 1"/>
          <p:cNvSpPr>
            <a:spLocks noGrp="1"/>
          </p:cNvSpPr>
          <p:nvPr>
            <p:ph type="sldImg"/>
          </p:nvPr>
        </p:nvSpPr>
        <p:spPr>
          <a:xfrm>
            <a:off x="1143000" y="685800"/>
            <a:ext cx="4571640" cy="3428640"/>
          </a:xfrm>
          <a:prstGeom prst="rect">
            <a:avLst/>
          </a:prstGeom>
          <a:ln w="0">
            <a:noFill/>
          </a:ln>
        </p:spPr>
      </p:sp>
      <p:sp>
        <p:nvSpPr>
          <p:cNvPr id="349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Los criterios de aceptación medibles son la parte más profesional del proyecto: convierten 'la máquina va bien' en algo verificable y contractual.</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Si el curso se imparte en varias sesiones, dedique la última a la defensa de los proyectos. Escuchar cómo otro grupo ha resuelto el mismo enunciado de forma distinta es enormemente formativo.</a:t>
            </a:r>
            <a:endParaRPr b="0" lang="en-US" sz="2000" spc="-1" strike="noStrike">
              <a:solidFill>
                <a:srgbClr val="000000"/>
              </a:solidFill>
              <a:latin typeface="Arial"/>
            </a:endParaRPr>
          </a:p>
        </p:txBody>
      </p:sp>
      <p:sp>
        <p:nvSpPr>
          <p:cNvPr id="3493" name="PlaceHolder 3"/>
          <p:cNvSpPr>
            <a:spLocks noGrp="1"/>
          </p:cNvSpPr>
          <p:nvPr>
            <p:ph type="sldNum" idx="18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76F4CEF-F7F5-4810-B87F-0AEF9A22B2A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94" name="PlaceHolder 1"/>
          <p:cNvSpPr>
            <a:spLocks noGrp="1"/>
          </p:cNvSpPr>
          <p:nvPr>
            <p:ph type="sldImg"/>
          </p:nvPr>
        </p:nvSpPr>
        <p:spPr>
          <a:xfrm>
            <a:off x="1143000" y="685800"/>
            <a:ext cx="4571640" cy="3428640"/>
          </a:xfrm>
          <a:prstGeom prst="rect">
            <a:avLst/>
          </a:prstGeom>
          <a:ln w="0">
            <a:noFill/>
          </a:ln>
        </p:spPr>
      </p:sp>
      <p:sp>
        <p:nvSpPr>
          <p:cNvPr id="349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Reparta la rúbrica al inicio del curso, no al final. Saber cómo se evalúa orienta el esfuerzo y mejora mucho la calidad de los entregables.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El peso del dimensionamiento (25 %) es deliberado: es la parte con más contenido de ingeniería y la que más diferencia a un técnico competente.</a:t>
            </a:r>
            <a:endParaRPr b="0" lang="en-US" sz="2000" spc="-1" strike="noStrike">
              <a:solidFill>
                <a:srgbClr val="000000"/>
              </a:solidFill>
              <a:latin typeface="Arial"/>
            </a:endParaRPr>
          </a:p>
        </p:txBody>
      </p:sp>
      <p:sp>
        <p:nvSpPr>
          <p:cNvPr id="3496" name="PlaceHolder 3"/>
          <p:cNvSpPr>
            <a:spLocks noGrp="1"/>
          </p:cNvSpPr>
          <p:nvPr>
            <p:ph type="sldNum" idx="18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DB55D66-5A64-4F05-8981-912DB13B04F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4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97" name="PlaceHolder 1"/>
          <p:cNvSpPr>
            <a:spLocks noGrp="1"/>
          </p:cNvSpPr>
          <p:nvPr>
            <p:ph type="sldImg"/>
          </p:nvPr>
        </p:nvSpPr>
        <p:spPr>
          <a:xfrm>
            <a:off x="1143000" y="685800"/>
            <a:ext cx="4571640" cy="3428640"/>
          </a:xfrm>
          <a:prstGeom prst="rect">
            <a:avLst/>
          </a:prstGeom>
          <a:ln w="0">
            <a:noFill/>
          </a:ln>
        </p:spPr>
      </p:sp>
      <p:sp>
        <p:nvSpPr>
          <p:cNvPr id="349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Los anexos están pensados para imprimirse y llevarse a planta. Anime a los alumnos a extraer estas diapositivas a PDF y tenerlas en el móvil.</a:t>
            </a:r>
            <a:endParaRPr b="0" lang="en-US" sz="2000" spc="-1" strike="noStrike">
              <a:solidFill>
                <a:srgbClr val="000000"/>
              </a:solidFill>
              <a:latin typeface="Arial"/>
            </a:endParaRPr>
          </a:p>
        </p:txBody>
      </p:sp>
      <p:sp>
        <p:nvSpPr>
          <p:cNvPr id="3499" name="PlaceHolder 3"/>
          <p:cNvSpPr>
            <a:spLocks noGrp="1"/>
          </p:cNvSpPr>
          <p:nvPr>
            <p:ph type="sldNum" idx="18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97696C0-BB08-4C97-8347-048B6239663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4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0" name="PlaceHolder 1"/>
          <p:cNvSpPr>
            <a:spLocks noGrp="1"/>
          </p:cNvSpPr>
          <p:nvPr>
            <p:ph type="sldImg"/>
          </p:nvPr>
        </p:nvSpPr>
        <p:spPr>
          <a:xfrm>
            <a:off x="1143000" y="685800"/>
            <a:ext cx="4571640" cy="3428640"/>
          </a:xfrm>
          <a:prstGeom prst="rect">
            <a:avLst/>
          </a:prstGeom>
          <a:ln w="0">
            <a:noFill/>
          </a:ln>
        </p:spPr>
      </p:sp>
      <p:sp>
        <p:nvSpPr>
          <p:cNvPr id="350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Esta es la diapositiva que más se fotografía de todo el curso. Sugiérales que la impriman y la peguen en la contraportada de su cuaderno de trabajo.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el criterio de aceptación asociado: T_rms ≤ 0,8 × T_nominal y T_pico ≤ 0,8 × T_máximo.</a:t>
            </a:r>
            <a:endParaRPr b="0" lang="en-US" sz="2000" spc="-1" strike="noStrike">
              <a:solidFill>
                <a:srgbClr val="000000"/>
              </a:solidFill>
              <a:latin typeface="Arial"/>
            </a:endParaRPr>
          </a:p>
        </p:txBody>
      </p:sp>
      <p:sp>
        <p:nvSpPr>
          <p:cNvPr id="3502" name="PlaceHolder 3"/>
          <p:cNvSpPr>
            <a:spLocks noGrp="1"/>
          </p:cNvSpPr>
          <p:nvPr>
            <p:ph type="sldNum" idx="18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B4AB24C-3885-4FD0-BB3F-F21F1EB4CC2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5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3" name="PlaceHolder 1"/>
          <p:cNvSpPr>
            <a:spLocks noGrp="1"/>
          </p:cNvSpPr>
          <p:nvPr>
            <p:ph type="sldImg"/>
          </p:nvPr>
        </p:nvSpPr>
        <p:spPr>
          <a:xfrm>
            <a:off x="1143000" y="685800"/>
            <a:ext cx="4571640" cy="3428640"/>
          </a:xfrm>
          <a:prstGeom prst="rect">
            <a:avLst/>
          </a:prstGeom>
          <a:ln w="0">
            <a:noFill/>
          </a:ln>
        </p:spPr>
      </p:sp>
      <p:sp>
        <p:nvSpPr>
          <p:cNvPr id="350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Advierta una vez más de que la numeración puede variar entre series y variantes. El valor de esta ficha es recordar QUÉ existe; el número exacto se confirma en el manual.</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Si los alumnos trabajan habitualmente con un modelo concreto, recomiéndeles hacer su propia versión de esta ficha con los valores verificados de su equipo.</a:t>
            </a:r>
            <a:endParaRPr b="0" lang="en-US" sz="2000" spc="-1" strike="noStrike">
              <a:solidFill>
                <a:srgbClr val="000000"/>
              </a:solidFill>
              <a:latin typeface="Arial"/>
            </a:endParaRPr>
          </a:p>
        </p:txBody>
      </p:sp>
      <p:sp>
        <p:nvSpPr>
          <p:cNvPr id="3505" name="PlaceHolder 3"/>
          <p:cNvSpPr>
            <a:spLocks noGrp="1"/>
          </p:cNvSpPr>
          <p:nvPr>
            <p:ph type="sldNum" idx="18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4F7AE76-0115-4389-B2B4-B1F2412CFA1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5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6" name="PlaceHolder 1"/>
          <p:cNvSpPr>
            <a:spLocks noGrp="1"/>
          </p:cNvSpPr>
          <p:nvPr>
            <p:ph type="sldImg"/>
          </p:nvPr>
        </p:nvSpPr>
        <p:spPr>
          <a:xfrm>
            <a:off x="1143000" y="685800"/>
            <a:ext cx="4571640" cy="3428640"/>
          </a:xfrm>
          <a:prstGeom prst="rect">
            <a:avLst/>
          </a:prstGeom>
          <a:ln w="0">
            <a:noFill/>
          </a:ln>
        </p:spPr>
      </p:sp>
      <p:sp>
        <p:nvSpPr>
          <p:cNvPr id="350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Este resumen por familias es más útil en campo que una lista completa de códigos: permite orientar el diagnóstico en segundos y después buscar el código exacto en el manual.</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la regla: A.9__ son avisos, el resto son alarmas que detienen el eje.</a:t>
            </a:r>
            <a:endParaRPr b="0" lang="en-US" sz="2000" spc="-1" strike="noStrike">
              <a:solidFill>
                <a:srgbClr val="000000"/>
              </a:solidFill>
              <a:latin typeface="Arial"/>
            </a:endParaRPr>
          </a:p>
        </p:txBody>
      </p:sp>
      <p:sp>
        <p:nvSpPr>
          <p:cNvPr id="3508" name="PlaceHolder 3"/>
          <p:cNvSpPr>
            <a:spLocks noGrp="1"/>
          </p:cNvSpPr>
          <p:nvPr>
            <p:ph type="sldNum" idx="18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D01B3D8-0550-4403-A99F-605E4155C32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5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9" name="PlaceHolder 1"/>
          <p:cNvSpPr>
            <a:spLocks noGrp="1"/>
          </p:cNvSpPr>
          <p:nvPr>
            <p:ph type="sldImg"/>
          </p:nvPr>
        </p:nvSpPr>
        <p:spPr>
          <a:xfrm>
            <a:off x="1143000" y="685800"/>
            <a:ext cx="4571640" cy="3428640"/>
          </a:xfrm>
          <a:prstGeom prst="rect">
            <a:avLst/>
          </a:prstGeom>
          <a:ln w="0">
            <a:noFill/>
          </a:ln>
        </p:spPr>
      </p:sp>
      <p:sp>
        <p:nvSpPr>
          <p:cNvPr id="351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Sugiera convertir estas dos columnas en un documento A4 a doble cara. Es el entregable del curso con mayor impacto inmediato en el trabajo diario.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Recuerde: una lista de verificación sólo funciona si se rellena en el momento, no de memoria al final del día.</a:t>
            </a:r>
            <a:endParaRPr b="0" lang="en-US" sz="2000" spc="-1" strike="noStrike">
              <a:solidFill>
                <a:srgbClr val="000000"/>
              </a:solidFill>
              <a:latin typeface="Arial"/>
            </a:endParaRPr>
          </a:p>
        </p:txBody>
      </p:sp>
      <p:sp>
        <p:nvSpPr>
          <p:cNvPr id="3511" name="PlaceHolder 3"/>
          <p:cNvSpPr>
            <a:spLocks noGrp="1"/>
          </p:cNvSpPr>
          <p:nvPr>
            <p:ph type="sldNum" idx="18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4766851F-F470-4844-BED0-C46896D1127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5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12" name="PlaceHolder 1"/>
          <p:cNvSpPr>
            <a:spLocks noGrp="1"/>
          </p:cNvSpPr>
          <p:nvPr>
            <p:ph type="sldImg"/>
          </p:nvPr>
        </p:nvSpPr>
        <p:spPr>
          <a:xfrm>
            <a:off x="1143000" y="685800"/>
            <a:ext cx="4571640" cy="3428640"/>
          </a:xfrm>
          <a:prstGeom prst="rect">
            <a:avLst/>
          </a:prstGeom>
          <a:ln w="0">
            <a:noFill/>
          </a:ln>
        </p:spPr>
      </p:sp>
      <p:sp>
        <p:nvSpPr>
          <p:cNvPr id="351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Repase los términos que más confusión generan: baseblock, STO frente a parada de emergencia, y relación de inercias.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Puede usarse como test rápido: tape la columna de la derecha y pida definiciones.</a:t>
            </a:r>
            <a:endParaRPr b="0" lang="en-US" sz="2000" spc="-1" strike="noStrike">
              <a:solidFill>
                <a:srgbClr val="000000"/>
              </a:solidFill>
              <a:latin typeface="Arial"/>
            </a:endParaRPr>
          </a:p>
        </p:txBody>
      </p:sp>
      <p:sp>
        <p:nvSpPr>
          <p:cNvPr id="3514" name="PlaceHolder 3"/>
          <p:cNvSpPr>
            <a:spLocks noGrp="1"/>
          </p:cNvSpPr>
          <p:nvPr>
            <p:ph type="sldNum" idx="18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C5FFF1C-F82B-47AD-BFD4-1DDEAA23498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5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15" name="PlaceHolder 1"/>
          <p:cNvSpPr>
            <a:spLocks noGrp="1"/>
          </p:cNvSpPr>
          <p:nvPr>
            <p:ph type="sldImg"/>
          </p:nvPr>
        </p:nvSpPr>
        <p:spPr>
          <a:xfrm>
            <a:off x="1143000" y="685800"/>
            <a:ext cx="4571640" cy="3428640"/>
          </a:xfrm>
          <a:prstGeom prst="rect">
            <a:avLst/>
          </a:prstGeom>
          <a:ln w="0">
            <a:noFill/>
          </a:ln>
        </p:spPr>
      </p:sp>
      <p:sp>
        <p:nvSpPr>
          <p:cNvPr id="351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Deje tiempo real para responder (10-15 minutos) antes de pasar a las soluciones. Si es posible, que las respondan por escrito y en parejas.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Las preguntas están ordenadas por módulos: 1-3 corresponden a fundamentos y dimensionamiento, 4-5 a sintonización e instalación, 6-8 a diagnóstico, 9 a seguridad y 10 a mantenimiento.</a:t>
            </a:r>
            <a:endParaRPr b="0" lang="en-US" sz="2000" spc="-1" strike="noStrike">
              <a:solidFill>
                <a:srgbClr val="000000"/>
              </a:solidFill>
              <a:latin typeface="Arial"/>
            </a:endParaRPr>
          </a:p>
        </p:txBody>
      </p:sp>
      <p:sp>
        <p:nvSpPr>
          <p:cNvPr id="3517" name="PlaceHolder 3"/>
          <p:cNvSpPr>
            <a:spLocks noGrp="1"/>
          </p:cNvSpPr>
          <p:nvPr>
            <p:ph type="sldNum" idx="19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5BB5DF8-9C2C-4CC8-8353-CE83A6EDDC4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5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18" name="PlaceHolder 1"/>
          <p:cNvSpPr>
            <a:spLocks noGrp="1"/>
          </p:cNvSpPr>
          <p:nvPr>
            <p:ph type="sldImg"/>
          </p:nvPr>
        </p:nvSpPr>
        <p:spPr>
          <a:xfrm>
            <a:off x="1143000" y="685800"/>
            <a:ext cx="4571640" cy="3428640"/>
          </a:xfrm>
          <a:prstGeom prst="rect">
            <a:avLst/>
          </a:prstGeom>
          <a:ln w="0">
            <a:noFill/>
          </a:ln>
        </p:spPr>
      </p:sp>
      <p:sp>
        <p:nvSpPr>
          <p:cNvPr id="351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Comente cada respuesta brevemente, insistiendo en el razonamiento y no en el dato.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Las preguntas 6, 9 y 10 son las que más fallan y, no por casualidad, las que corresponden a los errores más caros en campo.</a:t>
            </a:r>
            <a:endParaRPr b="0" lang="en-US" sz="2000" spc="-1" strike="noStrike">
              <a:solidFill>
                <a:srgbClr val="000000"/>
              </a:solidFill>
              <a:latin typeface="Arial"/>
            </a:endParaRPr>
          </a:p>
        </p:txBody>
      </p:sp>
      <p:sp>
        <p:nvSpPr>
          <p:cNvPr id="3520" name="PlaceHolder 3"/>
          <p:cNvSpPr>
            <a:spLocks noGrp="1"/>
          </p:cNvSpPr>
          <p:nvPr>
            <p:ph type="sldNum" idx="19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0EEBC60-69E1-4DF2-8DA7-928906560DB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5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1" name="PlaceHolder 1"/>
          <p:cNvSpPr>
            <a:spLocks noGrp="1"/>
          </p:cNvSpPr>
          <p:nvPr>
            <p:ph type="sldImg"/>
          </p:nvPr>
        </p:nvSpPr>
        <p:spPr>
          <a:xfrm>
            <a:off x="1143000" y="685800"/>
            <a:ext cx="4571640" cy="3428640"/>
          </a:xfrm>
          <a:prstGeom prst="rect">
            <a:avLst/>
          </a:prstGeom>
          <a:ln w="0">
            <a:noFill/>
          </a:ln>
        </p:spPr>
      </p:sp>
      <p:sp>
        <p:nvSpPr>
          <p:cNvPr id="352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Cierre insistiendo en el hábito profesional más valioso: consultar el manual. El objetivo del curso no era sustituir al manual, sino enseñar a usarlo con criterio y a saber qué preguntar.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Anime a montar un pequeño banco de pruebas en planta si es posible: un drive y un motor sobre una placa, con SigmaWin+. Es la mejor inversión formativa para un equipo de mantenimiento.</a:t>
            </a:r>
            <a:endParaRPr b="0" lang="en-US" sz="2000" spc="-1" strike="noStrike">
              <a:solidFill>
                <a:srgbClr val="000000"/>
              </a:solidFill>
              <a:latin typeface="Arial"/>
            </a:endParaRPr>
          </a:p>
        </p:txBody>
      </p:sp>
      <p:sp>
        <p:nvSpPr>
          <p:cNvPr id="3523" name="PlaceHolder 3"/>
          <p:cNvSpPr>
            <a:spLocks noGrp="1"/>
          </p:cNvSpPr>
          <p:nvPr>
            <p:ph type="sldNum" idx="19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FEDF98F-9013-4FA4-A1C8-26ED2C2EF88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5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24" name="PlaceHolder 1"/>
          <p:cNvSpPr>
            <a:spLocks noGrp="1"/>
          </p:cNvSpPr>
          <p:nvPr>
            <p:ph type="sldImg"/>
          </p:nvPr>
        </p:nvSpPr>
        <p:spPr>
          <a:xfrm>
            <a:off x="1143000" y="685800"/>
            <a:ext cx="4571640" cy="3428640"/>
          </a:xfrm>
          <a:prstGeom prst="rect">
            <a:avLst/>
          </a:prstGeom>
          <a:ln w="0">
            <a:noFill/>
          </a:ln>
        </p:spPr>
      </p:sp>
      <p:sp>
        <p:nvSpPr>
          <p:cNvPr id="352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Diapositiva de cierre. Recupere la primera diapositiva de objetivos y repase los seis puntos con el grupo, preguntando si se sienten capaces de cada uno.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Deje tiempo para preguntas abiertas y recoja las dudas que no hayan quedado resueltas: suelen indicar qué parte del curso conviene reforzar en la siguiente edición.</a:t>
            </a:r>
            <a:endParaRPr b="0" lang="en-US" sz="2000" spc="-1" strike="noStrike">
              <a:solidFill>
                <a:srgbClr val="000000"/>
              </a:solidFill>
              <a:latin typeface="Arial"/>
            </a:endParaRPr>
          </a:p>
        </p:txBody>
      </p:sp>
      <p:sp>
        <p:nvSpPr>
          <p:cNvPr id="3526" name="PlaceHolder 3"/>
          <p:cNvSpPr>
            <a:spLocks noGrp="1"/>
          </p:cNvSpPr>
          <p:nvPr>
            <p:ph type="sldNum" idx="19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98F08E0-89D3-4EE4-81C0-0B3E4C15D87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5"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DC00FB46-0350-4C5D-9258-9D32E1629806}"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7842E4DD-5523-47F7-8462-BCF8E13C13CA}"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A09DE5E4-9BD6-443A-B54C-797337BFC5F3}"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2"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3BEF33EF-151F-484F-93E3-268541F874E8}"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B27E4601-DBC6-4EA4-854A-A3740166B383}"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C646AC5A-6735-4F9E-AD41-4FC114FF2876}"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8AAB96D9-E8E3-49C8-B862-8AF6D920E2C3}"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3EF161CE-87E1-4EF6-977B-AC35E251ABFA}"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C930D409-63A4-44B3-ABBE-F0288A298913}"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F5445EAB-1181-4064-A210-DFF413A87E4D}"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0109E21C-89E4-4BBE-8F18-320D21BEB8A8}"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2130480"/>
            <a:ext cx="7772040" cy="146952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 name="PlaceHolder 2"/>
          <p:cNvSpPr>
            <a:spLocks noGrp="1"/>
          </p:cNvSpPr>
          <p:nvPr>
            <p:ph type="dt" idx="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6667B7B8-E6E9-4DB1-A063-807DA211C91F}"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AF058551-70C6-45BD-87B8-B9575E97938B}"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rIns="91440" tIns="45720" bIns="45720" anchor="ctr" vert="eaVert">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80BAE9AA-110A-4CEA-9179-AD0A704FAB9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D5A6787-C966-4C8B-88E8-5F60DBC1210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722160" y="4406760"/>
            <a:ext cx="7772040" cy="1361880"/>
          </a:xfrm>
          <a:prstGeom prst="rect">
            <a:avLst/>
          </a:prstGeom>
          <a:noFill/>
          <a:ln w="0">
            <a:noFill/>
          </a:ln>
        </p:spPr>
        <p:txBody>
          <a:bodyPr lIns="91440" rIns="91440" tIns="45720" bIns="45720" anchor="t">
            <a:noAutofit/>
          </a:bodyPr>
          <a:p>
            <a:pPr indent="0" defTabSz="457200">
              <a:lnSpc>
                <a:spcPct val="100000"/>
              </a:lnSpc>
              <a:buNone/>
            </a:pPr>
            <a:r>
              <a:rPr b="1" lang="en-US" sz="4000" spc="-1" strike="noStrike" cap="all">
                <a:solidFill>
                  <a:schemeClr val="dk1"/>
                </a:solidFill>
                <a:latin typeface="Calibri"/>
              </a:rPr>
              <a:t>Click to edit Master title style</a:t>
            </a:r>
            <a:endParaRPr b="0" lang="en-US" sz="4000" spc="-1" strike="noStrike">
              <a:solidFill>
                <a:schemeClr val="dk1"/>
              </a:solidFill>
              <a:latin typeface="Calibri"/>
            </a:endParaRPr>
          </a:p>
        </p:txBody>
      </p:sp>
      <p:sp>
        <p:nvSpPr>
          <p:cNvPr id="24" name="PlaceHolder 2"/>
          <p:cNvSpPr>
            <a:spLocks noGrp="1"/>
          </p:cNvSpPr>
          <p:nvPr>
            <p:ph type="body"/>
          </p:nvPr>
        </p:nvSpPr>
        <p:spPr>
          <a:xfrm>
            <a:off x="722160" y="2906640"/>
            <a:ext cx="7772040" cy="1499760"/>
          </a:xfrm>
          <a:prstGeom prst="rect">
            <a:avLst/>
          </a:prstGeom>
          <a:noFill/>
          <a:ln w="0">
            <a:noFill/>
          </a:ln>
        </p:spPr>
        <p:txBody>
          <a:bodyPr lIns="91440" rIns="91440" tIns="45720" bIns="45720" anchor="b">
            <a:noAutofit/>
          </a:bodyPr>
          <a:p>
            <a:pPr indent="0" defTabSz="457200">
              <a:lnSpc>
                <a:spcPct val="100000"/>
              </a:lnSpc>
              <a:spcBef>
                <a:spcPts val="400"/>
              </a:spcBef>
              <a:buNone/>
              <a:tabLst>
                <a:tab algn="l" pos="0"/>
              </a:tabLst>
            </a:pPr>
            <a:r>
              <a:rPr b="0" lang="en-US" sz="2000" spc="-1" strike="noStrike">
                <a:solidFill>
                  <a:schemeClr val="dk1">
                    <a:tint val="75000"/>
                  </a:schemeClr>
                </a:solidFill>
                <a:latin typeface="Calibri"/>
              </a:rPr>
              <a:t>Click to edit Master text styles</a:t>
            </a:r>
            <a:endParaRPr b="0" lang="en-US" sz="2000" spc="-1" strike="noStrike">
              <a:solidFill>
                <a:schemeClr val="dk1"/>
              </a:solidFill>
              <a:latin typeface="Calibri"/>
            </a:endParaRPr>
          </a:p>
        </p:txBody>
      </p:sp>
      <p:sp>
        <p:nvSpPr>
          <p:cNvPr id="25" name="PlaceHolder 3"/>
          <p:cNvSpPr>
            <a:spLocks noGrp="1"/>
          </p:cNvSpPr>
          <p:nvPr>
            <p:ph type="dt" idx="13"/>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6" name="PlaceHolder 4"/>
          <p:cNvSpPr>
            <a:spLocks noGrp="1"/>
          </p:cNvSpPr>
          <p:nvPr>
            <p:ph type="ftr" idx="14"/>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7" name="PlaceHolder 5"/>
          <p:cNvSpPr>
            <a:spLocks noGrp="1"/>
          </p:cNvSpPr>
          <p:nvPr>
            <p:ph type="sldNum" idx="15"/>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42E9E54-4C3D-4A1B-8A5B-6740FC03BD6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29" name="PlaceHolder 2"/>
          <p:cNvSpPr>
            <a:spLocks noGrp="1"/>
          </p:cNvSpPr>
          <p:nvPr>
            <p:ph type="body"/>
          </p:nvPr>
        </p:nvSpPr>
        <p:spPr>
          <a:xfrm>
            <a:off x="45720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0" name="PlaceHolder 3"/>
          <p:cNvSpPr>
            <a:spLocks noGrp="1"/>
          </p:cNvSpPr>
          <p:nvPr>
            <p:ph type="body"/>
          </p:nvPr>
        </p:nvSpPr>
        <p:spPr>
          <a:xfrm>
            <a:off x="464832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1" name="PlaceHolder 4"/>
          <p:cNvSpPr>
            <a:spLocks noGrp="1"/>
          </p:cNvSpPr>
          <p:nvPr>
            <p:ph type="dt" idx="16"/>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2" name="PlaceHolder 5"/>
          <p:cNvSpPr>
            <a:spLocks noGrp="1"/>
          </p:cNvSpPr>
          <p:nvPr>
            <p:ph type="ftr" idx="17"/>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6"/>
          <p:cNvSpPr>
            <a:spLocks noGrp="1"/>
          </p:cNvSpPr>
          <p:nvPr>
            <p:ph type="sldNum" idx="18"/>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E73DFE4C-77D2-4257-ACDA-0F108560806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38" name="PlaceHolder 2"/>
          <p:cNvSpPr>
            <a:spLocks noGrp="1"/>
          </p:cNvSpPr>
          <p:nvPr>
            <p:ph type="body"/>
          </p:nvPr>
        </p:nvSpPr>
        <p:spPr>
          <a:xfrm>
            <a:off x="457200" y="1535040"/>
            <a:ext cx="403992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39" name="PlaceHolder 3"/>
          <p:cNvSpPr>
            <a:spLocks noGrp="1"/>
          </p:cNvSpPr>
          <p:nvPr>
            <p:ph type="body"/>
          </p:nvPr>
        </p:nvSpPr>
        <p:spPr>
          <a:xfrm>
            <a:off x="457200" y="2174760"/>
            <a:ext cx="403992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0" name="PlaceHolder 4"/>
          <p:cNvSpPr>
            <a:spLocks noGrp="1"/>
          </p:cNvSpPr>
          <p:nvPr>
            <p:ph type="body"/>
          </p:nvPr>
        </p:nvSpPr>
        <p:spPr>
          <a:xfrm>
            <a:off x="4645080" y="1535040"/>
            <a:ext cx="404136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1" name="PlaceHolder 5"/>
          <p:cNvSpPr>
            <a:spLocks noGrp="1"/>
          </p:cNvSpPr>
          <p:nvPr>
            <p:ph type="body"/>
          </p:nvPr>
        </p:nvSpPr>
        <p:spPr>
          <a:xfrm>
            <a:off x="4645080" y="2174760"/>
            <a:ext cx="404136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2" name="PlaceHolder 6"/>
          <p:cNvSpPr>
            <a:spLocks noGrp="1"/>
          </p:cNvSpPr>
          <p:nvPr>
            <p:ph type="dt" idx="19"/>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3" name="PlaceHolder 7"/>
          <p:cNvSpPr>
            <a:spLocks noGrp="1"/>
          </p:cNvSpPr>
          <p:nvPr>
            <p:ph type="ftr" idx="20"/>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4" name="PlaceHolder 8"/>
          <p:cNvSpPr>
            <a:spLocks noGrp="1"/>
          </p:cNvSpPr>
          <p:nvPr>
            <p:ph type="sldNum" idx="21"/>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C95FD58-CCC6-4A8E-B752-629732AA3C9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46" name="PlaceHolder 2"/>
          <p:cNvSpPr>
            <a:spLocks noGrp="1"/>
          </p:cNvSpPr>
          <p:nvPr>
            <p:ph type="dt" idx="22"/>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7" name="PlaceHolder 3"/>
          <p:cNvSpPr>
            <a:spLocks noGrp="1"/>
          </p:cNvSpPr>
          <p:nvPr>
            <p:ph type="ftr" idx="23"/>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4"/>
          <p:cNvSpPr>
            <a:spLocks noGrp="1"/>
          </p:cNvSpPr>
          <p:nvPr>
            <p:ph type="sldNum" idx="24"/>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39475192-22DE-4970-BBF6-64D57C61E80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1" name="PlaceHolder 2"/>
          <p:cNvSpPr>
            <a:spLocks noGrp="1"/>
          </p:cNvSpPr>
          <p:nvPr>
            <p:ph type="ftr" idx="26"/>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2" name="PlaceHolder 3"/>
          <p:cNvSpPr>
            <a:spLocks noGrp="1"/>
          </p:cNvSpPr>
          <p:nvPr>
            <p:ph type="sldNum" idx="27"/>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DF5C4D18-E115-409B-A04D-65372D322C0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53" name="PlaceHolder 4"/>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54"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2880"/>
            <a:ext cx="3007800" cy="116172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56" name="PlaceHolder 2"/>
          <p:cNvSpPr>
            <a:spLocks noGrp="1"/>
          </p:cNvSpPr>
          <p:nvPr>
            <p:ph type="body"/>
          </p:nvPr>
        </p:nvSpPr>
        <p:spPr>
          <a:xfrm>
            <a:off x="3575160" y="272880"/>
            <a:ext cx="5111280" cy="585288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57" name="PlaceHolder 3"/>
          <p:cNvSpPr>
            <a:spLocks noGrp="1"/>
          </p:cNvSpPr>
          <p:nvPr>
            <p:ph type="body"/>
          </p:nvPr>
        </p:nvSpPr>
        <p:spPr>
          <a:xfrm>
            <a:off x="457200" y="1434960"/>
            <a:ext cx="3007800" cy="46908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58" name="PlaceHolder 4"/>
          <p:cNvSpPr>
            <a:spLocks noGrp="1"/>
          </p:cNvSpPr>
          <p:nvPr>
            <p:ph type="dt" idx="28"/>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9" name="PlaceHolder 5"/>
          <p:cNvSpPr>
            <a:spLocks noGrp="1"/>
          </p:cNvSpPr>
          <p:nvPr>
            <p:ph type="ftr" idx="29"/>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0" name="PlaceHolder 6"/>
          <p:cNvSpPr>
            <a:spLocks noGrp="1"/>
          </p:cNvSpPr>
          <p:nvPr>
            <p:ph type="sldNum" idx="30"/>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AC0FBB53-654D-4DEE-8FE7-C05AA3A3F8E9}"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1792440" y="4800600"/>
            <a:ext cx="5486040" cy="56628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62" name="PlaceHolder 2"/>
          <p:cNvSpPr>
            <a:spLocks noGrp="1"/>
          </p:cNvSpPr>
          <p:nvPr>
            <p:ph type="body"/>
          </p:nvPr>
        </p:nvSpPr>
        <p:spPr>
          <a:xfrm>
            <a:off x="1792440" y="612720"/>
            <a:ext cx="5486040" cy="4114440"/>
          </a:xfrm>
          <a:prstGeom prst="rect">
            <a:avLst/>
          </a:prstGeom>
          <a:noFill/>
          <a:ln w="0">
            <a:noFill/>
          </a:ln>
        </p:spPr>
        <p:txBody>
          <a:bodyPr lIns="90000" rIns="90000" tIns="45000" bIns="45000" anchor="t">
            <a:no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63" name="PlaceHolder 3"/>
          <p:cNvSpPr>
            <a:spLocks noGrp="1"/>
          </p:cNvSpPr>
          <p:nvPr>
            <p:ph type="body"/>
          </p:nvPr>
        </p:nvSpPr>
        <p:spPr>
          <a:xfrm>
            <a:off x="1792440" y="5367240"/>
            <a:ext cx="5486040" cy="8046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64" name="PlaceHolder 4"/>
          <p:cNvSpPr>
            <a:spLocks noGrp="1"/>
          </p:cNvSpPr>
          <p:nvPr>
            <p:ph type="dt" idx="3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5" name="PlaceHolder 5"/>
          <p:cNvSpPr>
            <a:spLocks noGrp="1"/>
          </p:cNvSpPr>
          <p:nvPr>
            <p:ph type="ftr" idx="3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6" name="PlaceHolder 6"/>
          <p:cNvSpPr>
            <a:spLocks noGrp="1"/>
          </p:cNvSpPr>
          <p:nvPr>
            <p:ph type="sldNum" idx="3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C9E5454D-27A3-4B7A-89B6-50E48550F62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9.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7.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8.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0.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1.xml"/>
</Relationships>
</file>

<file path=ppt/slides/_rels/slide5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2.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3.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4.xml"/>
</Relationships>
</file>

<file path=ppt/slides/_rels/slide5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5.xml"/>
</Relationships>
</file>

<file path=ppt/slides/_rels/slide5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6.xml"/>
</Relationships>
</file>

<file path=ppt/slides/_rels/slide5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Relationship Id="rId3" Type="http://schemas.openxmlformats.org/officeDocument/2006/relationships/notesSlide" Target="../notesSlides/notesSlide57.xml"/>
</Relationships>
</file>

<file path=ppt/slides/_rels/slide5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9.xml"/><Relationship Id="rId3" Type="http://schemas.openxmlformats.org/officeDocument/2006/relationships/notesSlide" Target="../notesSlides/notesSlide58.xml"/>
</Relationships>
</file>

<file path=ppt/slides/_rels/slide59.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9.xml"/><Relationship Id="rId3" Type="http://schemas.openxmlformats.org/officeDocument/2006/relationships/notesSlide" Target="../notesSlides/notesSlide59.xml"/>
</Relationships>
</file>

<file path=ppt/slides/_rels/slide6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9.xml"/><Relationship Id="rId3" Type="http://schemas.openxmlformats.org/officeDocument/2006/relationships/notesSlide" Target="../notesSlides/notesSlide60.xml"/>
</Relationships>
</file>

<file path=ppt/slides/_rels/slide6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9.xml"/><Relationship Id="rId3" Type="http://schemas.openxmlformats.org/officeDocument/2006/relationships/notesSlide" Target="../notesSlides/notesSlide61.xml"/>
</Relationships>
</file>

<file path=ppt/slides/_rels/slide62.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9.xml"/><Relationship Id="rId3" Type="http://schemas.openxmlformats.org/officeDocument/2006/relationships/notesSlide" Target="../notesSlides/notesSlide62.xml"/>
</Relationships>
</file>

<file path=ppt/slides/_rels/slide6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9.xml"/><Relationship Id="rId3" Type="http://schemas.openxmlformats.org/officeDocument/2006/relationships/notesSlide" Target="../notesSlides/notesSlide63.xml"/>
</Relationships>
</file>

<file path=ppt/slides/_rels/slide6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9.xml"/><Relationship Id="rId3" Type="http://schemas.openxmlformats.org/officeDocument/2006/relationships/notesSlide" Target="../notesSlides/notesSlide64.xml"/>
</Relationships>
</file>

<file path=ppt/slides/_rels/slide6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5.xml"/>
</Relationships>
</file>

<file path=ppt/slides/_rels/slide6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6.xml"/>
</Relationships>
</file>

<file path=ppt/slides/_rels/slide6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7.xml"/>
</Relationships>
</file>

<file path=ppt/slides/_rels/slide6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8.xml"/>
</Relationships>
</file>

<file path=ppt/slides/_rels/slide6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9.xml"/>
</Relationships>
</file>

<file path=ppt/slides/_rels/slide7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0.xml"/>
</Relationships>
</file>

<file path=ppt/slides/_rels/slide7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1.xml"/>
</Relationships>
</file>

<file path=ppt/slides/_rels/slide7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2.xml"/>
</Relationships>
</file>

<file path=ppt/slides/_rels/slide7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3.xml"/>
</Relationships>
</file>

<file path=ppt/slides/_rels/slide7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9.xml"/><Relationship Id="rId3" Type="http://schemas.openxmlformats.org/officeDocument/2006/relationships/notesSlide" Target="../notesSlides/notesSlide74.xml"/>
</Relationships>
</file>

<file path=ppt/slides/_rels/slide7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5.xml"/>
</Relationships>
</file>

<file path=ppt/slides/_rels/slide76.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9.xml"/><Relationship Id="rId3" Type="http://schemas.openxmlformats.org/officeDocument/2006/relationships/notesSlide" Target="../notesSlides/notesSlide76.xml"/>
</Relationships>
</file>

<file path=ppt/slides/_rels/slide77.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77.xml"/>
</Relationships>
</file>

<file path=ppt/slides/_rels/slide78.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9.xml"/><Relationship Id="rId3" Type="http://schemas.openxmlformats.org/officeDocument/2006/relationships/notesSlide" Target="../notesSlides/notesSlide78.xml"/>
</Relationships>
</file>

<file path=ppt/slides/_rels/slide79.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9.xml"/><Relationship Id="rId3" Type="http://schemas.openxmlformats.org/officeDocument/2006/relationships/notesSlide" Target="../notesSlides/notesSlide79.xml"/>
</Relationships>
</file>

<file path=ppt/slides/_rels/slide80.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9.xml"/><Relationship Id="rId3" Type="http://schemas.openxmlformats.org/officeDocument/2006/relationships/notesSlide" Target="../notesSlides/notesSlide80.xml"/>
</Relationships>
</file>

<file path=ppt/slides/_rels/slide8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1.xml"/>
</Relationships>
</file>

<file path=ppt/slides/_rels/slide8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2.xml"/>
</Relationships>
</file>

<file path=ppt/slides/_rels/slide8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3.xml"/>
</Relationships>
</file>

<file path=ppt/slides/_rels/slide8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4.xml"/>
</Relationships>
</file>

<file path=ppt/slides/_rels/slide8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5.xml"/>
</Relationships>
</file>

<file path=ppt/slides/_rels/slide8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6.xml"/>
</Relationships>
</file>

<file path=ppt/slides/_rels/slide8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7.xml"/>
</Relationships>
</file>

<file path=ppt/slides/_rels/slide8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8.xml"/>
</Relationships>
</file>

<file path=ppt/slides/_rels/slide89.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9.xml"/><Relationship Id="rId3" Type="http://schemas.openxmlformats.org/officeDocument/2006/relationships/notesSlide" Target="../notesSlides/notesSlide89.xml"/>
</Relationships>
</file>

<file path=ppt/slides/_rels/slide90.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9.xml"/><Relationship Id="rId3" Type="http://schemas.openxmlformats.org/officeDocument/2006/relationships/notesSlide" Target="../notesSlides/notesSlide90.xml"/>
</Relationships>
</file>

<file path=ppt/slides/_rels/slide9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1.xml"/>
</Relationships>
</file>

<file path=ppt/slides/_rels/slide92.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9.xml"/><Relationship Id="rId3" Type="http://schemas.openxmlformats.org/officeDocument/2006/relationships/notesSlide" Target="../notesSlides/notesSlide92.xml"/>
</Relationships>
</file>

<file path=ppt/slides/_rels/slide93.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9.xml"/><Relationship Id="rId3" Type="http://schemas.openxmlformats.org/officeDocument/2006/relationships/notesSlide" Target="../notesSlides/notesSlide93.xml"/>
</Relationships>
</file>

<file path=ppt/slides/_rels/slide94.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9.xml"/><Relationship Id="rId3" Type="http://schemas.openxmlformats.org/officeDocument/2006/relationships/notesSlide" Target="../notesSlides/notesSlide94.xml"/>
</Relationships>
</file>

<file path=ppt/slides/_rels/slide95.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9.xml"/><Relationship Id="rId3" Type="http://schemas.openxmlformats.org/officeDocument/2006/relationships/notesSlide" Target="../notesSlides/notesSlide95.xml"/>
</Relationships>
</file>

<file path=ppt/slides/_rels/slide96.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9.xml"/><Relationship Id="rId3" Type="http://schemas.openxmlformats.org/officeDocument/2006/relationships/notesSlide" Target="../notesSlides/notesSlide96.xml"/>
</Relationships>
</file>

<file path=ppt/slides/_rels/slide97.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slideLayout" Target="../slideLayouts/slideLayout9.xml"/><Relationship Id="rId3" Type="http://schemas.openxmlformats.org/officeDocument/2006/relationships/notesSlide" Target="../notesSlides/notesSlide97.xml"/>
</Relationships>
</file>

<file path=ppt/slides/_rels/slide98.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slideLayout" Target="../slideLayouts/slideLayout9.xml"/><Relationship Id="rId3" Type="http://schemas.openxmlformats.org/officeDocument/2006/relationships/notesSlide" Target="../notesSlides/notesSlide98.xml"/>
</Relationships>
</file>

<file path=ppt/slides/_rels/slide9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9.xml"/>
</Relationships>
</file>

<file path=ppt/slides/_rels/slide100.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9.xml"/><Relationship Id="rId3" Type="http://schemas.openxmlformats.org/officeDocument/2006/relationships/notesSlide" Target="../notesSlides/notesSlide100.xml"/>
</Relationships>
</file>

<file path=ppt/slides/_rels/slide10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1.xml"/>
</Relationships>
</file>

<file path=ppt/slides/_rels/slide10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2.xml"/>
</Relationships>
</file>

<file path=ppt/slides/_rels/slide10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3.xml"/>
</Relationships>
</file>

<file path=ppt/slides/_rels/slide10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4.xml"/>
</Relationships>
</file>

<file path=ppt/slides/_rels/slide10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5.xml"/>
</Relationships>
</file>

<file path=ppt/slides/_rels/slide10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6.xml"/>
</Relationships>
</file>

<file path=ppt/slides/_rels/slide10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7.xml"/>
</Relationships>
</file>

<file path=ppt/slides/_rels/slide10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8.xml"/>
</Relationships>
</file>

<file path=ppt/slides/_rels/slide10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9.xml"/>
</Relationships>
</file>

<file path=ppt/slides/_rels/slide11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0.xml"/>
</Relationships>
</file>

<file path=ppt/slides/_rels/slide11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1.xml"/>
</Relationships>
</file>

<file path=ppt/slides/_rels/slide11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2.xml"/>
</Relationships>
</file>

<file path=ppt/slides/_rels/slide11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3.xml"/>
</Relationships>
</file>

<file path=ppt/slides/_rels/slide11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4.xml"/>
</Relationships>
</file>

<file path=ppt/slides/_rels/slide11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5.xml"/>
</Relationships>
</file>

<file path=ppt/slides/_rels/slide11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6.xml"/>
</Relationships>
</file>

<file path=ppt/slides/_rels/slide11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7.xml"/>
</Relationships>
</file>

<file path=ppt/slides/_rels/slide11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8.xml"/>
</Relationships>
</file>

<file path=ppt/slides/_rels/slide11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9.xml"/>
</Relationships>
</file>

<file path=ppt/slides/_rels/slide12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0.xml"/>
</Relationships>
</file>

<file path=ppt/slides/_rels/slide12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1.xml"/>
</Relationships>
</file>

<file path=ppt/slides/_rels/slide12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2.xml"/>
</Relationships>
</file>

<file path=ppt/slides/_rels/slide12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3.xml"/>
</Relationships>
</file>

<file path=ppt/slides/_rels/slide12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4.xml"/>
</Relationships>
</file>

<file path=ppt/slides/_rels/slide12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5.xml"/>
</Relationships>
</file>

<file path=ppt/slides/_rels/slide12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6.xml"/>
</Relationships>
</file>

<file path=ppt/slides/_rels/slide12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7.xml"/>
</Relationships>
</file>

<file path=ppt/slides/_rels/slide12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8.xml"/>
</Relationships>
</file>

<file path=ppt/slides/_rels/slide129.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slideLayout" Target="../slideLayouts/slideLayout9.xml"/><Relationship Id="rId3" Type="http://schemas.openxmlformats.org/officeDocument/2006/relationships/notesSlide" Target="../notesSlides/notesSlide129.xml"/>
</Relationships>
</file>

<file path=ppt/slides/_rels/slide130.xml.rels><?xml version="1.0" encoding="UTF-8"?>
<Relationships xmlns="http://schemas.openxmlformats.org/package/2006/relationships"><Relationship Id="rId1" Type="http://schemas.openxmlformats.org/officeDocument/2006/relationships/image" Target="../media/image28.png"/><Relationship Id="rId2" Type="http://schemas.openxmlformats.org/officeDocument/2006/relationships/slideLayout" Target="../slideLayouts/slideLayout9.xml"/><Relationship Id="rId3" Type="http://schemas.openxmlformats.org/officeDocument/2006/relationships/notesSlide" Target="../notesSlides/notesSlide130.xml"/>
</Relationships>
</file>

<file path=ppt/slides/_rels/slide13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1.xml"/>
</Relationships>
</file>

<file path=ppt/slides/_rels/slide13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2.xml"/>
</Relationships>
</file>

<file path=ppt/slides/_rels/slide13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3.xml"/>
</Relationships>
</file>

<file path=ppt/slides/_rels/slide13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4.xml"/>
</Relationships>
</file>

<file path=ppt/slides/_rels/slide13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5.xml"/>
</Relationships>
</file>

<file path=ppt/slides/_rels/slide13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6.xml"/>
</Relationships>
</file>

<file path=ppt/slides/_rels/slide13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7.xml"/>
</Relationships>
</file>

<file path=ppt/slides/_rels/slide13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8.xml"/>
</Relationships>
</file>

<file path=ppt/slides/_rels/slide13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9.xml"/>
</Relationships>
</file>

<file path=ppt/slides/_rels/slide14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0.xml"/>
</Relationships>
</file>

<file path=ppt/slides/_rels/slide14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1.xml"/>
</Relationships>
</file>

<file path=ppt/slides/_rels/slide14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2.xml"/>
</Relationships>
</file>

<file path=ppt/slides/_rels/slide14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3.xml"/>
</Relationships>
</file>

<file path=ppt/slides/_rels/slide14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4.xml"/>
</Relationships>
</file>

<file path=ppt/slides/_rels/slide14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5.xml"/>
</Relationships>
</file>

<file path=ppt/slides/_rels/slide14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6.xml"/>
</Relationships>
</file>

<file path=ppt/slides/_rels/slide14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7.xml"/>
</Relationships>
</file>

<file path=ppt/slides/_rels/slide14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8.xml"/>
</Relationships>
</file>

<file path=ppt/slides/_rels/slide14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9.xml"/>
</Relationships>
</file>

<file path=ppt/slides/_rels/slide15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0.xml"/>
</Relationships>
</file>

<file path=ppt/slides/_rels/slide15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1.xml"/>
</Relationships>
</file>

<file path=ppt/slides/_rels/slide15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2.xml"/>
</Relationships>
</file>

<file path=ppt/slides/_rels/slide15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3.xml"/>
</Relationships>
</file>

<file path=ppt/slides/_rels/slide15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4.xml"/>
</Relationships>
</file>

<file path=ppt/slides/_rels/slide15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5.xml"/>
</Relationships>
</file>

<file path=ppt/slides/_rels/slide15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6.xml"/>
</Relationships>
</file>

<file path=ppt/slides/_rels/slide15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Rectangle 1"/>
          <p:cNvSpPr/>
          <p:nvPr/>
        </p:nvSpPr>
        <p:spPr>
          <a:xfrm>
            <a:off x="0" y="0"/>
            <a:ext cx="12191400" cy="68576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4" name="Rectangle 2"/>
          <p:cNvSpPr/>
          <p:nvPr/>
        </p:nvSpPr>
        <p:spPr>
          <a:xfrm>
            <a:off x="0" y="0"/>
            <a:ext cx="383760" cy="6857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5" name="Rectangle 3"/>
          <p:cNvSpPr/>
          <p:nvPr/>
        </p:nvSpPr>
        <p:spPr>
          <a:xfrm>
            <a:off x="7680960" y="0"/>
            <a:ext cx="4510440" cy="6857640"/>
          </a:xfrm>
          <a:prstGeom prst="rect">
            <a:avLst/>
          </a:prstGeom>
          <a:solidFill>
            <a:srgbClr val="143a6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6" name="Oval 4"/>
          <p:cNvSpPr/>
          <p:nvPr/>
        </p:nvSpPr>
        <p:spPr>
          <a:xfrm>
            <a:off x="8503920" y="1874520"/>
            <a:ext cx="2834280" cy="2834280"/>
          </a:xfrm>
          <a:prstGeom prst="ellipse">
            <a:avLst/>
          </a:prstGeom>
          <a:noFill/>
          <a:ln w="15875">
            <a:solidFill>
              <a:srgbClr val="245584"/>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7" name="Oval 5"/>
          <p:cNvSpPr/>
          <p:nvPr/>
        </p:nvSpPr>
        <p:spPr>
          <a:xfrm>
            <a:off x="8915400" y="2286000"/>
            <a:ext cx="2011320" cy="2011320"/>
          </a:xfrm>
          <a:prstGeom prst="ellipse">
            <a:avLst/>
          </a:prstGeom>
          <a:noFill/>
          <a:ln w="31750">
            <a:solidFill>
              <a:srgbClr val="00a9ce"/>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8" name="Oval 6"/>
          <p:cNvSpPr/>
          <p:nvPr/>
        </p:nvSpPr>
        <p:spPr>
          <a:xfrm>
            <a:off x="9537120" y="2907720"/>
            <a:ext cx="767880" cy="767880"/>
          </a:xfrm>
          <a:prstGeom prst="ellipse">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9" name="Rectangle 7"/>
          <p:cNvSpPr/>
          <p:nvPr/>
        </p:nvSpPr>
        <p:spPr>
          <a:xfrm>
            <a:off x="9838800" y="960120"/>
            <a:ext cx="164160" cy="100548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0" name="TextBox 8"/>
          <p:cNvSpPr/>
          <p:nvPr/>
        </p:nvSpPr>
        <p:spPr>
          <a:xfrm>
            <a:off x="8366760" y="5074920"/>
            <a:ext cx="3200040" cy="1832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200" spc="-1" strike="noStrike">
                <a:solidFill>
                  <a:srgbClr val="ffffff"/>
                </a:solidFill>
                <a:latin typeface="Consolas"/>
              </a:rPr>
              <a:t>SGDXS-200A00A-Y3600A  +  SGMXA-30A</a:t>
            </a:r>
            <a:endParaRPr b="0" lang="en-US" sz="1200" spc="-1" strike="noStrike">
              <a:solidFill>
                <a:srgbClr val="000000"/>
              </a:solidFill>
              <a:latin typeface="Arial"/>
            </a:endParaRPr>
          </a:p>
        </p:txBody>
      </p:sp>
      <p:sp>
        <p:nvSpPr>
          <p:cNvPr id="81" name="TextBox 9"/>
          <p:cNvSpPr/>
          <p:nvPr/>
        </p:nvSpPr>
        <p:spPr>
          <a:xfrm>
            <a:off x="8366760" y="5440680"/>
            <a:ext cx="3200040" cy="1681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100" spc="-1" strike="noStrike">
                <a:solidFill>
                  <a:srgbClr val="a9c6e0"/>
                </a:solidFill>
                <a:latin typeface="Segoe UI"/>
              </a:rPr>
              <a:t>3,0 kW / 200 VCA trifásico</a:t>
            </a:r>
            <a:endParaRPr b="0" lang="en-US" sz="1100" spc="-1" strike="noStrike">
              <a:solidFill>
                <a:srgbClr val="000000"/>
              </a:solidFill>
              <a:latin typeface="Arial"/>
            </a:endParaRPr>
          </a:p>
        </p:txBody>
      </p:sp>
      <p:sp>
        <p:nvSpPr>
          <p:cNvPr id="82" name="Rectangle 10"/>
          <p:cNvSpPr/>
          <p:nvPr/>
        </p:nvSpPr>
        <p:spPr>
          <a:xfrm>
            <a:off x="960120" y="1417320"/>
            <a:ext cx="1737000" cy="31068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3" name="TextBox 11"/>
          <p:cNvSpPr/>
          <p:nvPr/>
        </p:nvSpPr>
        <p:spPr>
          <a:xfrm>
            <a:off x="960120" y="1472040"/>
            <a:ext cx="1737000" cy="1681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100" spc="-1" strike="noStrike">
                <a:solidFill>
                  <a:srgbClr val="0b2545"/>
                </a:solidFill>
                <a:latin typeface="Segoe UI"/>
              </a:rPr>
              <a:t>CURSO TÉCNICO</a:t>
            </a:r>
            <a:endParaRPr b="0" lang="en-US" sz="1100" spc="-1" strike="noStrike">
              <a:solidFill>
                <a:srgbClr val="000000"/>
              </a:solidFill>
              <a:latin typeface="Arial"/>
            </a:endParaRPr>
          </a:p>
        </p:txBody>
      </p:sp>
      <p:sp>
        <p:nvSpPr>
          <p:cNvPr id="84" name="TextBox 12"/>
          <p:cNvSpPr/>
          <p:nvPr/>
        </p:nvSpPr>
        <p:spPr>
          <a:xfrm>
            <a:off x="960120" y="1965960"/>
            <a:ext cx="6309000" cy="127980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1" lang="en-US" sz="4000" spc="-1" strike="noStrike">
                <a:solidFill>
                  <a:srgbClr val="ffffff"/>
                </a:solidFill>
                <a:latin typeface="Segoe UI Semibold"/>
              </a:rPr>
              <a:t>Servo drives YASKAWA SERVOPACK</a:t>
            </a:r>
            <a:endParaRPr b="0" lang="en-US" sz="4000" spc="-1" strike="noStrike">
              <a:solidFill>
                <a:srgbClr val="000000"/>
              </a:solidFill>
              <a:latin typeface="Arial"/>
            </a:endParaRPr>
          </a:p>
        </p:txBody>
      </p:sp>
      <p:sp>
        <p:nvSpPr>
          <p:cNvPr id="85" name="Rectangle 13"/>
          <p:cNvSpPr/>
          <p:nvPr/>
        </p:nvSpPr>
        <p:spPr>
          <a:xfrm>
            <a:off x="960120" y="3931920"/>
            <a:ext cx="1279800" cy="4536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86" name="TextBox 14"/>
          <p:cNvSpPr/>
          <p:nvPr/>
        </p:nvSpPr>
        <p:spPr>
          <a:xfrm>
            <a:off x="960120" y="4206240"/>
            <a:ext cx="6309000" cy="560520"/>
          </a:xfrm>
          <a:prstGeom prst="rect">
            <a:avLst/>
          </a:prstGeom>
          <a:noFill/>
          <a:ln w="0">
            <a:noFill/>
          </a:ln>
        </p:spPr>
        <p:style>
          <a:lnRef idx="0"/>
          <a:fillRef idx="0"/>
          <a:effectRef idx="0"/>
          <a:fontRef idx="minor"/>
        </p:style>
        <p:txBody>
          <a:bodyPr lIns="0" rIns="0" tIns="0" bIns="0" anchor="t">
            <a:spAutoFit/>
          </a:bodyPr>
          <a:p>
            <a:pPr defTabSz="457200">
              <a:lnSpc>
                <a:spcPct val="115000"/>
              </a:lnSpc>
            </a:pPr>
            <a:r>
              <a:rPr b="0" lang="en-US" sz="1600" spc="-1" strike="noStrike">
                <a:solidFill>
                  <a:srgbClr val="c9dcee"/>
                </a:solidFill>
                <a:latin typeface="Segoe UI"/>
              </a:rPr>
              <a:t>De cero a experto: selección, instalación, parametrización, puesta en marcha y sintonización de un servoaccionamiento de 3 kW</a:t>
            </a:r>
            <a:endParaRPr b="0" lang="en-US" sz="1600" spc="-1" strike="noStrike">
              <a:solidFill>
                <a:srgbClr val="000000"/>
              </a:solidFill>
              <a:latin typeface="Arial"/>
            </a:endParaRPr>
          </a:p>
        </p:txBody>
      </p:sp>
      <p:sp>
        <p:nvSpPr>
          <p:cNvPr id="87" name="TextBox 15"/>
          <p:cNvSpPr/>
          <p:nvPr/>
        </p:nvSpPr>
        <p:spPr>
          <a:xfrm>
            <a:off x="960120" y="5257800"/>
            <a:ext cx="6309000" cy="1756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150" spc="-1" strike="noStrike">
                <a:solidFill>
                  <a:srgbClr val="8fb2d1"/>
                </a:solidFill>
                <a:latin typeface="Segoe UI"/>
              </a:rPr>
              <a:t>Curso técnico completo · Serie Σ-X (Sigma-X) · SGDXS + SGMXA/SGMXG</a:t>
            </a:r>
            <a:endParaRPr b="0" lang="en-US" sz="1150" spc="-1" strike="noStrike">
              <a:solidFill>
                <a:srgbClr val="000000"/>
              </a:solidFill>
              <a:latin typeface="Arial"/>
            </a:endParaRPr>
          </a:p>
        </p:txBody>
      </p:sp>
      <p:sp>
        <p:nvSpPr>
          <p:cNvPr id="88" name="TextBox 16"/>
          <p:cNvSpPr/>
          <p:nvPr/>
        </p:nvSpPr>
        <p:spPr>
          <a:xfrm>
            <a:off x="960120" y="5532120"/>
            <a:ext cx="6309000" cy="1756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150" spc="-1" strike="noStrike">
                <a:solidFill>
                  <a:srgbClr val="8fb2d1"/>
                </a:solidFill>
                <a:latin typeface="Segoe UI"/>
              </a:rPr>
              <a:t>Nivel: desde principiante absoluto hasta puesta a punto avanzada</a:t>
            </a:r>
            <a:endParaRPr b="0" lang="en-US" sz="1150" spc="-1" strike="noStrike">
              <a:solidFill>
                <a:srgbClr val="000000"/>
              </a:solidFill>
              <a:latin typeface="Arial"/>
            </a:endParaRPr>
          </a:p>
        </p:txBody>
      </p:sp>
      <p:sp>
        <p:nvSpPr>
          <p:cNvPr id="89" name="TextBox 17"/>
          <p:cNvSpPr/>
          <p:nvPr/>
        </p:nvSpPr>
        <p:spPr>
          <a:xfrm>
            <a:off x="960120" y="5806440"/>
            <a:ext cx="6309000" cy="1756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150" spc="-1" strike="noStrike">
                <a:solidFill>
                  <a:srgbClr val="8fb2d1"/>
                </a:solidFill>
                <a:latin typeface="Segoe UI"/>
              </a:rPr>
              <a:t>Formato: 14 módulos · teoría, práctica guiada y proyecto integrador</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1"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92"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Qué vas a saber hacer al terminar</a:t>
            </a:r>
            <a:endParaRPr b="0" lang="en-US" sz="2500" spc="-1" strike="noStrike">
              <a:solidFill>
                <a:srgbClr val="000000"/>
              </a:solidFill>
              <a:latin typeface="Arial"/>
            </a:endParaRPr>
          </a:p>
        </p:txBody>
      </p:sp>
      <p:sp>
        <p:nvSpPr>
          <p:cNvPr id="93"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Objetivos de aprendizaje del curso</a:t>
            </a:r>
            <a:endParaRPr b="0" lang="en-US" sz="1250" spc="-1" strike="noStrike">
              <a:solidFill>
                <a:srgbClr val="000000"/>
              </a:solidFill>
              <a:latin typeface="Arial"/>
            </a:endParaRPr>
          </a:p>
        </p:txBody>
      </p:sp>
      <p:sp>
        <p:nvSpPr>
          <p:cNvPr id="94"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INTRODUCCIÓN</a:t>
            </a:r>
            <a:endParaRPr b="0" lang="en-US" sz="1100" spc="-1" strike="noStrike">
              <a:solidFill>
                <a:srgbClr val="000000"/>
              </a:solidFill>
              <a:latin typeface="Arial"/>
            </a:endParaRPr>
          </a:p>
        </p:txBody>
      </p:sp>
      <p:sp>
        <p:nvSpPr>
          <p:cNvPr id="95"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96"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2</a:t>
            </a:r>
            <a:endParaRPr b="0" lang="en-US" sz="900" spc="-1" strike="noStrike">
              <a:solidFill>
                <a:srgbClr val="000000"/>
              </a:solidFill>
              <a:latin typeface="Arial"/>
            </a:endParaRPr>
          </a:p>
        </p:txBody>
      </p:sp>
      <p:sp>
        <p:nvSpPr>
          <p:cNvPr id="97" name="TextBox 8"/>
          <p:cNvSpPr/>
          <p:nvPr/>
        </p:nvSpPr>
        <p:spPr>
          <a:xfrm>
            <a:off x="567000" y="1481400"/>
            <a:ext cx="11057400" cy="425520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400" spc="-1" strike="noStrike">
                <a:solidFill>
                  <a:srgbClr val="1b5ea8"/>
                </a:solidFill>
                <a:latin typeface="Segoe UI Semibold"/>
              </a:rPr>
              <a:t>Competencias de salida</a:t>
            </a:r>
            <a:endParaRPr b="0" lang="en-US" sz="14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450" spc="-1" strike="noStrike">
                <a:solidFill>
                  <a:srgbClr val="1c2430"/>
                </a:solidFill>
                <a:latin typeface="Segoe UI"/>
              </a:rPr>
              <a:t>Seleccionar el SERVOPACK y el servomotor correctos para una máquina concreta, justificando el cálculo de par, inercia y ciclo de trabajo.</a:t>
            </a:r>
            <a:endParaRPr b="0" lang="en-US" sz="14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450" spc="-1" strike="noStrike">
                <a:solidFill>
                  <a:srgbClr val="1c2430"/>
                </a:solidFill>
                <a:latin typeface="Segoe UI"/>
              </a:rPr>
              <a:t>Instalar el conjunto conforme al manual: potencia, control, apantallamiento, regeneración, freno de retención y seguridad funcional.</a:t>
            </a:r>
            <a:endParaRPr b="0" lang="en-US" sz="14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450" spc="-1" strike="noStrike">
                <a:solidFill>
                  <a:srgbClr val="1c2430"/>
                </a:solidFill>
                <a:latin typeface="Segoe UI"/>
              </a:rPr>
              <a:t>Parametrizar el drive desde el panel frontal y desde SigmaWin+, incluyendo engranaje electrónico, límites y asignación de E/S.</a:t>
            </a:r>
            <a:endParaRPr b="0" lang="en-US" sz="14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450" spc="-1" strike="noStrike">
                <a:solidFill>
                  <a:srgbClr val="1c2430"/>
                </a:solidFill>
                <a:latin typeface="Segoe UI"/>
              </a:rPr>
              <a:t>Poner en marcha un eje siguiendo un procedimiento verificable, desde el JOG sin carga hasta el ciclo de producción.</a:t>
            </a:r>
            <a:endParaRPr b="0" lang="en-US" sz="14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450" spc="-1" strike="noStrike">
                <a:solidFill>
                  <a:srgbClr val="1c2430"/>
                </a:solidFill>
                <a:latin typeface="Segoe UI"/>
              </a:rPr>
              <a:t>Sintonizar el lazo de control: autoajuste, ajuste manual de ganancias, filtros notch y supresión de vibración.</a:t>
            </a:r>
            <a:endParaRPr b="0" lang="en-US" sz="14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450" spc="-1" strike="noStrike">
                <a:solidFill>
                  <a:srgbClr val="1c2430"/>
                </a:solidFill>
                <a:latin typeface="Segoe UI"/>
              </a:rPr>
              <a:t>Diagnosticar alarmas y averías con un método sistemático y realizar el mantenimiento preventivo del equipo.</a:t>
            </a:r>
            <a:endParaRPr b="0" lang="en-US" sz="145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1400" spc="-1" strike="noStrike">
                <a:solidFill>
                  <a:srgbClr val="1b5ea8"/>
                </a:solidFill>
                <a:latin typeface="Segoe UI Semibold"/>
              </a:rPr>
              <a:t>Entregable del curso</a:t>
            </a:r>
            <a:endParaRPr b="0" lang="en-US" sz="14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450" spc="-1" strike="noStrike">
                <a:solidFill>
                  <a:srgbClr val="1c2430"/>
                </a:solidFill>
                <a:latin typeface="Segoe UI"/>
              </a:rPr>
              <a:t>Un eje de 3 kW dimensionado, cableado, parametrizado, sintonizado y documentado (proyecto integrador del Módulo 12).</a:t>
            </a:r>
            <a:endParaRPr b="0" lang="en-US" sz="14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9"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00"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A quién va dirigido y qué necesitas saber antes</a:t>
            </a:r>
            <a:endParaRPr b="0" lang="en-US" sz="2500" spc="-1" strike="noStrike">
              <a:solidFill>
                <a:srgbClr val="000000"/>
              </a:solidFill>
              <a:latin typeface="Arial"/>
            </a:endParaRPr>
          </a:p>
        </p:txBody>
      </p:sp>
      <p:sp>
        <p:nvSpPr>
          <p:cNvPr id="101"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Público objetivo, prerrequisitos y laboratorio</a:t>
            </a:r>
            <a:endParaRPr b="0" lang="en-US" sz="1250" spc="-1" strike="noStrike">
              <a:solidFill>
                <a:srgbClr val="000000"/>
              </a:solidFill>
              <a:latin typeface="Arial"/>
            </a:endParaRPr>
          </a:p>
        </p:txBody>
      </p:sp>
      <p:sp>
        <p:nvSpPr>
          <p:cNvPr id="102"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INTRODUCCIÓN</a:t>
            </a:r>
            <a:endParaRPr b="0" lang="en-US" sz="1100" spc="-1" strike="noStrike">
              <a:solidFill>
                <a:srgbClr val="000000"/>
              </a:solidFill>
              <a:latin typeface="Arial"/>
            </a:endParaRPr>
          </a:p>
        </p:txBody>
      </p:sp>
      <p:sp>
        <p:nvSpPr>
          <p:cNvPr id="103"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04"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3</a:t>
            </a:r>
            <a:endParaRPr b="0" lang="en-US" sz="900" spc="-1" strike="noStrike">
              <a:solidFill>
                <a:srgbClr val="000000"/>
              </a:solidFill>
              <a:latin typeface="Arial"/>
            </a:endParaRPr>
          </a:p>
        </p:txBody>
      </p:sp>
      <p:sp>
        <p:nvSpPr>
          <p:cNvPr id="105" name="Rectangle 8"/>
          <p:cNvSpPr/>
          <p:nvPr/>
        </p:nvSpPr>
        <p:spPr>
          <a:xfrm>
            <a:off x="567000" y="1481400"/>
            <a:ext cx="3515040" cy="484596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6" name="Rectangle 9"/>
          <p:cNvSpPr/>
          <p:nvPr/>
        </p:nvSpPr>
        <p:spPr>
          <a:xfrm>
            <a:off x="567000" y="1481400"/>
            <a:ext cx="50040" cy="484596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7" name="TextBox 10"/>
          <p:cNvSpPr/>
          <p:nvPr/>
        </p:nvSpPr>
        <p:spPr>
          <a:xfrm>
            <a:off x="822960" y="166428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Perfiles destinatarios</a:t>
            </a:r>
            <a:endParaRPr b="0" lang="en-US" sz="1400" spc="-1" strike="noStrike">
              <a:solidFill>
                <a:srgbClr val="000000"/>
              </a:solidFill>
              <a:latin typeface="Arial"/>
            </a:endParaRPr>
          </a:p>
        </p:txBody>
      </p:sp>
      <p:sp>
        <p:nvSpPr>
          <p:cNvPr id="108" name="TextBox 11"/>
          <p:cNvSpPr/>
          <p:nvPr/>
        </p:nvSpPr>
        <p:spPr>
          <a:xfrm>
            <a:off x="822960" y="2194560"/>
            <a:ext cx="3057840" cy="168768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200" spc="-1" strike="noStrike">
                <a:solidFill>
                  <a:srgbClr val="2b3644"/>
                </a:solidFill>
                <a:latin typeface="Segoe UI"/>
              </a:rPr>
              <a:t>· Técnicos de mantenimiento eléctrico e industrial.</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Integradores y programadores de PLC/CNC.</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Ingenieros de automatización y diseño de máquina.</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Personal de puesta en marcha y servicio técnico.</a:t>
            </a:r>
            <a:endParaRPr b="0" lang="en-US" sz="1200" spc="-1" strike="noStrike">
              <a:solidFill>
                <a:srgbClr val="000000"/>
              </a:solidFill>
              <a:latin typeface="Arial"/>
            </a:endParaRPr>
          </a:p>
        </p:txBody>
      </p:sp>
      <p:sp>
        <p:nvSpPr>
          <p:cNvPr id="109" name="Rectangle 12"/>
          <p:cNvSpPr/>
          <p:nvPr/>
        </p:nvSpPr>
        <p:spPr>
          <a:xfrm>
            <a:off x="4338360" y="1481400"/>
            <a:ext cx="3515040" cy="4845960"/>
          </a:xfrm>
          <a:prstGeom prst="rect">
            <a:avLst/>
          </a:prstGeom>
          <a:solidFill>
            <a:srgbClr val="e0f5fa"/>
          </a:solidFill>
          <a:ln>
            <a:solidFill>
              <a:srgbClr val="00a9ce"/>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0" name="Rectangle 13"/>
          <p:cNvSpPr/>
          <p:nvPr/>
        </p:nvSpPr>
        <p:spPr>
          <a:xfrm>
            <a:off x="4338360" y="1481400"/>
            <a:ext cx="50040" cy="484596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1" name="TextBox 14"/>
          <p:cNvSpPr/>
          <p:nvPr/>
        </p:nvSpPr>
        <p:spPr>
          <a:xfrm>
            <a:off x="4594320" y="166428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Requisitos previos</a:t>
            </a:r>
            <a:endParaRPr b="0" lang="en-US" sz="1400" spc="-1" strike="noStrike">
              <a:solidFill>
                <a:srgbClr val="000000"/>
              </a:solidFill>
              <a:latin typeface="Arial"/>
            </a:endParaRPr>
          </a:p>
        </p:txBody>
      </p:sp>
      <p:sp>
        <p:nvSpPr>
          <p:cNvPr id="112" name="TextBox 15"/>
          <p:cNvSpPr/>
          <p:nvPr/>
        </p:nvSpPr>
        <p:spPr>
          <a:xfrm>
            <a:off x="4594320" y="2194560"/>
            <a:ext cx="3057840" cy="149580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200" spc="-1" strike="noStrike">
                <a:solidFill>
                  <a:srgbClr val="2b3644"/>
                </a:solidFill>
                <a:latin typeface="Segoe UI"/>
              </a:rPr>
              <a:t>· Electricidad básica: tensión, corriente, trifásica, protecciones.</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Lectura de esquemas eléctricos.</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Nociones de mecánica: par, velocidad, reducción.</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No se requiere experiencia previa con servos.</a:t>
            </a:r>
            <a:endParaRPr b="0" lang="en-US" sz="1200" spc="-1" strike="noStrike">
              <a:solidFill>
                <a:srgbClr val="000000"/>
              </a:solidFill>
              <a:latin typeface="Arial"/>
            </a:endParaRPr>
          </a:p>
        </p:txBody>
      </p:sp>
      <p:sp>
        <p:nvSpPr>
          <p:cNvPr id="113" name="Rectangle 16"/>
          <p:cNvSpPr/>
          <p:nvPr/>
        </p:nvSpPr>
        <p:spPr>
          <a:xfrm>
            <a:off x="8109360" y="1481400"/>
            <a:ext cx="3515040" cy="484596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4" name="Rectangle 17"/>
          <p:cNvSpPr/>
          <p:nvPr/>
        </p:nvSpPr>
        <p:spPr>
          <a:xfrm>
            <a:off x="8109360" y="1481400"/>
            <a:ext cx="50040" cy="48459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5" name="TextBox 18"/>
          <p:cNvSpPr/>
          <p:nvPr/>
        </p:nvSpPr>
        <p:spPr>
          <a:xfrm>
            <a:off x="8365680" y="1664280"/>
            <a:ext cx="3057840" cy="43524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Equipo recomendado para la práctica</a:t>
            </a:r>
            <a:endParaRPr b="0" lang="en-US" sz="1400" spc="-1" strike="noStrike">
              <a:solidFill>
                <a:srgbClr val="000000"/>
              </a:solidFill>
              <a:latin typeface="Arial"/>
            </a:endParaRPr>
          </a:p>
        </p:txBody>
      </p:sp>
      <p:sp>
        <p:nvSpPr>
          <p:cNvPr id="116" name="TextBox 19"/>
          <p:cNvSpPr/>
          <p:nvPr/>
        </p:nvSpPr>
        <p:spPr>
          <a:xfrm>
            <a:off x="8365680" y="2194560"/>
            <a:ext cx="3057840" cy="111204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200" spc="-1" strike="noStrike">
                <a:solidFill>
                  <a:srgbClr val="2b3644"/>
                </a:solidFill>
                <a:latin typeface="Segoe UI"/>
              </a:rPr>
              <a:t>· SERVOPACK SGDXS-200A00A + motor SGMXA-30A o SGMXG-30A.</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Cables de potencia y encoder originales.</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PC con SigmaWin+ y cable USB (CN7).</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Multímetro, pinza amperimétrica y EPP.</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8"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19"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Mapa del curso</a:t>
            </a:r>
            <a:endParaRPr b="0" lang="en-US" sz="2500" spc="-1" strike="noStrike">
              <a:solidFill>
                <a:srgbClr val="000000"/>
              </a:solidFill>
              <a:latin typeface="Arial"/>
            </a:endParaRPr>
          </a:p>
        </p:txBody>
      </p:sp>
      <p:sp>
        <p:nvSpPr>
          <p:cNvPr id="120"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13 módulos encadenados: cada uno se apoya en el anterior</a:t>
            </a:r>
            <a:endParaRPr b="0" lang="en-US" sz="1250" spc="-1" strike="noStrike">
              <a:solidFill>
                <a:srgbClr val="000000"/>
              </a:solidFill>
              <a:latin typeface="Arial"/>
            </a:endParaRPr>
          </a:p>
        </p:txBody>
      </p:sp>
      <p:sp>
        <p:nvSpPr>
          <p:cNvPr id="121"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INTRODUCCIÓN</a:t>
            </a:r>
            <a:endParaRPr b="0" lang="en-US" sz="1100" spc="-1" strike="noStrike">
              <a:solidFill>
                <a:srgbClr val="000000"/>
              </a:solidFill>
              <a:latin typeface="Arial"/>
            </a:endParaRPr>
          </a:p>
        </p:txBody>
      </p:sp>
      <p:sp>
        <p:nvSpPr>
          <p:cNvPr id="122"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23"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4</a:t>
            </a:r>
            <a:endParaRPr b="0" lang="en-US" sz="900" spc="-1" strike="noStrike">
              <a:solidFill>
                <a:srgbClr val="000000"/>
              </a:solidFill>
              <a:latin typeface="Arial"/>
            </a:endParaRPr>
          </a:p>
        </p:txBody>
      </p:sp>
      <p:graphicFrame>
        <p:nvGraphicFramePr>
          <p:cNvPr id="124" name="Table 8"/>
          <p:cNvGraphicFramePr/>
          <p:nvPr/>
        </p:nvGraphicFramePr>
        <p:xfrm>
          <a:off x="567000" y="1481400"/>
          <a:ext cx="11057400" cy="4845960"/>
        </p:xfrm>
        <a:graphic>
          <a:graphicData uri="http://schemas.openxmlformats.org/drawingml/2006/table">
            <a:tbl>
              <a:tblPr/>
              <a:tblGrid>
                <a:gridCol w="803880"/>
                <a:gridCol w="4222080"/>
                <a:gridCol w="6031440"/>
              </a:tblGrid>
              <a:tr h="347400">
                <a:tc>
                  <a:txBody>
                    <a:bodyPr lIns="82080" rIns="82080" tIns="27360" bIns="27360" anchor="ctr">
                      <a:noAutofit/>
                    </a:bodyPr>
                    <a:p>
                      <a:pPr algn="ctr" defTabSz="457200">
                        <a:lnSpc>
                          <a:spcPct val="100000"/>
                        </a:lnSpc>
                      </a:pPr>
                      <a:r>
                        <a:rPr b="1" lang="en-US" sz="1050" spc="-1" strike="noStrike">
                          <a:solidFill>
                            <a:srgbClr val="ffffff"/>
                          </a:solidFill>
                          <a:latin typeface="Segoe UI"/>
                        </a:rPr>
                        <a:t>Módulo</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50" spc="-1" strike="noStrike">
                          <a:solidFill>
                            <a:srgbClr val="ffffff"/>
                          </a:solidFill>
                          <a:latin typeface="Segoe UI"/>
                        </a:rPr>
                        <a:t>Contenido</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50" spc="-1" strike="noStrike">
                          <a:solidFill>
                            <a:srgbClr val="ffffff"/>
                          </a:solidFill>
                          <a:latin typeface="Segoe UI"/>
                        </a:rPr>
                        <a:t>Qué resuelve</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345960">
                <a:tc>
                  <a:txBody>
                    <a:bodyPr lIns="82080" rIns="82080" tIns="27360" bIns="27360" anchor="ctr">
                      <a:noAutofit/>
                    </a:bodyPr>
                    <a:p>
                      <a:pPr algn="ctr" defTabSz="457200">
                        <a:lnSpc>
                          <a:spcPct val="100000"/>
                        </a:lnSpc>
                      </a:pPr>
                      <a:r>
                        <a:rPr b="0" lang="en-US" sz="1050" spc="-1" strike="noStrike">
                          <a:solidFill>
                            <a:srgbClr val="1c2430"/>
                          </a:solidFill>
                          <a:latin typeface="Segoe UI"/>
                        </a:rPr>
                        <a:t>01</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Fundamentos del servoaccionamiento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Entender qué es un servo y en qué se diferencia de un variador</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5960">
                <a:tc>
                  <a:txBody>
                    <a:bodyPr lIns="82080" rIns="82080" tIns="27360" bIns="27360" anchor="ctr">
                      <a:noAutofit/>
                    </a:bodyPr>
                    <a:p>
                      <a:pPr algn="ctr" defTabSz="457200">
                        <a:lnSpc>
                          <a:spcPct val="100000"/>
                        </a:lnSpc>
                      </a:pPr>
                      <a:r>
                        <a:rPr b="0" lang="en-US" sz="1050" spc="-1" strike="noStrike">
                          <a:solidFill>
                            <a:srgbClr val="1c2430"/>
                          </a:solidFill>
                          <a:latin typeface="Segoe UI"/>
                        </a:rPr>
                        <a:t>02</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La familia SERVOPACK Σ-X</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Leer un código de modelo y elegir la variante correcta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5960">
                <a:tc>
                  <a:txBody>
                    <a:bodyPr lIns="82080" rIns="82080" tIns="27360" bIns="27360" anchor="ctr">
                      <a:noAutofit/>
                    </a:bodyPr>
                    <a:p>
                      <a:pPr algn="ctr" defTabSz="457200">
                        <a:lnSpc>
                          <a:spcPct val="100000"/>
                        </a:lnSpc>
                      </a:pPr>
                      <a:r>
                        <a:rPr b="0" lang="en-US" sz="1050" spc="-1" strike="noStrike">
                          <a:solidFill>
                            <a:srgbClr val="1c2430"/>
                          </a:solidFill>
                          <a:latin typeface="Segoe UI"/>
                        </a:rPr>
                        <a:t>03</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El servomotor de 3 kW</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Interpretar curvas, encoder, freno y combinaciones válidas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5960">
                <a:tc>
                  <a:txBody>
                    <a:bodyPr lIns="82080" rIns="82080" tIns="27360" bIns="27360" anchor="ctr">
                      <a:noAutofit/>
                    </a:bodyPr>
                    <a:p>
                      <a:pPr algn="ctr" defTabSz="457200">
                        <a:lnSpc>
                          <a:spcPct val="100000"/>
                        </a:lnSpc>
                      </a:pPr>
                      <a:r>
                        <a:rPr b="0" lang="en-US" sz="1050" spc="-1" strike="noStrike">
                          <a:solidFill>
                            <a:srgbClr val="1c2430"/>
                          </a:solidFill>
                          <a:latin typeface="Segoe UI"/>
                        </a:rPr>
                        <a:t>04</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Dimensionamiento y selección</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Justificar con números que el conjunto 3 kW es el adecuado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5960">
                <a:tc>
                  <a:txBody>
                    <a:bodyPr lIns="82080" rIns="82080" tIns="27360" bIns="27360" anchor="ctr">
                      <a:noAutofit/>
                    </a:bodyPr>
                    <a:p>
                      <a:pPr algn="ctr" defTabSz="457200">
                        <a:lnSpc>
                          <a:spcPct val="100000"/>
                        </a:lnSpc>
                      </a:pPr>
                      <a:r>
                        <a:rPr b="0" lang="en-US" sz="1050" spc="-1" strike="noStrike">
                          <a:solidFill>
                            <a:srgbClr val="1c2430"/>
                          </a:solidFill>
                          <a:latin typeface="Segoe UI"/>
                        </a:rPr>
                        <a:t>05</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Instalación mecánica y eléctrica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Cablear potencia, tierra, regeneración y freno sin errores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5960">
                <a:tc>
                  <a:txBody>
                    <a:bodyPr lIns="82080" rIns="82080" tIns="27360" bIns="27360" anchor="ctr">
                      <a:noAutofit/>
                    </a:bodyPr>
                    <a:p>
                      <a:pPr algn="ctr" defTabSz="457200">
                        <a:lnSpc>
                          <a:spcPct val="100000"/>
                        </a:lnSpc>
                      </a:pPr>
                      <a:r>
                        <a:rPr b="0" lang="en-US" sz="1050" spc="-1" strike="noStrike">
                          <a:solidFill>
                            <a:srgbClr val="1c2430"/>
                          </a:solidFill>
                          <a:latin typeface="Segoe UI"/>
                        </a:rPr>
                        <a:t>06</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Interfaz de control: CN1, analógico, pulsos y bus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Conectar el drive al PLC/CNC con el modo de control correcto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5960">
                <a:tc>
                  <a:txBody>
                    <a:bodyPr lIns="82080" rIns="82080" tIns="27360" bIns="27360" anchor="ctr">
                      <a:noAutofit/>
                    </a:bodyPr>
                    <a:p>
                      <a:pPr algn="ctr" defTabSz="457200">
                        <a:lnSpc>
                          <a:spcPct val="100000"/>
                        </a:lnSpc>
                      </a:pPr>
                      <a:r>
                        <a:rPr b="0" lang="en-US" sz="1050" spc="-1" strike="noStrike">
                          <a:solidFill>
                            <a:srgbClr val="1c2430"/>
                          </a:solidFill>
                          <a:latin typeface="Segoe UI"/>
                        </a:rPr>
                        <a:t>07</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Parámetros, panel y SigmaWin+</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Manejar Pn/Fn/Un, SigmaWin+ Ver.7 (con pantallas) y el engranaje</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5960">
                <a:tc>
                  <a:txBody>
                    <a:bodyPr lIns="82080" rIns="82080" tIns="27360" bIns="27360" anchor="ctr">
                      <a:noAutofit/>
                    </a:bodyPr>
                    <a:p>
                      <a:pPr algn="ctr" defTabSz="457200">
                        <a:lnSpc>
                          <a:spcPct val="100000"/>
                        </a:lnSpc>
                      </a:pPr>
                      <a:r>
                        <a:rPr b="0" lang="en-US" sz="1050" spc="-1" strike="noStrike">
                          <a:solidFill>
                            <a:srgbClr val="1c2430"/>
                          </a:solidFill>
                          <a:latin typeface="Segoe UI"/>
                        </a:rPr>
                        <a:t>08</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Puesta en marcha paso a paso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Arrancar el eje con un procedimiento seguro y repetible</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5960">
                <a:tc>
                  <a:txBody>
                    <a:bodyPr lIns="82080" rIns="82080" tIns="27360" bIns="27360" anchor="ctr">
                      <a:noAutofit/>
                    </a:bodyPr>
                    <a:p>
                      <a:pPr algn="ctr" defTabSz="457200">
                        <a:lnSpc>
                          <a:spcPct val="100000"/>
                        </a:lnSpc>
                      </a:pPr>
                      <a:r>
                        <a:rPr b="0" lang="en-US" sz="1050" spc="-1" strike="noStrike">
                          <a:solidFill>
                            <a:srgbClr val="1c2430"/>
                          </a:solidFill>
                          <a:latin typeface="Segoe UI"/>
                        </a:rPr>
                        <a:t>09</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Sintonización del lazo de control</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Conseguir precisión y rapidez sin vibración</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5960">
                <a:tc>
                  <a:txBody>
                    <a:bodyPr lIns="82080" rIns="82080" tIns="27360" bIns="27360" anchor="ctr">
                      <a:noAutofit/>
                    </a:bodyPr>
                    <a:p>
                      <a:pPr algn="ctr" defTabSz="457200">
                        <a:lnSpc>
                          <a:spcPct val="100000"/>
                        </a:lnSpc>
                      </a:pPr>
                      <a:r>
                        <a:rPr b="0" lang="en-US" sz="1050" spc="-1" strike="noStrike">
                          <a:solidFill>
                            <a:srgbClr val="1c2430"/>
                          </a:solidFill>
                          <a:latin typeface="Segoe UI"/>
                        </a:rPr>
                        <a:t>10</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Seguridad funcional (STO / HWBB)</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Integrar el eje en la cadena de seguridad de la máquina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5960">
                <a:tc>
                  <a:txBody>
                    <a:bodyPr lIns="82080" rIns="82080" tIns="27360" bIns="27360" anchor="ctr">
                      <a:noAutofit/>
                    </a:bodyPr>
                    <a:p>
                      <a:pPr algn="ctr" defTabSz="457200">
                        <a:lnSpc>
                          <a:spcPct val="100000"/>
                        </a:lnSpc>
                      </a:pPr>
                      <a:r>
                        <a:rPr b="0" lang="en-US" sz="1050" spc="-1" strike="noStrike">
                          <a:solidFill>
                            <a:srgbClr val="1c2430"/>
                          </a:solidFill>
                          <a:latin typeface="Segoe UI"/>
                        </a:rPr>
                        <a:t>11</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Diagnóstico, alarmas y mantenimiento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Reducir el tiempo de parada ante una avería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5960">
                <a:tc>
                  <a:txBody>
                    <a:bodyPr lIns="82080" rIns="82080" tIns="27360" bIns="27360" anchor="ctr">
                      <a:noAutofit/>
                    </a:bodyPr>
                    <a:p>
                      <a:pPr algn="ctr" defTabSz="457200">
                        <a:lnSpc>
                          <a:spcPct val="100000"/>
                        </a:lnSpc>
                      </a:pPr>
                      <a:r>
                        <a:rPr b="0" lang="en-US" sz="1050" spc="-1" strike="noStrike">
                          <a:solidFill>
                            <a:srgbClr val="1c2430"/>
                          </a:solidFill>
                          <a:latin typeface="Segoe UI"/>
                        </a:rPr>
                        <a:t>12</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Proyecto integrador</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Aplicar todo a una máquina real</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5960">
                <a:tc>
                  <a:txBody>
                    <a:bodyPr lIns="82080" rIns="82080" tIns="27360" bIns="27360" anchor="ctr">
                      <a:noAutofit/>
                    </a:bodyPr>
                    <a:p>
                      <a:pPr algn="ctr" defTabSz="457200">
                        <a:lnSpc>
                          <a:spcPct val="100000"/>
                        </a:lnSpc>
                      </a:pPr>
                      <a:r>
                        <a:rPr b="0" lang="en-US" sz="1050" spc="-1" strike="noStrike">
                          <a:solidFill>
                            <a:srgbClr val="1c2430"/>
                          </a:solidFill>
                          <a:latin typeface="Segoe UI"/>
                        </a:rPr>
                        <a:t>13</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Anexos, evaluación y recursos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Tablas de consulta rápida y autoevaluación</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27"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Metodología y convenciones del material</a:t>
            </a:r>
            <a:endParaRPr b="0" lang="en-US" sz="2500" spc="-1" strike="noStrike">
              <a:solidFill>
                <a:srgbClr val="000000"/>
              </a:solidFill>
              <a:latin typeface="Arial"/>
            </a:endParaRPr>
          </a:p>
        </p:txBody>
      </p:sp>
      <p:sp>
        <p:nvSpPr>
          <p:cNvPr id="12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Cómo sacar el máximo partido a este material</a:t>
            </a:r>
            <a:endParaRPr b="0" lang="en-US" sz="1250" spc="-1" strike="noStrike">
              <a:solidFill>
                <a:srgbClr val="000000"/>
              </a:solidFill>
              <a:latin typeface="Arial"/>
            </a:endParaRPr>
          </a:p>
        </p:txBody>
      </p:sp>
      <p:sp>
        <p:nvSpPr>
          <p:cNvPr id="12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INTRODUCCIÓN</a:t>
            </a:r>
            <a:endParaRPr b="0" lang="en-US" sz="1100" spc="-1" strike="noStrike">
              <a:solidFill>
                <a:srgbClr val="000000"/>
              </a:solidFill>
              <a:latin typeface="Arial"/>
            </a:endParaRPr>
          </a:p>
        </p:txBody>
      </p:sp>
      <p:sp>
        <p:nvSpPr>
          <p:cNvPr id="13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3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5</a:t>
            </a:r>
            <a:endParaRPr b="0" lang="en-US" sz="900" spc="-1" strike="noStrike">
              <a:solidFill>
                <a:srgbClr val="000000"/>
              </a:solidFill>
              <a:latin typeface="Arial"/>
            </a:endParaRPr>
          </a:p>
        </p:txBody>
      </p:sp>
      <p:sp>
        <p:nvSpPr>
          <p:cNvPr id="132" name="Rectangle 8"/>
          <p:cNvSpPr/>
          <p:nvPr/>
        </p:nvSpPr>
        <p:spPr>
          <a:xfrm>
            <a:off x="5670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3" name="Rectangle 9"/>
          <p:cNvSpPr/>
          <p:nvPr/>
        </p:nvSpPr>
        <p:spPr>
          <a:xfrm>
            <a:off x="567000" y="1481400"/>
            <a:ext cx="5373000" cy="4201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4"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Cómo trabajaremos</a:t>
            </a:r>
            <a:endParaRPr b="0" lang="en-US" sz="1350" spc="-1" strike="noStrike">
              <a:solidFill>
                <a:srgbClr val="000000"/>
              </a:solidFill>
              <a:latin typeface="Arial"/>
            </a:endParaRPr>
          </a:p>
        </p:txBody>
      </p:sp>
      <p:sp>
        <p:nvSpPr>
          <p:cNvPr id="135" name="TextBox 11"/>
          <p:cNvSpPr/>
          <p:nvPr/>
        </p:nvSpPr>
        <p:spPr>
          <a:xfrm>
            <a:off x="768240" y="2048400"/>
            <a:ext cx="4970880" cy="208620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Cada módulo: teoría breve → parámetros implicados → práctica guiada → errores frecuentes.</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Las diapositivas incluyen notas del instructor: úsalas como guion y como manual de estudio.</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Los procedimientos están numerados para poder seguirlos con el equipo delante, sin la presentación.</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Al final de cada bloque hay una lista de verificación imprimible (Módulo 13).</a:t>
            </a:r>
            <a:endParaRPr b="0" lang="en-US" sz="1350" spc="-1" strike="noStrike">
              <a:solidFill>
                <a:srgbClr val="000000"/>
              </a:solidFill>
              <a:latin typeface="Arial"/>
            </a:endParaRPr>
          </a:p>
        </p:txBody>
      </p:sp>
      <p:sp>
        <p:nvSpPr>
          <p:cNvPr id="136" name="Rectangle 12"/>
          <p:cNvSpPr/>
          <p:nvPr/>
        </p:nvSpPr>
        <p:spPr>
          <a:xfrm>
            <a:off x="62514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7" name="Rectangle 13"/>
          <p:cNvSpPr/>
          <p:nvPr/>
        </p:nvSpPr>
        <p:spPr>
          <a:xfrm>
            <a:off x="6251400" y="1481400"/>
            <a:ext cx="5373000" cy="42012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8"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Convenciones tipográficas</a:t>
            </a:r>
            <a:endParaRPr b="0" lang="en-US" sz="1350" spc="-1" strike="noStrike">
              <a:solidFill>
                <a:srgbClr val="000000"/>
              </a:solidFill>
              <a:latin typeface="Arial"/>
            </a:endParaRPr>
          </a:p>
        </p:txBody>
      </p:sp>
      <p:sp>
        <p:nvSpPr>
          <p:cNvPr id="139" name="TextBox 15"/>
          <p:cNvSpPr/>
          <p:nvPr/>
        </p:nvSpPr>
        <p:spPr>
          <a:xfrm>
            <a:off x="6452640" y="2048400"/>
            <a:ext cx="4970880" cy="262404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Consolas"/>
              </a:rPr>
              <a:t>Pn___</a:t>
            </a:r>
            <a:r>
              <a:rPr b="1" lang="en-US" sz="1200" spc="-1" strike="noStrike">
                <a:solidFill>
                  <a:srgbClr val="1c2430"/>
                </a:solidFill>
                <a:latin typeface="Segoe UI"/>
              </a:rPr>
              <a:t> → parámetro de configuración (p. ej. </a:t>
            </a:r>
            <a:r>
              <a:rPr b="1" lang="en-US" sz="1200" spc="-1" strike="noStrike">
                <a:solidFill>
                  <a:srgbClr val="1c2430"/>
                </a:solidFill>
                <a:latin typeface="Consolas"/>
              </a:rPr>
              <a:t>Pn100</a:t>
            </a:r>
            <a:r>
              <a:rPr b="1" lang="en-US" sz="1200" spc="-1" strike="noStrike">
                <a:solidFill>
                  <a:srgbClr val="1c2430"/>
                </a:solidFill>
                <a:latin typeface="Segoe UI"/>
              </a:rPr>
              <a:t>).</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Consolas"/>
              </a:rPr>
              <a:t>Fn___</a:t>
            </a:r>
            <a:r>
              <a:rPr b="1" lang="en-US" sz="1200" spc="-1" strike="noStrike">
                <a:solidFill>
                  <a:srgbClr val="1c2430"/>
                </a:solidFill>
                <a:latin typeface="Segoe UI"/>
              </a:rPr>
              <a:t> → función de utilidad ejecutable (p. ej. </a:t>
            </a:r>
            <a:r>
              <a:rPr b="1" lang="en-US" sz="1200" spc="-1" strike="noStrike">
                <a:solidFill>
                  <a:srgbClr val="1c2430"/>
                </a:solidFill>
                <a:latin typeface="Consolas"/>
              </a:rPr>
              <a:t>Fn002</a:t>
            </a:r>
            <a:r>
              <a:rPr b="1" lang="en-US" sz="1200" spc="-1" strike="noStrike">
                <a:solidFill>
                  <a:srgbClr val="1c2430"/>
                </a:solidFill>
                <a:latin typeface="Segoe UI"/>
              </a:rPr>
              <a:t>, JOG).</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Consolas"/>
              </a:rPr>
              <a:t>Un___</a:t>
            </a:r>
            <a:r>
              <a:rPr b="1" lang="en-US" sz="1200" spc="-1" strike="noStrike">
                <a:solidFill>
                  <a:srgbClr val="1c2430"/>
                </a:solidFill>
                <a:latin typeface="Segoe UI"/>
              </a:rPr>
              <a:t> → variable de monitorización (p. ej. </a:t>
            </a:r>
            <a:r>
              <a:rPr b="1" lang="en-US" sz="1200" spc="-1" strike="noStrike">
                <a:solidFill>
                  <a:srgbClr val="1c2430"/>
                </a:solidFill>
                <a:latin typeface="Consolas"/>
              </a:rPr>
              <a:t>Un000</a:t>
            </a:r>
            <a:r>
              <a:rPr b="1" lang="en-US" sz="1200" spc="-1" strike="noStrike">
                <a:solidFill>
                  <a:srgbClr val="1c2430"/>
                </a:solidFill>
                <a:latin typeface="Segoe UI"/>
              </a:rPr>
              <a:t>, velocidad).</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Consolas"/>
              </a:rPr>
              <a:t>A.___</a:t>
            </a:r>
            <a:r>
              <a:rPr b="1" lang="en-US" sz="1200" spc="-1" strike="noStrike">
                <a:solidFill>
                  <a:srgbClr val="1c2430"/>
                </a:solidFill>
                <a:latin typeface="Segoe UI"/>
              </a:rPr>
              <a:t> → código de alarma (p. ej. </a:t>
            </a:r>
            <a:r>
              <a:rPr b="1" lang="en-US" sz="1200" spc="-1" strike="noStrike">
                <a:solidFill>
                  <a:srgbClr val="1c2430"/>
                </a:solidFill>
                <a:latin typeface="Consolas"/>
              </a:rPr>
              <a:t>A.710</a:t>
            </a:r>
            <a:r>
              <a:rPr b="1" lang="en-US" sz="1200" spc="-1" strike="noStrike">
                <a:solidFill>
                  <a:srgbClr val="1c2430"/>
                </a:solidFill>
                <a:latin typeface="Segoe UI"/>
              </a:rPr>
              <a:t>, sobrecarga).</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Consolas"/>
              </a:rPr>
              <a:t>/XXX</a:t>
            </a:r>
            <a:r>
              <a:rPr b="1" lang="en-US" sz="1200" spc="-1" strike="noStrike">
                <a:solidFill>
                  <a:srgbClr val="1c2430"/>
                </a:solidFill>
                <a:latin typeface="Segoe UI"/>
              </a:rPr>
              <a:t> → señal activa a nivel bajo (p. ej. </a:t>
            </a:r>
            <a:r>
              <a:rPr b="1" lang="en-US" sz="1200" spc="-1" strike="noStrike">
                <a:solidFill>
                  <a:srgbClr val="1c2430"/>
                </a:solidFill>
                <a:latin typeface="Consolas"/>
              </a:rPr>
              <a:t>/S-ON</a:t>
            </a:r>
            <a:r>
              <a:rPr b="1" lang="en-US" sz="1200" spc="-1" strike="noStrike">
                <a:solidFill>
                  <a:srgbClr val="1c2430"/>
                </a:solidFill>
                <a:latin typeface="Segoe UI"/>
              </a:rPr>
              <a:t>).</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Los valores numéricos concretos corresponden al conjunto de ejemplo SGDXS-200A00A-Y3600A + SGMXA-30A.</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Las figuras de equipo y los esquemas de conexión proceden del manual oficial del fabricante, citado al pie de cada lámina.</a:t>
            </a:r>
            <a:endParaRPr b="0" lang="en-US" sz="1200" spc="-1" strike="noStrike">
              <a:solidFill>
                <a:srgbClr val="000000"/>
              </a:solidFill>
              <a:latin typeface="Arial"/>
            </a:endParaRPr>
          </a:p>
        </p:txBody>
      </p:sp>
      <p:sp>
        <p:nvSpPr>
          <p:cNvPr id="140" name="Rectangle 16"/>
          <p:cNvSpPr/>
          <p:nvPr/>
        </p:nvSpPr>
        <p:spPr>
          <a:xfrm>
            <a:off x="567000" y="5459040"/>
            <a:ext cx="11057400" cy="86832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1" name="Rectangle 17"/>
          <p:cNvSpPr/>
          <p:nvPr/>
        </p:nvSpPr>
        <p:spPr>
          <a:xfrm>
            <a:off x="567000" y="5459040"/>
            <a:ext cx="68400" cy="86832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2" name="TextBox 18"/>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c0392b"/>
                </a:solidFill>
                <a:latin typeface="Segoe UI Semibold"/>
              </a:rPr>
              <a:t>Advertencia importante sobre los datos numéricos</a:t>
            </a:r>
            <a:endParaRPr b="0" lang="en-US" sz="1200" spc="-1" strike="noStrike">
              <a:solidFill>
                <a:srgbClr val="000000"/>
              </a:solidFill>
              <a:latin typeface="Arial"/>
            </a:endParaRPr>
          </a:p>
        </p:txBody>
      </p:sp>
      <p:sp>
        <p:nvSpPr>
          <p:cNvPr id="143" name="TextBox 19"/>
          <p:cNvSpPr/>
          <p:nvPr/>
        </p:nvSpPr>
        <p:spPr>
          <a:xfrm>
            <a:off x="841320" y="5870520"/>
            <a:ext cx="10554480" cy="74268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Todos los valores de catálogo, códigos de parámetro y pinouts que aparecen en el curso son de referencia didáctica. Antes de aplicar cualquiera de ellos a un equipo real, contrasta con el manual oficial de tu SERVOPACK (SIEP C710812 03 para el SGDXS-□□□□00□) y con la placa de características: las asignaciones cambian entre series (Σ-V / Σ-X), variantes de interfaz y revisiones de firmware. Además, el sufijo </a:t>
            </a:r>
            <a:r>
              <a:rPr b="1" lang="en-US" sz="1150" spc="-1" strike="noStrike">
                <a:solidFill>
                  <a:srgbClr val="2b3644"/>
                </a:solidFill>
                <a:latin typeface="Segoe UI"/>
              </a:rPr>
              <a:t>-Y3600A</a:t>
            </a:r>
            <a:r>
              <a:rPr b="0" lang="en-US" sz="1150" spc="-1" strike="noStrike">
                <a:solidFill>
                  <a:srgbClr val="2b3644"/>
                </a:solidFill>
                <a:latin typeface="Segoe UI"/>
              </a:rPr>
              <a:t> de tu equipo indica una </a:t>
            </a:r>
            <a:r>
              <a:rPr b="1" lang="en-US" sz="1150" spc="-1" strike="noStrike">
                <a:solidFill>
                  <a:srgbClr val="2b3644"/>
                </a:solidFill>
                <a:latin typeface="Segoe UI"/>
              </a:rPr>
              <a:t>especificación personalizada</a:t>
            </a:r>
            <a:r>
              <a:rPr b="0" lang="en-US" sz="1150" spc="-1" strike="noStrike">
                <a:solidFill>
                  <a:srgbClr val="2b3644"/>
                </a:solidFill>
                <a:latin typeface="Segoe UI"/>
              </a:rPr>
              <a:t>: pide a YASKAWA la hoja de especificación Y correspondiente.</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4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Seguridad antes que nada</a:t>
            </a:r>
            <a:endParaRPr b="0" lang="en-US" sz="2500" spc="-1" strike="noStrike">
              <a:solidFill>
                <a:srgbClr val="000000"/>
              </a:solidFill>
              <a:latin typeface="Arial"/>
            </a:endParaRPr>
          </a:p>
        </p:txBody>
      </p:sp>
      <p:sp>
        <p:nvSpPr>
          <p:cNvPr id="14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Lee esta diapositiva antes de tocar el equipo</a:t>
            </a:r>
            <a:endParaRPr b="0" lang="en-US" sz="1250" spc="-1" strike="noStrike">
              <a:solidFill>
                <a:srgbClr val="000000"/>
              </a:solidFill>
              <a:latin typeface="Arial"/>
            </a:endParaRPr>
          </a:p>
        </p:txBody>
      </p:sp>
      <p:sp>
        <p:nvSpPr>
          <p:cNvPr id="14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INTRODUCCIÓN</a:t>
            </a:r>
            <a:endParaRPr b="0" lang="en-US" sz="1100" spc="-1" strike="noStrike">
              <a:solidFill>
                <a:srgbClr val="000000"/>
              </a:solidFill>
              <a:latin typeface="Arial"/>
            </a:endParaRPr>
          </a:p>
        </p:txBody>
      </p:sp>
      <p:sp>
        <p:nvSpPr>
          <p:cNvPr id="14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5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6</a:t>
            </a:r>
            <a:endParaRPr b="0" lang="en-US" sz="900" spc="-1" strike="noStrike">
              <a:solidFill>
                <a:srgbClr val="000000"/>
              </a:solidFill>
              <a:latin typeface="Arial"/>
            </a:endParaRPr>
          </a:p>
        </p:txBody>
      </p:sp>
      <p:sp>
        <p:nvSpPr>
          <p:cNvPr id="151" name="TextBox 8"/>
          <p:cNvSpPr/>
          <p:nvPr/>
        </p:nvSpPr>
        <p:spPr>
          <a:xfrm>
            <a:off x="567000" y="1481400"/>
            <a:ext cx="11057400" cy="356904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320" spc="-1" strike="noStrike">
                <a:solidFill>
                  <a:srgbClr val="1b5ea8"/>
                </a:solidFill>
                <a:latin typeface="Segoe UI Semibold"/>
              </a:rPr>
              <a:t>Riesgos eléctricos</a:t>
            </a:r>
            <a:endParaRPr b="0" lang="en-US" sz="13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370" spc="-1" strike="noStrike">
                <a:solidFill>
                  <a:srgbClr val="1c2430"/>
                </a:solidFill>
                <a:latin typeface="Segoe UI"/>
              </a:rPr>
              <a:t>El circuito principal trabaja a 200–240 V CA trifásicos; el bus de continua alcanza unos 310 V CC y mantiene carga tras desconectar.</a:t>
            </a:r>
            <a:endParaRPr b="0" lang="en-US" sz="13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220" spc="-1" strike="noStrike">
                <a:solidFill>
                  <a:srgbClr val="333f4c"/>
                </a:solidFill>
                <a:latin typeface="Segoe UI"/>
              </a:rPr>
              <a:t>Espera al menos </a:t>
            </a:r>
            <a:r>
              <a:rPr b="1" lang="en-US" sz="1220" spc="-1" strike="noStrike">
                <a:solidFill>
                  <a:srgbClr val="333f4c"/>
                </a:solidFill>
                <a:latin typeface="Segoe UI"/>
              </a:rPr>
              <a:t>5 minutos</a:t>
            </a:r>
            <a:r>
              <a:rPr b="0" lang="en-US" sz="1220" spc="-1" strike="noStrike">
                <a:solidFill>
                  <a:srgbClr val="333f4c"/>
                </a:solidFill>
                <a:latin typeface="Segoe UI"/>
              </a:rPr>
              <a:t> tras cortar la alimentación y </a:t>
            </a:r>
            <a:r>
              <a:rPr b="1" lang="en-US" sz="1220" spc="-1" strike="noStrike">
                <a:solidFill>
                  <a:srgbClr val="333f4c"/>
                </a:solidFill>
                <a:latin typeface="Segoe UI"/>
              </a:rPr>
              <a:t>verifica ausencia de tensión</a:t>
            </a:r>
            <a:r>
              <a:rPr b="0" lang="en-US" sz="1220" spc="-1" strike="noStrike">
                <a:solidFill>
                  <a:srgbClr val="333f4c"/>
                </a:solidFill>
                <a:latin typeface="Segoe UI"/>
              </a:rPr>
              <a:t> entre </a:t>
            </a:r>
            <a:r>
              <a:rPr b="0" lang="en-US" sz="1220" spc="-1" strike="noStrike">
                <a:solidFill>
                  <a:srgbClr val="333f4c"/>
                </a:solidFill>
                <a:latin typeface="Consolas"/>
              </a:rPr>
              <a:t>B1/⊕</a:t>
            </a:r>
            <a:r>
              <a:rPr b="0" lang="en-US" sz="1220" spc="-1" strike="noStrike">
                <a:solidFill>
                  <a:srgbClr val="333f4c"/>
                </a:solidFill>
                <a:latin typeface="Segoe UI"/>
              </a:rPr>
              <a:t> y </a:t>
            </a:r>
            <a:r>
              <a:rPr b="0" lang="en-US" sz="1220" spc="-1" strike="noStrike">
                <a:solidFill>
                  <a:srgbClr val="333f4c"/>
                </a:solidFill>
                <a:latin typeface="Consolas"/>
              </a:rPr>
              <a:t>⊖2</a:t>
            </a:r>
            <a:r>
              <a:rPr b="0" lang="en-US" sz="1220" spc="-1" strike="noStrike">
                <a:solidFill>
                  <a:srgbClr val="333f4c"/>
                </a:solidFill>
                <a:latin typeface="Segoe UI"/>
              </a:rPr>
              <a:t> antes de tocar bornes.</a:t>
            </a:r>
            <a:endParaRPr b="0" lang="en-US" sz="122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220" spc="-1" strike="noStrike">
                <a:solidFill>
                  <a:srgbClr val="333f4c"/>
                </a:solidFill>
                <a:latin typeface="Segoe UI"/>
              </a:rPr>
              <a:t>Nunca conectes la red a los bornes </a:t>
            </a:r>
            <a:r>
              <a:rPr b="0" lang="en-US" sz="1220" spc="-1" strike="noStrike">
                <a:solidFill>
                  <a:srgbClr val="333f4c"/>
                </a:solidFill>
                <a:latin typeface="Consolas"/>
              </a:rPr>
              <a:t>U</a:t>
            </a:r>
            <a:r>
              <a:rPr b="0" lang="en-US" sz="1220" spc="-1" strike="noStrike">
                <a:solidFill>
                  <a:srgbClr val="333f4c"/>
                </a:solidFill>
                <a:latin typeface="Segoe UI"/>
              </a:rPr>
              <a:t>, </a:t>
            </a:r>
            <a:r>
              <a:rPr b="0" lang="en-US" sz="1220" spc="-1" strike="noStrike">
                <a:solidFill>
                  <a:srgbClr val="333f4c"/>
                </a:solidFill>
                <a:latin typeface="Consolas"/>
              </a:rPr>
              <a:t>V</a:t>
            </a:r>
            <a:r>
              <a:rPr b="0" lang="en-US" sz="1220" spc="-1" strike="noStrike">
                <a:solidFill>
                  <a:srgbClr val="333f4c"/>
                </a:solidFill>
                <a:latin typeface="Segoe UI"/>
              </a:rPr>
              <a:t>, </a:t>
            </a:r>
            <a:r>
              <a:rPr b="0" lang="en-US" sz="1220" spc="-1" strike="noStrike">
                <a:solidFill>
                  <a:srgbClr val="333f4c"/>
                </a:solidFill>
                <a:latin typeface="Consolas"/>
              </a:rPr>
              <a:t>W</a:t>
            </a:r>
            <a:r>
              <a:rPr b="0" lang="en-US" sz="1220" spc="-1" strike="noStrike">
                <a:solidFill>
                  <a:srgbClr val="333f4c"/>
                </a:solidFill>
                <a:latin typeface="Segoe UI"/>
              </a:rPr>
              <a:t>: destruirías el equipo de forma inmediata e irreversible.</a:t>
            </a:r>
            <a:endParaRPr b="0" lang="en-US" sz="1220" spc="-1" strike="noStrike">
              <a:solidFill>
                <a:srgbClr val="000000"/>
              </a:solidFill>
              <a:latin typeface="Arial"/>
            </a:endParaRPr>
          </a:p>
          <a:p>
            <a:pPr defTabSz="457200">
              <a:lnSpc>
                <a:spcPct val="106000"/>
              </a:lnSpc>
              <a:spcBef>
                <a:spcPts val="799"/>
              </a:spcBef>
              <a:spcAft>
                <a:spcPts val="901"/>
              </a:spcAft>
              <a:tabLst>
                <a:tab algn="l" pos="0"/>
              </a:tabLst>
            </a:pPr>
            <a:r>
              <a:rPr b="1" lang="en-US" sz="1320" spc="-1" strike="noStrike">
                <a:solidFill>
                  <a:srgbClr val="1b5ea8"/>
                </a:solidFill>
                <a:latin typeface="Segoe UI Semibold"/>
              </a:rPr>
              <a:t>Riesgos mecánicos</a:t>
            </a:r>
            <a:endParaRPr b="0" lang="en-US" sz="13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370" spc="-1" strike="noStrike">
                <a:solidFill>
                  <a:srgbClr val="1c2430"/>
                </a:solidFill>
                <a:latin typeface="Segoe UI"/>
              </a:rPr>
              <a:t>Un motor de 3 kW entrega un par pico de más de 28 N·m y acelera en milisegundos: cualquier elemento suelto en el eje se convierte en un proyectil.</a:t>
            </a:r>
            <a:endParaRPr b="0" lang="en-US" sz="13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220" spc="-1" strike="noStrike">
                <a:solidFill>
                  <a:srgbClr val="333f4c"/>
                </a:solidFill>
                <a:latin typeface="Segoe UI"/>
              </a:rPr>
              <a:t>Retira chavetas sueltas antes de girar el motor sin carga.</a:t>
            </a:r>
            <a:endParaRPr b="0" lang="en-US" sz="122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220" spc="-1" strike="noStrike">
                <a:solidFill>
                  <a:srgbClr val="333f4c"/>
                </a:solidFill>
                <a:latin typeface="Segoe UI"/>
              </a:rPr>
              <a:t>En ejes verticales, la carga </a:t>
            </a:r>
            <a:r>
              <a:rPr b="1" lang="en-US" sz="1220" spc="-1" strike="noStrike">
                <a:solidFill>
                  <a:srgbClr val="333f4c"/>
                </a:solidFill>
                <a:latin typeface="Segoe UI"/>
              </a:rPr>
              <a:t>cae</a:t>
            </a:r>
            <a:r>
              <a:rPr b="0" lang="en-US" sz="1220" spc="-1" strike="noStrike">
                <a:solidFill>
                  <a:srgbClr val="333f4c"/>
                </a:solidFill>
                <a:latin typeface="Segoe UI"/>
              </a:rPr>
              <a:t> al desactivar el servo: el freno de retención es obligatorio y debe verificarse.</a:t>
            </a:r>
            <a:endParaRPr b="0" lang="en-US" sz="1220" spc="-1" strike="noStrike">
              <a:solidFill>
                <a:srgbClr val="000000"/>
              </a:solidFill>
              <a:latin typeface="Arial"/>
            </a:endParaRPr>
          </a:p>
          <a:p>
            <a:pPr defTabSz="457200">
              <a:lnSpc>
                <a:spcPct val="106000"/>
              </a:lnSpc>
              <a:spcBef>
                <a:spcPts val="799"/>
              </a:spcBef>
              <a:spcAft>
                <a:spcPts val="901"/>
              </a:spcAft>
              <a:tabLst>
                <a:tab algn="l" pos="0"/>
              </a:tabLst>
            </a:pPr>
            <a:r>
              <a:rPr b="1" lang="en-US" sz="1320" spc="-1" strike="noStrike">
                <a:solidFill>
                  <a:srgbClr val="1b5ea8"/>
                </a:solidFill>
                <a:latin typeface="Segoe UI Semibold"/>
              </a:rPr>
              <a:t>Riesgos térmicos</a:t>
            </a:r>
            <a:endParaRPr b="0" lang="en-US" sz="13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370" spc="-1" strike="noStrike">
                <a:solidFill>
                  <a:srgbClr val="1c2430"/>
                </a:solidFill>
                <a:latin typeface="Segoe UI"/>
              </a:rPr>
              <a:t>El disipador y el motor pueden superar los 70 °C en servicio normal. Señalízalo y espera a que enfríen.</a:t>
            </a:r>
            <a:endParaRPr b="0" lang="en-US" sz="1370" spc="-1" strike="noStrike">
              <a:solidFill>
                <a:srgbClr val="000000"/>
              </a:solidFill>
              <a:latin typeface="Arial"/>
            </a:endParaRPr>
          </a:p>
        </p:txBody>
      </p:sp>
      <p:sp>
        <p:nvSpPr>
          <p:cNvPr id="152" name="Rectangle 9"/>
          <p:cNvSpPr/>
          <p:nvPr/>
        </p:nvSpPr>
        <p:spPr>
          <a:xfrm>
            <a:off x="567000" y="5459040"/>
            <a:ext cx="11057400" cy="86832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3" name="Rectangle 10"/>
          <p:cNvSpPr/>
          <p:nvPr/>
        </p:nvSpPr>
        <p:spPr>
          <a:xfrm>
            <a:off x="567000" y="5459040"/>
            <a:ext cx="68400" cy="86832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4" name="TextBox 11"/>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c0392b"/>
                </a:solidFill>
                <a:latin typeface="Segoe UI Semibold"/>
              </a:rPr>
              <a:t>Regla de oro</a:t>
            </a:r>
            <a:endParaRPr b="0" lang="en-US" sz="1200" spc="-1" strike="noStrike">
              <a:solidFill>
                <a:srgbClr val="000000"/>
              </a:solidFill>
              <a:latin typeface="Arial"/>
            </a:endParaRPr>
          </a:p>
        </p:txBody>
      </p:sp>
      <p:sp>
        <p:nvSpPr>
          <p:cNvPr id="155" name="TextBox 12"/>
          <p:cNvSpPr/>
          <p:nvPr/>
        </p:nvSpPr>
        <p:spPr>
          <a:xfrm>
            <a:off x="841320" y="5870520"/>
            <a:ext cx="10554480" cy="18612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Consignación (LOTO) → verificación de ausencia de tensión → trabajo. Ninguna prisa justifica saltarse este orden.</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 name="Rectangle 1"/>
          <p:cNvSpPr/>
          <p:nvPr/>
        </p:nvSpPr>
        <p:spPr>
          <a:xfrm>
            <a:off x="0" y="0"/>
            <a:ext cx="12191400" cy="68576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7" name="Rectangle 2"/>
          <p:cNvSpPr/>
          <p:nvPr/>
        </p:nvSpPr>
        <p:spPr>
          <a:xfrm>
            <a:off x="0" y="0"/>
            <a:ext cx="383760" cy="6857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8" name="TextBox 3"/>
          <p:cNvSpPr/>
          <p:nvPr/>
        </p:nvSpPr>
        <p:spPr>
          <a:xfrm>
            <a:off x="1051560" y="1234440"/>
            <a:ext cx="5486040" cy="8841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5800" spc="-1" strike="noStrike">
                <a:solidFill>
                  <a:srgbClr val="143a63"/>
                </a:solidFill>
                <a:latin typeface="Segoe UI Semibold"/>
              </a:rPr>
              <a:t>MÓDULO 01</a:t>
            </a:r>
            <a:endParaRPr b="0" lang="en-US" sz="5800" spc="-1" strike="noStrike">
              <a:solidFill>
                <a:srgbClr val="000000"/>
              </a:solidFill>
              <a:latin typeface="Arial"/>
            </a:endParaRPr>
          </a:p>
        </p:txBody>
      </p:sp>
      <p:sp>
        <p:nvSpPr>
          <p:cNvPr id="159" name="TextBox 4"/>
          <p:cNvSpPr/>
          <p:nvPr/>
        </p:nvSpPr>
        <p:spPr>
          <a:xfrm>
            <a:off x="1051560" y="2331720"/>
            <a:ext cx="9875160" cy="54396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1" lang="en-US" sz="3400" spc="-1" strike="noStrike">
                <a:solidFill>
                  <a:srgbClr val="ffffff"/>
                </a:solidFill>
                <a:latin typeface="Segoe UI Semibold"/>
              </a:rPr>
              <a:t>Fundamentos del servoaccionamiento</a:t>
            </a:r>
            <a:endParaRPr b="0" lang="en-US" sz="3400" spc="-1" strike="noStrike">
              <a:solidFill>
                <a:srgbClr val="000000"/>
              </a:solidFill>
              <a:latin typeface="Arial"/>
            </a:endParaRPr>
          </a:p>
        </p:txBody>
      </p:sp>
      <p:sp>
        <p:nvSpPr>
          <p:cNvPr id="160" name="Rectangle 5"/>
          <p:cNvSpPr/>
          <p:nvPr/>
        </p:nvSpPr>
        <p:spPr>
          <a:xfrm>
            <a:off x="1051560" y="3703320"/>
            <a:ext cx="1279800" cy="453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161" name="Rectangle 6"/>
          <p:cNvSpPr/>
          <p:nvPr/>
        </p:nvSpPr>
        <p:spPr>
          <a:xfrm>
            <a:off x="1051560" y="41468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2" name="TextBox 7"/>
          <p:cNvSpPr/>
          <p:nvPr/>
        </p:nvSpPr>
        <p:spPr>
          <a:xfrm>
            <a:off x="1325880" y="40690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Qué es un servo y por qué existe</a:t>
            </a:r>
            <a:endParaRPr b="0" lang="en-US" sz="1350" spc="-1" strike="noStrike">
              <a:solidFill>
                <a:srgbClr val="000000"/>
              </a:solidFill>
              <a:latin typeface="Arial"/>
            </a:endParaRPr>
          </a:p>
        </p:txBody>
      </p:sp>
      <p:sp>
        <p:nvSpPr>
          <p:cNvPr id="163" name="Rectangle 8"/>
          <p:cNvSpPr/>
          <p:nvPr/>
        </p:nvSpPr>
        <p:spPr>
          <a:xfrm>
            <a:off x="1051560" y="451260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4" name="TextBox 9"/>
          <p:cNvSpPr/>
          <p:nvPr/>
        </p:nvSpPr>
        <p:spPr>
          <a:xfrm>
            <a:off x="1325880" y="443484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Los cuatro elementos del sistema y cómo se hablan entre sí</a:t>
            </a:r>
            <a:endParaRPr b="0" lang="en-US" sz="1350" spc="-1" strike="noStrike">
              <a:solidFill>
                <a:srgbClr val="000000"/>
              </a:solidFill>
              <a:latin typeface="Arial"/>
            </a:endParaRPr>
          </a:p>
        </p:txBody>
      </p:sp>
      <p:sp>
        <p:nvSpPr>
          <p:cNvPr id="165" name="Rectangle 10"/>
          <p:cNvSpPr/>
          <p:nvPr/>
        </p:nvSpPr>
        <p:spPr>
          <a:xfrm>
            <a:off x="1051560" y="487836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6" name="TextBox 11"/>
          <p:cNvSpPr/>
          <p:nvPr/>
        </p:nvSpPr>
        <p:spPr>
          <a:xfrm>
            <a:off x="1325880" y="480060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El lazo cerrado en cascada: posición, velocidad y par</a:t>
            </a:r>
            <a:endParaRPr b="0" lang="en-US" sz="1350" spc="-1" strike="noStrike">
              <a:solidFill>
                <a:srgbClr val="000000"/>
              </a:solidFill>
              <a:latin typeface="Arial"/>
            </a:endParaRPr>
          </a:p>
        </p:txBody>
      </p:sp>
      <p:sp>
        <p:nvSpPr>
          <p:cNvPr id="167" name="Rectangle 12"/>
          <p:cNvSpPr/>
          <p:nvPr/>
        </p:nvSpPr>
        <p:spPr>
          <a:xfrm>
            <a:off x="1051560" y="524412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8" name="TextBox 13"/>
          <p:cNvSpPr/>
          <p:nvPr/>
        </p:nvSpPr>
        <p:spPr>
          <a:xfrm>
            <a:off x="1325880" y="516636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Encoder, resolución y realimentación</a:t>
            </a:r>
            <a:endParaRPr b="0" lang="en-US" sz="1350" spc="-1" strike="noStrike">
              <a:solidFill>
                <a:srgbClr val="000000"/>
              </a:solidFill>
              <a:latin typeface="Arial"/>
            </a:endParaRPr>
          </a:p>
        </p:txBody>
      </p:sp>
      <p:sp>
        <p:nvSpPr>
          <p:cNvPr id="169" name="Rectangle 14"/>
          <p:cNvSpPr/>
          <p:nvPr/>
        </p:nvSpPr>
        <p:spPr>
          <a:xfrm>
            <a:off x="1051560" y="560988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0" name="TextBox 15"/>
          <p:cNvSpPr/>
          <p:nvPr/>
        </p:nvSpPr>
        <p:spPr>
          <a:xfrm>
            <a:off x="1325880" y="553212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Las magnitudes que gobiernan todo: par, inercia y aceleración</a:t>
            </a:r>
            <a:endParaRPr b="0" lang="en-US" sz="1350" spc="-1" strike="noStrike">
              <a:solidFill>
                <a:srgbClr val="000000"/>
              </a:solidFill>
              <a:latin typeface="Arial"/>
            </a:endParaRPr>
          </a:p>
        </p:txBody>
      </p:sp>
      <p:sp>
        <p:nvSpPr>
          <p:cNvPr id="171" name="Rectangle 16"/>
          <p:cNvSpPr/>
          <p:nvPr/>
        </p:nvSpPr>
        <p:spPr>
          <a:xfrm>
            <a:off x="1051560" y="59756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2" name="TextBox 17"/>
          <p:cNvSpPr/>
          <p:nvPr/>
        </p:nvSpPr>
        <p:spPr>
          <a:xfrm>
            <a:off x="1325880" y="58978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Cómo se lee una curva par-velocidad</a:t>
            </a:r>
            <a:endParaRPr b="0" lang="en-US" sz="1350" spc="-1" strike="noStrike">
              <a:solidFill>
                <a:srgbClr val="000000"/>
              </a:solidFill>
              <a:latin typeface="Arial"/>
            </a:endParaRPr>
          </a:p>
        </p:txBody>
      </p:sp>
      <p:sp>
        <p:nvSpPr>
          <p:cNvPr id="173" name="TextBox 18"/>
          <p:cNvSpPr/>
          <p:nvPr/>
        </p:nvSpPr>
        <p:spPr>
          <a:xfrm>
            <a:off x="1051560" y="6172200"/>
            <a:ext cx="73148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e89b1f"/>
                </a:solidFill>
                <a:latin typeface="Segoe UI"/>
              </a:rPr>
              <a:t>Duración orientativa: 3 h</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7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¿Qué es un servoaccionamiento?</a:t>
            </a:r>
            <a:endParaRPr b="0" lang="en-US" sz="2500" spc="-1" strike="noStrike">
              <a:solidFill>
                <a:srgbClr val="000000"/>
              </a:solidFill>
              <a:latin typeface="Arial"/>
            </a:endParaRPr>
          </a:p>
        </p:txBody>
      </p:sp>
      <p:sp>
        <p:nvSpPr>
          <p:cNvPr id="17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diferencia entre mover un eje y controlarlo</a:t>
            </a:r>
            <a:endParaRPr b="0" lang="en-US" sz="1250" spc="-1" strike="noStrike">
              <a:solidFill>
                <a:srgbClr val="000000"/>
              </a:solidFill>
              <a:latin typeface="Arial"/>
            </a:endParaRPr>
          </a:p>
        </p:txBody>
      </p:sp>
      <p:sp>
        <p:nvSpPr>
          <p:cNvPr id="17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01</a:t>
            </a:r>
            <a:endParaRPr b="0" lang="en-US" sz="1100" spc="-1" strike="noStrike">
              <a:solidFill>
                <a:srgbClr val="000000"/>
              </a:solidFill>
              <a:latin typeface="Arial"/>
            </a:endParaRPr>
          </a:p>
        </p:txBody>
      </p:sp>
      <p:sp>
        <p:nvSpPr>
          <p:cNvPr id="17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8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8</a:t>
            </a:r>
            <a:endParaRPr b="0" lang="en-US" sz="900" spc="-1" strike="noStrike">
              <a:solidFill>
                <a:srgbClr val="000000"/>
              </a:solidFill>
              <a:latin typeface="Arial"/>
            </a:endParaRPr>
          </a:p>
        </p:txBody>
      </p:sp>
      <p:sp>
        <p:nvSpPr>
          <p:cNvPr id="181" name="TextBox 8"/>
          <p:cNvSpPr/>
          <p:nvPr/>
        </p:nvSpPr>
        <p:spPr>
          <a:xfrm>
            <a:off x="567000" y="1481400"/>
            <a:ext cx="11057400" cy="473508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400" spc="-1" strike="noStrike">
                <a:solidFill>
                  <a:srgbClr val="1b5ea8"/>
                </a:solidFill>
                <a:latin typeface="Segoe UI Semibold"/>
              </a:rPr>
              <a:t>Definición práctica</a:t>
            </a:r>
            <a:endParaRPr b="0" lang="en-US" sz="14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450" spc="-1" strike="noStrike">
                <a:solidFill>
                  <a:srgbClr val="1c2430"/>
                </a:solidFill>
                <a:latin typeface="Segoe UI"/>
              </a:rPr>
              <a:t>Un servoaccionamiento es un sistema que obliga a un eje mecánico a seguir una consigna de posición, velocidad o par con error controlado, corrigiendo continuamente a partir de la medida real.</a:t>
            </a:r>
            <a:endParaRPr b="0" lang="en-US" sz="145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1400" spc="-1" strike="noStrike">
                <a:solidFill>
                  <a:srgbClr val="1b5ea8"/>
                </a:solidFill>
                <a:latin typeface="Segoe UI Semibold"/>
              </a:rPr>
              <a:t>Las tres ideas que lo definen</a:t>
            </a:r>
            <a:endParaRPr b="0" lang="en-US" sz="14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450" spc="-1" strike="noStrike">
                <a:solidFill>
                  <a:srgbClr val="1c2430"/>
                </a:solidFill>
                <a:latin typeface="Segoe UI"/>
              </a:rPr>
              <a:t>Realimentación: el encoder mide lo que realmente ocurre en el eje; el drive compara medida y consigna miles de veces por segundo.</a:t>
            </a:r>
            <a:endParaRPr b="0" lang="en-US" sz="14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450" spc="-1" strike="noStrike">
                <a:solidFill>
                  <a:srgbClr val="1c2430"/>
                </a:solidFill>
                <a:latin typeface="Segoe UI"/>
              </a:rPr>
              <a:t>Corrección: la diferencia (error) se transforma en corriente para el motor. Sin error no hay corrección; con error grande, corrección grande.</a:t>
            </a:r>
            <a:endParaRPr b="0" lang="en-US" sz="14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450" spc="-1" strike="noStrike">
                <a:solidFill>
                  <a:srgbClr val="1c2430"/>
                </a:solidFill>
                <a:latin typeface="Segoe UI"/>
              </a:rPr>
              <a:t>Dinámica: no basta con llegar; hay que llegar rápido, sin sobrepasar y sin vibrar. Ahí está la dificultad y el valor técnico.</a:t>
            </a:r>
            <a:endParaRPr b="0" lang="en-US" sz="145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1400" spc="-1" strike="noStrike">
                <a:solidFill>
                  <a:srgbClr val="1b5ea8"/>
                </a:solidFill>
                <a:latin typeface="Segoe UI Semibold"/>
              </a:rPr>
              <a:t>Qué aporta frente a un accionamiento convencional</a:t>
            </a:r>
            <a:endParaRPr b="0" lang="en-US" sz="14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300" spc="-1" strike="noStrike">
                <a:solidFill>
                  <a:srgbClr val="333f4c"/>
                </a:solidFill>
                <a:latin typeface="Segoe UI"/>
              </a:rPr>
              <a:t>Precisión de posicionado del orden de la </a:t>
            </a:r>
            <a:r>
              <a:rPr b="1" lang="en-US" sz="1300" spc="-1" strike="noStrike">
                <a:solidFill>
                  <a:srgbClr val="333f4c"/>
                </a:solidFill>
                <a:latin typeface="Segoe UI"/>
              </a:rPr>
              <a:t>cuenta de encoder</a:t>
            </a:r>
            <a:r>
              <a:rPr b="0" lang="en-US" sz="1300" spc="-1" strike="noStrike">
                <a:solidFill>
                  <a:srgbClr val="333f4c"/>
                </a:solidFill>
                <a:latin typeface="Segoe UI"/>
              </a:rPr>
              <a:t> (millonésimas de vuelta con encoder de 24 bits).</a:t>
            </a:r>
            <a:endParaRPr b="0" lang="en-US" sz="13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300" spc="-1" strike="noStrike">
                <a:solidFill>
                  <a:srgbClr val="333f4c"/>
                </a:solidFill>
                <a:latin typeface="Segoe UI"/>
              </a:rPr>
              <a:t>Par disponible desde </a:t>
            </a:r>
            <a:r>
              <a:rPr b="1" lang="en-US" sz="1300" spc="-1" strike="noStrike">
                <a:solidFill>
                  <a:srgbClr val="333f4c"/>
                </a:solidFill>
                <a:latin typeface="Segoe UI"/>
              </a:rPr>
              <a:t>velocidad cero</a:t>
            </a:r>
            <a:r>
              <a:rPr b="0" lang="en-US" sz="1300" spc="-1" strike="noStrike">
                <a:solidFill>
                  <a:srgbClr val="333f4c"/>
                </a:solidFill>
                <a:latin typeface="Segoe UI"/>
              </a:rPr>
              <a:t> y control del par en todo momento.</a:t>
            </a:r>
            <a:endParaRPr b="0" lang="en-US" sz="13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300" spc="-1" strike="noStrike">
                <a:solidFill>
                  <a:srgbClr val="333f4c"/>
                </a:solidFill>
                <a:latin typeface="Segoe UI"/>
              </a:rPr>
              <a:t>Aceleraciones y ciclos por minuto muy superiores: el motor está diseñado con baja inercia y alta densidad de par.</a:t>
            </a: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3"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84"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Los cuatro elementos del sistema servo</a:t>
            </a:r>
            <a:endParaRPr b="0" lang="en-US" sz="2500" spc="-1" strike="noStrike">
              <a:solidFill>
                <a:srgbClr val="000000"/>
              </a:solidFill>
              <a:latin typeface="Arial"/>
            </a:endParaRPr>
          </a:p>
        </p:txBody>
      </p:sp>
      <p:sp>
        <p:nvSpPr>
          <p:cNvPr id="185"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Cadena de mando y cadena de realimentación</a:t>
            </a:r>
            <a:endParaRPr b="0" lang="en-US" sz="1250" spc="-1" strike="noStrike">
              <a:solidFill>
                <a:srgbClr val="000000"/>
              </a:solidFill>
              <a:latin typeface="Arial"/>
            </a:endParaRPr>
          </a:p>
        </p:txBody>
      </p:sp>
      <p:sp>
        <p:nvSpPr>
          <p:cNvPr id="186"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01</a:t>
            </a:r>
            <a:endParaRPr b="0" lang="en-US" sz="1100" spc="-1" strike="noStrike">
              <a:solidFill>
                <a:srgbClr val="000000"/>
              </a:solidFill>
              <a:latin typeface="Arial"/>
            </a:endParaRPr>
          </a:p>
        </p:txBody>
      </p:sp>
      <p:sp>
        <p:nvSpPr>
          <p:cNvPr id="187"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88"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9</a:t>
            </a:r>
            <a:endParaRPr b="0" lang="en-US" sz="900" spc="-1" strike="noStrike">
              <a:solidFill>
                <a:srgbClr val="000000"/>
              </a:solidFill>
              <a:latin typeface="Arial"/>
            </a:endParaRPr>
          </a:p>
        </p:txBody>
      </p:sp>
      <p:sp>
        <p:nvSpPr>
          <p:cNvPr id="189" name="Rounded Rectangle 8"/>
          <p:cNvSpPr/>
          <p:nvPr/>
        </p:nvSpPr>
        <p:spPr>
          <a:xfrm>
            <a:off x="685800" y="2148840"/>
            <a:ext cx="2331360" cy="1051200"/>
          </a:xfrm>
          <a:prstGeom prst="roundRect">
            <a:avLst>
              <a:gd name="adj" fmla="val 10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250" spc="-1" strike="noStrike">
                <a:solidFill>
                  <a:srgbClr val="ffffff"/>
                </a:solidFill>
                <a:latin typeface="Segoe UI"/>
              </a:rPr>
              <a:t>CONTROLADOR</a:t>
            </a:r>
            <a:endParaRPr b="0" lang="en-US" sz="1250" spc="-1" strike="noStrike">
              <a:solidFill>
                <a:srgbClr val="ffffff"/>
              </a:solidFill>
              <a:latin typeface="Arial"/>
            </a:endParaRPr>
          </a:p>
          <a:p>
            <a:pPr algn="ctr" defTabSz="457200">
              <a:lnSpc>
                <a:spcPct val="100000"/>
              </a:lnSpc>
            </a:pPr>
            <a:r>
              <a:rPr b="1" lang="en-US" sz="1250" spc="-1" strike="noStrike">
                <a:solidFill>
                  <a:srgbClr val="ffffff"/>
                </a:solidFill>
                <a:latin typeface="Segoe UI"/>
              </a:rPr>
              <a:t>PLC · CNC · Motion</a:t>
            </a:r>
            <a:endParaRPr b="0" lang="en-US" sz="1250" spc="-1" strike="noStrike">
              <a:solidFill>
                <a:srgbClr val="ffffff"/>
              </a:solidFill>
              <a:latin typeface="Arial"/>
            </a:endParaRPr>
          </a:p>
        </p:txBody>
      </p:sp>
      <p:sp>
        <p:nvSpPr>
          <p:cNvPr id="190" name="TextBox 9"/>
          <p:cNvSpPr/>
          <p:nvPr/>
        </p:nvSpPr>
        <p:spPr>
          <a:xfrm>
            <a:off x="685800" y="3310200"/>
            <a:ext cx="2331360" cy="3049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000" spc="-1" strike="noStrike">
                <a:solidFill>
                  <a:srgbClr val="5a6b7b"/>
                </a:solidFill>
                <a:latin typeface="Segoe UI"/>
              </a:rPr>
              <a:t>Genera la consigna:</a:t>
            </a:r>
            <a:endParaRPr b="0" lang="en-US" sz="1000" spc="-1" strike="noStrike">
              <a:solidFill>
                <a:srgbClr val="000000"/>
              </a:solidFill>
              <a:latin typeface="Arial"/>
            </a:endParaRPr>
          </a:p>
          <a:p>
            <a:pPr algn="ctr" defTabSz="457200">
              <a:lnSpc>
                <a:spcPct val="100000"/>
              </a:lnSpc>
            </a:pPr>
            <a:r>
              <a:rPr b="0" lang="en-US" sz="1000" spc="-1" strike="noStrike">
                <a:solidFill>
                  <a:srgbClr val="5a6b7b"/>
                </a:solidFill>
                <a:latin typeface="Segoe UI"/>
              </a:rPr>
              <a:t>posición, velocidad o par</a:t>
            </a:r>
            <a:endParaRPr b="0" lang="en-US" sz="1000" spc="-1" strike="noStrike">
              <a:solidFill>
                <a:srgbClr val="000000"/>
              </a:solidFill>
              <a:latin typeface="Arial"/>
            </a:endParaRPr>
          </a:p>
        </p:txBody>
      </p:sp>
      <p:sp>
        <p:nvSpPr>
          <p:cNvPr id="191" name="Right Arrow 10"/>
          <p:cNvSpPr/>
          <p:nvPr/>
        </p:nvSpPr>
        <p:spPr>
          <a:xfrm>
            <a:off x="3090600" y="2555640"/>
            <a:ext cx="356400" cy="23724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2" name="Rounded Rectangle 11"/>
          <p:cNvSpPr/>
          <p:nvPr/>
        </p:nvSpPr>
        <p:spPr>
          <a:xfrm>
            <a:off x="3520440" y="2148840"/>
            <a:ext cx="2331360" cy="1051200"/>
          </a:xfrm>
          <a:prstGeom prst="roundRect">
            <a:avLst>
              <a:gd name="adj" fmla="val 10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250" spc="-1" strike="noStrike">
                <a:solidFill>
                  <a:srgbClr val="ffffff"/>
                </a:solidFill>
                <a:latin typeface="Segoe UI"/>
              </a:rPr>
              <a:t>SERVOPACK</a:t>
            </a:r>
            <a:endParaRPr b="0" lang="en-US" sz="1250" spc="-1" strike="noStrike">
              <a:solidFill>
                <a:srgbClr val="ffffff"/>
              </a:solidFill>
              <a:latin typeface="Arial"/>
            </a:endParaRPr>
          </a:p>
          <a:p>
            <a:pPr algn="ctr" defTabSz="457200">
              <a:lnSpc>
                <a:spcPct val="100000"/>
              </a:lnSpc>
            </a:pPr>
            <a:r>
              <a:rPr b="1" lang="en-US" sz="1250" spc="-1" strike="noStrike">
                <a:solidFill>
                  <a:srgbClr val="ffffff"/>
                </a:solidFill>
                <a:latin typeface="Segoe UI"/>
              </a:rPr>
              <a:t>SGDXS-200A00A</a:t>
            </a:r>
            <a:endParaRPr b="0" lang="en-US" sz="1250" spc="-1" strike="noStrike">
              <a:solidFill>
                <a:srgbClr val="ffffff"/>
              </a:solidFill>
              <a:latin typeface="Arial"/>
            </a:endParaRPr>
          </a:p>
        </p:txBody>
      </p:sp>
      <p:sp>
        <p:nvSpPr>
          <p:cNvPr id="193" name="TextBox 12"/>
          <p:cNvSpPr/>
          <p:nvPr/>
        </p:nvSpPr>
        <p:spPr>
          <a:xfrm>
            <a:off x="3520440" y="3310200"/>
            <a:ext cx="2331360" cy="3049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000" spc="-1" strike="noStrike">
                <a:solidFill>
                  <a:srgbClr val="5a6b7b"/>
                </a:solidFill>
                <a:latin typeface="Segoe UI"/>
              </a:rPr>
              <a:t>Cierra los lazos y</a:t>
            </a:r>
            <a:endParaRPr b="0" lang="en-US" sz="1000" spc="-1" strike="noStrike">
              <a:solidFill>
                <a:srgbClr val="000000"/>
              </a:solidFill>
              <a:latin typeface="Arial"/>
            </a:endParaRPr>
          </a:p>
          <a:p>
            <a:pPr algn="ctr" defTabSz="457200">
              <a:lnSpc>
                <a:spcPct val="100000"/>
              </a:lnSpc>
            </a:pPr>
            <a:r>
              <a:rPr b="0" lang="en-US" sz="1000" spc="-1" strike="noStrike">
                <a:solidFill>
                  <a:srgbClr val="5a6b7b"/>
                </a:solidFill>
                <a:latin typeface="Segoe UI"/>
              </a:rPr>
              <a:t>convierte la red en corriente</a:t>
            </a:r>
            <a:endParaRPr b="0" lang="en-US" sz="1000" spc="-1" strike="noStrike">
              <a:solidFill>
                <a:srgbClr val="000000"/>
              </a:solidFill>
              <a:latin typeface="Arial"/>
            </a:endParaRPr>
          </a:p>
        </p:txBody>
      </p:sp>
      <p:sp>
        <p:nvSpPr>
          <p:cNvPr id="194" name="Right Arrow 13"/>
          <p:cNvSpPr/>
          <p:nvPr/>
        </p:nvSpPr>
        <p:spPr>
          <a:xfrm>
            <a:off x="5925240" y="2555640"/>
            <a:ext cx="356400" cy="23724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5" name="Rounded Rectangle 14"/>
          <p:cNvSpPr/>
          <p:nvPr/>
        </p:nvSpPr>
        <p:spPr>
          <a:xfrm>
            <a:off x="6355080" y="2148840"/>
            <a:ext cx="2331360" cy="1051200"/>
          </a:xfrm>
          <a:prstGeom prst="roundRect">
            <a:avLst>
              <a:gd name="adj" fmla="val 10000"/>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250" spc="-1" strike="noStrike">
                <a:solidFill>
                  <a:srgbClr val="ffffff"/>
                </a:solidFill>
                <a:latin typeface="Segoe UI"/>
              </a:rPr>
              <a:t>SERVOMOTOR</a:t>
            </a:r>
            <a:endParaRPr b="0" lang="en-US" sz="1250" spc="-1" strike="noStrike">
              <a:solidFill>
                <a:srgbClr val="ffffff"/>
              </a:solidFill>
              <a:latin typeface="Arial"/>
            </a:endParaRPr>
          </a:p>
          <a:p>
            <a:pPr algn="ctr" defTabSz="457200">
              <a:lnSpc>
                <a:spcPct val="100000"/>
              </a:lnSpc>
            </a:pPr>
            <a:r>
              <a:rPr b="1" lang="en-US" sz="1250" spc="-1" strike="noStrike">
                <a:solidFill>
                  <a:srgbClr val="ffffff"/>
                </a:solidFill>
                <a:latin typeface="Segoe UI"/>
              </a:rPr>
              <a:t>SGMXA-30A · 3 kW</a:t>
            </a:r>
            <a:endParaRPr b="0" lang="en-US" sz="1250" spc="-1" strike="noStrike">
              <a:solidFill>
                <a:srgbClr val="ffffff"/>
              </a:solidFill>
              <a:latin typeface="Arial"/>
            </a:endParaRPr>
          </a:p>
        </p:txBody>
      </p:sp>
      <p:sp>
        <p:nvSpPr>
          <p:cNvPr id="196" name="TextBox 15"/>
          <p:cNvSpPr/>
          <p:nvPr/>
        </p:nvSpPr>
        <p:spPr>
          <a:xfrm>
            <a:off x="6355080" y="3310200"/>
            <a:ext cx="2331360" cy="3049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000" spc="-1" strike="noStrike">
                <a:solidFill>
                  <a:srgbClr val="5a6b7b"/>
                </a:solidFill>
                <a:latin typeface="Segoe UI"/>
              </a:rPr>
              <a:t>Convierte corriente</a:t>
            </a:r>
            <a:endParaRPr b="0" lang="en-US" sz="1000" spc="-1" strike="noStrike">
              <a:solidFill>
                <a:srgbClr val="000000"/>
              </a:solidFill>
              <a:latin typeface="Arial"/>
            </a:endParaRPr>
          </a:p>
          <a:p>
            <a:pPr algn="ctr" defTabSz="457200">
              <a:lnSpc>
                <a:spcPct val="100000"/>
              </a:lnSpc>
            </a:pPr>
            <a:r>
              <a:rPr b="0" lang="en-US" sz="1000" spc="-1" strike="noStrike">
                <a:solidFill>
                  <a:srgbClr val="5a6b7b"/>
                </a:solidFill>
                <a:latin typeface="Segoe UI"/>
              </a:rPr>
              <a:t>en par y movimiento</a:t>
            </a:r>
            <a:endParaRPr b="0" lang="en-US" sz="1000" spc="-1" strike="noStrike">
              <a:solidFill>
                <a:srgbClr val="000000"/>
              </a:solidFill>
              <a:latin typeface="Arial"/>
            </a:endParaRPr>
          </a:p>
        </p:txBody>
      </p:sp>
      <p:sp>
        <p:nvSpPr>
          <p:cNvPr id="197" name="Right Arrow 16"/>
          <p:cNvSpPr/>
          <p:nvPr/>
        </p:nvSpPr>
        <p:spPr>
          <a:xfrm>
            <a:off x="8759880" y="2555640"/>
            <a:ext cx="356400" cy="23724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8" name="Rounded Rectangle 17"/>
          <p:cNvSpPr/>
          <p:nvPr/>
        </p:nvSpPr>
        <p:spPr>
          <a:xfrm>
            <a:off x="9189720" y="2148840"/>
            <a:ext cx="2331360" cy="1051200"/>
          </a:xfrm>
          <a:prstGeom prst="roundRect">
            <a:avLst>
              <a:gd name="adj" fmla="val 10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250" spc="-1" strike="noStrike">
                <a:solidFill>
                  <a:srgbClr val="ffffff"/>
                </a:solidFill>
                <a:latin typeface="Segoe UI"/>
              </a:rPr>
              <a:t>MECÁNICA</a:t>
            </a:r>
            <a:endParaRPr b="0" lang="en-US" sz="1250" spc="-1" strike="noStrike">
              <a:solidFill>
                <a:srgbClr val="ffffff"/>
              </a:solidFill>
              <a:latin typeface="Arial"/>
            </a:endParaRPr>
          </a:p>
          <a:p>
            <a:pPr algn="ctr" defTabSz="457200">
              <a:lnSpc>
                <a:spcPct val="100000"/>
              </a:lnSpc>
            </a:pPr>
            <a:r>
              <a:rPr b="1" lang="en-US" sz="1250" spc="-1" strike="noStrike">
                <a:solidFill>
                  <a:srgbClr val="ffffff"/>
                </a:solidFill>
                <a:latin typeface="Segoe UI"/>
              </a:rPr>
              <a:t>Reductor · husillo · carga</a:t>
            </a:r>
            <a:endParaRPr b="0" lang="en-US" sz="1250" spc="-1" strike="noStrike">
              <a:solidFill>
                <a:srgbClr val="ffffff"/>
              </a:solidFill>
              <a:latin typeface="Arial"/>
            </a:endParaRPr>
          </a:p>
        </p:txBody>
      </p:sp>
      <p:sp>
        <p:nvSpPr>
          <p:cNvPr id="199" name="TextBox 18"/>
          <p:cNvSpPr/>
          <p:nvPr/>
        </p:nvSpPr>
        <p:spPr>
          <a:xfrm>
            <a:off x="9189720" y="3310200"/>
            <a:ext cx="2331360" cy="3049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000" spc="-1" strike="noStrike">
                <a:solidFill>
                  <a:srgbClr val="5a6b7b"/>
                </a:solidFill>
                <a:latin typeface="Segoe UI"/>
              </a:rPr>
              <a:t>Transforma el giro</a:t>
            </a:r>
            <a:endParaRPr b="0" lang="en-US" sz="1000" spc="-1" strike="noStrike">
              <a:solidFill>
                <a:srgbClr val="000000"/>
              </a:solidFill>
              <a:latin typeface="Arial"/>
            </a:endParaRPr>
          </a:p>
          <a:p>
            <a:pPr algn="ctr" defTabSz="457200">
              <a:lnSpc>
                <a:spcPct val="100000"/>
              </a:lnSpc>
            </a:pPr>
            <a:r>
              <a:rPr b="0" lang="en-US" sz="1000" spc="-1" strike="noStrike">
                <a:solidFill>
                  <a:srgbClr val="5a6b7b"/>
                </a:solidFill>
                <a:latin typeface="Segoe UI"/>
              </a:rPr>
              <a:t>en el movimiento útil</a:t>
            </a:r>
            <a:endParaRPr b="0" lang="en-US" sz="1000" spc="-1" strike="noStrike">
              <a:solidFill>
                <a:srgbClr val="000000"/>
              </a:solidFill>
              <a:latin typeface="Arial"/>
            </a:endParaRPr>
          </a:p>
        </p:txBody>
      </p:sp>
      <p:sp>
        <p:nvSpPr>
          <p:cNvPr id="200" name="TextBox 19"/>
          <p:cNvSpPr/>
          <p:nvPr/>
        </p:nvSpPr>
        <p:spPr>
          <a:xfrm>
            <a:off x="685800" y="1764720"/>
            <a:ext cx="108352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e89b1f"/>
                </a:solidFill>
                <a:latin typeface="Segoe UI"/>
              </a:rPr>
              <a:t>CADENA DE MANDO  →</a:t>
            </a:r>
            <a:endParaRPr b="0" lang="en-US" sz="1100" spc="-1" strike="noStrike">
              <a:solidFill>
                <a:srgbClr val="000000"/>
              </a:solidFill>
              <a:latin typeface="Arial"/>
            </a:endParaRPr>
          </a:p>
        </p:txBody>
      </p:sp>
      <p:cxnSp>
        <p:nvCxnSpPr>
          <p:cNvPr id="201" name="Connector 20"/>
          <p:cNvCxnSpPr/>
          <p:nvPr/>
        </p:nvCxnSpPr>
        <p:spPr>
          <a:xfrm>
            <a:off x="7520760" y="3703320"/>
            <a:ext cx="360" cy="823320"/>
          </a:xfrm>
          <a:prstGeom prst="straightConnector1">
            <a:avLst/>
          </a:prstGeom>
          <a:ln w="22225">
            <a:solidFill>
              <a:srgbClr val="2e8b57"/>
            </a:solidFill>
            <a:round/>
          </a:ln>
        </p:spPr>
      </p:cxnSp>
      <p:cxnSp>
        <p:nvCxnSpPr>
          <p:cNvPr id="202" name="Connector 21"/>
          <p:cNvCxnSpPr/>
          <p:nvPr/>
        </p:nvCxnSpPr>
        <p:spPr>
          <a:xfrm flipH="1">
            <a:off x="4686120" y="4526280"/>
            <a:ext cx="2835000" cy="360"/>
          </a:xfrm>
          <a:prstGeom prst="straightConnector1">
            <a:avLst/>
          </a:prstGeom>
          <a:ln w="22225">
            <a:solidFill>
              <a:srgbClr val="2e8b57"/>
            </a:solidFill>
            <a:round/>
          </a:ln>
        </p:spPr>
      </p:cxnSp>
      <p:sp>
        <p:nvSpPr>
          <p:cNvPr id="203" name="Up Arrow 22"/>
          <p:cNvSpPr/>
          <p:nvPr/>
        </p:nvSpPr>
        <p:spPr>
          <a:xfrm>
            <a:off x="4567320" y="3959280"/>
            <a:ext cx="237240" cy="566640"/>
          </a:xfrm>
          <a:prstGeom prst="upArrow">
            <a:avLst>
              <a:gd name="adj1" fmla="val 50000"/>
              <a:gd name="adj2" fmla="val 50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4" name="Rounded Rectangle 23"/>
          <p:cNvSpPr/>
          <p:nvPr/>
        </p:nvSpPr>
        <p:spPr>
          <a:xfrm>
            <a:off x="6286680" y="4325040"/>
            <a:ext cx="2468520" cy="402120"/>
          </a:xfrm>
          <a:prstGeom prst="roundRect">
            <a:avLst>
              <a:gd name="adj" fmla="val 12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Segoe UI"/>
              </a:rPr>
              <a:t>ENCODER ABSOLUTO 24 bits  (CN2)</a:t>
            </a:r>
            <a:endParaRPr b="0" lang="en-US" sz="1050" spc="-1" strike="noStrike">
              <a:solidFill>
                <a:srgbClr val="ffffff"/>
              </a:solidFill>
              <a:latin typeface="Arial"/>
            </a:endParaRPr>
          </a:p>
        </p:txBody>
      </p:sp>
      <p:cxnSp>
        <p:nvCxnSpPr>
          <p:cNvPr id="205" name="Connector 24"/>
          <p:cNvCxnSpPr/>
          <p:nvPr/>
        </p:nvCxnSpPr>
        <p:spPr>
          <a:xfrm>
            <a:off x="4686120" y="3703320"/>
            <a:ext cx="360" cy="1554840"/>
          </a:xfrm>
          <a:prstGeom prst="straightConnector1">
            <a:avLst/>
          </a:prstGeom>
          <a:ln w="15875">
            <a:solidFill>
              <a:srgbClr val="5a6b7b"/>
            </a:solidFill>
            <a:prstDash val="dash"/>
            <a:round/>
          </a:ln>
        </p:spPr>
      </p:cxnSp>
      <p:cxnSp>
        <p:nvCxnSpPr>
          <p:cNvPr id="206" name="Connector 25"/>
          <p:cNvCxnSpPr/>
          <p:nvPr/>
        </p:nvCxnSpPr>
        <p:spPr>
          <a:xfrm flipH="1">
            <a:off x="1851480" y="5257800"/>
            <a:ext cx="2835000" cy="360"/>
          </a:xfrm>
          <a:prstGeom prst="straightConnector1">
            <a:avLst/>
          </a:prstGeom>
          <a:ln w="15875">
            <a:solidFill>
              <a:srgbClr val="5a6b7b"/>
            </a:solidFill>
            <a:prstDash val="dash"/>
            <a:round/>
          </a:ln>
        </p:spPr>
      </p:cxnSp>
      <p:sp>
        <p:nvSpPr>
          <p:cNvPr id="207" name="Up Arrow 26"/>
          <p:cNvSpPr/>
          <p:nvPr/>
        </p:nvSpPr>
        <p:spPr>
          <a:xfrm>
            <a:off x="1751040" y="4754880"/>
            <a:ext cx="200880" cy="502560"/>
          </a:xfrm>
          <a:prstGeom prst="upArrow">
            <a:avLst>
              <a:gd name="adj1" fmla="val 50000"/>
              <a:gd name="adj2" fmla="val 50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8" name="TextBox 27"/>
          <p:cNvSpPr/>
          <p:nvPr/>
        </p:nvSpPr>
        <p:spPr>
          <a:xfrm>
            <a:off x="2857680" y="5330880"/>
            <a:ext cx="3657240" cy="1530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000" spc="-1" strike="noStrike">
                <a:solidFill>
                  <a:srgbClr val="5a6b7b"/>
                </a:solidFill>
                <a:latin typeface="Segoe UI"/>
              </a:rPr>
              <a:t>Estado y acuse:  /COIN · /S-RDY · ALM · posición por bus</a:t>
            </a:r>
            <a:endParaRPr b="0" lang="en-US" sz="1000" spc="-1" strike="noStrike">
              <a:solidFill>
                <a:srgbClr val="000000"/>
              </a:solidFill>
              <a:latin typeface="Arial"/>
            </a:endParaRPr>
          </a:p>
        </p:txBody>
      </p:sp>
      <p:sp>
        <p:nvSpPr>
          <p:cNvPr id="209" name="Rectangle 28"/>
          <p:cNvSpPr/>
          <p:nvPr/>
        </p:nvSpPr>
        <p:spPr>
          <a:xfrm>
            <a:off x="685800" y="5596200"/>
            <a:ext cx="10816920" cy="73116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0" name="Rectangle 29"/>
          <p:cNvSpPr/>
          <p:nvPr/>
        </p:nvSpPr>
        <p:spPr>
          <a:xfrm>
            <a:off x="685800" y="5596200"/>
            <a:ext cx="68400" cy="73116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1" name="TextBox 30"/>
          <p:cNvSpPr/>
          <p:nvPr/>
        </p:nvSpPr>
        <p:spPr>
          <a:xfrm>
            <a:off x="960120" y="5733360"/>
            <a:ext cx="1031400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1b5ea8"/>
                </a:solidFill>
                <a:latin typeface="Segoe UI Semibold"/>
              </a:rPr>
              <a:t>Qué hay que retener</a:t>
            </a:r>
            <a:endParaRPr b="0" lang="en-US" sz="1200" spc="-1" strike="noStrike">
              <a:solidFill>
                <a:srgbClr val="000000"/>
              </a:solidFill>
              <a:latin typeface="Arial"/>
            </a:endParaRPr>
          </a:p>
        </p:txBody>
      </p:sp>
      <p:sp>
        <p:nvSpPr>
          <p:cNvPr id="212" name="TextBox 31"/>
          <p:cNvSpPr/>
          <p:nvPr/>
        </p:nvSpPr>
        <p:spPr>
          <a:xfrm>
            <a:off x="960120" y="6007680"/>
            <a:ext cx="10314000" cy="18612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El controlador dice QUÉ hacer; el SERVOPACK decide CÓMO hacerlo. El ajuste dinámico del eje vive en el drive, no en el programa del PLC.</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4"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15" name="TextBox 3"/>
          <p:cNvSpPr/>
          <p:nvPr/>
        </p:nvSpPr>
        <p:spPr>
          <a:xfrm>
            <a:off x="567000" y="182880"/>
            <a:ext cx="8954280" cy="3463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270" spc="-1" strike="noStrike">
                <a:solidFill>
                  <a:srgbClr val="ffffff"/>
                </a:solidFill>
                <a:latin typeface="Segoe UI Semibold"/>
              </a:rPr>
              <a:t>Servo frente a variador de frecuencia y motor paso a paso</a:t>
            </a:r>
            <a:endParaRPr b="0" lang="en-US" sz="2270" spc="-1" strike="noStrike">
              <a:solidFill>
                <a:srgbClr val="000000"/>
              </a:solidFill>
              <a:latin typeface="Arial"/>
            </a:endParaRPr>
          </a:p>
        </p:txBody>
      </p:sp>
      <p:sp>
        <p:nvSpPr>
          <p:cNvPr id="216"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Cuándo se justifica el sobrecoste de un servo</a:t>
            </a:r>
            <a:endParaRPr b="0" lang="en-US" sz="1250" spc="-1" strike="noStrike">
              <a:solidFill>
                <a:srgbClr val="000000"/>
              </a:solidFill>
              <a:latin typeface="Arial"/>
            </a:endParaRPr>
          </a:p>
        </p:txBody>
      </p:sp>
      <p:sp>
        <p:nvSpPr>
          <p:cNvPr id="217"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01</a:t>
            </a:r>
            <a:endParaRPr b="0" lang="en-US" sz="1100" spc="-1" strike="noStrike">
              <a:solidFill>
                <a:srgbClr val="000000"/>
              </a:solidFill>
              <a:latin typeface="Arial"/>
            </a:endParaRPr>
          </a:p>
        </p:txBody>
      </p:sp>
      <p:sp>
        <p:nvSpPr>
          <p:cNvPr id="218"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19"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10</a:t>
            </a:r>
            <a:endParaRPr b="0" lang="en-US" sz="900" spc="-1" strike="noStrike">
              <a:solidFill>
                <a:srgbClr val="000000"/>
              </a:solidFill>
              <a:latin typeface="Arial"/>
            </a:endParaRPr>
          </a:p>
        </p:txBody>
      </p:sp>
      <p:graphicFrame>
        <p:nvGraphicFramePr>
          <p:cNvPr id="220" name="Table 8"/>
          <p:cNvGraphicFramePr/>
          <p:nvPr/>
        </p:nvGraphicFramePr>
        <p:xfrm>
          <a:off x="567000" y="1481400"/>
          <a:ext cx="11057400" cy="4461840"/>
        </p:xfrm>
        <a:graphic>
          <a:graphicData uri="http://schemas.openxmlformats.org/drawingml/2006/table">
            <a:tbl>
              <a:tblPr/>
              <a:tblGrid>
                <a:gridCol w="1521720"/>
                <a:gridCol w="3449160"/>
                <a:gridCol w="3043440"/>
                <a:gridCol w="3043440"/>
              </a:tblGrid>
              <a:tr h="347400">
                <a:tc>
                  <a:txBody>
                    <a:bodyPr lIns="82080" rIns="82080" tIns="27360" bIns="27360" anchor="ctr">
                      <a:noAutofit/>
                    </a:bodyPr>
                    <a:p>
                      <a:pPr defTabSz="457200">
                        <a:lnSpc>
                          <a:spcPct val="100000"/>
                        </a:lnSpc>
                      </a:pPr>
                      <a:r>
                        <a:rPr b="1" lang="en-US" sz="1000" spc="-1" strike="noStrike">
                          <a:solidFill>
                            <a:srgbClr val="ffffff"/>
                          </a:solidFill>
                          <a:latin typeface="Segoe UI"/>
                        </a:rPr>
                        <a:t>Criterio</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Servo (SERVOPACK + PMSM)</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Variador + motor asíncrono</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Motor paso a paso</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514080">
                <a:tc>
                  <a:txBody>
                    <a:bodyPr lIns="82080" rIns="82080" tIns="27360" bIns="27360" anchor="ctr">
                      <a:noAutofit/>
                    </a:bodyPr>
                    <a:p>
                      <a:pPr defTabSz="457200">
                        <a:lnSpc>
                          <a:spcPct val="100000"/>
                        </a:lnSpc>
                      </a:pPr>
                      <a:r>
                        <a:rPr b="0" lang="en-US" sz="1000" spc="-1" strike="noStrike">
                          <a:solidFill>
                            <a:srgbClr val="1c2430"/>
                          </a:solidFill>
                          <a:latin typeface="Segoe UI"/>
                        </a:rPr>
                        <a:t>Lazo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Cerrado con encoder</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Normalmente abierto (V/f) o sensorless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Abierto (salvo versiones closed-loop)</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1000" spc="-1" strike="noStrike">
                          <a:solidFill>
                            <a:srgbClr val="1c2430"/>
                          </a:solidFill>
                          <a:latin typeface="Segoe UI"/>
                        </a:rPr>
                        <a:t>Precisión de posición</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Cuenta de encoder (24 bits = 16,7 M/vuelta)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Baja, no es su función</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Paso del motor; pierde pasos si sobrecarga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14080">
                <a:tc>
                  <a:txBody>
                    <a:bodyPr lIns="82080" rIns="82080" tIns="27360" bIns="27360" anchor="ctr">
                      <a:noAutofit/>
                    </a:bodyPr>
                    <a:p>
                      <a:pPr defTabSz="457200">
                        <a:lnSpc>
                          <a:spcPct val="100000"/>
                        </a:lnSpc>
                      </a:pPr>
                      <a:r>
                        <a:rPr b="0" lang="en-US" sz="1000" spc="-1" strike="noStrike">
                          <a:solidFill>
                            <a:srgbClr val="1c2430"/>
                          </a:solidFill>
                          <a:latin typeface="Segoe UI"/>
                        </a:rPr>
                        <a:t>Par a velocidad cero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100 % del par nominal de forma continua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Limitado, requiere ventilación forzada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Par de mantenimiento con calentamiento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1000" spc="-1" strike="noStrike">
                          <a:solidFill>
                            <a:srgbClr val="1c2430"/>
                          </a:solidFill>
                          <a:latin typeface="Segoe UI"/>
                        </a:rPr>
                        <a:t>Par pico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 </a:t>
                      </a:r>
                      <a:r>
                        <a:rPr b="0" lang="en-US" sz="1000" spc="-1" strike="noStrike">
                          <a:solidFill>
                            <a:srgbClr val="1c2430"/>
                          </a:solidFill>
                          <a:latin typeface="Segoe UI"/>
                        </a:rPr>
                        <a:t>300 % del nominal durante segundos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 </a:t>
                      </a:r>
                      <a:r>
                        <a:rPr b="0" lang="en-US" sz="1000" spc="-1" strike="noStrike">
                          <a:solidFill>
                            <a:srgbClr val="1c2430"/>
                          </a:solidFill>
                          <a:latin typeface="Segoe UI"/>
                        </a:rPr>
                        <a:t>150 %</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No hay reserva de par</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14080">
                <a:tc>
                  <a:txBody>
                    <a:bodyPr lIns="82080" rIns="82080" tIns="27360" bIns="27360" anchor="ctr">
                      <a:noAutofit/>
                    </a:bodyPr>
                    <a:p>
                      <a:pPr defTabSz="457200">
                        <a:lnSpc>
                          <a:spcPct val="100000"/>
                        </a:lnSpc>
                      </a:pPr>
                      <a:r>
                        <a:rPr b="0" lang="en-US" sz="1000" spc="-1" strike="noStrike">
                          <a:solidFill>
                            <a:srgbClr val="1c2430"/>
                          </a:solidFill>
                          <a:latin typeface="Segoe UI"/>
                        </a:rPr>
                        <a:t>Dinámica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Muy alta: milisegundos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Media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Baja a alta velocidad</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1000" spc="-1" strike="noStrike">
                          <a:solidFill>
                            <a:srgbClr val="1c2430"/>
                          </a:solidFill>
                          <a:latin typeface="Segoe UI"/>
                        </a:rPr>
                        <a:t>Comportamiento en sobrecarga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Aumenta corriente y avisa/alarma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Aumenta deslizamiento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1000" spc="-1" strike="noStrike">
                          <a:solidFill>
                            <a:srgbClr val="1c2430"/>
                          </a:solidFill>
                          <a:latin typeface="Segoe UI"/>
                        </a:rPr>
                        <a:t>Pierde pasos en silencio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14080">
                <a:tc>
                  <a:txBody>
                    <a:bodyPr lIns="82080" rIns="82080" tIns="27360" bIns="27360" anchor="ctr">
                      <a:noAutofit/>
                    </a:bodyPr>
                    <a:p>
                      <a:pPr defTabSz="457200">
                        <a:lnSpc>
                          <a:spcPct val="100000"/>
                        </a:lnSpc>
                      </a:pPr>
                      <a:r>
                        <a:rPr b="0" lang="en-US" sz="1000" spc="-1" strike="noStrike">
                          <a:solidFill>
                            <a:srgbClr val="1c2430"/>
                          </a:solidFill>
                          <a:latin typeface="Segoe UI"/>
                        </a:rPr>
                        <a:t>Coste relativo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Alto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Bajo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Muy bajo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1000" spc="-1" strike="noStrike">
                          <a:solidFill>
                            <a:srgbClr val="1c2430"/>
                          </a:solidFill>
                          <a:latin typeface="Segoe UI"/>
                        </a:rPr>
                        <a:t>Aplicación típica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Posicionado, sincronismo, corte, robótica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Bombas, ventiladores, cintas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Ejes auxiliares de bajo par</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
        <p:nvSpPr>
          <p:cNvPr id="221"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Regla práctica: si el eje debe posicionar con exactitud, sincronizarse con otro eje o repetir ciclos rápidos, es un servo. Si solo debe girar, es un variador.</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3"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24"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El lazo cerrado en cascada</a:t>
            </a:r>
            <a:endParaRPr b="0" lang="en-US" sz="2500" spc="-1" strike="noStrike">
              <a:solidFill>
                <a:srgbClr val="000000"/>
              </a:solidFill>
              <a:latin typeface="Arial"/>
            </a:endParaRPr>
          </a:p>
        </p:txBody>
      </p:sp>
      <p:sp>
        <p:nvSpPr>
          <p:cNvPr id="225"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Tres reguladores anidados: posición → velocidad → par</a:t>
            </a:r>
            <a:endParaRPr b="0" lang="en-US" sz="1250" spc="-1" strike="noStrike">
              <a:solidFill>
                <a:srgbClr val="000000"/>
              </a:solidFill>
              <a:latin typeface="Arial"/>
            </a:endParaRPr>
          </a:p>
        </p:txBody>
      </p:sp>
      <p:sp>
        <p:nvSpPr>
          <p:cNvPr id="226"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01</a:t>
            </a:r>
            <a:endParaRPr b="0" lang="en-US" sz="1100" spc="-1" strike="noStrike">
              <a:solidFill>
                <a:srgbClr val="000000"/>
              </a:solidFill>
              <a:latin typeface="Arial"/>
            </a:endParaRPr>
          </a:p>
        </p:txBody>
      </p:sp>
      <p:sp>
        <p:nvSpPr>
          <p:cNvPr id="227"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28"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11</a:t>
            </a:r>
            <a:endParaRPr b="0" lang="en-US" sz="900" spc="-1" strike="noStrike">
              <a:solidFill>
                <a:srgbClr val="000000"/>
              </a:solidFill>
              <a:latin typeface="Arial"/>
            </a:endParaRPr>
          </a:p>
        </p:txBody>
      </p:sp>
      <p:sp>
        <p:nvSpPr>
          <p:cNvPr id="229" name="Rounded Rectangle 8"/>
          <p:cNvSpPr/>
          <p:nvPr/>
        </p:nvSpPr>
        <p:spPr>
          <a:xfrm>
            <a:off x="567000" y="2331720"/>
            <a:ext cx="1572480" cy="914040"/>
          </a:xfrm>
          <a:prstGeom prst="roundRect">
            <a:avLst>
              <a:gd name="adj" fmla="val 10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150" spc="-1" strike="noStrike">
                <a:solidFill>
                  <a:srgbClr val="ffffff"/>
                </a:solidFill>
                <a:latin typeface="Segoe UI"/>
              </a:rPr>
              <a:t>Consigna</a:t>
            </a:r>
            <a:endParaRPr b="0" lang="en-US" sz="1150" spc="-1" strike="noStrike">
              <a:solidFill>
                <a:srgbClr val="ffffff"/>
              </a:solidFill>
              <a:latin typeface="Arial"/>
            </a:endParaRPr>
          </a:p>
        </p:txBody>
      </p:sp>
      <p:sp>
        <p:nvSpPr>
          <p:cNvPr id="230" name="Right Arrow 9"/>
          <p:cNvSpPr/>
          <p:nvPr/>
        </p:nvSpPr>
        <p:spPr>
          <a:xfrm>
            <a:off x="2176200" y="2697480"/>
            <a:ext cx="200880" cy="18252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1" name="Rounded Rectangle 10"/>
          <p:cNvSpPr/>
          <p:nvPr/>
        </p:nvSpPr>
        <p:spPr>
          <a:xfrm>
            <a:off x="2414160" y="2331720"/>
            <a:ext cx="1572480" cy="914040"/>
          </a:xfrm>
          <a:prstGeom prst="roundRect">
            <a:avLst>
              <a:gd name="adj" fmla="val 10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150" spc="-1" strike="noStrike">
                <a:solidFill>
                  <a:srgbClr val="ffffff"/>
                </a:solidFill>
                <a:latin typeface="Segoe UI"/>
              </a:rPr>
              <a:t>LAZO DE</a:t>
            </a:r>
            <a:endParaRPr b="0" lang="en-US" sz="1150" spc="-1" strike="noStrike">
              <a:solidFill>
                <a:srgbClr val="ffffff"/>
              </a:solidFill>
              <a:latin typeface="Arial"/>
            </a:endParaRPr>
          </a:p>
          <a:p>
            <a:pPr algn="ctr" defTabSz="457200">
              <a:lnSpc>
                <a:spcPct val="100000"/>
              </a:lnSpc>
            </a:pPr>
            <a:r>
              <a:rPr b="1" lang="en-US" sz="1150" spc="-1" strike="noStrike">
                <a:solidFill>
                  <a:srgbClr val="ffffff"/>
                </a:solidFill>
                <a:latin typeface="Segoe UI"/>
              </a:rPr>
              <a:t>POSICIÓN</a:t>
            </a:r>
            <a:endParaRPr b="0" lang="en-US" sz="1150" spc="-1" strike="noStrike">
              <a:solidFill>
                <a:srgbClr val="ffffff"/>
              </a:solidFill>
              <a:latin typeface="Arial"/>
            </a:endParaRPr>
          </a:p>
        </p:txBody>
      </p:sp>
      <p:sp>
        <p:nvSpPr>
          <p:cNvPr id="232" name="TextBox 11"/>
          <p:cNvSpPr/>
          <p:nvPr/>
        </p:nvSpPr>
        <p:spPr>
          <a:xfrm>
            <a:off x="2414160" y="3337560"/>
            <a:ext cx="1572480" cy="1530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00" spc="-1" strike="noStrike">
                <a:solidFill>
                  <a:srgbClr val="1b5ea8"/>
                </a:solidFill>
                <a:latin typeface="Consolas"/>
              </a:rPr>
              <a:t>Pn102 Kp</a:t>
            </a:r>
            <a:endParaRPr b="0" lang="en-US" sz="1000" spc="-1" strike="noStrike">
              <a:solidFill>
                <a:srgbClr val="000000"/>
              </a:solidFill>
              <a:latin typeface="Arial"/>
            </a:endParaRPr>
          </a:p>
        </p:txBody>
      </p:sp>
      <p:sp>
        <p:nvSpPr>
          <p:cNvPr id="233" name="Right Arrow 12"/>
          <p:cNvSpPr/>
          <p:nvPr/>
        </p:nvSpPr>
        <p:spPr>
          <a:xfrm>
            <a:off x="4023360" y="2697480"/>
            <a:ext cx="200880" cy="18252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4" name="Rounded Rectangle 13"/>
          <p:cNvSpPr/>
          <p:nvPr/>
        </p:nvSpPr>
        <p:spPr>
          <a:xfrm>
            <a:off x="4260960" y="2331720"/>
            <a:ext cx="1572480" cy="914040"/>
          </a:xfrm>
          <a:prstGeom prst="roundRect">
            <a:avLst>
              <a:gd name="adj" fmla="val 10000"/>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150" spc="-1" strike="noStrike">
                <a:solidFill>
                  <a:srgbClr val="ffffff"/>
                </a:solidFill>
                <a:latin typeface="Segoe UI"/>
              </a:rPr>
              <a:t>LAZO DE</a:t>
            </a:r>
            <a:endParaRPr b="0" lang="en-US" sz="1150" spc="-1" strike="noStrike">
              <a:solidFill>
                <a:srgbClr val="ffffff"/>
              </a:solidFill>
              <a:latin typeface="Arial"/>
            </a:endParaRPr>
          </a:p>
          <a:p>
            <a:pPr algn="ctr" defTabSz="457200">
              <a:lnSpc>
                <a:spcPct val="100000"/>
              </a:lnSpc>
            </a:pPr>
            <a:r>
              <a:rPr b="1" lang="en-US" sz="1150" spc="-1" strike="noStrike">
                <a:solidFill>
                  <a:srgbClr val="ffffff"/>
                </a:solidFill>
                <a:latin typeface="Segoe UI"/>
              </a:rPr>
              <a:t>VELOCIDAD</a:t>
            </a:r>
            <a:endParaRPr b="0" lang="en-US" sz="1150" spc="-1" strike="noStrike">
              <a:solidFill>
                <a:srgbClr val="ffffff"/>
              </a:solidFill>
              <a:latin typeface="Arial"/>
            </a:endParaRPr>
          </a:p>
        </p:txBody>
      </p:sp>
      <p:sp>
        <p:nvSpPr>
          <p:cNvPr id="235" name="TextBox 14"/>
          <p:cNvSpPr/>
          <p:nvPr/>
        </p:nvSpPr>
        <p:spPr>
          <a:xfrm>
            <a:off x="4260960" y="3337560"/>
            <a:ext cx="1572480" cy="1530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00" spc="-1" strike="noStrike">
                <a:solidFill>
                  <a:srgbClr val="1b5ea8"/>
                </a:solidFill>
                <a:latin typeface="Consolas"/>
              </a:rPr>
              <a:t>Pn100 · Pn101</a:t>
            </a:r>
            <a:endParaRPr b="0" lang="en-US" sz="1000" spc="-1" strike="noStrike">
              <a:solidFill>
                <a:srgbClr val="000000"/>
              </a:solidFill>
              <a:latin typeface="Arial"/>
            </a:endParaRPr>
          </a:p>
        </p:txBody>
      </p:sp>
      <p:sp>
        <p:nvSpPr>
          <p:cNvPr id="236" name="Right Arrow 15"/>
          <p:cNvSpPr/>
          <p:nvPr/>
        </p:nvSpPr>
        <p:spPr>
          <a:xfrm>
            <a:off x="5870520" y="2697480"/>
            <a:ext cx="200880" cy="18252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7" name="Rounded Rectangle 16"/>
          <p:cNvSpPr/>
          <p:nvPr/>
        </p:nvSpPr>
        <p:spPr>
          <a:xfrm>
            <a:off x="6108120" y="2331720"/>
            <a:ext cx="1572480" cy="914040"/>
          </a:xfrm>
          <a:prstGeom prst="roundRect">
            <a:avLst>
              <a:gd name="adj" fmla="val 10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150" spc="-1" strike="noStrike">
                <a:solidFill>
                  <a:srgbClr val="ffffff"/>
                </a:solidFill>
                <a:latin typeface="Segoe UI"/>
              </a:rPr>
              <a:t>LAZO DE</a:t>
            </a:r>
            <a:endParaRPr b="0" lang="en-US" sz="1150" spc="-1" strike="noStrike">
              <a:solidFill>
                <a:srgbClr val="ffffff"/>
              </a:solidFill>
              <a:latin typeface="Arial"/>
            </a:endParaRPr>
          </a:p>
          <a:p>
            <a:pPr algn="ctr" defTabSz="457200">
              <a:lnSpc>
                <a:spcPct val="100000"/>
              </a:lnSpc>
            </a:pPr>
            <a:r>
              <a:rPr b="1" lang="en-US" sz="1150" spc="-1" strike="noStrike">
                <a:solidFill>
                  <a:srgbClr val="ffffff"/>
                </a:solidFill>
                <a:latin typeface="Segoe UI"/>
              </a:rPr>
              <a:t>PAR / CORRIENTE</a:t>
            </a:r>
            <a:endParaRPr b="0" lang="en-US" sz="1150" spc="-1" strike="noStrike">
              <a:solidFill>
                <a:srgbClr val="ffffff"/>
              </a:solidFill>
              <a:latin typeface="Arial"/>
            </a:endParaRPr>
          </a:p>
        </p:txBody>
      </p:sp>
      <p:sp>
        <p:nvSpPr>
          <p:cNvPr id="238" name="TextBox 17"/>
          <p:cNvSpPr/>
          <p:nvPr/>
        </p:nvSpPr>
        <p:spPr>
          <a:xfrm>
            <a:off x="6108120" y="3337560"/>
            <a:ext cx="1572480" cy="1530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00" spc="-1" strike="noStrike">
                <a:solidFill>
                  <a:srgbClr val="1b5ea8"/>
                </a:solidFill>
                <a:latin typeface="Consolas"/>
              </a:rPr>
              <a:t>Pn401 filtro</a:t>
            </a:r>
            <a:endParaRPr b="0" lang="en-US" sz="1000" spc="-1" strike="noStrike">
              <a:solidFill>
                <a:srgbClr val="000000"/>
              </a:solidFill>
              <a:latin typeface="Arial"/>
            </a:endParaRPr>
          </a:p>
        </p:txBody>
      </p:sp>
      <p:sp>
        <p:nvSpPr>
          <p:cNvPr id="239" name="Right Arrow 18"/>
          <p:cNvSpPr/>
          <p:nvPr/>
        </p:nvSpPr>
        <p:spPr>
          <a:xfrm>
            <a:off x="7717680" y="2697480"/>
            <a:ext cx="200880" cy="18252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0" name="Rounded Rectangle 19"/>
          <p:cNvSpPr/>
          <p:nvPr/>
        </p:nvSpPr>
        <p:spPr>
          <a:xfrm>
            <a:off x="7955280" y="2331720"/>
            <a:ext cx="1572480" cy="914040"/>
          </a:xfrm>
          <a:prstGeom prst="roundRect">
            <a:avLst>
              <a:gd name="adj" fmla="val 10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150" spc="-1" strike="noStrike">
                <a:solidFill>
                  <a:srgbClr val="ffffff"/>
                </a:solidFill>
                <a:latin typeface="Segoe UI"/>
              </a:rPr>
              <a:t>PWM +</a:t>
            </a:r>
            <a:endParaRPr b="0" lang="en-US" sz="1150" spc="-1" strike="noStrike">
              <a:solidFill>
                <a:srgbClr val="ffffff"/>
              </a:solidFill>
              <a:latin typeface="Arial"/>
            </a:endParaRPr>
          </a:p>
          <a:p>
            <a:pPr algn="ctr" defTabSz="457200">
              <a:lnSpc>
                <a:spcPct val="100000"/>
              </a:lnSpc>
            </a:pPr>
            <a:r>
              <a:rPr b="1" lang="en-US" sz="1150" spc="-1" strike="noStrike">
                <a:solidFill>
                  <a:srgbClr val="ffffff"/>
                </a:solidFill>
                <a:latin typeface="Segoe UI"/>
              </a:rPr>
              <a:t>IGBT</a:t>
            </a:r>
            <a:endParaRPr b="0" lang="en-US" sz="1150" spc="-1" strike="noStrike">
              <a:solidFill>
                <a:srgbClr val="ffffff"/>
              </a:solidFill>
              <a:latin typeface="Arial"/>
            </a:endParaRPr>
          </a:p>
        </p:txBody>
      </p:sp>
      <p:sp>
        <p:nvSpPr>
          <p:cNvPr id="241" name="Right Arrow 20"/>
          <p:cNvSpPr/>
          <p:nvPr/>
        </p:nvSpPr>
        <p:spPr>
          <a:xfrm>
            <a:off x="9564480" y="2697480"/>
            <a:ext cx="200880" cy="18252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2" name="Rounded Rectangle 21"/>
          <p:cNvSpPr/>
          <p:nvPr/>
        </p:nvSpPr>
        <p:spPr>
          <a:xfrm>
            <a:off x="9802440" y="2331720"/>
            <a:ext cx="1572480" cy="914040"/>
          </a:xfrm>
          <a:prstGeom prst="roundRect">
            <a:avLst>
              <a:gd name="adj" fmla="val 10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150" spc="-1" strike="noStrike">
                <a:solidFill>
                  <a:srgbClr val="ffffff"/>
                </a:solidFill>
                <a:latin typeface="Segoe UI"/>
              </a:rPr>
              <a:t>MOTOR</a:t>
            </a:r>
            <a:endParaRPr b="0" lang="en-US" sz="1150" spc="-1" strike="noStrike">
              <a:solidFill>
                <a:srgbClr val="ffffff"/>
              </a:solidFill>
              <a:latin typeface="Arial"/>
            </a:endParaRPr>
          </a:p>
        </p:txBody>
      </p:sp>
      <p:cxnSp>
        <p:nvCxnSpPr>
          <p:cNvPr id="243" name="Connector 22"/>
          <p:cNvCxnSpPr/>
          <p:nvPr/>
        </p:nvCxnSpPr>
        <p:spPr>
          <a:xfrm>
            <a:off x="8741520" y="3246120"/>
            <a:ext cx="360" cy="960480"/>
          </a:xfrm>
          <a:prstGeom prst="straightConnector1">
            <a:avLst/>
          </a:prstGeom>
          <a:ln w="19050">
            <a:solidFill>
              <a:srgbClr val="0b2545"/>
            </a:solidFill>
            <a:round/>
          </a:ln>
        </p:spPr>
      </p:cxnSp>
      <p:cxnSp>
        <p:nvCxnSpPr>
          <p:cNvPr id="244" name="Connector 23"/>
          <p:cNvCxnSpPr/>
          <p:nvPr/>
        </p:nvCxnSpPr>
        <p:spPr>
          <a:xfrm flipH="1">
            <a:off x="6894360" y="4206240"/>
            <a:ext cx="1847520" cy="360"/>
          </a:xfrm>
          <a:prstGeom prst="straightConnector1">
            <a:avLst/>
          </a:prstGeom>
          <a:ln w="19050">
            <a:solidFill>
              <a:srgbClr val="0b2545"/>
            </a:solidFill>
            <a:round/>
          </a:ln>
        </p:spPr>
      </p:cxnSp>
      <p:sp>
        <p:nvSpPr>
          <p:cNvPr id="245" name="Up Arrow 24"/>
          <p:cNvSpPr/>
          <p:nvPr/>
        </p:nvSpPr>
        <p:spPr>
          <a:xfrm>
            <a:off x="6803280" y="3794760"/>
            <a:ext cx="182520" cy="411120"/>
          </a:xfrm>
          <a:prstGeom prst="upArrow">
            <a:avLst>
              <a:gd name="adj1" fmla="val 50000"/>
              <a:gd name="adj2" fmla="val 50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6" name="TextBox 25"/>
          <p:cNvSpPr/>
          <p:nvPr/>
        </p:nvSpPr>
        <p:spPr>
          <a:xfrm>
            <a:off x="7077600" y="3986640"/>
            <a:ext cx="548604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0b2545"/>
                </a:solidFill>
                <a:latin typeface="Segoe UI"/>
              </a:rPr>
              <a:t>Realimentación de corriente</a:t>
            </a:r>
            <a:endParaRPr b="0" lang="en-US" sz="1000" spc="-1" strike="noStrike">
              <a:solidFill>
                <a:srgbClr val="000000"/>
              </a:solidFill>
              <a:latin typeface="Arial"/>
            </a:endParaRPr>
          </a:p>
        </p:txBody>
      </p:sp>
      <p:cxnSp>
        <p:nvCxnSpPr>
          <p:cNvPr id="247" name="Connector 26"/>
          <p:cNvCxnSpPr/>
          <p:nvPr/>
        </p:nvCxnSpPr>
        <p:spPr>
          <a:xfrm>
            <a:off x="10588680" y="3246120"/>
            <a:ext cx="360" cy="1554840"/>
          </a:xfrm>
          <a:prstGeom prst="straightConnector1">
            <a:avLst/>
          </a:prstGeom>
          <a:ln w="19050">
            <a:solidFill>
              <a:srgbClr val="00a9ce"/>
            </a:solidFill>
            <a:round/>
          </a:ln>
        </p:spPr>
      </p:cxnSp>
      <p:cxnSp>
        <p:nvCxnSpPr>
          <p:cNvPr id="248" name="Connector 27"/>
          <p:cNvCxnSpPr/>
          <p:nvPr/>
        </p:nvCxnSpPr>
        <p:spPr>
          <a:xfrm flipH="1">
            <a:off x="5047200" y="4800600"/>
            <a:ext cx="5541840" cy="360"/>
          </a:xfrm>
          <a:prstGeom prst="straightConnector1">
            <a:avLst/>
          </a:prstGeom>
          <a:ln w="19050">
            <a:solidFill>
              <a:srgbClr val="00a9ce"/>
            </a:solidFill>
            <a:round/>
          </a:ln>
        </p:spPr>
      </p:cxnSp>
      <p:sp>
        <p:nvSpPr>
          <p:cNvPr id="249" name="Up Arrow 28"/>
          <p:cNvSpPr/>
          <p:nvPr/>
        </p:nvSpPr>
        <p:spPr>
          <a:xfrm>
            <a:off x="4956120" y="4389120"/>
            <a:ext cx="182520" cy="411120"/>
          </a:xfrm>
          <a:prstGeom prst="upArrow">
            <a:avLst>
              <a:gd name="adj1" fmla="val 50000"/>
              <a:gd name="adj2" fmla="val 50000"/>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0" name="TextBox 29"/>
          <p:cNvSpPr/>
          <p:nvPr/>
        </p:nvSpPr>
        <p:spPr>
          <a:xfrm>
            <a:off x="5230440" y="4581000"/>
            <a:ext cx="548604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00a9ce"/>
                </a:solidFill>
                <a:latin typeface="Segoe UI"/>
              </a:rPr>
              <a:t>Realimentación de velocidad (derivada del encoder)</a:t>
            </a:r>
            <a:endParaRPr b="0" lang="en-US" sz="1000" spc="-1" strike="noStrike">
              <a:solidFill>
                <a:srgbClr val="000000"/>
              </a:solidFill>
              <a:latin typeface="Arial"/>
            </a:endParaRPr>
          </a:p>
        </p:txBody>
      </p:sp>
      <p:cxnSp>
        <p:nvCxnSpPr>
          <p:cNvPr id="251" name="Connector 30"/>
          <p:cNvCxnSpPr/>
          <p:nvPr/>
        </p:nvCxnSpPr>
        <p:spPr>
          <a:xfrm>
            <a:off x="10588680" y="3246120"/>
            <a:ext cx="360" cy="2149200"/>
          </a:xfrm>
          <a:prstGeom prst="straightConnector1">
            <a:avLst/>
          </a:prstGeom>
          <a:ln w="19050">
            <a:solidFill>
              <a:srgbClr val="1b5ea8"/>
            </a:solidFill>
            <a:round/>
          </a:ln>
        </p:spPr>
      </p:cxnSp>
      <p:cxnSp>
        <p:nvCxnSpPr>
          <p:cNvPr id="252" name="Connector 31"/>
          <p:cNvCxnSpPr/>
          <p:nvPr/>
        </p:nvCxnSpPr>
        <p:spPr>
          <a:xfrm flipH="1">
            <a:off x="3200400" y="5394960"/>
            <a:ext cx="7388640" cy="360"/>
          </a:xfrm>
          <a:prstGeom prst="straightConnector1">
            <a:avLst/>
          </a:prstGeom>
          <a:ln w="19050">
            <a:solidFill>
              <a:srgbClr val="1b5ea8"/>
            </a:solidFill>
            <a:round/>
          </a:ln>
        </p:spPr>
      </p:cxnSp>
      <p:sp>
        <p:nvSpPr>
          <p:cNvPr id="253" name="Up Arrow 32"/>
          <p:cNvSpPr/>
          <p:nvPr/>
        </p:nvSpPr>
        <p:spPr>
          <a:xfrm>
            <a:off x="3108960" y="4983480"/>
            <a:ext cx="182520" cy="411120"/>
          </a:xfrm>
          <a:prstGeom prst="upArrow">
            <a:avLst>
              <a:gd name="adj1" fmla="val 50000"/>
              <a:gd name="adj2" fmla="val 50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4" name="TextBox 33"/>
          <p:cNvSpPr/>
          <p:nvPr/>
        </p:nvSpPr>
        <p:spPr>
          <a:xfrm>
            <a:off x="3383280" y="5175360"/>
            <a:ext cx="548604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1b5ea8"/>
                </a:solidFill>
                <a:latin typeface="Segoe UI"/>
              </a:rPr>
              <a:t>Realimentación de posición (encoder)</a:t>
            </a:r>
            <a:endParaRPr b="0" lang="en-US" sz="1000" spc="-1" strike="noStrike">
              <a:solidFill>
                <a:srgbClr val="000000"/>
              </a:solidFill>
              <a:latin typeface="Arial"/>
            </a:endParaRPr>
          </a:p>
        </p:txBody>
      </p:sp>
      <p:sp>
        <p:nvSpPr>
          <p:cNvPr id="255" name="Rectangle 34"/>
          <p:cNvSpPr/>
          <p:nvPr/>
        </p:nvSpPr>
        <p:spPr>
          <a:xfrm>
            <a:off x="567000" y="5559480"/>
            <a:ext cx="10881000" cy="76788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6" name="Rectangle 35"/>
          <p:cNvSpPr/>
          <p:nvPr/>
        </p:nvSpPr>
        <p:spPr>
          <a:xfrm>
            <a:off x="567000" y="5559480"/>
            <a:ext cx="68400" cy="76788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7" name="TextBox 36"/>
          <p:cNvSpPr/>
          <p:nvPr/>
        </p:nvSpPr>
        <p:spPr>
          <a:xfrm>
            <a:off x="841320" y="5696640"/>
            <a:ext cx="103780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Orden de ajuste (memorízalo)</a:t>
            </a:r>
            <a:endParaRPr b="0" lang="en-US" sz="1200" spc="-1" strike="noStrike">
              <a:solidFill>
                <a:srgbClr val="000000"/>
              </a:solidFill>
              <a:latin typeface="Arial"/>
            </a:endParaRPr>
          </a:p>
        </p:txBody>
      </p:sp>
      <p:sp>
        <p:nvSpPr>
          <p:cNvPr id="258" name="TextBox 37"/>
          <p:cNvSpPr/>
          <p:nvPr/>
        </p:nvSpPr>
        <p:spPr>
          <a:xfrm>
            <a:off x="841320" y="5970960"/>
            <a:ext cx="103780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Siempre de dentro hacia fuera: 1) relación de inercias </a:t>
            </a:r>
            <a:r>
              <a:rPr b="0" lang="en-US" sz="1150" spc="-1" strike="noStrike">
                <a:solidFill>
                  <a:srgbClr val="2b3644"/>
                </a:solidFill>
                <a:latin typeface="Consolas"/>
              </a:rPr>
              <a:t>Pn103</a:t>
            </a:r>
            <a:r>
              <a:rPr b="0" lang="en-US" sz="1150" spc="-1" strike="noStrike">
                <a:solidFill>
                  <a:srgbClr val="2b3644"/>
                </a:solidFill>
                <a:latin typeface="Segoe UI"/>
              </a:rPr>
              <a:t> → 2) lazo de velocidad </a:t>
            </a:r>
            <a:r>
              <a:rPr b="0" lang="en-US" sz="1150" spc="-1" strike="noStrike">
                <a:solidFill>
                  <a:srgbClr val="2b3644"/>
                </a:solidFill>
                <a:latin typeface="Consolas"/>
              </a:rPr>
              <a:t>Pn100</a:t>
            </a:r>
            <a:r>
              <a:rPr b="0" lang="en-US" sz="1150" spc="-1" strike="noStrike">
                <a:solidFill>
                  <a:srgbClr val="2b3644"/>
                </a:solidFill>
                <a:latin typeface="Segoe UI"/>
              </a:rPr>
              <a:t>/</a:t>
            </a:r>
            <a:r>
              <a:rPr b="0" lang="en-US" sz="1150" spc="-1" strike="noStrike">
                <a:solidFill>
                  <a:srgbClr val="2b3644"/>
                </a:solidFill>
                <a:latin typeface="Consolas"/>
              </a:rPr>
              <a:t>Pn101</a:t>
            </a:r>
            <a:r>
              <a:rPr b="0" lang="en-US" sz="1150" spc="-1" strike="noStrike">
                <a:solidFill>
                  <a:srgbClr val="2b3644"/>
                </a:solidFill>
                <a:latin typeface="Segoe UI"/>
              </a:rPr>
              <a:t> → 3) lazo de posición </a:t>
            </a:r>
            <a:r>
              <a:rPr b="0" lang="en-US" sz="1150" spc="-1" strike="noStrike">
                <a:solidFill>
                  <a:srgbClr val="2b3644"/>
                </a:solidFill>
                <a:latin typeface="Consolas"/>
              </a:rPr>
              <a:t>Pn102</a:t>
            </a:r>
            <a:r>
              <a:rPr b="0" lang="en-US" sz="1150" spc="-1" strike="noStrike">
                <a:solidFill>
                  <a:srgbClr val="2b3644"/>
                </a:solidFill>
                <a:latin typeface="Segoe UI"/>
              </a:rPr>
              <a:t> → 4) filtros y prealimentación.</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61"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Los tres modos de control</a:t>
            </a:r>
            <a:endParaRPr b="0" lang="en-US" sz="2500" spc="-1" strike="noStrike">
              <a:solidFill>
                <a:srgbClr val="000000"/>
              </a:solidFill>
              <a:latin typeface="Arial"/>
            </a:endParaRPr>
          </a:p>
        </p:txBody>
      </p:sp>
      <p:sp>
        <p:nvSpPr>
          <p:cNvPr id="26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Se seleccionan con </a:t>
            </a:r>
            <a:r>
              <a:rPr b="0" lang="en-US" sz="1250" spc="-1" strike="noStrike">
                <a:solidFill>
                  <a:srgbClr val="a9c6e0"/>
                </a:solidFill>
                <a:latin typeface="Consolas"/>
              </a:rPr>
              <a:t>Pn000.1</a:t>
            </a:r>
            <a:r>
              <a:rPr b="0" lang="en-US" sz="1250" spc="-1" strike="noStrike">
                <a:solidFill>
                  <a:srgbClr val="a9c6e0"/>
                </a:solidFill>
                <a:latin typeface="Segoe UI"/>
              </a:rPr>
              <a:t> (selección del método de control)</a:t>
            </a:r>
            <a:endParaRPr b="0" lang="en-US" sz="1250" spc="-1" strike="noStrike">
              <a:solidFill>
                <a:srgbClr val="000000"/>
              </a:solidFill>
              <a:latin typeface="Arial"/>
            </a:endParaRPr>
          </a:p>
        </p:txBody>
      </p:sp>
      <p:sp>
        <p:nvSpPr>
          <p:cNvPr id="26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01</a:t>
            </a:r>
            <a:endParaRPr b="0" lang="en-US" sz="1100" spc="-1" strike="noStrike">
              <a:solidFill>
                <a:srgbClr val="000000"/>
              </a:solidFill>
              <a:latin typeface="Arial"/>
            </a:endParaRPr>
          </a:p>
        </p:txBody>
      </p:sp>
      <p:sp>
        <p:nvSpPr>
          <p:cNvPr id="26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6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12</a:t>
            </a:r>
            <a:endParaRPr b="0" lang="en-US" sz="900" spc="-1" strike="noStrike">
              <a:solidFill>
                <a:srgbClr val="000000"/>
              </a:solidFill>
              <a:latin typeface="Arial"/>
            </a:endParaRPr>
          </a:p>
        </p:txBody>
      </p:sp>
      <p:sp>
        <p:nvSpPr>
          <p:cNvPr id="266" name="TextBox 8"/>
          <p:cNvSpPr/>
          <p:nvPr/>
        </p:nvSpPr>
        <p:spPr>
          <a:xfrm>
            <a:off x="567000" y="1481400"/>
            <a:ext cx="1105740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5a6b7b"/>
                </a:solidFill>
                <a:latin typeface="Segoe UI"/>
              </a:rPr>
              <a:t>Los tres modos son en realidad el mismo lazo en cascada; sólo cambia por dónde entra la consigna.</a:t>
            </a:r>
            <a:endParaRPr b="0" lang="en-US" sz="1350" spc="-1" strike="noStrike">
              <a:solidFill>
                <a:srgbClr val="000000"/>
              </a:solidFill>
              <a:latin typeface="Arial"/>
            </a:endParaRPr>
          </a:p>
        </p:txBody>
      </p:sp>
      <p:sp>
        <p:nvSpPr>
          <p:cNvPr id="267" name="Rectangle 9"/>
          <p:cNvSpPr/>
          <p:nvPr/>
        </p:nvSpPr>
        <p:spPr>
          <a:xfrm>
            <a:off x="567000" y="1956960"/>
            <a:ext cx="3515040" cy="437040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8" name="Rectangle 10"/>
          <p:cNvSpPr/>
          <p:nvPr/>
        </p:nvSpPr>
        <p:spPr>
          <a:xfrm>
            <a:off x="567000" y="1956960"/>
            <a:ext cx="50040" cy="437040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9" name="TextBox 11"/>
          <p:cNvSpPr/>
          <p:nvPr/>
        </p:nvSpPr>
        <p:spPr>
          <a:xfrm>
            <a:off x="822960" y="213984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Control de PAR</a:t>
            </a:r>
            <a:endParaRPr b="0" lang="en-US" sz="1400" spc="-1" strike="noStrike">
              <a:solidFill>
                <a:srgbClr val="000000"/>
              </a:solidFill>
              <a:latin typeface="Arial"/>
            </a:endParaRPr>
          </a:p>
        </p:txBody>
      </p:sp>
      <p:sp>
        <p:nvSpPr>
          <p:cNvPr id="270" name="TextBox 12"/>
          <p:cNvSpPr/>
          <p:nvPr/>
        </p:nvSpPr>
        <p:spPr>
          <a:xfrm>
            <a:off x="822960" y="2670120"/>
            <a:ext cx="3057840" cy="168768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200" spc="-1" strike="noStrike">
                <a:solidFill>
                  <a:srgbClr val="2b3644"/>
                </a:solidFill>
                <a:latin typeface="Segoe UI"/>
              </a:rPr>
              <a:t>El drive regula la </a:t>
            </a:r>
            <a:r>
              <a:rPr b="1" lang="en-US" sz="1200" spc="-1" strike="noStrike">
                <a:solidFill>
                  <a:srgbClr val="2b3644"/>
                </a:solidFill>
                <a:latin typeface="Segoe UI"/>
              </a:rPr>
              <a:t>corriente</a:t>
            </a:r>
            <a:r>
              <a:rPr b="0" lang="en-US" sz="1200" spc="-1" strike="noStrike">
                <a:solidFill>
                  <a:srgbClr val="2b3644"/>
                </a:solidFill>
                <a:latin typeface="Segoe UI"/>
              </a:rPr>
              <a:t> y por tanto el par en el eje.</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Consigna: analógica </a:t>
            </a:r>
            <a:r>
              <a:rPr b="0" lang="en-US" sz="1200" spc="-1" strike="noStrike">
                <a:solidFill>
                  <a:srgbClr val="2b3644"/>
                </a:solidFill>
                <a:latin typeface="Consolas"/>
              </a:rPr>
              <a:t>T-REF</a:t>
            </a:r>
            <a:r>
              <a:rPr b="0" lang="en-US" sz="1200" spc="-1" strike="noStrike">
                <a:solidFill>
                  <a:srgbClr val="2b3644"/>
                </a:solidFill>
                <a:latin typeface="Segoe UI"/>
              </a:rPr>
              <a:t> o por bus.</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Se usa en bobinadoras, control de tensión de banda, apriete controlado y ejes esclavos en gantry.</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Riesgo: sin carga, el motor se embala → hay que limitar velocidad.</a:t>
            </a:r>
            <a:endParaRPr b="0" lang="en-US" sz="1200" spc="-1" strike="noStrike">
              <a:solidFill>
                <a:srgbClr val="000000"/>
              </a:solidFill>
              <a:latin typeface="Arial"/>
            </a:endParaRPr>
          </a:p>
        </p:txBody>
      </p:sp>
      <p:sp>
        <p:nvSpPr>
          <p:cNvPr id="271" name="Rectangle 13"/>
          <p:cNvSpPr/>
          <p:nvPr/>
        </p:nvSpPr>
        <p:spPr>
          <a:xfrm>
            <a:off x="4338360" y="1956960"/>
            <a:ext cx="3515040" cy="4370400"/>
          </a:xfrm>
          <a:prstGeom prst="rect">
            <a:avLst/>
          </a:prstGeom>
          <a:solidFill>
            <a:srgbClr val="e0f5fa"/>
          </a:solidFill>
          <a:ln>
            <a:solidFill>
              <a:srgbClr val="00a9ce"/>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2" name="Rectangle 14"/>
          <p:cNvSpPr/>
          <p:nvPr/>
        </p:nvSpPr>
        <p:spPr>
          <a:xfrm>
            <a:off x="4338360" y="1956960"/>
            <a:ext cx="50040" cy="437040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3" name="TextBox 15"/>
          <p:cNvSpPr/>
          <p:nvPr/>
        </p:nvSpPr>
        <p:spPr>
          <a:xfrm>
            <a:off x="4594320" y="213984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Control de VELOCIDAD</a:t>
            </a:r>
            <a:endParaRPr b="0" lang="en-US" sz="1400" spc="-1" strike="noStrike">
              <a:solidFill>
                <a:srgbClr val="000000"/>
              </a:solidFill>
              <a:latin typeface="Arial"/>
            </a:endParaRPr>
          </a:p>
        </p:txBody>
      </p:sp>
      <p:sp>
        <p:nvSpPr>
          <p:cNvPr id="274" name="TextBox 16"/>
          <p:cNvSpPr/>
          <p:nvPr/>
        </p:nvSpPr>
        <p:spPr>
          <a:xfrm>
            <a:off x="4594320" y="2670120"/>
            <a:ext cx="3057840" cy="149580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200" spc="-1" strike="noStrike">
                <a:solidFill>
                  <a:srgbClr val="2b3644"/>
                </a:solidFill>
                <a:latin typeface="Segoe UI"/>
              </a:rPr>
              <a:t>El drive regula las </a:t>
            </a:r>
            <a:r>
              <a:rPr b="1" lang="en-US" sz="1200" spc="-1" strike="noStrike">
                <a:solidFill>
                  <a:srgbClr val="2b3644"/>
                </a:solidFill>
                <a:latin typeface="Segoe UI"/>
              </a:rPr>
              <a:t>rpm</a:t>
            </a:r>
            <a:r>
              <a:rPr b="0" lang="en-US" sz="1200" spc="-1" strike="noStrike">
                <a:solidFill>
                  <a:srgbClr val="2b3644"/>
                </a:solidFill>
                <a:latin typeface="Segoe UI"/>
              </a:rPr>
              <a:t> del eje.</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Consigna: analógica </a:t>
            </a:r>
            <a:r>
              <a:rPr b="0" lang="en-US" sz="1200" spc="-1" strike="noStrike">
                <a:solidFill>
                  <a:srgbClr val="2b3644"/>
                </a:solidFill>
                <a:latin typeface="Consolas"/>
              </a:rPr>
              <a:t>V-REF</a:t>
            </a:r>
            <a:r>
              <a:rPr b="0" lang="en-US" sz="1200" spc="-1" strike="noStrike">
                <a:solidFill>
                  <a:srgbClr val="2b3644"/>
                </a:solidFill>
                <a:latin typeface="Segoe UI"/>
              </a:rPr>
              <a:t> (±10 V), velocidades internas o bus.</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Se usa cuando el lazo de posición lo cierra el CNC o el PLC.</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Es el modo clásico de máquina-herramienta con CNC.</a:t>
            </a:r>
            <a:endParaRPr b="0" lang="en-US" sz="1200" spc="-1" strike="noStrike">
              <a:solidFill>
                <a:srgbClr val="000000"/>
              </a:solidFill>
              <a:latin typeface="Arial"/>
            </a:endParaRPr>
          </a:p>
        </p:txBody>
      </p:sp>
      <p:sp>
        <p:nvSpPr>
          <p:cNvPr id="275" name="Rectangle 17"/>
          <p:cNvSpPr/>
          <p:nvPr/>
        </p:nvSpPr>
        <p:spPr>
          <a:xfrm>
            <a:off x="8109360" y="1956960"/>
            <a:ext cx="3515040" cy="437040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6" name="Rectangle 18"/>
          <p:cNvSpPr/>
          <p:nvPr/>
        </p:nvSpPr>
        <p:spPr>
          <a:xfrm>
            <a:off x="8109360" y="1956960"/>
            <a:ext cx="50040" cy="437040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7" name="TextBox 19"/>
          <p:cNvSpPr/>
          <p:nvPr/>
        </p:nvSpPr>
        <p:spPr>
          <a:xfrm>
            <a:off x="8365680" y="213984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Control de POSICIÓN</a:t>
            </a:r>
            <a:endParaRPr b="0" lang="en-US" sz="1400" spc="-1" strike="noStrike">
              <a:solidFill>
                <a:srgbClr val="000000"/>
              </a:solidFill>
              <a:latin typeface="Arial"/>
            </a:endParaRPr>
          </a:p>
        </p:txBody>
      </p:sp>
      <p:sp>
        <p:nvSpPr>
          <p:cNvPr id="278" name="TextBox 20"/>
          <p:cNvSpPr/>
          <p:nvPr/>
        </p:nvSpPr>
        <p:spPr>
          <a:xfrm>
            <a:off x="8365680" y="2670120"/>
            <a:ext cx="3057840" cy="149580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200" spc="-1" strike="noStrike">
                <a:solidFill>
                  <a:srgbClr val="2b3644"/>
                </a:solidFill>
                <a:latin typeface="Segoe UI"/>
              </a:rPr>
              <a:t>El drive regula la </a:t>
            </a:r>
            <a:r>
              <a:rPr b="1" lang="en-US" sz="1200" spc="-1" strike="noStrike">
                <a:solidFill>
                  <a:srgbClr val="2b3644"/>
                </a:solidFill>
                <a:latin typeface="Segoe UI"/>
              </a:rPr>
              <a:t>posición</a:t>
            </a:r>
            <a:r>
              <a:rPr b="0" lang="en-US" sz="1200" spc="-1" strike="noStrike">
                <a:solidFill>
                  <a:srgbClr val="2b3644"/>
                </a:solidFill>
                <a:latin typeface="Segoe UI"/>
              </a:rPr>
              <a:t> del eje.</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Consigna: tren de pulsos (</a:t>
            </a:r>
            <a:r>
              <a:rPr b="0" lang="en-US" sz="1200" spc="-1" strike="noStrike">
                <a:solidFill>
                  <a:srgbClr val="2b3644"/>
                </a:solidFill>
                <a:latin typeface="Consolas"/>
              </a:rPr>
              <a:t>PULS</a:t>
            </a:r>
            <a:r>
              <a:rPr b="0" lang="en-US" sz="1200" spc="-1" strike="noStrike">
                <a:solidFill>
                  <a:srgbClr val="2b3644"/>
                </a:solidFill>
                <a:latin typeface="Segoe UI"/>
              </a:rPr>
              <a:t>/</a:t>
            </a:r>
            <a:r>
              <a:rPr b="0" lang="en-US" sz="1200" spc="-1" strike="noStrike">
                <a:solidFill>
                  <a:srgbClr val="2b3644"/>
                </a:solidFill>
                <a:latin typeface="Consolas"/>
              </a:rPr>
              <a:t>SIGN</a:t>
            </a:r>
            <a:r>
              <a:rPr b="0" lang="en-US" sz="1200" spc="-1" strike="noStrike">
                <a:solidFill>
                  <a:srgbClr val="2b3644"/>
                </a:solidFill>
                <a:latin typeface="Segoe UI"/>
              </a:rPr>
              <a:t>) o telegrama de bus.</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Es el modo más habitual en máquina automática.</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Incluye el engranaje electrónico y la ventana de posicionado </a:t>
            </a:r>
            <a:r>
              <a:rPr b="0" lang="en-US" sz="1200" spc="-1" strike="noStrike">
                <a:solidFill>
                  <a:srgbClr val="2b3644"/>
                </a:solidFill>
                <a:latin typeface="Consolas"/>
              </a:rPr>
              <a:t>Pn522</a:t>
            </a:r>
            <a:r>
              <a:rPr b="0" lang="en-US" sz="1200" spc="-1" strike="noStrike">
                <a:solidFill>
                  <a:srgbClr val="2b3644"/>
                </a:solidFill>
                <a:latin typeface="Segoe UI"/>
              </a:rPr>
              <a:t>.</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81"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La realimentación: el encoder</a:t>
            </a:r>
            <a:endParaRPr b="0" lang="en-US" sz="2500" spc="-1" strike="noStrike">
              <a:solidFill>
                <a:srgbClr val="000000"/>
              </a:solidFill>
              <a:latin typeface="Arial"/>
            </a:endParaRPr>
          </a:p>
        </p:txBody>
      </p:sp>
      <p:sp>
        <p:nvSpPr>
          <p:cNvPr id="28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Sin una buena medida no hay buen control</a:t>
            </a:r>
            <a:endParaRPr b="0" lang="en-US" sz="1250" spc="-1" strike="noStrike">
              <a:solidFill>
                <a:srgbClr val="000000"/>
              </a:solidFill>
              <a:latin typeface="Arial"/>
            </a:endParaRPr>
          </a:p>
        </p:txBody>
      </p:sp>
      <p:sp>
        <p:nvSpPr>
          <p:cNvPr id="28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01</a:t>
            </a:r>
            <a:endParaRPr b="0" lang="en-US" sz="1100" spc="-1" strike="noStrike">
              <a:solidFill>
                <a:srgbClr val="000000"/>
              </a:solidFill>
              <a:latin typeface="Arial"/>
            </a:endParaRPr>
          </a:p>
        </p:txBody>
      </p:sp>
      <p:sp>
        <p:nvSpPr>
          <p:cNvPr id="28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8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13</a:t>
            </a:r>
            <a:endParaRPr b="0" lang="en-US" sz="900" spc="-1" strike="noStrike">
              <a:solidFill>
                <a:srgbClr val="000000"/>
              </a:solidFill>
              <a:latin typeface="Arial"/>
            </a:endParaRPr>
          </a:p>
        </p:txBody>
      </p:sp>
      <p:sp>
        <p:nvSpPr>
          <p:cNvPr id="286" name="Rectangle 8"/>
          <p:cNvSpPr/>
          <p:nvPr/>
        </p:nvSpPr>
        <p:spPr>
          <a:xfrm>
            <a:off x="5670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7" name="Rectangle 9"/>
          <p:cNvSpPr/>
          <p:nvPr/>
        </p:nvSpPr>
        <p:spPr>
          <a:xfrm>
            <a:off x="567000" y="1481400"/>
            <a:ext cx="5373000" cy="4201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8"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Tipos y qué implica cada uno</a:t>
            </a:r>
            <a:endParaRPr b="0" lang="en-US" sz="1350" spc="-1" strike="noStrike">
              <a:solidFill>
                <a:srgbClr val="000000"/>
              </a:solidFill>
              <a:latin typeface="Arial"/>
            </a:endParaRPr>
          </a:p>
        </p:txBody>
      </p:sp>
      <p:sp>
        <p:nvSpPr>
          <p:cNvPr id="289" name="TextBox 11"/>
          <p:cNvSpPr/>
          <p:nvPr/>
        </p:nvSpPr>
        <p:spPr>
          <a:xfrm>
            <a:off x="768240" y="2048400"/>
            <a:ext cx="4970880" cy="255060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180" spc="-1" strike="noStrike">
                <a:solidFill>
                  <a:srgbClr val="1b5ea8"/>
                </a:solidFill>
                <a:latin typeface="Segoe UI Semibold"/>
              </a:rPr>
              <a:t>Incremental</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Segoe UI"/>
              </a:rPr>
              <a:t>Cuenta pulsos desde el arranque. Al quitar tensión pierde la referencia y obliga a hacer búsqueda de origen (homing).</a:t>
            </a:r>
            <a:endParaRPr b="0" lang="en-US" sz="1220" spc="-1" strike="noStrike">
              <a:solidFill>
                <a:srgbClr val="000000"/>
              </a:solidFill>
              <a:latin typeface="Arial"/>
            </a:endParaRPr>
          </a:p>
          <a:p>
            <a:pPr defTabSz="457200">
              <a:lnSpc>
                <a:spcPct val="106000"/>
              </a:lnSpc>
              <a:spcBef>
                <a:spcPts val="799"/>
              </a:spcBef>
              <a:spcAft>
                <a:spcPts val="901"/>
              </a:spcAft>
              <a:tabLst>
                <a:tab algn="l" pos="0"/>
              </a:tabLst>
            </a:pPr>
            <a:r>
              <a:rPr b="1" lang="en-US" sz="1180" spc="-1" strike="noStrike">
                <a:solidFill>
                  <a:srgbClr val="1b5ea8"/>
                </a:solidFill>
                <a:latin typeface="Segoe UI Semibold"/>
              </a:rPr>
              <a:t>Absoluto (el de la serie Σ-X)</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Segoe UI"/>
              </a:rPr>
              <a:t>Conoce la posición dentro de la vuelta y el número de vueltas (multivuelta) aunque se corte la alimentación.</a:t>
            </a:r>
            <a:endParaRPr b="0" lang="en-US" sz="122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70" spc="-1" strike="noStrike">
                <a:solidFill>
                  <a:srgbClr val="333f4c"/>
                </a:solidFill>
                <a:latin typeface="Segoe UI"/>
              </a:rPr>
              <a:t>Requiere </a:t>
            </a:r>
            <a:r>
              <a:rPr b="1" lang="en-US" sz="1070" spc="-1" strike="noStrike">
                <a:solidFill>
                  <a:srgbClr val="333f4c"/>
                </a:solidFill>
                <a:latin typeface="Segoe UI"/>
              </a:rPr>
              <a:t>batería</a:t>
            </a:r>
            <a:r>
              <a:rPr b="0" lang="en-US" sz="1070" spc="-1" strike="noStrike">
                <a:solidFill>
                  <a:srgbClr val="333f4c"/>
                </a:solidFill>
                <a:latin typeface="Segoe UI"/>
              </a:rPr>
              <a:t> (3,6 V) para mantener el contaje multivuelta.</a:t>
            </a:r>
            <a:endParaRPr b="0" lang="en-US" sz="10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70" spc="-1" strike="noStrike">
                <a:solidFill>
                  <a:srgbClr val="333f4c"/>
                </a:solidFill>
                <a:latin typeface="Segoe UI"/>
              </a:rPr>
              <a:t>Elimina el homing: la máquina arranca sabiendo dónde está.</a:t>
            </a:r>
            <a:endParaRPr b="0" lang="en-US" sz="10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70" spc="-1" strike="noStrike">
                <a:solidFill>
                  <a:srgbClr val="333f4c"/>
                </a:solidFill>
                <a:latin typeface="Segoe UI"/>
              </a:rPr>
              <a:t>Se configura con </a:t>
            </a:r>
            <a:r>
              <a:rPr b="0" lang="en-US" sz="1070" spc="-1" strike="noStrike">
                <a:solidFill>
                  <a:srgbClr val="333f4c"/>
                </a:solidFill>
                <a:latin typeface="Consolas"/>
              </a:rPr>
              <a:t>Fn008</a:t>
            </a:r>
            <a:r>
              <a:rPr b="0" lang="en-US" sz="1070" spc="-1" strike="noStrike">
                <a:solidFill>
                  <a:srgbClr val="333f4c"/>
                </a:solidFill>
                <a:latin typeface="Segoe UI"/>
              </a:rPr>
              <a:t> (setup del encoder absoluto) y </a:t>
            </a:r>
            <a:r>
              <a:rPr b="0" lang="en-US" sz="1070" spc="-1" strike="noStrike">
                <a:solidFill>
                  <a:srgbClr val="333f4c"/>
                </a:solidFill>
                <a:latin typeface="Consolas"/>
              </a:rPr>
              <a:t>Pn205</a:t>
            </a:r>
            <a:r>
              <a:rPr b="0" lang="en-US" sz="1070" spc="-1" strike="noStrike">
                <a:solidFill>
                  <a:srgbClr val="333f4c"/>
                </a:solidFill>
                <a:latin typeface="Segoe UI"/>
              </a:rPr>
              <a:t> (límite multivuelta).</a:t>
            </a:r>
            <a:endParaRPr b="0" lang="en-US" sz="1070" spc="-1" strike="noStrike">
              <a:solidFill>
                <a:srgbClr val="000000"/>
              </a:solidFill>
              <a:latin typeface="Arial"/>
            </a:endParaRPr>
          </a:p>
        </p:txBody>
      </p:sp>
      <p:sp>
        <p:nvSpPr>
          <p:cNvPr id="290" name="Rectangle 12"/>
          <p:cNvSpPr/>
          <p:nvPr/>
        </p:nvSpPr>
        <p:spPr>
          <a:xfrm>
            <a:off x="62514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1" name="Rectangle 13"/>
          <p:cNvSpPr/>
          <p:nvPr/>
        </p:nvSpPr>
        <p:spPr>
          <a:xfrm>
            <a:off x="6251400" y="1481400"/>
            <a:ext cx="5373000" cy="42012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2"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Resolución: qué significan 24 bits</a:t>
            </a:r>
            <a:endParaRPr b="0" lang="en-US" sz="1350" spc="-1" strike="noStrike">
              <a:solidFill>
                <a:srgbClr val="000000"/>
              </a:solidFill>
              <a:latin typeface="Arial"/>
            </a:endParaRPr>
          </a:p>
        </p:txBody>
      </p:sp>
      <p:sp>
        <p:nvSpPr>
          <p:cNvPr id="293" name="TextBox 15"/>
          <p:cNvSpPr/>
          <p:nvPr/>
        </p:nvSpPr>
        <p:spPr>
          <a:xfrm>
            <a:off x="6452640" y="2048400"/>
            <a:ext cx="4970880" cy="259344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El encoder serie de la Σ-X entrega 2²⁴ = 16.777.216 cuentas por vuelta.</a:t>
            </a:r>
            <a:endParaRPr b="0" lang="en-US" sz="122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070" spc="-1" strike="noStrike">
                <a:solidFill>
                  <a:srgbClr val="333f4c"/>
                </a:solidFill>
                <a:latin typeface="Segoe UI"/>
              </a:rPr>
              <a:t>Una cuenta equivale a </a:t>
            </a:r>
            <a:r>
              <a:rPr b="1" lang="en-US" sz="1070" spc="-1" strike="noStrike">
                <a:solidFill>
                  <a:srgbClr val="333f4c"/>
                </a:solidFill>
                <a:latin typeface="Segoe UI"/>
              </a:rPr>
              <a:t>0,0000215°</a:t>
            </a:r>
            <a:r>
              <a:rPr b="0" lang="en-US" sz="1070" spc="-1" strike="noStrike">
                <a:solidFill>
                  <a:srgbClr val="333f4c"/>
                </a:solidFill>
                <a:latin typeface="Segoe UI"/>
              </a:rPr>
              <a:t>, unas 77 millonésimas de grado.</a:t>
            </a:r>
            <a:endParaRPr b="0" lang="en-US" sz="10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070" spc="-1" strike="noStrike">
                <a:solidFill>
                  <a:srgbClr val="333f4c"/>
                </a:solidFill>
                <a:latin typeface="Segoe UI"/>
              </a:rPr>
              <a:t>Con un husillo de 10 mm de paso, una cuenta son </a:t>
            </a:r>
            <a:r>
              <a:rPr b="1" lang="en-US" sz="1070" spc="-1" strike="noStrike">
                <a:solidFill>
                  <a:srgbClr val="333f4c"/>
                </a:solidFill>
                <a:latin typeface="Segoe UI"/>
              </a:rPr>
              <a:t>0,6 nanómetros</a:t>
            </a:r>
            <a:r>
              <a:rPr b="0" lang="en-US" sz="1070" spc="-1" strike="noStrike">
                <a:solidFill>
                  <a:srgbClr val="333f4c"/>
                </a:solidFill>
                <a:latin typeface="Segoe UI"/>
              </a:rPr>
              <a:t> de desplazamiento teórico.</a:t>
            </a:r>
            <a:endParaRPr b="0" lang="en-US" sz="1070" spc="-1" strike="noStrike">
              <a:solidFill>
                <a:srgbClr val="000000"/>
              </a:solidFill>
              <a:latin typeface="Arial"/>
            </a:endParaRPr>
          </a:p>
          <a:p>
            <a:pPr defTabSz="457200">
              <a:lnSpc>
                <a:spcPct val="106000"/>
              </a:lnSpc>
              <a:spcBef>
                <a:spcPts val="799"/>
              </a:spcBef>
              <a:spcAft>
                <a:spcPts val="901"/>
              </a:spcAft>
              <a:tabLst>
                <a:tab algn="l" pos="0"/>
              </a:tabLst>
            </a:pPr>
            <a:r>
              <a:rPr b="1" lang="en-US" sz="1180" spc="-1" strike="noStrike">
                <a:solidFill>
                  <a:srgbClr val="1b5ea8"/>
                </a:solidFill>
                <a:latin typeface="Segoe UI Semibold"/>
              </a:rPr>
              <a:t>Consecuencia práctica</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Segoe UI"/>
              </a:rPr>
              <a:t>La resolución nunca es el factor limitante: lo son la mecánica (holguras, rigidez, dilatación) y el ruido eléctrico.</a:t>
            </a:r>
            <a:endParaRPr b="0" lang="en-US" sz="122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70" spc="-1" strike="noStrike">
                <a:solidFill>
                  <a:srgbClr val="333f4c"/>
                </a:solidFill>
                <a:latin typeface="Segoe UI"/>
              </a:rPr>
              <a:t>El drive puede reescalar la resolución hacia el controlador con el </a:t>
            </a:r>
            <a:r>
              <a:rPr b="1" lang="en-US" sz="1070" spc="-1" strike="noStrike">
                <a:solidFill>
                  <a:srgbClr val="333f4c"/>
                </a:solidFill>
                <a:latin typeface="Segoe UI"/>
              </a:rPr>
              <a:t>engranaje electrónico</a:t>
            </a:r>
            <a:r>
              <a:rPr b="0" lang="en-US" sz="1070" spc="-1" strike="noStrike">
                <a:solidFill>
                  <a:srgbClr val="333f4c"/>
                </a:solidFill>
                <a:latin typeface="Segoe UI"/>
              </a:rPr>
              <a:t> (</a:t>
            </a:r>
            <a:r>
              <a:rPr b="0" lang="en-US" sz="1070" spc="-1" strike="noStrike">
                <a:solidFill>
                  <a:srgbClr val="333f4c"/>
                </a:solidFill>
                <a:latin typeface="Consolas"/>
              </a:rPr>
              <a:t>Pn20E</a:t>
            </a:r>
            <a:r>
              <a:rPr b="0" lang="en-US" sz="1070" spc="-1" strike="noStrike">
                <a:solidFill>
                  <a:srgbClr val="333f4c"/>
                </a:solidFill>
                <a:latin typeface="Segoe UI"/>
              </a:rPr>
              <a:t>/</a:t>
            </a:r>
            <a:r>
              <a:rPr b="0" lang="en-US" sz="1070" spc="-1" strike="noStrike">
                <a:solidFill>
                  <a:srgbClr val="333f4c"/>
                </a:solidFill>
                <a:latin typeface="Consolas"/>
              </a:rPr>
              <a:t>Pn210</a:t>
            </a:r>
            <a:r>
              <a:rPr b="0" lang="en-US" sz="1070" spc="-1" strike="noStrike">
                <a:solidFill>
                  <a:srgbClr val="333f4c"/>
                </a:solidFill>
                <a:latin typeface="Segoe UI"/>
              </a:rPr>
              <a:t>) y hacia la salida de pulsos con </a:t>
            </a:r>
            <a:r>
              <a:rPr b="0" lang="en-US" sz="1070" spc="-1" strike="noStrike">
                <a:solidFill>
                  <a:srgbClr val="333f4c"/>
                </a:solidFill>
                <a:latin typeface="Consolas"/>
              </a:rPr>
              <a:t>Pn212</a:t>
            </a:r>
            <a:r>
              <a:rPr b="0" lang="en-US" sz="1070" spc="-1" strike="noStrike">
                <a:solidFill>
                  <a:srgbClr val="333f4c"/>
                </a:solidFill>
                <a:latin typeface="Segoe UI"/>
              </a:rPr>
              <a:t>.</a:t>
            </a:r>
            <a:endParaRPr b="0" lang="en-US" sz="1070" spc="-1" strike="noStrike">
              <a:solidFill>
                <a:srgbClr val="000000"/>
              </a:solidFill>
              <a:latin typeface="Arial"/>
            </a:endParaRPr>
          </a:p>
        </p:txBody>
      </p:sp>
      <p:sp>
        <p:nvSpPr>
          <p:cNvPr id="294" name="Rectangle 16"/>
          <p:cNvSpPr/>
          <p:nvPr/>
        </p:nvSpPr>
        <p:spPr>
          <a:xfrm>
            <a:off x="567000" y="5459040"/>
            <a:ext cx="11057400" cy="86832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5" name="Rectangle 17"/>
          <p:cNvSpPr/>
          <p:nvPr/>
        </p:nvSpPr>
        <p:spPr>
          <a:xfrm>
            <a:off x="567000" y="5459040"/>
            <a:ext cx="68400" cy="86832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6" name="TextBox 18"/>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Error frecuente en campo</a:t>
            </a:r>
            <a:endParaRPr b="0" lang="en-US" sz="1200" spc="-1" strike="noStrike">
              <a:solidFill>
                <a:srgbClr val="000000"/>
              </a:solidFill>
              <a:latin typeface="Arial"/>
            </a:endParaRPr>
          </a:p>
        </p:txBody>
      </p:sp>
      <p:sp>
        <p:nvSpPr>
          <p:cNvPr id="297" name="TextBox 19"/>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Pedir al eje una precisión mayor que la que permite la mecánica y culpar al servo. Antes de tocar ganancias, comprueba holgura del acoplamiento, juego del husillo y rigidez del soporte.</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9"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300"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Las magnitudes que gobiernan el dimensionamiento</a:t>
            </a:r>
            <a:endParaRPr b="0" lang="en-US" sz="2500" spc="-1" strike="noStrike">
              <a:solidFill>
                <a:srgbClr val="000000"/>
              </a:solidFill>
              <a:latin typeface="Arial"/>
            </a:endParaRPr>
          </a:p>
        </p:txBody>
      </p:sp>
      <p:sp>
        <p:nvSpPr>
          <p:cNvPr id="301"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Par, inercia, aceleración y potencia: el lenguaje del servo</a:t>
            </a:r>
            <a:endParaRPr b="0" lang="en-US" sz="1250" spc="-1" strike="noStrike">
              <a:solidFill>
                <a:srgbClr val="000000"/>
              </a:solidFill>
              <a:latin typeface="Arial"/>
            </a:endParaRPr>
          </a:p>
        </p:txBody>
      </p:sp>
      <p:sp>
        <p:nvSpPr>
          <p:cNvPr id="302"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01</a:t>
            </a:r>
            <a:endParaRPr b="0" lang="en-US" sz="1100" spc="-1" strike="noStrike">
              <a:solidFill>
                <a:srgbClr val="000000"/>
              </a:solidFill>
              <a:latin typeface="Arial"/>
            </a:endParaRPr>
          </a:p>
        </p:txBody>
      </p:sp>
      <p:sp>
        <p:nvSpPr>
          <p:cNvPr id="303"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304"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14</a:t>
            </a:r>
            <a:endParaRPr b="0" lang="en-US" sz="900" spc="-1" strike="noStrike">
              <a:solidFill>
                <a:srgbClr val="000000"/>
              </a:solidFill>
              <a:latin typeface="Arial"/>
            </a:endParaRPr>
          </a:p>
        </p:txBody>
      </p:sp>
      <p:sp>
        <p:nvSpPr>
          <p:cNvPr id="305" name="TextBox 8"/>
          <p:cNvSpPr/>
          <p:nvPr/>
        </p:nvSpPr>
        <p:spPr>
          <a:xfrm>
            <a:off x="567000" y="1481400"/>
            <a:ext cx="11057400" cy="341532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150" spc="-1" strike="noStrike">
                <a:solidFill>
                  <a:srgbClr val="1b5ea8"/>
                </a:solidFill>
                <a:latin typeface="Segoe UI Semibold"/>
              </a:rPr>
              <a:t>Par (T, en N·m)</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Es lo que el motor 'empuja'. Se descompone en: par para acelerar la inercia + par para vencer fricción + par de proceso (corte, prensado) + par de gravedad en ejes verticales.</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Consolas"/>
              </a:rPr>
              <a:t>T = J · α</a:t>
            </a:r>
            <a:r>
              <a:rPr b="0" lang="en-US" sz="1050" spc="-1" strike="noStrike">
                <a:solidFill>
                  <a:srgbClr val="333f4c"/>
                </a:solidFill>
                <a:latin typeface="Segoe UI"/>
              </a:rPr>
              <a:t> → par de aceleración, con α en rad/s².</a:t>
            </a:r>
            <a:endParaRPr b="0" lang="en-US" sz="1050" spc="-1" strike="noStrike">
              <a:solidFill>
                <a:srgbClr val="000000"/>
              </a:solidFill>
              <a:latin typeface="Arial"/>
            </a:endParaRPr>
          </a:p>
          <a:p>
            <a:pPr defTabSz="457200">
              <a:lnSpc>
                <a:spcPct val="106000"/>
              </a:lnSpc>
              <a:spcBef>
                <a:spcPts val="799"/>
              </a:spcBef>
              <a:spcAft>
                <a:spcPts val="901"/>
              </a:spcAft>
              <a:tabLst>
                <a:tab algn="l" pos="0"/>
              </a:tabLst>
            </a:pPr>
            <a:r>
              <a:rPr b="1" lang="en-US" sz="1150" spc="-1" strike="noStrike">
                <a:solidFill>
                  <a:srgbClr val="1b5ea8"/>
                </a:solidFill>
                <a:latin typeface="Segoe UI Semibold"/>
              </a:rPr>
              <a:t>Inercia (J, en kg·m²)</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Es la resistencia del conjunto a cambiar de velocidad. Depende de la masa y de cómo está distribuida respecto al eje de giro.</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Lo que importa es la </a:t>
            </a:r>
            <a:r>
              <a:rPr b="1" lang="en-US" sz="1050" spc="-1" strike="noStrike">
                <a:solidFill>
                  <a:srgbClr val="333f4c"/>
                </a:solidFill>
                <a:latin typeface="Segoe UI"/>
              </a:rPr>
              <a:t>inercia reflejada al eje del motor</a:t>
            </a:r>
            <a:r>
              <a:rPr b="0" lang="en-US" sz="1050" spc="-1" strike="noStrike">
                <a:solidFill>
                  <a:srgbClr val="333f4c"/>
                </a:solidFill>
                <a:latin typeface="Segoe UI"/>
              </a:rPr>
              <a:t>: una reducción de relación *i* divide la inercia de la carga por *i²*.</a:t>
            </a:r>
            <a:endParaRPr b="0" lang="en-US" sz="1050" spc="-1" strike="noStrike">
              <a:solidFill>
                <a:srgbClr val="000000"/>
              </a:solidFill>
              <a:latin typeface="Arial"/>
            </a:endParaRPr>
          </a:p>
          <a:p>
            <a:pPr defTabSz="457200">
              <a:lnSpc>
                <a:spcPct val="106000"/>
              </a:lnSpc>
              <a:spcBef>
                <a:spcPts val="799"/>
              </a:spcBef>
              <a:spcAft>
                <a:spcPts val="901"/>
              </a:spcAft>
              <a:tabLst>
                <a:tab algn="l" pos="0"/>
              </a:tabLst>
            </a:pPr>
            <a:r>
              <a:rPr b="1" lang="en-US" sz="1150" spc="-1" strike="noStrike">
                <a:solidFill>
                  <a:srgbClr val="1b5ea8"/>
                </a:solidFill>
                <a:latin typeface="Segoe UI Semibold"/>
              </a:rPr>
              <a:t>Velocidad angular (ω, en rad/s) y aceleración (α, en rad/s²)</a:t>
            </a:r>
            <a:endParaRPr b="0" lang="en-US" sz="11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Consolas"/>
              </a:rPr>
              <a:t>ω = 2π · n / 60</a:t>
            </a:r>
            <a:r>
              <a:rPr b="0" lang="en-US" sz="1050" spc="-1" strike="noStrike">
                <a:solidFill>
                  <a:srgbClr val="333f4c"/>
                </a:solidFill>
                <a:latin typeface="Segoe UI"/>
              </a:rPr>
              <a:t> con *n* en rpm. A 3.000 rpm, ω ≈ 314 rad/s.</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Consolas"/>
              </a:rPr>
              <a:t>α = Δω / Δt</a:t>
            </a:r>
            <a:r>
              <a:rPr b="0" lang="en-US" sz="1050" spc="-1" strike="noStrike">
                <a:solidFill>
                  <a:srgbClr val="333f4c"/>
                </a:solidFill>
                <a:latin typeface="Segoe UI"/>
              </a:rPr>
              <a:t>. Acelerar de 0 a 3.000 rpm en 0,1 s exige α ≈ 3.140 rad/s².</a:t>
            </a:r>
            <a:endParaRPr b="0" lang="en-US" sz="1050" spc="-1" strike="noStrike">
              <a:solidFill>
                <a:srgbClr val="000000"/>
              </a:solidFill>
              <a:latin typeface="Arial"/>
            </a:endParaRPr>
          </a:p>
          <a:p>
            <a:pPr defTabSz="457200">
              <a:lnSpc>
                <a:spcPct val="106000"/>
              </a:lnSpc>
              <a:spcBef>
                <a:spcPts val="799"/>
              </a:spcBef>
              <a:spcAft>
                <a:spcPts val="901"/>
              </a:spcAft>
              <a:tabLst>
                <a:tab algn="l" pos="0"/>
              </a:tabLst>
            </a:pPr>
            <a:r>
              <a:rPr b="1" lang="en-US" sz="1150" spc="-1" strike="noStrike">
                <a:solidFill>
                  <a:srgbClr val="1b5ea8"/>
                </a:solidFill>
                <a:latin typeface="Segoe UI Semibold"/>
              </a:rPr>
              <a:t>Potencia (P, en W)</a:t>
            </a:r>
            <a:endParaRPr b="0" lang="en-US" sz="11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Consolas"/>
              </a:rPr>
              <a:t>P = T · ω</a:t>
            </a:r>
            <a:r>
              <a:rPr b="0" lang="en-US" sz="1050" spc="-1" strike="noStrike">
                <a:solidFill>
                  <a:srgbClr val="333f4c"/>
                </a:solidFill>
                <a:latin typeface="Segoe UI"/>
              </a:rPr>
              <a:t>. Un motor de 3 kW a 3.000 rpm da un par nominal de </a:t>
            </a:r>
            <a:r>
              <a:rPr b="0" lang="en-US" sz="1050" spc="-1" strike="noStrike">
                <a:solidFill>
                  <a:srgbClr val="333f4c"/>
                </a:solidFill>
                <a:latin typeface="Consolas"/>
              </a:rPr>
              <a:t>3000 / 314 ≈ 9,55 N·m</a:t>
            </a:r>
            <a:r>
              <a:rPr b="0" lang="en-US" sz="1050" spc="-1" strike="noStrike">
                <a:solidFill>
                  <a:srgbClr val="333f4c"/>
                </a:solidFill>
                <a:latin typeface="Segoe UI"/>
              </a:rPr>
              <a:t>. </a:t>
            </a:r>
            <a:r>
              <a:rPr b="1" lang="en-US" sz="1050" spc="-1" strike="noStrike">
                <a:solidFill>
                  <a:srgbClr val="333f4c"/>
                </a:solidFill>
                <a:latin typeface="Segoe UI"/>
              </a:rPr>
              <a:t>La potencia sola no dice nada: el par y la velocidad lo dicen todo.</a:t>
            </a:r>
            <a:endParaRPr b="0" lang="en-US" sz="1050" spc="-1" strike="noStrike">
              <a:solidFill>
                <a:srgbClr val="000000"/>
              </a:solidFill>
              <a:latin typeface="Arial"/>
            </a:endParaRPr>
          </a:p>
        </p:txBody>
      </p:sp>
      <p:sp>
        <p:nvSpPr>
          <p:cNvPr id="306" name="Rectangle 9"/>
          <p:cNvSpPr/>
          <p:nvPr/>
        </p:nvSpPr>
        <p:spPr>
          <a:xfrm>
            <a:off x="567000" y="5459040"/>
            <a:ext cx="11057400" cy="868320"/>
          </a:xfrm>
          <a:prstGeom prst="rect">
            <a:avLst/>
          </a:prstGeom>
          <a:solidFill>
            <a:srgbClr val="e4f2ea"/>
          </a:solidFill>
          <a:ln>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7" name="Rectangle 10"/>
          <p:cNvSpPr/>
          <p:nvPr/>
        </p:nvSpPr>
        <p:spPr>
          <a:xfrm>
            <a:off x="567000" y="5459040"/>
            <a:ext cx="68400" cy="86832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8" name="TextBox 11"/>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2e8b57"/>
                </a:solidFill>
                <a:latin typeface="Segoe UI Semibold"/>
              </a:rPr>
              <a:t>Comprobación mental rápida</a:t>
            </a:r>
            <a:endParaRPr b="0" lang="en-US" sz="1200" spc="-1" strike="noStrike">
              <a:solidFill>
                <a:srgbClr val="000000"/>
              </a:solidFill>
              <a:latin typeface="Arial"/>
            </a:endParaRPr>
          </a:p>
        </p:txBody>
      </p:sp>
      <p:sp>
        <p:nvSpPr>
          <p:cNvPr id="309" name="TextBox 12"/>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Par nominal [N·m] ≈ 9,55 × Potencia [kW] / Velocidad [krpm]. Con 3 kW a 3.000 rpm → 9,55 N·m. Con 3 kW a 1.500 rpm → 19,1 N·m. Misma potencia, el doble de par.</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11"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312"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Cómo se lee una curva par-velocidad</a:t>
            </a:r>
            <a:endParaRPr b="0" lang="en-US" sz="2500" spc="-1" strike="noStrike">
              <a:solidFill>
                <a:srgbClr val="000000"/>
              </a:solidFill>
              <a:latin typeface="Arial"/>
            </a:endParaRPr>
          </a:p>
        </p:txBody>
      </p:sp>
      <p:sp>
        <p:nvSpPr>
          <p:cNvPr id="313"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hoja de datos del motor resumida en un gráfico</a:t>
            </a:r>
            <a:endParaRPr b="0" lang="en-US" sz="1250" spc="-1" strike="noStrike">
              <a:solidFill>
                <a:srgbClr val="000000"/>
              </a:solidFill>
              <a:latin typeface="Arial"/>
            </a:endParaRPr>
          </a:p>
        </p:txBody>
      </p:sp>
      <p:sp>
        <p:nvSpPr>
          <p:cNvPr id="314"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01</a:t>
            </a:r>
            <a:endParaRPr b="0" lang="en-US" sz="1100" spc="-1" strike="noStrike">
              <a:solidFill>
                <a:srgbClr val="000000"/>
              </a:solidFill>
              <a:latin typeface="Arial"/>
            </a:endParaRPr>
          </a:p>
        </p:txBody>
      </p:sp>
      <p:sp>
        <p:nvSpPr>
          <p:cNvPr id="315"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316"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15</a:t>
            </a:r>
            <a:endParaRPr b="0" lang="en-US" sz="900" spc="-1" strike="noStrike">
              <a:solidFill>
                <a:srgbClr val="000000"/>
              </a:solidFill>
              <a:latin typeface="Arial"/>
            </a:endParaRPr>
          </a:p>
        </p:txBody>
      </p:sp>
      <p:cxnSp>
        <p:nvCxnSpPr>
          <p:cNvPr id="317" name="Connector 8"/>
          <p:cNvCxnSpPr/>
          <p:nvPr/>
        </p:nvCxnSpPr>
        <p:spPr>
          <a:xfrm>
            <a:off x="1600200" y="5577840"/>
            <a:ext cx="5669640" cy="360"/>
          </a:xfrm>
          <a:prstGeom prst="straightConnector1">
            <a:avLst/>
          </a:prstGeom>
          <a:ln w="19050">
            <a:solidFill>
              <a:srgbClr val="1c2430"/>
            </a:solidFill>
            <a:round/>
          </a:ln>
        </p:spPr>
      </p:cxnSp>
      <p:cxnSp>
        <p:nvCxnSpPr>
          <p:cNvPr id="318" name="Connector 9"/>
          <p:cNvCxnSpPr/>
          <p:nvPr/>
        </p:nvCxnSpPr>
        <p:spPr>
          <a:xfrm flipV="1">
            <a:off x="1600200" y="2103120"/>
            <a:ext cx="360" cy="3475080"/>
          </a:xfrm>
          <a:prstGeom prst="straightConnector1">
            <a:avLst/>
          </a:prstGeom>
          <a:ln w="19050">
            <a:solidFill>
              <a:srgbClr val="1c2430"/>
            </a:solidFill>
            <a:round/>
          </a:ln>
        </p:spPr>
      </p:cxnSp>
      <p:sp>
        <p:nvSpPr>
          <p:cNvPr id="319" name="TextBox 10"/>
          <p:cNvSpPr/>
          <p:nvPr/>
        </p:nvSpPr>
        <p:spPr>
          <a:xfrm>
            <a:off x="1600200" y="5906880"/>
            <a:ext cx="5668920" cy="1681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100" spc="-1" strike="noStrike">
                <a:solidFill>
                  <a:srgbClr val="1c2430"/>
                </a:solidFill>
                <a:latin typeface="Segoe UI"/>
              </a:rPr>
              <a:t>Velocidad  n  [rpm]  →</a:t>
            </a:r>
            <a:endParaRPr b="0" lang="en-US" sz="1100" spc="-1" strike="noStrike">
              <a:solidFill>
                <a:srgbClr val="000000"/>
              </a:solidFill>
              <a:latin typeface="Arial"/>
            </a:endParaRPr>
          </a:p>
        </p:txBody>
      </p:sp>
      <p:sp>
        <p:nvSpPr>
          <p:cNvPr id="320" name="TextBox 11"/>
          <p:cNvSpPr/>
          <p:nvPr/>
        </p:nvSpPr>
        <p:spPr>
          <a:xfrm>
            <a:off x="1097280" y="1764720"/>
            <a:ext cx="23770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1c2430"/>
                </a:solidFill>
                <a:latin typeface="Segoe UI"/>
              </a:rPr>
              <a:t>Par  T  [N·m]  ↑</a:t>
            </a:r>
            <a:endParaRPr b="0" lang="en-US" sz="1100" spc="-1" strike="noStrike">
              <a:solidFill>
                <a:srgbClr val="000000"/>
              </a:solidFill>
              <a:latin typeface="Arial"/>
            </a:endParaRPr>
          </a:p>
        </p:txBody>
      </p:sp>
      <p:sp>
        <p:nvSpPr>
          <p:cNvPr id="321" name="Rectangle 12"/>
          <p:cNvSpPr/>
          <p:nvPr/>
        </p:nvSpPr>
        <p:spPr>
          <a:xfrm>
            <a:off x="1600200" y="2331720"/>
            <a:ext cx="4308120" cy="3245760"/>
          </a:xfrm>
          <a:prstGeom prst="rect">
            <a:avLst/>
          </a:prstGeom>
          <a:solidFill>
            <a:srgbClr val="e4eef7"/>
          </a:solidFill>
          <a:ln w="19050">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22" name="TextBox 13"/>
          <p:cNvSpPr/>
          <p:nvPr/>
        </p:nvSpPr>
        <p:spPr>
          <a:xfrm>
            <a:off x="1856160" y="2532960"/>
            <a:ext cx="3017160" cy="369000"/>
          </a:xfrm>
          <a:prstGeom prst="rect">
            <a:avLst/>
          </a:prstGeom>
          <a:noFill/>
          <a:ln w="0">
            <a:noFill/>
          </a:ln>
        </p:spPr>
        <p:style>
          <a:lnRef idx="0"/>
          <a:fillRef idx="0"/>
          <a:effectRef idx="0"/>
          <a:fontRef idx="minor"/>
        </p:style>
        <p:txBody>
          <a:bodyPr lIns="0" rIns="0" tIns="0" bIns="0" anchor="t">
            <a:spAutoFit/>
          </a:bodyPr>
          <a:p>
            <a:pPr defTabSz="457200">
              <a:lnSpc>
                <a:spcPct val="110000"/>
              </a:lnSpc>
            </a:pPr>
            <a:r>
              <a:rPr b="1" lang="en-US" sz="1100" spc="-1" strike="noStrike">
                <a:solidFill>
                  <a:srgbClr val="c0392b"/>
                </a:solidFill>
                <a:latin typeface="Segoe UI"/>
              </a:rPr>
              <a:t>ZONA INTERMITENTE</a:t>
            </a:r>
            <a:endParaRPr b="0" lang="en-US" sz="1100" spc="-1" strike="noStrike">
              <a:solidFill>
                <a:srgbClr val="000000"/>
              </a:solidFill>
              <a:latin typeface="Arial"/>
            </a:endParaRPr>
          </a:p>
          <a:p>
            <a:pPr defTabSz="457200">
              <a:lnSpc>
                <a:spcPct val="110000"/>
              </a:lnSpc>
            </a:pPr>
            <a:r>
              <a:rPr b="1" lang="en-US" sz="1100" spc="-1" strike="noStrike">
                <a:solidFill>
                  <a:srgbClr val="c0392b"/>
                </a:solidFill>
                <a:latin typeface="Segoe UI"/>
              </a:rPr>
              <a:t>aceleraciones y frenados (unos segundos)</a:t>
            </a:r>
            <a:endParaRPr b="0" lang="en-US" sz="1100" spc="-1" strike="noStrike">
              <a:solidFill>
                <a:srgbClr val="000000"/>
              </a:solidFill>
              <a:latin typeface="Arial"/>
            </a:endParaRPr>
          </a:p>
        </p:txBody>
      </p:sp>
      <p:sp>
        <p:nvSpPr>
          <p:cNvPr id="323" name="Rectangle 14"/>
          <p:cNvSpPr/>
          <p:nvPr/>
        </p:nvSpPr>
        <p:spPr>
          <a:xfrm>
            <a:off x="1600200" y="4506480"/>
            <a:ext cx="5272200" cy="1071000"/>
          </a:xfrm>
          <a:prstGeom prst="rect">
            <a:avLst/>
          </a:prstGeom>
          <a:solidFill>
            <a:srgbClr val="2e8b57"/>
          </a:solidFill>
          <a:ln w="12700">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24" name="TextBox 15"/>
          <p:cNvSpPr/>
          <p:nvPr/>
        </p:nvSpPr>
        <p:spPr>
          <a:xfrm>
            <a:off x="1856160" y="4707720"/>
            <a:ext cx="384012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ffffff"/>
                </a:solidFill>
                <a:latin typeface="Segoe UI"/>
              </a:rPr>
              <a:t>ZONA CONTINUA — servicio permanente (S1)</a:t>
            </a:r>
            <a:endParaRPr b="0" lang="en-US" sz="1100" spc="-1" strike="noStrike">
              <a:solidFill>
                <a:srgbClr val="000000"/>
              </a:solidFill>
              <a:latin typeface="Arial"/>
            </a:endParaRPr>
          </a:p>
        </p:txBody>
      </p:sp>
      <p:cxnSp>
        <p:nvCxnSpPr>
          <p:cNvPr id="325" name="Connector 16"/>
          <p:cNvCxnSpPr/>
          <p:nvPr/>
        </p:nvCxnSpPr>
        <p:spPr>
          <a:xfrm flipH="1">
            <a:off x="1490400" y="4506480"/>
            <a:ext cx="110160" cy="360"/>
          </a:xfrm>
          <a:prstGeom prst="straightConnector1">
            <a:avLst/>
          </a:prstGeom>
          <a:ln w="15875">
            <a:solidFill>
              <a:srgbClr val="1c2430"/>
            </a:solidFill>
            <a:round/>
          </a:ln>
        </p:spPr>
      </p:cxnSp>
      <p:sp>
        <p:nvSpPr>
          <p:cNvPr id="326" name="TextBox 17"/>
          <p:cNvSpPr/>
          <p:nvPr/>
        </p:nvSpPr>
        <p:spPr>
          <a:xfrm>
            <a:off x="118800" y="4305600"/>
            <a:ext cx="1325520" cy="2890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950" spc="-1" strike="noStrike">
                <a:solidFill>
                  <a:srgbClr val="2e8b57"/>
                </a:solidFill>
                <a:latin typeface="Segoe UI"/>
              </a:rPr>
              <a:t>T nominal</a:t>
            </a:r>
            <a:endParaRPr b="0" lang="en-US" sz="950" spc="-1" strike="noStrike">
              <a:solidFill>
                <a:srgbClr val="000000"/>
              </a:solidFill>
              <a:latin typeface="Arial"/>
            </a:endParaRPr>
          </a:p>
          <a:p>
            <a:pPr algn="r" defTabSz="457200">
              <a:lnSpc>
                <a:spcPct val="100000"/>
              </a:lnSpc>
            </a:pPr>
            <a:r>
              <a:rPr b="1" lang="en-US" sz="950" spc="-1" strike="noStrike">
                <a:solidFill>
                  <a:srgbClr val="2e8b57"/>
                </a:solidFill>
                <a:latin typeface="Segoe UI"/>
              </a:rPr>
              <a:t>9,55 N·m</a:t>
            </a:r>
            <a:endParaRPr b="0" lang="en-US" sz="950" spc="-1" strike="noStrike">
              <a:solidFill>
                <a:srgbClr val="000000"/>
              </a:solidFill>
              <a:latin typeface="Arial"/>
            </a:endParaRPr>
          </a:p>
        </p:txBody>
      </p:sp>
      <p:cxnSp>
        <p:nvCxnSpPr>
          <p:cNvPr id="327" name="Connector 18"/>
          <p:cNvCxnSpPr/>
          <p:nvPr/>
        </p:nvCxnSpPr>
        <p:spPr>
          <a:xfrm flipH="1">
            <a:off x="1490400" y="2331720"/>
            <a:ext cx="110160" cy="360"/>
          </a:xfrm>
          <a:prstGeom prst="straightConnector1">
            <a:avLst/>
          </a:prstGeom>
          <a:ln w="15875">
            <a:solidFill>
              <a:srgbClr val="1c2430"/>
            </a:solidFill>
            <a:round/>
          </a:ln>
        </p:spPr>
      </p:cxnSp>
      <p:sp>
        <p:nvSpPr>
          <p:cNvPr id="328" name="TextBox 19"/>
          <p:cNvSpPr/>
          <p:nvPr/>
        </p:nvSpPr>
        <p:spPr>
          <a:xfrm>
            <a:off x="118800" y="2130480"/>
            <a:ext cx="1325520" cy="2890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950" spc="-1" strike="noStrike">
                <a:solidFill>
                  <a:srgbClr val="c0392b"/>
                </a:solidFill>
                <a:latin typeface="Segoe UI"/>
              </a:rPr>
              <a:t>T máximo</a:t>
            </a:r>
            <a:endParaRPr b="0" lang="en-US" sz="950" spc="-1" strike="noStrike">
              <a:solidFill>
                <a:srgbClr val="000000"/>
              </a:solidFill>
              <a:latin typeface="Arial"/>
            </a:endParaRPr>
          </a:p>
          <a:p>
            <a:pPr algn="r" defTabSz="457200">
              <a:lnSpc>
                <a:spcPct val="100000"/>
              </a:lnSpc>
            </a:pPr>
            <a:r>
              <a:rPr b="1" lang="en-US" sz="950" spc="-1" strike="noStrike">
                <a:solidFill>
                  <a:srgbClr val="c0392b"/>
                </a:solidFill>
                <a:latin typeface="Segoe UI"/>
              </a:rPr>
              <a:t>≈ </a:t>
            </a:r>
            <a:r>
              <a:rPr b="1" lang="en-US" sz="950" spc="-1" strike="noStrike">
                <a:solidFill>
                  <a:srgbClr val="c0392b"/>
                </a:solidFill>
                <a:latin typeface="Segoe UI"/>
              </a:rPr>
              <a:t>28,6 N·m</a:t>
            </a:r>
            <a:endParaRPr b="0" lang="en-US" sz="950" spc="-1" strike="noStrike">
              <a:solidFill>
                <a:srgbClr val="000000"/>
              </a:solidFill>
              <a:latin typeface="Arial"/>
            </a:endParaRPr>
          </a:p>
        </p:txBody>
      </p:sp>
      <p:cxnSp>
        <p:nvCxnSpPr>
          <p:cNvPr id="329" name="Connector 20"/>
          <p:cNvCxnSpPr/>
          <p:nvPr/>
        </p:nvCxnSpPr>
        <p:spPr>
          <a:xfrm>
            <a:off x="1600200" y="5577840"/>
            <a:ext cx="360" cy="91800"/>
          </a:xfrm>
          <a:prstGeom prst="straightConnector1">
            <a:avLst/>
          </a:prstGeom>
          <a:ln w="15875">
            <a:solidFill>
              <a:srgbClr val="1c2430"/>
            </a:solidFill>
            <a:round/>
          </a:ln>
        </p:spPr>
      </p:cxnSp>
      <p:sp>
        <p:nvSpPr>
          <p:cNvPr id="330" name="TextBox 21"/>
          <p:cNvSpPr/>
          <p:nvPr/>
        </p:nvSpPr>
        <p:spPr>
          <a:xfrm>
            <a:off x="1143000" y="5687640"/>
            <a:ext cx="914040" cy="1450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950" spc="-1" strike="noStrike">
                <a:solidFill>
                  <a:srgbClr val="5a6b7b"/>
                </a:solidFill>
                <a:latin typeface="Segoe UI"/>
              </a:rPr>
              <a:t>0</a:t>
            </a:r>
            <a:endParaRPr b="0" lang="en-US" sz="950" spc="-1" strike="noStrike">
              <a:solidFill>
                <a:srgbClr val="000000"/>
              </a:solidFill>
              <a:latin typeface="Arial"/>
            </a:endParaRPr>
          </a:p>
        </p:txBody>
      </p:sp>
      <p:cxnSp>
        <p:nvCxnSpPr>
          <p:cNvPr id="331" name="Connector 22"/>
          <p:cNvCxnSpPr/>
          <p:nvPr/>
        </p:nvCxnSpPr>
        <p:spPr>
          <a:xfrm>
            <a:off x="4434840" y="5577840"/>
            <a:ext cx="360" cy="91800"/>
          </a:xfrm>
          <a:prstGeom prst="straightConnector1">
            <a:avLst/>
          </a:prstGeom>
          <a:ln w="15875">
            <a:solidFill>
              <a:srgbClr val="1c2430"/>
            </a:solidFill>
            <a:round/>
          </a:ln>
        </p:spPr>
      </p:cxnSp>
      <p:sp>
        <p:nvSpPr>
          <p:cNvPr id="332" name="TextBox 23"/>
          <p:cNvSpPr/>
          <p:nvPr/>
        </p:nvSpPr>
        <p:spPr>
          <a:xfrm>
            <a:off x="3977640" y="5687640"/>
            <a:ext cx="914040" cy="1450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950" spc="-1" strike="noStrike">
                <a:solidFill>
                  <a:srgbClr val="5a6b7b"/>
                </a:solidFill>
                <a:latin typeface="Segoe UI"/>
              </a:rPr>
              <a:t>3.000</a:t>
            </a:r>
            <a:endParaRPr b="0" lang="en-US" sz="950" spc="-1" strike="noStrike">
              <a:solidFill>
                <a:srgbClr val="000000"/>
              </a:solidFill>
              <a:latin typeface="Arial"/>
            </a:endParaRPr>
          </a:p>
        </p:txBody>
      </p:sp>
      <p:cxnSp>
        <p:nvCxnSpPr>
          <p:cNvPr id="333" name="Connector 24"/>
          <p:cNvCxnSpPr/>
          <p:nvPr/>
        </p:nvCxnSpPr>
        <p:spPr>
          <a:xfrm>
            <a:off x="5908680" y="5577840"/>
            <a:ext cx="360" cy="91800"/>
          </a:xfrm>
          <a:prstGeom prst="straightConnector1">
            <a:avLst/>
          </a:prstGeom>
          <a:ln w="15875">
            <a:solidFill>
              <a:srgbClr val="1c2430"/>
            </a:solidFill>
            <a:round/>
          </a:ln>
        </p:spPr>
      </p:cxnSp>
      <p:sp>
        <p:nvSpPr>
          <p:cNvPr id="334" name="TextBox 25"/>
          <p:cNvSpPr/>
          <p:nvPr/>
        </p:nvSpPr>
        <p:spPr>
          <a:xfrm>
            <a:off x="5451480" y="5687640"/>
            <a:ext cx="914040" cy="1450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950" spc="-1" strike="noStrike">
                <a:solidFill>
                  <a:srgbClr val="5a6b7b"/>
                </a:solidFill>
                <a:latin typeface="Segoe UI"/>
              </a:rPr>
              <a:t>4.500</a:t>
            </a:r>
            <a:endParaRPr b="0" lang="en-US" sz="950" spc="-1" strike="noStrike">
              <a:solidFill>
                <a:srgbClr val="000000"/>
              </a:solidFill>
              <a:latin typeface="Arial"/>
            </a:endParaRPr>
          </a:p>
        </p:txBody>
      </p:sp>
      <p:cxnSp>
        <p:nvCxnSpPr>
          <p:cNvPr id="335" name="Connector 26"/>
          <p:cNvCxnSpPr/>
          <p:nvPr/>
        </p:nvCxnSpPr>
        <p:spPr>
          <a:xfrm>
            <a:off x="7212600" y="5577840"/>
            <a:ext cx="360" cy="91800"/>
          </a:xfrm>
          <a:prstGeom prst="straightConnector1">
            <a:avLst/>
          </a:prstGeom>
          <a:ln w="15875">
            <a:solidFill>
              <a:srgbClr val="1c2430"/>
            </a:solidFill>
            <a:round/>
          </a:ln>
        </p:spPr>
      </p:cxnSp>
      <p:sp>
        <p:nvSpPr>
          <p:cNvPr id="336" name="TextBox 27"/>
          <p:cNvSpPr/>
          <p:nvPr/>
        </p:nvSpPr>
        <p:spPr>
          <a:xfrm>
            <a:off x="6755760" y="5687640"/>
            <a:ext cx="914040" cy="1450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950" spc="-1" strike="noStrike">
                <a:solidFill>
                  <a:srgbClr val="5a6b7b"/>
                </a:solidFill>
                <a:latin typeface="Segoe UI"/>
              </a:rPr>
              <a:t>6.000</a:t>
            </a:r>
            <a:endParaRPr b="0" lang="en-US" sz="950" spc="-1" strike="noStrike">
              <a:solidFill>
                <a:srgbClr val="000000"/>
              </a:solidFill>
              <a:latin typeface="Arial"/>
            </a:endParaRPr>
          </a:p>
        </p:txBody>
      </p:sp>
      <p:sp>
        <p:nvSpPr>
          <p:cNvPr id="337" name="TextBox 28"/>
          <p:cNvSpPr/>
          <p:nvPr/>
        </p:nvSpPr>
        <p:spPr>
          <a:xfrm>
            <a:off x="4321440" y="2057400"/>
            <a:ext cx="2651400" cy="1450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950" spc="-1" strike="noStrike">
                <a:solidFill>
                  <a:srgbClr val="c0392b"/>
                </a:solidFill>
                <a:latin typeface="Segoe UI"/>
              </a:rPr>
              <a:t>↓ </a:t>
            </a:r>
            <a:r>
              <a:rPr b="1" lang="en-US" sz="950" spc="-1" strike="noStrike">
                <a:solidFill>
                  <a:srgbClr val="c0392b"/>
                </a:solidFill>
                <a:latin typeface="Segoe UI"/>
              </a:rPr>
              <a:t>el par pico cae por la f.c.e.m.</a:t>
            </a:r>
            <a:endParaRPr b="0" lang="en-US" sz="950" spc="-1" strike="noStrike">
              <a:solidFill>
                <a:srgbClr val="000000"/>
              </a:solidFill>
              <a:latin typeface="Arial"/>
            </a:endParaRPr>
          </a:p>
        </p:txBody>
      </p:sp>
      <p:sp>
        <p:nvSpPr>
          <p:cNvPr id="338" name="Rectangle 29"/>
          <p:cNvSpPr/>
          <p:nvPr/>
        </p:nvSpPr>
        <p:spPr>
          <a:xfrm>
            <a:off x="7818120" y="1600200"/>
            <a:ext cx="3840120" cy="448020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39" name="TextBox 30"/>
          <p:cNvSpPr/>
          <p:nvPr/>
        </p:nvSpPr>
        <p:spPr>
          <a:xfrm>
            <a:off x="8046720" y="1783080"/>
            <a:ext cx="338292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0b2545"/>
                </a:solidFill>
                <a:latin typeface="Segoe UI"/>
              </a:rPr>
              <a:t>Cómo usar la curva</a:t>
            </a:r>
            <a:endParaRPr b="0" lang="en-US" sz="1400" spc="-1" strike="noStrike">
              <a:solidFill>
                <a:srgbClr val="000000"/>
              </a:solidFill>
              <a:latin typeface="Arial"/>
            </a:endParaRPr>
          </a:p>
        </p:txBody>
      </p:sp>
      <p:sp>
        <p:nvSpPr>
          <p:cNvPr id="340" name="TextBox 31"/>
          <p:cNvSpPr/>
          <p:nvPr/>
        </p:nvSpPr>
        <p:spPr>
          <a:xfrm>
            <a:off x="8046720" y="2212920"/>
            <a:ext cx="3382920" cy="3148200"/>
          </a:xfrm>
          <a:prstGeom prst="rect">
            <a:avLst/>
          </a:prstGeom>
          <a:noFill/>
          <a:ln w="0">
            <a:noFill/>
          </a:ln>
        </p:spPr>
        <p:style>
          <a:lnRef idx="0"/>
          <a:fillRef idx="0"/>
          <a:effectRef idx="0"/>
          <a:fontRef idx="minor"/>
        </p:style>
        <p:txBody>
          <a:bodyPr lIns="90000" rIns="90000" tIns="45000" bIns="45000" anchor="t">
            <a:spAutoFit/>
          </a:bodyPr>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Sitúa el punto de trabajo continuo (par RMS del ciclo) dentro de la zona verde, con un margen del 20 %.</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Sitúa el punto de aceleración (par máximo instantáneo) dentro de la zona azul, con un margen del 20-30 %.</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Comprueba la velocidad máxima del ciclo: en la parte derecha el par disponible cae.</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Si el punto continuo cae en zona intermitente → el motor se queda corto: sube de tamaño o añade reducción.</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Repite la comprobación con la tensión mínima de red del emplazamiento.</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1"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42"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343"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Vocabulario esencial del servo</a:t>
            </a:r>
            <a:endParaRPr b="0" lang="en-US" sz="2500" spc="-1" strike="noStrike">
              <a:solidFill>
                <a:srgbClr val="000000"/>
              </a:solidFill>
              <a:latin typeface="Arial"/>
            </a:endParaRPr>
          </a:p>
        </p:txBody>
      </p:sp>
      <p:sp>
        <p:nvSpPr>
          <p:cNvPr id="344"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Glosario de partida (se amplía en el Módulo 13)</a:t>
            </a:r>
            <a:endParaRPr b="0" lang="en-US" sz="1250" spc="-1" strike="noStrike">
              <a:solidFill>
                <a:srgbClr val="000000"/>
              </a:solidFill>
              <a:latin typeface="Arial"/>
            </a:endParaRPr>
          </a:p>
        </p:txBody>
      </p:sp>
      <p:sp>
        <p:nvSpPr>
          <p:cNvPr id="345"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01</a:t>
            </a:r>
            <a:endParaRPr b="0" lang="en-US" sz="1100" spc="-1" strike="noStrike">
              <a:solidFill>
                <a:srgbClr val="000000"/>
              </a:solidFill>
              <a:latin typeface="Arial"/>
            </a:endParaRPr>
          </a:p>
        </p:txBody>
      </p:sp>
      <p:sp>
        <p:nvSpPr>
          <p:cNvPr id="346"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347"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16</a:t>
            </a:r>
            <a:endParaRPr b="0" lang="en-US" sz="900" spc="-1" strike="noStrike">
              <a:solidFill>
                <a:srgbClr val="000000"/>
              </a:solidFill>
              <a:latin typeface="Arial"/>
            </a:endParaRPr>
          </a:p>
        </p:txBody>
      </p:sp>
      <p:graphicFrame>
        <p:nvGraphicFramePr>
          <p:cNvPr id="348" name="Table 8"/>
          <p:cNvGraphicFramePr/>
          <p:nvPr/>
        </p:nvGraphicFramePr>
        <p:xfrm>
          <a:off x="567000" y="1481400"/>
          <a:ext cx="11057400" cy="4845960"/>
        </p:xfrm>
        <a:graphic>
          <a:graphicData uri="http://schemas.openxmlformats.org/drawingml/2006/table">
            <a:tbl>
              <a:tblPr/>
              <a:tblGrid>
                <a:gridCol w="2000880"/>
                <a:gridCol w="6318720"/>
                <a:gridCol w="2737800"/>
              </a:tblGrid>
              <a:tr h="347400">
                <a:tc>
                  <a:txBody>
                    <a:bodyPr lIns="82080" rIns="82080" tIns="27360" bIns="27360" anchor="ctr">
                      <a:noAutofit/>
                    </a:bodyPr>
                    <a:p>
                      <a:pPr defTabSz="457200">
                        <a:lnSpc>
                          <a:spcPct val="100000"/>
                        </a:lnSpc>
                      </a:pPr>
                      <a:r>
                        <a:rPr b="1" lang="en-US" sz="1050" spc="-1" strike="noStrike">
                          <a:solidFill>
                            <a:srgbClr val="ffffff"/>
                          </a:solidFill>
                          <a:latin typeface="Segoe UI"/>
                        </a:rPr>
                        <a:t>Término</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50" spc="-1" strike="noStrike">
                          <a:solidFill>
                            <a:srgbClr val="ffffff"/>
                          </a:solidFill>
                          <a:latin typeface="Segoe UI"/>
                        </a:rPr>
                        <a:t>Significado</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50" spc="-1" strike="noStrike">
                          <a:solidFill>
                            <a:srgbClr val="ffffff"/>
                          </a:solidFill>
                          <a:latin typeface="Segoe UI"/>
                        </a:rPr>
                        <a:t>Dónde aparece</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408960">
                <a:tc>
                  <a:txBody>
                    <a:bodyPr lIns="82080" rIns="82080" tIns="27360" bIns="27360" anchor="ctr">
                      <a:noAutofit/>
                    </a:bodyPr>
                    <a:p>
                      <a:pPr defTabSz="457200">
                        <a:lnSpc>
                          <a:spcPct val="100000"/>
                        </a:lnSpc>
                      </a:pPr>
                      <a:r>
                        <a:rPr b="0" lang="en-US" sz="1050" spc="-1" strike="noStrike">
                          <a:solidFill>
                            <a:srgbClr val="1c2430"/>
                          </a:solidFill>
                          <a:latin typeface="Segoe UI"/>
                        </a:rPr>
                        <a:t>SERVOPACK</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Nombre comercial YASKAWA del servoamplificador (el drive)</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Todo el curso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8960">
                <a:tc>
                  <a:txBody>
                    <a:bodyPr lIns="82080" rIns="82080" tIns="27360" bIns="27360" anchor="ctr">
                      <a:noAutofit/>
                    </a:bodyPr>
                    <a:p>
                      <a:pPr defTabSz="457200">
                        <a:lnSpc>
                          <a:spcPct val="100000"/>
                        </a:lnSpc>
                      </a:pPr>
                      <a:r>
                        <a:rPr b="0" lang="en-US" sz="1050" spc="-1" strike="noStrike">
                          <a:solidFill>
                            <a:srgbClr val="1c2430"/>
                          </a:solidFill>
                          <a:latin typeface="Segoe UI"/>
                        </a:rPr>
                        <a:t>Σ-X / Sigma-X</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Generación de la familia de servos YASKAWA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Códigos SGDX·/SGMX·</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08960">
                <a:tc>
                  <a:txBody>
                    <a:bodyPr lIns="82080" rIns="82080" tIns="27360" bIns="27360" anchor="ctr">
                      <a:noAutofit/>
                    </a:bodyPr>
                    <a:p>
                      <a:pPr defTabSz="457200">
                        <a:lnSpc>
                          <a:spcPct val="100000"/>
                        </a:lnSpc>
                      </a:pPr>
                      <a:r>
                        <a:rPr b="0" lang="en-US" sz="1050" spc="-1" strike="noStrike">
                          <a:solidFill>
                            <a:srgbClr val="1c2430"/>
                          </a:solidFill>
                          <a:latin typeface="Segoe UI"/>
                        </a:rPr>
                        <a:t>PMSM</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Motor síncrono de imanes permanentes: el servomotor</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Módulo 03</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8960">
                <a:tc>
                  <a:txBody>
                    <a:bodyPr lIns="82080" rIns="82080" tIns="27360" bIns="27360" anchor="ctr">
                      <a:noAutofit/>
                    </a:bodyPr>
                    <a:p>
                      <a:pPr defTabSz="457200">
                        <a:lnSpc>
                          <a:spcPct val="100000"/>
                        </a:lnSpc>
                      </a:pPr>
                      <a:r>
                        <a:rPr b="0" lang="en-US" sz="1050" spc="-1" strike="noStrike">
                          <a:solidFill>
                            <a:srgbClr val="1c2430"/>
                          </a:solidFill>
                          <a:latin typeface="Segoe UI"/>
                        </a:rPr>
                        <a:t>Ganancia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Cuánto corrige el drive por cada unidad de error</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Consolas"/>
                        </a:rPr>
                        <a:t>Pn100</a:t>
                      </a:r>
                      <a:r>
                        <a:rPr b="0" lang="en-US" sz="1050" spc="-1" strike="noStrike">
                          <a:solidFill>
                            <a:srgbClr val="1c2430"/>
                          </a:solidFill>
                          <a:latin typeface="Segoe UI"/>
                        </a:rPr>
                        <a:t>, </a:t>
                      </a:r>
                      <a:r>
                        <a:rPr b="0" lang="en-US" sz="1050" spc="-1" strike="noStrike">
                          <a:solidFill>
                            <a:srgbClr val="1c2430"/>
                          </a:solidFill>
                          <a:latin typeface="Consolas"/>
                        </a:rPr>
                        <a:t>Pn102</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08960">
                <a:tc>
                  <a:txBody>
                    <a:bodyPr lIns="82080" rIns="82080" tIns="27360" bIns="27360" anchor="ctr">
                      <a:noAutofit/>
                    </a:bodyPr>
                    <a:p>
                      <a:pPr defTabSz="457200">
                        <a:lnSpc>
                          <a:spcPct val="100000"/>
                        </a:lnSpc>
                      </a:pPr>
                      <a:r>
                        <a:rPr b="0" lang="en-US" sz="1050" spc="-1" strike="noStrike">
                          <a:solidFill>
                            <a:srgbClr val="1c2430"/>
                          </a:solidFill>
                          <a:latin typeface="Segoe UI"/>
                        </a:rPr>
                        <a:t>Relación de inercias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Inercia de la carga ÷ inercia del rotor</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Consolas"/>
                        </a:rPr>
                        <a:t>Pn103</a:t>
                      </a:r>
                      <a:r>
                        <a:rPr b="0" lang="en-US" sz="1050" spc="-1" strike="noStrike">
                          <a:solidFill>
                            <a:srgbClr val="1c2430"/>
                          </a:solidFill>
                          <a:latin typeface="Segoe UI"/>
                        </a:rPr>
                        <a:t>, Módulo 04</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8960">
                <a:tc>
                  <a:txBody>
                    <a:bodyPr lIns="82080" rIns="82080" tIns="27360" bIns="27360" anchor="ctr">
                      <a:noAutofit/>
                    </a:bodyPr>
                    <a:p>
                      <a:pPr defTabSz="457200">
                        <a:lnSpc>
                          <a:spcPct val="100000"/>
                        </a:lnSpc>
                      </a:pPr>
                      <a:r>
                        <a:rPr b="0" lang="en-US" sz="1050" spc="-1" strike="noStrike">
                          <a:solidFill>
                            <a:srgbClr val="1c2430"/>
                          </a:solidFill>
                          <a:latin typeface="Segoe UI"/>
                        </a:rPr>
                        <a:t>Error de seguimiento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Retraso entre consigna y posición real durante el movimiento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Consolas"/>
                        </a:rPr>
                        <a:t>Un008</a:t>
                      </a:r>
                      <a:r>
                        <a:rPr b="0" lang="en-US" sz="1050" spc="-1" strike="noStrike">
                          <a:solidFill>
                            <a:srgbClr val="1c2430"/>
                          </a:solidFill>
                          <a:latin typeface="Segoe UI"/>
                        </a:rPr>
                        <a:t>, </a:t>
                      </a:r>
                      <a:r>
                        <a:rPr b="0" lang="en-US" sz="1050" spc="-1" strike="noStrike">
                          <a:solidFill>
                            <a:srgbClr val="1c2430"/>
                          </a:solidFill>
                          <a:latin typeface="Consolas"/>
                        </a:rPr>
                        <a:t>Pn520</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08960">
                <a:tc>
                  <a:txBody>
                    <a:bodyPr lIns="82080" rIns="82080" tIns="27360" bIns="27360" anchor="ctr">
                      <a:noAutofit/>
                    </a:bodyPr>
                    <a:p>
                      <a:pPr defTabSz="457200">
                        <a:lnSpc>
                          <a:spcPct val="100000"/>
                        </a:lnSpc>
                      </a:pPr>
                      <a:r>
                        <a:rPr b="0" lang="en-US" sz="1050" spc="-1" strike="noStrike">
                          <a:solidFill>
                            <a:srgbClr val="1c2430"/>
                          </a:solidFill>
                          <a:latin typeface="Segoe UI"/>
                        </a:rPr>
                        <a:t>Ventana de posicionado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Margen dentro del cual se considera 'en posición'</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Consolas"/>
                        </a:rPr>
                        <a:t>Pn522</a:t>
                      </a:r>
                      <a:r>
                        <a:rPr b="0" lang="en-US" sz="1050" spc="-1" strike="noStrike">
                          <a:solidFill>
                            <a:srgbClr val="1c2430"/>
                          </a:solidFill>
                          <a:latin typeface="Segoe UI"/>
                        </a:rPr>
                        <a:t>, señal </a:t>
                      </a:r>
                      <a:r>
                        <a:rPr b="0" lang="en-US" sz="1050" spc="-1" strike="noStrike">
                          <a:solidFill>
                            <a:srgbClr val="1c2430"/>
                          </a:solidFill>
                          <a:latin typeface="Consolas"/>
                        </a:rPr>
                        <a:t>/COIN</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8960">
                <a:tc>
                  <a:txBody>
                    <a:bodyPr lIns="82080" rIns="82080" tIns="27360" bIns="27360" anchor="ctr">
                      <a:noAutofit/>
                    </a:bodyPr>
                    <a:p>
                      <a:pPr defTabSz="457200">
                        <a:lnSpc>
                          <a:spcPct val="100000"/>
                        </a:lnSpc>
                      </a:pPr>
                      <a:r>
                        <a:rPr b="0" lang="en-US" sz="1050" spc="-1" strike="noStrike">
                          <a:solidFill>
                            <a:srgbClr val="1c2430"/>
                          </a:solidFill>
                          <a:latin typeface="Segoe UI"/>
                        </a:rPr>
                        <a:t>Regeneración</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Energía que devuelve el motor al frenar y que el drive debe disipar</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Módulos 04 y 05</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08960">
                <a:tc>
                  <a:txBody>
                    <a:bodyPr lIns="82080" rIns="82080" tIns="27360" bIns="27360" anchor="ctr">
                      <a:noAutofit/>
                    </a:bodyPr>
                    <a:p>
                      <a:pPr defTabSz="457200">
                        <a:lnSpc>
                          <a:spcPct val="100000"/>
                        </a:lnSpc>
                      </a:pPr>
                      <a:r>
                        <a:rPr b="0" lang="en-US" sz="1050" spc="-1" strike="noStrike">
                          <a:solidFill>
                            <a:srgbClr val="1c2430"/>
                          </a:solidFill>
                          <a:latin typeface="Segoe UI"/>
                        </a:rPr>
                        <a:t>Baseblock</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Estado en que se bloquean los transistores de salida: el motor queda libre</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HWBB, Módulo 10</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8960">
                <a:tc>
                  <a:txBody>
                    <a:bodyPr lIns="82080" rIns="82080" tIns="27360" bIns="27360" anchor="ctr">
                      <a:noAutofit/>
                    </a:bodyPr>
                    <a:p>
                      <a:pPr defTabSz="457200">
                        <a:lnSpc>
                          <a:spcPct val="100000"/>
                        </a:lnSpc>
                      </a:pPr>
                      <a:r>
                        <a:rPr b="0" lang="en-US" sz="1050" spc="-1" strike="noStrike">
                          <a:solidFill>
                            <a:srgbClr val="1c2430"/>
                          </a:solidFill>
                          <a:latin typeface="Segoe UI"/>
                        </a:rPr>
                        <a:t>Autotuning</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Ajuste automático de ganancias midiendo la respuesta real</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Consolas"/>
                        </a:rPr>
                        <a:t>Fn201</a:t>
                      </a:r>
                      <a:r>
                        <a:rPr b="0" lang="en-US" sz="1050" spc="-1" strike="noStrike">
                          <a:solidFill>
                            <a:srgbClr val="1c2430"/>
                          </a:solidFill>
                          <a:latin typeface="Segoe UI"/>
                        </a:rPr>
                        <a:t>, Módulo 09</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08960">
                <a:tc>
                  <a:txBody>
                    <a:bodyPr lIns="82080" rIns="82080" tIns="27360" bIns="27360" anchor="ctr">
                      <a:noAutofit/>
                    </a:bodyPr>
                    <a:p>
                      <a:pPr defTabSz="457200">
                        <a:lnSpc>
                          <a:spcPct val="100000"/>
                        </a:lnSpc>
                      </a:pPr>
                      <a:r>
                        <a:rPr b="0" lang="en-US" sz="1050" spc="-1" strike="noStrike">
                          <a:solidFill>
                            <a:srgbClr val="1c2430"/>
                          </a:solidFill>
                          <a:latin typeface="Segoe UI"/>
                        </a:rPr>
                        <a:t>Notch</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Filtro que elimina una frecuencia concreta de resonancia mecánica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Consolas"/>
                        </a:rPr>
                        <a:t>Pn409</a:t>
                      </a:r>
                      <a:r>
                        <a:rPr b="0" lang="en-US" sz="1050" spc="-1" strike="noStrike">
                          <a:solidFill>
                            <a:srgbClr val="1c2430"/>
                          </a:solidFill>
                          <a:latin typeface="Segoe UI"/>
                        </a:rPr>
                        <a:t>, Módulo 09</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9" name="Rectangle 1"/>
          <p:cNvSpPr/>
          <p:nvPr/>
        </p:nvSpPr>
        <p:spPr>
          <a:xfrm>
            <a:off x="0" y="0"/>
            <a:ext cx="12191400" cy="68576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50" name="Rectangle 2"/>
          <p:cNvSpPr/>
          <p:nvPr/>
        </p:nvSpPr>
        <p:spPr>
          <a:xfrm>
            <a:off x="0" y="0"/>
            <a:ext cx="383760" cy="6857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51" name="TextBox 3"/>
          <p:cNvSpPr/>
          <p:nvPr/>
        </p:nvSpPr>
        <p:spPr>
          <a:xfrm>
            <a:off x="1051560" y="1234440"/>
            <a:ext cx="5486040" cy="8841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5800" spc="-1" strike="noStrike">
                <a:solidFill>
                  <a:srgbClr val="143a63"/>
                </a:solidFill>
                <a:latin typeface="Segoe UI Semibold"/>
              </a:rPr>
              <a:t>MÓDULO 02</a:t>
            </a:r>
            <a:endParaRPr b="0" lang="en-US" sz="5800" spc="-1" strike="noStrike">
              <a:solidFill>
                <a:srgbClr val="000000"/>
              </a:solidFill>
              <a:latin typeface="Arial"/>
            </a:endParaRPr>
          </a:p>
        </p:txBody>
      </p:sp>
      <p:sp>
        <p:nvSpPr>
          <p:cNvPr id="352" name="TextBox 4"/>
          <p:cNvSpPr/>
          <p:nvPr/>
        </p:nvSpPr>
        <p:spPr>
          <a:xfrm>
            <a:off x="1051560" y="2331720"/>
            <a:ext cx="9875160" cy="54396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1" lang="en-US" sz="3400" spc="-1" strike="noStrike">
                <a:solidFill>
                  <a:srgbClr val="ffffff"/>
                </a:solidFill>
                <a:latin typeface="Segoe UI Semibold"/>
              </a:rPr>
              <a:t>La familia SERVOPACK Σ-X</a:t>
            </a:r>
            <a:endParaRPr b="0" lang="en-US" sz="3400" spc="-1" strike="noStrike">
              <a:solidFill>
                <a:srgbClr val="000000"/>
              </a:solidFill>
              <a:latin typeface="Arial"/>
            </a:endParaRPr>
          </a:p>
        </p:txBody>
      </p:sp>
      <p:sp>
        <p:nvSpPr>
          <p:cNvPr id="353" name="Rectangle 5"/>
          <p:cNvSpPr/>
          <p:nvPr/>
        </p:nvSpPr>
        <p:spPr>
          <a:xfrm>
            <a:off x="1051560" y="3703320"/>
            <a:ext cx="1279800" cy="453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354" name="Rectangle 6"/>
          <p:cNvSpPr/>
          <p:nvPr/>
        </p:nvSpPr>
        <p:spPr>
          <a:xfrm>
            <a:off x="1051560" y="41468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55" name="TextBox 7"/>
          <p:cNvSpPr/>
          <p:nvPr/>
        </p:nvSpPr>
        <p:spPr>
          <a:xfrm>
            <a:off x="1325880" y="40690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De la Σ-II a la Σ-X: qué cambió y por qué importa</a:t>
            </a:r>
            <a:endParaRPr b="0" lang="en-US" sz="1350" spc="-1" strike="noStrike">
              <a:solidFill>
                <a:srgbClr val="000000"/>
              </a:solidFill>
              <a:latin typeface="Arial"/>
            </a:endParaRPr>
          </a:p>
        </p:txBody>
      </p:sp>
      <p:sp>
        <p:nvSpPr>
          <p:cNvPr id="356" name="Rectangle 8"/>
          <p:cNvSpPr/>
          <p:nvPr/>
        </p:nvSpPr>
        <p:spPr>
          <a:xfrm>
            <a:off x="1051560" y="451260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57" name="TextBox 9"/>
          <p:cNvSpPr/>
          <p:nvPr/>
        </p:nvSpPr>
        <p:spPr>
          <a:xfrm>
            <a:off x="1325880" y="443484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Las tres líneas de amplificador: SGDXS, SGDXW y SGDXT</a:t>
            </a:r>
            <a:endParaRPr b="0" lang="en-US" sz="1350" spc="-1" strike="noStrike">
              <a:solidFill>
                <a:srgbClr val="000000"/>
              </a:solidFill>
              <a:latin typeface="Arial"/>
            </a:endParaRPr>
          </a:p>
        </p:txBody>
      </p:sp>
      <p:sp>
        <p:nvSpPr>
          <p:cNvPr id="358" name="Rectangle 10"/>
          <p:cNvSpPr/>
          <p:nvPr/>
        </p:nvSpPr>
        <p:spPr>
          <a:xfrm>
            <a:off x="1051560" y="487836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59" name="TextBox 11"/>
          <p:cNvSpPr/>
          <p:nvPr/>
        </p:nvSpPr>
        <p:spPr>
          <a:xfrm>
            <a:off x="1325880" y="480060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Qué hay dentro: etapa de potencia y control</a:t>
            </a:r>
            <a:endParaRPr b="0" lang="en-US" sz="1350" spc="-1" strike="noStrike">
              <a:solidFill>
                <a:srgbClr val="000000"/>
              </a:solidFill>
              <a:latin typeface="Arial"/>
            </a:endParaRPr>
          </a:p>
        </p:txBody>
      </p:sp>
      <p:sp>
        <p:nvSpPr>
          <p:cNvPr id="360" name="Rectangle 12"/>
          <p:cNvSpPr/>
          <p:nvPr/>
        </p:nvSpPr>
        <p:spPr>
          <a:xfrm>
            <a:off x="1051560" y="524412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61" name="TextBox 13"/>
          <p:cNvSpPr/>
          <p:nvPr/>
        </p:nvSpPr>
        <p:spPr>
          <a:xfrm>
            <a:off x="1325880" y="516636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Anatomía externa: bornes, conectores y elementos de diagnóstico</a:t>
            </a:r>
            <a:endParaRPr b="0" lang="en-US" sz="1350" spc="-1" strike="noStrike">
              <a:solidFill>
                <a:srgbClr val="000000"/>
              </a:solidFill>
              <a:latin typeface="Arial"/>
            </a:endParaRPr>
          </a:p>
        </p:txBody>
      </p:sp>
      <p:sp>
        <p:nvSpPr>
          <p:cNvPr id="362" name="Rectangle 14"/>
          <p:cNvSpPr/>
          <p:nvPr/>
        </p:nvSpPr>
        <p:spPr>
          <a:xfrm>
            <a:off x="1051560" y="560988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63" name="TextBox 15"/>
          <p:cNvSpPr/>
          <p:nvPr/>
        </p:nvSpPr>
        <p:spPr>
          <a:xfrm>
            <a:off x="1325880" y="553212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Leer y escribir un código de modelo sin equivocarse</a:t>
            </a:r>
            <a:endParaRPr b="0" lang="en-US" sz="1350" spc="-1" strike="noStrike">
              <a:solidFill>
                <a:srgbClr val="000000"/>
              </a:solidFill>
              <a:latin typeface="Arial"/>
            </a:endParaRPr>
          </a:p>
        </p:txBody>
      </p:sp>
      <p:sp>
        <p:nvSpPr>
          <p:cNvPr id="364" name="Rectangle 16"/>
          <p:cNvSpPr/>
          <p:nvPr/>
        </p:nvSpPr>
        <p:spPr>
          <a:xfrm>
            <a:off x="1051560" y="59756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65" name="TextBox 17"/>
          <p:cNvSpPr/>
          <p:nvPr/>
        </p:nvSpPr>
        <p:spPr>
          <a:xfrm>
            <a:off x="1325880" y="58978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Por qué el SGDXS-200A00A es el amplificador de 3 kW</a:t>
            </a:r>
            <a:endParaRPr b="0" lang="en-US" sz="1350" spc="-1" strike="noStrike">
              <a:solidFill>
                <a:srgbClr val="000000"/>
              </a:solidFill>
              <a:latin typeface="Arial"/>
            </a:endParaRPr>
          </a:p>
        </p:txBody>
      </p:sp>
      <p:sp>
        <p:nvSpPr>
          <p:cNvPr id="366" name="TextBox 18"/>
          <p:cNvSpPr/>
          <p:nvPr/>
        </p:nvSpPr>
        <p:spPr>
          <a:xfrm>
            <a:off x="1051560" y="6172200"/>
            <a:ext cx="73148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e89b1f"/>
                </a:solidFill>
                <a:latin typeface="Segoe UI"/>
              </a:rPr>
              <a:t>Duración orientativa: 3 h</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7"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68"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369"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Evolución de la familia y qué aporta la Σ-X</a:t>
            </a:r>
            <a:endParaRPr b="0" lang="en-US" sz="2500" spc="-1" strike="noStrike">
              <a:solidFill>
                <a:srgbClr val="000000"/>
              </a:solidFill>
              <a:latin typeface="Arial"/>
            </a:endParaRPr>
          </a:p>
        </p:txBody>
      </p:sp>
      <p:sp>
        <p:nvSpPr>
          <p:cNvPr id="370"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Sigma-X: la generación que probablemente tengas delante</a:t>
            </a:r>
            <a:endParaRPr b="0" lang="en-US" sz="1250" spc="-1" strike="noStrike">
              <a:solidFill>
                <a:srgbClr val="000000"/>
              </a:solidFill>
              <a:latin typeface="Arial"/>
            </a:endParaRPr>
          </a:p>
        </p:txBody>
      </p:sp>
      <p:sp>
        <p:nvSpPr>
          <p:cNvPr id="371"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02</a:t>
            </a:r>
            <a:endParaRPr b="0" lang="en-US" sz="1100" spc="-1" strike="noStrike">
              <a:solidFill>
                <a:srgbClr val="000000"/>
              </a:solidFill>
              <a:latin typeface="Arial"/>
            </a:endParaRPr>
          </a:p>
        </p:txBody>
      </p:sp>
      <p:sp>
        <p:nvSpPr>
          <p:cNvPr id="372"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373"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18</a:t>
            </a:r>
            <a:endParaRPr b="0" lang="en-US" sz="900" spc="-1" strike="noStrike">
              <a:solidFill>
                <a:srgbClr val="000000"/>
              </a:solidFill>
              <a:latin typeface="Arial"/>
            </a:endParaRPr>
          </a:p>
        </p:txBody>
      </p:sp>
      <p:sp>
        <p:nvSpPr>
          <p:cNvPr id="374" name="Rectangle 8"/>
          <p:cNvSpPr/>
          <p:nvPr/>
        </p:nvSpPr>
        <p:spPr>
          <a:xfrm>
            <a:off x="5670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75" name="Rectangle 9"/>
          <p:cNvSpPr/>
          <p:nvPr/>
        </p:nvSpPr>
        <p:spPr>
          <a:xfrm>
            <a:off x="567000" y="1481400"/>
            <a:ext cx="5373000" cy="4201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76"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Generaciones</a:t>
            </a:r>
            <a:endParaRPr b="0" lang="en-US" sz="1350" spc="-1" strike="noStrike">
              <a:solidFill>
                <a:srgbClr val="000000"/>
              </a:solidFill>
              <a:latin typeface="Arial"/>
            </a:endParaRPr>
          </a:p>
        </p:txBody>
      </p:sp>
      <p:sp>
        <p:nvSpPr>
          <p:cNvPr id="377" name="TextBox 11"/>
          <p:cNvSpPr/>
          <p:nvPr/>
        </p:nvSpPr>
        <p:spPr>
          <a:xfrm>
            <a:off x="768240" y="2048400"/>
            <a:ext cx="4970880" cy="278172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Σ-II (SGDH) — años 2000. Encoder de 17 bits. Todavía se encuentra en máquinas antiguas.</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Σ-V (SGDV) — 2008. Encoder de 20 bits, autotuning avanzado, MECHATROLINK-II/III.</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Σ-7 (SGD7S/W/C) — 2014. Encoder de 24 bits, control por modelo de referencia y ajuste sin sintonizar.</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Σ-X (SGDXS/XW/XT) — la generación actual y la de tu equipo. Ancho de banda del lazo de velocidad de 3,5 kHz, encoders de hasta 26 bits, compensación de rizado y de fricción, y </a:t>
            </a:r>
            <a:r>
              <a:rPr b="1" lang="en-US" sz="1220" spc="-1" strike="noStrike">
                <a:solidFill>
                  <a:srgbClr val="1c2430"/>
                </a:solidFill>
                <a:latin typeface="Consolas"/>
              </a:rPr>
              <a:t>Σ-LINK II</a:t>
            </a:r>
            <a:r>
              <a:rPr b="1" lang="en-US" sz="1220" spc="-1" strike="noStrike">
                <a:solidFill>
                  <a:srgbClr val="1c2430"/>
                </a:solidFill>
                <a:latin typeface="Segoe UI"/>
              </a:rPr>
              <a:t> para conectar sensores y E/S al propio drive.</a:t>
            </a:r>
            <a:endParaRPr b="0" lang="en-US" sz="122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070" spc="-1" strike="noStrike">
                <a:solidFill>
                  <a:srgbClr val="333f4c"/>
                </a:solidFill>
                <a:latin typeface="Segoe UI"/>
              </a:rPr>
              <a:t>La lógica </a:t>
            </a:r>
            <a:r>
              <a:rPr b="0" lang="en-US" sz="1070" spc="-1" strike="noStrike">
                <a:solidFill>
                  <a:srgbClr val="333f4c"/>
                </a:solidFill>
                <a:latin typeface="Consolas"/>
              </a:rPr>
              <a:t>Pn___</a:t>
            </a:r>
            <a:r>
              <a:rPr b="0" lang="en-US" sz="1070" spc="-1" strike="noStrike">
                <a:solidFill>
                  <a:srgbClr val="333f4c"/>
                </a:solidFill>
                <a:latin typeface="Segoe UI"/>
              </a:rPr>
              <a:t> se mantiene muy parecida entre Σ-V, Σ-7 y Σ-X: quien conoce una se mueve con soltura en las otras.</a:t>
            </a:r>
            <a:endParaRPr b="0" lang="en-US" sz="1070" spc="-1" strike="noStrike">
              <a:solidFill>
                <a:srgbClr val="000000"/>
              </a:solidFill>
              <a:latin typeface="Arial"/>
            </a:endParaRPr>
          </a:p>
        </p:txBody>
      </p:sp>
      <p:sp>
        <p:nvSpPr>
          <p:cNvPr id="378" name="Rectangle 12"/>
          <p:cNvSpPr/>
          <p:nvPr/>
        </p:nvSpPr>
        <p:spPr>
          <a:xfrm>
            <a:off x="62514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79" name="Rectangle 13"/>
          <p:cNvSpPr/>
          <p:nvPr/>
        </p:nvSpPr>
        <p:spPr>
          <a:xfrm>
            <a:off x="6251400" y="1481400"/>
            <a:ext cx="5373000" cy="42012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80"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Qué gana el usuario con la Σ-X</a:t>
            </a:r>
            <a:endParaRPr b="0" lang="en-US" sz="1350" spc="-1" strike="noStrike">
              <a:solidFill>
                <a:srgbClr val="000000"/>
              </a:solidFill>
              <a:latin typeface="Arial"/>
            </a:endParaRPr>
          </a:p>
        </p:txBody>
      </p:sp>
      <p:sp>
        <p:nvSpPr>
          <p:cNvPr id="381" name="TextBox 15"/>
          <p:cNvSpPr/>
          <p:nvPr/>
        </p:nvSpPr>
        <p:spPr>
          <a:xfrm>
            <a:off x="6452640" y="2048400"/>
            <a:ext cx="4970880" cy="299088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180" spc="-1" strike="noStrike">
                <a:solidFill>
                  <a:srgbClr val="1c2430"/>
                </a:solidFill>
                <a:latin typeface="Segoe UI"/>
              </a:rPr>
              <a:t>Tiempo de puesta en marcha: el autoajuste sin parámetros previos arranca un eje razonable en minutos.</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80" spc="-1" strike="noStrike">
                <a:solidFill>
                  <a:srgbClr val="1c2430"/>
                </a:solidFill>
                <a:latin typeface="Segoe UI"/>
              </a:rPr>
              <a:t>Tiempo de posicionado menor gracias al control por modelo (Model Following Control) y a la supresión de vibración.</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80" spc="-1" strike="noStrike">
                <a:solidFill>
                  <a:srgbClr val="1c2430"/>
                </a:solidFill>
                <a:latin typeface="Segoe UI"/>
              </a:rPr>
              <a:t>Diagnóstico: registro de alarmas, monitor de vida útil de componentes y función de traza integrada.</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80" spc="-1" strike="noStrike">
                <a:solidFill>
                  <a:srgbClr val="1c2430"/>
                </a:solidFill>
                <a:latin typeface="Segoe UI"/>
              </a:rPr>
              <a:t>Seguridad funcional de serie: entradas HWBB (STO) hasta SIL 3 / PL e.</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80" spc="-1" strike="noStrike">
                <a:solidFill>
                  <a:srgbClr val="1c2430"/>
                </a:solidFill>
                <a:latin typeface="Segoe UI"/>
              </a:rPr>
              <a:t>Modo de compatibilidad con Σ-7: </a:t>
            </a:r>
            <a:r>
              <a:rPr b="1" lang="en-US" sz="1180" spc="-1" strike="noStrike">
                <a:solidFill>
                  <a:srgbClr val="1c2430"/>
                </a:solidFill>
                <a:latin typeface="Consolas"/>
              </a:rPr>
              <a:t>Pn50A = n.□□□1</a:t>
            </a:r>
            <a:r>
              <a:rPr b="1" lang="en-US" sz="1180" spc="-1" strike="noStrike">
                <a:solidFill>
                  <a:srgbClr val="1c2430"/>
                </a:solidFill>
                <a:latin typeface="Segoe UI"/>
              </a:rPr>
              <a:t> reproduce la asignación de E/S de la serie anterior, lo que facilita mucho el retrofit de una máquina existente.</a:t>
            </a:r>
            <a:endParaRPr b="0" lang="en-US" sz="118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030" spc="-1" strike="noStrike">
                <a:solidFill>
                  <a:srgbClr val="333f4c"/>
                </a:solidFill>
                <a:latin typeface="Segoe UI"/>
              </a:rPr>
              <a:t>La sustitución de un Σ-V o un Σ-7 por un Σ-X suele ser directa mecánicamente, pero </a:t>
            </a:r>
            <a:r>
              <a:rPr b="1" lang="en-US" sz="1030" spc="-1" strike="noStrike">
                <a:solidFill>
                  <a:srgbClr val="333f4c"/>
                </a:solidFill>
                <a:latin typeface="Segoe UI"/>
              </a:rPr>
              <a:t>no</a:t>
            </a:r>
            <a:r>
              <a:rPr b="0" lang="en-US" sz="1030" spc="-1" strike="noStrike">
                <a:solidFill>
                  <a:srgbClr val="333f4c"/>
                </a:solidFill>
                <a:latin typeface="Segoe UI"/>
              </a:rPr>
              <a:t> copies los parámetros a ciegas.</a:t>
            </a:r>
            <a:endParaRPr b="0" lang="en-US" sz="1030" spc="-1" strike="noStrike">
              <a:solidFill>
                <a:srgbClr val="000000"/>
              </a:solidFill>
              <a:latin typeface="Arial"/>
            </a:endParaRPr>
          </a:p>
        </p:txBody>
      </p:sp>
      <p:sp>
        <p:nvSpPr>
          <p:cNvPr id="382" name="Rectangle 16"/>
          <p:cNvSpPr/>
          <p:nvPr/>
        </p:nvSpPr>
        <p:spPr>
          <a:xfrm>
            <a:off x="567000" y="5459040"/>
            <a:ext cx="11057400" cy="86832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83" name="Rectangle 17"/>
          <p:cNvSpPr/>
          <p:nvPr/>
        </p:nvSpPr>
        <p:spPr>
          <a:xfrm>
            <a:off x="567000" y="5459040"/>
            <a:ext cx="68400" cy="86832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84" name="TextBox 18"/>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Aviso de repuestos</a:t>
            </a:r>
            <a:endParaRPr b="0" lang="en-US" sz="1200" spc="-1" strike="noStrike">
              <a:solidFill>
                <a:srgbClr val="000000"/>
              </a:solidFill>
              <a:latin typeface="Arial"/>
            </a:endParaRPr>
          </a:p>
        </p:txBody>
      </p:sp>
      <p:sp>
        <p:nvSpPr>
          <p:cNvPr id="385" name="TextBox 19"/>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No se pueden volcar sin más los parámetros de un SGDV en un SGDXS: cambian rangos, resoluciones y algunos significados de bit. Utiliza la función de conversión de SigmaWin+ y revisa después el eje completo.</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8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38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Las tres líneas de amplificador Σ-X</a:t>
            </a:r>
            <a:endParaRPr b="0" lang="en-US" sz="2500" spc="-1" strike="noStrike">
              <a:solidFill>
                <a:srgbClr val="000000"/>
              </a:solidFill>
              <a:latin typeface="Arial"/>
            </a:endParaRPr>
          </a:p>
        </p:txBody>
      </p:sp>
      <p:sp>
        <p:nvSpPr>
          <p:cNvPr id="38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Elegir la línea correcta antes de mirar la potencia</a:t>
            </a:r>
            <a:endParaRPr b="0" lang="en-US" sz="1250" spc="-1" strike="noStrike">
              <a:solidFill>
                <a:srgbClr val="000000"/>
              </a:solidFill>
              <a:latin typeface="Arial"/>
            </a:endParaRPr>
          </a:p>
        </p:txBody>
      </p:sp>
      <p:sp>
        <p:nvSpPr>
          <p:cNvPr id="39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02</a:t>
            </a:r>
            <a:endParaRPr b="0" lang="en-US" sz="1100" spc="-1" strike="noStrike">
              <a:solidFill>
                <a:srgbClr val="000000"/>
              </a:solidFill>
              <a:latin typeface="Arial"/>
            </a:endParaRPr>
          </a:p>
        </p:txBody>
      </p:sp>
      <p:sp>
        <p:nvSpPr>
          <p:cNvPr id="39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39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19</a:t>
            </a:r>
            <a:endParaRPr b="0" lang="en-US" sz="900" spc="-1" strike="noStrike">
              <a:solidFill>
                <a:srgbClr val="000000"/>
              </a:solidFill>
              <a:latin typeface="Arial"/>
            </a:endParaRPr>
          </a:p>
        </p:txBody>
      </p:sp>
      <p:sp>
        <p:nvSpPr>
          <p:cNvPr id="393" name="TextBox 8"/>
          <p:cNvSpPr/>
          <p:nvPr/>
        </p:nvSpPr>
        <p:spPr>
          <a:xfrm>
            <a:off x="567000" y="1481400"/>
            <a:ext cx="1105740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5a6b7b"/>
                </a:solidFill>
                <a:latin typeface="Segoe UI"/>
              </a:rPr>
              <a:t>Para un eje de 3 kW en una máquina con PLC o CNC externo, la elección natural es SGDXS.</a:t>
            </a:r>
            <a:endParaRPr b="0" lang="en-US" sz="1350" spc="-1" strike="noStrike">
              <a:solidFill>
                <a:srgbClr val="000000"/>
              </a:solidFill>
              <a:latin typeface="Arial"/>
            </a:endParaRPr>
          </a:p>
        </p:txBody>
      </p:sp>
      <p:sp>
        <p:nvSpPr>
          <p:cNvPr id="394" name="Rectangle 9"/>
          <p:cNvSpPr/>
          <p:nvPr/>
        </p:nvSpPr>
        <p:spPr>
          <a:xfrm>
            <a:off x="567000" y="1956960"/>
            <a:ext cx="3515040" cy="437040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95" name="Rectangle 10"/>
          <p:cNvSpPr/>
          <p:nvPr/>
        </p:nvSpPr>
        <p:spPr>
          <a:xfrm>
            <a:off x="567000" y="1956960"/>
            <a:ext cx="50040" cy="437040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96" name="TextBox 11"/>
          <p:cNvSpPr/>
          <p:nvPr/>
        </p:nvSpPr>
        <p:spPr>
          <a:xfrm>
            <a:off x="822960" y="213984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SGDXS — un eje</a:t>
            </a:r>
            <a:endParaRPr b="0" lang="en-US" sz="1400" spc="-1" strike="noStrike">
              <a:solidFill>
                <a:srgbClr val="000000"/>
              </a:solidFill>
              <a:latin typeface="Arial"/>
            </a:endParaRPr>
          </a:p>
        </p:txBody>
      </p:sp>
      <p:sp>
        <p:nvSpPr>
          <p:cNvPr id="397" name="TextBox 12"/>
          <p:cNvSpPr/>
          <p:nvPr/>
        </p:nvSpPr>
        <p:spPr>
          <a:xfrm>
            <a:off x="822960" y="2670120"/>
            <a:ext cx="3057840" cy="149580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200" spc="-1" strike="noStrike">
                <a:solidFill>
                  <a:srgbClr val="2b3644"/>
                </a:solidFill>
                <a:latin typeface="Segoe UI"/>
              </a:rPr>
              <a:t>Amplificador </a:t>
            </a:r>
            <a:r>
              <a:rPr b="1" lang="en-US" sz="1200" spc="-1" strike="noStrike">
                <a:solidFill>
                  <a:srgbClr val="2b3644"/>
                </a:solidFill>
                <a:latin typeface="Segoe UI"/>
              </a:rPr>
              <a:t>monoeje</a:t>
            </a:r>
            <a:r>
              <a:rPr b="0" lang="en-US" sz="1200" spc="-1" strike="noStrike">
                <a:solidFill>
                  <a:srgbClr val="2b3644"/>
                </a:solidFill>
                <a:latin typeface="Segoe UI"/>
              </a:rPr>
              <a:t>, el más habitual y el que usaremos en el curso.</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Cubre de 50 W a 15 kW en 200 V.</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Todas las interfaces de comando disponibles.</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Nuestro modelo: </a:t>
            </a:r>
            <a:r>
              <a:rPr b="1" lang="en-US" sz="1200" spc="-1" strike="noStrike">
                <a:solidFill>
                  <a:srgbClr val="2b3644"/>
                </a:solidFill>
                <a:latin typeface="Segoe UI"/>
              </a:rPr>
              <a:t>SGDXS-200A00A-Y3600A</a:t>
            </a:r>
            <a:r>
              <a:rPr b="0" lang="en-US" sz="1200" spc="-1" strike="noStrike">
                <a:solidFill>
                  <a:srgbClr val="2b3644"/>
                </a:solidFill>
                <a:latin typeface="Segoe UI"/>
              </a:rPr>
              <a:t> (3,0 kW).</a:t>
            </a:r>
            <a:endParaRPr b="0" lang="en-US" sz="1200" spc="-1" strike="noStrike">
              <a:solidFill>
                <a:srgbClr val="000000"/>
              </a:solidFill>
              <a:latin typeface="Arial"/>
            </a:endParaRPr>
          </a:p>
        </p:txBody>
      </p:sp>
      <p:sp>
        <p:nvSpPr>
          <p:cNvPr id="398" name="Rectangle 13"/>
          <p:cNvSpPr/>
          <p:nvPr/>
        </p:nvSpPr>
        <p:spPr>
          <a:xfrm>
            <a:off x="4338360" y="1956960"/>
            <a:ext cx="3515040" cy="4370400"/>
          </a:xfrm>
          <a:prstGeom prst="rect">
            <a:avLst/>
          </a:prstGeom>
          <a:solidFill>
            <a:srgbClr val="e0f5fa"/>
          </a:solidFill>
          <a:ln>
            <a:solidFill>
              <a:srgbClr val="00a9ce"/>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99" name="Rectangle 14"/>
          <p:cNvSpPr/>
          <p:nvPr/>
        </p:nvSpPr>
        <p:spPr>
          <a:xfrm>
            <a:off x="4338360" y="1956960"/>
            <a:ext cx="50040" cy="437040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00" name="TextBox 15"/>
          <p:cNvSpPr/>
          <p:nvPr/>
        </p:nvSpPr>
        <p:spPr>
          <a:xfrm>
            <a:off x="4594320" y="213984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SGDXW — dos ejes</a:t>
            </a:r>
            <a:endParaRPr b="0" lang="en-US" sz="1400" spc="-1" strike="noStrike">
              <a:solidFill>
                <a:srgbClr val="000000"/>
              </a:solidFill>
              <a:latin typeface="Arial"/>
            </a:endParaRPr>
          </a:p>
        </p:txBody>
      </p:sp>
      <p:sp>
        <p:nvSpPr>
          <p:cNvPr id="401" name="TextBox 16"/>
          <p:cNvSpPr/>
          <p:nvPr/>
        </p:nvSpPr>
        <p:spPr>
          <a:xfrm>
            <a:off x="4594320" y="2670120"/>
            <a:ext cx="3057840" cy="168768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200" spc="-1" strike="noStrike">
                <a:solidFill>
                  <a:srgbClr val="2b3644"/>
                </a:solidFill>
                <a:latin typeface="Segoe UI"/>
              </a:rPr>
              <a:t>Amplificador </a:t>
            </a:r>
            <a:r>
              <a:rPr b="1" lang="en-US" sz="1200" spc="-1" strike="noStrike">
                <a:solidFill>
                  <a:srgbClr val="2b3644"/>
                </a:solidFill>
                <a:latin typeface="Segoe UI"/>
              </a:rPr>
              <a:t>de dos ejes</a:t>
            </a:r>
            <a:r>
              <a:rPr b="0" lang="en-US" sz="1200" spc="-1" strike="noStrike">
                <a:solidFill>
                  <a:srgbClr val="2b3644"/>
                </a:solidFill>
                <a:latin typeface="Segoe UI"/>
              </a:rPr>
              <a:t> en un solo cuerpo.</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Ahorra espacio en el armario y comparte el bus de continua entre los dos ejes.</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Limitado a potencias medias-bajas por eje.</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Interesante en máquinas con muchos ejes pequeños.</a:t>
            </a:r>
            <a:endParaRPr b="0" lang="en-US" sz="1200" spc="-1" strike="noStrike">
              <a:solidFill>
                <a:srgbClr val="000000"/>
              </a:solidFill>
              <a:latin typeface="Arial"/>
            </a:endParaRPr>
          </a:p>
        </p:txBody>
      </p:sp>
      <p:sp>
        <p:nvSpPr>
          <p:cNvPr id="402" name="Rectangle 17"/>
          <p:cNvSpPr/>
          <p:nvPr/>
        </p:nvSpPr>
        <p:spPr>
          <a:xfrm>
            <a:off x="8109360" y="1956960"/>
            <a:ext cx="3515040" cy="4370400"/>
          </a:xfrm>
          <a:prstGeom prst="rect">
            <a:avLst/>
          </a:prstGeom>
          <a:solidFill>
            <a:srgbClr val="e4f2ea"/>
          </a:solidFill>
          <a:ln>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03" name="Rectangle 18"/>
          <p:cNvSpPr/>
          <p:nvPr/>
        </p:nvSpPr>
        <p:spPr>
          <a:xfrm>
            <a:off x="8109360" y="1956960"/>
            <a:ext cx="50040" cy="437040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04" name="TextBox 19"/>
          <p:cNvSpPr/>
          <p:nvPr/>
        </p:nvSpPr>
        <p:spPr>
          <a:xfrm>
            <a:off x="8365680" y="213984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SGDXT — tres ejes</a:t>
            </a:r>
            <a:endParaRPr b="0" lang="en-US" sz="1400" spc="-1" strike="noStrike">
              <a:solidFill>
                <a:srgbClr val="000000"/>
              </a:solidFill>
              <a:latin typeface="Arial"/>
            </a:endParaRPr>
          </a:p>
        </p:txBody>
      </p:sp>
      <p:sp>
        <p:nvSpPr>
          <p:cNvPr id="405" name="TextBox 20"/>
          <p:cNvSpPr/>
          <p:nvPr/>
        </p:nvSpPr>
        <p:spPr>
          <a:xfrm>
            <a:off x="8365680" y="2670120"/>
            <a:ext cx="3057840" cy="149580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200" spc="-1" strike="noStrike">
                <a:solidFill>
                  <a:srgbClr val="2b3644"/>
                </a:solidFill>
                <a:latin typeface="Segoe UI"/>
              </a:rPr>
              <a:t>Amplificador </a:t>
            </a:r>
            <a:r>
              <a:rPr b="1" lang="en-US" sz="1200" spc="-1" strike="noStrike">
                <a:solidFill>
                  <a:srgbClr val="2b3644"/>
                </a:solidFill>
                <a:latin typeface="Segoe UI"/>
              </a:rPr>
              <a:t>de tres ejes</a:t>
            </a:r>
            <a:r>
              <a:rPr b="0" lang="en-US" sz="1200" spc="-1" strike="noStrike">
                <a:solidFill>
                  <a:srgbClr val="2b3644"/>
                </a:solidFill>
                <a:latin typeface="Segoe UI"/>
              </a:rPr>
              <a:t> en un solo cuerpo.</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Máxima densidad por metro de armario.</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Pensado para máquinas con muchos ejes de potencia baja.</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Comparte el conector de E/S con el SGDXS: el cableado de control es familiar.</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0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40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Qué hay dentro del SERVOPACK</a:t>
            </a:r>
            <a:endParaRPr b="0" lang="en-US" sz="2500" spc="-1" strike="noStrike">
              <a:solidFill>
                <a:srgbClr val="000000"/>
              </a:solidFill>
              <a:latin typeface="Arial"/>
            </a:endParaRPr>
          </a:p>
        </p:txBody>
      </p:sp>
      <p:sp>
        <p:nvSpPr>
          <p:cNvPr id="40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De la red trifásica a la corriente controlada en el motor</a:t>
            </a:r>
            <a:endParaRPr b="0" lang="en-US" sz="1250" spc="-1" strike="noStrike">
              <a:solidFill>
                <a:srgbClr val="000000"/>
              </a:solidFill>
              <a:latin typeface="Arial"/>
            </a:endParaRPr>
          </a:p>
        </p:txBody>
      </p:sp>
      <p:sp>
        <p:nvSpPr>
          <p:cNvPr id="41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02</a:t>
            </a:r>
            <a:endParaRPr b="0" lang="en-US" sz="1100" spc="-1" strike="noStrike">
              <a:solidFill>
                <a:srgbClr val="000000"/>
              </a:solidFill>
              <a:latin typeface="Arial"/>
            </a:endParaRPr>
          </a:p>
        </p:txBody>
      </p:sp>
      <p:sp>
        <p:nvSpPr>
          <p:cNvPr id="41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41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20</a:t>
            </a:r>
            <a:endParaRPr b="0" lang="en-US" sz="900" spc="-1" strike="noStrike">
              <a:solidFill>
                <a:srgbClr val="000000"/>
              </a:solidFill>
              <a:latin typeface="Arial"/>
            </a:endParaRPr>
          </a:p>
        </p:txBody>
      </p:sp>
      <p:sp>
        <p:nvSpPr>
          <p:cNvPr id="413" name="Rounded Rectangle 8"/>
          <p:cNvSpPr/>
          <p:nvPr/>
        </p:nvSpPr>
        <p:spPr>
          <a:xfrm>
            <a:off x="594360" y="1783080"/>
            <a:ext cx="1965600" cy="1142640"/>
          </a:xfrm>
          <a:prstGeom prst="roundRect">
            <a:avLst>
              <a:gd name="adj" fmla="val 10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200" spc="-1" strike="noStrike">
                <a:solidFill>
                  <a:srgbClr val="ffffff"/>
                </a:solidFill>
                <a:latin typeface="Segoe UI"/>
              </a:rPr>
              <a:t>RED</a:t>
            </a:r>
            <a:endParaRPr b="0" lang="en-US" sz="1200" spc="-1" strike="noStrike">
              <a:solidFill>
                <a:srgbClr val="ffffff"/>
              </a:solidFill>
              <a:latin typeface="Arial"/>
            </a:endParaRPr>
          </a:p>
          <a:p>
            <a:pPr algn="ctr" defTabSz="457200">
              <a:lnSpc>
                <a:spcPct val="100000"/>
              </a:lnSpc>
            </a:pPr>
            <a:r>
              <a:rPr b="1" lang="en-US" sz="1200" spc="-1" strike="noStrike">
                <a:solidFill>
                  <a:srgbClr val="ffffff"/>
                </a:solidFill>
                <a:latin typeface="Segoe UI"/>
              </a:rPr>
              <a:t>3 × 200-240 V</a:t>
            </a:r>
            <a:endParaRPr b="0" lang="en-US" sz="1200" spc="-1" strike="noStrike">
              <a:solidFill>
                <a:srgbClr val="ffffff"/>
              </a:solidFill>
              <a:latin typeface="Arial"/>
            </a:endParaRPr>
          </a:p>
        </p:txBody>
      </p:sp>
      <p:sp>
        <p:nvSpPr>
          <p:cNvPr id="414" name="Right Arrow 9"/>
          <p:cNvSpPr/>
          <p:nvPr/>
        </p:nvSpPr>
        <p:spPr>
          <a:xfrm>
            <a:off x="2606040" y="2244960"/>
            <a:ext cx="182520" cy="21924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15" name="Rounded Rectangle 10"/>
          <p:cNvSpPr/>
          <p:nvPr/>
        </p:nvSpPr>
        <p:spPr>
          <a:xfrm>
            <a:off x="2834640" y="1783080"/>
            <a:ext cx="1965600" cy="1142640"/>
          </a:xfrm>
          <a:prstGeom prst="roundRect">
            <a:avLst>
              <a:gd name="adj" fmla="val 10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200" spc="-1" strike="noStrike">
                <a:solidFill>
                  <a:srgbClr val="ffffff"/>
                </a:solidFill>
                <a:latin typeface="Segoe UI"/>
              </a:rPr>
              <a:t>RECTIFICADOR</a:t>
            </a:r>
            <a:endParaRPr b="0" lang="en-US" sz="1200" spc="-1" strike="noStrike">
              <a:solidFill>
                <a:srgbClr val="ffffff"/>
              </a:solidFill>
              <a:latin typeface="Arial"/>
            </a:endParaRPr>
          </a:p>
          <a:p>
            <a:pPr algn="ctr" defTabSz="457200">
              <a:lnSpc>
                <a:spcPct val="100000"/>
              </a:lnSpc>
            </a:pPr>
            <a:r>
              <a:rPr b="1" lang="en-US" sz="1200" spc="-1" strike="noStrike">
                <a:solidFill>
                  <a:srgbClr val="ffffff"/>
                </a:solidFill>
                <a:latin typeface="Segoe UI"/>
              </a:rPr>
              <a:t>+ precarga</a:t>
            </a:r>
            <a:endParaRPr b="0" lang="en-US" sz="1200" spc="-1" strike="noStrike">
              <a:solidFill>
                <a:srgbClr val="ffffff"/>
              </a:solidFill>
              <a:latin typeface="Arial"/>
            </a:endParaRPr>
          </a:p>
        </p:txBody>
      </p:sp>
      <p:sp>
        <p:nvSpPr>
          <p:cNvPr id="416" name="Right Arrow 11"/>
          <p:cNvSpPr/>
          <p:nvPr/>
        </p:nvSpPr>
        <p:spPr>
          <a:xfrm>
            <a:off x="4846320" y="2244960"/>
            <a:ext cx="182520" cy="21924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17" name="Rounded Rectangle 12"/>
          <p:cNvSpPr/>
          <p:nvPr/>
        </p:nvSpPr>
        <p:spPr>
          <a:xfrm>
            <a:off x="5074920" y="1783080"/>
            <a:ext cx="1965600" cy="1142640"/>
          </a:xfrm>
          <a:prstGeom prst="roundRect">
            <a:avLst>
              <a:gd name="adj" fmla="val 10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200" spc="-1" strike="noStrike">
                <a:solidFill>
                  <a:srgbClr val="ffffff"/>
                </a:solidFill>
                <a:latin typeface="Segoe UI"/>
              </a:rPr>
              <a:t>BUS DE CONTINUA</a:t>
            </a:r>
            <a:endParaRPr b="0" lang="en-US" sz="1200" spc="-1" strike="noStrike">
              <a:solidFill>
                <a:srgbClr val="ffffff"/>
              </a:solidFill>
              <a:latin typeface="Arial"/>
            </a:endParaRPr>
          </a:p>
          <a:p>
            <a:pPr algn="ctr" defTabSz="457200">
              <a:lnSpc>
                <a:spcPct val="100000"/>
              </a:lnSpc>
            </a:pPr>
            <a:r>
              <a:rPr b="1" lang="en-US" sz="1200" spc="-1" strike="noStrike">
                <a:solidFill>
                  <a:srgbClr val="ffffff"/>
                </a:solidFill>
                <a:latin typeface="Segoe UI"/>
              </a:rPr>
              <a:t>≈ </a:t>
            </a:r>
            <a:r>
              <a:rPr b="1" lang="en-US" sz="1200" spc="-1" strike="noStrike">
                <a:solidFill>
                  <a:srgbClr val="ffffff"/>
                </a:solidFill>
                <a:latin typeface="Segoe UI"/>
              </a:rPr>
              <a:t>310 V CC</a:t>
            </a:r>
            <a:endParaRPr b="0" lang="en-US" sz="1200" spc="-1" strike="noStrike">
              <a:solidFill>
                <a:srgbClr val="ffffff"/>
              </a:solidFill>
              <a:latin typeface="Arial"/>
            </a:endParaRPr>
          </a:p>
        </p:txBody>
      </p:sp>
      <p:sp>
        <p:nvSpPr>
          <p:cNvPr id="418" name="Right Arrow 13"/>
          <p:cNvSpPr/>
          <p:nvPr/>
        </p:nvSpPr>
        <p:spPr>
          <a:xfrm>
            <a:off x="7086600" y="2244960"/>
            <a:ext cx="182520" cy="21924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19" name="Rounded Rectangle 14"/>
          <p:cNvSpPr/>
          <p:nvPr/>
        </p:nvSpPr>
        <p:spPr>
          <a:xfrm>
            <a:off x="7315200" y="1783080"/>
            <a:ext cx="1965600" cy="1142640"/>
          </a:xfrm>
          <a:prstGeom prst="roundRect">
            <a:avLst>
              <a:gd name="adj" fmla="val 10000"/>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200" spc="-1" strike="noStrike">
                <a:solidFill>
                  <a:srgbClr val="ffffff"/>
                </a:solidFill>
                <a:latin typeface="Segoe UI"/>
              </a:rPr>
              <a:t>INVERSOR IGBT</a:t>
            </a:r>
            <a:endParaRPr b="0" lang="en-US" sz="1200" spc="-1" strike="noStrike">
              <a:solidFill>
                <a:srgbClr val="ffffff"/>
              </a:solidFill>
              <a:latin typeface="Arial"/>
            </a:endParaRPr>
          </a:p>
          <a:p>
            <a:pPr algn="ctr" defTabSz="457200">
              <a:lnSpc>
                <a:spcPct val="100000"/>
              </a:lnSpc>
            </a:pPr>
            <a:r>
              <a:rPr b="1" lang="en-US" sz="1200" spc="-1" strike="noStrike">
                <a:solidFill>
                  <a:srgbClr val="ffffff"/>
                </a:solidFill>
                <a:latin typeface="Segoe UI"/>
              </a:rPr>
              <a:t>PWM senoidal</a:t>
            </a:r>
            <a:endParaRPr b="0" lang="en-US" sz="1200" spc="-1" strike="noStrike">
              <a:solidFill>
                <a:srgbClr val="ffffff"/>
              </a:solidFill>
              <a:latin typeface="Arial"/>
            </a:endParaRPr>
          </a:p>
        </p:txBody>
      </p:sp>
      <p:sp>
        <p:nvSpPr>
          <p:cNvPr id="420" name="Right Arrow 15"/>
          <p:cNvSpPr/>
          <p:nvPr/>
        </p:nvSpPr>
        <p:spPr>
          <a:xfrm>
            <a:off x="9326880" y="2244960"/>
            <a:ext cx="182520" cy="21924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21" name="Rounded Rectangle 16"/>
          <p:cNvSpPr/>
          <p:nvPr/>
        </p:nvSpPr>
        <p:spPr>
          <a:xfrm>
            <a:off x="9555480" y="1783080"/>
            <a:ext cx="1965600" cy="1142640"/>
          </a:xfrm>
          <a:prstGeom prst="roundRect">
            <a:avLst>
              <a:gd name="adj" fmla="val 10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200" spc="-1" strike="noStrike">
                <a:solidFill>
                  <a:srgbClr val="ffffff"/>
                </a:solidFill>
                <a:latin typeface="Segoe UI"/>
              </a:rPr>
              <a:t>MOTOR</a:t>
            </a:r>
            <a:endParaRPr b="0" lang="en-US" sz="1200" spc="-1" strike="noStrike">
              <a:solidFill>
                <a:srgbClr val="ffffff"/>
              </a:solidFill>
              <a:latin typeface="Arial"/>
            </a:endParaRPr>
          </a:p>
          <a:p>
            <a:pPr algn="ctr" defTabSz="457200">
              <a:lnSpc>
                <a:spcPct val="100000"/>
              </a:lnSpc>
            </a:pPr>
            <a:r>
              <a:rPr b="1" lang="en-US" sz="1200" spc="-1" strike="noStrike">
                <a:solidFill>
                  <a:srgbClr val="ffffff"/>
                </a:solidFill>
                <a:latin typeface="Segoe UI"/>
              </a:rPr>
              <a:t>SGMXA-30A</a:t>
            </a:r>
            <a:endParaRPr b="0" lang="en-US" sz="1200" spc="-1" strike="noStrike">
              <a:solidFill>
                <a:srgbClr val="ffffff"/>
              </a:solidFill>
              <a:latin typeface="Arial"/>
            </a:endParaRPr>
          </a:p>
        </p:txBody>
      </p:sp>
      <p:cxnSp>
        <p:nvCxnSpPr>
          <p:cNvPr id="422" name="Connector 17"/>
          <p:cNvCxnSpPr/>
          <p:nvPr/>
        </p:nvCxnSpPr>
        <p:spPr>
          <a:xfrm>
            <a:off x="6057720" y="2926080"/>
            <a:ext cx="360" cy="503280"/>
          </a:xfrm>
          <a:prstGeom prst="straightConnector1">
            <a:avLst/>
          </a:prstGeom>
          <a:ln w="19050">
            <a:solidFill>
              <a:srgbClr val="c0392b"/>
            </a:solidFill>
            <a:round/>
          </a:ln>
        </p:spPr>
      </p:cxnSp>
      <p:sp>
        <p:nvSpPr>
          <p:cNvPr id="423" name="Rounded Rectangle 18"/>
          <p:cNvSpPr/>
          <p:nvPr/>
        </p:nvSpPr>
        <p:spPr>
          <a:xfrm>
            <a:off x="4823640" y="3429000"/>
            <a:ext cx="2468520" cy="658080"/>
          </a:xfrm>
          <a:prstGeom prst="roundRect">
            <a:avLst>
              <a:gd name="adj" fmla="val 12000"/>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Segoe UI"/>
              </a:rPr>
              <a:t>RESISTENCIA DE</a:t>
            </a:r>
            <a:endParaRPr b="0" lang="en-US" sz="1050" spc="-1" strike="noStrike">
              <a:solidFill>
                <a:srgbClr val="ffffff"/>
              </a:solidFill>
              <a:latin typeface="Arial"/>
            </a:endParaRPr>
          </a:p>
          <a:p>
            <a:pPr algn="ctr" defTabSz="457200">
              <a:lnSpc>
                <a:spcPct val="100000"/>
              </a:lnSpc>
            </a:pPr>
            <a:r>
              <a:rPr b="1" lang="en-US" sz="1050" spc="-1" strike="noStrike">
                <a:solidFill>
                  <a:srgbClr val="ffffff"/>
                </a:solidFill>
                <a:latin typeface="Segoe UI"/>
              </a:rPr>
              <a:t>REGENERACIÓN  </a:t>
            </a:r>
            <a:r>
              <a:rPr b="1" lang="en-US" sz="1050" spc="-1" strike="noStrike">
                <a:solidFill>
                  <a:srgbClr val="ffffff"/>
                </a:solidFill>
                <a:latin typeface="Consolas"/>
              </a:rPr>
              <a:t>B1</a:t>
            </a:r>
            <a:r>
              <a:rPr b="1" lang="en-US" sz="1050" spc="-1" strike="noStrike">
                <a:solidFill>
                  <a:srgbClr val="ffffff"/>
                </a:solidFill>
                <a:latin typeface="Segoe UI"/>
              </a:rPr>
              <a:t>-</a:t>
            </a:r>
            <a:r>
              <a:rPr b="1" lang="en-US" sz="1050" spc="-1" strike="noStrike">
                <a:solidFill>
                  <a:srgbClr val="ffffff"/>
                </a:solidFill>
                <a:latin typeface="Consolas"/>
              </a:rPr>
              <a:t>B2</a:t>
            </a:r>
            <a:endParaRPr b="0" lang="en-US" sz="1050" spc="-1" strike="noStrike">
              <a:solidFill>
                <a:srgbClr val="ffffff"/>
              </a:solidFill>
              <a:latin typeface="Arial"/>
            </a:endParaRPr>
          </a:p>
        </p:txBody>
      </p:sp>
      <p:sp>
        <p:nvSpPr>
          <p:cNvPr id="424" name="TextBox 19"/>
          <p:cNvSpPr/>
          <p:nvPr/>
        </p:nvSpPr>
        <p:spPr>
          <a:xfrm>
            <a:off x="4640760" y="4160520"/>
            <a:ext cx="2834280" cy="2890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950" spc="-1" strike="noStrike">
                <a:solidFill>
                  <a:srgbClr val="5a6b7b"/>
                </a:solidFill>
                <a:latin typeface="Segoe UI"/>
              </a:rPr>
              <a:t>Quema la energía que el motor</a:t>
            </a:r>
            <a:endParaRPr b="0" lang="en-US" sz="950" spc="-1" strike="noStrike">
              <a:solidFill>
                <a:srgbClr val="000000"/>
              </a:solidFill>
              <a:latin typeface="Arial"/>
            </a:endParaRPr>
          </a:p>
          <a:p>
            <a:pPr algn="ctr" defTabSz="457200">
              <a:lnSpc>
                <a:spcPct val="100000"/>
              </a:lnSpc>
            </a:pPr>
            <a:r>
              <a:rPr b="0" lang="en-US" sz="950" spc="-1" strike="noStrike">
                <a:solidFill>
                  <a:srgbClr val="5a6b7b"/>
                </a:solidFill>
                <a:latin typeface="Segoe UI"/>
              </a:rPr>
              <a:t>devuelve al frenar</a:t>
            </a:r>
            <a:endParaRPr b="0" lang="en-US" sz="950" spc="-1" strike="noStrike">
              <a:solidFill>
                <a:srgbClr val="000000"/>
              </a:solidFill>
              <a:latin typeface="Arial"/>
            </a:endParaRPr>
          </a:p>
        </p:txBody>
      </p:sp>
      <p:cxnSp>
        <p:nvCxnSpPr>
          <p:cNvPr id="425" name="Connector 20"/>
          <p:cNvCxnSpPr/>
          <p:nvPr/>
        </p:nvCxnSpPr>
        <p:spPr>
          <a:xfrm>
            <a:off x="8298000" y="2926080"/>
            <a:ext cx="360" cy="503280"/>
          </a:xfrm>
          <a:prstGeom prst="straightConnector1">
            <a:avLst/>
          </a:prstGeom>
          <a:ln w="15875">
            <a:solidFill>
              <a:srgbClr val="5a6b7b"/>
            </a:solidFill>
            <a:prstDash val="dash"/>
            <a:round/>
          </a:ln>
        </p:spPr>
      </p:cxnSp>
      <p:sp>
        <p:nvSpPr>
          <p:cNvPr id="426" name="Rounded Rectangle 21"/>
          <p:cNvSpPr/>
          <p:nvPr/>
        </p:nvSpPr>
        <p:spPr>
          <a:xfrm>
            <a:off x="7383960" y="3429000"/>
            <a:ext cx="1828440" cy="658080"/>
          </a:xfrm>
          <a:prstGeom prst="roundRect">
            <a:avLst>
              <a:gd name="adj" fmla="val 12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Segoe UI"/>
              </a:rPr>
              <a:t>FRENO DINÁMICO</a:t>
            </a:r>
            <a:endParaRPr b="0" lang="en-US" sz="1050" spc="-1" strike="noStrike">
              <a:solidFill>
                <a:srgbClr val="ffffff"/>
              </a:solidFill>
              <a:latin typeface="Arial"/>
            </a:endParaRPr>
          </a:p>
        </p:txBody>
      </p:sp>
      <p:sp>
        <p:nvSpPr>
          <p:cNvPr id="427" name="TextBox 22"/>
          <p:cNvSpPr/>
          <p:nvPr/>
        </p:nvSpPr>
        <p:spPr>
          <a:xfrm>
            <a:off x="7155360" y="4160520"/>
            <a:ext cx="2285640" cy="2890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950" spc="-1" strike="noStrike">
                <a:solidFill>
                  <a:srgbClr val="5a6b7b"/>
                </a:solidFill>
                <a:latin typeface="Segoe UI"/>
              </a:rPr>
              <a:t>Cortocircuita las fases</a:t>
            </a:r>
            <a:endParaRPr b="0" lang="en-US" sz="950" spc="-1" strike="noStrike">
              <a:solidFill>
                <a:srgbClr val="000000"/>
              </a:solidFill>
              <a:latin typeface="Arial"/>
            </a:endParaRPr>
          </a:p>
          <a:p>
            <a:pPr algn="ctr" defTabSz="457200">
              <a:lnSpc>
                <a:spcPct val="100000"/>
              </a:lnSpc>
            </a:pPr>
            <a:r>
              <a:rPr b="0" lang="en-US" sz="950" spc="-1" strike="noStrike">
                <a:solidFill>
                  <a:srgbClr val="5a6b7b"/>
                </a:solidFill>
                <a:latin typeface="Segoe UI"/>
              </a:rPr>
              <a:t>para detener por inercia</a:t>
            </a:r>
            <a:endParaRPr b="0" lang="en-US" sz="950" spc="-1" strike="noStrike">
              <a:solidFill>
                <a:srgbClr val="000000"/>
              </a:solidFill>
              <a:latin typeface="Arial"/>
            </a:endParaRPr>
          </a:p>
        </p:txBody>
      </p:sp>
      <p:sp>
        <p:nvSpPr>
          <p:cNvPr id="428" name="Rounded Rectangle 23"/>
          <p:cNvSpPr/>
          <p:nvPr/>
        </p:nvSpPr>
        <p:spPr>
          <a:xfrm>
            <a:off x="594360" y="5120640"/>
            <a:ext cx="8183520" cy="776880"/>
          </a:xfrm>
          <a:prstGeom prst="roundRect">
            <a:avLst>
              <a:gd name="adj" fmla="val 12000"/>
            </a:avLst>
          </a:prstGeom>
          <a:solidFill>
            <a:srgbClr val="143a6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150" spc="-1" strike="noStrike">
                <a:solidFill>
                  <a:srgbClr val="ffffff"/>
                </a:solidFill>
                <a:latin typeface="Segoe UI"/>
              </a:rPr>
              <a:t>CIRCUITO DE CONTROL — lazos, parámetros, protecciones y diagnóstico   ·   alimentación propia por </a:t>
            </a:r>
            <a:r>
              <a:rPr b="1" lang="en-US" sz="1150" spc="-1" strike="noStrike">
                <a:solidFill>
                  <a:srgbClr val="ffffff"/>
                </a:solidFill>
                <a:latin typeface="Consolas"/>
              </a:rPr>
              <a:t>L1C</a:t>
            </a:r>
            <a:r>
              <a:rPr b="1" lang="en-US" sz="1150" spc="-1" strike="noStrike">
                <a:solidFill>
                  <a:srgbClr val="ffffff"/>
                </a:solidFill>
                <a:latin typeface="Segoe UI"/>
              </a:rPr>
              <a:t> / </a:t>
            </a:r>
            <a:r>
              <a:rPr b="1" lang="en-US" sz="1150" spc="-1" strike="noStrike">
                <a:solidFill>
                  <a:srgbClr val="ffffff"/>
                </a:solidFill>
                <a:latin typeface="Consolas"/>
              </a:rPr>
              <a:t>L2C</a:t>
            </a:r>
            <a:endParaRPr b="0" lang="en-US" sz="1150" spc="-1" strike="noStrike">
              <a:solidFill>
                <a:srgbClr val="ffffff"/>
              </a:solidFill>
              <a:latin typeface="Arial"/>
            </a:endParaRPr>
          </a:p>
        </p:txBody>
      </p:sp>
      <p:sp>
        <p:nvSpPr>
          <p:cNvPr id="429" name="Up Arrow 24"/>
          <p:cNvSpPr/>
          <p:nvPr/>
        </p:nvSpPr>
        <p:spPr>
          <a:xfrm>
            <a:off x="8188560" y="4645080"/>
            <a:ext cx="219240" cy="475200"/>
          </a:xfrm>
          <a:prstGeom prst="upArrow">
            <a:avLst>
              <a:gd name="adj1" fmla="val 50000"/>
              <a:gd name="adj2" fmla="val 50000"/>
            </a:avLst>
          </a:prstGeom>
          <a:solidFill>
            <a:srgbClr val="143a6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30" name="Rounded Rectangle 25"/>
          <p:cNvSpPr/>
          <p:nvPr/>
        </p:nvSpPr>
        <p:spPr>
          <a:xfrm>
            <a:off x="9006840" y="5120640"/>
            <a:ext cx="2605680" cy="776880"/>
          </a:xfrm>
          <a:prstGeom prst="roundRect">
            <a:avLst>
              <a:gd name="adj" fmla="val 12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100" spc="-1" strike="noStrike">
                <a:solidFill>
                  <a:srgbClr val="ffffff"/>
                </a:solidFill>
                <a:latin typeface="Segoe UI"/>
              </a:rPr>
              <a:t>ENCODER 24 bits → </a:t>
            </a:r>
            <a:r>
              <a:rPr b="1" lang="en-US" sz="1100" spc="-1" strike="noStrike">
                <a:solidFill>
                  <a:srgbClr val="ffffff"/>
                </a:solidFill>
                <a:latin typeface="Consolas"/>
              </a:rPr>
              <a:t>CN2</a:t>
            </a:r>
            <a:endParaRPr b="0" lang="en-US" sz="1100" spc="-1" strike="noStrike">
              <a:solidFill>
                <a:srgbClr val="ffffff"/>
              </a:solidFill>
              <a:latin typeface="Arial"/>
            </a:endParaRPr>
          </a:p>
          <a:p>
            <a:pPr algn="ctr" defTabSz="457200">
              <a:lnSpc>
                <a:spcPct val="100000"/>
              </a:lnSpc>
            </a:pPr>
            <a:r>
              <a:rPr b="1" lang="en-US" sz="1100" spc="-1" strike="noStrike">
                <a:solidFill>
                  <a:srgbClr val="ffffff"/>
                </a:solidFill>
                <a:latin typeface="Segoe UI"/>
              </a:rPr>
              <a:t>posición y velocidad reales</a:t>
            </a:r>
            <a:endParaRPr b="0" lang="en-US" sz="1100" spc="-1" strike="noStrike">
              <a:solidFill>
                <a:srgbClr val="ffffff"/>
              </a:solidFill>
              <a:latin typeface="Arial"/>
            </a:endParaRPr>
          </a:p>
        </p:txBody>
      </p:sp>
      <p:sp>
        <p:nvSpPr>
          <p:cNvPr id="431" name="Left Arrow 26"/>
          <p:cNvSpPr/>
          <p:nvPr/>
        </p:nvSpPr>
        <p:spPr>
          <a:xfrm>
            <a:off x="8796600" y="5394960"/>
            <a:ext cx="182520" cy="228240"/>
          </a:xfrm>
          <a:prstGeom prst="leftArrow">
            <a:avLst>
              <a:gd name="adj1" fmla="val 50000"/>
              <a:gd name="adj2" fmla="val 50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2"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33"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434"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Diagrama de bloques oficial del SGDXS-180A / -200A</a:t>
            </a:r>
            <a:endParaRPr b="0" lang="en-US" sz="2500" spc="-1" strike="noStrike">
              <a:solidFill>
                <a:srgbClr val="000000"/>
              </a:solidFill>
              <a:latin typeface="Arial"/>
            </a:endParaRPr>
          </a:p>
        </p:txBody>
      </p:sp>
      <p:sp>
        <p:nvSpPr>
          <p:cNvPr id="435"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El interior del amplificador, según el manual del fabricante</a:t>
            </a:r>
            <a:endParaRPr b="0" lang="en-US" sz="1250" spc="-1" strike="noStrike">
              <a:solidFill>
                <a:srgbClr val="000000"/>
              </a:solidFill>
              <a:latin typeface="Arial"/>
            </a:endParaRPr>
          </a:p>
        </p:txBody>
      </p:sp>
      <p:sp>
        <p:nvSpPr>
          <p:cNvPr id="436"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02</a:t>
            </a:r>
            <a:endParaRPr b="0" lang="en-US" sz="1100" spc="-1" strike="noStrike">
              <a:solidFill>
                <a:srgbClr val="000000"/>
              </a:solidFill>
              <a:latin typeface="Arial"/>
            </a:endParaRPr>
          </a:p>
        </p:txBody>
      </p:sp>
      <p:sp>
        <p:nvSpPr>
          <p:cNvPr id="437"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438"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21</a:t>
            </a:r>
            <a:endParaRPr b="0" lang="en-US" sz="900" spc="-1" strike="noStrike">
              <a:solidFill>
                <a:srgbClr val="000000"/>
              </a:solidFill>
              <a:latin typeface="Arial"/>
            </a:endParaRPr>
          </a:p>
        </p:txBody>
      </p:sp>
      <p:sp>
        <p:nvSpPr>
          <p:cNvPr id="439" name="Rectangle 8"/>
          <p:cNvSpPr/>
          <p:nvPr/>
        </p:nvSpPr>
        <p:spPr>
          <a:xfrm>
            <a:off x="993600" y="1426320"/>
            <a:ext cx="611244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440" name="Picture 9" descr="diagrama_bloques_200a.png"/>
          <p:cNvPicPr/>
          <p:nvPr/>
        </p:nvPicPr>
        <p:blipFill>
          <a:blip r:embed="rId1"/>
          <a:stretch/>
        </p:blipFill>
        <p:spPr>
          <a:xfrm>
            <a:off x="1048680" y="1481400"/>
            <a:ext cx="6003000" cy="4498560"/>
          </a:xfrm>
          <a:prstGeom prst="rect">
            <a:avLst/>
          </a:prstGeom>
          <a:ln w="0">
            <a:noFill/>
          </a:ln>
        </p:spPr>
      </p:pic>
      <p:sp>
        <p:nvSpPr>
          <p:cNvPr id="441"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2.2.6</a:t>
            </a:r>
            <a:endParaRPr b="0" lang="en-US" sz="850" spc="-1" strike="noStrike">
              <a:solidFill>
                <a:srgbClr val="000000"/>
              </a:solidFill>
              <a:latin typeface="Arial"/>
            </a:endParaRPr>
          </a:p>
        </p:txBody>
      </p:sp>
      <p:sp>
        <p:nvSpPr>
          <p:cNvPr id="442"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43" name="TextBox 12"/>
          <p:cNvSpPr/>
          <p:nvPr/>
        </p:nvSpPr>
        <p:spPr>
          <a:xfrm>
            <a:off x="8027280" y="1664280"/>
            <a:ext cx="3377880" cy="365940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030" spc="-1" strike="noStrike">
                <a:solidFill>
                  <a:srgbClr val="1b5ea8"/>
                </a:solidFill>
                <a:latin typeface="Segoe UI Semibold"/>
              </a:rPr>
              <a:t>Camino de la energía</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70" spc="-1" strike="noStrike">
                <a:solidFill>
                  <a:srgbClr val="1c2430"/>
                </a:solidFill>
                <a:latin typeface="Segoe UI"/>
              </a:rPr>
              <a:t>Entrada </a:t>
            </a:r>
            <a:r>
              <a:rPr b="1" lang="en-US" sz="1070" spc="-1" strike="noStrike">
                <a:solidFill>
                  <a:srgbClr val="1c2430"/>
                </a:solidFill>
                <a:latin typeface="Consolas"/>
              </a:rPr>
              <a:t>L1</a:t>
            </a:r>
            <a:r>
              <a:rPr b="1" lang="en-US" sz="1070" spc="-1" strike="noStrike">
                <a:solidFill>
                  <a:srgbClr val="1c2430"/>
                </a:solidFill>
                <a:latin typeface="Segoe UI"/>
              </a:rPr>
              <a:t> </a:t>
            </a:r>
            <a:r>
              <a:rPr b="1" lang="en-US" sz="1070" spc="-1" strike="noStrike">
                <a:solidFill>
                  <a:srgbClr val="1c2430"/>
                </a:solidFill>
                <a:latin typeface="Consolas"/>
              </a:rPr>
              <a:t>L2</a:t>
            </a:r>
            <a:r>
              <a:rPr b="1" lang="en-US" sz="1070" spc="-1" strike="noStrike">
                <a:solidFill>
                  <a:srgbClr val="1c2430"/>
                </a:solidFill>
                <a:latin typeface="Segoe UI"/>
              </a:rPr>
              <a:t> </a:t>
            </a:r>
            <a:r>
              <a:rPr b="1" lang="en-US" sz="1070" spc="-1" strike="noStrike">
                <a:solidFill>
                  <a:srgbClr val="1c2430"/>
                </a:solidFill>
                <a:latin typeface="Consolas"/>
              </a:rPr>
              <a:t>L3</a:t>
            </a:r>
            <a:r>
              <a:rPr b="1" lang="en-US" sz="1070" spc="-1" strike="noStrike">
                <a:solidFill>
                  <a:srgbClr val="1c2430"/>
                </a:solidFill>
                <a:latin typeface="Segoe UI"/>
              </a:rPr>
              <a:t> con varistor → rectificador → bus de continua con condensadores → inversor IGBT → </a:t>
            </a:r>
            <a:r>
              <a:rPr b="1" lang="en-US" sz="1070" spc="-1" strike="noStrike">
                <a:solidFill>
                  <a:srgbClr val="1c2430"/>
                </a:solidFill>
                <a:latin typeface="Consolas"/>
              </a:rPr>
              <a:t>U</a:t>
            </a:r>
            <a:r>
              <a:rPr b="1" lang="en-US" sz="1070" spc="-1" strike="noStrike">
                <a:solidFill>
                  <a:srgbClr val="1c2430"/>
                </a:solidFill>
                <a:latin typeface="Segoe UI"/>
              </a:rPr>
              <a:t> </a:t>
            </a:r>
            <a:r>
              <a:rPr b="1" lang="en-US" sz="1070" spc="-1" strike="noStrike">
                <a:solidFill>
                  <a:srgbClr val="1c2430"/>
                </a:solidFill>
                <a:latin typeface="Consolas"/>
              </a:rPr>
              <a:t>V</a:t>
            </a:r>
            <a:r>
              <a:rPr b="1" lang="en-US" sz="1070" spc="-1" strike="noStrike">
                <a:solidFill>
                  <a:srgbClr val="1c2430"/>
                </a:solidFill>
                <a:latin typeface="Segoe UI"/>
              </a:rPr>
              <a:t> </a:t>
            </a:r>
            <a:r>
              <a:rPr b="1" lang="en-US" sz="1070" spc="-1" strike="noStrike">
                <a:solidFill>
                  <a:srgbClr val="1c2430"/>
                </a:solidFill>
                <a:latin typeface="Consolas"/>
              </a:rPr>
              <a:t>W</a:t>
            </a:r>
            <a:r>
              <a:rPr b="1" lang="en-US" sz="1070" spc="-1" strike="noStrike">
                <a:solidFill>
                  <a:srgbClr val="1c2430"/>
                </a:solidFill>
                <a:latin typeface="Segoe UI"/>
              </a:rPr>
              <a:t>.</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70" spc="-1" strike="noStrike">
                <a:solidFill>
                  <a:srgbClr val="1c2430"/>
                </a:solidFill>
                <a:latin typeface="Segoe UI"/>
              </a:rPr>
              <a:t>El relé de precarga limita la corriente de arranque al cargar los condensadores.</a:t>
            </a:r>
            <a:endParaRPr b="0" lang="en-US" sz="1070" spc="-1" strike="noStrike">
              <a:solidFill>
                <a:srgbClr val="000000"/>
              </a:solidFill>
              <a:latin typeface="Arial"/>
            </a:endParaRPr>
          </a:p>
          <a:p>
            <a:pPr defTabSz="457200">
              <a:lnSpc>
                <a:spcPct val="106000"/>
              </a:lnSpc>
              <a:spcBef>
                <a:spcPts val="799"/>
              </a:spcBef>
              <a:spcAft>
                <a:spcPts val="901"/>
              </a:spcAft>
              <a:tabLst>
                <a:tab algn="l" pos="0"/>
              </a:tabLst>
            </a:pPr>
            <a:r>
              <a:rPr b="1" lang="en-US" sz="1030" spc="-1" strike="noStrike">
                <a:solidFill>
                  <a:srgbClr val="1b5ea8"/>
                </a:solidFill>
                <a:latin typeface="Segoe UI Semibold"/>
              </a:rPr>
              <a:t>Protecciones que verás en el esquema</a:t>
            </a:r>
            <a:endParaRPr b="0" lang="en-US" sz="103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20" spc="-1" strike="noStrike">
                <a:solidFill>
                  <a:srgbClr val="333f4c"/>
                </a:solidFill>
                <a:latin typeface="Segoe UI"/>
              </a:rPr>
              <a:t>Sensores de tensión en la entrada y en el bus.</a:t>
            </a:r>
            <a:endParaRPr b="0" lang="en-US" sz="92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20" spc="-1" strike="noStrike">
                <a:solidFill>
                  <a:srgbClr val="333f4c"/>
                </a:solidFill>
                <a:latin typeface="Segoe UI"/>
              </a:rPr>
              <a:t>Sensor de temperatura y protección de </a:t>
            </a:r>
            <a:r>
              <a:rPr b="1" lang="en-US" sz="920" spc="-1" strike="noStrike">
                <a:solidFill>
                  <a:srgbClr val="333f4c"/>
                </a:solidFill>
                <a:latin typeface="Segoe UI"/>
              </a:rPr>
              <a:t>sobrecalentamiento y sobrecorriente</a:t>
            </a:r>
            <a:r>
              <a:rPr b="0" lang="en-US" sz="920" spc="-1" strike="noStrike">
                <a:solidFill>
                  <a:srgbClr val="333f4c"/>
                </a:solidFill>
                <a:latin typeface="Segoe UI"/>
              </a:rPr>
              <a:t>.</a:t>
            </a:r>
            <a:endParaRPr b="0" lang="en-US" sz="92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20" spc="-1" strike="noStrike">
                <a:solidFill>
                  <a:srgbClr val="333f4c"/>
                </a:solidFill>
                <a:latin typeface="Segoe UI"/>
              </a:rPr>
              <a:t>Detector de corriente en la salida al motor.</a:t>
            </a:r>
            <a:endParaRPr b="0" lang="en-US" sz="92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1" lang="en-US" sz="920" spc="-1" strike="noStrike">
                <a:solidFill>
                  <a:srgbClr val="333f4c"/>
                </a:solidFill>
                <a:latin typeface="Segoe UI"/>
              </a:rPr>
              <a:t>Circuito de freno dinámico</a:t>
            </a:r>
            <a:r>
              <a:rPr b="0" lang="en-US" sz="920" spc="-1" strike="noStrike">
                <a:solidFill>
                  <a:srgbClr val="333f4c"/>
                </a:solidFill>
                <a:latin typeface="Segoe UI"/>
              </a:rPr>
              <a:t> en las fases del motor.</a:t>
            </a:r>
            <a:endParaRPr b="0" lang="en-US" sz="920" spc="-1" strike="noStrike">
              <a:solidFill>
                <a:srgbClr val="000000"/>
              </a:solidFill>
              <a:latin typeface="Arial"/>
            </a:endParaRPr>
          </a:p>
          <a:p>
            <a:pPr defTabSz="457200">
              <a:lnSpc>
                <a:spcPct val="106000"/>
              </a:lnSpc>
              <a:spcBef>
                <a:spcPts val="799"/>
              </a:spcBef>
              <a:spcAft>
                <a:spcPts val="901"/>
              </a:spcAft>
              <a:tabLst>
                <a:tab algn="l" pos="0"/>
              </a:tabLst>
            </a:pPr>
            <a:r>
              <a:rPr b="1" lang="en-US" sz="1030" spc="-1" strike="noStrike">
                <a:solidFill>
                  <a:srgbClr val="1b5ea8"/>
                </a:solidFill>
                <a:latin typeface="Segoe UI Semibold"/>
              </a:rPr>
              <a:t>Control</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70" spc="-1" strike="noStrike">
                <a:solidFill>
                  <a:srgbClr val="1c2430"/>
                </a:solidFill>
                <a:latin typeface="Segoe UI"/>
              </a:rPr>
              <a:t>Alimentación propia por </a:t>
            </a:r>
            <a:r>
              <a:rPr b="1" lang="en-US" sz="1070" spc="-1" strike="noStrike">
                <a:solidFill>
                  <a:srgbClr val="1c2430"/>
                </a:solidFill>
                <a:latin typeface="Consolas"/>
              </a:rPr>
              <a:t>L1C</a:t>
            </a:r>
            <a:r>
              <a:rPr b="1" lang="en-US" sz="1070" spc="-1" strike="noStrike">
                <a:solidFill>
                  <a:srgbClr val="1c2430"/>
                </a:solidFill>
                <a:latin typeface="Segoe UI"/>
              </a:rPr>
              <a:t> </a:t>
            </a:r>
            <a:r>
              <a:rPr b="1" lang="en-US" sz="1070" spc="-1" strike="noStrike">
                <a:solidFill>
                  <a:srgbClr val="1c2430"/>
                </a:solidFill>
                <a:latin typeface="Consolas"/>
              </a:rPr>
              <a:t>L2C</a:t>
            </a:r>
            <a:r>
              <a:rPr b="1" lang="en-US" sz="1070" spc="-1" strike="noStrike">
                <a:solidFill>
                  <a:srgbClr val="1c2430"/>
                </a:solidFill>
                <a:latin typeface="Segoe UI"/>
              </a:rPr>
              <a:t>, procesador de lazos y conectores </a:t>
            </a:r>
            <a:r>
              <a:rPr b="1" lang="en-US" sz="1070" spc="-1" strike="noStrike">
                <a:solidFill>
                  <a:srgbClr val="1c2430"/>
                </a:solidFill>
                <a:latin typeface="Consolas"/>
              </a:rPr>
              <a:t>CN1</a:t>
            </a:r>
            <a:r>
              <a:rPr b="1" lang="en-US" sz="1070" spc="-1" strike="noStrike">
                <a:solidFill>
                  <a:srgbClr val="1c2430"/>
                </a:solidFill>
                <a:latin typeface="Segoe UI"/>
              </a:rPr>
              <a:t>, </a:t>
            </a:r>
            <a:r>
              <a:rPr b="1" lang="en-US" sz="1070" spc="-1" strike="noStrike">
                <a:solidFill>
                  <a:srgbClr val="1c2430"/>
                </a:solidFill>
                <a:latin typeface="Consolas"/>
              </a:rPr>
              <a:t>CN2</a:t>
            </a:r>
            <a:r>
              <a:rPr b="1" lang="en-US" sz="1070" spc="-1" strike="noStrike">
                <a:solidFill>
                  <a:srgbClr val="1c2430"/>
                </a:solidFill>
                <a:latin typeface="Segoe UI"/>
              </a:rPr>
              <a:t>, </a:t>
            </a:r>
            <a:r>
              <a:rPr b="1" lang="en-US" sz="1070" spc="-1" strike="noStrike">
                <a:solidFill>
                  <a:srgbClr val="1c2430"/>
                </a:solidFill>
                <a:latin typeface="Consolas"/>
              </a:rPr>
              <a:t>CN5</a:t>
            </a:r>
            <a:r>
              <a:rPr b="1" lang="en-US" sz="1070" spc="-1" strike="noStrike">
                <a:solidFill>
                  <a:srgbClr val="1c2430"/>
                </a:solidFill>
                <a:latin typeface="Segoe UI"/>
              </a:rPr>
              <a:t>, </a:t>
            </a:r>
            <a:r>
              <a:rPr b="1" lang="en-US" sz="1070" spc="-1" strike="noStrike">
                <a:solidFill>
                  <a:srgbClr val="1c2430"/>
                </a:solidFill>
                <a:latin typeface="Consolas"/>
              </a:rPr>
              <a:t>CN8</a:t>
            </a:r>
            <a:r>
              <a:rPr b="1" lang="en-US" sz="1070" spc="-1" strike="noStrike">
                <a:solidFill>
                  <a:srgbClr val="1c2430"/>
                </a:solidFill>
                <a:latin typeface="Segoe UI"/>
              </a:rPr>
              <a:t>, </a:t>
            </a:r>
            <a:r>
              <a:rPr b="1" lang="en-US" sz="1070" spc="-1" strike="noStrike">
                <a:solidFill>
                  <a:srgbClr val="1c2430"/>
                </a:solidFill>
                <a:latin typeface="Consolas"/>
              </a:rPr>
              <a:t>CN11</a:t>
            </a:r>
            <a:r>
              <a:rPr b="1" lang="en-US" sz="1070" spc="-1" strike="noStrike">
                <a:solidFill>
                  <a:srgbClr val="1c2430"/>
                </a:solidFill>
                <a:latin typeface="Segoe UI"/>
              </a:rPr>
              <a:t> y </a:t>
            </a:r>
            <a:r>
              <a:rPr b="1" lang="en-US" sz="1070" spc="-1" strike="noStrike">
                <a:solidFill>
                  <a:srgbClr val="1c2430"/>
                </a:solidFill>
                <a:latin typeface="Consolas"/>
              </a:rPr>
              <a:t>CN12</a:t>
            </a:r>
            <a:r>
              <a:rPr b="1" lang="en-US" sz="1070" spc="-1" strike="noStrike">
                <a:solidFill>
                  <a:srgbClr val="1c2430"/>
                </a:solidFill>
                <a:latin typeface="Segoe UI"/>
              </a:rPr>
              <a:t>.</a:t>
            </a:r>
            <a:endParaRPr b="0" lang="en-US" sz="10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4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44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Anatomía del SGDXS-200A00A</a:t>
            </a:r>
            <a:endParaRPr b="0" lang="en-US" sz="2500" spc="-1" strike="noStrike">
              <a:solidFill>
                <a:srgbClr val="000000"/>
              </a:solidFill>
              <a:latin typeface="Arial"/>
            </a:endParaRPr>
          </a:p>
        </p:txBody>
      </p:sp>
      <p:sp>
        <p:nvSpPr>
          <p:cNvPr id="44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Dónde está cada cosa en el frontal del amplificador</a:t>
            </a:r>
            <a:endParaRPr b="0" lang="en-US" sz="1250" spc="-1" strike="noStrike">
              <a:solidFill>
                <a:srgbClr val="000000"/>
              </a:solidFill>
              <a:latin typeface="Arial"/>
            </a:endParaRPr>
          </a:p>
        </p:txBody>
      </p:sp>
      <p:sp>
        <p:nvSpPr>
          <p:cNvPr id="44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02</a:t>
            </a:r>
            <a:endParaRPr b="0" lang="en-US" sz="1100" spc="-1" strike="noStrike">
              <a:solidFill>
                <a:srgbClr val="000000"/>
              </a:solidFill>
              <a:latin typeface="Arial"/>
            </a:endParaRPr>
          </a:p>
        </p:txBody>
      </p:sp>
      <p:sp>
        <p:nvSpPr>
          <p:cNvPr id="44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45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22</a:t>
            </a:r>
            <a:endParaRPr b="0" lang="en-US" sz="900" spc="-1" strike="noStrike">
              <a:solidFill>
                <a:srgbClr val="000000"/>
              </a:solidFill>
              <a:latin typeface="Arial"/>
            </a:endParaRPr>
          </a:p>
        </p:txBody>
      </p:sp>
      <p:sp>
        <p:nvSpPr>
          <p:cNvPr id="451" name="Rectangle 8"/>
          <p:cNvSpPr/>
          <p:nvPr/>
        </p:nvSpPr>
        <p:spPr>
          <a:xfrm>
            <a:off x="777240" y="1600200"/>
            <a:ext cx="3200040" cy="4571640"/>
          </a:xfrm>
          <a:prstGeom prst="rect">
            <a:avLst/>
          </a:prstGeom>
          <a:solidFill>
            <a:srgbClr val="f2f5f8"/>
          </a:solidFill>
          <a:ln w="25400">
            <a:solidFill>
              <a:srgbClr val="0b254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52" name="TextBox 9"/>
          <p:cNvSpPr/>
          <p:nvPr/>
        </p:nvSpPr>
        <p:spPr>
          <a:xfrm>
            <a:off x="777240" y="1289160"/>
            <a:ext cx="3200040" cy="1602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5a6b7b"/>
                </a:solidFill>
                <a:latin typeface="Segoe UI"/>
              </a:rPr>
              <a:t>Vista frontal (esquemática)</a:t>
            </a:r>
            <a:endParaRPr b="0" lang="en-US" sz="1050" spc="-1" strike="noStrike">
              <a:solidFill>
                <a:srgbClr val="000000"/>
              </a:solidFill>
              <a:latin typeface="Arial"/>
            </a:endParaRPr>
          </a:p>
        </p:txBody>
      </p:sp>
      <p:sp>
        <p:nvSpPr>
          <p:cNvPr id="453" name="Rounded Rectangle 10"/>
          <p:cNvSpPr/>
          <p:nvPr/>
        </p:nvSpPr>
        <p:spPr>
          <a:xfrm>
            <a:off x="978480" y="1801440"/>
            <a:ext cx="2797560" cy="456840"/>
          </a:xfrm>
          <a:prstGeom prst="roundRect">
            <a:avLst>
              <a:gd name="adj" fmla="val 15000"/>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Segoe UI"/>
              </a:rPr>
              <a:t>Display + teclas de operación</a:t>
            </a:r>
            <a:endParaRPr b="0" lang="en-US" sz="1050" spc="-1" strike="noStrike">
              <a:solidFill>
                <a:srgbClr val="ffffff"/>
              </a:solidFill>
              <a:latin typeface="Arial"/>
            </a:endParaRPr>
          </a:p>
        </p:txBody>
      </p:sp>
      <p:sp>
        <p:nvSpPr>
          <p:cNvPr id="454" name="Rounded Rectangle 11"/>
          <p:cNvSpPr/>
          <p:nvPr/>
        </p:nvSpPr>
        <p:spPr>
          <a:xfrm>
            <a:off x="978480" y="2359080"/>
            <a:ext cx="2797560" cy="383760"/>
          </a:xfrm>
          <a:prstGeom prst="roundRect">
            <a:avLst>
              <a:gd name="adj" fmla="val 15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Consolas"/>
              </a:rPr>
              <a:t>CN7</a:t>
            </a:r>
            <a:r>
              <a:rPr b="1" lang="en-US" sz="1050" spc="-1" strike="noStrike">
                <a:solidFill>
                  <a:srgbClr val="ffffff"/>
                </a:solidFill>
                <a:latin typeface="Segoe UI"/>
              </a:rPr>
              <a:t> USB → SigmaWin+</a:t>
            </a:r>
            <a:endParaRPr b="0" lang="en-US" sz="1050" spc="-1" strike="noStrike">
              <a:solidFill>
                <a:srgbClr val="ffffff"/>
              </a:solidFill>
              <a:latin typeface="Arial"/>
            </a:endParaRPr>
          </a:p>
        </p:txBody>
      </p:sp>
      <p:sp>
        <p:nvSpPr>
          <p:cNvPr id="455" name="Rounded Rectangle 12"/>
          <p:cNvSpPr/>
          <p:nvPr/>
        </p:nvSpPr>
        <p:spPr>
          <a:xfrm>
            <a:off x="978480" y="2843640"/>
            <a:ext cx="2797560" cy="383760"/>
          </a:xfrm>
          <a:prstGeom prst="roundRect">
            <a:avLst>
              <a:gd name="adj" fmla="val 15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Consolas"/>
              </a:rPr>
              <a:t>CN3</a:t>
            </a:r>
            <a:r>
              <a:rPr b="1" lang="en-US" sz="1050" spc="-1" strike="noStrike">
                <a:solidFill>
                  <a:srgbClr val="ffffff"/>
                </a:solidFill>
                <a:latin typeface="Segoe UI"/>
              </a:rPr>
              <a:t> operador digital / RS-422</a:t>
            </a:r>
            <a:endParaRPr b="0" lang="en-US" sz="1050" spc="-1" strike="noStrike">
              <a:solidFill>
                <a:srgbClr val="ffffff"/>
              </a:solidFill>
              <a:latin typeface="Arial"/>
            </a:endParaRPr>
          </a:p>
        </p:txBody>
      </p:sp>
      <p:sp>
        <p:nvSpPr>
          <p:cNvPr id="456" name="Rounded Rectangle 13"/>
          <p:cNvSpPr/>
          <p:nvPr/>
        </p:nvSpPr>
        <p:spPr>
          <a:xfrm>
            <a:off x="978480" y="3328560"/>
            <a:ext cx="2797560" cy="420120"/>
          </a:xfrm>
          <a:prstGeom prst="roundRect">
            <a:avLst>
              <a:gd name="adj" fmla="val 15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Consolas"/>
              </a:rPr>
              <a:t>CN1</a:t>
            </a:r>
            <a:r>
              <a:rPr b="1" lang="en-US" sz="1050" spc="-1" strike="noStrike">
                <a:solidFill>
                  <a:srgbClr val="ffffff"/>
                </a:solidFill>
                <a:latin typeface="Segoe UI"/>
              </a:rPr>
              <a:t> E/S de control (50 pines)</a:t>
            </a:r>
            <a:endParaRPr b="0" lang="en-US" sz="1050" spc="-1" strike="noStrike">
              <a:solidFill>
                <a:srgbClr val="ffffff"/>
              </a:solidFill>
              <a:latin typeface="Arial"/>
            </a:endParaRPr>
          </a:p>
        </p:txBody>
      </p:sp>
      <p:sp>
        <p:nvSpPr>
          <p:cNvPr id="457" name="Rounded Rectangle 14"/>
          <p:cNvSpPr/>
          <p:nvPr/>
        </p:nvSpPr>
        <p:spPr>
          <a:xfrm>
            <a:off x="978480" y="3849480"/>
            <a:ext cx="2797560" cy="383760"/>
          </a:xfrm>
          <a:prstGeom prst="roundRect">
            <a:avLst>
              <a:gd name="adj" fmla="val 15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Consolas"/>
              </a:rPr>
              <a:t>CN2</a:t>
            </a:r>
            <a:r>
              <a:rPr b="1" lang="en-US" sz="1050" spc="-1" strike="noStrike">
                <a:solidFill>
                  <a:srgbClr val="ffffff"/>
                </a:solidFill>
                <a:latin typeface="Segoe UI"/>
              </a:rPr>
              <a:t> encoder del motor</a:t>
            </a:r>
            <a:endParaRPr b="0" lang="en-US" sz="1050" spc="-1" strike="noStrike">
              <a:solidFill>
                <a:srgbClr val="ffffff"/>
              </a:solidFill>
              <a:latin typeface="Arial"/>
            </a:endParaRPr>
          </a:p>
        </p:txBody>
      </p:sp>
      <p:sp>
        <p:nvSpPr>
          <p:cNvPr id="458" name="Rounded Rectangle 15"/>
          <p:cNvSpPr/>
          <p:nvPr/>
        </p:nvSpPr>
        <p:spPr>
          <a:xfrm>
            <a:off x="978480" y="4334400"/>
            <a:ext cx="2797560" cy="383760"/>
          </a:xfrm>
          <a:prstGeom prst="roundRect">
            <a:avLst>
              <a:gd name="adj" fmla="val 15000"/>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Consolas"/>
              </a:rPr>
              <a:t>CN8</a:t>
            </a:r>
            <a:r>
              <a:rPr b="1" lang="en-US" sz="1050" spc="-1" strike="noStrike">
                <a:solidFill>
                  <a:srgbClr val="ffffff"/>
                </a:solidFill>
                <a:latin typeface="Segoe UI"/>
              </a:rPr>
              <a:t> seguridad HWBB</a:t>
            </a:r>
            <a:endParaRPr b="0" lang="en-US" sz="1050" spc="-1" strike="noStrike">
              <a:solidFill>
                <a:srgbClr val="ffffff"/>
              </a:solidFill>
              <a:latin typeface="Arial"/>
            </a:endParaRPr>
          </a:p>
        </p:txBody>
      </p:sp>
      <p:sp>
        <p:nvSpPr>
          <p:cNvPr id="459" name="Rounded Rectangle 16"/>
          <p:cNvSpPr/>
          <p:nvPr/>
        </p:nvSpPr>
        <p:spPr>
          <a:xfrm>
            <a:off x="978480" y="4818960"/>
            <a:ext cx="2797560" cy="383760"/>
          </a:xfrm>
          <a:prstGeom prst="roundRect">
            <a:avLst>
              <a:gd name="adj" fmla="val 15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Consolas"/>
              </a:rPr>
              <a:t>CN5</a:t>
            </a:r>
            <a:r>
              <a:rPr b="1" lang="en-US" sz="1050" spc="-1" strike="noStrike">
                <a:solidFill>
                  <a:srgbClr val="ffffff"/>
                </a:solidFill>
                <a:latin typeface="Segoe UI"/>
              </a:rPr>
              <a:t> monitor analógico</a:t>
            </a:r>
            <a:endParaRPr b="0" lang="en-US" sz="1050" spc="-1" strike="noStrike">
              <a:solidFill>
                <a:srgbClr val="ffffff"/>
              </a:solidFill>
              <a:latin typeface="Arial"/>
            </a:endParaRPr>
          </a:p>
        </p:txBody>
      </p:sp>
      <p:sp>
        <p:nvSpPr>
          <p:cNvPr id="460" name="Rounded Rectangle 17"/>
          <p:cNvSpPr/>
          <p:nvPr/>
        </p:nvSpPr>
        <p:spPr>
          <a:xfrm>
            <a:off x="978480" y="5303520"/>
            <a:ext cx="2797560" cy="383760"/>
          </a:xfrm>
          <a:prstGeom prst="roundRect">
            <a:avLst>
              <a:gd name="adj" fmla="val 15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Consolas"/>
              </a:rPr>
              <a:t>CN11</a:t>
            </a:r>
            <a:r>
              <a:rPr b="1" lang="en-US" sz="1050" spc="-1" strike="noStrike">
                <a:solidFill>
                  <a:srgbClr val="ffffff"/>
                </a:solidFill>
                <a:latin typeface="Segoe UI"/>
              </a:rPr>
              <a:t> / </a:t>
            </a:r>
            <a:r>
              <a:rPr b="1" lang="en-US" sz="1050" spc="-1" strike="noStrike">
                <a:solidFill>
                  <a:srgbClr val="ffffff"/>
                </a:solidFill>
                <a:latin typeface="Consolas"/>
              </a:rPr>
              <a:t>CN12</a:t>
            </a:r>
            <a:r>
              <a:rPr b="1" lang="en-US" sz="1050" spc="-1" strike="noStrike">
                <a:solidFill>
                  <a:srgbClr val="ffffff"/>
                </a:solidFill>
                <a:latin typeface="Segoe UI"/>
              </a:rPr>
              <a:t> módulos opcionales</a:t>
            </a:r>
            <a:endParaRPr b="0" lang="en-US" sz="1050" spc="-1" strike="noStrike">
              <a:solidFill>
                <a:srgbClr val="ffffff"/>
              </a:solidFill>
              <a:latin typeface="Arial"/>
            </a:endParaRPr>
          </a:p>
        </p:txBody>
      </p:sp>
      <p:sp>
        <p:nvSpPr>
          <p:cNvPr id="461" name="Rectangle 18"/>
          <p:cNvSpPr/>
          <p:nvPr/>
        </p:nvSpPr>
        <p:spPr>
          <a:xfrm>
            <a:off x="4617720" y="1600200"/>
            <a:ext cx="3200040" cy="457164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62" name="TextBox 19"/>
          <p:cNvSpPr/>
          <p:nvPr/>
        </p:nvSpPr>
        <p:spPr>
          <a:xfrm>
            <a:off x="4617720" y="1289160"/>
            <a:ext cx="3200040" cy="1602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5a6b7b"/>
                </a:solidFill>
                <a:latin typeface="Segoe UI"/>
              </a:rPr>
              <a:t>Bornes de potencia</a:t>
            </a:r>
            <a:endParaRPr b="0" lang="en-US" sz="1050" spc="-1" strike="noStrike">
              <a:solidFill>
                <a:srgbClr val="000000"/>
              </a:solidFill>
              <a:latin typeface="Arial"/>
            </a:endParaRPr>
          </a:p>
        </p:txBody>
      </p:sp>
      <p:sp>
        <p:nvSpPr>
          <p:cNvPr id="463" name="Rectangle 20"/>
          <p:cNvSpPr/>
          <p:nvPr/>
        </p:nvSpPr>
        <p:spPr>
          <a:xfrm>
            <a:off x="4782240" y="1828800"/>
            <a:ext cx="2871000" cy="6213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64" name="Rectangle 21"/>
          <p:cNvSpPr/>
          <p:nvPr/>
        </p:nvSpPr>
        <p:spPr>
          <a:xfrm>
            <a:off x="4782240" y="1828800"/>
            <a:ext cx="63720" cy="6213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65" name="TextBox 22"/>
          <p:cNvSpPr/>
          <p:nvPr/>
        </p:nvSpPr>
        <p:spPr>
          <a:xfrm>
            <a:off x="4965120" y="1901880"/>
            <a:ext cx="26330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Consolas"/>
              </a:rPr>
              <a:t>L1</a:t>
            </a:r>
            <a:r>
              <a:rPr b="1" lang="en-US" sz="1100" spc="-1" strike="noStrike">
                <a:solidFill>
                  <a:srgbClr val="0b2545"/>
                </a:solidFill>
                <a:latin typeface="Segoe UI"/>
              </a:rPr>
              <a:t> </a:t>
            </a:r>
            <a:r>
              <a:rPr b="1" lang="en-US" sz="1100" spc="-1" strike="noStrike">
                <a:solidFill>
                  <a:srgbClr val="0b2545"/>
                </a:solidFill>
                <a:latin typeface="Consolas"/>
              </a:rPr>
              <a:t>L2</a:t>
            </a:r>
            <a:r>
              <a:rPr b="1" lang="en-US" sz="1100" spc="-1" strike="noStrike">
                <a:solidFill>
                  <a:srgbClr val="0b2545"/>
                </a:solidFill>
                <a:latin typeface="Segoe UI"/>
              </a:rPr>
              <a:t> </a:t>
            </a:r>
            <a:r>
              <a:rPr b="1" lang="en-US" sz="1100" spc="-1" strike="noStrike">
                <a:solidFill>
                  <a:srgbClr val="0b2545"/>
                </a:solidFill>
                <a:latin typeface="Consolas"/>
              </a:rPr>
              <a:t>L3</a:t>
            </a:r>
            <a:endParaRPr b="0" lang="en-US" sz="1100" spc="-1" strike="noStrike">
              <a:solidFill>
                <a:srgbClr val="000000"/>
              </a:solidFill>
              <a:latin typeface="Arial"/>
            </a:endParaRPr>
          </a:p>
        </p:txBody>
      </p:sp>
      <p:sp>
        <p:nvSpPr>
          <p:cNvPr id="466" name="TextBox 23"/>
          <p:cNvSpPr/>
          <p:nvPr/>
        </p:nvSpPr>
        <p:spPr>
          <a:xfrm>
            <a:off x="4965120" y="2157840"/>
            <a:ext cx="263304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Entrada trifásica 200-240 V</a:t>
            </a:r>
            <a:endParaRPr b="0" lang="en-US" sz="950" spc="-1" strike="noStrike">
              <a:solidFill>
                <a:srgbClr val="000000"/>
              </a:solidFill>
              <a:latin typeface="Arial"/>
            </a:endParaRPr>
          </a:p>
        </p:txBody>
      </p:sp>
      <p:sp>
        <p:nvSpPr>
          <p:cNvPr id="467" name="Rectangle 24"/>
          <p:cNvSpPr/>
          <p:nvPr/>
        </p:nvSpPr>
        <p:spPr>
          <a:xfrm>
            <a:off x="4782240" y="2551320"/>
            <a:ext cx="2871000" cy="6213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68" name="Rectangle 25"/>
          <p:cNvSpPr/>
          <p:nvPr/>
        </p:nvSpPr>
        <p:spPr>
          <a:xfrm>
            <a:off x="4782240" y="2551320"/>
            <a:ext cx="63720" cy="621360"/>
          </a:xfrm>
          <a:prstGeom prst="rect">
            <a:avLst/>
          </a:prstGeom>
          <a:solidFill>
            <a:srgbClr val="143a6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69" name="TextBox 26"/>
          <p:cNvSpPr/>
          <p:nvPr/>
        </p:nvSpPr>
        <p:spPr>
          <a:xfrm>
            <a:off x="4965120" y="2624400"/>
            <a:ext cx="26330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143a63"/>
                </a:solidFill>
                <a:latin typeface="Consolas"/>
              </a:rPr>
              <a:t>L1C</a:t>
            </a:r>
            <a:r>
              <a:rPr b="1" lang="en-US" sz="1100" spc="-1" strike="noStrike">
                <a:solidFill>
                  <a:srgbClr val="143a63"/>
                </a:solidFill>
                <a:latin typeface="Segoe UI"/>
              </a:rPr>
              <a:t> </a:t>
            </a:r>
            <a:r>
              <a:rPr b="1" lang="en-US" sz="1100" spc="-1" strike="noStrike">
                <a:solidFill>
                  <a:srgbClr val="143a63"/>
                </a:solidFill>
                <a:latin typeface="Consolas"/>
              </a:rPr>
              <a:t>L2C</a:t>
            </a:r>
            <a:endParaRPr b="0" lang="en-US" sz="1100" spc="-1" strike="noStrike">
              <a:solidFill>
                <a:srgbClr val="000000"/>
              </a:solidFill>
              <a:latin typeface="Arial"/>
            </a:endParaRPr>
          </a:p>
        </p:txBody>
      </p:sp>
      <p:sp>
        <p:nvSpPr>
          <p:cNvPr id="470" name="TextBox 27"/>
          <p:cNvSpPr/>
          <p:nvPr/>
        </p:nvSpPr>
        <p:spPr>
          <a:xfrm>
            <a:off x="4965120" y="2880360"/>
            <a:ext cx="263304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Alimentación del control (monofásica)</a:t>
            </a:r>
            <a:endParaRPr b="0" lang="en-US" sz="950" spc="-1" strike="noStrike">
              <a:solidFill>
                <a:srgbClr val="000000"/>
              </a:solidFill>
              <a:latin typeface="Arial"/>
            </a:endParaRPr>
          </a:p>
        </p:txBody>
      </p:sp>
      <p:sp>
        <p:nvSpPr>
          <p:cNvPr id="471" name="Rectangle 28"/>
          <p:cNvSpPr/>
          <p:nvPr/>
        </p:nvSpPr>
        <p:spPr>
          <a:xfrm>
            <a:off x="4782240" y="3273480"/>
            <a:ext cx="2871000" cy="6213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72" name="Rectangle 29"/>
          <p:cNvSpPr/>
          <p:nvPr/>
        </p:nvSpPr>
        <p:spPr>
          <a:xfrm>
            <a:off x="4782240" y="3273480"/>
            <a:ext cx="63720" cy="62136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73" name="TextBox 30"/>
          <p:cNvSpPr/>
          <p:nvPr/>
        </p:nvSpPr>
        <p:spPr>
          <a:xfrm>
            <a:off x="4965120" y="3346560"/>
            <a:ext cx="26330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c0392b"/>
                </a:solidFill>
                <a:latin typeface="Consolas"/>
              </a:rPr>
              <a:t>B1/⊕</a:t>
            </a:r>
            <a:r>
              <a:rPr b="1" lang="en-US" sz="1100" spc="-1" strike="noStrike">
                <a:solidFill>
                  <a:srgbClr val="c0392b"/>
                </a:solidFill>
                <a:latin typeface="Segoe UI"/>
              </a:rPr>
              <a:t> </a:t>
            </a:r>
            <a:r>
              <a:rPr b="1" lang="en-US" sz="1100" spc="-1" strike="noStrike">
                <a:solidFill>
                  <a:srgbClr val="c0392b"/>
                </a:solidFill>
                <a:latin typeface="Consolas"/>
              </a:rPr>
              <a:t>B2</a:t>
            </a:r>
            <a:r>
              <a:rPr b="1" lang="en-US" sz="1100" spc="-1" strike="noStrike">
                <a:solidFill>
                  <a:srgbClr val="c0392b"/>
                </a:solidFill>
                <a:latin typeface="Segoe UI"/>
              </a:rPr>
              <a:t> </a:t>
            </a:r>
            <a:r>
              <a:rPr b="1" lang="en-US" sz="1100" spc="-1" strike="noStrike">
                <a:solidFill>
                  <a:srgbClr val="c0392b"/>
                </a:solidFill>
                <a:latin typeface="Consolas"/>
              </a:rPr>
              <a:t>B3</a:t>
            </a:r>
            <a:endParaRPr b="0" lang="en-US" sz="1100" spc="-1" strike="noStrike">
              <a:solidFill>
                <a:srgbClr val="000000"/>
              </a:solidFill>
              <a:latin typeface="Arial"/>
            </a:endParaRPr>
          </a:p>
        </p:txBody>
      </p:sp>
      <p:sp>
        <p:nvSpPr>
          <p:cNvPr id="474" name="TextBox 31"/>
          <p:cNvSpPr/>
          <p:nvPr/>
        </p:nvSpPr>
        <p:spPr>
          <a:xfrm>
            <a:off x="4965120" y="3602880"/>
            <a:ext cx="263304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Resistencia de regeneración</a:t>
            </a:r>
            <a:endParaRPr b="0" lang="en-US" sz="950" spc="-1" strike="noStrike">
              <a:solidFill>
                <a:srgbClr val="000000"/>
              </a:solidFill>
              <a:latin typeface="Arial"/>
            </a:endParaRPr>
          </a:p>
        </p:txBody>
      </p:sp>
      <p:sp>
        <p:nvSpPr>
          <p:cNvPr id="475" name="Rectangle 32"/>
          <p:cNvSpPr/>
          <p:nvPr/>
        </p:nvSpPr>
        <p:spPr>
          <a:xfrm>
            <a:off x="4782240" y="3996000"/>
            <a:ext cx="2871000" cy="6213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76" name="Rectangle 33"/>
          <p:cNvSpPr/>
          <p:nvPr/>
        </p:nvSpPr>
        <p:spPr>
          <a:xfrm>
            <a:off x="4782240" y="3996000"/>
            <a:ext cx="63720" cy="621360"/>
          </a:xfrm>
          <a:prstGeom prst="rect">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77" name="TextBox 34"/>
          <p:cNvSpPr/>
          <p:nvPr/>
        </p:nvSpPr>
        <p:spPr>
          <a:xfrm>
            <a:off x="4965120" y="4069080"/>
            <a:ext cx="26330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5a6b7b"/>
                </a:solidFill>
                <a:latin typeface="Consolas"/>
              </a:rPr>
              <a:t>⊖</a:t>
            </a:r>
            <a:r>
              <a:rPr b="1" lang="en-US" sz="1100" spc="-1" strike="noStrike">
                <a:solidFill>
                  <a:srgbClr val="5a6b7b"/>
                </a:solidFill>
                <a:latin typeface="Consolas"/>
              </a:rPr>
              <a:t>1</a:t>
            </a:r>
            <a:r>
              <a:rPr b="1" lang="en-US" sz="1100" spc="-1" strike="noStrike">
                <a:solidFill>
                  <a:srgbClr val="5a6b7b"/>
                </a:solidFill>
                <a:latin typeface="Segoe UI"/>
              </a:rPr>
              <a:t> </a:t>
            </a:r>
            <a:r>
              <a:rPr b="1" lang="en-US" sz="1100" spc="-1" strike="noStrike">
                <a:solidFill>
                  <a:srgbClr val="5a6b7b"/>
                </a:solidFill>
                <a:latin typeface="Consolas"/>
              </a:rPr>
              <a:t>⊖2</a:t>
            </a:r>
            <a:endParaRPr b="0" lang="en-US" sz="1100" spc="-1" strike="noStrike">
              <a:solidFill>
                <a:srgbClr val="000000"/>
              </a:solidFill>
              <a:latin typeface="Arial"/>
            </a:endParaRPr>
          </a:p>
        </p:txBody>
      </p:sp>
      <p:sp>
        <p:nvSpPr>
          <p:cNvPr id="478" name="TextBox 35"/>
          <p:cNvSpPr/>
          <p:nvPr/>
        </p:nvSpPr>
        <p:spPr>
          <a:xfrm>
            <a:off x="4965120" y="4325040"/>
            <a:ext cx="263304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Bus de continua (negativo)</a:t>
            </a:r>
            <a:endParaRPr b="0" lang="en-US" sz="950" spc="-1" strike="noStrike">
              <a:solidFill>
                <a:srgbClr val="000000"/>
              </a:solidFill>
              <a:latin typeface="Arial"/>
            </a:endParaRPr>
          </a:p>
        </p:txBody>
      </p:sp>
      <p:sp>
        <p:nvSpPr>
          <p:cNvPr id="479" name="Rectangle 36"/>
          <p:cNvSpPr/>
          <p:nvPr/>
        </p:nvSpPr>
        <p:spPr>
          <a:xfrm>
            <a:off x="4782240" y="4718160"/>
            <a:ext cx="2871000" cy="6213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80" name="Rectangle 37"/>
          <p:cNvSpPr/>
          <p:nvPr/>
        </p:nvSpPr>
        <p:spPr>
          <a:xfrm>
            <a:off x="4782240" y="4718160"/>
            <a:ext cx="63720" cy="62136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81" name="TextBox 38"/>
          <p:cNvSpPr/>
          <p:nvPr/>
        </p:nvSpPr>
        <p:spPr>
          <a:xfrm>
            <a:off x="4965120" y="4791600"/>
            <a:ext cx="26330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0a9ce"/>
                </a:solidFill>
                <a:latin typeface="Consolas"/>
              </a:rPr>
              <a:t>U</a:t>
            </a:r>
            <a:r>
              <a:rPr b="1" lang="en-US" sz="1100" spc="-1" strike="noStrike">
                <a:solidFill>
                  <a:srgbClr val="00a9ce"/>
                </a:solidFill>
                <a:latin typeface="Segoe UI"/>
              </a:rPr>
              <a:t> </a:t>
            </a:r>
            <a:r>
              <a:rPr b="1" lang="en-US" sz="1100" spc="-1" strike="noStrike">
                <a:solidFill>
                  <a:srgbClr val="00a9ce"/>
                </a:solidFill>
                <a:latin typeface="Consolas"/>
              </a:rPr>
              <a:t>V</a:t>
            </a:r>
            <a:r>
              <a:rPr b="1" lang="en-US" sz="1100" spc="-1" strike="noStrike">
                <a:solidFill>
                  <a:srgbClr val="00a9ce"/>
                </a:solidFill>
                <a:latin typeface="Segoe UI"/>
              </a:rPr>
              <a:t> </a:t>
            </a:r>
            <a:r>
              <a:rPr b="1" lang="en-US" sz="1100" spc="-1" strike="noStrike">
                <a:solidFill>
                  <a:srgbClr val="00a9ce"/>
                </a:solidFill>
                <a:latin typeface="Consolas"/>
              </a:rPr>
              <a:t>W</a:t>
            </a:r>
            <a:endParaRPr b="0" lang="en-US" sz="1100" spc="-1" strike="noStrike">
              <a:solidFill>
                <a:srgbClr val="000000"/>
              </a:solidFill>
              <a:latin typeface="Arial"/>
            </a:endParaRPr>
          </a:p>
        </p:txBody>
      </p:sp>
      <p:sp>
        <p:nvSpPr>
          <p:cNvPr id="482" name="TextBox 39"/>
          <p:cNvSpPr/>
          <p:nvPr/>
        </p:nvSpPr>
        <p:spPr>
          <a:xfrm>
            <a:off x="4965120" y="5047560"/>
            <a:ext cx="263304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Salida al motor — ¡respetar el orden!</a:t>
            </a:r>
            <a:endParaRPr b="0" lang="en-US" sz="950" spc="-1" strike="noStrike">
              <a:solidFill>
                <a:srgbClr val="000000"/>
              </a:solidFill>
              <a:latin typeface="Arial"/>
            </a:endParaRPr>
          </a:p>
        </p:txBody>
      </p:sp>
      <p:sp>
        <p:nvSpPr>
          <p:cNvPr id="483" name="Rectangle 40"/>
          <p:cNvSpPr/>
          <p:nvPr/>
        </p:nvSpPr>
        <p:spPr>
          <a:xfrm>
            <a:off x="4782240" y="5440680"/>
            <a:ext cx="2871000" cy="6213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84" name="Rectangle 41"/>
          <p:cNvSpPr/>
          <p:nvPr/>
        </p:nvSpPr>
        <p:spPr>
          <a:xfrm>
            <a:off x="4782240" y="5440680"/>
            <a:ext cx="63720" cy="62136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85" name="TextBox 42"/>
          <p:cNvSpPr/>
          <p:nvPr/>
        </p:nvSpPr>
        <p:spPr>
          <a:xfrm>
            <a:off x="4965120" y="5513760"/>
            <a:ext cx="26330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2e8b57"/>
                </a:solidFill>
                <a:latin typeface="Segoe UI"/>
              </a:rPr>
              <a:t>⏚ </a:t>
            </a:r>
            <a:r>
              <a:rPr b="1" lang="en-US" sz="1100" spc="-1" strike="noStrike">
                <a:solidFill>
                  <a:srgbClr val="2e8b57"/>
                </a:solidFill>
                <a:latin typeface="Segoe UI"/>
              </a:rPr>
              <a:t>Tierra</a:t>
            </a:r>
            <a:endParaRPr b="0" lang="en-US" sz="1100" spc="-1" strike="noStrike">
              <a:solidFill>
                <a:srgbClr val="000000"/>
              </a:solidFill>
              <a:latin typeface="Arial"/>
            </a:endParaRPr>
          </a:p>
        </p:txBody>
      </p:sp>
      <p:sp>
        <p:nvSpPr>
          <p:cNvPr id="486" name="TextBox 43"/>
          <p:cNvSpPr/>
          <p:nvPr/>
        </p:nvSpPr>
        <p:spPr>
          <a:xfrm>
            <a:off x="4965120" y="5769720"/>
            <a:ext cx="263304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Puesta a tierra del equipo y del motor</a:t>
            </a:r>
            <a:endParaRPr b="0" lang="en-US" sz="950" spc="-1" strike="noStrike">
              <a:solidFill>
                <a:srgbClr val="000000"/>
              </a:solidFill>
              <a:latin typeface="Arial"/>
            </a:endParaRPr>
          </a:p>
        </p:txBody>
      </p:sp>
      <p:sp>
        <p:nvSpPr>
          <p:cNvPr id="487" name="Rectangle 44"/>
          <p:cNvSpPr/>
          <p:nvPr/>
        </p:nvSpPr>
        <p:spPr>
          <a:xfrm>
            <a:off x="8458200" y="1600200"/>
            <a:ext cx="3154320" cy="457164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88" name="TextBox 45"/>
          <p:cNvSpPr/>
          <p:nvPr/>
        </p:nvSpPr>
        <p:spPr>
          <a:xfrm>
            <a:off x="8686800" y="1783080"/>
            <a:ext cx="26971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0b2545"/>
                </a:solidFill>
                <a:latin typeface="Segoe UI"/>
              </a:rPr>
              <a:t>Detalles que dan problemas</a:t>
            </a:r>
            <a:endParaRPr b="0" lang="en-US" sz="1350" spc="-1" strike="noStrike">
              <a:solidFill>
                <a:srgbClr val="000000"/>
              </a:solidFill>
              <a:latin typeface="Arial"/>
            </a:endParaRPr>
          </a:p>
        </p:txBody>
      </p:sp>
      <p:sp>
        <p:nvSpPr>
          <p:cNvPr id="489" name="TextBox 46"/>
          <p:cNvSpPr/>
          <p:nvPr/>
        </p:nvSpPr>
        <p:spPr>
          <a:xfrm>
            <a:off x="8686800" y="2212920"/>
            <a:ext cx="2697120" cy="3387240"/>
          </a:xfrm>
          <a:prstGeom prst="rect">
            <a:avLst/>
          </a:prstGeom>
          <a:noFill/>
          <a:ln w="0">
            <a:noFill/>
          </a:ln>
        </p:spPr>
        <p:style>
          <a:lnRef idx="0"/>
          <a:fillRef idx="0"/>
          <a:effectRef idx="0"/>
          <a:fontRef idx="minor"/>
        </p:style>
        <p:txBody>
          <a:bodyPr lIns="90000" rIns="90000" tIns="45000" bIns="45000" anchor="t">
            <a:spAutoFit/>
          </a:bodyPr>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El LED CHARGE encendido significa bus cargado: peligro de muerte.</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Consolas"/>
              </a:rPr>
              <a:t>CN8</a:t>
            </a:r>
            <a:r>
              <a:rPr b="1" lang="en-US" sz="1100" spc="-1" strike="noStrike">
                <a:solidFill>
                  <a:srgbClr val="1c2430"/>
                </a:solidFill>
                <a:latin typeface="Segoe UI"/>
              </a:rPr>
              <a:t> sale de fábrica con un puente. Si lo quitas sin cablear el circuito de seguridad, el eje no dará par.</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El puente </a:t>
            </a:r>
            <a:r>
              <a:rPr b="1" lang="en-US" sz="1100" spc="-1" strike="noStrike">
                <a:solidFill>
                  <a:srgbClr val="1c2430"/>
                </a:solidFill>
                <a:latin typeface="Consolas"/>
              </a:rPr>
              <a:t>B2</a:t>
            </a:r>
            <a:r>
              <a:rPr b="1" lang="en-US" sz="1100" spc="-1" strike="noStrike">
                <a:solidFill>
                  <a:srgbClr val="1c2430"/>
                </a:solidFill>
                <a:latin typeface="Segoe UI"/>
              </a:rPr>
              <a:t>-</a:t>
            </a:r>
            <a:r>
              <a:rPr b="1" lang="en-US" sz="1100" spc="-1" strike="noStrike">
                <a:solidFill>
                  <a:srgbClr val="1c2430"/>
                </a:solidFill>
                <a:latin typeface="Consolas"/>
              </a:rPr>
              <a:t>B3</a:t>
            </a:r>
            <a:r>
              <a:rPr b="1" lang="en-US" sz="1100" spc="-1" strike="noStrike">
                <a:solidFill>
                  <a:srgbClr val="1c2430"/>
                </a:solidFill>
                <a:latin typeface="Segoe UI"/>
              </a:rPr>
              <a:t> conecta la resistencia interna: al montar una externa hay que retirarlo.</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El ventilador es un consumible: prevé su sustitución.</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La etiqueta lateral lleva el modelo exacto y la revisión de firmware: fotografíala en la puesta en marcha.</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0"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491"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492"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Partes del SERVOPACK, según el fabricante</a:t>
            </a:r>
            <a:endParaRPr b="0" lang="en-US" sz="2500" spc="-1" strike="noStrike">
              <a:solidFill>
                <a:srgbClr val="000000"/>
              </a:solidFill>
              <a:latin typeface="Arial"/>
            </a:endParaRPr>
          </a:p>
        </p:txBody>
      </p:sp>
      <p:sp>
        <p:nvSpPr>
          <p:cNvPr id="493"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Vista externa con la numeración del manual</a:t>
            </a:r>
            <a:endParaRPr b="0" lang="en-US" sz="1250" spc="-1" strike="noStrike">
              <a:solidFill>
                <a:srgbClr val="000000"/>
              </a:solidFill>
              <a:latin typeface="Arial"/>
            </a:endParaRPr>
          </a:p>
        </p:txBody>
      </p:sp>
      <p:sp>
        <p:nvSpPr>
          <p:cNvPr id="494"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02</a:t>
            </a:r>
            <a:endParaRPr b="0" lang="en-US" sz="1100" spc="-1" strike="noStrike">
              <a:solidFill>
                <a:srgbClr val="000000"/>
              </a:solidFill>
              <a:latin typeface="Arial"/>
            </a:endParaRPr>
          </a:p>
        </p:txBody>
      </p:sp>
      <p:sp>
        <p:nvSpPr>
          <p:cNvPr id="495"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496"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23</a:t>
            </a:r>
            <a:endParaRPr b="0" lang="en-US" sz="900" spc="-1" strike="noStrike">
              <a:solidFill>
                <a:srgbClr val="000000"/>
              </a:solidFill>
              <a:latin typeface="Arial"/>
            </a:endParaRPr>
          </a:p>
        </p:txBody>
      </p:sp>
      <p:sp>
        <p:nvSpPr>
          <p:cNvPr id="497" name="Rectangle 8"/>
          <p:cNvSpPr/>
          <p:nvPr/>
        </p:nvSpPr>
        <p:spPr>
          <a:xfrm>
            <a:off x="511920" y="1770120"/>
            <a:ext cx="7075800" cy="392040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498" name="Picture 9" descr="partes_servopack.png"/>
          <p:cNvPicPr/>
          <p:nvPr/>
        </p:nvPicPr>
        <p:blipFill>
          <a:blip r:embed="rId1"/>
          <a:stretch/>
        </p:blipFill>
        <p:spPr>
          <a:xfrm>
            <a:off x="567000" y="1825200"/>
            <a:ext cx="6966000" cy="3810960"/>
          </a:xfrm>
          <a:prstGeom prst="rect">
            <a:avLst/>
          </a:prstGeom>
          <a:ln w="0">
            <a:noFill/>
          </a:ln>
        </p:spPr>
      </p:pic>
      <p:sp>
        <p:nvSpPr>
          <p:cNvPr id="499"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1.3 Part Names</a:t>
            </a:r>
            <a:endParaRPr b="0" lang="en-US" sz="850" spc="-1" strike="noStrike">
              <a:solidFill>
                <a:srgbClr val="000000"/>
              </a:solidFill>
              <a:latin typeface="Arial"/>
            </a:endParaRPr>
          </a:p>
        </p:txBody>
      </p:sp>
      <p:sp>
        <p:nvSpPr>
          <p:cNvPr id="500"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01" name="TextBox 12"/>
          <p:cNvSpPr/>
          <p:nvPr/>
        </p:nvSpPr>
        <p:spPr>
          <a:xfrm>
            <a:off x="8027280" y="1664280"/>
            <a:ext cx="3377880" cy="377820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150" spc="-1" strike="noStrike">
                <a:solidFill>
                  <a:srgbClr val="1b5ea8"/>
                </a:solidFill>
                <a:latin typeface="Segoe UI Semibold"/>
              </a:rPr>
              <a:t>Lo que hay que localizar físicamente</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Bornes de circuito principal y bornes de motor (</a:t>
            </a:r>
            <a:r>
              <a:rPr b="1" lang="en-US" sz="1200" spc="-1" strike="noStrike">
                <a:solidFill>
                  <a:srgbClr val="1c2430"/>
                </a:solidFill>
                <a:latin typeface="Consolas"/>
              </a:rPr>
              <a:t>U</a:t>
            </a:r>
            <a:r>
              <a:rPr b="1" lang="en-US" sz="1200" spc="-1" strike="noStrike">
                <a:solidFill>
                  <a:srgbClr val="1c2430"/>
                </a:solidFill>
                <a:latin typeface="Segoe UI"/>
              </a:rPr>
              <a:t> </a:t>
            </a:r>
            <a:r>
              <a:rPr b="1" lang="en-US" sz="1200" spc="-1" strike="noStrike">
                <a:solidFill>
                  <a:srgbClr val="1c2430"/>
                </a:solidFill>
                <a:latin typeface="Consolas"/>
              </a:rPr>
              <a:t>V</a:t>
            </a:r>
            <a:r>
              <a:rPr b="1" lang="en-US" sz="1200" spc="-1" strike="noStrike">
                <a:solidFill>
                  <a:srgbClr val="1c2430"/>
                </a:solidFill>
                <a:latin typeface="Segoe UI"/>
              </a:rPr>
              <a:t> </a:t>
            </a:r>
            <a:r>
              <a:rPr b="1" lang="en-US" sz="1200" spc="-1" strike="noStrike">
                <a:solidFill>
                  <a:srgbClr val="1c2430"/>
                </a:solidFill>
                <a:latin typeface="Consolas"/>
              </a:rPr>
              <a:t>W</a:t>
            </a:r>
            <a:r>
              <a:rPr b="1" lang="en-US" sz="1200" spc="-1" strike="noStrike">
                <a:solidFill>
                  <a:srgbClr val="1c2430"/>
                </a:solidFill>
                <a:latin typeface="Segoe UI"/>
              </a:rPr>
              <a:t>), en el lateral izquierdo.</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Indicador CHARGE: bus cargado, peligro de descarga eléctrica.</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Consolas"/>
              </a:rPr>
              <a:t>CN1</a:t>
            </a:r>
            <a:r>
              <a:rPr b="1" lang="en-US" sz="1200" spc="-1" strike="noStrike">
                <a:solidFill>
                  <a:srgbClr val="1c2430"/>
                </a:solidFill>
                <a:latin typeface="Segoe UI"/>
              </a:rPr>
              <a:t> señales de E/S · </a:t>
            </a:r>
            <a:r>
              <a:rPr b="1" lang="en-US" sz="1200" spc="-1" strike="noStrike">
                <a:solidFill>
                  <a:srgbClr val="1c2430"/>
                </a:solidFill>
                <a:latin typeface="Consolas"/>
              </a:rPr>
              <a:t>CN2</a:t>
            </a:r>
            <a:r>
              <a:rPr b="1" lang="en-US" sz="1200" spc="-1" strike="noStrike">
                <a:solidFill>
                  <a:srgbClr val="1c2430"/>
                </a:solidFill>
                <a:latin typeface="Segoe UI"/>
              </a:rPr>
              <a:t> encoder · </a:t>
            </a:r>
            <a:r>
              <a:rPr b="1" lang="en-US" sz="1200" spc="-1" strike="noStrike">
                <a:solidFill>
                  <a:srgbClr val="1c2430"/>
                </a:solidFill>
                <a:latin typeface="Consolas"/>
              </a:rPr>
              <a:t>CN3</a:t>
            </a:r>
            <a:r>
              <a:rPr b="1" lang="en-US" sz="1200" spc="-1" strike="noStrike">
                <a:solidFill>
                  <a:srgbClr val="1c2430"/>
                </a:solidFill>
                <a:latin typeface="Segoe UI"/>
              </a:rPr>
              <a:t> operador digital / RS-422 · </a:t>
            </a:r>
            <a:r>
              <a:rPr b="1" lang="en-US" sz="1200" spc="-1" strike="noStrike">
                <a:solidFill>
                  <a:srgbClr val="1c2430"/>
                </a:solidFill>
                <a:latin typeface="Consolas"/>
              </a:rPr>
              <a:t>CN5</a:t>
            </a:r>
            <a:r>
              <a:rPr b="1" lang="en-US" sz="1200" spc="-1" strike="noStrike">
                <a:solidFill>
                  <a:srgbClr val="1c2430"/>
                </a:solidFill>
                <a:latin typeface="Segoe UI"/>
              </a:rPr>
              <a:t> monitor analógico · </a:t>
            </a:r>
            <a:r>
              <a:rPr b="1" lang="en-US" sz="1200" spc="-1" strike="noStrike">
                <a:solidFill>
                  <a:srgbClr val="1c2430"/>
                </a:solidFill>
                <a:latin typeface="Consolas"/>
              </a:rPr>
              <a:t>CN7</a:t>
            </a:r>
            <a:r>
              <a:rPr b="1" lang="en-US" sz="1200" spc="-1" strike="noStrike">
                <a:solidFill>
                  <a:srgbClr val="1c2430"/>
                </a:solidFill>
                <a:latin typeface="Segoe UI"/>
              </a:rPr>
              <a:t> USB para SigmaWin+ · </a:t>
            </a:r>
            <a:r>
              <a:rPr b="1" lang="en-US" sz="1200" spc="-1" strike="noStrike">
                <a:solidFill>
                  <a:srgbClr val="1c2430"/>
                </a:solidFill>
                <a:latin typeface="Consolas"/>
              </a:rPr>
              <a:t>CN8</a:t>
            </a:r>
            <a:r>
              <a:rPr b="1" lang="en-US" sz="1200" spc="-1" strike="noStrike">
                <a:solidFill>
                  <a:srgbClr val="1c2430"/>
                </a:solidFill>
                <a:latin typeface="Segoe UI"/>
              </a:rPr>
              <a:t> seguridad.</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Consolas"/>
              </a:rPr>
              <a:t>CN11</a:t>
            </a:r>
            <a:r>
              <a:rPr b="1" lang="en-US" sz="1200" spc="-1" strike="noStrike">
                <a:solidFill>
                  <a:srgbClr val="1c2430"/>
                </a:solidFill>
                <a:latin typeface="Segoe UI"/>
              </a:rPr>
              <a:t> módulo opcional de seguridad · </a:t>
            </a:r>
            <a:r>
              <a:rPr b="1" lang="en-US" sz="1200" spc="-1" strike="noStrike">
                <a:solidFill>
                  <a:srgbClr val="1c2430"/>
                </a:solidFill>
                <a:latin typeface="Consolas"/>
              </a:rPr>
              <a:t>CN12</a:t>
            </a:r>
            <a:r>
              <a:rPr b="1" lang="en-US" sz="1200" spc="-1" strike="noStrike">
                <a:solidFill>
                  <a:srgbClr val="1c2430"/>
                </a:solidFill>
                <a:latin typeface="Segoe UI"/>
              </a:rPr>
              <a:t> módulo opcional de realimentación.</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Código QR para el servicio MechatroCloud.</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Bajo la tapa frontal: panel de operación y visualizador.</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2"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03"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504"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Cómo se lee un código de modelo</a:t>
            </a:r>
            <a:endParaRPr b="0" lang="en-US" sz="2500" spc="-1" strike="noStrike">
              <a:solidFill>
                <a:srgbClr val="000000"/>
              </a:solidFill>
              <a:latin typeface="Arial"/>
            </a:endParaRPr>
          </a:p>
        </p:txBody>
      </p:sp>
      <p:sp>
        <p:nvSpPr>
          <p:cNvPr id="505"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Ejemplo: SGDXS-200A00A00A</a:t>
            </a:r>
            <a:endParaRPr b="0" lang="en-US" sz="1250" spc="-1" strike="noStrike">
              <a:solidFill>
                <a:srgbClr val="000000"/>
              </a:solidFill>
              <a:latin typeface="Arial"/>
            </a:endParaRPr>
          </a:p>
        </p:txBody>
      </p:sp>
      <p:sp>
        <p:nvSpPr>
          <p:cNvPr id="506"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02</a:t>
            </a:r>
            <a:endParaRPr b="0" lang="en-US" sz="1100" spc="-1" strike="noStrike">
              <a:solidFill>
                <a:srgbClr val="000000"/>
              </a:solidFill>
              <a:latin typeface="Arial"/>
            </a:endParaRPr>
          </a:p>
        </p:txBody>
      </p:sp>
      <p:sp>
        <p:nvSpPr>
          <p:cNvPr id="507"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508"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24</a:t>
            </a:r>
            <a:endParaRPr b="0" lang="en-US" sz="900" spc="-1" strike="noStrike">
              <a:solidFill>
                <a:srgbClr val="000000"/>
              </a:solidFill>
              <a:latin typeface="Arial"/>
            </a:endParaRPr>
          </a:p>
        </p:txBody>
      </p:sp>
      <p:sp>
        <p:nvSpPr>
          <p:cNvPr id="509" name="Rounded Rectangle 8"/>
          <p:cNvSpPr/>
          <p:nvPr/>
        </p:nvSpPr>
        <p:spPr>
          <a:xfrm>
            <a:off x="822960" y="1874520"/>
            <a:ext cx="1599840" cy="959760"/>
          </a:xfrm>
          <a:prstGeom prst="roundRect">
            <a:avLst>
              <a:gd name="adj" fmla="val 8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2200" spc="-1" strike="noStrike">
                <a:solidFill>
                  <a:srgbClr val="ffffff"/>
                </a:solidFill>
                <a:latin typeface="Segoe UI"/>
              </a:rPr>
              <a:t>SGDX</a:t>
            </a:r>
            <a:endParaRPr b="0" lang="en-US" sz="2200" spc="-1" strike="noStrike">
              <a:solidFill>
                <a:srgbClr val="ffffff"/>
              </a:solidFill>
              <a:latin typeface="Arial"/>
            </a:endParaRPr>
          </a:p>
        </p:txBody>
      </p:sp>
      <p:sp>
        <p:nvSpPr>
          <p:cNvPr id="510" name="TextBox 9"/>
          <p:cNvSpPr/>
          <p:nvPr/>
        </p:nvSpPr>
        <p:spPr>
          <a:xfrm>
            <a:off x="658440" y="2980800"/>
            <a:ext cx="1928880" cy="3193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0b2545"/>
                </a:solidFill>
                <a:latin typeface="Segoe UI"/>
              </a:rPr>
              <a:t>Serie</a:t>
            </a:r>
            <a:endParaRPr b="0" lang="en-US" sz="1050" spc="-1" strike="noStrike">
              <a:solidFill>
                <a:srgbClr val="000000"/>
              </a:solidFill>
              <a:latin typeface="Arial"/>
            </a:endParaRPr>
          </a:p>
          <a:p>
            <a:pPr algn="ctr" defTabSz="457200">
              <a:lnSpc>
                <a:spcPct val="100000"/>
              </a:lnSpc>
            </a:pPr>
            <a:r>
              <a:rPr b="1" lang="en-US" sz="1050" spc="-1" strike="noStrike">
                <a:solidFill>
                  <a:srgbClr val="0b2545"/>
                </a:solidFill>
                <a:latin typeface="Segoe UI"/>
              </a:rPr>
              <a:t>Σ-X</a:t>
            </a:r>
            <a:endParaRPr b="0" lang="en-US" sz="1050" spc="-1" strike="noStrike">
              <a:solidFill>
                <a:srgbClr val="000000"/>
              </a:solidFill>
              <a:latin typeface="Arial"/>
            </a:endParaRPr>
          </a:p>
        </p:txBody>
      </p:sp>
      <p:sp>
        <p:nvSpPr>
          <p:cNvPr id="511" name="Rounded Rectangle 10"/>
          <p:cNvSpPr/>
          <p:nvPr/>
        </p:nvSpPr>
        <p:spPr>
          <a:xfrm>
            <a:off x="2569320" y="1874520"/>
            <a:ext cx="1051200" cy="959760"/>
          </a:xfrm>
          <a:prstGeom prst="roundRect">
            <a:avLst>
              <a:gd name="adj" fmla="val 8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2200" spc="-1" strike="noStrike">
                <a:solidFill>
                  <a:srgbClr val="ffffff"/>
                </a:solidFill>
                <a:latin typeface="Segoe UI"/>
              </a:rPr>
              <a:t>S</a:t>
            </a:r>
            <a:endParaRPr b="0" lang="en-US" sz="2200" spc="-1" strike="noStrike">
              <a:solidFill>
                <a:srgbClr val="ffffff"/>
              </a:solidFill>
              <a:latin typeface="Arial"/>
            </a:endParaRPr>
          </a:p>
        </p:txBody>
      </p:sp>
      <p:sp>
        <p:nvSpPr>
          <p:cNvPr id="512" name="TextBox 11"/>
          <p:cNvSpPr/>
          <p:nvPr/>
        </p:nvSpPr>
        <p:spPr>
          <a:xfrm>
            <a:off x="2404800" y="2980800"/>
            <a:ext cx="1380240" cy="3193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1b5ea8"/>
                </a:solidFill>
                <a:latin typeface="Segoe UI"/>
              </a:rPr>
              <a:t>Línea</a:t>
            </a:r>
            <a:endParaRPr b="0" lang="en-US" sz="1050" spc="-1" strike="noStrike">
              <a:solidFill>
                <a:srgbClr val="000000"/>
              </a:solidFill>
              <a:latin typeface="Arial"/>
            </a:endParaRPr>
          </a:p>
          <a:p>
            <a:pPr algn="ctr" defTabSz="457200">
              <a:lnSpc>
                <a:spcPct val="100000"/>
              </a:lnSpc>
            </a:pPr>
            <a:r>
              <a:rPr b="1" lang="en-US" sz="1050" spc="-1" strike="noStrike">
                <a:solidFill>
                  <a:srgbClr val="1b5ea8"/>
                </a:solidFill>
                <a:latin typeface="Segoe UI"/>
              </a:rPr>
              <a:t>S = 1 eje</a:t>
            </a:r>
            <a:endParaRPr b="0" lang="en-US" sz="1050" spc="-1" strike="noStrike">
              <a:solidFill>
                <a:srgbClr val="000000"/>
              </a:solidFill>
              <a:latin typeface="Arial"/>
            </a:endParaRPr>
          </a:p>
        </p:txBody>
      </p:sp>
      <p:sp>
        <p:nvSpPr>
          <p:cNvPr id="513" name="Rounded Rectangle 12"/>
          <p:cNvSpPr/>
          <p:nvPr/>
        </p:nvSpPr>
        <p:spPr>
          <a:xfrm>
            <a:off x="3767400" y="1874520"/>
            <a:ext cx="1325520" cy="959760"/>
          </a:xfrm>
          <a:prstGeom prst="roundRect">
            <a:avLst>
              <a:gd name="adj" fmla="val 8000"/>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2200" spc="-1" strike="noStrike">
                <a:solidFill>
                  <a:srgbClr val="ffffff"/>
                </a:solidFill>
                <a:latin typeface="Segoe UI"/>
              </a:rPr>
              <a:t>200</a:t>
            </a:r>
            <a:endParaRPr b="0" lang="en-US" sz="2200" spc="-1" strike="noStrike">
              <a:solidFill>
                <a:srgbClr val="ffffff"/>
              </a:solidFill>
              <a:latin typeface="Arial"/>
            </a:endParaRPr>
          </a:p>
        </p:txBody>
      </p:sp>
      <p:sp>
        <p:nvSpPr>
          <p:cNvPr id="514" name="TextBox 13"/>
          <p:cNvSpPr/>
          <p:nvPr/>
        </p:nvSpPr>
        <p:spPr>
          <a:xfrm>
            <a:off x="3602880" y="2980800"/>
            <a:ext cx="1654560" cy="3193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c0392b"/>
                </a:solidFill>
                <a:latin typeface="Segoe UI"/>
              </a:rPr>
              <a:t>Tamaño</a:t>
            </a:r>
            <a:endParaRPr b="0" lang="en-US" sz="1050" spc="-1" strike="noStrike">
              <a:solidFill>
                <a:srgbClr val="000000"/>
              </a:solidFill>
              <a:latin typeface="Arial"/>
            </a:endParaRPr>
          </a:p>
          <a:p>
            <a:pPr algn="ctr" defTabSz="457200">
              <a:lnSpc>
                <a:spcPct val="100000"/>
              </a:lnSpc>
            </a:pPr>
            <a:r>
              <a:rPr b="1" lang="en-US" sz="1050" spc="-1" strike="noStrike">
                <a:solidFill>
                  <a:srgbClr val="c0392b"/>
                </a:solidFill>
                <a:latin typeface="Segoe UI"/>
              </a:rPr>
              <a:t>3,0 kW</a:t>
            </a:r>
            <a:endParaRPr b="0" lang="en-US" sz="1050" spc="-1" strike="noStrike">
              <a:solidFill>
                <a:srgbClr val="000000"/>
              </a:solidFill>
              <a:latin typeface="Arial"/>
            </a:endParaRPr>
          </a:p>
        </p:txBody>
      </p:sp>
      <p:sp>
        <p:nvSpPr>
          <p:cNvPr id="515" name="Rounded Rectangle 14"/>
          <p:cNvSpPr/>
          <p:nvPr/>
        </p:nvSpPr>
        <p:spPr>
          <a:xfrm>
            <a:off x="5239440" y="1874520"/>
            <a:ext cx="1051200" cy="959760"/>
          </a:xfrm>
          <a:prstGeom prst="roundRect">
            <a:avLst>
              <a:gd name="adj" fmla="val 8000"/>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2200" spc="-1" strike="noStrike">
                <a:solidFill>
                  <a:srgbClr val="ffffff"/>
                </a:solidFill>
                <a:latin typeface="Segoe UI"/>
              </a:rPr>
              <a:t>A</a:t>
            </a:r>
            <a:endParaRPr b="0" lang="en-US" sz="2200" spc="-1" strike="noStrike">
              <a:solidFill>
                <a:srgbClr val="ffffff"/>
              </a:solidFill>
              <a:latin typeface="Arial"/>
            </a:endParaRPr>
          </a:p>
        </p:txBody>
      </p:sp>
      <p:sp>
        <p:nvSpPr>
          <p:cNvPr id="516" name="TextBox 15"/>
          <p:cNvSpPr/>
          <p:nvPr/>
        </p:nvSpPr>
        <p:spPr>
          <a:xfrm>
            <a:off x="5074920" y="2980800"/>
            <a:ext cx="1380240" cy="3193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00a9ce"/>
                </a:solidFill>
                <a:latin typeface="Segoe UI"/>
              </a:rPr>
              <a:t>Tensión</a:t>
            </a:r>
            <a:endParaRPr b="0" lang="en-US" sz="1050" spc="-1" strike="noStrike">
              <a:solidFill>
                <a:srgbClr val="000000"/>
              </a:solidFill>
              <a:latin typeface="Arial"/>
            </a:endParaRPr>
          </a:p>
          <a:p>
            <a:pPr algn="ctr" defTabSz="457200">
              <a:lnSpc>
                <a:spcPct val="100000"/>
              </a:lnSpc>
            </a:pPr>
            <a:r>
              <a:rPr b="1" lang="en-US" sz="1050" spc="-1" strike="noStrike">
                <a:solidFill>
                  <a:srgbClr val="00a9ce"/>
                </a:solidFill>
                <a:latin typeface="Segoe UI"/>
              </a:rPr>
              <a:t>A = 200 V</a:t>
            </a:r>
            <a:endParaRPr b="0" lang="en-US" sz="1050" spc="-1" strike="noStrike">
              <a:solidFill>
                <a:srgbClr val="000000"/>
              </a:solidFill>
              <a:latin typeface="Arial"/>
            </a:endParaRPr>
          </a:p>
        </p:txBody>
      </p:sp>
      <p:sp>
        <p:nvSpPr>
          <p:cNvPr id="517" name="Rounded Rectangle 16"/>
          <p:cNvSpPr/>
          <p:nvPr/>
        </p:nvSpPr>
        <p:spPr>
          <a:xfrm>
            <a:off x="6437520" y="1874520"/>
            <a:ext cx="2377080" cy="959760"/>
          </a:xfrm>
          <a:prstGeom prst="roundRect">
            <a:avLst>
              <a:gd name="adj" fmla="val 8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2200" spc="-1" strike="noStrike">
                <a:solidFill>
                  <a:srgbClr val="ffffff"/>
                </a:solidFill>
                <a:latin typeface="Segoe UI"/>
              </a:rPr>
              <a:t>00</a:t>
            </a:r>
            <a:endParaRPr b="0" lang="en-US" sz="2200" spc="-1" strike="noStrike">
              <a:solidFill>
                <a:srgbClr val="000000"/>
              </a:solidFill>
              <a:latin typeface="Arial"/>
            </a:endParaRPr>
          </a:p>
        </p:txBody>
      </p:sp>
      <p:sp>
        <p:nvSpPr>
          <p:cNvPr id="518" name="TextBox 17"/>
          <p:cNvSpPr/>
          <p:nvPr/>
        </p:nvSpPr>
        <p:spPr>
          <a:xfrm>
            <a:off x="6272640" y="2980800"/>
            <a:ext cx="2706120" cy="47916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e89b1f"/>
                </a:solidFill>
                <a:latin typeface="Segoe UI"/>
              </a:rPr>
              <a:t>Interfaz de comando</a:t>
            </a:r>
            <a:endParaRPr b="0" lang="en-US" sz="1050" spc="-1" strike="noStrike">
              <a:solidFill>
                <a:srgbClr val="000000"/>
              </a:solidFill>
              <a:latin typeface="Arial"/>
            </a:endParaRPr>
          </a:p>
          <a:p>
            <a:pPr algn="ctr" defTabSz="457200">
              <a:lnSpc>
                <a:spcPct val="100000"/>
              </a:lnSpc>
            </a:pPr>
            <a:r>
              <a:rPr b="1" lang="en-US" sz="1050" spc="-1" strike="noStrike">
                <a:solidFill>
                  <a:srgbClr val="e89b1f"/>
                </a:solidFill>
                <a:latin typeface="Segoe UI"/>
              </a:rPr>
              <a:t>(analógica/pulsos,</a:t>
            </a:r>
            <a:endParaRPr b="0" lang="en-US" sz="1050" spc="-1" strike="noStrike">
              <a:solidFill>
                <a:srgbClr val="000000"/>
              </a:solidFill>
              <a:latin typeface="Arial"/>
            </a:endParaRPr>
          </a:p>
          <a:p>
            <a:pPr algn="ctr" defTabSz="457200">
              <a:lnSpc>
                <a:spcPct val="100000"/>
              </a:lnSpc>
            </a:pPr>
            <a:r>
              <a:rPr b="1" lang="en-US" sz="1050" spc="-1" strike="noStrike">
                <a:solidFill>
                  <a:srgbClr val="e89b1f"/>
                </a:solidFill>
                <a:latin typeface="Segoe UI"/>
              </a:rPr>
              <a:t>bus…)</a:t>
            </a:r>
            <a:endParaRPr b="0" lang="en-US" sz="1050" spc="-1" strike="noStrike">
              <a:solidFill>
                <a:srgbClr val="000000"/>
              </a:solidFill>
              <a:latin typeface="Arial"/>
            </a:endParaRPr>
          </a:p>
        </p:txBody>
      </p:sp>
      <p:sp>
        <p:nvSpPr>
          <p:cNvPr id="519" name="Rounded Rectangle 18"/>
          <p:cNvSpPr/>
          <p:nvPr/>
        </p:nvSpPr>
        <p:spPr>
          <a:xfrm>
            <a:off x="8961120" y="1874520"/>
            <a:ext cx="2194200" cy="959760"/>
          </a:xfrm>
          <a:prstGeom prst="roundRect">
            <a:avLst>
              <a:gd name="adj" fmla="val 8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2200" spc="-1" strike="noStrike">
                <a:solidFill>
                  <a:srgbClr val="ffffff"/>
                </a:solidFill>
                <a:latin typeface="Segoe UI"/>
              </a:rPr>
              <a:t>A</a:t>
            </a:r>
            <a:endParaRPr b="0" lang="en-US" sz="2200" spc="-1" strike="noStrike">
              <a:solidFill>
                <a:srgbClr val="ffffff"/>
              </a:solidFill>
              <a:latin typeface="Arial"/>
            </a:endParaRPr>
          </a:p>
        </p:txBody>
      </p:sp>
      <p:sp>
        <p:nvSpPr>
          <p:cNvPr id="520" name="TextBox 19"/>
          <p:cNvSpPr/>
          <p:nvPr/>
        </p:nvSpPr>
        <p:spPr>
          <a:xfrm>
            <a:off x="8796600" y="2980800"/>
            <a:ext cx="2523240" cy="3193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5a6b7b"/>
                </a:solidFill>
                <a:latin typeface="Segoe UI"/>
              </a:rPr>
              <a:t>Opciones de diseño</a:t>
            </a:r>
            <a:endParaRPr b="0" lang="en-US" sz="1050" spc="-1" strike="noStrike">
              <a:solidFill>
                <a:srgbClr val="000000"/>
              </a:solidFill>
              <a:latin typeface="Arial"/>
            </a:endParaRPr>
          </a:p>
          <a:p>
            <a:pPr algn="ctr" defTabSz="457200">
              <a:lnSpc>
                <a:spcPct val="100000"/>
              </a:lnSpc>
            </a:pPr>
            <a:r>
              <a:rPr b="1" lang="en-US" sz="1050" spc="-1" strike="noStrike">
                <a:solidFill>
                  <a:srgbClr val="5a6b7b"/>
                </a:solidFill>
                <a:latin typeface="Segoe UI"/>
              </a:rPr>
              <a:t>y hardware</a:t>
            </a:r>
            <a:endParaRPr b="0" lang="en-US" sz="1050" spc="-1" strike="noStrike">
              <a:solidFill>
                <a:srgbClr val="000000"/>
              </a:solidFill>
              <a:latin typeface="Arial"/>
            </a:endParaRPr>
          </a:p>
        </p:txBody>
      </p:sp>
      <p:sp>
        <p:nvSpPr>
          <p:cNvPr id="521" name="TextBox 20"/>
          <p:cNvSpPr/>
          <p:nvPr/>
        </p:nvSpPr>
        <p:spPr>
          <a:xfrm>
            <a:off x="822960" y="1508760"/>
            <a:ext cx="10515240" cy="1602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50" spc="-1" strike="noStrike">
                <a:solidFill>
                  <a:srgbClr val="5a6b7b"/>
                </a:solidFill>
                <a:latin typeface="Segoe UI"/>
              </a:rPr>
              <a:t>Estructura del código (los separadores se omiten en la etiqueta)</a:t>
            </a:r>
            <a:endParaRPr b="0" lang="en-US" sz="1050" spc="-1" strike="noStrike">
              <a:solidFill>
                <a:srgbClr val="000000"/>
              </a:solidFill>
              <a:latin typeface="Arial"/>
            </a:endParaRPr>
          </a:p>
        </p:txBody>
      </p:sp>
      <p:graphicFrame>
        <p:nvGraphicFramePr>
          <p:cNvPr id="522" name="Table 21"/>
          <p:cNvGraphicFramePr/>
          <p:nvPr/>
        </p:nvGraphicFramePr>
        <p:xfrm>
          <a:off x="822960" y="3611880"/>
          <a:ext cx="10560960" cy="2422800"/>
        </p:xfrm>
        <a:graphic>
          <a:graphicData uri="http://schemas.openxmlformats.org/drawingml/2006/table">
            <a:tbl>
              <a:tblPr/>
              <a:tblGrid>
                <a:gridCol w="1343880"/>
                <a:gridCol w="4032360"/>
                <a:gridCol w="5184360"/>
              </a:tblGrid>
              <a:tr h="347400">
                <a:tc>
                  <a:txBody>
                    <a:bodyPr lIns="82080" rIns="82080" tIns="27360" bIns="27360" anchor="ctr">
                      <a:noAutofit/>
                    </a:bodyPr>
                    <a:p>
                      <a:pPr defTabSz="457200">
                        <a:lnSpc>
                          <a:spcPct val="100000"/>
                        </a:lnSpc>
                      </a:pPr>
                      <a:r>
                        <a:rPr b="1" lang="en-US" sz="1000" spc="-1" strike="noStrike">
                          <a:solidFill>
                            <a:srgbClr val="ffffff"/>
                          </a:solidFill>
                          <a:latin typeface="Segoe UI"/>
                        </a:rPr>
                        <a:t>Campo</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Qué codifica</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Por qué es crítico</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415080">
                <a:tc>
                  <a:txBody>
                    <a:bodyPr lIns="82080" rIns="82080" tIns="27360" bIns="27360" anchor="ctr">
                      <a:noAutofit/>
                    </a:bodyPr>
                    <a:p>
                      <a:pPr defTabSz="457200">
                        <a:lnSpc>
                          <a:spcPct val="100000"/>
                        </a:lnSpc>
                      </a:pPr>
                      <a:r>
                        <a:rPr b="0" lang="en-US" sz="1000" spc="-1" strike="noStrike">
                          <a:solidFill>
                            <a:srgbClr val="1c2430"/>
                          </a:solidFill>
                          <a:latin typeface="Segoe UI"/>
                        </a:rPr>
                        <a:t>Serie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Generación del amplificador (SGDX, SGDV, SGDH)</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Determina parámetros, encoder compatible y herramienta software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15080">
                <a:tc>
                  <a:txBody>
                    <a:bodyPr lIns="82080" rIns="82080" tIns="27360" bIns="27360" anchor="ctr">
                      <a:noAutofit/>
                    </a:bodyPr>
                    <a:p>
                      <a:pPr defTabSz="457200">
                        <a:lnSpc>
                          <a:spcPct val="100000"/>
                        </a:lnSpc>
                      </a:pPr>
                      <a:r>
                        <a:rPr b="0" lang="en-US" sz="1000" spc="-1" strike="noStrike">
                          <a:solidFill>
                            <a:srgbClr val="1c2430"/>
                          </a:solidFill>
                          <a:latin typeface="Segoe UI"/>
                        </a:rPr>
                        <a:t>Línea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S = monoeje · W = dos ejes · C = con control integrado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Cambia por completo la arquitectura del sistema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15080">
                <a:tc>
                  <a:txBody>
                    <a:bodyPr lIns="82080" rIns="82080" tIns="27360" bIns="27360" anchor="ctr">
                      <a:noAutofit/>
                    </a:bodyPr>
                    <a:p>
                      <a:pPr defTabSz="457200">
                        <a:lnSpc>
                          <a:spcPct val="100000"/>
                        </a:lnSpc>
                      </a:pPr>
                      <a:r>
                        <a:rPr b="0" lang="en-US" sz="1000" spc="-1" strike="noStrike">
                          <a:solidFill>
                            <a:srgbClr val="1c2430"/>
                          </a:solidFill>
                          <a:latin typeface="Segoe UI"/>
                        </a:rPr>
                        <a:t>Tamaño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Capacidad máxima de motor (200 → 3,0 kW)</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Fija corriente, protecciones y regeneración interna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15080">
                <a:tc>
                  <a:txBody>
                    <a:bodyPr lIns="82080" rIns="82080" tIns="27360" bIns="27360" anchor="ctr">
                      <a:noAutofit/>
                    </a:bodyPr>
                    <a:p>
                      <a:pPr defTabSz="457200">
                        <a:lnSpc>
                          <a:spcPct val="100000"/>
                        </a:lnSpc>
                      </a:pPr>
                      <a:r>
                        <a:rPr b="0" lang="en-US" sz="1000" spc="-1" strike="noStrike">
                          <a:solidFill>
                            <a:srgbClr val="1c2430"/>
                          </a:solidFill>
                          <a:latin typeface="Segoe UI"/>
                        </a:rPr>
                        <a:t>Tensión</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A = 200 V clase · D = 400 V clase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Un error aquí destruye el equipo al energizar</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15080">
                <a:tc>
                  <a:txBody>
                    <a:bodyPr lIns="82080" rIns="82080" tIns="27360" bIns="27360" anchor="ctr">
                      <a:noAutofit/>
                    </a:bodyPr>
                    <a:p>
                      <a:pPr defTabSz="457200">
                        <a:lnSpc>
                          <a:spcPct val="100000"/>
                        </a:lnSpc>
                      </a:pPr>
                      <a:r>
                        <a:rPr b="0" lang="en-US" sz="1000" spc="-1" strike="noStrike">
                          <a:solidFill>
                            <a:srgbClr val="1c2430"/>
                          </a:solidFill>
                          <a:latin typeface="Segoe UI"/>
                        </a:rPr>
                        <a:t>Interfaz</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Analógica/pulsos, MECHATROLINK, EtherCAT…</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1000" spc="-1" strike="noStrike">
                          <a:solidFill>
                            <a:srgbClr val="1c2430"/>
                          </a:solidFill>
                          <a:latin typeface="Segoe UI"/>
                        </a:rPr>
                        <a:t>No se puede cambiar después de la compra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3"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24"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525"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Gama Σ-X monoeje en 200 V trifásica</a:t>
            </a:r>
            <a:endParaRPr b="0" lang="en-US" sz="2500" spc="-1" strike="noStrike">
              <a:solidFill>
                <a:srgbClr val="000000"/>
              </a:solidFill>
              <a:latin typeface="Arial"/>
            </a:endParaRPr>
          </a:p>
        </p:txBody>
      </p:sp>
      <p:sp>
        <p:nvSpPr>
          <p:cNvPr id="526"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cifra central del código es el indicador de tamaño</a:t>
            </a:r>
            <a:endParaRPr b="0" lang="en-US" sz="1250" spc="-1" strike="noStrike">
              <a:solidFill>
                <a:srgbClr val="000000"/>
              </a:solidFill>
              <a:latin typeface="Arial"/>
            </a:endParaRPr>
          </a:p>
        </p:txBody>
      </p:sp>
      <p:sp>
        <p:nvSpPr>
          <p:cNvPr id="527"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02</a:t>
            </a:r>
            <a:endParaRPr b="0" lang="en-US" sz="1100" spc="-1" strike="noStrike">
              <a:solidFill>
                <a:srgbClr val="000000"/>
              </a:solidFill>
              <a:latin typeface="Arial"/>
            </a:endParaRPr>
          </a:p>
        </p:txBody>
      </p:sp>
      <p:sp>
        <p:nvSpPr>
          <p:cNvPr id="528"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529"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25</a:t>
            </a:r>
            <a:endParaRPr b="0" lang="en-US" sz="900" spc="-1" strike="noStrike">
              <a:solidFill>
                <a:srgbClr val="000000"/>
              </a:solidFill>
              <a:latin typeface="Arial"/>
            </a:endParaRPr>
          </a:p>
        </p:txBody>
      </p:sp>
      <p:graphicFrame>
        <p:nvGraphicFramePr>
          <p:cNvPr id="530" name="Table 8"/>
          <p:cNvGraphicFramePr/>
          <p:nvPr/>
        </p:nvGraphicFramePr>
        <p:xfrm>
          <a:off x="567000" y="1481400"/>
          <a:ext cx="11057400" cy="4461840"/>
        </p:xfrm>
        <a:graphic>
          <a:graphicData uri="http://schemas.openxmlformats.org/drawingml/2006/table">
            <a:tbl>
              <a:tblPr/>
              <a:tblGrid>
                <a:gridCol w="2047680"/>
                <a:gridCol w="1842840"/>
                <a:gridCol w="2457000"/>
                <a:gridCol w="2252520"/>
                <a:gridCol w="2457000"/>
              </a:tblGrid>
              <a:tr h="347400">
                <a:tc>
                  <a:txBody>
                    <a:bodyPr lIns="82080" rIns="82080" tIns="27360" bIns="27360" anchor="ctr">
                      <a:noAutofit/>
                    </a:bodyPr>
                    <a:p>
                      <a:pPr algn="ctr" defTabSz="457200">
                        <a:lnSpc>
                          <a:spcPct val="100000"/>
                        </a:lnSpc>
                      </a:pPr>
                      <a:r>
                        <a:rPr b="1" lang="en-US" sz="950" spc="-1" strike="noStrike">
                          <a:solidFill>
                            <a:srgbClr val="ffffff"/>
                          </a:solidFill>
                          <a:latin typeface="Segoe UI"/>
                        </a:rPr>
                        <a:t>Modelo SGDXS-</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algn="ctr" defTabSz="457200">
                        <a:lnSpc>
                          <a:spcPct val="100000"/>
                        </a:lnSpc>
                      </a:pPr>
                      <a:r>
                        <a:rPr b="1" lang="en-US" sz="950" spc="-1" strike="noStrike">
                          <a:solidFill>
                            <a:srgbClr val="ffffff"/>
                          </a:solidFill>
                          <a:latin typeface="Segoe UI"/>
                        </a:rPr>
                        <a:t>Motor máx.</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algn="ctr" defTabSz="457200">
                        <a:lnSpc>
                          <a:spcPct val="100000"/>
                        </a:lnSpc>
                      </a:pPr>
                      <a:r>
                        <a:rPr b="1" lang="en-US" sz="950" spc="-1" strike="noStrike">
                          <a:solidFill>
                            <a:srgbClr val="ffffff"/>
                          </a:solidFill>
                          <a:latin typeface="Segoe UI"/>
                        </a:rPr>
                        <a:t>Corriente continua</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algn="ctr" defTabSz="457200">
                        <a:lnSpc>
                          <a:spcPct val="100000"/>
                        </a:lnSpc>
                      </a:pPr>
                      <a:r>
                        <a:rPr b="1" lang="en-US" sz="950" spc="-1" strike="noStrike">
                          <a:solidFill>
                            <a:srgbClr val="ffffff"/>
                          </a:solidFill>
                          <a:latin typeface="Segoe UI"/>
                        </a:rPr>
                        <a:t>Corriente de pico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algn="ctr" defTabSz="457200">
                        <a:lnSpc>
                          <a:spcPct val="100000"/>
                        </a:lnSpc>
                      </a:pPr>
                      <a:r>
                        <a:rPr b="1" lang="en-US" sz="950" spc="-1" strike="noStrike">
                          <a:solidFill>
                            <a:srgbClr val="ffffff"/>
                          </a:solidFill>
                          <a:latin typeface="Segoe UI"/>
                        </a:rPr>
                        <a:t>Corriente de entrada</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293760">
                <a:tc>
                  <a:txBody>
                    <a:bodyPr lIns="82080" rIns="82080" tIns="27360" bIns="27360" anchor="ctr">
                      <a:noAutofit/>
                    </a:bodyPr>
                    <a:p>
                      <a:pPr algn="ctr" defTabSz="457200">
                        <a:lnSpc>
                          <a:spcPct val="100000"/>
                        </a:lnSpc>
                      </a:pPr>
                      <a:r>
                        <a:rPr b="0" lang="en-US" sz="950" spc="-1" strike="noStrike">
                          <a:solidFill>
                            <a:srgbClr val="1c2430"/>
                          </a:solidFill>
                          <a:latin typeface="Segoe UI"/>
                        </a:rPr>
                        <a:t>-R70A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50 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0,66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2,1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0,4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93760">
                <a:tc>
                  <a:txBody>
                    <a:bodyPr lIns="82080" rIns="82080" tIns="27360" bIns="27360" anchor="ctr">
                      <a:noAutofit/>
                    </a:bodyPr>
                    <a:p>
                      <a:pPr algn="ctr" defTabSz="457200">
                        <a:lnSpc>
                          <a:spcPct val="100000"/>
                        </a:lnSpc>
                      </a:pPr>
                      <a:r>
                        <a:rPr b="0" lang="en-US" sz="950" spc="-1" strike="noStrike">
                          <a:solidFill>
                            <a:srgbClr val="1c2430"/>
                          </a:solidFill>
                          <a:latin typeface="Segoe UI"/>
                        </a:rPr>
                        <a:t>-R90A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100 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0,91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3,2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0,8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293760">
                <a:tc>
                  <a:txBody>
                    <a:bodyPr lIns="82080" rIns="82080" tIns="27360" bIns="27360" anchor="ctr">
                      <a:noAutofit/>
                    </a:bodyPr>
                    <a:p>
                      <a:pPr algn="ctr" defTabSz="457200">
                        <a:lnSpc>
                          <a:spcPct val="100000"/>
                        </a:lnSpc>
                      </a:pPr>
                      <a:r>
                        <a:rPr b="0" lang="en-US" sz="950" spc="-1" strike="noStrike">
                          <a:solidFill>
                            <a:srgbClr val="1c2430"/>
                          </a:solidFill>
                          <a:latin typeface="Segoe UI"/>
                        </a:rPr>
                        <a:t>-1R6A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200 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1,6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5,9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1,3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93760">
                <a:tc>
                  <a:txBody>
                    <a:bodyPr lIns="82080" rIns="82080" tIns="27360" bIns="27360" anchor="ctr">
                      <a:noAutofit/>
                    </a:bodyPr>
                    <a:p>
                      <a:pPr algn="ctr" defTabSz="457200">
                        <a:lnSpc>
                          <a:spcPct val="100000"/>
                        </a:lnSpc>
                      </a:pPr>
                      <a:r>
                        <a:rPr b="0" lang="en-US" sz="950" spc="-1" strike="noStrike">
                          <a:solidFill>
                            <a:srgbClr val="1c2430"/>
                          </a:solidFill>
                          <a:latin typeface="Segoe UI"/>
                        </a:rPr>
                        <a:t>-2R8A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400 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2,8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9,3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2,5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293760">
                <a:tc>
                  <a:txBody>
                    <a:bodyPr lIns="82080" rIns="82080" tIns="27360" bIns="27360" anchor="ctr">
                      <a:noAutofit/>
                    </a:bodyPr>
                    <a:p>
                      <a:pPr algn="ctr" defTabSz="457200">
                        <a:lnSpc>
                          <a:spcPct val="100000"/>
                        </a:lnSpc>
                      </a:pPr>
                      <a:r>
                        <a:rPr b="0" lang="en-US" sz="950" spc="-1" strike="noStrike">
                          <a:solidFill>
                            <a:srgbClr val="1c2430"/>
                          </a:solidFill>
                          <a:latin typeface="Segoe UI"/>
                        </a:rPr>
                        <a:t>-3R8A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500 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3,8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11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3,0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93760">
                <a:tc>
                  <a:txBody>
                    <a:bodyPr lIns="82080" rIns="82080" tIns="27360" bIns="27360" anchor="ctr">
                      <a:noAutofit/>
                    </a:bodyPr>
                    <a:p>
                      <a:pPr algn="ctr" defTabSz="457200">
                        <a:lnSpc>
                          <a:spcPct val="100000"/>
                        </a:lnSpc>
                      </a:pPr>
                      <a:r>
                        <a:rPr b="0" lang="en-US" sz="950" spc="-1" strike="noStrike">
                          <a:solidFill>
                            <a:srgbClr val="1c2430"/>
                          </a:solidFill>
                          <a:latin typeface="Segoe UI"/>
                        </a:rPr>
                        <a:t>-5R5A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750 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5,5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16,9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4,1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293760">
                <a:tc>
                  <a:txBody>
                    <a:bodyPr lIns="82080" rIns="82080" tIns="27360" bIns="27360" anchor="ctr">
                      <a:noAutofit/>
                    </a:bodyPr>
                    <a:p>
                      <a:pPr algn="ctr" defTabSz="457200">
                        <a:lnSpc>
                          <a:spcPct val="100000"/>
                        </a:lnSpc>
                      </a:pPr>
                      <a:r>
                        <a:rPr b="0" lang="en-US" sz="950" spc="-1" strike="noStrike">
                          <a:solidFill>
                            <a:srgbClr val="1c2430"/>
                          </a:solidFill>
                          <a:latin typeface="Segoe UI"/>
                        </a:rPr>
                        <a:t>-7R6A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1,0 kW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7,6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17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5,7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93760">
                <a:tc>
                  <a:txBody>
                    <a:bodyPr lIns="82080" rIns="82080" tIns="27360" bIns="27360" anchor="ctr">
                      <a:noAutofit/>
                    </a:bodyPr>
                    <a:p>
                      <a:pPr algn="ctr" defTabSz="457200">
                        <a:lnSpc>
                          <a:spcPct val="100000"/>
                        </a:lnSpc>
                      </a:pPr>
                      <a:r>
                        <a:rPr b="0" lang="en-US" sz="950" spc="-1" strike="noStrike">
                          <a:solidFill>
                            <a:srgbClr val="1c2430"/>
                          </a:solidFill>
                          <a:latin typeface="Segoe UI"/>
                        </a:rPr>
                        <a:t>-120A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1,5 kW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11,6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28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7,3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293760">
                <a:tc>
                  <a:txBody>
                    <a:bodyPr lIns="82080" rIns="82080" tIns="27360" bIns="27360" anchor="ctr">
                      <a:noAutofit/>
                    </a:bodyPr>
                    <a:p>
                      <a:pPr algn="ctr" defTabSz="457200">
                        <a:lnSpc>
                          <a:spcPct val="100000"/>
                        </a:lnSpc>
                      </a:pPr>
                      <a:r>
                        <a:rPr b="0" lang="en-US" sz="950" spc="-1" strike="noStrike">
                          <a:solidFill>
                            <a:srgbClr val="1c2430"/>
                          </a:solidFill>
                          <a:latin typeface="Segoe UI"/>
                        </a:rPr>
                        <a:t>-180A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2,0 kW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18,5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42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10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93760">
                <a:tc>
                  <a:txBody>
                    <a:bodyPr lIns="82080" rIns="82080" tIns="27360" bIns="27360" anchor="ctr">
                      <a:noAutofit/>
                    </a:bodyPr>
                    <a:p>
                      <a:pPr algn="ctr" defTabSz="457200">
                        <a:lnSpc>
                          <a:spcPct val="100000"/>
                        </a:lnSpc>
                      </a:pPr>
                      <a:r>
                        <a:rPr b="1" lang="en-US" sz="950" spc="-1" strike="noStrike">
                          <a:solidFill>
                            <a:srgbClr val="1c2430"/>
                          </a:solidFill>
                          <a:latin typeface="Segoe UI"/>
                        </a:rPr>
                        <a:t>-200A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1" lang="en-US" sz="950" spc="-1" strike="noStrike">
                          <a:solidFill>
                            <a:srgbClr val="1c2430"/>
                          </a:solidFill>
                          <a:latin typeface="Segoe UI"/>
                        </a:rPr>
                        <a:t>3,0 kW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1" lang="en-US" sz="950" spc="-1" strike="noStrike">
                          <a:solidFill>
                            <a:srgbClr val="1c2430"/>
                          </a:solidFill>
                          <a:latin typeface="Segoe UI"/>
                        </a:rPr>
                        <a:t>19,6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1" lang="en-US" sz="950" spc="-1" strike="noStrike">
                          <a:solidFill>
                            <a:srgbClr val="1c2430"/>
                          </a:solidFill>
                          <a:latin typeface="Segoe UI"/>
                        </a:rPr>
                        <a:t>56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1" lang="en-US" sz="950" spc="-1" strike="noStrike">
                          <a:solidFill>
                            <a:srgbClr val="1c2430"/>
                          </a:solidFill>
                          <a:latin typeface="Segoe UI"/>
                        </a:rPr>
                        <a:t>15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293760">
                <a:tc>
                  <a:txBody>
                    <a:bodyPr lIns="82080" rIns="82080" tIns="27360" bIns="27360" anchor="ctr">
                      <a:noAutofit/>
                    </a:bodyPr>
                    <a:p>
                      <a:pPr algn="ctr" defTabSz="457200">
                        <a:lnSpc>
                          <a:spcPct val="100000"/>
                        </a:lnSpc>
                      </a:pPr>
                      <a:r>
                        <a:rPr b="0" lang="en-US" sz="950" spc="-1" strike="noStrike">
                          <a:solidFill>
                            <a:srgbClr val="1c2430"/>
                          </a:solidFill>
                          <a:latin typeface="Segoe UI"/>
                        </a:rPr>
                        <a:t>-330A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5,0 kW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32,9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84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25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93760">
                <a:tc>
                  <a:txBody>
                    <a:bodyPr lIns="82080" rIns="82080" tIns="27360" bIns="27360" anchor="ctr">
                      <a:noAutofit/>
                    </a:bodyPr>
                    <a:p>
                      <a:pPr algn="ctr" defTabSz="457200">
                        <a:lnSpc>
                          <a:spcPct val="100000"/>
                        </a:lnSpc>
                      </a:pPr>
                      <a:r>
                        <a:rPr b="0" lang="en-US" sz="950" spc="-1" strike="noStrike">
                          <a:solidFill>
                            <a:srgbClr val="1c2430"/>
                          </a:solidFill>
                          <a:latin typeface="Segoe UI"/>
                        </a:rPr>
                        <a:t>-470A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6,0 kW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46,9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110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29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293760">
                <a:tc>
                  <a:txBody>
                    <a:bodyPr lIns="82080" rIns="82080" tIns="27360" bIns="27360" anchor="ctr">
                      <a:noAutofit/>
                    </a:bodyPr>
                    <a:p>
                      <a:pPr algn="ctr" defTabSz="457200">
                        <a:lnSpc>
                          <a:spcPct val="100000"/>
                        </a:lnSpc>
                      </a:pPr>
                      <a:r>
                        <a:rPr b="0" lang="en-US" sz="950" spc="-1" strike="noStrike">
                          <a:solidFill>
                            <a:srgbClr val="1c2430"/>
                          </a:solidFill>
                          <a:latin typeface="Segoe UI"/>
                        </a:rPr>
                        <a:t>-550A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7,5 kW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54,7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130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37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93760">
                <a:tc>
                  <a:txBody>
                    <a:bodyPr lIns="82080" rIns="82080" tIns="27360" bIns="27360" anchor="ctr">
                      <a:noAutofit/>
                    </a:bodyPr>
                    <a:p>
                      <a:pPr algn="ctr" defTabSz="457200">
                        <a:lnSpc>
                          <a:spcPct val="100000"/>
                        </a:lnSpc>
                      </a:pPr>
                      <a:r>
                        <a:rPr b="0" lang="en-US" sz="950" spc="-1" strike="noStrike">
                          <a:solidFill>
                            <a:srgbClr val="1c2430"/>
                          </a:solidFill>
                          <a:latin typeface="Segoe UI"/>
                        </a:rPr>
                        <a:t>-780A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15 kW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78,0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170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950" spc="-1" strike="noStrike">
                          <a:solidFill>
                            <a:srgbClr val="1c2430"/>
                          </a:solidFill>
                          <a:latin typeface="Segoe UI"/>
                        </a:rPr>
                        <a:t>73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
        <p:nvSpPr>
          <p:cNvPr id="531"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Valores del manual SIEP C710812 03I, tabla 2.1.1 (trifásica 200 VAC). Corrientes eficaces; la de pico es admisible sólo de forma instantánea.</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2"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33"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534"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Ficha técnica del SGDXS-200A00A</a:t>
            </a:r>
            <a:endParaRPr b="0" lang="en-US" sz="2500" spc="-1" strike="noStrike">
              <a:solidFill>
                <a:srgbClr val="000000"/>
              </a:solidFill>
              <a:latin typeface="Arial"/>
            </a:endParaRPr>
          </a:p>
        </p:txBody>
      </p:sp>
      <p:sp>
        <p:nvSpPr>
          <p:cNvPr id="535"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Datos tomados del manual oficial del fabricante</a:t>
            </a:r>
            <a:endParaRPr b="0" lang="en-US" sz="1250" spc="-1" strike="noStrike">
              <a:solidFill>
                <a:srgbClr val="000000"/>
              </a:solidFill>
              <a:latin typeface="Arial"/>
            </a:endParaRPr>
          </a:p>
        </p:txBody>
      </p:sp>
      <p:sp>
        <p:nvSpPr>
          <p:cNvPr id="536"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02</a:t>
            </a:r>
            <a:endParaRPr b="0" lang="en-US" sz="1100" spc="-1" strike="noStrike">
              <a:solidFill>
                <a:srgbClr val="000000"/>
              </a:solidFill>
              <a:latin typeface="Arial"/>
            </a:endParaRPr>
          </a:p>
        </p:txBody>
      </p:sp>
      <p:sp>
        <p:nvSpPr>
          <p:cNvPr id="537"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538"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26</a:t>
            </a:r>
            <a:endParaRPr b="0" lang="en-US" sz="900" spc="-1" strike="noStrike">
              <a:solidFill>
                <a:srgbClr val="000000"/>
              </a:solidFill>
              <a:latin typeface="Arial"/>
            </a:endParaRPr>
          </a:p>
        </p:txBody>
      </p:sp>
      <p:graphicFrame>
        <p:nvGraphicFramePr>
          <p:cNvPr id="539" name="Table 8"/>
          <p:cNvGraphicFramePr/>
          <p:nvPr/>
        </p:nvGraphicFramePr>
        <p:xfrm>
          <a:off x="567000" y="1481400"/>
          <a:ext cx="11057400" cy="4461840"/>
        </p:xfrm>
        <a:graphic>
          <a:graphicData uri="http://schemas.openxmlformats.org/drawingml/2006/table">
            <a:tbl>
              <a:tblPr/>
              <a:tblGrid>
                <a:gridCol w="3417840"/>
                <a:gridCol w="3920400"/>
                <a:gridCol w="371916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Concepto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Valor oficial</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Para qué lo necesitas</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Segoe UI"/>
                        </a:rPr>
                        <a:t>Capacidad máxima de motor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3,0 kW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Debe coincidir con la del motor combinado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Segoe UI"/>
                        </a:rPr>
                        <a:t>Corriente de salida continua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19,6 A eficaces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Corresponde al par nominal sostenido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Segoe UI"/>
                        </a:rPr>
                        <a:t>Corriente de salida instantánea máxima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56 A eficaces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Corresponde al par de aceleración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Segoe UI"/>
                        </a:rPr>
                        <a:t>Alimentación del circuito principal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Trifásica 200–240 V CA, 50/60 Hz, −15 % / +10 %</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Bornes </a:t>
                      </a:r>
                      <a:r>
                        <a:rPr b="0" lang="en-US" sz="950" spc="-1" strike="noStrike">
                          <a:solidFill>
                            <a:srgbClr val="1c2430"/>
                          </a:solidFill>
                          <a:latin typeface="Consolas"/>
                        </a:rPr>
                        <a:t>L1</a:t>
                      </a:r>
                      <a:r>
                        <a:rPr b="0" lang="en-US" sz="950" spc="-1" strike="noStrike">
                          <a:solidFill>
                            <a:srgbClr val="1c2430"/>
                          </a:solidFill>
                          <a:latin typeface="Segoe UI"/>
                        </a:rPr>
                        <a:t> </a:t>
                      </a:r>
                      <a:r>
                        <a:rPr b="0" lang="en-US" sz="950" spc="-1" strike="noStrike">
                          <a:solidFill>
                            <a:srgbClr val="1c2430"/>
                          </a:solidFill>
                          <a:latin typeface="Consolas"/>
                        </a:rPr>
                        <a:t>L2</a:t>
                      </a:r>
                      <a:r>
                        <a:rPr b="0" lang="en-US" sz="950" spc="-1" strike="noStrike">
                          <a:solidFill>
                            <a:srgbClr val="1c2430"/>
                          </a:solidFill>
                          <a:latin typeface="Segoe UI"/>
                        </a:rPr>
                        <a:t> </a:t>
                      </a:r>
                      <a:r>
                        <a:rPr b="0" lang="en-US" sz="950" spc="-1" strike="noStrike">
                          <a:solidFill>
                            <a:srgbClr val="1c2430"/>
                          </a:solidFill>
                          <a:latin typeface="Consolas"/>
                        </a:rPr>
                        <a:t>L3</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Segoe UI"/>
                        </a:rPr>
                        <a:t>Corriente de entrada del circuito principal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15 A eficaces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Dimensiona cable, protección y contactor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Segoe UI"/>
                        </a:rPr>
                        <a:t>Alimentación del circuito de control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200–240 V CA, 0,25 A eficaces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Bornes </a:t>
                      </a:r>
                      <a:r>
                        <a:rPr b="0" lang="en-US" sz="950" spc="-1" strike="noStrike">
                          <a:solidFill>
                            <a:srgbClr val="1c2430"/>
                          </a:solidFill>
                          <a:latin typeface="Consolas"/>
                        </a:rPr>
                        <a:t>L1C</a:t>
                      </a:r>
                      <a:r>
                        <a:rPr b="0" lang="en-US" sz="950" spc="-1" strike="noStrike">
                          <a:solidFill>
                            <a:srgbClr val="1c2430"/>
                          </a:solidFill>
                          <a:latin typeface="Segoe UI"/>
                        </a:rPr>
                        <a:t> </a:t>
                      </a:r>
                      <a:r>
                        <a:rPr b="0" lang="en-US" sz="950" spc="-1" strike="noStrike">
                          <a:solidFill>
                            <a:srgbClr val="1c2430"/>
                          </a:solidFill>
                          <a:latin typeface="Consolas"/>
                        </a:rPr>
                        <a:t>L2C</a:t>
                      </a:r>
                      <a:r>
                        <a:rPr b="0" lang="en-US" sz="950" spc="-1" strike="noStrike">
                          <a:solidFill>
                            <a:srgbClr val="1c2430"/>
                          </a:solidFill>
                          <a:latin typeface="Segoe UI"/>
                        </a:rPr>
                        <a:t>, independientes de la potencia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Segoe UI"/>
                        </a:rPr>
                        <a:t>Capacidad de alimentación requerida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5,9 kVA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Dato para la acometida o el transformador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Segoe UI"/>
                        </a:rPr>
                        <a:t>Pérdidas totales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130,2 W (114,2 W potencia + 16 W control)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Balance térmico del armario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Segoe UI"/>
                        </a:rPr>
                        <a:t>Resistencia de regeneración incorporada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10 Ω · 60 W · 30 W de consumo admisible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Suficiente para frenados moderados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Segoe UI"/>
                        </a:rPr>
                        <a:t>Resistencia externa mínima admisible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10 Ω</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Nunca</a:t>
                      </a:r>
                      <a:r>
                        <a:rPr b="0" lang="en-US" sz="950" spc="-1" strike="noStrike">
                          <a:solidFill>
                            <a:srgbClr val="1c2430"/>
                          </a:solidFill>
                          <a:latin typeface="Segoe UI"/>
                        </a:rPr>
                        <a:t> conectes una resistencia de menor valor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Segoe UI"/>
                        </a:rPr>
                        <a:t>Categoría de sobretensión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III</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Coordinación de aislamiento de la instalación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Segoe UI"/>
                        </a:rPr>
                        <a:t>Realimentación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Encoder serie (hasta 26 bits en motores Σ-X)</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Conector </a:t>
                      </a:r>
                      <a:r>
                        <a:rPr b="0" lang="en-US" sz="950" spc="-1" strike="noStrike">
                          <a:solidFill>
                            <a:srgbClr val="1c2430"/>
                          </a:solidFill>
                          <a:latin typeface="Consolas"/>
                        </a:rPr>
                        <a:t>CN2</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
        <p:nvSpPr>
          <p:cNvPr id="540"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Fuente: Σ-XS SERVOPACK with Analog Voltage/Pulse Train References Product Manual, SIEP C710812 03I, apartado 2.1 (YASKAWA).</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1"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42"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543"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Interfaces de comando disponibles</a:t>
            </a:r>
            <a:endParaRPr b="0" lang="en-US" sz="2500" spc="-1" strike="noStrike">
              <a:solidFill>
                <a:srgbClr val="000000"/>
              </a:solidFill>
              <a:latin typeface="Arial"/>
            </a:endParaRPr>
          </a:p>
        </p:txBody>
      </p:sp>
      <p:sp>
        <p:nvSpPr>
          <p:cNvPr id="544"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variante se decide </a:t>
            </a:r>
            <a:r>
              <a:rPr b="1" lang="en-US" sz="1250" spc="-1" strike="noStrike">
                <a:solidFill>
                  <a:srgbClr val="a9c6e0"/>
                </a:solidFill>
                <a:latin typeface="Segoe UI"/>
              </a:rPr>
              <a:t>al comprar</a:t>
            </a:r>
            <a:r>
              <a:rPr b="0" lang="en-US" sz="1250" spc="-1" strike="noStrike">
                <a:solidFill>
                  <a:srgbClr val="a9c6e0"/>
                </a:solidFill>
                <a:latin typeface="Segoe UI"/>
              </a:rPr>
              <a:t>: forma parte del código de modelo</a:t>
            </a:r>
            <a:endParaRPr b="0" lang="en-US" sz="1250" spc="-1" strike="noStrike">
              <a:solidFill>
                <a:srgbClr val="000000"/>
              </a:solidFill>
              <a:latin typeface="Arial"/>
            </a:endParaRPr>
          </a:p>
        </p:txBody>
      </p:sp>
      <p:sp>
        <p:nvSpPr>
          <p:cNvPr id="545"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02</a:t>
            </a:r>
            <a:endParaRPr b="0" lang="en-US" sz="1100" spc="-1" strike="noStrike">
              <a:solidFill>
                <a:srgbClr val="000000"/>
              </a:solidFill>
              <a:latin typeface="Arial"/>
            </a:endParaRPr>
          </a:p>
        </p:txBody>
      </p:sp>
      <p:sp>
        <p:nvSpPr>
          <p:cNvPr id="546"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547"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27</a:t>
            </a:r>
            <a:endParaRPr b="0" lang="en-US" sz="900" spc="-1" strike="noStrike">
              <a:solidFill>
                <a:srgbClr val="000000"/>
              </a:solidFill>
              <a:latin typeface="Arial"/>
            </a:endParaRPr>
          </a:p>
        </p:txBody>
      </p:sp>
      <p:graphicFrame>
        <p:nvGraphicFramePr>
          <p:cNvPr id="548" name="Table 8"/>
          <p:cNvGraphicFramePr/>
          <p:nvPr/>
        </p:nvGraphicFramePr>
        <p:xfrm>
          <a:off x="567000" y="1481400"/>
          <a:ext cx="11057400" cy="4461840"/>
        </p:xfrm>
        <a:graphic>
          <a:graphicData uri="http://schemas.openxmlformats.org/drawingml/2006/table">
            <a:tbl>
              <a:tblPr/>
              <a:tblGrid>
                <a:gridCol w="3015720"/>
                <a:gridCol w="4020840"/>
                <a:gridCol w="4020840"/>
              </a:tblGrid>
              <a:tr h="347400">
                <a:tc>
                  <a:txBody>
                    <a:bodyPr lIns="82080" rIns="82080" tIns="27360" bIns="27360" anchor="ctr">
                      <a:noAutofit/>
                    </a:bodyPr>
                    <a:p>
                      <a:pPr defTabSz="457200">
                        <a:lnSpc>
                          <a:spcPct val="100000"/>
                        </a:lnSpc>
                      </a:pPr>
                      <a:r>
                        <a:rPr b="1" lang="en-US" sz="1050" spc="-1" strike="noStrike">
                          <a:solidFill>
                            <a:srgbClr val="ffffff"/>
                          </a:solidFill>
                          <a:latin typeface="Segoe UI"/>
                        </a:rPr>
                        <a:t>Interfaz</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50" spc="-1" strike="noStrike">
                          <a:solidFill>
                            <a:srgbClr val="ffffff"/>
                          </a:solidFill>
                          <a:latin typeface="Segoe UI"/>
                        </a:rPr>
                        <a:t>Cómo llega la consigna</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50" spc="-1" strike="noStrike">
                          <a:solidFill>
                            <a:srgbClr val="ffffff"/>
                          </a:solidFill>
                          <a:latin typeface="Segoe UI"/>
                        </a:rPr>
                        <a:t>Cuándo elegirla</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1028520">
                <a:tc>
                  <a:txBody>
                    <a:bodyPr lIns="82080" rIns="82080" tIns="27360" bIns="27360" anchor="ctr">
                      <a:noAutofit/>
                    </a:bodyPr>
                    <a:p>
                      <a:pPr defTabSz="457200">
                        <a:lnSpc>
                          <a:spcPct val="100000"/>
                        </a:lnSpc>
                      </a:pPr>
                      <a:r>
                        <a:rPr b="0" lang="en-US" sz="1050" spc="-1" strike="noStrike">
                          <a:solidFill>
                            <a:srgbClr val="1c2430"/>
                          </a:solidFill>
                          <a:latin typeface="Segoe UI"/>
                        </a:rPr>
                        <a:t>Tensión analógica y tren de pulsos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±10 V para velocidad/par y </a:t>
                      </a:r>
                      <a:r>
                        <a:rPr b="0" lang="en-US" sz="1050" spc="-1" strike="noStrike">
                          <a:solidFill>
                            <a:srgbClr val="1c2430"/>
                          </a:solidFill>
                          <a:latin typeface="Consolas"/>
                        </a:rPr>
                        <a:t>PULS</a:t>
                      </a:r>
                      <a:r>
                        <a:rPr b="0" lang="en-US" sz="1050" spc="-1" strike="noStrike">
                          <a:solidFill>
                            <a:srgbClr val="1c2430"/>
                          </a:solidFill>
                          <a:latin typeface="Segoe UI"/>
                        </a:rPr>
                        <a:t>/</a:t>
                      </a:r>
                      <a:r>
                        <a:rPr b="0" lang="en-US" sz="1050" spc="-1" strike="noStrike">
                          <a:solidFill>
                            <a:srgbClr val="1c2430"/>
                          </a:solidFill>
                          <a:latin typeface="Consolas"/>
                        </a:rPr>
                        <a:t>SIGN</a:t>
                      </a:r>
                      <a:r>
                        <a:rPr b="0" lang="en-US" sz="1050" spc="-1" strike="noStrike">
                          <a:solidFill>
                            <a:srgbClr val="1c2430"/>
                          </a:solidFill>
                          <a:latin typeface="Segoe UI"/>
                        </a:rPr>
                        <a:t> para posición</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Retrofit, CNC clásicos, controladores con salida de pulsos. Cableado sencillo y sin latencia de red.</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1028520">
                <a:tc>
                  <a:txBody>
                    <a:bodyPr lIns="82080" rIns="82080" tIns="27360" bIns="27360" anchor="ctr">
                      <a:noAutofit/>
                    </a:bodyPr>
                    <a:p>
                      <a:pPr defTabSz="457200">
                        <a:lnSpc>
                          <a:spcPct val="100000"/>
                        </a:lnSpc>
                      </a:pPr>
                      <a:r>
                        <a:rPr b="0" lang="en-US" sz="1050" spc="-1" strike="noStrike">
                          <a:solidFill>
                            <a:srgbClr val="1c2430"/>
                          </a:solidFill>
                          <a:latin typeface="Segoe UI"/>
                        </a:rPr>
                        <a:t>MECHATROLINK-II / III</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Bus de movimiento propietario YASKAWA sobre cable dedicado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Máquinas con controlador YASKAWA (MP2000/MP3000). Sincronismo entre ejes excelente.</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1028520">
                <a:tc>
                  <a:txBody>
                    <a:bodyPr lIns="82080" rIns="82080" tIns="27360" bIns="27360" anchor="ctr">
                      <a:noAutofit/>
                    </a:bodyPr>
                    <a:p>
                      <a:pPr defTabSz="457200">
                        <a:lnSpc>
                          <a:spcPct val="100000"/>
                        </a:lnSpc>
                      </a:pPr>
                      <a:r>
                        <a:rPr b="0" lang="en-US" sz="1050" spc="-1" strike="noStrike">
                          <a:solidFill>
                            <a:srgbClr val="1c2430"/>
                          </a:solidFill>
                          <a:latin typeface="Segoe UI"/>
                        </a:rPr>
                        <a:t>EtherCAT (CoE, perfil CiA 402)</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Telegramas cíclicos sobre Ethernet industrial</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La opción más habitual en instalaciones nuevas con PLC de terceros (Beckhoff, Omron, Codesys…).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1028520">
                <a:tc>
                  <a:txBody>
                    <a:bodyPr lIns="82080" rIns="82080" tIns="27360" bIns="27360" anchor="ctr">
                      <a:noAutofit/>
                    </a:bodyPr>
                    <a:p>
                      <a:pPr defTabSz="457200">
                        <a:lnSpc>
                          <a:spcPct val="100000"/>
                        </a:lnSpc>
                      </a:pPr>
                      <a:r>
                        <a:rPr b="0" lang="en-US" sz="1050" spc="-1" strike="noStrike">
                          <a:solidFill>
                            <a:srgbClr val="1c2430"/>
                          </a:solidFill>
                          <a:latin typeface="Segoe UI"/>
                        </a:rPr>
                        <a:t>Modo indexador / posicionamiento interno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Tablas de posiciones almacenadas en el drive, disparadas por E/S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Máquinas sencillas sin controlador de movimiento.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
        <p:nvSpPr>
          <p:cNvPr id="549"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El sufijo del código identifica la interfaz. Verifica el sufijo exacto en el catálogo antes de emitir el pedido: no se puede cambiar después.</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0"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51"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552" name="TextBox 3"/>
          <p:cNvSpPr/>
          <p:nvPr/>
        </p:nvSpPr>
        <p:spPr>
          <a:xfrm>
            <a:off x="567000" y="182880"/>
            <a:ext cx="8954280" cy="372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440" spc="-1" strike="noStrike">
                <a:solidFill>
                  <a:srgbClr val="ffffff"/>
                </a:solidFill>
                <a:latin typeface="Segoe UI Semibold"/>
              </a:rPr>
              <a:t>Periféricos y accesorios que casi siempre hacen falta</a:t>
            </a:r>
            <a:endParaRPr b="0" lang="en-US" sz="2440" spc="-1" strike="noStrike">
              <a:solidFill>
                <a:srgbClr val="000000"/>
              </a:solidFill>
              <a:latin typeface="Arial"/>
            </a:endParaRPr>
          </a:p>
        </p:txBody>
      </p:sp>
      <p:sp>
        <p:nvSpPr>
          <p:cNvPr id="553"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Lista de la compra del armario</a:t>
            </a:r>
            <a:endParaRPr b="0" lang="en-US" sz="1250" spc="-1" strike="noStrike">
              <a:solidFill>
                <a:srgbClr val="000000"/>
              </a:solidFill>
              <a:latin typeface="Arial"/>
            </a:endParaRPr>
          </a:p>
        </p:txBody>
      </p:sp>
      <p:sp>
        <p:nvSpPr>
          <p:cNvPr id="554"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02</a:t>
            </a:r>
            <a:endParaRPr b="0" lang="en-US" sz="1100" spc="-1" strike="noStrike">
              <a:solidFill>
                <a:srgbClr val="000000"/>
              </a:solidFill>
              <a:latin typeface="Arial"/>
            </a:endParaRPr>
          </a:p>
        </p:txBody>
      </p:sp>
      <p:sp>
        <p:nvSpPr>
          <p:cNvPr id="555"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556"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28</a:t>
            </a:r>
            <a:endParaRPr b="0" lang="en-US" sz="900" spc="-1" strike="noStrike">
              <a:solidFill>
                <a:srgbClr val="000000"/>
              </a:solidFill>
              <a:latin typeface="Arial"/>
            </a:endParaRPr>
          </a:p>
        </p:txBody>
      </p:sp>
      <p:graphicFrame>
        <p:nvGraphicFramePr>
          <p:cNvPr id="557" name="Table 8"/>
          <p:cNvGraphicFramePr/>
          <p:nvPr/>
        </p:nvGraphicFramePr>
        <p:xfrm>
          <a:off x="567000" y="1481400"/>
          <a:ext cx="11057400" cy="4845960"/>
        </p:xfrm>
        <a:graphic>
          <a:graphicData uri="http://schemas.openxmlformats.org/drawingml/2006/table">
            <a:tbl>
              <a:tblPr/>
              <a:tblGrid>
                <a:gridCol w="3417840"/>
                <a:gridCol w="5428080"/>
                <a:gridCol w="2211480"/>
              </a:tblGrid>
              <a:tr h="347400">
                <a:tc>
                  <a:txBody>
                    <a:bodyPr lIns="82080" rIns="82080" tIns="27360" bIns="27360" anchor="ctr">
                      <a:noAutofit/>
                    </a:bodyPr>
                    <a:p>
                      <a:pPr defTabSz="457200">
                        <a:lnSpc>
                          <a:spcPct val="100000"/>
                        </a:lnSpc>
                      </a:pPr>
                      <a:r>
                        <a:rPr b="1" lang="en-US" sz="1000" spc="-1" strike="noStrike">
                          <a:solidFill>
                            <a:srgbClr val="ffffff"/>
                          </a:solidFill>
                          <a:latin typeface="Segoe UI"/>
                        </a:rPr>
                        <a:t>Elemento</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Para qué sirve</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¿Obligatorio?</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408960">
                <a:tc>
                  <a:txBody>
                    <a:bodyPr lIns="82080" rIns="82080" tIns="27360" bIns="27360" anchor="ctr">
                      <a:noAutofit/>
                    </a:bodyPr>
                    <a:p>
                      <a:pPr defTabSz="457200">
                        <a:lnSpc>
                          <a:spcPct val="100000"/>
                        </a:lnSpc>
                      </a:pPr>
                      <a:r>
                        <a:rPr b="0" lang="en-US" sz="1000" spc="-1" strike="noStrike">
                          <a:solidFill>
                            <a:srgbClr val="1c2430"/>
                          </a:solidFill>
                          <a:latin typeface="Segoe UI"/>
                        </a:rPr>
                        <a:t>Interruptor automático o fusibles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Protección de cortocircuito de la línea de entrada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Sí</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8960">
                <a:tc>
                  <a:txBody>
                    <a:bodyPr lIns="82080" rIns="82080" tIns="27360" bIns="27360" anchor="ctr">
                      <a:noAutofit/>
                    </a:bodyPr>
                    <a:p>
                      <a:pPr defTabSz="457200">
                        <a:lnSpc>
                          <a:spcPct val="100000"/>
                        </a:lnSpc>
                      </a:pPr>
                      <a:r>
                        <a:rPr b="0" lang="en-US" sz="1000" spc="-1" strike="noStrike">
                          <a:solidFill>
                            <a:srgbClr val="1c2430"/>
                          </a:solidFill>
                          <a:latin typeface="Segoe UI"/>
                        </a:rPr>
                        <a:t>Contactor de línea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Cortar la potencia manteniendo el control vivo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Muy recomendable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08960">
                <a:tc>
                  <a:txBody>
                    <a:bodyPr lIns="82080" rIns="82080" tIns="27360" bIns="27360" anchor="ctr">
                      <a:noAutofit/>
                    </a:bodyPr>
                    <a:p>
                      <a:pPr defTabSz="457200">
                        <a:lnSpc>
                          <a:spcPct val="100000"/>
                        </a:lnSpc>
                      </a:pPr>
                      <a:r>
                        <a:rPr b="0" lang="en-US" sz="1000" spc="-1" strike="noStrike">
                          <a:solidFill>
                            <a:srgbClr val="1c2430"/>
                          </a:solidFill>
                          <a:latin typeface="Segoe UI"/>
                        </a:rPr>
                        <a:t>Filtro de red (EMC)</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Cumplir la directiva de compatibilidad electromagnética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Sí en marcado CE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8960">
                <a:tc>
                  <a:txBody>
                    <a:bodyPr lIns="82080" rIns="82080" tIns="27360" bIns="27360" anchor="ctr">
                      <a:noAutofit/>
                    </a:bodyPr>
                    <a:p>
                      <a:pPr defTabSz="457200">
                        <a:lnSpc>
                          <a:spcPct val="100000"/>
                        </a:lnSpc>
                      </a:pPr>
                      <a:r>
                        <a:rPr b="0" lang="en-US" sz="1000" spc="-1" strike="noStrike">
                          <a:solidFill>
                            <a:srgbClr val="1c2430"/>
                          </a:solidFill>
                          <a:latin typeface="Segoe UI"/>
                        </a:rPr>
                        <a:t>Reactancia de línea de CA/CC</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Reducir armónicos y proteger frente a red dura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Recomendable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08960">
                <a:tc>
                  <a:txBody>
                    <a:bodyPr lIns="82080" rIns="82080" tIns="27360" bIns="27360" anchor="ctr">
                      <a:noAutofit/>
                    </a:bodyPr>
                    <a:p>
                      <a:pPr defTabSz="457200">
                        <a:lnSpc>
                          <a:spcPct val="100000"/>
                        </a:lnSpc>
                      </a:pPr>
                      <a:r>
                        <a:rPr b="0" lang="en-US" sz="1000" spc="-1" strike="noStrike">
                          <a:solidFill>
                            <a:srgbClr val="1c2430"/>
                          </a:solidFill>
                          <a:latin typeface="Segoe UI"/>
                        </a:rPr>
                        <a:t>Resistencia de regeneración externa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Disipar la energía de frenado cuando la interna no basta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Según cálculo (Módulo 04)</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8960">
                <a:tc>
                  <a:txBody>
                    <a:bodyPr lIns="82080" rIns="82080" tIns="27360" bIns="27360" anchor="ctr">
                      <a:noAutofit/>
                    </a:bodyPr>
                    <a:p>
                      <a:pPr defTabSz="457200">
                        <a:lnSpc>
                          <a:spcPct val="100000"/>
                        </a:lnSpc>
                      </a:pPr>
                      <a:r>
                        <a:rPr b="0" lang="en-US" sz="1000" spc="-1" strike="noStrike">
                          <a:solidFill>
                            <a:srgbClr val="1c2430"/>
                          </a:solidFill>
                          <a:latin typeface="Segoe UI"/>
                        </a:rPr>
                        <a:t>Cable de potencia de motor apantallado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Alimentar </a:t>
                      </a:r>
                      <a:r>
                        <a:rPr b="0" lang="en-US" sz="1000" spc="-1" strike="noStrike">
                          <a:solidFill>
                            <a:srgbClr val="1c2430"/>
                          </a:solidFill>
                          <a:latin typeface="Consolas"/>
                        </a:rPr>
                        <a:t>U</a:t>
                      </a:r>
                      <a:r>
                        <a:rPr b="0" lang="en-US" sz="1000" spc="-1" strike="noStrike">
                          <a:solidFill>
                            <a:srgbClr val="1c2430"/>
                          </a:solidFill>
                          <a:latin typeface="Segoe UI"/>
                        </a:rPr>
                        <a:t> </a:t>
                      </a:r>
                      <a:r>
                        <a:rPr b="0" lang="en-US" sz="1000" spc="-1" strike="noStrike">
                          <a:solidFill>
                            <a:srgbClr val="1c2430"/>
                          </a:solidFill>
                          <a:latin typeface="Consolas"/>
                        </a:rPr>
                        <a:t>V</a:t>
                      </a:r>
                      <a:r>
                        <a:rPr b="0" lang="en-US" sz="1000" spc="-1" strike="noStrike">
                          <a:solidFill>
                            <a:srgbClr val="1c2430"/>
                          </a:solidFill>
                          <a:latin typeface="Segoe UI"/>
                        </a:rPr>
                        <a:t> </a:t>
                      </a:r>
                      <a:r>
                        <a:rPr b="0" lang="en-US" sz="1000" spc="-1" strike="noStrike">
                          <a:solidFill>
                            <a:srgbClr val="1c2430"/>
                          </a:solidFill>
                          <a:latin typeface="Consolas"/>
                        </a:rPr>
                        <a:t>W</a:t>
                      </a:r>
                      <a:r>
                        <a:rPr b="0" lang="en-US" sz="1000" spc="-1" strike="noStrike">
                          <a:solidFill>
                            <a:srgbClr val="1c2430"/>
                          </a:solidFill>
                          <a:latin typeface="Segoe UI"/>
                        </a:rPr>
                        <a:t> sin radiar interferencias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Sí</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08960">
                <a:tc>
                  <a:txBody>
                    <a:bodyPr lIns="82080" rIns="82080" tIns="27360" bIns="27360" anchor="ctr">
                      <a:noAutofit/>
                    </a:bodyPr>
                    <a:p>
                      <a:pPr defTabSz="457200">
                        <a:lnSpc>
                          <a:spcPct val="100000"/>
                        </a:lnSpc>
                      </a:pPr>
                      <a:r>
                        <a:rPr b="0" lang="en-US" sz="1000" spc="-1" strike="noStrike">
                          <a:solidFill>
                            <a:srgbClr val="1c2430"/>
                          </a:solidFill>
                          <a:latin typeface="Segoe UI"/>
                        </a:rPr>
                        <a:t>Cable de encoder apantallado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Realimentación por </a:t>
                      </a:r>
                      <a:r>
                        <a:rPr b="0" lang="en-US" sz="1000" spc="-1" strike="noStrike">
                          <a:solidFill>
                            <a:srgbClr val="1c2430"/>
                          </a:solidFill>
                          <a:latin typeface="Consolas"/>
                        </a:rPr>
                        <a:t>CN2</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Sí, y siempre el cable original</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8960">
                <a:tc>
                  <a:txBody>
                    <a:bodyPr lIns="82080" rIns="82080" tIns="27360" bIns="27360" anchor="ctr">
                      <a:noAutofit/>
                    </a:bodyPr>
                    <a:p>
                      <a:pPr defTabSz="457200">
                        <a:lnSpc>
                          <a:spcPct val="100000"/>
                        </a:lnSpc>
                      </a:pPr>
                      <a:r>
                        <a:rPr b="0" lang="en-US" sz="1000" spc="-1" strike="noStrike">
                          <a:solidFill>
                            <a:srgbClr val="1c2430"/>
                          </a:solidFill>
                          <a:latin typeface="Segoe UI"/>
                        </a:rPr>
                        <a:t>Batería del encoder absoluto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Mantener el contaje multivuelta sin tensión</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Sí, si se usa como absoluto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08960">
                <a:tc>
                  <a:txBody>
                    <a:bodyPr lIns="82080" rIns="82080" tIns="27360" bIns="27360" anchor="ctr">
                      <a:noAutofit/>
                    </a:bodyPr>
                    <a:p>
                      <a:pPr defTabSz="457200">
                        <a:lnSpc>
                          <a:spcPct val="100000"/>
                        </a:lnSpc>
                      </a:pPr>
                      <a:r>
                        <a:rPr b="0" lang="en-US" sz="1000" spc="-1" strike="noStrike">
                          <a:solidFill>
                            <a:srgbClr val="1c2430"/>
                          </a:solidFill>
                          <a:latin typeface="Segoe UI"/>
                        </a:rPr>
                        <a:t>Fuente de 24 V CC</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Alimentar las E/S de </a:t>
                      </a:r>
                      <a:r>
                        <a:rPr b="0" lang="en-US" sz="1000" spc="-1" strike="noStrike">
                          <a:solidFill>
                            <a:srgbClr val="1c2430"/>
                          </a:solidFill>
                          <a:latin typeface="Consolas"/>
                        </a:rPr>
                        <a:t>CN1</a:t>
                      </a:r>
                      <a:r>
                        <a:rPr b="0" lang="en-US" sz="1000" spc="-1" strike="noStrike">
                          <a:solidFill>
                            <a:srgbClr val="1c2430"/>
                          </a:solidFill>
                          <a:latin typeface="Segoe UI"/>
                        </a:rPr>
                        <a:t> y el freno del motor</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Sí</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08960">
                <a:tc>
                  <a:txBody>
                    <a:bodyPr lIns="82080" rIns="82080" tIns="27360" bIns="27360" anchor="ctr">
                      <a:noAutofit/>
                    </a:bodyPr>
                    <a:p>
                      <a:pPr defTabSz="457200">
                        <a:lnSpc>
                          <a:spcPct val="100000"/>
                        </a:lnSpc>
                      </a:pPr>
                      <a:r>
                        <a:rPr b="0" lang="en-US" sz="1000" spc="-1" strike="noStrike">
                          <a:solidFill>
                            <a:srgbClr val="1c2430"/>
                          </a:solidFill>
                          <a:latin typeface="Segoe UI"/>
                        </a:rPr>
                        <a:t>Cable USB y SigmaWin+</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Parametrizar, ajustar, diagnosticar y hacer copia de seguridad</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Imprescindible en la práctica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08960">
                <a:tc>
                  <a:txBody>
                    <a:bodyPr lIns="82080" rIns="82080" tIns="27360" bIns="27360" anchor="ctr">
                      <a:noAutofit/>
                    </a:bodyPr>
                    <a:p>
                      <a:pPr defTabSz="457200">
                        <a:lnSpc>
                          <a:spcPct val="100000"/>
                        </a:lnSpc>
                      </a:pPr>
                      <a:r>
                        <a:rPr b="0" lang="en-US" sz="1000" spc="-1" strike="noStrike">
                          <a:solidFill>
                            <a:srgbClr val="1c2430"/>
                          </a:solidFill>
                          <a:latin typeface="Segoe UI"/>
                        </a:rPr>
                        <a:t>Operador digital JUSP-OP05A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Parametrizar sin PC</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Opcional (el panel frontal ya permite casi todo)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8" name="Rectangle 1"/>
          <p:cNvSpPr/>
          <p:nvPr/>
        </p:nvSpPr>
        <p:spPr>
          <a:xfrm>
            <a:off x="0" y="0"/>
            <a:ext cx="12191400" cy="68576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59" name="Rectangle 2"/>
          <p:cNvSpPr/>
          <p:nvPr/>
        </p:nvSpPr>
        <p:spPr>
          <a:xfrm>
            <a:off x="0" y="0"/>
            <a:ext cx="383760" cy="6857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60" name="TextBox 3"/>
          <p:cNvSpPr/>
          <p:nvPr/>
        </p:nvSpPr>
        <p:spPr>
          <a:xfrm>
            <a:off x="1051560" y="1234440"/>
            <a:ext cx="5486040" cy="8841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5800" spc="-1" strike="noStrike">
                <a:solidFill>
                  <a:srgbClr val="143a63"/>
                </a:solidFill>
                <a:latin typeface="Segoe UI Semibold"/>
              </a:rPr>
              <a:t>MÓDULO 03</a:t>
            </a:r>
            <a:endParaRPr b="0" lang="en-US" sz="5800" spc="-1" strike="noStrike">
              <a:solidFill>
                <a:srgbClr val="000000"/>
              </a:solidFill>
              <a:latin typeface="Arial"/>
            </a:endParaRPr>
          </a:p>
        </p:txBody>
      </p:sp>
      <p:sp>
        <p:nvSpPr>
          <p:cNvPr id="561" name="TextBox 4"/>
          <p:cNvSpPr/>
          <p:nvPr/>
        </p:nvSpPr>
        <p:spPr>
          <a:xfrm>
            <a:off x="1051560" y="2331720"/>
            <a:ext cx="9875160" cy="54396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1" lang="en-US" sz="3400" spc="-1" strike="noStrike">
                <a:solidFill>
                  <a:srgbClr val="ffffff"/>
                </a:solidFill>
                <a:latin typeface="Segoe UI Semibold"/>
              </a:rPr>
              <a:t>El servomotor de 3 kW</a:t>
            </a:r>
            <a:endParaRPr b="0" lang="en-US" sz="3400" spc="-1" strike="noStrike">
              <a:solidFill>
                <a:srgbClr val="000000"/>
              </a:solidFill>
              <a:latin typeface="Arial"/>
            </a:endParaRPr>
          </a:p>
        </p:txBody>
      </p:sp>
      <p:sp>
        <p:nvSpPr>
          <p:cNvPr id="562" name="Rectangle 5"/>
          <p:cNvSpPr/>
          <p:nvPr/>
        </p:nvSpPr>
        <p:spPr>
          <a:xfrm>
            <a:off x="1051560" y="3703320"/>
            <a:ext cx="1279800" cy="453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563" name="Rectangle 6"/>
          <p:cNvSpPr/>
          <p:nvPr/>
        </p:nvSpPr>
        <p:spPr>
          <a:xfrm>
            <a:off x="1051560" y="41468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64" name="TextBox 7"/>
          <p:cNvSpPr/>
          <p:nvPr/>
        </p:nvSpPr>
        <p:spPr>
          <a:xfrm>
            <a:off x="1325880" y="40690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Cómo funciona un motor síncrono de imanes permanentes</a:t>
            </a:r>
            <a:endParaRPr b="0" lang="en-US" sz="1350" spc="-1" strike="noStrike">
              <a:solidFill>
                <a:srgbClr val="000000"/>
              </a:solidFill>
              <a:latin typeface="Arial"/>
            </a:endParaRPr>
          </a:p>
        </p:txBody>
      </p:sp>
      <p:sp>
        <p:nvSpPr>
          <p:cNvPr id="565" name="Rectangle 8"/>
          <p:cNvSpPr/>
          <p:nvPr/>
        </p:nvSpPr>
        <p:spPr>
          <a:xfrm>
            <a:off x="1051560" y="451260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66" name="TextBox 9"/>
          <p:cNvSpPr/>
          <p:nvPr/>
        </p:nvSpPr>
        <p:spPr>
          <a:xfrm>
            <a:off x="1325880" y="443484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Las familias SGMXJ, SGMXA, SGMXG y SGMXP</a:t>
            </a:r>
            <a:endParaRPr b="0" lang="en-US" sz="1350" spc="-1" strike="noStrike">
              <a:solidFill>
                <a:srgbClr val="000000"/>
              </a:solidFill>
              <a:latin typeface="Arial"/>
            </a:endParaRPr>
          </a:p>
        </p:txBody>
      </p:sp>
      <p:sp>
        <p:nvSpPr>
          <p:cNvPr id="567" name="Rectangle 10"/>
          <p:cNvSpPr/>
          <p:nvPr/>
        </p:nvSpPr>
        <p:spPr>
          <a:xfrm>
            <a:off x="1051560" y="487836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68" name="TextBox 11"/>
          <p:cNvSpPr/>
          <p:nvPr/>
        </p:nvSpPr>
        <p:spPr>
          <a:xfrm>
            <a:off x="1325880" y="480060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Elegir entre 3.000 rpm y 1.500 rpm para la misma potencia</a:t>
            </a:r>
            <a:endParaRPr b="0" lang="en-US" sz="1350" spc="-1" strike="noStrike">
              <a:solidFill>
                <a:srgbClr val="000000"/>
              </a:solidFill>
              <a:latin typeface="Arial"/>
            </a:endParaRPr>
          </a:p>
        </p:txBody>
      </p:sp>
      <p:sp>
        <p:nvSpPr>
          <p:cNvPr id="569" name="Rectangle 12"/>
          <p:cNvSpPr/>
          <p:nvPr/>
        </p:nvSpPr>
        <p:spPr>
          <a:xfrm>
            <a:off x="1051560" y="524412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70" name="TextBox 13"/>
          <p:cNvSpPr/>
          <p:nvPr/>
        </p:nvSpPr>
        <p:spPr>
          <a:xfrm>
            <a:off x="1325880" y="516636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Leer el código de modelo del motor</a:t>
            </a:r>
            <a:endParaRPr b="0" lang="en-US" sz="1350" spc="-1" strike="noStrike">
              <a:solidFill>
                <a:srgbClr val="000000"/>
              </a:solidFill>
              <a:latin typeface="Arial"/>
            </a:endParaRPr>
          </a:p>
        </p:txBody>
      </p:sp>
      <p:sp>
        <p:nvSpPr>
          <p:cNvPr id="571" name="Rectangle 14"/>
          <p:cNvSpPr/>
          <p:nvPr/>
        </p:nvSpPr>
        <p:spPr>
          <a:xfrm>
            <a:off x="1051560" y="560988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72" name="TextBox 15"/>
          <p:cNvSpPr/>
          <p:nvPr/>
        </p:nvSpPr>
        <p:spPr>
          <a:xfrm>
            <a:off x="1325880" y="553212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Encoder absoluto, batería y freno de retención</a:t>
            </a:r>
            <a:endParaRPr b="0" lang="en-US" sz="1350" spc="-1" strike="noStrike">
              <a:solidFill>
                <a:srgbClr val="000000"/>
              </a:solidFill>
              <a:latin typeface="Arial"/>
            </a:endParaRPr>
          </a:p>
        </p:txBody>
      </p:sp>
      <p:sp>
        <p:nvSpPr>
          <p:cNvPr id="573" name="Rectangle 16"/>
          <p:cNvSpPr/>
          <p:nvPr/>
        </p:nvSpPr>
        <p:spPr>
          <a:xfrm>
            <a:off x="1051560" y="59756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74" name="TextBox 17"/>
          <p:cNvSpPr/>
          <p:nvPr/>
        </p:nvSpPr>
        <p:spPr>
          <a:xfrm>
            <a:off x="1325880" y="58978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Combinaciones homologadas motor–SERVOPACK</a:t>
            </a:r>
            <a:endParaRPr b="0" lang="en-US" sz="1350" spc="-1" strike="noStrike">
              <a:solidFill>
                <a:srgbClr val="000000"/>
              </a:solidFill>
              <a:latin typeface="Arial"/>
            </a:endParaRPr>
          </a:p>
        </p:txBody>
      </p:sp>
      <p:sp>
        <p:nvSpPr>
          <p:cNvPr id="575" name="TextBox 18"/>
          <p:cNvSpPr/>
          <p:nvPr/>
        </p:nvSpPr>
        <p:spPr>
          <a:xfrm>
            <a:off x="1051560" y="6172200"/>
            <a:ext cx="73148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e89b1f"/>
                </a:solidFill>
                <a:latin typeface="Segoe UI"/>
              </a:rPr>
              <a:t>Duración orientativa: 3 h</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7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57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Cómo funciona un servomotor de imanes permanentes</a:t>
            </a:r>
            <a:endParaRPr b="0" lang="en-US" sz="2500" spc="-1" strike="noStrike">
              <a:solidFill>
                <a:srgbClr val="000000"/>
              </a:solidFill>
              <a:latin typeface="Arial"/>
            </a:endParaRPr>
          </a:p>
        </p:txBody>
      </p:sp>
      <p:sp>
        <p:nvSpPr>
          <p:cNvPr id="57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El PMSM: por qué se comporta como se comporta</a:t>
            </a:r>
            <a:endParaRPr b="0" lang="en-US" sz="1250" spc="-1" strike="noStrike">
              <a:solidFill>
                <a:srgbClr val="000000"/>
              </a:solidFill>
              <a:latin typeface="Arial"/>
            </a:endParaRPr>
          </a:p>
        </p:txBody>
      </p:sp>
      <p:sp>
        <p:nvSpPr>
          <p:cNvPr id="58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03</a:t>
            </a:r>
            <a:endParaRPr b="0" lang="en-US" sz="1100" spc="-1" strike="noStrike">
              <a:solidFill>
                <a:srgbClr val="000000"/>
              </a:solidFill>
              <a:latin typeface="Arial"/>
            </a:endParaRPr>
          </a:p>
        </p:txBody>
      </p:sp>
      <p:sp>
        <p:nvSpPr>
          <p:cNvPr id="58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58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30</a:t>
            </a:r>
            <a:endParaRPr b="0" lang="en-US" sz="900" spc="-1" strike="noStrike">
              <a:solidFill>
                <a:srgbClr val="000000"/>
              </a:solidFill>
              <a:latin typeface="Arial"/>
            </a:endParaRPr>
          </a:p>
        </p:txBody>
      </p:sp>
      <p:sp>
        <p:nvSpPr>
          <p:cNvPr id="583" name="TextBox 8"/>
          <p:cNvSpPr/>
          <p:nvPr/>
        </p:nvSpPr>
        <p:spPr>
          <a:xfrm>
            <a:off x="567000" y="1481400"/>
            <a:ext cx="11057400" cy="459720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180" spc="-1" strike="noStrike">
                <a:solidFill>
                  <a:srgbClr val="1b5ea8"/>
                </a:solidFill>
                <a:latin typeface="Segoe UI Semibold"/>
              </a:rPr>
              <a:t>Principio</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Segoe UI"/>
              </a:rPr>
              <a:t>El rotor lleva imanes permanentes de tierras raras; el estátor genera un campo magnético giratorio. El rotor sigue al campo de forma síncrona: no hay deslizamiento, la velocidad es exactamente la de la frecuencia aplicada.</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Segoe UI"/>
              </a:rPr>
              <a:t>El SERVOPACK conoce en todo momento la posición del rotor gracias al encoder y coloca el campo del estátor 90° eléctricos adelantado, que es la posición de par máximo por amperio.</a:t>
            </a:r>
            <a:endParaRPr b="0" lang="en-US" sz="122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1180" spc="-1" strike="noStrike">
                <a:solidFill>
                  <a:srgbClr val="1b5ea8"/>
                </a:solidFill>
                <a:latin typeface="Segoe UI Semibold"/>
              </a:rPr>
              <a:t>Consecuencias prácticas</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Segoe UI"/>
              </a:rPr>
              <a:t>Par proporcional a la corriente: </a:t>
            </a:r>
            <a:r>
              <a:rPr b="1" lang="en-US" sz="1220" spc="-1" strike="noStrike">
                <a:solidFill>
                  <a:srgbClr val="1c2430"/>
                </a:solidFill>
                <a:latin typeface="Consolas"/>
              </a:rPr>
              <a:t>T ≈ Kt · I</a:t>
            </a:r>
            <a:r>
              <a:rPr b="1" lang="en-US" sz="1220" spc="-1" strike="noStrike">
                <a:solidFill>
                  <a:srgbClr val="1c2430"/>
                </a:solidFill>
                <a:latin typeface="Segoe UI"/>
              </a:rPr>
              <a:t>. Medir la corriente del motor es medir el par. El monitor </a:t>
            </a:r>
            <a:r>
              <a:rPr b="1" lang="en-US" sz="1220" spc="-1" strike="noStrike">
                <a:solidFill>
                  <a:srgbClr val="1c2430"/>
                </a:solidFill>
                <a:latin typeface="Consolas"/>
              </a:rPr>
              <a:t>Un002</a:t>
            </a:r>
            <a:r>
              <a:rPr b="1" lang="en-US" sz="1220" spc="-1" strike="noStrike">
                <a:solidFill>
                  <a:srgbClr val="1c2430"/>
                </a:solidFill>
                <a:latin typeface="Segoe UI"/>
              </a:rPr>
              <a:t> muestra el par en % del nominal.</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Segoe UI"/>
              </a:rPr>
              <a:t>Par pleno desde 0 rpm, de forma continua y sin calentamiento anómalo, porque la refrigeración no depende de la velocidad de giro.</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Segoe UI"/>
              </a:rPr>
              <a:t>Rotor de baja inercia y alta densidad de par: por eso acelera en milisegundos donde un motor asíncrono equivalente tardaría décimas.</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Segoe UI"/>
              </a:rPr>
              <a:t>Fuerza contraelectromotriz: al girar, el motor genera tensión proporcional a la velocidad. Es lo que limita la velocidad máxima y lo que permite la regeneración al frenar.</a:t>
            </a:r>
            <a:endParaRPr b="0" lang="en-US" sz="122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1180" spc="-1" strike="noStrike">
                <a:solidFill>
                  <a:srgbClr val="1b5ea8"/>
                </a:solidFill>
                <a:latin typeface="Segoe UI Semibold"/>
              </a:rPr>
              <a:t>Aviso de mantenimiento</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Segoe UI"/>
              </a:rPr>
              <a:t>Un motor girando sin drive (arrastrado por la máquina) genera tensión en sus bornes. Trata el conector de potencia como un elemento activo aunque el armario esté sin tensión.</a:t>
            </a:r>
            <a:endParaRPr b="0" lang="en-US" sz="122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8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58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Las familias de servomotor rotativo Σ-X</a:t>
            </a:r>
            <a:endParaRPr b="0" lang="en-US" sz="2500" spc="-1" strike="noStrike">
              <a:solidFill>
                <a:srgbClr val="000000"/>
              </a:solidFill>
              <a:latin typeface="Arial"/>
            </a:endParaRPr>
          </a:p>
        </p:txBody>
      </p:sp>
      <p:sp>
        <p:nvSpPr>
          <p:cNvPr id="58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Misma potencia, comportamientos distintos</a:t>
            </a:r>
            <a:endParaRPr b="0" lang="en-US" sz="1250" spc="-1" strike="noStrike">
              <a:solidFill>
                <a:srgbClr val="000000"/>
              </a:solidFill>
              <a:latin typeface="Arial"/>
            </a:endParaRPr>
          </a:p>
        </p:txBody>
      </p:sp>
      <p:sp>
        <p:nvSpPr>
          <p:cNvPr id="58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03</a:t>
            </a:r>
            <a:endParaRPr b="0" lang="en-US" sz="1100" spc="-1" strike="noStrike">
              <a:solidFill>
                <a:srgbClr val="000000"/>
              </a:solidFill>
              <a:latin typeface="Arial"/>
            </a:endParaRPr>
          </a:p>
        </p:txBody>
      </p:sp>
      <p:sp>
        <p:nvSpPr>
          <p:cNvPr id="58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59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31</a:t>
            </a:r>
            <a:endParaRPr b="0" lang="en-US" sz="900" spc="-1" strike="noStrike">
              <a:solidFill>
                <a:srgbClr val="000000"/>
              </a:solidFill>
              <a:latin typeface="Arial"/>
            </a:endParaRPr>
          </a:p>
        </p:txBody>
      </p:sp>
      <p:graphicFrame>
        <p:nvGraphicFramePr>
          <p:cNvPr id="591" name="Table 8"/>
          <p:cNvGraphicFramePr/>
          <p:nvPr/>
        </p:nvGraphicFramePr>
        <p:xfrm>
          <a:off x="567000" y="1481400"/>
          <a:ext cx="11057400" cy="4462200"/>
        </p:xfrm>
        <a:graphic>
          <a:graphicData uri="http://schemas.openxmlformats.org/drawingml/2006/table">
            <a:tbl>
              <a:tblPr/>
              <a:tblGrid>
                <a:gridCol w="1593000"/>
                <a:gridCol w="2342520"/>
                <a:gridCol w="2436120"/>
                <a:gridCol w="4685400"/>
              </a:tblGrid>
              <a:tr h="347400">
                <a:tc>
                  <a:txBody>
                    <a:bodyPr lIns="82080" rIns="82080" tIns="27360" bIns="27360" anchor="ctr">
                      <a:noAutofit/>
                    </a:bodyPr>
                    <a:p>
                      <a:pPr defTabSz="457200">
                        <a:lnSpc>
                          <a:spcPct val="100000"/>
                        </a:lnSpc>
                      </a:pPr>
                      <a:r>
                        <a:rPr b="1" lang="en-US" sz="1050" spc="-1" strike="noStrike">
                          <a:solidFill>
                            <a:srgbClr val="ffffff"/>
                          </a:solidFill>
                          <a:latin typeface="Segoe UI"/>
                        </a:rPr>
                        <a:t>Familia</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50" spc="-1" strike="noStrike">
                          <a:solidFill>
                            <a:srgbClr val="ffffff"/>
                          </a:solidFill>
                          <a:latin typeface="Segoe UI"/>
                        </a:rPr>
                        <a:t>Perfil</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50" spc="-1" strike="noStrike">
                          <a:solidFill>
                            <a:srgbClr val="ffffff"/>
                          </a:solidFill>
                          <a:latin typeface="Segoe UI"/>
                        </a:rPr>
                        <a:t>Velocidad nominal / máxima</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50" spc="-1" strike="noStrike">
                          <a:solidFill>
                            <a:srgbClr val="ffffff"/>
                          </a:solidFill>
                          <a:latin typeface="Segoe UI"/>
                        </a:rPr>
                        <a:t>Aplicación típica</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822960">
                <a:tc>
                  <a:txBody>
                    <a:bodyPr lIns="82080" rIns="82080" tIns="27360" bIns="27360" anchor="ctr">
                      <a:noAutofit/>
                    </a:bodyPr>
                    <a:p>
                      <a:pPr defTabSz="457200">
                        <a:lnSpc>
                          <a:spcPct val="100000"/>
                        </a:lnSpc>
                      </a:pPr>
                      <a:r>
                        <a:rPr b="0" lang="en-US" sz="1050" spc="-1" strike="noStrike">
                          <a:solidFill>
                            <a:srgbClr val="1c2430"/>
                          </a:solidFill>
                          <a:latin typeface="Segoe UI"/>
                        </a:rPr>
                        <a:t>SGMXJ</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Inercia media, cuerpo corto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3.000 / 6.000 rpm</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Uso general en máquina compacta; el más vendido en potencias bajas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22960">
                <a:tc>
                  <a:txBody>
                    <a:bodyPr lIns="82080" rIns="82080" tIns="27360" bIns="27360" anchor="ctr">
                      <a:noAutofit/>
                    </a:bodyPr>
                    <a:p>
                      <a:pPr defTabSz="457200">
                        <a:lnSpc>
                          <a:spcPct val="100000"/>
                        </a:lnSpc>
                      </a:pPr>
                      <a:r>
                        <a:rPr b="0" lang="en-US" sz="1050" spc="-1" strike="noStrike">
                          <a:solidFill>
                            <a:srgbClr val="1c2430"/>
                          </a:solidFill>
                          <a:latin typeface="Segoe UI"/>
                        </a:rPr>
                        <a:t>SGMXA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Inercia baja, cuerpo largo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3.000 / 6.000 rpm</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Alta dinámica: ciclos rápidos con cargas de inercia moderada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822960">
                <a:tc>
                  <a:txBody>
                    <a:bodyPr lIns="82080" rIns="82080" tIns="27360" bIns="27360" anchor="ctr">
                      <a:noAutofit/>
                    </a:bodyPr>
                    <a:p>
                      <a:pPr defTabSz="457200">
                        <a:lnSpc>
                          <a:spcPct val="100000"/>
                        </a:lnSpc>
                      </a:pPr>
                      <a:r>
                        <a:rPr b="0" lang="en-US" sz="1050" spc="-1" strike="noStrike">
                          <a:solidFill>
                            <a:srgbClr val="1c2430"/>
                          </a:solidFill>
                          <a:latin typeface="Segoe UI"/>
                        </a:rPr>
                        <a:t>SGMXG</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Inercia media-alta, alto par</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1.500 / 3.000 rpm</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Cargas de gran inercia y alto par: husillos grandes, prensas, ejes de arrastre</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22960">
                <a:tc>
                  <a:txBody>
                    <a:bodyPr lIns="82080" rIns="82080" tIns="27360" bIns="27360" anchor="ctr">
                      <a:noAutofit/>
                    </a:bodyPr>
                    <a:p>
                      <a:pPr defTabSz="457200">
                        <a:lnSpc>
                          <a:spcPct val="100000"/>
                        </a:lnSpc>
                      </a:pPr>
                      <a:r>
                        <a:rPr b="0" lang="en-US" sz="1050" spc="-1" strike="noStrike">
                          <a:solidFill>
                            <a:srgbClr val="1c2430"/>
                          </a:solidFill>
                          <a:latin typeface="Segoe UI"/>
                        </a:rPr>
                        <a:t>SGMXP</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Inercia media, cuerpo plano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3.000 / 6.000 rpm</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Cuando la longitud del motor es el problema (máquinas estrechas)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822960">
                <a:tc>
                  <a:txBody>
                    <a:bodyPr lIns="82080" rIns="82080" tIns="27360" bIns="27360" anchor="ctr">
                      <a:noAutofit/>
                    </a:bodyPr>
                    <a:p>
                      <a:pPr defTabSz="457200">
                        <a:lnSpc>
                          <a:spcPct val="100000"/>
                        </a:lnSpc>
                      </a:pPr>
                      <a:r>
                        <a:rPr b="0" lang="en-US" sz="1050" spc="-1" strike="noStrike">
                          <a:solidFill>
                            <a:srgbClr val="1c2430"/>
                          </a:solidFill>
                          <a:latin typeface="Segoe UI"/>
                        </a:rPr>
                        <a:t>SGMXD / lineales / directos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Par directo y motores lineales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Variable</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Accionamiento directo sin reductor: mesas rotativas, ejes lineales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592"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Combinaciones del manual (apartado 1.5): el SGDXS-200A00A se combina con SGMXA-25A, SGMXA-30A y, derateado a 2,4 kW, con SGMXG-30A.</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3"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594"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595"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3 kW a 3.000 rpm o a 1.500 rpm: la decisión clave</a:t>
            </a:r>
            <a:endParaRPr b="0" lang="en-US" sz="2500" spc="-1" strike="noStrike">
              <a:solidFill>
                <a:srgbClr val="000000"/>
              </a:solidFill>
              <a:latin typeface="Arial"/>
            </a:endParaRPr>
          </a:p>
        </p:txBody>
      </p:sp>
      <p:sp>
        <p:nvSpPr>
          <p:cNvPr id="596"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Misma potencia, el doble de par o el doble de velocidad</a:t>
            </a:r>
            <a:endParaRPr b="0" lang="en-US" sz="1250" spc="-1" strike="noStrike">
              <a:solidFill>
                <a:srgbClr val="000000"/>
              </a:solidFill>
              <a:latin typeface="Arial"/>
            </a:endParaRPr>
          </a:p>
        </p:txBody>
      </p:sp>
      <p:sp>
        <p:nvSpPr>
          <p:cNvPr id="597"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03</a:t>
            </a:r>
            <a:endParaRPr b="0" lang="en-US" sz="1100" spc="-1" strike="noStrike">
              <a:solidFill>
                <a:srgbClr val="000000"/>
              </a:solidFill>
              <a:latin typeface="Arial"/>
            </a:endParaRPr>
          </a:p>
        </p:txBody>
      </p:sp>
      <p:sp>
        <p:nvSpPr>
          <p:cNvPr id="598"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599"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32</a:t>
            </a:r>
            <a:endParaRPr b="0" lang="en-US" sz="900" spc="-1" strike="noStrike">
              <a:solidFill>
                <a:srgbClr val="000000"/>
              </a:solidFill>
              <a:latin typeface="Arial"/>
            </a:endParaRPr>
          </a:p>
        </p:txBody>
      </p:sp>
      <p:sp>
        <p:nvSpPr>
          <p:cNvPr id="600" name="Rectangle 8"/>
          <p:cNvSpPr/>
          <p:nvPr/>
        </p:nvSpPr>
        <p:spPr>
          <a:xfrm>
            <a:off x="5670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01" name="Rectangle 9"/>
          <p:cNvSpPr/>
          <p:nvPr/>
        </p:nvSpPr>
        <p:spPr>
          <a:xfrm>
            <a:off x="567000" y="1481400"/>
            <a:ext cx="5373000" cy="42012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02" name="TextBox 10"/>
          <p:cNvSpPr/>
          <p:nvPr/>
        </p:nvSpPr>
        <p:spPr>
          <a:xfrm>
            <a:off x="768240" y="1581840"/>
            <a:ext cx="5007240" cy="4107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SGMXA-30A — 3,0 kW a 3.000 rpm ✔ combinación homologada</a:t>
            </a:r>
            <a:endParaRPr b="0" lang="en-US" sz="1350" spc="-1" strike="noStrike">
              <a:solidFill>
                <a:srgbClr val="000000"/>
              </a:solidFill>
              <a:latin typeface="Arial"/>
            </a:endParaRPr>
          </a:p>
        </p:txBody>
      </p:sp>
      <p:sp>
        <p:nvSpPr>
          <p:cNvPr id="603" name="TextBox 11"/>
          <p:cNvSpPr/>
          <p:nvPr/>
        </p:nvSpPr>
        <p:spPr>
          <a:xfrm>
            <a:off x="768240" y="2048400"/>
            <a:ext cx="4970880" cy="299988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300" spc="-1" strike="noStrike">
                <a:solidFill>
                  <a:srgbClr val="1c2430"/>
                </a:solidFill>
                <a:latin typeface="Segoe UI"/>
              </a:rPr>
              <a:t>Par nominal ≈ 9,55 N·m; par pico ≈ 28,6 N·m.</a:t>
            </a:r>
            <a:endParaRPr b="0" lang="en-US" sz="13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00" spc="-1" strike="noStrike">
                <a:solidFill>
                  <a:srgbClr val="1c2430"/>
                </a:solidFill>
                <a:latin typeface="Segoe UI"/>
              </a:rPr>
              <a:t>Inercia del rotor baja → acelera muy rápido y admite relaciones de inercia moderadas.</a:t>
            </a:r>
            <a:endParaRPr b="0" lang="en-US" sz="1300" spc="-1" strike="noStrike">
              <a:solidFill>
                <a:srgbClr val="000000"/>
              </a:solidFill>
              <a:latin typeface="Arial"/>
            </a:endParaRPr>
          </a:p>
          <a:p>
            <a:pPr defTabSz="457200">
              <a:lnSpc>
                <a:spcPct val="106000"/>
              </a:lnSpc>
              <a:spcBef>
                <a:spcPts val="799"/>
              </a:spcBef>
              <a:spcAft>
                <a:spcPts val="901"/>
              </a:spcAft>
              <a:tabLst>
                <a:tab algn="l" pos="0"/>
              </a:tabLst>
            </a:pPr>
            <a:r>
              <a:rPr b="1" lang="en-US" sz="1250" spc="-1" strike="noStrike">
                <a:solidFill>
                  <a:srgbClr val="1b5ea8"/>
                </a:solidFill>
                <a:latin typeface="Segoe UI Semibold"/>
              </a:rPr>
              <a:t>Elígelo si…</a:t>
            </a:r>
            <a:endParaRPr b="0" lang="en-US" sz="12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150" spc="-1" strike="noStrike">
                <a:solidFill>
                  <a:srgbClr val="333f4c"/>
                </a:solidFill>
                <a:latin typeface="Segoe UI"/>
              </a:rPr>
              <a:t>El eje debe hacer </a:t>
            </a:r>
            <a:r>
              <a:rPr b="1" lang="en-US" sz="1150" spc="-1" strike="noStrike">
                <a:solidFill>
                  <a:srgbClr val="333f4c"/>
                </a:solidFill>
                <a:latin typeface="Segoe UI"/>
              </a:rPr>
              <a:t>muchos ciclos por minuto</a:t>
            </a:r>
            <a:r>
              <a:rPr b="0" lang="en-US" sz="1150" spc="-1" strike="noStrike">
                <a:solidFill>
                  <a:srgbClr val="333f4c"/>
                </a:solidFill>
                <a:latin typeface="Segoe UI"/>
              </a:rPr>
              <a:t> con recorridos cortos.</a:t>
            </a:r>
            <a:endParaRPr b="0" lang="en-US" sz="11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150" spc="-1" strike="noStrike">
                <a:solidFill>
                  <a:srgbClr val="333f4c"/>
                </a:solidFill>
                <a:latin typeface="Segoe UI"/>
              </a:rPr>
              <a:t>Hay una </a:t>
            </a:r>
            <a:r>
              <a:rPr b="1" lang="en-US" sz="1150" spc="-1" strike="noStrike">
                <a:solidFill>
                  <a:srgbClr val="333f4c"/>
                </a:solidFill>
                <a:latin typeface="Segoe UI"/>
              </a:rPr>
              <a:t>reducción</a:t>
            </a:r>
            <a:r>
              <a:rPr b="0" lang="en-US" sz="1150" spc="-1" strike="noStrike">
                <a:solidFill>
                  <a:srgbClr val="333f4c"/>
                </a:solidFill>
                <a:latin typeface="Segoe UI"/>
              </a:rPr>
              <a:t> que adapta la velocidad a la carga.</a:t>
            </a:r>
            <a:endParaRPr b="0" lang="en-US" sz="11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150" spc="-1" strike="noStrike">
                <a:solidFill>
                  <a:srgbClr val="333f4c"/>
                </a:solidFill>
                <a:latin typeface="Segoe UI"/>
              </a:rPr>
              <a:t>La inercia de la carga es baja o media.</a:t>
            </a:r>
            <a:endParaRPr b="0" lang="en-US" sz="1150" spc="-1" strike="noStrike">
              <a:solidFill>
                <a:srgbClr val="000000"/>
              </a:solidFill>
              <a:latin typeface="Arial"/>
            </a:endParaRPr>
          </a:p>
          <a:p>
            <a:pPr defTabSz="457200">
              <a:lnSpc>
                <a:spcPct val="106000"/>
              </a:lnSpc>
              <a:spcBef>
                <a:spcPts val="799"/>
              </a:spcBef>
              <a:spcAft>
                <a:spcPts val="901"/>
              </a:spcAft>
              <a:tabLst>
                <a:tab algn="l" pos="0"/>
              </a:tabLst>
            </a:pPr>
            <a:r>
              <a:rPr b="1" lang="en-US" sz="1250" spc="-1" strike="noStrike">
                <a:solidFill>
                  <a:srgbClr val="1b5ea8"/>
                </a:solidFill>
                <a:latin typeface="Segoe UI Semibold"/>
              </a:rPr>
              <a:t>Cuidado</a:t>
            </a:r>
            <a:endParaRPr b="0" lang="en-US" sz="12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150" spc="-1" strike="noStrike">
                <a:solidFill>
                  <a:srgbClr val="333f4c"/>
                </a:solidFill>
                <a:latin typeface="Segoe UI"/>
              </a:rPr>
              <a:t>Con carga de gran inercia, la relación J_carga/J_rotor se dispara y la sintonización se vuelve difícil.</a:t>
            </a:r>
            <a:endParaRPr b="0" lang="en-US" sz="1150" spc="-1" strike="noStrike">
              <a:solidFill>
                <a:srgbClr val="000000"/>
              </a:solidFill>
              <a:latin typeface="Arial"/>
            </a:endParaRPr>
          </a:p>
        </p:txBody>
      </p:sp>
      <p:sp>
        <p:nvSpPr>
          <p:cNvPr id="604" name="Rectangle 12"/>
          <p:cNvSpPr/>
          <p:nvPr/>
        </p:nvSpPr>
        <p:spPr>
          <a:xfrm>
            <a:off x="62514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05" name="Rectangle 13"/>
          <p:cNvSpPr/>
          <p:nvPr/>
        </p:nvSpPr>
        <p:spPr>
          <a:xfrm>
            <a:off x="6251400" y="1481400"/>
            <a:ext cx="5373000" cy="4201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06"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SGMXG-30A — 2,9 kW a 1.500 rpm ⚠ queda derateado</a:t>
            </a:r>
            <a:endParaRPr b="0" lang="en-US" sz="1350" spc="-1" strike="noStrike">
              <a:solidFill>
                <a:srgbClr val="000000"/>
              </a:solidFill>
              <a:latin typeface="Arial"/>
            </a:endParaRPr>
          </a:p>
        </p:txBody>
      </p:sp>
      <p:sp>
        <p:nvSpPr>
          <p:cNvPr id="607" name="TextBox 15"/>
          <p:cNvSpPr/>
          <p:nvPr/>
        </p:nvSpPr>
        <p:spPr>
          <a:xfrm>
            <a:off x="6452640" y="2048400"/>
            <a:ext cx="4970880" cy="270684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950" spc="-1" strike="noStrike">
                <a:solidFill>
                  <a:srgbClr val="1c2430"/>
                </a:solidFill>
                <a:latin typeface="Segoe UI"/>
              </a:rPr>
              <a:t>Con un SGDXS-200A el fabricante lo limita a 2,4 kW: la combinación plena de este motor es con un SGDXS-330A.</a:t>
            </a:r>
            <a:endParaRPr b="0" lang="en-US" sz="9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950" spc="-1" strike="noStrike">
                <a:solidFill>
                  <a:srgbClr val="1c2430"/>
                </a:solidFill>
                <a:latin typeface="Segoe UI"/>
              </a:rPr>
              <a:t>Par nominal ≈ 18,6 N·m a plena potencia.</a:t>
            </a:r>
            <a:endParaRPr b="0" lang="en-US" sz="9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950" spc="-1" strike="noStrike">
                <a:solidFill>
                  <a:srgbClr val="1c2430"/>
                </a:solidFill>
                <a:latin typeface="Segoe UI"/>
              </a:rPr>
              <a:t>Inercia del rotor alta → mucho más tolerante a cargas de gran inercia.</a:t>
            </a:r>
            <a:endParaRPr b="0" lang="en-US" sz="950" spc="-1" strike="noStrike">
              <a:solidFill>
                <a:srgbClr val="000000"/>
              </a:solidFill>
              <a:latin typeface="Arial"/>
            </a:endParaRPr>
          </a:p>
          <a:p>
            <a:pPr defTabSz="457200">
              <a:lnSpc>
                <a:spcPct val="106000"/>
              </a:lnSpc>
              <a:spcBef>
                <a:spcPts val="799"/>
              </a:spcBef>
              <a:spcAft>
                <a:spcPts val="901"/>
              </a:spcAft>
              <a:tabLst>
                <a:tab algn="l" pos="0"/>
              </a:tabLst>
            </a:pPr>
            <a:r>
              <a:rPr b="1" lang="en-US" sz="900" spc="-1" strike="noStrike">
                <a:solidFill>
                  <a:srgbClr val="1b5ea8"/>
                </a:solidFill>
                <a:latin typeface="Segoe UI Semibold"/>
              </a:rPr>
              <a:t>Elígelo si…</a:t>
            </a:r>
            <a:endParaRPr b="0" lang="en-US" sz="9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800" spc="-1" strike="noStrike">
                <a:solidFill>
                  <a:srgbClr val="333f4c"/>
                </a:solidFill>
                <a:latin typeface="Segoe UI"/>
              </a:rPr>
              <a:t>Necesitas </a:t>
            </a:r>
            <a:r>
              <a:rPr b="1" lang="en-US" sz="800" spc="-1" strike="noStrike">
                <a:solidFill>
                  <a:srgbClr val="333f4c"/>
                </a:solidFill>
                <a:latin typeface="Segoe UI"/>
              </a:rPr>
              <a:t>par</a:t>
            </a:r>
            <a:r>
              <a:rPr b="0" lang="en-US" sz="800" spc="-1" strike="noStrike">
                <a:solidFill>
                  <a:srgbClr val="333f4c"/>
                </a:solidFill>
                <a:latin typeface="Segoe UI"/>
              </a:rPr>
              <a:t>, no revoluciones: accionamiento directo de husillos, rodillos o ejes pesados.</a:t>
            </a:r>
            <a:endParaRPr b="0" lang="en-US" sz="8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800" spc="-1" strike="noStrike">
                <a:solidFill>
                  <a:srgbClr val="333f4c"/>
                </a:solidFill>
                <a:latin typeface="Segoe UI"/>
              </a:rPr>
              <a:t>Quieres </a:t>
            </a:r>
            <a:r>
              <a:rPr b="1" lang="en-US" sz="800" spc="-1" strike="noStrike">
                <a:solidFill>
                  <a:srgbClr val="333f4c"/>
                </a:solidFill>
                <a:latin typeface="Segoe UI"/>
              </a:rPr>
              <a:t>evitar el reductor</a:t>
            </a:r>
            <a:r>
              <a:rPr b="0" lang="en-US" sz="800" spc="-1" strike="noStrike">
                <a:solidFill>
                  <a:srgbClr val="333f4c"/>
                </a:solidFill>
                <a:latin typeface="Segoe UI"/>
              </a:rPr>
              <a:t> y su holgura.</a:t>
            </a:r>
            <a:endParaRPr b="0" lang="en-US" sz="8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800" spc="-1" strike="noStrike">
                <a:solidFill>
                  <a:srgbClr val="333f4c"/>
                </a:solidFill>
                <a:latin typeface="Segoe UI"/>
              </a:rPr>
              <a:t>La carga tiene inercia elevada y quieres sintonizar sin dolor.</a:t>
            </a:r>
            <a:endParaRPr b="0" lang="en-US" sz="800" spc="-1" strike="noStrike">
              <a:solidFill>
                <a:srgbClr val="000000"/>
              </a:solidFill>
              <a:latin typeface="Arial"/>
            </a:endParaRPr>
          </a:p>
          <a:p>
            <a:pPr defTabSz="457200">
              <a:lnSpc>
                <a:spcPct val="106000"/>
              </a:lnSpc>
              <a:spcBef>
                <a:spcPts val="799"/>
              </a:spcBef>
              <a:spcAft>
                <a:spcPts val="901"/>
              </a:spcAft>
              <a:tabLst>
                <a:tab algn="l" pos="0"/>
              </a:tabLst>
            </a:pPr>
            <a:r>
              <a:rPr b="1" lang="en-US" sz="900" spc="-1" strike="noStrike">
                <a:solidFill>
                  <a:srgbClr val="1b5ea8"/>
                </a:solidFill>
                <a:latin typeface="Segoe UI Semibold"/>
              </a:rPr>
              <a:t>Cuidado</a:t>
            </a:r>
            <a:endParaRPr b="0" lang="en-US" sz="9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800" spc="-1" strike="noStrike">
                <a:solidFill>
                  <a:srgbClr val="333f4c"/>
                </a:solidFill>
                <a:latin typeface="Segoe UI"/>
              </a:rPr>
              <a:t>La velocidad máxima es la mitad: comprueba que el ciclo cabe en el tiempo disponible.</a:t>
            </a:r>
            <a:endParaRPr b="0" lang="en-US" sz="8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800" spc="-1" strike="noStrike">
                <a:solidFill>
                  <a:srgbClr val="333f4c"/>
                </a:solidFill>
                <a:latin typeface="Segoe UI"/>
              </a:rPr>
              <a:t>Con tu amplificador </a:t>
            </a:r>
            <a:r>
              <a:rPr b="1" lang="en-US" sz="800" spc="-1" strike="noStrike">
                <a:solidFill>
                  <a:srgbClr val="333f4c"/>
                </a:solidFill>
                <a:latin typeface="Segoe UI"/>
              </a:rPr>
              <a:t>no dispondrás de los 2,9 kW</a:t>
            </a:r>
            <a:r>
              <a:rPr b="0" lang="en-US" sz="800" spc="-1" strike="noStrike">
                <a:solidFill>
                  <a:srgbClr val="333f4c"/>
                </a:solidFill>
                <a:latin typeface="Segoe UI"/>
              </a:rPr>
              <a:t>, sino de 2,4 kW. Si necesitas ese par continuo, hay que subir de amplificador.</a:t>
            </a:r>
            <a:endParaRPr b="0" lang="en-US" sz="800" spc="-1" strike="noStrike">
              <a:solidFill>
                <a:srgbClr val="000000"/>
              </a:solidFill>
              <a:latin typeface="Arial"/>
            </a:endParaRPr>
          </a:p>
        </p:txBody>
      </p:sp>
      <p:sp>
        <p:nvSpPr>
          <p:cNvPr id="608" name="Rectangle 16"/>
          <p:cNvSpPr/>
          <p:nvPr/>
        </p:nvSpPr>
        <p:spPr>
          <a:xfrm>
            <a:off x="567000" y="5459040"/>
            <a:ext cx="11057400" cy="868320"/>
          </a:xfrm>
          <a:prstGeom prst="rect">
            <a:avLst/>
          </a:prstGeom>
          <a:solidFill>
            <a:srgbClr val="e4f2ea"/>
          </a:solidFill>
          <a:ln>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09" name="Rectangle 17"/>
          <p:cNvSpPr/>
          <p:nvPr/>
        </p:nvSpPr>
        <p:spPr>
          <a:xfrm>
            <a:off x="567000" y="5459040"/>
            <a:ext cx="68400" cy="86832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10" name="TextBox 18"/>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2e8b57"/>
                </a:solidFill>
                <a:latin typeface="Segoe UI Semibold"/>
              </a:rPr>
              <a:t>Conclusión para tu equipo</a:t>
            </a:r>
            <a:endParaRPr b="0" lang="en-US" sz="1200" spc="-1" strike="noStrike">
              <a:solidFill>
                <a:srgbClr val="000000"/>
              </a:solidFill>
              <a:latin typeface="Arial"/>
            </a:endParaRPr>
          </a:p>
        </p:txBody>
      </p:sp>
      <p:sp>
        <p:nvSpPr>
          <p:cNvPr id="611" name="TextBox 19"/>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La pareja homologada a plena potencia del </a:t>
            </a:r>
            <a:r>
              <a:rPr b="1" lang="en-US" sz="1150" spc="-1" strike="noStrike">
                <a:solidFill>
                  <a:srgbClr val="2b3644"/>
                </a:solidFill>
                <a:latin typeface="Segoe UI"/>
              </a:rPr>
              <a:t>SGDXS-200A00A</a:t>
            </a:r>
            <a:r>
              <a:rPr b="0" lang="en-US" sz="1150" spc="-1" strike="noStrike">
                <a:solidFill>
                  <a:srgbClr val="2b3644"/>
                </a:solidFill>
                <a:latin typeface="Segoe UI"/>
              </a:rPr>
              <a:t> es el </a:t>
            </a:r>
            <a:r>
              <a:rPr b="1" lang="en-US" sz="1150" spc="-1" strike="noStrike">
                <a:solidFill>
                  <a:srgbClr val="2b3644"/>
                </a:solidFill>
                <a:latin typeface="Segoe UI"/>
              </a:rPr>
              <a:t>SGMXA-30A</a:t>
            </a:r>
            <a:r>
              <a:rPr b="0" lang="en-US" sz="1150" spc="-1" strike="noStrike">
                <a:solidFill>
                  <a:srgbClr val="2b3644"/>
                </a:solidFill>
                <a:latin typeface="Segoe UI"/>
              </a:rPr>
              <a:t> (3,0 kW, 3.000 rpm, baja inercia). El SGMXG-30A también es compatible, pero el fabricante lo declara a 2,4 kW con este amplificador. Comprueba siempre la relación de inercias antes de cerrar la elección.</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2"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13"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614"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Código de modelo del servomotor</a:t>
            </a:r>
            <a:endParaRPr b="0" lang="en-US" sz="2500" spc="-1" strike="noStrike">
              <a:solidFill>
                <a:srgbClr val="000000"/>
              </a:solidFill>
              <a:latin typeface="Arial"/>
            </a:endParaRPr>
          </a:p>
        </p:txBody>
      </p:sp>
      <p:sp>
        <p:nvSpPr>
          <p:cNvPr id="615"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Ejemplo: SGMXA-30A7A61 (estructura orientativa)</a:t>
            </a:r>
            <a:endParaRPr b="0" lang="en-US" sz="1250" spc="-1" strike="noStrike">
              <a:solidFill>
                <a:srgbClr val="000000"/>
              </a:solidFill>
              <a:latin typeface="Arial"/>
            </a:endParaRPr>
          </a:p>
        </p:txBody>
      </p:sp>
      <p:sp>
        <p:nvSpPr>
          <p:cNvPr id="616"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03</a:t>
            </a:r>
            <a:endParaRPr b="0" lang="en-US" sz="1100" spc="-1" strike="noStrike">
              <a:solidFill>
                <a:srgbClr val="000000"/>
              </a:solidFill>
              <a:latin typeface="Arial"/>
            </a:endParaRPr>
          </a:p>
        </p:txBody>
      </p:sp>
      <p:sp>
        <p:nvSpPr>
          <p:cNvPr id="617"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618"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33</a:t>
            </a:r>
            <a:endParaRPr b="0" lang="en-US" sz="900" spc="-1" strike="noStrike">
              <a:solidFill>
                <a:srgbClr val="000000"/>
              </a:solidFill>
              <a:latin typeface="Arial"/>
            </a:endParaRPr>
          </a:p>
        </p:txBody>
      </p:sp>
      <p:sp>
        <p:nvSpPr>
          <p:cNvPr id="619" name="Rounded Rectangle 8"/>
          <p:cNvSpPr/>
          <p:nvPr/>
        </p:nvSpPr>
        <p:spPr>
          <a:xfrm>
            <a:off x="822960" y="1828800"/>
            <a:ext cx="1599840" cy="959760"/>
          </a:xfrm>
          <a:prstGeom prst="roundRect">
            <a:avLst>
              <a:gd name="adj" fmla="val 8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2200" spc="-1" strike="noStrike">
                <a:solidFill>
                  <a:srgbClr val="ffffff"/>
                </a:solidFill>
                <a:latin typeface="Segoe UI"/>
              </a:rPr>
              <a:t>SGMX</a:t>
            </a:r>
            <a:endParaRPr b="0" lang="en-US" sz="2200" spc="-1" strike="noStrike">
              <a:solidFill>
                <a:srgbClr val="ffffff"/>
              </a:solidFill>
              <a:latin typeface="Arial"/>
            </a:endParaRPr>
          </a:p>
        </p:txBody>
      </p:sp>
      <p:sp>
        <p:nvSpPr>
          <p:cNvPr id="620" name="TextBox 9"/>
          <p:cNvSpPr/>
          <p:nvPr/>
        </p:nvSpPr>
        <p:spPr>
          <a:xfrm>
            <a:off x="685800" y="2935080"/>
            <a:ext cx="1874160" cy="1602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0b2545"/>
                </a:solidFill>
                <a:latin typeface="Segoe UI"/>
              </a:rPr>
              <a:t>Serie Σ-X</a:t>
            </a:r>
            <a:endParaRPr b="0" lang="en-US" sz="1050" spc="-1" strike="noStrike">
              <a:solidFill>
                <a:srgbClr val="000000"/>
              </a:solidFill>
              <a:latin typeface="Arial"/>
            </a:endParaRPr>
          </a:p>
        </p:txBody>
      </p:sp>
      <p:sp>
        <p:nvSpPr>
          <p:cNvPr id="621" name="Rounded Rectangle 10"/>
          <p:cNvSpPr/>
          <p:nvPr/>
        </p:nvSpPr>
        <p:spPr>
          <a:xfrm>
            <a:off x="2551320" y="1828800"/>
            <a:ext cx="1874160" cy="959760"/>
          </a:xfrm>
          <a:prstGeom prst="roundRect">
            <a:avLst>
              <a:gd name="adj" fmla="val 8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2200" spc="-1" strike="noStrike">
                <a:solidFill>
                  <a:srgbClr val="ffffff"/>
                </a:solidFill>
                <a:latin typeface="Segoe UI"/>
              </a:rPr>
              <a:t>A</a:t>
            </a:r>
            <a:endParaRPr b="0" lang="en-US" sz="2200" spc="-1" strike="noStrike">
              <a:solidFill>
                <a:srgbClr val="ffffff"/>
              </a:solidFill>
              <a:latin typeface="Arial"/>
            </a:endParaRPr>
          </a:p>
        </p:txBody>
      </p:sp>
      <p:sp>
        <p:nvSpPr>
          <p:cNvPr id="622" name="TextBox 11"/>
          <p:cNvSpPr/>
          <p:nvPr/>
        </p:nvSpPr>
        <p:spPr>
          <a:xfrm>
            <a:off x="2414160" y="2935080"/>
            <a:ext cx="2148480" cy="47916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1b5ea8"/>
                </a:solidFill>
                <a:latin typeface="Segoe UI"/>
              </a:rPr>
              <a:t>Familia</a:t>
            </a:r>
            <a:endParaRPr b="0" lang="en-US" sz="1050" spc="-1" strike="noStrike">
              <a:solidFill>
                <a:srgbClr val="000000"/>
              </a:solidFill>
              <a:latin typeface="Arial"/>
            </a:endParaRPr>
          </a:p>
          <a:p>
            <a:pPr algn="ctr" defTabSz="457200">
              <a:lnSpc>
                <a:spcPct val="100000"/>
              </a:lnSpc>
            </a:pPr>
            <a:r>
              <a:rPr b="1" lang="en-US" sz="1050" spc="-1" strike="noStrike">
                <a:solidFill>
                  <a:srgbClr val="1b5ea8"/>
                </a:solidFill>
                <a:latin typeface="Segoe UI"/>
              </a:rPr>
              <a:t>A = baja inercia</a:t>
            </a:r>
            <a:endParaRPr b="0" lang="en-US" sz="1050" spc="-1" strike="noStrike">
              <a:solidFill>
                <a:srgbClr val="000000"/>
              </a:solidFill>
              <a:latin typeface="Arial"/>
            </a:endParaRPr>
          </a:p>
          <a:p>
            <a:pPr algn="ctr" defTabSz="457200">
              <a:lnSpc>
                <a:spcPct val="100000"/>
              </a:lnSpc>
            </a:pPr>
            <a:r>
              <a:rPr b="1" lang="en-US" sz="1050" spc="-1" strike="noStrike">
                <a:solidFill>
                  <a:srgbClr val="1b5ea8"/>
                </a:solidFill>
                <a:latin typeface="Segoe UI"/>
              </a:rPr>
              <a:t>G = alto par</a:t>
            </a:r>
            <a:endParaRPr b="0" lang="en-US" sz="1050" spc="-1" strike="noStrike">
              <a:solidFill>
                <a:srgbClr val="000000"/>
              </a:solidFill>
              <a:latin typeface="Arial"/>
            </a:endParaRPr>
          </a:p>
        </p:txBody>
      </p:sp>
      <p:sp>
        <p:nvSpPr>
          <p:cNvPr id="623" name="Rounded Rectangle 12"/>
          <p:cNvSpPr/>
          <p:nvPr/>
        </p:nvSpPr>
        <p:spPr>
          <a:xfrm>
            <a:off x="4553640" y="1828800"/>
            <a:ext cx="1462680" cy="959760"/>
          </a:xfrm>
          <a:prstGeom prst="roundRect">
            <a:avLst>
              <a:gd name="adj" fmla="val 8000"/>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2200" spc="-1" strike="noStrike">
                <a:solidFill>
                  <a:srgbClr val="ffffff"/>
                </a:solidFill>
                <a:latin typeface="Segoe UI"/>
              </a:rPr>
              <a:t>30</a:t>
            </a:r>
            <a:endParaRPr b="0" lang="en-US" sz="2200" spc="-1" strike="noStrike">
              <a:solidFill>
                <a:srgbClr val="ffffff"/>
              </a:solidFill>
              <a:latin typeface="Arial"/>
            </a:endParaRPr>
          </a:p>
        </p:txBody>
      </p:sp>
      <p:sp>
        <p:nvSpPr>
          <p:cNvPr id="624" name="TextBox 13"/>
          <p:cNvSpPr/>
          <p:nvPr/>
        </p:nvSpPr>
        <p:spPr>
          <a:xfrm>
            <a:off x="4416480" y="2935080"/>
            <a:ext cx="1737000" cy="3193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c0392b"/>
                </a:solidFill>
                <a:latin typeface="Segoe UI"/>
              </a:rPr>
              <a:t>Capacidad</a:t>
            </a:r>
            <a:endParaRPr b="0" lang="en-US" sz="1050" spc="-1" strike="noStrike">
              <a:solidFill>
                <a:srgbClr val="000000"/>
              </a:solidFill>
              <a:latin typeface="Arial"/>
            </a:endParaRPr>
          </a:p>
          <a:p>
            <a:pPr algn="ctr" defTabSz="457200">
              <a:lnSpc>
                <a:spcPct val="100000"/>
              </a:lnSpc>
            </a:pPr>
            <a:r>
              <a:rPr b="1" lang="en-US" sz="1050" spc="-1" strike="noStrike">
                <a:solidFill>
                  <a:srgbClr val="c0392b"/>
                </a:solidFill>
                <a:latin typeface="Segoe UI"/>
              </a:rPr>
              <a:t>30 → 3,0 kW</a:t>
            </a:r>
            <a:endParaRPr b="0" lang="en-US" sz="1050" spc="-1" strike="noStrike">
              <a:solidFill>
                <a:srgbClr val="000000"/>
              </a:solidFill>
              <a:latin typeface="Arial"/>
            </a:endParaRPr>
          </a:p>
        </p:txBody>
      </p:sp>
      <p:sp>
        <p:nvSpPr>
          <p:cNvPr id="625" name="Rounded Rectangle 14"/>
          <p:cNvSpPr/>
          <p:nvPr/>
        </p:nvSpPr>
        <p:spPr>
          <a:xfrm>
            <a:off x="6144840" y="1828800"/>
            <a:ext cx="1234080" cy="959760"/>
          </a:xfrm>
          <a:prstGeom prst="roundRect">
            <a:avLst>
              <a:gd name="adj" fmla="val 8000"/>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2200" spc="-1" strike="noStrike">
                <a:solidFill>
                  <a:srgbClr val="ffffff"/>
                </a:solidFill>
                <a:latin typeface="Segoe UI"/>
              </a:rPr>
              <a:t>A</a:t>
            </a:r>
            <a:endParaRPr b="0" lang="en-US" sz="2200" spc="-1" strike="noStrike">
              <a:solidFill>
                <a:srgbClr val="ffffff"/>
              </a:solidFill>
              <a:latin typeface="Arial"/>
            </a:endParaRPr>
          </a:p>
        </p:txBody>
      </p:sp>
      <p:sp>
        <p:nvSpPr>
          <p:cNvPr id="626" name="TextBox 15"/>
          <p:cNvSpPr/>
          <p:nvPr/>
        </p:nvSpPr>
        <p:spPr>
          <a:xfrm>
            <a:off x="6007680" y="2935080"/>
            <a:ext cx="1508400" cy="3193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00a9ce"/>
                </a:solidFill>
                <a:latin typeface="Segoe UI"/>
              </a:rPr>
              <a:t>Tensión</a:t>
            </a:r>
            <a:endParaRPr b="0" lang="en-US" sz="1050" spc="-1" strike="noStrike">
              <a:solidFill>
                <a:srgbClr val="000000"/>
              </a:solidFill>
              <a:latin typeface="Arial"/>
            </a:endParaRPr>
          </a:p>
          <a:p>
            <a:pPr algn="ctr" defTabSz="457200">
              <a:lnSpc>
                <a:spcPct val="100000"/>
              </a:lnSpc>
            </a:pPr>
            <a:r>
              <a:rPr b="1" lang="en-US" sz="1050" spc="-1" strike="noStrike">
                <a:solidFill>
                  <a:srgbClr val="00a9ce"/>
                </a:solidFill>
                <a:latin typeface="Segoe UI"/>
              </a:rPr>
              <a:t>A = 200 V</a:t>
            </a:r>
            <a:endParaRPr b="0" lang="en-US" sz="1050" spc="-1" strike="noStrike">
              <a:solidFill>
                <a:srgbClr val="000000"/>
              </a:solidFill>
              <a:latin typeface="Arial"/>
            </a:endParaRPr>
          </a:p>
        </p:txBody>
      </p:sp>
      <p:sp>
        <p:nvSpPr>
          <p:cNvPr id="627" name="Rounded Rectangle 16"/>
          <p:cNvSpPr/>
          <p:nvPr/>
        </p:nvSpPr>
        <p:spPr>
          <a:xfrm>
            <a:off x="7507080" y="1828800"/>
            <a:ext cx="1828440" cy="959760"/>
          </a:xfrm>
          <a:prstGeom prst="roundRect">
            <a:avLst>
              <a:gd name="adj" fmla="val 8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2200" spc="-1" strike="noStrike">
                <a:solidFill>
                  <a:srgbClr val="ffffff"/>
                </a:solidFill>
                <a:latin typeface="Segoe UI"/>
              </a:rPr>
              <a:t>7</a:t>
            </a:r>
            <a:endParaRPr b="0" lang="en-US" sz="2200" spc="-1" strike="noStrike">
              <a:solidFill>
                <a:srgbClr val="ffffff"/>
              </a:solidFill>
              <a:latin typeface="Arial"/>
            </a:endParaRPr>
          </a:p>
        </p:txBody>
      </p:sp>
      <p:sp>
        <p:nvSpPr>
          <p:cNvPr id="628" name="TextBox 17"/>
          <p:cNvSpPr/>
          <p:nvPr/>
        </p:nvSpPr>
        <p:spPr>
          <a:xfrm>
            <a:off x="7369920" y="2935080"/>
            <a:ext cx="2102760" cy="3193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2e8b57"/>
                </a:solidFill>
                <a:latin typeface="Segoe UI"/>
              </a:rPr>
              <a:t>Encoder</a:t>
            </a:r>
            <a:endParaRPr b="0" lang="en-US" sz="1050" spc="-1" strike="noStrike">
              <a:solidFill>
                <a:srgbClr val="000000"/>
              </a:solidFill>
              <a:latin typeface="Arial"/>
            </a:endParaRPr>
          </a:p>
          <a:p>
            <a:pPr algn="ctr" defTabSz="457200">
              <a:lnSpc>
                <a:spcPct val="100000"/>
              </a:lnSpc>
            </a:pPr>
            <a:r>
              <a:rPr b="1" lang="en-US" sz="1050" spc="-1" strike="noStrike">
                <a:solidFill>
                  <a:srgbClr val="2e8b57"/>
                </a:solidFill>
                <a:latin typeface="Segoe UI"/>
              </a:rPr>
              <a:t>24 bits absoluto</a:t>
            </a:r>
            <a:endParaRPr b="0" lang="en-US" sz="1050" spc="-1" strike="noStrike">
              <a:solidFill>
                <a:srgbClr val="000000"/>
              </a:solidFill>
              <a:latin typeface="Arial"/>
            </a:endParaRPr>
          </a:p>
        </p:txBody>
      </p:sp>
      <p:sp>
        <p:nvSpPr>
          <p:cNvPr id="629" name="Rounded Rectangle 18"/>
          <p:cNvSpPr/>
          <p:nvPr/>
        </p:nvSpPr>
        <p:spPr>
          <a:xfrm>
            <a:off x="9464040" y="1828800"/>
            <a:ext cx="2468520" cy="959760"/>
          </a:xfrm>
          <a:prstGeom prst="roundRect">
            <a:avLst>
              <a:gd name="adj" fmla="val 8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2200" spc="-1" strike="noStrike">
                <a:solidFill>
                  <a:srgbClr val="ffffff"/>
                </a:solidFill>
                <a:latin typeface="Segoe UI"/>
              </a:rPr>
              <a:t>A61</a:t>
            </a:r>
            <a:endParaRPr b="0" lang="en-US" sz="2200" spc="-1" strike="noStrike">
              <a:solidFill>
                <a:srgbClr val="000000"/>
              </a:solidFill>
              <a:latin typeface="Arial"/>
            </a:endParaRPr>
          </a:p>
        </p:txBody>
      </p:sp>
      <p:sp>
        <p:nvSpPr>
          <p:cNvPr id="630" name="TextBox 19"/>
          <p:cNvSpPr/>
          <p:nvPr/>
        </p:nvSpPr>
        <p:spPr>
          <a:xfrm>
            <a:off x="9326880" y="2935080"/>
            <a:ext cx="2742840" cy="3193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e89b1f"/>
                </a:solidFill>
                <a:latin typeface="Segoe UI"/>
              </a:rPr>
              <a:t>Diseño, eje,</a:t>
            </a:r>
            <a:endParaRPr b="0" lang="en-US" sz="1050" spc="-1" strike="noStrike">
              <a:solidFill>
                <a:srgbClr val="000000"/>
              </a:solidFill>
              <a:latin typeface="Arial"/>
            </a:endParaRPr>
          </a:p>
          <a:p>
            <a:pPr algn="ctr" defTabSz="457200">
              <a:lnSpc>
                <a:spcPct val="100000"/>
              </a:lnSpc>
            </a:pPr>
            <a:r>
              <a:rPr b="1" lang="en-US" sz="1050" spc="-1" strike="noStrike">
                <a:solidFill>
                  <a:srgbClr val="e89b1f"/>
                </a:solidFill>
                <a:latin typeface="Segoe UI"/>
              </a:rPr>
              <a:t>freno y opciones</a:t>
            </a:r>
            <a:endParaRPr b="0" lang="en-US" sz="1050" spc="-1" strike="noStrike">
              <a:solidFill>
                <a:srgbClr val="000000"/>
              </a:solidFill>
              <a:latin typeface="Arial"/>
            </a:endParaRPr>
          </a:p>
        </p:txBody>
      </p:sp>
      <p:sp>
        <p:nvSpPr>
          <p:cNvPr id="631" name="Rectangle 20"/>
          <p:cNvSpPr/>
          <p:nvPr/>
        </p:nvSpPr>
        <p:spPr>
          <a:xfrm>
            <a:off x="822960" y="3794760"/>
            <a:ext cx="10560960" cy="95976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32" name="Rectangle 21"/>
          <p:cNvSpPr/>
          <p:nvPr/>
        </p:nvSpPr>
        <p:spPr>
          <a:xfrm>
            <a:off x="822960" y="3794760"/>
            <a:ext cx="68400" cy="9597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33" name="TextBox 22"/>
          <p:cNvSpPr/>
          <p:nvPr/>
        </p:nvSpPr>
        <p:spPr>
          <a:xfrm>
            <a:off x="1097280" y="3931920"/>
            <a:ext cx="1005804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Los tres campos que se olvidan y luego dan problemas</a:t>
            </a:r>
            <a:endParaRPr b="0" lang="en-US" sz="1200" spc="-1" strike="noStrike">
              <a:solidFill>
                <a:srgbClr val="000000"/>
              </a:solidFill>
              <a:latin typeface="Arial"/>
            </a:endParaRPr>
          </a:p>
        </p:txBody>
      </p:sp>
      <p:sp>
        <p:nvSpPr>
          <p:cNvPr id="634" name="TextBox 23"/>
          <p:cNvSpPr/>
          <p:nvPr/>
        </p:nvSpPr>
        <p:spPr>
          <a:xfrm>
            <a:off x="1097280" y="4206240"/>
            <a:ext cx="10058040" cy="37188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1) Freno de retención: un motor con freno y otro sin freno tienen distinta inercia, distinta longitud y distinto cableado.   2) Tipo de eje: recto, con chavetero o con taladro roscado.   3) Tipo de encoder: absoluto o incremental cambia la puesta en marcha completa del eje.</a:t>
            </a:r>
            <a:endParaRPr b="0" lang="en-US" sz="1150" spc="-1" strike="noStrike">
              <a:solidFill>
                <a:srgbClr val="000000"/>
              </a:solidFill>
              <a:latin typeface="Arial"/>
            </a:endParaRPr>
          </a:p>
        </p:txBody>
      </p:sp>
      <p:sp>
        <p:nvSpPr>
          <p:cNvPr id="635" name="Rectangle 24"/>
          <p:cNvSpPr/>
          <p:nvPr/>
        </p:nvSpPr>
        <p:spPr>
          <a:xfrm>
            <a:off x="822960" y="4983480"/>
            <a:ext cx="10560960" cy="109692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36" name="TextBox 25"/>
          <p:cNvSpPr/>
          <p:nvPr/>
        </p:nvSpPr>
        <p:spPr>
          <a:xfrm>
            <a:off x="1051560" y="5139000"/>
            <a:ext cx="1005804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50" spc="-1" strike="noStrike">
                <a:solidFill>
                  <a:srgbClr val="0b2545"/>
                </a:solidFill>
                <a:latin typeface="Segoe UI"/>
              </a:rPr>
              <a:t>Ejercicio de clase</a:t>
            </a:r>
            <a:endParaRPr b="0" lang="en-US" sz="1250" spc="-1" strike="noStrike">
              <a:solidFill>
                <a:srgbClr val="000000"/>
              </a:solidFill>
              <a:latin typeface="Arial"/>
            </a:endParaRPr>
          </a:p>
        </p:txBody>
      </p:sp>
      <p:sp>
        <p:nvSpPr>
          <p:cNvPr id="637" name="TextBox 26"/>
          <p:cNvSpPr/>
          <p:nvPr/>
        </p:nvSpPr>
        <p:spPr>
          <a:xfrm>
            <a:off x="1051560" y="5440680"/>
            <a:ext cx="10058040" cy="385560"/>
          </a:xfrm>
          <a:prstGeom prst="rect">
            <a:avLst/>
          </a:prstGeom>
          <a:noFill/>
          <a:ln w="0">
            <a:noFill/>
          </a:ln>
        </p:spPr>
        <p:style>
          <a:lnRef idx="0"/>
          <a:fillRef idx="0"/>
          <a:effectRef idx="0"/>
          <a:fontRef idx="minor"/>
        </p:style>
        <p:txBody>
          <a:bodyPr lIns="0" rIns="0" tIns="0" bIns="0" anchor="t">
            <a:spAutoFit/>
          </a:bodyPr>
          <a:p>
            <a:pPr defTabSz="457200">
              <a:lnSpc>
                <a:spcPct val="110000"/>
              </a:lnSpc>
            </a:pPr>
            <a:r>
              <a:rPr b="0" lang="en-US" sz="1150" spc="-1" strike="noStrike">
                <a:solidFill>
                  <a:srgbClr val="5a6b7b"/>
                </a:solidFill>
                <a:latin typeface="Segoe UI"/>
              </a:rPr>
              <a:t>Fotografía la placa del motor de tu máquina y decodifica: familia, capacidad, tensión, tipo de encoder y si lleva freno. Después busca en el catálogo la combinación de SERVOPACK homologada y comprueba que coincide con la instalada.</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8"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39"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640"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Ficha del motor de ejemplo: SGMXA-30A</a:t>
            </a:r>
            <a:endParaRPr b="0" lang="en-US" sz="2500" spc="-1" strike="noStrike">
              <a:solidFill>
                <a:srgbClr val="000000"/>
              </a:solidFill>
              <a:latin typeface="Arial"/>
            </a:endParaRPr>
          </a:p>
        </p:txBody>
      </p:sp>
      <p:sp>
        <p:nvSpPr>
          <p:cNvPr id="641"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Los datos que realmente se usan en el cálculo</a:t>
            </a:r>
            <a:endParaRPr b="0" lang="en-US" sz="1250" spc="-1" strike="noStrike">
              <a:solidFill>
                <a:srgbClr val="000000"/>
              </a:solidFill>
              <a:latin typeface="Arial"/>
            </a:endParaRPr>
          </a:p>
        </p:txBody>
      </p:sp>
      <p:sp>
        <p:nvSpPr>
          <p:cNvPr id="642"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03</a:t>
            </a:r>
            <a:endParaRPr b="0" lang="en-US" sz="1100" spc="-1" strike="noStrike">
              <a:solidFill>
                <a:srgbClr val="000000"/>
              </a:solidFill>
              <a:latin typeface="Arial"/>
            </a:endParaRPr>
          </a:p>
        </p:txBody>
      </p:sp>
      <p:sp>
        <p:nvSpPr>
          <p:cNvPr id="643"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644"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34</a:t>
            </a:r>
            <a:endParaRPr b="0" lang="en-US" sz="900" spc="-1" strike="noStrike">
              <a:solidFill>
                <a:srgbClr val="000000"/>
              </a:solidFill>
              <a:latin typeface="Arial"/>
            </a:endParaRPr>
          </a:p>
        </p:txBody>
      </p:sp>
      <p:graphicFrame>
        <p:nvGraphicFramePr>
          <p:cNvPr id="645" name="Table 8"/>
          <p:cNvGraphicFramePr/>
          <p:nvPr/>
        </p:nvGraphicFramePr>
        <p:xfrm>
          <a:off x="567000" y="1481400"/>
          <a:ext cx="11057400" cy="4461840"/>
        </p:xfrm>
        <a:graphic>
          <a:graphicData uri="http://schemas.openxmlformats.org/drawingml/2006/table">
            <a:tbl>
              <a:tblPr/>
              <a:tblGrid>
                <a:gridCol w="3015720"/>
                <a:gridCol w="3719160"/>
                <a:gridCol w="4322520"/>
              </a:tblGrid>
              <a:tr h="347400">
                <a:tc>
                  <a:txBody>
                    <a:bodyPr lIns="82080" rIns="82080" tIns="27360" bIns="27360" anchor="ctr">
                      <a:noAutofit/>
                    </a:bodyPr>
                    <a:p>
                      <a:pPr defTabSz="457200">
                        <a:lnSpc>
                          <a:spcPct val="100000"/>
                        </a:lnSpc>
                      </a:pPr>
                      <a:r>
                        <a:rPr b="1" lang="en-US" sz="1000" spc="-1" strike="noStrike">
                          <a:solidFill>
                            <a:srgbClr val="ffffff"/>
                          </a:solidFill>
                          <a:latin typeface="Segoe UI"/>
                        </a:rPr>
                        <a:t>Característica</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Valor de referencia</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Para qué se usa el dato</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342720">
                <a:tc>
                  <a:txBody>
                    <a:bodyPr lIns="82080" rIns="82080" tIns="27360" bIns="27360" anchor="ctr">
                      <a:noAutofit/>
                    </a:bodyPr>
                    <a:p>
                      <a:pPr defTabSz="457200">
                        <a:lnSpc>
                          <a:spcPct val="100000"/>
                        </a:lnSpc>
                      </a:pPr>
                      <a:r>
                        <a:rPr b="0" lang="en-US" sz="1000" spc="-1" strike="noStrike">
                          <a:solidFill>
                            <a:srgbClr val="1c2430"/>
                          </a:solidFill>
                          <a:latin typeface="Segoe UI"/>
                        </a:rPr>
                        <a:t>Potencia nominal</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3,0 kW</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Debe coincidir con el SERVOPACK</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1000" spc="-1" strike="noStrike">
                          <a:solidFill>
                            <a:srgbClr val="1c2430"/>
                          </a:solidFill>
                          <a:latin typeface="Segoe UI"/>
                        </a:rPr>
                        <a:t>Par nominal (continuo)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 </a:t>
                      </a:r>
                      <a:r>
                        <a:rPr b="0" lang="en-US" sz="1000" spc="-1" strike="noStrike">
                          <a:solidFill>
                            <a:srgbClr val="1c2430"/>
                          </a:solidFill>
                          <a:latin typeface="Segoe UI"/>
                        </a:rPr>
                        <a:t>9,55 N·m</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Comparar con el par RMS del ciclo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2720">
                <a:tc>
                  <a:txBody>
                    <a:bodyPr lIns="82080" rIns="82080" tIns="27360" bIns="27360" anchor="ctr">
                      <a:noAutofit/>
                    </a:bodyPr>
                    <a:p>
                      <a:pPr defTabSz="457200">
                        <a:lnSpc>
                          <a:spcPct val="100000"/>
                        </a:lnSpc>
                      </a:pPr>
                      <a:r>
                        <a:rPr b="0" lang="en-US" sz="1000" spc="-1" strike="noStrike">
                          <a:solidFill>
                            <a:srgbClr val="1c2430"/>
                          </a:solidFill>
                          <a:latin typeface="Segoe UI"/>
                        </a:rPr>
                        <a:t>Par máximo instantáneo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 </a:t>
                      </a:r>
                      <a:r>
                        <a:rPr b="0" lang="en-US" sz="1000" spc="-1" strike="noStrike">
                          <a:solidFill>
                            <a:srgbClr val="1c2430"/>
                          </a:solidFill>
                          <a:latin typeface="Segoe UI"/>
                        </a:rPr>
                        <a:t>28,6 N·m (≈ 300 %)</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Comparar con el par de aceleración</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1000" spc="-1" strike="noStrike">
                          <a:solidFill>
                            <a:srgbClr val="1c2430"/>
                          </a:solidFill>
                          <a:latin typeface="Segoe UI"/>
                        </a:rPr>
                        <a:t>Corriente nominal</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 </a:t>
                      </a:r>
                      <a:r>
                        <a:rPr b="0" lang="en-US" sz="1000" spc="-1" strike="noStrike">
                          <a:solidFill>
                            <a:srgbClr val="1c2430"/>
                          </a:solidFill>
                          <a:latin typeface="Segoe UI"/>
                        </a:rPr>
                        <a:t>18,5 A eficaces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Dimensionar cable de motor y protecciones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2720">
                <a:tc>
                  <a:txBody>
                    <a:bodyPr lIns="82080" rIns="82080" tIns="27360" bIns="27360" anchor="ctr">
                      <a:noAutofit/>
                    </a:bodyPr>
                    <a:p>
                      <a:pPr defTabSz="457200">
                        <a:lnSpc>
                          <a:spcPct val="100000"/>
                        </a:lnSpc>
                      </a:pPr>
                      <a:r>
                        <a:rPr b="0" lang="en-US" sz="1000" spc="-1" strike="noStrike">
                          <a:solidFill>
                            <a:srgbClr val="1c2430"/>
                          </a:solidFill>
                          <a:latin typeface="Segoe UI"/>
                        </a:rPr>
                        <a:t>Corriente máxima instantánea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 </a:t>
                      </a:r>
                      <a:r>
                        <a:rPr b="0" lang="en-US" sz="1000" spc="-1" strike="noStrike">
                          <a:solidFill>
                            <a:srgbClr val="1c2430"/>
                          </a:solidFill>
                          <a:latin typeface="Segoe UI"/>
                        </a:rPr>
                        <a:t>55 A eficaces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Comprobar la capacidad de pico del drive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1000" spc="-1" strike="noStrike">
                          <a:solidFill>
                            <a:srgbClr val="1c2430"/>
                          </a:solidFill>
                          <a:latin typeface="Segoe UI"/>
                        </a:rPr>
                        <a:t>Velocidad nominal / máxima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3.000 / 6.000 rpm</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Verificar que el ciclo cabe en el rango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2720">
                <a:tc>
                  <a:txBody>
                    <a:bodyPr lIns="82080" rIns="82080" tIns="27360" bIns="27360" anchor="ctr">
                      <a:noAutofit/>
                    </a:bodyPr>
                    <a:p>
                      <a:pPr defTabSz="457200">
                        <a:lnSpc>
                          <a:spcPct val="100000"/>
                        </a:lnSpc>
                      </a:pPr>
                      <a:r>
                        <a:rPr b="0" lang="en-US" sz="1000" spc="-1" strike="noStrike">
                          <a:solidFill>
                            <a:srgbClr val="1c2430"/>
                          </a:solidFill>
                          <a:latin typeface="Segoe UI"/>
                        </a:rPr>
                        <a:t>Inercia del rotor</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Orden de 10⁻³ kg·m² (ver catálogo)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Base del cálculo de la relación de inercias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1000" spc="-1" strike="noStrike">
                          <a:solidFill>
                            <a:srgbClr val="1c2430"/>
                          </a:solidFill>
                          <a:latin typeface="Segoe UI"/>
                        </a:rPr>
                        <a:t>Encoder</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Serie absoluto de 24 bits, multivuelta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Resolución y necesidad de batería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2720">
                <a:tc>
                  <a:txBody>
                    <a:bodyPr lIns="82080" rIns="82080" tIns="27360" bIns="27360" anchor="ctr">
                      <a:noAutofit/>
                    </a:bodyPr>
                    <a:p>
                      <a:pPr defTabSz="457200">
                        <a:lnSpc>
                          <a:spcPct val="100000"/>
                        </a:lnSpc>
                      </a:pPr>
                      <a:r>
                        <a:rPr b="0" lang="en-US" sz="1000" spc="-1" strike="noStrike">
                          <a:solidFill>
                            <a:srgbClr val="1c2430"/>
                          </a:solidFill>
                          <a:latin typeface="Segoe UI"/>
                        </a:rPr>
                        <a:t>Aislamiento / clase térmica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Clase F o superior</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Margen térmico admisible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1000" spc="-1" strike="noStrike">
                          <a:solidFill>
                            <a:srgbClr val="1c2430"/>
                          </a:solidFill>
                          <a:latin typeface="Segoe UI"/>
                        </a:rPr>
                        <a:t>Grado de protección</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IP67 (excepto salida de eje y conectores)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Idoneidad para entornos húmedos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2720">
                <a:tc>
                  <a:txBody>
                    <a:bodyPr lIns="82080" rIns="82080" tIns="27360" bIns="27360" anchor="ctr">
                      <a:noAutofit/>
                    </a:bodyPr>
                    <a:p>
                      <a:pPr defTabSz="457200">
                        <a:lnSpc>
                          <a:spcPct val="100000"/>
                        </a:lnSpc>
                      </a:pPr>
                      <a:r>
                        <a:rPr b="0" lang="en-US" sz="1000" spc="-1" strike="noStrike">
                          <a:solidFill>
                            <a:srgbClr val="1c2430"/>
                          </a:solidFill>
                          <a:latin typeface="Segoe UI"/>
                        </a:rPr>
                        <a:t>Freno de retención</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Opcional, 24 V CC</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Obligatorio en ejes verticales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1000" spc="-1" strike="noStrike">
                          <a:solidFill>
                            <a:srgbClr val="1c2430"/>
                          </a:solidFill>
                          <a:latin typeface="Segoe UI"/>
                        </a:rPr>
                        <a:t>Vibración / equilibrado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Clase V15 típica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Calidad de acabado en aplicaciones de precisión</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
        <p:nvSpPr>
          <p:cNvPr id="646"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Los valores exactos (sobre todo la inercia del rotor) dependen de la variante concreta: consúltalos en el catálogo Σ-X antes de dimensionar.</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7"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48"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649"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El encoder absoluto de 24 bits y su batería</a:t>
            </a:r>
            <a:endParaRPr b="0" lang="en-US" sz="2500" spc="-1" strike="noStrike">
              <a:solidFill>
                <a:srgbClr val="000000"/>
              </a:solidFill>
              <a:latin typeface="Arial"/>
            </a:endParaRPr>
          </a:p>
        </p:txBody>
      </p:sp>
      <p:sp>
        <p:nvSpPr>
          <p:cNvPr id="650"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función que elimina el homing… si la mantienes viva</a:t>
            </a:r>
            <a:endParaRPr b="0" lang="en-US" sz="1250" spc="-1" strike="noStrike">
              <a:solidFill>
                <a:srgbClr val="000000"/>
              </a:solidFill>
              <a:latin typeface="Arial"/>
            </a:endParaRPr>
          </a:p>
        </p:txBody>
      </p:sp>
      <p:sp>
        <p:nvSpPr>
          <p:cNvPr id="651"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03</a:t>
            </a:r>
            <a:endParaRPr b="0" lang="en-US" sz="1100" spc="-1" strike="noStrike">
              <a:solidFill>
                <a:srgbClr val="000000"/>
              </a:solidFill>
              <a:latin typeface="Arial"/>
            </a:endParaRPr>
          </a:p>
        </p:txBody>
      </p:sp>
      <p:sp>
        <p:nvSpPr>
          <p:cNvPr id="652"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653"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35</a:t>
            </a:r>
            <a:endParaRPr b="0" lang="en-US" sz="900" spc="-1" strike="noStrike">
              <a:solidFill>
                <a:srgbClr val="000000"/>
              </a:solidFill>
              <a:latin typeface="Arial"/>
            </a:endParaRPr>
          </a:p>
        </p:txBody>
      </p:sp>
      <p:sp>
        <p:nvSpPr>
          <p:cNvPr id="654" name="TextBox 8"/>
          <p:cNvSpPr/>
          <p:nvPr/>
        </p:nvSpPr>
        <p:spPr>
          <a:xfrm>
            <a:off x="567000" y="1481400"/>
            <a:ext cx="11057400" cy="357804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030" spc="-1" strike="noStrike">
                <a:solidFill>
                  <a:srgbClr val="1b5ea8"/>
                </a:solidFill>
                <a:latin typeface="Segoe UI Semibold"/>
              </a:rPr>
              <a:t>Qué aporta</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70" spc="-1" strike="noStrike">
                <a:solidFill>
                  <a:srgbClr val="1c2430"/>
                </a:solidFill>
                <a:latin typeface="Segoe UI"/>
              </a:rPr>
              <a:t>La máquina conoce su posición al arrancar: no hay búsqueda de origen, no hay riesgo de colisión en el homing y el arranque tras un corte es inmediato.</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70" spc="-1" strike="noStrike">
                <a:solidFill>
                  <a:srgbClr val="1c2430"/>
                </a:solidFill>
                <a:latin typeface="Segoe UI"/>
              </a:rPr>
              <a:t>Mantiene la cuenta de vueltas completas (multivuelta) mediante un contador alimentado por batería cuando el drive está sin tensión.</a:t>
            </a:r>
            <a:endParaRPr b="0" lang="en-US" sz="107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1030" spc="-1" strike="noStrike">
                <a:solidFill>
                  <a:srgbClr val="1b5ea8"/>
                </a:solidFill>
                <a:latin typeface="Segoe UI Semibold"/>
              </a:rPr>
              <a:t>Puesta en servicio</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70" spc="-1" strike="noStrike">
                <a:solidFill>
                  <a:srgbClr val="1c2430"/>
                </a:solidFill>
                <a:latin typeface="Segoe UI"/>
              </a:rPr>
              <a:t>Tras la primera instalación o tras cambiar la batería con el equipo sin tensión hay que ejecutar el setup del encoder absoluto (</a:t>
            </a:r>
            <a:r>
              <a:rPr b="1" lang="en-US" sz="1070" spc="-1" strike="noStrike">
                <a:solidFill>
                  <a:srgbClr val="1c2430"/>
                </a:solidFill>
                <a:latin typeface="Consolas"/>
              </a:rPr>
              <a:t>Fn008</a:t>
            </a:r>
            <a:r>
              <a:rPr b="1" lang="en-US" sz="1070" spc="-1" strike="noStrike">
                <a:solidFill>
                  <a:srgbClr val="1c2430"/>
                </a:solidFill>
                <a:latin typeface="Segoe UI"/>
              </a:rPr>
              <a:t>) y volver a establecer el origen de la máquina.</a:t>
            </a:r>
            <a:endParaRPr b="0" lang="en-US" sz="10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20" spc="-1" strike="noStrike">
                <a:solidFill>
                  <a:srgbClr val="333f4c"/>
                </a:solidFill>
                <a:latin typeface="Consolas"/>
              </a:rPr>
              <a:t>Pn205</a:t>
            </a:r>
            <a:r>
              <a:rPr b="0" lang="en-US" sz="920" spc="-1" strike="noStrike">
                <a:solidFill>
                  <a:srgbClr val="333f4c"/>
                </a:solidFill>
                <a:latin typeface="Segoe UI"/>
              </a:rPr>
              <a:t> fija el </a:t>
            </a:r>
            <a:r>
              <a:rPr b="1" lang="en-US" sz="920" spc="-1" strike="noStrike">
                <a:solidFill>
                  <a:srgbClr val="333f4c"/>
                </a:solidFill>
                <a:latin typeface="Segoe UI"/>
              </a:rPr>
              <a:t>límite multivuelta</a:t>
            </a:r>
            <a:r>
              <a:rPr b="0" lang="en-US" sz="920" spc="-1" strike="noStrike">
                <a:solidFill>
                  <a:srgbClr val="333f4c"/>
                </a:solidFill>
                <a:latin typeface="Segoe UI"/>
              </a:rPr>
              <a:t>. En ejes rotativos infinitos hay que configurarlo de acuerdo con la relación de transmisión; si no, aparecen saltos de posición al desbordar el contador.</a:t>
            </a:r>
            <a:endParaRPr b="0" lang="en-US" sz="92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1030" spc="-1" strike="noStrike">
                <a:solidFill>
                  <a:srgbClr val="1b5ea8"/>
                </a:solidFill>
                <a:latin typeface="Segoe UI Semibold"/>
              </a:rPr>
              <a:t>Batería: el punto débil</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70" spc="-1" strike="noStrike">
                <a:solidFill>
                  <a:srgbClr val="1c2430"/>
                </a:solidFill>
                <a:latin typeface="Segoe UI"/>
              </a:rPr>
              <a:t>Vida típica de unos 3 años según horas sin tensión. Genera aviso </a:t>
            </a:r>
            <a:r>
              <a:rPr b="1" lang="en-US" sz="1070" spc="-1" strike="noStrike">
                <a:solidFill>
                  <a:srgbClr val="1c2430"/>
                </a:solidFill>
                <a:latin typeface="Consolas"/>
              </a:rPr>
              <a:t>A.930</a:t>
            </a:r>
            <a:r>
              <a:rPr b="1" lang="en-US" sz="1070" spc="-1" strike="noStrike">
                <a:solidFill>
                  <a:srgbClr val="1c2430"/>
                </a:solidFill>
                <a:latin typeface="Segoe UI"/>
              </a:rPr>
              <a:t> (batería baja) antes de fallar.</a:t>
            </a:r>
            <a:endParaRPr b="0" lang="en-US" sz="10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20" spc="-1" strike="noStrike">
                <a:solidFill>
                  <a:srgbClr val="333f4c"/>
                </a:solidFill>
                <a:latin typeface="Segoe UI"/>
              </a:rPr>
              <a:t>Sustitúyela </a:t>
            </a:r>
            <a:r>
              <a:rPr b="1" lang="en-US" sz="920" spc="-1" strike="noStrike">
                <a:solidFill>
                  <a:srgbClr val="333f4c"/>
                </a:solidFill>
                <a:latin typeface="Segoe UI"/>
              </a:rPr>
              <a:t>con la alimentación de control conectada</a:t>
            </a:r>
            <a:r>
              <a:rPr b="0" lang="en-US" sz="920" spc="-1" strike="noStrike">
                <a:solidFill>
                  <a:srgbClr val="333f4c"/>
                </a:solidFill>
                <a:latin typeface="Segoe UI"/>
              </a:rPr>
              <a:t>: así no se pierde el contaje y no hay que rehacer el origen.</a:t>
            </a:r>
            <a:endParaRPr b="0" lang="en-US" sz="92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20" spc="-1" strike="noStrike">
                <a:solidFill>
                  <a:srgbClr val="333f4c"/>
                </a:solidFill>
                <a:latin typeface="Segoe UI"/>
              </a:rPr>
              <a:t>Si se agota sin tensión → alarma </a:t>
            </a:r>
            <a:r>
              <a:rPr b="0" lang="en-US" sz="920" spc="-1" strike="noStrike">
                <a:solidFill>
                  <a:srgbClr val="333f4c"/>
                </a:solidFill>
                <a:latin typeface="Consolas"/>
              </a:rPr>
              <a:t>A.810</a:t>
            </a:r>
            <a:r>
              <a:rPr b="0" lang="en-US" sz="920" spc="-1" strike="noStrike">
                <a:solidFill>
                  <a:srgbClr val="333f4c"/>
                </a:solidFill>
                <a:latin typeface="Segoe UI"/>
              </a:rPr>
              <a:t> (fallo de respaldo). Hay que ejecutar </a:t>
            </a:r>
            <a:r>
              <a:rPr b="0" lang="en-US" sz="920" spc="-1" strike="noStrike">
                <a:solidFill>
                  <a:srgbClr val="333f4c"/>
                </a:solidFill>
                <a:latin typeface="Consolas"/>
              </a:rPr>
              <a:t>Fn008</a:t>
            </a:r>
            <a:r>
              <a:rPr b="0" lang="en-US" sz="920" spc="-1" strike="noStrike">
                <a:solidFill>
                  <a:srgbClr val="333f4c"/>
                </a:solidFill>
                <a:latin typeface="Segoe UI"/>
              </a:rPr>
              <a:t> y </a:t>
            </a:r>
            <a:r>
              <a:rPr b="1" lang="en-US" sz="920" spc="-1" strike="noStrike">
                <a:solidFill>
                  <a:srgbClr val="333f4c"/>
                </a:solidFill>
                <a:latin typeface="Segoe UI"/>
              </a:rPr>
              <a:t>rehacer el origen de la máquina</a:t>
            </a:r>
            <a:r>
              <a:rPr b="0" lang="en-US" sz="920" spc="-1" strike="noStrike">
                <a:solidFill>
                  <a:srgbClr val="333f4c"/>
                </a:solidFill>
                <a:latin typeface="Segoe UI"/>
              </a:rPr>
              <a:t>.</a:t>
            </a:r>
            <a:endParaRPr b="0" lang="en-US" sz="92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20" spc="-1" strike="noStrike">
                <a:solidFill>
                  <a:srgbClr val="333f4c"/>
                </a:solidFill>
                <a:latin typeface="Segoe UI"/>
              </a:rPr>
              <a:t>Puede alojarse en el drive (unidad de batería) o en el cable de encoder. </a:t>
            </a:r>
            <a:r>
              <a:rPr b="1" lang="en-US" sz="920" spc="-1" strike="noStrike">
                <a:solidFill>
                  <a:srgbClr val="333f4c"/>
                </a:solidFill>
                <a:latin typeface="Segoe UI"/>
              </a:rPr>
              <a:t>No montes las dos a la vez.</a:t>
            </a:r>
            <a:endParaRPr b="0" lang="en-US" sz="920" spc="-1" strike="noStrike">
              <a:solidFill>
                <a:srgbClr val="000000"/>
              </a:solidFill>
              <a:latin typeface="Arial"/>
            </a:endParaRPr>
          </a:p>
        </p:txBody>
      </p:sp>
      <p:sp>
        <p:nvSpPr>
          <p:cNvPr id="655" name="Rectangle 9"/>
          <p:cNvSpPr/>
          <p:nvPr/>
        </p:nvSpPr>
        <p:spPr>
          <a:xfrm>
            <a:off x="567000" y="5459040"/>
            <a:ext cx="11057400" cy="86832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56" name="Rectangle 10"/>
          <p:cNvSpPr/>
          <p:nvPr/>
        </p:nvSpPr>
        <p:spPr>
          <a:xfrm>
            <a:off x="567000" y="5459040"/>
            <a:ext cx="68400" cy="86832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57" name="TextBox 11"/>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Plan de mantenimiento recomendado</a:t>
            </a:r>
            <a:endParaRPr b="0" lang="en-US" sz="1200" spc="-1" strike="noStrike">
              <a:solidFill>
                <a:srgbClr val="000000"/>
              </a:solidFill>
              <a:latin typeface="Arial"/>
            </a:endParaRPr>
          </a:p>
        </p:txBody>
      </p:sp>
      <p:sp>
        <p:nvSpPr>
          <p:cNvPr id="658" name="TextBox 12"/>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Sustitución preventiva de baterías cada 2 años, con la máquina energizada, registrando la fecha en el historial. Y guarda siempre una copia de los parámetros y del valor de origen de cada eje.</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6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661"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El freno de retención y su secuencia</a:t>
            </a:r>
            <a:endParaRPr b="0" lang="en-US" sz="2500" spc="-1" strike="noStrike">
              <a:solidFill>
                <a:srgbClr val="000000"/>
              </a:solidFill>
              <a:latin typeface="Arial"/>
            </a:endParaRPr>
          </a:p>
        </p:txBody>
      </p:sp>
      <p:sp>
        <p:nvSpPr>
          <p:cNvPr id="66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No es un freno de servicio: sólo mantiene la carga parada</a:t>
            </a:r>
            <a:endParaRPr b="0" lang="en-US" sz="1250" spc="-1" strike="noStrike">
              <a:solidFill>
                <a:srgbClr val="000000"/>
              </a:solidFill>
              <a:latin typeface="Arial"/>
            </a:endParaRPr>
          </a:p>
        </p:txBody>
      </p:sp>
      <p:sp>
        <p:nvSpPr>
          <p:cNvPr id="66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03</a:t>
            </a:r>
            <a:endParaRPr b="0" lang="en-US" sz="1100" spc="-1" strike="noStrike">
              <a:solidFill>
                <a:srgbClr val="000000"/>
              </a:solidFill>
              <a:latin typeface="Arial"/>
            </a:endParaRPr>
          </a:p>
        </p:txBody>
      </p:sp>
      <p:sp>
        <p:nvSpPr>
          <p:cNvPr id="66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66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36</a:t>
            </a:r>
            <a:endParaRPr b="0" lang="en-US" sz="900" spc="-1" strike="noStrike">
              <a:solidFill>
                <a:srgbClr val="000000"/>
              </a:solidFill>
              <a:latin typeface="Arial"/>
            </a:endParaRPr>
          </a:p>
        </p:txBody>
      </p:sp>
      <p:sp>
        <p:nvSpPr>
          <p:cNvPr id="666" name="TextBox 8"/>
          <p:cNvSpPr/>
          <p:nvPr/>
        </p:nvSpPr>
        <p:spPr>
          <a:xfrm>
            <a:off x="228600" y="2057400"/>
            <a:ext cx="959760" cy="1450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950" spc="-1" strike="noStrike">
                <a:solidFill>
                  <a:srgbClr val="1b5ea8"/>
                </a:solidFill>
                <a:latin typeface="Segoe UI"/>
              </a:rPr>
              <a:t>Orden /S-ON</a:t>
            </a:r>
            <a:endParaRPr b="0" lang="en-US" sz="950" spc="-1" strike="noStrike">
              <a:solidFill>
                <a:srgbClr val="000000"/>
              </a:solidFill>
              <a:latin typeface="Arial"/>
            </a:endParaRPr>
          </a:p>
        </p:txBody>
      </p:sp>
      <p:cxnSp>
        <p:nvCxnSpPr>
          <p:cNvPr id="667" name="Connector 9"/>
          <p:cNvCxnSpPr/>
          <p:nvPr/>
        </p:nvCxnSpPr>
        <p:spPr>
          <a:xfrm>
            <a:off x="1280160" y="2441160"/>
            <a:ext cx="9601560" cy="360"/>
          </a:xfrm>
          <a:prstGeom prst="straightConnector1">
            <a:avLst/>
          </a:prstGeom>
          <a:ln w="12700">
            <a:solidFill>
              <a:srgbClr val="d3dae2"/>
            </a:solidFill>
            <a:round/>
          </a:ln>
        </p:spPr>
      </p:cxnSp>
      <p:sp>
        <p:nvSpPr>
          <p:cNvPr id="668" name="Rectangle 10"/>
          <p:cNvSpPr/>
          <p:nvPr/>
        </p:nvSpPr>
        <p:spPr>
          <a:xfrm>
            <a:off x="2240280" y="2075760"/>
            <a:ext cx="7296480" cy="36540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69" name="TextBox 11"/>
          <p:cNvSpPr/>
          <p:nvPr/>
        </p:nvSpPr>
        <p:spPr>
          <a:xfrm>
            <a:off x="228600" y="2807280"/>
            <a:ext cx="959760" cy="1450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950" spc="-1" strike="noStrike">
                <a:solidFill>
                  <a:srgbClr val="00a9ce"/>
                </a:solidFill>
                <a:latin typeface="Segoe UI"/>
              </a:rPr>
              <a:t>Par en el motor</a:t>
            </a:r>
            <a:endParaRPr b="0" lang="en-US" sz="950" spc="-1" strike="noStrike">
              <a:solidFill>
                <a:srgbClr val="000000"/>
              </a:solidFill>
              <a:latin typeface="Arial"/>
            </a:endParaRPr>
          </a:p>
        </p:txBody>
      </p:sp>
      <p:cxnSp>
        <p:nvCxnSpPr>
          <p:cNvPr id="670" name="Connector 12"/>
          <p:cNvCxnSpPr/>
          <p:nvPr/>
        </p:nvCxnSpPr>
        <p:spPr>
          <a:xfrm>
            <a:off x="1280160" y="3191040"/>
            <a:ext cx="9601560" cy="360"/>
          </a:xfrm>
          <a:prstGeom prst="straightConnector1">
            <a:avLst/>
          </a:prstGeom>
          <a:ln w="12700">
            <a:solidFill>
              <a:srgbClr val="d3dae2"/>
            </a:solidFill>
            <a:round/>
          </a:ln>
        </p:spPr>
      </p:cxnSp>
      <p:sp>
        <p:nvSpPr>
          <p:cNvPr id="671" name="Rectangle 13"/>
          <p:cNvSpPr/>
          <p:nvPr/>
        </p:nvSpPr>
        <p:spPr>
          <a:xfrm>
            <a:off x="2528280" y="2825640"/>
            <a:ext cx="7392600" cy="36540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72" name="TextBox 14"/>
          <p:cNvSpPr/>
          <p:nvPr/>
        </p:nvSpPr>
        <p:spPr>
          <a:xfrm>
            <a:off x="228600" y="3557160"/>
            <a:ext cx="959760" cy="28980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950" spc="-1" strike="noStrike">
                <a:solidFill>
                  <a:srgbClr val="2e8b57"/>
                </a:solidFill>
                <a:latin typeface="Segoe UI"/>
              </a:rPr>
              <a:t>Salida /BK (freno)</a:t>
            </a:r>
            <a:endParaRPr b="0" lang="en-US" sz="950" spc="-1" strike="noStrike">
              <a:solidFill>
                <a:srgbClr val="000000"/>
              </a:solidFill>
              <a:latin typeface="Arial"/>
            </a:endParaRPr>
          </a:p>
        </p:txBody>
      </p:sp>
      <p:cxnSp>
        <p:nvCxnSpPr>
          <p:cNvPr id="673" name="Connector 15"/>
          <p:cNvCxnSpPr/>
          <p:nvPr/>
        </p:nvCxnSpPr>
        <p:spPr>
          <a:xfrm>
            <a:off x="1280160" y="3940920"/>
            <a:ext cx="9601560" cy="360"/>
          </a:xfrm>
          <a:prstGeom prst="straightConnector1">
            <a:avLst/>
          </a:prstGeom>
          <a:ln w="12700">
            <a:solidFill>
              <a:srgbClr val="d3dae2"/>
            </a:solidFill>
            <a:round/>
          </a:ln>
        </p:spPr>
      </p:cxnSp>
      <p:sp>
        <p:nvSpPr>
          <p:cNvPr id="674" name="Rectangle 16"/>
          <p:cNvSpPr/>
          <p:nvPr/>
        </p:nvSpPr>
        <p:spPr>
          <a:xfrm>
            <a:off x="3392280" y="3575160"/>
            <a:ext cx="5376240" cy="36540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75" name="TextBox 17"/>
          <p:cNvSpPr/>
          <p:nvPr/>
        </p:nvSpPr>
        <p:spPr>
          <a:xfrm>
            <a:off x="228600" y="4306680"/>
            <a:ext cx="959760" cy="1450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950" spc="-1" strike="noStrike">
                <a:solidFill>
                  <a:srgbClr val="e89b1f"/>
                </a:solidFill>
                <a:latin typeface="Segoe UI"/>
              </a:rPr>
              <a:t>Movimiento</a:t>
            </a:r>
            <a:endParaRPr b="0" lang="en-US" sz="950" spc="-1" strike="noStrike">
              <a:solidFill>
                <a:srgbClr val="000000"/>
              </a:solidFill>
              <a:latin typeface="Arial"/>
            </a:endParaRPr>
          </a:p>
        </p:txBody>
      </p:sp>
      <p:cxnSp>
        <p:nvCxnSpPr>
          <p:cNvPr id="676" name="Connector 18"/>
          <p:cNvCxnSpPr/>
          <p:nvPr/>
        </p:nvCxnSpPr>
        <p:spPr>
          <a:xfrm>
            <a:off x="1280160" y="4690800"/>
            <a:ext cx="9601560" cy="360"/>
          </a:xfrm>
          <a:prstGeom prst="straightConnector1">
            <a:avLst/>
          </a:prstGeom>
          <a:ln w="12700">
            <a:solidFill>
              <a:srgbClr val="d3dae2"/>
            </a:solidFill>
            <a:round/>
          </a:ln>
        </p:spPr>
      </p:cxnSp>
      <p:sp>
        <p:nvSpPr>
          <p:cNvPr id="677" name="Rectangle 19"/>
          <p:cNvSpPr/>
          <p:nvPr/>
        </p:nvSpPr>
        <p:spPr>
          <a:xfrm>
            <a:off x="4160520" y="4325040"/>
            <a:ext cx="3840120" cy="36540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cxnSp>
        <p:nvCxnSpPr>
          <p:cNvPr id="678" name="Connector 20"/>
          <p:cNvCxnSpPr/>
          <p:nvPr/>
        </p:nvCxnSpPr>
        <p:spPr>
          <a:xfrm>
            <a:off x="2240280" y="1874160"/>
            <a:ext cx="360" cy="3201120"/>
          </a:xfrm>
          <a:prstGeom prst="straightConnector1">
            <a:avLst/>
          </a:prstGeom>
          <a:ln w="12700">
            <a:solidFill>
              <a:srgbClr val="0b2545"/>
            </a:solidFill>
            <a:prstDash val="dash"/>
            <a:round/>
          </a:ln>
        </p:spPr>
      </p:cxnSp>
      <p:sp>
        <p:nvSpPr>
          <p:cNvPr id="679" name="TextBox 21"/>
          <p:cNvSpPr/>
          <p:nvPr/>
        </p:nvSpPr>
        <p:spPr>
          <a:xfrm>
            <a:off x="1371600" y="5102280"/>
            <a:ext cx="1737000" cy="1378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900" spc="-1" strike="noStrike">
                <a:solidFill>
                  <a:srgbClr val="0b2545"/>
                </a:solidFill>
                <a:latin typeface="Segoe UI"/>
              </a:rPr>
              <a:t>1  Servo ON</a:t>
            </a:r>
            <a:endParaRPr b="0" lang="en-US" sz="900" spc="-1" strike="noStrike">
              <a:solidFill>
                <a:srgbClr val="000000"/>
              </a:solidFill>
              <a:latin typeface="Arial"/>
            </a:endParaRPr>
          </a:p>
        </p:txBody>
      </p:sp>
      <p:cxnSp>
        <p:nvCxnSpPr>
          <p:cNvPr id="680" name="Connector 22"/>
          <p:cNvCxnSpPr/>
          <p:nvPr/>
        </p:nvCxnSpPr>
        <p:spPr>
          <a:xfrm>
            <a:off x="3392280" y="1874160"/>
            <a:ext cx="360" cy="3201120"/>
          </a:xfrm>
          <a:prstGeom prst="straightConnector1">
            <a:avLst/>
          </a:prstGeom>
          <a:ln w="12700">
            <a:solidFill>
              <a:srgbClr val="2e8b57"/>
            </a:solidFill>
            <a:prstDash val="dash"/>
            <a:round/>
          </a:ln>
        </p:spPr>
      </p:cxnSp>
      <p:sp>
        <p:nvSpPr>
          <p:cNvPr id="681" name="TextBox 23"/>
          <p:cNvSpPr/>
          <p:nvPr/>
        </p:nvSpPr>
        <p:spPr>
          <a:xfrm>
            <a:off x="2523600" y="5102280"/>
            <a:ext cx="1737000" cy="1378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900" spc="-1" strike="noStrike">
                <a:solidFill>
                  <a:srgbClr val="2e8b57"/>
                </a:solidFill>
                <a:latin typeface="Segoe UI"/>
              </a:rPr>
              <a:t>2  Liberar freno</a:t>
            </a:r>
            <a:endParaRPr b="0" lang="en-US" sz="900" spc="-1" strike="noStrike">
              <a:solidFill>
                <a:srgbClr val="000000"/>
              </a:solidFill>
              <a:latin typeface="Arial"/>
            </a:endParaRPr>
          </a:p>
        </p:txBody>
      </p:sp>
      <p:cxnSp>
        <p:nvCxnSpPr>
          <p:cNvPr id="682" name="Connector 24"/>
          <p:cNvCxnSpPr/>
          <p:nvPr/>
        </p:nvCxnSpPr>
        <p:spPr>
          <a:xfrm>
            <a:off x="4160520" y="1874160"/>
            <a:ext cx="360" cy="3201120"/>
          </a:xfrm>
          <a:prstGeom prst="straightConnector1">
            <a:avLst/>
          </a:prstGeom>
          <a:ln w="12700">
            <a:solidFill>
              <a:srgbClr val="e89b1f"/>
            </a:solidFill>
            <a:prstDash val="dash"/>
            <a:round/>
          </a:ln>
        </p:spPr>
      </p:cxnSp>
      <p:sp>
        <p:nvSpPr>
          <p:cNvPr id="683" name="TextBox 25"/>
          <p:cNvSpPr/>
          <p:nvPr/>
        </p:nvSpPr>
        <p:spPr>
          <a:xfrm>
            <a:off x="3291840" y="5102280"/>
            <a:ext cx="1737000" cy="1378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900" spc="-1" strike="noStrike">
                <a:solidFill>
                  <a:srgbClr val="e89b1f"/>
                </a:solidFill>
                <a:latin typeface="Segoe UI"/>
              </a:rPr>
              <a:t>3  Mover</a:t>
            </a:r>
            <a:endParaRPr b="0" lang="en-US" sz="900" spc="-1" strike="noStrike">
              <a:solidFill>
                <a:srgbClr val="000000"/>
              </a:solidFill>
              <a:latin typeface="Arial"/>
            </a:endParaRPr>
          </a:p>
        </p:txBody>
      </p:sp>
      <p:cxnSp>
        <p:nvCxnSpPr>
          <p:cNvPr id="684" name="Connector 26"/>
          <p:cNvCxnSpPr/>
          <p:nvPr/>
        </p:nvCxnSpPr>
        <p:spPr>
          <a:xfrm>
            <a:off x="8001000" y="1874160"/>
            <a:ext cx="360" cy="3201120"/>
          </a:xfrm>
          <a:prstGeom prst="straightConnector1">
            <a:avLst/>
          </a:prstGeom>
          <a:ln w="12700">
            <a:solidFill>
              <a:srgbClr val="e89b1f"/>
            </a:solidFill>
            <a:prstDash val="dash"/>
            <a:round/>
          </a:ln>
        </p:spPr>
      </p:cxnSp>
      <p:sp>
        <p:nvSpPr>
          <p:cNvPr id="685" name="TextBox 27"/>
          <p:cNvSpPr/>
          <p:nvPr/>
        </p:nvSpPr>
        <p:spPr>
          <a:xfrm>
            <a:off x="7132320" y="5102280"/>
            <a:ext cx="1737000" cy="1378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900" spc="-1" strike="noStrike">
                <a:solidFill>
                  <a:srgbClr val="e89b1f"/>
                </a:solidFill>
                <a:latin typeface="Segoe UI"/>
              </a:rPr>
              <a:t>4  Parar</a:t>
            </a:r>
            <a:endParaRPr b="0" lang="en-US" sz="900" spc="-1" strike="noStrike">
              <a:solidFill>
                <a:srgbClr val="000000"/>
              </a:solidFill>
              <a:latin typeface="Arial"/>
            </a:endParaRPr>
          </a:p>
        </p:txBody>
      </p:sp>
      <p:cxnSp>
        <p:nvCxnSpPr>
          <p:cNvPr id="686" name="Connector 28"/>
          <p:cNvCxnSpPr/>
          <p:nvPr/>
        </p:nvCxnSpPr>
        <p:spPr>
          <a:xfrm>
            <a:off x="8768880" y="1874160"/>
            <a:ext cx="360" cy="3201120"/>
          </a:xfrm>
          <a:prstGeom prst="straightConnector1">
            <a:avLst/>
          </a:prstGeom>
          <a:ln w="12700">
            <a:solidFill>
              <a:srgbClr val="2e8b57"/>
            </a:solidFill>
            <a:prstDash val="dash"/>
            <a:round/>
          </a:ln>
        </p:spPr>
      </p:cxnSp>
      <p:sp>
        <p:nvSpPr>
          <p:cNvPr id="687" name="TextBox 29"/>
          <p:cNvSpPr/>
          <p:nvPr/>
        </p:nvSpPr>
        <p:spPr>
          <a:xfrm>
            <a:off x="7900560" y="5102280"/>
            <a:ext cx="1737000" cy="2746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900" spc="-1" strike="noStrike">
                <a:solidFill>
                  <a:srgbClr val="2e8b57"/>
                </a:solidFill>
                <a:latin typeface="Segoe UI"/>
              </a:rPr>
              <a:t>5  Aplicar freno</a:t>
            </a:r>
            <a:endParaRPr b="0" lang="en-US" sz="900" spc="-1" strike="noStrike">
              <a:solidFill>
                <a:srgbClr val="000000"/>
              </a:solidFill>
              <a:latin typeface="Arial"/>
            </a:endParaRPr>
          </a:p>
          <a:p>
            <a:pPr algn="ctr" defTabSz="457200">
              <a:lnSpc>
                <a:spcPct val="100000"/>
              </a:lnSpc>
            </a:pPr>
            <a:r>
              <a:rPr b="1" lang="en-US" sz="900" spc="-1" strike="noStrike">
                <a:solidFill>
                  <a:srgbClr val="2e8b57"/>
                </a:solidFill>
                <a:latin typeface="Consolas"/>
              </a:rPr>
              <a:t>Pn507</a:t>
            </a:r>
            <a:endParaRPr b="0" lang="en-US" sz="900" spc="-1" strike="noStrike">
              <a:solidFill>
                <a:srgbClr val="000000"/>
              </a:solidFill>
              <a:latin typeface="Arial"/>
            </a:endParaRPr>
          </a:p>
        </p:txBody>
      </p:sp>
      <p:cxnSp>
        <p:nvCxnSpPr>
          <p:cNvPr id="688" name="Connector 30"/>
          <p:cNvCxnSpPr/>
          <p:nvPr/>
        </p:nvCxnSpPr>
        <p:spPr>
          <a:xfrm>
            <a:off x="9921240" y="1874160"/>
            <a:ext cx="360" cy="3201120"/>
          </a:xfrm>
          <a:prstGeom prst="straightConnector1">
            <a:avLst/>
          </a:prstGeom>
          <a:ln w="12700">
            <a:solidFill>
              <a:srgbClr val="0b2545"/>
            </a:solidFill>
            <a:prstDash val="dash"/>
            <a:round/>
          </a:ln>
        </p:spPr>
      </p:cxnSp>
      <p:sp>
        <p:nvSpPr>
          <p:cNvPr id="689" name="TextBox 31"/>
          <p:cNvSpPr/>
          <p:nvPr/>
        </p:nvSpPr>
        <p:spPr>
          <a:xfrm>
            <a:off x="9052560" y="5102280"/>
            <a:ext cx="1737000" cy="2746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900" spc="-1" strike="noStrike">
                <a:solidFill>
                  <a:srgbClr val="0b2545"/>
                </a:solidFill>
                <a:latin typeface="Segoe UI"/>
              </a:rPr>
              <a:t>6  Servo OFF</a:t>
            </a:r>
            <a:endParaRPr b="0" lang="en-US" sz="900" spc="-1" strike="noStrike">
              <a:solidFill>
                <a:srgbClr val="000000"/>
              </a:solidFill>
              <a:latin typeface="Arial"/>
            </a:endParaRPr>
          </a:p>
          <a:p>
            <a:pPr algn="ctr" defTabSz="457200">
              <a:lnSpc>
                <a:spcPct val="100000"/>
              </a:lnSpc>
            </a:pPr>
            <a:r>
              <a:rPr b="1" lang="en-US" sz="900" spc="-1" strike="noStrike">
                <a:solidFill>
                  <a:srgbClr val="0b2545"/>
                </a:solidFill>
                <a:latin typeface="Consolas"/>
              </a:rPr>
              <a:t>Pn506</a:t>
            </a:r>
            <a:r>
              <a:rPr b="1" lang="en-US" sz="900" spc="-1" strike="noStrike">
                <a:solidFill>
                  <a:srgbClr val="0b2545"/>
                </a:solidFill>
                <a:latin typeface="Segoe UI"/>
              </a:rPr>
              <a:t> / </a:t>
            </a:r>
            <a:r>
              <a:rPr b="1" lang="en-US" sz="900" spc="-1" strike="noStrike">
                <a:solidFill>
                  <a:srgbClr val="0b2545"/>
                </a:solidFill>
                <a:latin typeface="Consolas"/>
              </a:rPr>
              <a:t>Pn508</a:t>
            </a:r>
            <a:endParaRPr b="0" lang="en-US" sz="900" spc="-1" strike="noStrike">
              <a:solidFill>
                <a:srgbClr val="000000"/>
              </a:solidFill>
              <a:latin typeface="Arial"/>
            </a:endParaRPr>
          </a:p>
        </p:txBody>
      </p:sp>
      <p:sp>
        <p:nvSpPr>
          <p:cNvPr id="690" name="Rectangle 32"/>
          <p:cNvSpPr/>
          <p:nvPr/>
        </p:nvSpPr>
        <p:spPr>
          <a:xfrm>
            <a:off x="567000" y="5468040"/>
            <a:ext cx="11018160" cy="85932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91" name="Rectangle 33"/>
          <p:cNvSpPr/>
          <p:nvPr/>
        </p:nvSpPr>
        <p:spPr>
          <a:xfrm>
            <a:off x="567000" y="5468040"/>
            <a:ext cx="68400" cy="85932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92" name="TextBox 34"/>
          <p:cNvSpPr/>
          <p:nvPr/>
        </p:nvSpPr>
        <p:spPr>
          <a:xfrm>
            <a:off x="841320" y="5605200"/>
            <a:ext cx="1051524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c0392b"/>
                </a:solidFill>
                <a:latin typeface="Segoe UI Semibold"/>
              </a:rPr>
              <a:t>Errores que cuestan un motor</a:t>
            </a:r>
            <a:endParaRPr b="0" lang="en-US" sz="1200" spc="-1" strike="noStrike">
              <a:solidFill>
                <a:srgbClr val="000000"/>
              </a:solidFill>
              <a:latin typeface="Arial"/>
            </a:endParaRPr>
          </a:p>
        </p:txBody>
      </p:sp>
      <p:sp>
        <p:nvSpPr>
          <p:cNvPr id="693" name="TextBox 35"/>
          <p:cNvSpPr/>
          <p:nvPr/>
        </p:nvSpPr>
        <p:spPr>
          <a:xfrm>
            <a:off x="841320" y="5879520"/>
            <a:ext cx="1051524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Usar el freno para detener el eje en marcha (se quema en semanas) · Alimentar el freno desde la misma fuente que las E/S (la caída de tensión al liberarlo provoca fallos erráticos) · Quitar el par antes de que el freno haya agarrado en un eje vertical (la carga cae).</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69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69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Conectores, cables y protección del motor</a:t>
            </a:r>
            <a:endParaRPr b="0" lang="en-US" sz="2500" spc="-1" strike="noStrike">
              <a:solidFill>
                <a:srgbClr val="000000"/>
              </a:solidFill>
              <a:latin typeface="Arial"/>
            </a:endParaRPr>
          </a:p>
        </p:txBody>
      </p:sp>
      <p:sp>
        <p:nvSpPr>
          <p:cNvPr id="69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El 30 % de las averías de un servo están en los cables</a:t>
            </a:r>
            <a:endParaRPr b="0" lang="en-US" sz="1250" spc="-1" strike="noStrike">
              <a:solidFill>
                <a:srgbClr val="000000"/>
              </a:solidFill>
              <a:latin typeface="Arial"/>
            </a:endParaRPr>
          </a:p>
        </p:txBody>
      </p:sp>
      <p:sp>
        <p:nvSpPr>
          <p:cNvPr id="69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03</a:t>
            </a:r>
            <a:endParaRPr b="0" lang="en-US" sz="1100" spc="-1" strike="noStrike">
              <a:solidFill>
                <a:srgbClr val="000000"/>
              </a:solidFill>
              <a:latin typeface="Arial"/>
            </a:endParaRPr>
          </a:p>
        </p:txBody>
      </p:sp>
      <p:sp>
        <p:nvSpPr>
          <p:cNvPr id="69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70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37</a:t>
            </a:r>
            <a:endParaRPr b="0" lang="en-US" sz="900" spc="-1" strike="noStrike">
              <a:solidFill>
                <a:srgbClr val="000000"/>
              </a:solidFill>
              <a:latin typeface="Arial"/>
            </a:endParaRPr>
          </a:p>
        </p:txBody>
      </p:sp>
      <p:graphicFrame>
        <p:nvGraphicFramePr>
          <p:cNvPr id="701" name="Table 8"/>
          <p:cNvGraphicFramePr/>
          <p:nvPr/>
        </p:nvGraphicFramePr>
        <p:xfrm>
          <a:off x="567000" y="1481400"/>
          <a:ext cx="11057400" cy="4845960"/>
        </p:xfrm>
        <a:graphic>
          <a:graphicData uri="http://schemas.openxmlformats.org/drawingml/2006/table">
            <a:tbl>
              <a:tblPr/>
              <a:tblGrid>
                <a:gridCol w="2521800"/>
                <a:gridCol w="4461840"/>
                <a:gridCol w="4073760"/>
              </a:tblGrid>
              <a:tr h="347400">
                <a:tc>
                  <a:txBody>
                    <a:bodyPr lIns="82080" rIns="82080" tIns="27360" bIns="27360" anchor="ctr">
                      <a:noAutofit/>
                    </a:bodyPr>
                    <a:p>
                      <a:pPr defTabSz="457200">
                        <a:lnSpc>
                          <a:spcPct val="100000"/>
                        </a:lnSpc>
                      </a:pPr>
                      <a:r>
                        <a:rPr b="1" lang="en-US" sz="1000" spc="-1" strike="noStrike">
                          <a:solidFill>
                            <a:srgbClr val="ffffff"/>
                          </a:solidFill>
                          <a:latin typeface="Segoe UI"/>
                        </a:rPr>
                        <a:t>Elemento</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Detalle</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Buena práctica</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562320">
                <a:tc>
                  <a:txBody>
                    <a:bodyPr lIns="82080" rIns="82080" tIns="27360" bIns="27360" anchor="ctr">
                      <a:noAutofit/>
                    </a:bodyPr>
                    <a:p>
                      <a:pPr defTabSz="457200">
                        <a:lnSpc>
                          <a:spcPct val="100000"/>
                        </a:lnSpc>
                      </a:pPr>
                      <a:r>
                        <a:rPr b="0" lang="en-US" sz="1000" spc="-1" strike="noStrike">
                          <a:solidFill>
                            <a:srgbClr val="1c2430"/>
                          </a:solidFill>
                          <a:latin typeface="Segoe UI"/>
                        </a:rPr>
                        <a:t>Conector de potencia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Conector redondo tipo militar en tamaños medios y grandes como el de 3 kW</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Orientable: pídelo con el ángulo adecuado al montaje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62320">
                <a:tc>
                  <a:txBody>
                    <a:bodyPr lIns="82080" rIns="82080" tIns="27360" bIns="27360" anchor="ctr">
                      <a:noAutofit/>
                    </a:bodyPr>
                    <a:p>
                      <a:pPr defTabSz="457200">
                        <a:lnSpc>
                          <a:spcPct val="100000"/>
                        </a:lnSpc>
                      </a:pPr>
                      <a:r>
                        <a:rPr b="0" lang="en-US" sz="1000" spc="-1" strike="noStrike">
                          <a:solidFill>
                            <a:srgbClr val="1c2430"/>
                          </a:solidFill>
                          <a:latin typeface="Segoe UI"/>
                        </a:rPr>
                        <a:t>Conector de encoder</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Conector independiente con cable apantallado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1000" spc="-1" strike="noStrike">
                          <a:solidFill>
                            <a:srgbClr val="1c2430"/>
                          </a:solidFill>
                          <a:latin typeface="Segoe UI"/>
                        </a:rPr>
                        <a:t>Nunca</a:t>
                      </a:r>
                      <a:r>
                        <a:rPr b="0" lang="en-US" sz="1000" spc="-1" strike="noStrike">
                          <a:solidFill>
                            <a:srgbClr val="1c2430"/>
                          </a:solidFill>
                          <a:latin typeface="Segoe UI"/>
                        </a:rPr>
                        <a:t> compartas canaleta con la potencia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62320">
                <a:tc>
                  <a:txBody>
                    <a:bodyPr lIns="82080" rIns="82080" tIns="27360" bIns="27360" anchor="ctr">
                      <a:noAutofit/>
                    </a:bodyPr>
                    <a:p>
                      <a:pPr defTabSz="457200">
                        <a:lnSpc>
                          <a:spcPct val="100000"/>
                        </a:lnSpc>
                      </a:pPr>
                      <a:r>
                        <a:rPr b="0" lang="en-US" sz="1000" spc="-1" strike="noStrike">
                          <a:solidFill>
                            <a:srgbClr val="1c2430"/>
                          </a:solidFill>
                          <a:latin typeface="Segoe UI"/>
                        </a:rPr>
                        <a:t>Conector del freno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Dos hilos, 24 V CC, sin polaridad en muchos modelos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Alimentación exclusiva; no la compartas con las E/S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62320">
                <a:tc>
                  <a:txBody>
                    <a:bodyPr lIns="82080" rIns="82080" tIns="27360" bIns="27360" anchor="ctr">
                      <a:noAutofit/>
                    </a:bodyPr>
                    <a:p>
                      <a:pPr defTabSz="457200">
                        <a:lnSpc>
                          <a:spcPct val="100000"/>
                        </a:lnSpc>
                      </a:pPr>
                      <a:r>
                        <a:rPr b="0" lang="en-US" sz="1000" spc="-1" strike="noStrike">
                          <a:solidFill>
                            <a:srgbClr val="1c2430"/>
                          </a:solidFill>
                          <a:latin typeface="Segoe UI"/>
                        </a:rPr>
                        <a:t>Longitud de cable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Hasta 20 m estándar; más con cable especial</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Cables largos aumentan capacidad parásita y ruido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62320">
                <a:tc>
                  <a:txBody>
                    <a:bodyPr lIns="82080" rIns="82080" tIns="27360" bIns="27360" anchor="ctr">
                      <a:noAutofit/>
                    </a:bodyPr>
                    <a:p>
                      <a:pPr defTabSz="457200">
                        <a:lnSpc>
                          <a:spcPct val="100000"/>
                        </a:lnSpc>
                      </a:pPr>
                      <a:r>
                        <a:rPr b="0" lang="en-US" sz="1000" spc="-1" strike="noStrike">
                          <a:solidFill>
                            <a:srgbClr val="1c2430"/>
                          </a:solidFill>
                          <a:latin typeface="Segoe UI"/>
                        </a:rPr>
                        <a:t>Apantallamiento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Malla conectada a tierra en </a:t>
                      </a:r>
                      <a:r>
                        <a:rPr b="1" lang="en-US" sz="1000" spc="-1" strike="noStrike">
                          <a:solidFill>
                            <a:srgbClr val="1c2430"/>
                          </a:solidFill>
                          <a:latin typeface="Segoe UI"/>
                        </a:rPr>
                        <a:t>ambos</a:t>
                      </a:r>
                      <a:r>
                        <a:rPr b="0" lang="en-US" sz="1000" spc="-1" strike="noStrike">
                          <a:solidFill>
                            <a:srgbClr val="1c2430"/>
                          </a:solidFill>
                          <a:latin typeface="Segoe UI"/>
                        </a:rPr>
                        <a:t> extremos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Es la medida antirruido más eficaz</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62320">
                <a:tc>
                  <a:txBody>
                    <a:bodyPr lIns="82080" rIns="82080" tIns="27360" bIns="27360" anchor="ctr">
                      <a:noAutofit/>
                    </a:bodyPr>
                    <a:p>
                      <a:pPr defTabSz="457200">
                        <a:lnSpc>
                          <a:spcPct val="100000"/>
                        </a:lnSpc>
                      </a:pPr>
                      <a:r>
                        <a:rPr b="0" lang="en-US" sz="1000" spc="-1" strike="noStrike">
                          <a:solidFill>
                            <a:srgbClr val="1c2430"/>
                          </a:solidFill>
                          <a:latin typeface="Segoe UI"/>
                        </a:rPr>
                        <a:t>Grado de protección</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IP67 en el cuerpo del motor</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La salida de eje y los conectores no son estancos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62320">
                <a:tc>
                  <a:txBody>
                    <a:bodyPr lIns="82080" rIns="82080" tIns="27360" bIns="27360" anchor="ctr">
                      <a:noAutofit/>
                    </a:bodyPr>
                    <a:p>
                      <a:pPr defTabSz="457200">
                        <a:lnSpc>
                          <a:spcPct val="100000"/>
                        </a:lnSpc>
                      </a:pPr>
                      <a:r>
                        <a:rPr b="0" lang="en-US" sz="1000" spc="-1" strike="noStrike">
                          <a:solidFill>
                            <a:srgbClr val="1c2430"/>
                          </a:solidFill>
                          <a:latin typeface="Segoe UI"/>
                        </a:rPr>
                        <a:t>Montaje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Brida normalizada, chavetero opcional</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Verifica cargas radial y axial admisibles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62320">
                <a:tc>
                  <a:txBody>
                    <a:bodyPr lIns="82080" rIns="82080" tIns="27360" bIns="27360" anchor="ctr">
                      <a:noAutofit/>
                    </a:bodyPr>
                    <a:p>
                      <a:pPr defTabSz="457200">
                        <a:lnSpc>
                          <a:spcPct val="100000"/>
                        </a:lnSpc>
                      </a:pPr>
                      <a:r>
                        <a:rPr b="0" lang="en-US" sz="1000" spc="-1" strike="noStrike">
                          <a:solidFill>
                            <a:srgbClr val="1c2430"/>
                          </a:solidFill>
                          <a:latin typeface="Segoe UI"/>
                        </a:rPr>
                        <a:t>Sentido de montaje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Conectores hacia abajo si hay riesgo de goteo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Evita el efecto sifón por el cable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03"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704"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Combinaciones homologadas motor–SERVOPACK</a:t>
            </a:r>
            <a:endParaRPr b="0" lang="en-US" sz="2500" spc="-1" strike="noStrike">
              <a:solidFill>
                <a:srgbClr val="000000"/>
              </a:solidFill>
              <a:latin typeface="Arial"/>
            </a:endParaRPr>
          </a:p>
        </p:txBody>
      </p:sp>
      <p:sp>
        <p:nvSpPr>
          <p:cNvPr id="705"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No se mezclan piezas: se eligen conjuntos</a:t>
            </a:r>
            <a:endParaRPr b="0" lang="en-US" sz="1250" spc="-1" strike="noStrike">
              <a:solidFill>
                <a:srgbClr val="000000"/>
              </a:solidFill>
              <a:latin typeface="Arial"/>
            </a:endParaRPr>
          </a:p>
        </p:txBody>
      </p:sp>
      <p:sp>
        <p:nvSpPr>
          <p:cNvPr id="706"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03</a:t>
            </a:r>
            <a:endParaRPr b="0" lang="en-US" sz="1100" spc="-1" strike="noStrike">
              <a:solidFill>
                <a:srgbClr val="000000"/>
              </a:solidFill>
              <a:latin typeface="Arial"/>
            </a:endParaRPr>
          </a:p>
        </p:txBody>
      </p:sp>
      <p:sp>
        <p:nvSpPr>
          <p:cNvPr id="707"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708"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38</a:t>
            </a:r>
            <a:endParaRPr b="0" lang="en-US" sz="900" spc="-1" strike="noStrike">
              <a:solidFill>
                <a:srgbClr val="000000"/>
              </a:solidFill>
              <a:latin typeface="Arial"/>
            </a:endParaRPr>
          </a:p>
        </p:txBody>
      </p:sp>
      <p:sp>
        <p:nvSpPr>
          <p:cNvPr id="709" name="Rectangle 8"/>
          <p:cNvSpPr/>
          <p:nvPr/>
        </p:nvSpPr>
        <p:spPr>
          <a:xfrm>
            <a:off x="567000" y="1481400"/>
            <a:ext cx="5373000" cy="48459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10" name="Rectangle 9"/>
          <p:cNvSpPr/>
          <p:nvPr/>
        </p:nvSpPr>
        <p:spPr>
          <a:xfrm>
            <a:off x="567000" y="1481400"/>
            <a:ext cx="5373000" cy="4201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11"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Por qué existen</a:t>
            </a:r>
            <a:endParaRPr b="0" lang="en-US" sz="1350" spc="-1" strike="noStrike">
              <a:solidFill>
                <a:srgbClr val="000000"/>
              </a:solidFill>
              <a:latin typeface="Arial"/>
            </a:endParaRPr>
          </a:p>
        </p:txBody>
      </p:sp>
      <p:sp>
        <p:nvSpPr>
          <p:cNvPr id="712" name="TextBox 11"/>
          <p:cNvSpPr/>
          <p:nvPr/>
        </p:nvSpPr>
        <p:spPr>
          <a:xfrm>
            <a:off x="768240" y="2048400"/>
            <a:ext cx="4970880" cy="235008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El SERVOPACK guarda internamente los datos del motor: constante de par, resistencia, inductancia, curva térmica y resolución del encoder.</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Al energizar, el drive lee el motor a través del encoder y comprueba que la combinación es válida.</a:t>
            </a:r>
            <a:endParaRPr b="0" lang="en-US" sz="13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200" spc="-1" strike="noStrike">
                <a:solidFill>
                  <a:srgbClr val="333f4c"/>
                </a:solidFill>
                <a:latin typeface="Segoe UI"/>
              </a:rPr>
              <a:t>Si no lo es, aparece una alarma de combinación no admitida (familia </a:t>
            </a:r>
            <a:r>
              <a:rPr b="0" lang="en-US" sz="1200" spc="-1" strike="noStrike">
                <a:solidFill>
                  <a:srgbClr val="333f4c"/>
                </a:solidFill>
                <a:latin typeface="Consolas"/>
              </a:rPr>
              <a:t>A.05_</a:t>
            </a:r>
            <a:r>
              <a:rPr b="0" lang="en-US" sz="1200" spc="-1" strike="noStrike">
                <a:solidFill>
                  <a:srgbClr val="333f4c"/>
                </a:solidFill>
                <a:latin typeface="Segoe UI"/>
              </a:rPr>
              <a:t>) y el eje no arranca.</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200" spc="-1" strike="noStrike">
                <a:solidFill>
                  <a:srgbClr val="333f4c"/>
                </a:solidFill>
                <a:latin typeface="Segoe UI"/>
              </a:rPr>
              <a:t>Por eso no se 'parametriza' un motor de otra marca en un SERVOPACK: la Σ-X sólo trabaja con motores YASKAWA compatibles.</a:t>
            </a:r>
            <a:endParaRPr b="0" lang="en-US" sz="1200" spc="-1" strike="noStrike">
              <a:solidFill>
                <a:srgbClr val="000000"/>
              </a:solidFill>
              <a:latin typeface="Arial"/>
            </a:endParaRPr>
          </a:p>
        </p:txBody>
      </p:sp>
      <p:sp>
        <p:nvSpPr>
          <p:cNvPr id="713" name="Rectangle 12"/>
          <p:cNvSpPr/>
          <p:nvPr/>
        </p:nvSpPr>
        <p:spPr>
          <a:xfrm>
            <a:off x="6251400" y="1481400"/>
            <a:ext cx="5373000" cy="48459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14" name="Rectangle 13"/>
          <p:cNvSpPr/>
          <p:nvPr/>
        </p:nvSpPr>
        <p:spPr>
          <a:xfrm>
            <a:off x="6251400" y="1481400"/>
            <a:ext cx="5373000" cy="42012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15"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Consecuencias prácticas</a:t>
            </a:r>
            <a:endParaRPr b="0" lang="en-US" sz="1350" spc="-1" strike="noStrike">
              <a:solidFill>
                <a:srgbClr val="000000"/>
              </a:solidFill>
              <a:latin typeface="Arial"/>
            </a:endParaRPr>
          </a:p>
        </p:txBody>
      </p:sp>
      <p:sp>
        <p:nvSpPr>
          <p:cNvPr id="716" name="TextBox 15"/>
          <p:cNvSpPr/>
          <p:nvPr/>
        </p:nvSpPr>
        <p:spPr>
          <a:xfrm>
            <a:off x="6452640" y="2048400"/>
            <a:ext cx="4970880" cy="324144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Compra siempre la pareja indicada en el catálogo. Para 3 kW: SGDXS-200A00A con SGMXA-30A o con SGMXG-30A.</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Al sustituir un motor averiado, comprueba que el nuevo tiene el mismo código completo, incluidos freno y tipo de eje.</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Un motor con freno y otro sin freno no son intercambiables a efectos de inercia y de secuencia de parada.</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Tras cambiar el motor: ejecuta </a:t>
            </a:r>
            <a:r>
              <a:rPr b="1" lang="en-US" sz="1350" spc="-1" strike="noStrike">
                <a:solidFill>
                  <a:srgbClr val="1c2430"/>
                </a:solidFill>
                <a:latin typeface="Consolas"/>
              </a:rPr>
              <a:t>Fn008</a:t>
            </a:r>
            <a:r>
              <a:rPr b="1" lang="en-US" sz="1350" spc="-1" strike="noStrike">
                <a:solidFill>
                  <a:srgbClr val="1c2430"/>
                </a:solidFill>
                <a:latin typeface="Segoe UI"/>
              </a:rPr>
              <a:t> (encoder absoluto), rehaz el origen y vuelve a sintonizar el eje.</a:t>
            </a:r>
            <a:endParaRPr b="0" lang="en-US" sz="13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200" spc="-1" strike="noStrike">
                <a:solidFill>
                  <a:srgbClr val="333f4c"/>
                </a:solidFill>
                <a:latin typeface="Segoe UI"/>
              </a:rPr>
              <a:t>La sintonización previa puede no ser válida si cambia la inercia del conjunto.</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Rectangle 1"/>
          <p:cNvSpPr/>
          <p:nvPr/>
        </p:nvSpPr>
        <p:spPr>
          <a:xfrm>
            <a:off x="0" y="0"/>
            <a:ext cx="12191400" cy="68576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18" name="Rectangle 2"/>
          <p:cNvSpPr/>
          <p:nvPr/>
        </p:nvSpPr>
        <p:spPr>
          <a:xfrm>
            <a:off x="0" y="0"/>
            <a:ext cx="383760" cy="6857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19" name="TextBox 3"/>
          <p:cNvSpPr/>
          <p:nvPr/>
        </p:nvSpPr>
        <p:spPr>
          <a:xfrm>
            <a:off x="1051560" y="1234440"/>
            <a:ext cx="5486040" cy="8841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5800" spc="-1" strike="noStrike">
                <a:solidFill>
                  <a:srgbClr val="143a63"/>
                </a:solidFill>
                <a:latin typeface="Segoe UI Semibold"/>
              </a:rPr>
              <a:t>MÓDULO 04</a:t>
            </a:r>
            <a:endParaRPr b="0" lang="en-US" sz="5800" spc="-1" strike="noStrike">
              <a:solidFill>
                <a:srgbClr val="000000"/>
              </a:solidFill>
              <a:latin typeface="Arial"/>
            </a:endParaRPr>
          </a:p>
        </p:txBody>
      </p:sp>
      <p:sp>
        <p:nvSpPr>
          <p:cNvPr id="720" name="TextBox 4"/>
          <p:cNvSpPr/>
          <p:nvPr/>
        </p:nvSpPr>
        <p:spPr>
          <a:xfrm>
            <a:off x="1051560" y="2331720"/>
            <a:ext cx="9875160" cy="54396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1" lang="en-US" sz="3400" spc="-1" strike="noStrike">
                <a:solidFill>
                  <a:srgbClr val="ffffff"/>
                </a:solidFill>
                <a:latin typeface="Segoe UI Semibold"/>
              </a:rPr>
              <a:t>Dimensionamiento y selección</a:t>
            </a:r>
            <a:endParaRPr b="0" lang="en-US" sz="3400" spc="-1" strike="noStrike">
              <a:solidFill>
                <a:srgbClr val="000000"/>
              </a:solidFill>
              <a:latin typeface="Arial"/>
            </a:endParaRPr>
          </a:p>
        </p:txBody>
      </p:sp>
      <p:sp>
        <p:nvSpPr>
          <p:cNvPr id="721" name="Rectangle 5"/>
          <p:cNvSpPr/>
          <p:nvPr/>
        </p:nvSpPr>
        <p:spPr>
          <a:xfrm>
            <a:off x="1051560" y="3703320"/>
            <a:ext cx="1279800" cy="453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722" name="Rectangle 6"/>
          <p:cNvSpPr/>
          <p:nvPr/>
        </p:nvSpPr>
        <p:spPr>
          <a:xfrm>
            <a:off x="1051560" y="41468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23" name="TextBox 7"/>
          <p:cNvSpPr/>
          <p:nvPr/>
        </p:nvSpPr>
        <p:spPr>
          <a:xfrm>
            <a:off x="1325880" y="40690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Los datos de partida que hay que obtener de la máquina</a:t>
            </a:r>
            <a:endParaRPr b="0" lang="en-US" sz="1350" spc="-1" strike="noStrike">
              <a:solidFill>
                <a:srgbClr val="000000"/>
              </a:solidFill>
              <a:latin typeface="Arial"/>
            </a:endParaRPr>
          </a:p>
        </p:txBody>
      </p:sp>
      <p:sp>
        <p:nvSpPr>
          <p:cNvPr id="724" name="Rectangle 8"/>
          <p:cNvSpPr/>
          <p:nvPr/>
        </p:nvSpPr>
        <p:spPr>
          <a:xfrm>
            <a:off x="1051560" y="451260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25" name="TextBox 9"/>
          <p:cNvSpPr/>
          <p:nvPr/>
        </p:nvSpPr>
        <p:spPr>
          <a:xfrm>
            <a:off x="1325880" y="443484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Cálculo de la inercia reflejada al eje del motor</a:t>
            </a:r>
            <a:endParaRPr b="0" lang="en-US" sz="1350" spc="-1" strike="noStrike">
              <a:solidFill>
                <a:srgbClr val="000000"/>
              </a:solidFill>
              <a:latin typeface="Arial"/>
            </a:endParaRPr>
          </a:p>
        </p:txBody>
      </p:sp>
      <p:sp>
        <p:nvSpPr>
          <p:cNvPr id="726" name="Rectangle 10"/>
          <p:cNvSpPr/>
          <p:nvPr/>
        </p:nvSpPr>
        <p:spPr>
          <a:xfrm>
            <a:off x="1051560" y="487836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27" name="TextBox 11"/>
          <p:cNvSpPr/>
          <p:nvPr/>
        </p:nvSpPr>
        <p:spPr>
          <a:xfrm>
            <a:off x="1325880" y="480060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La relación de inercias y por qué condiciona la sintonización</a:t>
            </a:r>
            <a:endParaRPr b="0" lang="en-US" sz="1350" spc="-1" strike="noStrike">
              <a:solidFill>
                <a:srgbClr val="000000"/>
              </a:solidFill>
              <a:latin typeface="Arial"/>
            </a:endParaRPr>
          </a:p>
        </p:txBody>
      </p:sp>
      <p:sp>
        <p:nvSpPr>
          <p:cNvPr id="728" name="Rectangle 12"/>
          <p:cNvSpPr/>
          <p:nvPr/>
        </p:nvSpPr>
        <p:spPr>
          <a:xfrm>
            <a:off x="1051560" y="524412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29" name="TextBox 13"/>
          <p:cNvSpPr/>
          <p:nvPr/>
        </p:nvSpPr>
        <p:spPr>
          <a:xfrm>
            <a:off x="1325880" y="516636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Perfil de movimiento, par de aceleración y par eficaz (RMS)</a:t>
            </a:r>
            <a:endParaRPr b="0" lang="en-US" sz="1350" spc="-1" strike="noStrike">
              <a:solidFill>
                <a:srgbClr val="000000"/>
              </a:solidFill>
              <a:latin typeface="Arial"/>
            </a:endParaRPr>
          </a:p>
        </p:txBody>
      </p:sp>
      <p:sp>
        <p:nvSpPr>
          <p:cNvPr id="730" name="Rectangle 14"/>
          <p:cNvSpPr/>
          <p:nvPr/>
        </p:nvSpPr>
        <p:spPr>
          <a:xfrm>
            <a:off x="1051560" y="560988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31" name="TextBox 15"/>
          <p:cNvSpPr/>
          <p:nvPr/>
        </p:nvSpPr>
        <p:spPr>
          <a:xfrm>
            <a:off x="1325880" y="553212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Energía regenerativa y resistencia de frenado</a:t>
            </a:r>
            <a:endParaRPr b="0" lang="en-US" sz="1350" spc="-1" strike="noStrike">
              <a:solidFill>
                <a:srgbClr val="000000"/>
              </a:solidFill>
              <a:latin typeface="Arial"/>
            </a:endParaRPr>
          </a:p>
        </p:txBody>
      </p:sp>
      <p:sp>
        <p:nvSpPr>
          <p:cNvPr id="732" name="Rectangle 16"/>
          <p:cNvSpPr/>
          <p:nvPr/>
        </p:nvSpPr>
        <p:spPr>
          <a:xfrm>
            <a:off x="1051560" y="59756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33" name="TextBox 17"/>
          <p:cNvSpPr/>
          <p:nvPr/>
        </p:nvSpPr>
        <p:spPr>
          <a:xfrm>
            <a:off x="1325880" y="58978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Ejemplo numérico completo de un eje de 3 kW</a:t>
            </a:r>
            <a:endParaRPr b="0" lang="en-US" sz="1350" spc="-1" strike="noStrike">
              <a:solidFill>
                <a:srgbClr val="000000"/>
              </a:solidFill>
              <a:latin typeface="Arial"/>
            </a:endParaRPr>
          </a:p>
        </p:txBody>
      </p:sp>
      <p:sp>
        <p:nvSpPr>
          <p:cNvPr id="734" name="TextBox 18"/>
          <p:cNvSpPr/>
          <p:nvPr/>
        </p:nvSpPr>
        <p:spPr>
          <a:xfrm>
            <a:off x="1051560" y="6172200"/>
            <a:ext cx="73148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e89b1f"/>
                </a:solidFill>
                <a:latin typeface="Segoe UI"/>
              </a:rPr>
              <a:t>Duración orientativa: 4 h</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3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737"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Por qué el dimensionamiento decide el resultado</a:t>
            </a:r>
            <a:endParaRPr b="0" lang="en-US" sz="2500" spc="-1" strike="noStrike">
              <a:solidFill>
                <a:srgbClr val="000000"/>
              </a:solidFill>
              <a:latin typeface="Arial"/>
            </a:endParaRPr>
          </a:p>
        </p:txBody>
      </p:sp>
      <p:sp>
        <p:nvSpPr>
          <p:cNvPr id="73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El 80 % de los problemas de un eje nacen aquí</a:t>
            </a:r>
            <a:endParaRPr b="0" lang="en-US" sz="1250" spc="-1" strike="noStrike">
              <a:solidFill>
                <a:srgbClr val="000000"/>
              </a:solidFill>
              <a:latin typeface="Arial"/>
            </a:endParaRPr>
          </a:p>
        </p:txBody>
      </p:sp>
      <p:sp>
        <p:nvSpPr>
          <p:cNvPr id="73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04</a:t>
            </a:r>
            <a:endParaRPr b="0" lang="en-US" sz="1100" spc="-1" strike="noStrike">
              <a:solidFill>
                <a:srgbClr val="000000"/>
              </a:solidFill>
              <a:latin typeface="Arial"/>
            </a:endParaRPr>
          </a:p>
        </p:txBody>
      </p:sp>
      <p:sp>
        <p:nvSpPr>
          <p:cNvPr id="74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74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40</a:t>
            </a:r>
            <a:endParaRPr b="0" lang="en-US" sz="900" spc="-1" strike="noStrike">
              <a:solidFill>
                <a:srgbClr val="000000"/>
              </a:solidFill>
              <a:latin typeface="Arial"/>
            </a:endParaRPr>
          </a:p>
        </p:txBody>
      </p:sp>
      <p:sp>
        <p:nvSpPr>
          <p:cNvPr id="742" name="TextBox 8"/>
          <p:cNvSpPr/>
          <p:nvPr/>
        </p:nvSpPr>
        <p:spPr>
          <a:xfrm>
            <a:off x="567000" y="1481400"/>
            <a:ext cx="11057400" cy="367416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050" spc="-1" strike="noStrike">
                <a:solidFill>
                  <a:srgbClr val="1b5ea8"/>
                </a:solidFill>
                <a:latin typeface="Segoe UI Semibold"/>
              </a:rPr>
              <a:t>Lo que ocurre cuando el motor se queda corto</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00" spc="-1" strike="noStrike">
                <a:solidFill>
                  <a:srgbClr val="1c2430"/>
                </a:solidFill>
                <a:latin typeface="Segoe UI"/>
              </a:rPr>
              <a:t>El eje no alcanza la aceleración pedida: el ciclo se alarga y la producción no llega al objetivo.</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00" spc="-1" strike="noStrike">
                <a:solidFill>
                  <a:srgbClr val="1c2430"/>
                </a:solidFill>
                <a:latin typeface="Segoe UI"/>
              </a:rPr>
              <a:t>Aparecen alarmas de sobrecarga (</a:t>
            </a:r>
            <a:r>
              <a:rPr b="1" lang="en-US" sz="1100" spc="-1" strike="noStrike">
                <a:solidFill>
                  <a:srgbClr val="1c2430"/>
                </a:solidFill>
                <a:latin typeface="Consolas"/>
              </a:rPr>
              <a:t>A.710</a:t>
            </a:r>
            <a:r>
              <a:rPr b="1" lang="en-US" sz="1100" spc="-1" strike="noStrike">
                <a:solidFill>
                  <a:srgbClr val="1c2430"/>
                </a:solidFill>
                <a:latin typeface="Segoe UI"/>
              </a:rPr>
              <a:t> instantánea, </a:t>
            </a:r>
            <a:r>
              <a:rPr b="1" lang="en-US" sz="1100" spc="-1" strike="noStrike">
                <a:solidFill>
                  <a:srgbClr val="1c2430"/>
                </a:solidFill>
                <a:latin typeface="Consolas"/>
              </a:rPr>
              <a:t>A.720</a:t>
            </a:r>
            <a:r>
              <a:rPr b="1" lang="en-US" sz="1100" spc="-1" strike="noStrike">
                <a:solidFill>
                  <a:srgbClr val="1c2430"/>
                </a:solidFill>
                <a:latin typeface="Segoe UI"/>
              </a:rPr>
              <a:t> continua) que paran la máquina de forma intermitente e inexplicable para el operario.</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00" spc="-1" strike="noStrike">
                <a:solidFill>
                  <a:srgbClr val="1c2430"/>
                </a:solidFill>
                <a:latin typeface="Segoe UI"/>
              </a:rPr>
              <a:t>Se dispara el error de seguimiento (</a:t>
            </a:r>
            <a:r>
              <a:rPr b="1" lang="en-US" sz="1100" spc="-1" strike="noStrike">
                <a:solidFill>
                  <a:srgbClr val="1c2430"/>
                </a:solidFill>
                <a:latin typeface="Consolas"/>
              </a:rPr>
              <a:t>A.d00</a:t>
            </a:r>
            <a:r>
              <a:rPr b="1" lang="en-US" sz="1100" spc="-1" strike="noStrike">
                <a:solidFill>
                  <a:srgbClr val="1c2430"/>
                </a:solidFill>
                <a:latin typeface="Segoe UI"/>
              </a:rPr>
              <a:t>) porque el eje no puede seguir la consigna.</a:t>
            </a:r>
            <a:endParaRPr b="0" lang="en-US" sz="110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1050" spc="-1" strike="noStrike">
                <a:solidFill>
                  <a:srgbClr val="1b5ea8"/>
                </a:solidFill>
                <a:latin typeface="Segoe UI Semibold"/>
              </a:rPr>
              <a:t>Lo que ocurre cuando el motor está sobredimensionado</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00" spc="-1" strike="noStrike">
                <a:solidFill>
                  <a:srgbClr val="1c2430"/>
                </a:solidFill>
                <a:latin typeface="Segoe UI"/>
              </a:rPr>
              <a:t>Coste innecesario en motor, drive, cable y armario.</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00" spc="-1" strike="noStrike">
                <a:solidFill>
                  <a:srgbClr val="1c2430"/>
                </a:solidFill>
                <a:latin typeface="Segoe UI"/>
              </a:rPr>
              <a:t>Relación de inercias muy baja: el sistema es fácil de sintonizar, pero se paga precisión por la resolución relativa y se aumenta el consumo en vacío.</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00" spc="-1" strike="noStrike">
                <a:solidFill>
                  <a:srgbClr val="1c2430"/>
                </a:solidFill>
                <a:latin typeface="Segoe UI"/>
              </a:rPr>
              <a:t>En muchos casos el problema real es que el motor grande no cabe o exige rediseñar la mecánica.</a:t>
            </a:r>
            <a:endParaRPr b="0" lang="en-US" sz="110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1050" spc="-1" strike="noStrike">
                <a:solidFill>
                  <a:srgbClr val="1b5ea8"/>
                </a:solidFill>
                <a:latin typeface="Segoe UI Semibold"/>
              </a:rPr>
              <a:t>Lo que ocurre cuando la relación de inercias es mala</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00" spc="-1" strike="noStrike">
                <a:solidFill>
                  <a:srgbClr val="1c2430"/>
                </a:solidFill>
                <a:latin typeface="Segoe UI"/>
              </a:rPr>
              <a:t>El eje vibra y no hay ajuste de ganancias que lo arregle: se oscila entre 'lento pero estable' y 'rápido pero ruidoso'.</a:t>
            </a:r>
            <a:endParaRPr b="0" lang="en-US" sz="11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50" spc="-1" strike="noStrike">
                <a:solidFill>
                  <a:srgbClr val="333f4c"/>
                </a:solidFill>
                <a:latin typeface="Segoe UI"/>
              </a:rPr>
              <a:t>Este caso es el más frustrante porque parece un problema de sintonización y en realidad es un problema de selección.</a:t>
            </a:r>
            <a:endParaRPr b="0" lang="en-US" sz="950" spc="-1" strike="noStrike">
              <a:solidFill>
                <a:srgbClr val="000000"/>
              </a:solidFill>
              <a:latin typeface="Arial"/>
            </a:endParaRPr>
          </a:p>
        </p:txBody>
      </p:sp>
      <p:sp>
        <p:nvSpPr>
          <p:cNvPr id="743" name="Rectangle 9"/>
          <p:cNvSpPr/>
          <p:nvPr/>
        </p:nvSpPr>
        <p:spPr>
          <a:xfrm>
            <a:off x="567000" y="5459040"/>
            <a:ext cx="11057400" cy="86832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44" name="Rectangle 10"/>
          <p:cNvSpPr/>
          <p:nvPr/>
        </p:nvSpPr>
        <p:spPr>
          <a:xfrm>
            <a:off x="567000" y="5459040"/>
            <a:ext cx="68400" cy="8683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45" name="TextBox 11"/>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1b5ea8"/>
                </a:solidFill>
                <a:latin typeface="Segoe UI Semibold"/>
              </a:rPr>
              <a:t>Objetivo del módulo</a:t>
            </a:r>
            <a:endParaRPr b="0" lang="en-US" sz="1200" spc="-1" strike="noStrike">
              <a:solidFill>
                <a:srgbClr val="000000"/>
              </a:solidFill>
              <a:latin typeface="Arial"/>
            </a:endParaRPr>
          </a:p>
        </p:txBody>
      </p:sp>
      <p:sp>
        <p:nvSpPr>
          <p:cNvPr id="746" name="TextBox 12"/>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Aprender a justificar con números, en menos de una hora, que un conjunto SGDXS-200A00A + motor de 3 kW es (o no es) el adecuado para una máquina concreta.</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48"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749" name="TextBox 3"/>
          <p:cNvSpPr/>
          <p:nvPr/>
        </p:nvSpPr>
        <p:spPr>
          <a:xfrm>
            <a:off x="567000" y="182880"/>
            <a:ext cx="8954280" cy="3463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270" spc="-1" strike="noStrike">
                <a:solidFill>
                  <a:srgbClr val="ffffff"/>
                </a:solidFill>
                <a:latin typeface="Segoe UI Semibold"/>
              </a:rPr>
              <a:t>Datos de partida: qué hay que averiguar antes de calcular</a:t>
            </a:r>
            <a:endParaRPr b="0" lang="en-US" sz="2270" spc="-1" strike="noStrike">
              <a:solidFill>
                <a:srgbClr val="000000"/>
              </a:solidFill>
              <a:latin typeface="Arial"/>
            </a:endParaRPr>
          </a:p>
        </p:txBody>
      </p:sp>
      <p:sp>
        <p:nvSpPr>
          <p:cNvPr id="750"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Sin estos once datos no se puede dimensionar nada</a:t>
            </a:r>
            <a:endParaRPr b="0" lang="en-US" sz="1250" spc="-1" strike="noStrike">
              <a:solidFill>
                <a:srgbClr val="000000"/>
              </a:solidFill>
              <a:latin typeface="Arial"/>
            </a:endParaRPr>
          </a:p>
        </p:txBody>
      </p:sp>
      <p:sp>
        <p:nvSpPr>
          <p:cNvPr id="751"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04</a:t>
            </a:r>
            <a:endParaRPr b="0" lang="en-US" sz="1100" spc="-1" strike="noStrike">
              <a:solidFill>
                <a:srgbClr val="000000"/>
              </a:solidFill>
              <a:latin typeface="Arial"/>
            </a:endParaRPr>
          </a:p>
        </p:txBody>
      </p:sp>
      <p:sp>
        <p:nvSpPr>
          <p:cNvPr id="752"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753"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41</a:t>
            </a:r>
            <a:endParaRPr b="0" lang="en-US" sz="900" spc="-1" strike="noStrike">
              <a:solidFill>
                <a:srgbClr val="000000"/>
              </a:solidFill>
              <a:latin typeface="Arial"/>
            </a:endParaRPr>
          </a:p>
        </p:txBody>
      </p:sp>
      <p:graphicFrame>
        <p:nvGraphicFramePr>
          <p:cNvPr id="754" name="Table 8"/>
          <p:cNvGraphicFramePr/>
          <p:nvPr/>
        </p:nvGraphicFramePr>
        <p:xfrm>
          <a:off x="567000" y="1481400"/>
          <a:ext cx="11057400" cy="4461840"/>
        </p:xfrm>
        <a:graphic>
          <a:graphicData uri="http://schemas.openxmlformats.org/drawingml/2006/table">
            <a:tbl>
              <a:tblPr/>
              <a:tblGrid>
                <a:gridCol w="3173760"/>
                <a:gridCol w="1535760"/>
                <a:gridCol w="3992760"/>
                <a:gridCol w="2354760"/>
              </a:tblGrid>
              <a:tr h="347400">
                <a:tc>
                  <a:txBody>
                    <a:bodyPr lIns="82080" rIns="82080" tIns="27360" bIns="27360" anchor="ctr">
                      <a:noAutofit/>
                    </a:bodyPr>
                    <a:p>
                      <a:pPr defTabSz="457200">
                        <a:lnSpc>
                          <a:spcPct val="100000"/>
                        </a:lnSpc>
                      </a:pPr>
                      <a:r>
                        <a:rPr b="1" lang="en-US" sz="1000" spc="-1" strike="noStrike">
                          <a:solidFill>
                            <a:srgbClr val="ffffff"/>
                          </a:solidFill>
                          <a:latin typeface="Segoe UI"/>
                        </a:rPr>
                        <a:t>Dato</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Símbolo</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Cómo obtenerlo</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Ejemplo del curso</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374040">
                <a:tc>
                  <a:txBody>
                    <a:bodyPr lIns="82080" rIns="82080" tIns="27360" bIns="27360" anchor="ctr">
                      <a:noAutofit/>
                    </a:bodyPr>
                    <a:p>
                      <a:pPr defTabSz="457200">
                        <a:lnSpc>
                          <a:spcPct val="100000"/>
                        </a:lnSpc>
                      </a:pPr>
                      <a:r>
                        <a:rPr b="0" lang="en-US" sz="1000" spc="-1" strike="noStrike">
                          <a:solidFill>
                            <a:srgbClr val="1c2430"/>
                          </a:solidFill>
                          <a:latin typeface="Segoe UI"/>
                        </a:rPr>
                        <a:t>Masa que se desplaza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m [kg]</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Plano de la máquina o báscula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400 kg</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040">
                <a:tc>
                  <a:txBody>
                    <a:bodyPr lIns="82080" rIns="82080" tIns="27360" bIns="27360" anchor="ctr">
                      <a:noAutofit/>
                    </a:bodyPr>
                    <a:p>
                      <a:pPr defTabSz="457200">
                        <a:lnSpc>
                          <a:spcPct val="100000"/>
                        </a:lnSpc>
                      </a:pPr>
                      <a:r>
                        <a:rPr b="0" lang="en-US" sz="1000" spc="-1" strike="noStrike">
                          <a:solidFill>
                            <a:srgbClr val="1c2430"/>
                          </a:solidFill>
                          <a:latin typeface="Segoe UI"/>
                        </a:rPr>
                        <a:t>Recorrido por ciclo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s [m]</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Especificación del proceso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0,6 m</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040">
                <a:tc>
                  <a:txBody>
                    <a:bodyPr lIns="82080" rIns="82080" tIns="27360" bIns="27360" anchor="ctr">
                      <a:noAutofit/>
                    </a:bodyPr>
                    <a:p>
                      <a:pPr defTabSz="457200">
                        <a:lnSpc>
                          <a:spcPct val="100000"/>
                        </a:lnSpc>
                      </a:pPr>
                      <a:r>
                        <a:rPr b="0" lang="en-US" sz="1000" spc="-1" strike="noStrike">
                          <a:solidFill>
                            <a:srgbClr val="1c2430"/>
                          </a:solidFill>
                          <a:latin typeface="Segoe UI"/>
                        </a:rPr>
                        <a:t>Tiempo de movimiento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t [s]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Objetivo de producción</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1,0 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040">
                <a:tc>
                  <a:txBody>
                    <a:bodyPr lIns="82080" rIns="82080" tIns="27360" bIns="27360" anchor="ctr">
                      <a:noAutofit/>
                    </a:bodyPr>
                    <a:p>
                      <a:pPr defTabSz="457200">
                        <a:lnSpc>
                          <a:spcPct val="100000"/>
                        </a:lnSpc>
                      </a:pPr>
                      <a:r>
                        <a:rPr b="0" lang="en-US" sz="1000" spc="-1" strike="noStrike">
                          <a:solidFill>
                            <a:srgbClr val="1c2430"/>
                          </a:solidFill>
                          <a:latin typeface="Segoe UI"/>
                        </a:rPr>
                        <a:t>Tiempo total de ciclo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T [s]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Cadencia exigida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2,5 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040">
                <a:tc>
                  <a:txBody>
                    <a:bodyPr lIns="82080" rIns="82080" tIns="27360" bIns="27360" anchor="ctr">
                      <a:noAutofit/>
                    </a:bodyPr>
                    <a:p>
                      <a:pPr defTabSz="457200">
                        <a:lnSpc>
                          <a:spcPct val="100000"/>
                        </a:lnSpc>
                      </a:pPr>
                      <a:r>
                        <a:rPr b="0" lang="en-US" sz="1000" spc="-1" strike="noStrike">
                          <a:solidFill>
                            <a:srgbClr val="1c2430"/>
                          </a:solidFill>
                          <a:latin typeface="Segoe UI"/>
                        </a:rPr>
                        <a:t>Paso del husillo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p [m/vuelta]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Catálogo del husillo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0,020 m</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040">
                <a:tc>
                  <a:txBody>
                    <a:bodyPr lIns="82080" rIns="82080" tIns="27360" bIns="27360" anchor="ctr">
                      <a:noAutofit/>
                    </a:bodyPr>
                    <a:p>
                      <a:pPr defTabSz="457200">
                        <a:lnSpc>
                          <a:spcPct val="100000"/>
                        </a:lnSpc>
                      </a:pPr>
                      <a:r>
                        <a:rPr b="0" lang="en-US" sz="1000" spc="-1" strike="noStrike">
                          <a:solidFill>
                            <a:srgbClr val="1c2430"/>
                          </a:solidFill>
                          <a:latin typeface="Segoe UI"/>
                        </a:rPr>
                        <a:t>Diámetro y longitud del husillo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D, L [m]</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Plano mecánico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40 mm × 1,5 m</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040">
                <a:tc>
                  <a:txBody>
                    <a:bodyPr lIns="82080" rIns="82080" tIns="27360" bIns="27360" anchor="ctr">
                      <a:noAutofit/>
                    </a:bodyPr>
                    <a:p>
                      <a:pPr defTabSz="457200">
                        <a:lnSpc>
                          <a:spcPct val="100000"/>
                        </a:lnSpc>
                      </a:pPr>
                      <a:r>
                        <a:rPr b="0" lang="en-US" sz="1000" spc="-1" strike="noStrike">
                          <a:solidFill>
                            <a:srgbClr val="1c2430"/>
                          </a:solidFill>
                          <a:latin typeface="Segoe UI"/>
                        </a:rPr>
                        <a:t>Relación de transmisión</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i</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Reductor o polea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1 : 1 (directo)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040">
                <a:tc>
                  <a:txBody>
                    <a:bodyPr lIns="82080" rIns="82080" tIns="27360" bIns="27360" anchor="ctr">
                      <a:noAutofit/>
                    </a:bodyPr>
                    <a:p>
                      <a:pPr defTabSz="457200">
                        <a:lnSpc>
                          <a:spcPct val="100000"/>
                        </a:lnSpc>
                      </a:pPr>
                      <a:r>
                        <a:rPr b="0" lang="en-US" sz="1000" spc="-1" strike="noStrike">
                          <a:solidFill>
                            <a:srgbClr val="1c2430"/>
                          </a:solidFill>
                          <a:latin typeface="Segoe UI"/>
                        </a:rPr>
                        <a:t>Coeficiente de rozamiento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μ</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Tipo de guía (0,003-0,05)</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0,05</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040">
                <a:tc>
                  <a:txBody>
                    <a:bodyPr lIns="82080" rIns="82080" tIns="27360" bIns="27360" anchor="ctr">
                      <a:noAutofit/>
                    </a:bodyPr>
                    <a:p>
                      <a:pPr defTabSz="457200">
                        <a:lnSpc>
                          <a:spcPct val="100000"/>
                        </a:lnSpc>
                      </a:pPr>
                      <a:r>
                        <a:rPr b="0" lang="en-US" sz="1000" spc="-1" strike="noStrike">
                          <a:solidFill>
                            <a:srgbClr val="1c2430"/>
                          </a:solidFill>
                          <a:latin typeface="Segoe UI"/>
                        </a:rPr>
                        <a:t>Rendimiento mecánico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η</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Husillo + acoplamiento (0,85-0,95)</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0,90</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040">
                <a:tc>
                  <a:txBody>
                    <a:bodyPr lIns="82080" rIns="82080" tIns="27360" bIns="27360" anchor="ctr">
                      <a:noAutofit/>
                    </a:bodyPr>
                    <a:p>
                      <a:pPr defTabSz="457200">
                        <a:lnSpc>
                          <a:spcPct val="100000"/>
                        </a:lnSpc>
                      </a:pPr>
                      <a:r>
                        <a:rPr b="0" lang="en-US" sz="1000" spc="-1" strike="noStrike">
                          <a:solidFill>
                            <a:srgbClr val="1c2430"/>
                          </a:solidFill>
                          <a:latin typeface="Segoe UI"/>
                        </a:rPr>
                        <a:t>Fuerza de proceso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F_p [N]</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Corte, prensado, empuje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0 (traslado libre)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040">
                <a:tc>
                  <a:txBody>
                    <a:bodyPr lIns="82080" rIns="82080" tIns="27360" bIns="27360" anchor="ctr">
                      <a:noAutofit/>
                    </a:bodyPr>
                    <a:p>
                      <a:pPr defTabSz="457200">
                        <a:lnSpc>
                          <a:spcPct val="100000"/>
                        </a:lnSpc>
                      </a:pPr>
                      <a:r>
                        <a:rPr b="0" lang="en-US" sz="1000" spc="-1" strike="noStrike">
                          <a:solidFill>
                            <a:srgbClr val="1c2430"/>
                          </a:solidFill>
                          <a:latin typeface="Segoe UI"/>
                        </a:rPr>
                        <a:t>Orientación del eje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Horizontal, vertical o inclinado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Horizontal</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755"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Si algún dato no se conoce, hay que estimarlo por exceso y dejarlo documentado como hipótesis: el cálculo se revisa cuando se confirme.</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5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75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Paso 1 — Inercia reflejada al eje del motor</a:t>
            </a:r>
            <a:endParaRPr b="0" lang="en-US" sz="2500" spc="-1" strike="noStrike">
              <a:solidFill>
                <a:srgbClr val="000000"/>
              </a:solidFill>
              <a:latin typeface="Arial"/>
            </a:endParaRPr>
          </a:p>
        </p:txBody>
      </p:sp>
      <p:sp>
        <p:nvSpPr>
          <p:cNvPr id="75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Todo se traduce a kg·m² en el eje del motor</a:t>
            </a:r>
            <a:endParaRPr b="0" lang="en-US" sz="1250" spc="-1" strike="noStrike">
              <a:solidFill>
                <a:srgbClr val="000000"/>
              </a:solidFill>
              <a:latin typeface="Arial"/>
            </a:endParaRPr>
          </a:p>
        </p:txBody>
      </p:sp>
      <p:sp>
        <p:nvSpPr>
          <p:cNvPr id="76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04</a:t>
            </a:r>
            <a:endParaRPr b="0" lang="en-US" sz="1100" spc="-1" strike="noStrike">
              <a:solidFill>
                <a:srgbClr val="000000"/>
              </a:solidFill>
              <a:latin typeface="Arial"/>
            </a:endParaRPr>
          </a:p>
        </p:txBody>
      </p:sp>
      <p:sp>
        <p:nvSpPr>
          <p:cNvPr id="76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76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42</a:t>
            </a:r>
            <a:endParaRPr b="0" lang="en-US" sz="900" spc="-1" strike="noStrike">
              <a:solidFill>
                <a:srgbClr val="000000"/>
              </a:solidFill>
              <a:latin typeface="Arial"/>
            </a:endParaRPr>
          </a:p>
        </p:txBody>
      </p:sp>
      <p:sp>
        <p:nvSpPr>
          <p:cNvPr id="763" name="TextBox 8"/>
          <p:cNvSpPr/>
          <p:nvPr/>
        </p:nvSpPr>
        <p:spPr>
          <a:xfrm>
            <a:off x="567000" y="1481400"/>
            <a:ext cx="11057400" cy="383904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100" spc="-1" strike="noStrike">
                <a:solidFill>
                  <a:srgbClr val="1b5ea8"/>
                </a:solidFill>
                <a:latin typeface="Segoe UI Semibold"/>
              </a:rPr>
              <a:t>La regla fundamental</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50" spc="-1" strike="noStrike">
                <a:solidFill>
                  <a:srgbClr val="1c2430"/>
                </a:solidFill>
                <a:latin typeface="Segoe UI"/>
              </a:rPr>
              <a:t>El motor sólo 'siente' la inercia vista desde su eje. Todo lo que hay detrás de una reducción de relación *i* se divide por *i²*.</a:t>
            </a:r>
            <a:endParaRPr b="0" lang="en-US" sz="115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1100" spc="-1" strike="noStrike">
                <a:solidFill>
                  <a:srgbClr val="1b5ea8"/>
                </a:solidFill>
                <a:latin typeface="Segoe UI Semibold"/>
              </a:rPr>
              <a:t>Fórmulas que necesitas</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50" spc="-1" strike="noStrike">
                <a:solidFill>
                  <a:srgbClr val="1c2430"/>
                </a:solidFill>
                <a:latin typeface="Segoe UI"/>
              </a:rPr>
              <a:t>Masa en traslación con husillo: </a:t>
            </a:r>
            <a:r>
              <a:rPr b="1" lang="en-US" sz="1150" spc="-1" strike="noStrike">
                <a:solidFill>
                  <a:srgbClr val="1c2430"/>
                </a:solidFill>
                <a:latin typeface="Consolas"/>
              </a:rPr>
              <a:t>J = m · (p / 2π)²</a:t>
            </a:r>
            <a:r>
              <a:rPr b="1" lang="en-US" sz="1150" spc="-1" strike="noStrike">
                <a:solidFill>
                  <a:srgbClr val="1c2430"/>
                </a:solidFill>
                <a:latin typeface="Segoe UI"/>
              </a:rPr>
              <a:t>  [kg·m²], con *p* en m/vuelta.</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50" spc="-1" strike="noStrike">
                <a:solidFill>
                  <a:srgbClr val="1c2430"/>
                </a:solidFill>
                <a:latin typeface="Segoe UI"/>
              </a:rPr>
              <a:t>Cilindro macizo (husillo, rodillo, acoplamiento): </a:t>
            </a:r>
            <a:r>
              <a:rPr b="1" lang="en-US" sz="1150" spc="-1" strike="noStrike">
                <a:solidFill>
                  <a:srgbClr val="1c2430"/>
                </a:solidFill>
                <a:latin typeface="Consolas"/>
              </a:rPr>
              <a:t>J = ½ · m · r²</a:t>
            </a:r>
            <a:r>
              <a:rPr b="1" lang="en-US" sz="1150" spc="-1" strike="noStrike">
                <a:solidFill>
                  <a:srgbClr val="1c2430"/>
                </a:solidFill>
                <a:latin typeface="Segoe UI"/>
              </a:rPr>
              <a:t>, con </a:t>
            </a:r>
            <a:r>
              <a:rPr b="1" lang="en-US" sz="1150" spc="-1" strike="noStrike">
                <a:solidFill>
                  <a:srgbClr val="1c2430"/>
                </a:solidFill>
                <a:latin typeface="Consolas"/>
              </a:rPr>
              <a:t>m = ρ · π · r² · L</a:t>
            </a:r>
            <a:r>
              <a:rPr b="1" lang="en-US" sz="1150" spc="-1" strike="noStrike">
                <a:solidFill>
                  <a:srgbClr val="1c2430"/>
                </a:solidFill>
                <a:latin typeface="Segoe UI"/>
              </a:rPr>
              <a:t> y ρ(acero) = 7.850 kg/m³.</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50" spc="-1" strike="noStrike">
                <a:solidFill>
                  <a:srgbClr val="1c2430"/>
                </a:solidFill>
                <a:latin typeface="Segoe UI"/>
              </a:rPr>
              <a:t>A través de una reducción i:1: </a:t>
            </a:r>
            <a:r>
              <a:rPr b="1" lang="en-US" sz="1150" spc="-1" strike="noStrike">
                <a:solidFill>
                  <a:srgbClr val="1c2430"/>
                </a:solidFill>
                <a:latin typeface="Consolas"/>
              </a:rPr>
              <a:t>J_reflejada = J_carga / i²</a:t>
            </a:r>
            <a:r>
              <a:rPr b="1" lang="en-US" sz="1150" spc="-1" strike="noStrike">
                <a:solidFill>
                  <a:srgbClr val="1c2430"/>
                </a:solidFill>
                <a:latin typeface="Segoe UI"/>
              </a:rPr>
              <a:t>.</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50" spc="-1" strike="noStrike">
                <a:solidFill>
                  <a:srgbClr val="1c2430"/>
                </a:solidFill>
                <a:latin typeface="Segoe UI"/>
              </a:rPr>
              <a:t>Correa/piñón-cremallera: </a:t>
            </a:r>
            <a:r>
              <a:rPr b="1" lang="en-US" sz="1150" spc="-1" strike="noStrike">
                <a:solidFill>
                  <a:srgbClr val="1c2430"/>
                </a:solidFill>
                <a:latin typeface="Consolas"/>
              </a:rPr>
              <a:t>J = m · r²</a:t>
            </a:r>
            <a:r>
              <a:rPr b="1" lang="en-US" sz="1150" spc="-1" strike="noStrike">
                <a:solidFill>
                  <a:srgbClr val="1c2430"/>
                </a:solidFill>
                <a:latin typeface="Segoe UI"/>
              </a:rPr>
              <a:t> con *r* el radio primitivo del piñón motriz.</a:t>
            </a:r>
            <a:endParaRPr b="0" lang="en-US" sz="115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1100" spc="-1" strike="noStrike">
                <a:solidFill>
                  <a:srgbClr val="1b5ea8"/>
                </a:solidFill>
                <a:latin typeface="Segoe UI Semibold"/>
              </a:rPr>
              <a:t>Qué no hay que olvidar</a:t>
            </a:r>
            <a:endParaRPr b="0" lang="en-US" sz="11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00" spc="-1" strike="noStrike">
                <a:solidFill>
                  <a:srgbClr val="333f4c"/>
                </a:solidFill>
                <a:latin typeface="Segoe UI"/>
              </a:rPr>
              <a:t>El </a:t>
            </a:r>
            <a:r>
              <a:rPr b="1" lang="en-US" sz="1000" spc="-1" strike="noStrike">
                <a:solidFill>
                  <a:srgbClr val="333f4c"/>
                </a:solidFill>
                <a:latin typeface="Segoe UI"/>
              </a:rPr>
              <a:t>acoplamiento</a:t>
            </a:r>
            <a:r>
              <a:rPr b="0" lang="en-US" sz="1000" spc="-1" strike="noStrike">
                <a:solidFill>
                  <a:srgbClr val="333f4c"/>
                </a:solidFill>
                <a:latin typeface="Segoe UI"/>
              </a:rPr>
              <a:t> y las poleas: en ejes rápidos pueden ser una parte importante del total.</a:t>
            </a:r>
            <a:endParaRPr b="0" lang="en-US" sz="10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00" spc="-1" strike="noStrike">
                <a:solidFill>
                  <a:srgbClr val="333f4c"/>
                </a:solidFill>
                <a:latin typeface="Segoe UI"/>
              </a:rPr>
              <a:t>El propio </a:t>
            </a:r>
            <a:r>
              <a:rPr b="1" lang="en-US" sz="1000" spc="-1" strike="noStrike">
                <a:solidFill>
                  <a:srgbClr val="333f4c"/>
                </a:solidFill>
                <a:latin typeface="Segoe UI"/>
              </a:rPr>
              <a:t>husillo</a:t>
            </a:r>
            <a:r>
              <a:rPr b="0" lang="en-US" sz="1000" spc="-1" strike="noStrike">
                <a:solidFill>
                  <a:srgbClr val="333f4c"/>
                </a:solidFill>
                <a:latin typeface="Segoe UI"/>
              </a:rPr>
              <a:t>: en husillos largos y gruesos puede superar a la carga.</a:t>
            </a:r>
            <a:endParaRPr b="0" lang="en-US" sz="10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00" spc="-1" strike="noStrike">
                <a:solidFill>
                  <a:srgbClr val="333f4c"/>
                </a:solidFill>
                <a:latin typeface="Segoe UI"/>
              </a:rPr>
              <a:t>El </a:t>
            </a:r>
            <a:r>
              <a:rPr b="1" lang="en-US" sz="1000" spc="-1" strike="noStrike">
                <a:solidFill>
                  <a:srgbClr val="333f4c"/>
                </a:solidFill>
                <a:latin typeface="Segoe UI"/>
              </a:rPr>
              <a:t>freno de retención</a:t>
            </a:r>
            <a:r>
              <a:rPr b="0" lang="en-US" sz="1000" spc="-1" strike="noStrike">
                <a:solidFill>
                  <a:srgbClr val="333f4c"/>
                </a:solidFill>
                <a:latin typeface="Segoe UI"/>
              </a:rPr>
              <a:t>, si el motor lo lleva: suma inercia al rotor.</a:t>
            </a:r>
            <a:endParaRPr b="0" lang="en-US" sz="10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00" spc="-1" strike="noStrike">
                <a:solidFill>
                  <a:srgbClr val="333f4c"/>
                </a:solidFill>
                <a:latin typeface="Segoe UI"/>
              </a:rPr>
              <a:t>La </a:t>
            </a:r>
            <a:r>
              <a:rPr b="1" lang="en-US" sz="1000" spc="-1" strike="noStrike">
                <a:solidFill>
                  <a:srgbClr val="333f4c"/>
                </a:solidFill>
                <a:latin typeface="Segoe UI"/>
              </a:rPr>
              <a:t>carga transportada variable</a:t>
            </a:r>
            <a:r>
              <a:rPr b="0" lang="en-US" sz="1000" spc="-1" strike="noStrike">
                <a:solidFill>
                  <a:srgbClr val="333f4c"/>
                </a:solidFill>
                <a:latin typeface="Segoe UI"/>
              </a:rPr>
              <a:t>: calcula con el caso más desfavorable.</a:t>
            </a:r>
            <a:endParaRPr b="0" lang="en-US" sz="1000" spc="-1" strike="noStrike">
              <a:solidFill>
                <a:srgbClr val="000000"/>
              </a:solidFill>
              <a:latin typeface="Arial"/>
            </a:endParaRPr>
          </a:p>
        </p:txBody>
      </p:sp>
      <p:sp>
        <p:nvSpPr>
          <p:cNvPr id="764" name="Rectangle 9"/>
          <p:cNvSpPr/>
          <p:nvPr/>
        </p:nvSpPr>
        <p:spPr>
          <a:xfrm>
            <a:off x="567000" y="5459040"/>
            <a:ext cx="11057400" cy="868320"/>
          </a:xfrm>
          <a:prstGeom prst="rect">
            <a:avLst/>
          </a:prstGeom>
          <a:solidFill>
            <a:srgbClr val="e4f2ea"/>
          </a:solidFill>
          <a:ln>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65" name="Rectangle 10"/>
          <p:cNvSpPr/>
          <p:nvPr/>
        </p:nvSpPr>
        <p:spPr>
          <a:xfrm>
            <a:off x="567000" y="5459040"/>
            <a:ext cx="68400" cy="86832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66" name="TextBox 11"/>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2e8b57"/>
                </a:solidFill>
                <a:latin typeface="Segoe UI Semibold"/>
              </a:rPr>
              <a:t>La reducción es la herramienta más potente que tienes</a:t>
            </a:r>
            <a:endParaRPr b="0" lang="en-US" sz="1200" spc="-1" strike="noStrike">
              <a:solidFill>
                <a:srgbClr val="000000"/>
              </a:solidFill>
              <a:latin typeface="Arial"/>
            </a:endParaRPr>
          </a:p>
        </p:txBody>
      </p:sp>
      <p:sp>
        <p:nvSpPr>
          <p:cNvPr id="767" name="TextBox 12"/>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Una reducción 3:1 multiplica el par por 3 y divide la inercia reflejada por 9. Es la forma habitual de convertir un eje imposible de sintonizar en uno cómodo… a cambio de holgura, coste y mantenimiento.</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8"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69"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770"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Paso 2 — La relación de inercias</a:t>
            </a:r>
            <a:endParaRPr b="0" lang="en-US" sz="2500" spc="-1" strike="noStrike">
              <a:solidFill>
                <a:srgbClr val="000000"/>
              </a:solidFill>
              <a:latin typeface="Arial"/>
            </a:endParaRPr>
          </a:p>
        </p:txBody>
      </p:sp>
      <p:sp>
        <p:nvSpPr>
          <p:cNvPr id="771"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El indicador que predice si el eje va a dar guerra</a:t>
            </a:r>
            <a:endParaRPr b="0" lang="en-US" sz="1250" spc="-1" strike="noStrike">
              <a:solidFill>
                <a:srgbClr val="000000"/>
              </a:solidFill>
              <a:latin typeface="Arial"/>
            </a:endParaRPr>
          </a:p>
        </p:txBody>
      </p:sp>
      <p:sp>
        <p:nvSpPr>
          <p:cNvPr id="772"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04</a:t>
            </a:r>
            <a:endParaRPr b="0" lang="en-US" sz="1100" spc="-1" strike="noStrike">
              <a:solidFill>
                <a:srgbClr val="000000"/>
              </a:solidFill>
              <a:latin typeface="Arial"/>
            </a:endParaRPr>
          </a:p>
        </p:txBody>
      </p:sp>
      <p:sp>
        <p:nvSpPr>
          <p:cNvPr id="773"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774"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43</a:t>
            </a:r>
            <a:endParaRPr b="0" lang="en-US" sz="900" spc="-1" strike="noStrike">
              <a:solidFill>
                <a:srgbClr val="000000"/>
              </a:solidFill>
              <a:latin typeface="Arial"/>
            </a:endParaRPr>
          </a:p>
        </p:txBody>
      </p:sp>
      <p:sp>
        <p:nvSpPr>
          <p:cNvPr id="775" name="Rectangle 8"/>
          <p:cNvSpPr/>
          <p:nvPr/>
        </p:nvSpPr>
        <p:spPr>
          <a:xfrm>
            <a:off x="5670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76" name="Rectangle 9"/>
          <p:cNvSpPr/>
          <p:nvPr/>
        </p:nvSpPr>
        <p:spPr>
          <a:xfrm>
            <a:off x="567000" y="1481400"/>
            <a:ext cx="5373000" cy="4201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77"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Qué es y cómo se calcula</a:t>
            </a:r>
            <a:endParaRPr b="0" lang="en-US" sz="1350" spc="-1" strike="noStrike">
              <a:solidFill>
                <a:srgbClr val="000000"/>
              </a:solidFill>
              <a:latin typeface="Arial"/>
            </a:endParaRPr>
          </a:p>
        </p:txBody>
      </p:sp>
      <p:sp>
        <p:nvSpPr>
          <p:cNvPr id="778" name="TextBox 11"/>
          <p:cNvSpPr/>
          <p:nvPr/>
        </p:nvSpPr>
        <p:spPr>
          <a:xfrm>
            <a:off x="768240" y="2048400"/>
            <a:ext cx="4970880" cy="274104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Consolas"/>
              </a:rPr>
              <a:t>R = J_carga reflejada / J_rotor del motor</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Es el parámetro que mejor predice si un eje va a ser fácil o difícil de sintonizar.</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El SERVOPACK lo necesita: se guarda en </a:t>
            </a:r>
            <a:r>
              <a:rPr b="1" lang="en-US" sz="1220" spc="-1" strike="noStrike">
                <a:solidFill>
                  <a:srgbClr val="1c2430"/>
                </a:solidFill>
                <a:latin typeface="Consolas"/>
              </a:rPr>
              <a:t>Pn103</a:t>
            </a:r>
            <a:r>
              <a:rPr b="1" lang="en-US" sz="1220" spc="-1" strike="noStrike">
                <a:solidFill>
                  <a:srgbClr val="1c2430"/>
                </a:solidFill>
                <a:latin typeface="Segoe UI"/>
              </a:rPr>
              <a:t> (relación de inercias, en %). El autotuning lo estima automáticamente.</a:t>
            </a:r>
            <a:endParaRPr b="0" lang="en-US" sz="122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070" spc="-1" strike="noStrike">
                <a:solidFill>
                  <a:srgbClr val="333f4c"/>
                </a:solidFill>
                <a:latin typeface="Consolas"/>
              </a:rPr>
              <a:t>Pn103</a:t>
            </a:r>
            <a:r>
              <a:rPr b="0" lang="en-US" sz="1070" spc="-1" strike="noStrike">
                <a:solidFill>
                  <a:srgbClr val="333f4c"/>
                </a:solidFill>
                <a:latin typeface="Segoe UI"/>
              </a:rPr>
              <a:t> = 100 significa que la carga tiene la misma inercia que el rotor (relación 1:1).</a:t>
            </a:r>
            <a:endParaRPr b="0" lang="en-US" sz="1070" spc="-1" strike="noStrike">
              <a:solidFill>
                <a:srgbClr val="000000"/>
              </a:solidFill>
              <a:latin typeface="Arial"/>
            </a:endParaRPr>
          </a:p>
          <a:p>
            <a:pPr defTabSz="457200">
              <a:lnSpc>
                <a:spcPct val="106000"/>
              </a:lnSpc>
              <a:spcBef>
                <a:spcPts val="799"/>
              </a:spcBef>
              <a:spcAft>
                <a:spcPts val="901"/>
              </a:spcAft>
              <a:tabLst>
                <a:tab algn="l" pos="0"/>
              </a:tabLst>
            </a:pPr>
            <a:r>
              <a:rPr b="1" lang="en-US" sz="1180" spc="-1" strike="noStrike">
                <a:solidFill>
                  <a:srgbClr val="1b5ea8"/>
                </a:solidFill>
                <a:latin typeface="Segoe UI Semibold"/>
              </a:rPr>
              <a:t>Por qué importa</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Segoe UI"/>
              </a:rPr>
              <a:t>Con inercia de carga muy superior, la elasticidad del acoplamiento hace que motor y carga oscilen entre sí: aparece resonancia y el límite de ganancia baja mucho.</a:t>
            </a:r>
            <a:endParaRPr b="0" lang="en-US" sz="1220" spc="-1" strike="noStrike">
              <a:solidFill>
                <a:srgbClr val="000000"/>
              </a:solidFill>
              <a:latin typeface="Arial"/>
            </a:endParaRPr>
          </a:p>
        </p:txBody>
      </p:sp>
      <p:sp>
        <p:nvSpPr>
          <p:cNvPr id="779" name="Rectangle 12"/>
          <p:cNvSpPr/>
          <p:nvPr/>
        </p:nvSpPr>
        <p:spPr>
          <a:xfrm>
            <a:off x="62514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80" name="Rectangle 13"/>
          <p:cNvSpPr/>
          <p:nvPr/>
        </p:nvSpPr>
        <p:spPr>
          <a:xfrm>
            <a:off x="6251400" y="1481400"/>
            <a:ext cx="5373000" cy="42012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81"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Valores de referencia</a:t>
            </a:r>
            <a:endParaRPr b="0" lang="en-US" sz="1350" spc="-1" strike="noStrike">
              <a:solidFill>
                <a:srgbClr val="000000"/>
              </a:solidFill>
              <a:latin typeface="Arial"/>
            </a:endParaRPr>
          </a:p>
        </p:txBody>
      </p:sp>
      <p:sp>
        <p:nvSpPr>
          <p:cNvPr id="782" name="TextBox 15"/>
          <p:cNvSpPr/>
          <p:nvPr/>
        </p:nvSpPr>
        <p:spPr>
          <a:xfrm>
            <a:off x="6452640" y="2048400"/>
            <a:ext cx="4970880" cy="293724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130" spc="-1" strike="noStrike">
                <a:solidFill>
                  <a:srgbClr val="1c2430"/>
                </a:solidFill>
                <a:latin typeface="Segoe UI"/>
              </a:rPr>
              <a:t>Hasta 3:1 — Excelente. Sintonización trivial, dinámica máxima.</a:t>
            </a:r>
            <a:endParaRPr b="0" lang="en-US" sz="11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30" spc="-1" strike="noStrike">
                <a:solidFill>
                  <a:srgbClr val="1c2430"/>
                </a:solidFill>
                <a:latin typeface="Segoe UI"/>
              </a:rPr>
              <a:t>De 3:1 a 10:1 — Zona normal de trabajo. Se ajusta bien con autotuning.</a:t>
            </a:r>
            <a:endParaRPr b="0" lang="en-US" sz="11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30" spc="-1" strike="noStrike">
                <a:solidFill>
                  <a:srgbClr val="1c2430"/>
                </a:solidFill>
                <a:latin typeface="Segoe UI"/>
              </a:rPr>
              <a:t>De 10:1 a 20:1 — Exigente. Requiere acoplamiento muy rígido, filtros notch y ajuste manual.</a:t>
            </a:r>
            <a:endParaRPr b="0" lang="en-US" sz="11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30" spc="-1" strike="noStrike">
                <a:solidFill>
                  <a:srgbClr val="1c2430"/>
                </a:solidFill>
                <a:latin typeface="Segoe UI"/>
              </a:rPr>
              <a:t>Más de 20:1 — Sólo con motores de alta inercia (SGMXG), mecánica muy rígida y expectativas de dinámica moderadas.</a:t>
            </a:r>
            <a:endParaRPr b="0" lang="en-US" sz="1130" spc="-1" strike="noStrike">
              <a:solidFill>
                <a:srgbClr val="000000"/>
              </a:solidFill>
              <a:latin typeface="Arial"/>
            </a:endParaRPr>
          </a:p>
          <a:p>
            <a:pPr defTabSz="457200">
              <a:lnSpc>
                <a:spcPct val="106000"/>
              </a:lnSpc>
              <a:spcBef>
                <a:spcPts val="799"/>
              </a:spcBef>
              <a:spcAft>
                <a:spcPts val="901"/>
              </a:spcAft>
              <a:tabLst>
                <a:tab algn="l" pos="0"/>
              </a:tabLst>
            </a:pPr>
            <a:r>
              <a:rPr b="1" lang="en-US" sz="1070" spc="-1" strike="noStrike">
                <a:solidFill>
                  <a:srgbClr val="1b5ea8"/>
                </a:solidFill>
                <a:latin typeface="Segoe UI Semibold"/>
              </a:rPr>
              <a:t>Cómo mejorar una relación mala</a:t>
            </a:r>
            <a:endParaRPr b="0" lang="en-US" sz="10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80" spc="-1" strike="noStrike">
                <a:solidFill>
                  <a:srgbClr val="333f4c"/>
                </a:solidFill>
                <a:latin typeface="Segoe UI"/>
              </a:rPr>
              <a:t>Añadir o aumentar la </a:t>
            </a:r>
            <a:r>
              <a:rPr b="1" lang="en-US" sz="980" spc="-1" strike="noStrike">
                <a:solidFill>
                  <a:srgbClr val="333f4c"/>
                </a:solidFill>
                <a:latin typeface="Segoe UI"/>
              </a:rPr>
              <a:t>reducción</a:t>
            </a:r>
            <a:r>
              <a:rPr b="0" lang="en-US" sz="980" spc="-1" strike="noStrike">
                <a:solidFill>
                  <a:srgbClr val="333f4c"/>
                </a:solidFill>
                <a:latin typeface="Segoe UI"/>
              </a:rPr>
              <a:t> (efecto i²).</a:t>
            </a:r>
            <a:endParaRPr b="0" lang="en-US" sz="98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80" spc="-1" strike="noStrike">
                <a:solidFill>
                  <a:srgbClr val="333f4c"/>
                </a:solidFill>
                <a:latin typeface="Segoe UI"/>
              </a:rPr>
              <a:t>Cambiar a un motor de </a:t>
            </a:r>
            <a:r>
              <a:rPr b="1" lang="en-US" sz="980" spc="-1" strike="noStrike">
                <a:solidFill>
                  <a:srgbClr val="333f4c"/>
                </a:solidFill>
                <a:latin typeface="Segoe UI"/>
              </a:rPr>
              <a:t>mayor inercia de rotor</a:t>
            </a:r>
            <a:r>
              <a:rPr b="0" lang="en-US" sz="980" spc="-1" strike="noStrike">
                <a:solidFill>
                  <a:srgbClr val="333f4c"/>
                </a:solidFill>
                <a:latin typeface="Segoe UI"/>
              </a:rPr>
              <a:t>.</a:t>
            </a:r>
            <a:endParaRPr b="0" lang="en-US" sz="98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80" spc="-1" strike="noStrike">
                <a:solidFill>
                  <a:srgbClr val="333f4c"/>
                </a:solidFill>
                <a:latin typeface="Segoe UI"/>
              </a:rPr>
              <a:t>Aumentar la </a:t>
            </a:r>
            <a:r>
              <a:rPr b="1" lang="en-US" sz="980" spc="-1" strike="noStrike">
                <a:solidFill>
                  <a:srgbClr val="333f4c"/>
                </a:solidFill>
                <a:latin typeface="Segoe UI"/>
              </a:rPr>
              <a:t>rigidez</a:t>
            </a:r>
            <a:r>
              <a:rPr b="0" lang="en-US" sz="980" spc="-1" strike="noStrike">
                <a:solidFill>
                  <a:srgbClr val="333f4c"/>
                </a:solidFill>
                <a:latin typeface="Segoe UI"/>
              </a:rPr>
              <a:t> del acoplamiento y de los soportes.</a:t>
            </a:r>
            <a:endParaRPr b="0" lang="en-US" sz="98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80" spc="-1" strike="noStrike">
                <a:solidFill>
                  <a:srgbClr val="333f4c"/>
                </a:solidFill>
                <a:latin typeface="Segoe UI"/>
              </a:rPr>
              <a:t>Reducir la masa desplazada.</a:t>
            </a:r>
            <a:endParaRPr b="0" lang="en-US" sz="980" spc="-1" strike="noStrike">
              <a:solidFill>
                <a:srgbClr val="000000"/>
              </a:solidFill>
              <a:latin typeface="Arial"/>
            </a:endParaRPr>
          </a:p>
        </p:txBody>
      </p:sp>
      <p:sp>
        <p:nvSpPr>
          <p:cNvPr id="783" name="Rectangle 16"/>
          <p:cNvSpPr/>
          <p:nvPr/>
        </p:nvSpPr>
        <p:spPr>
          <a:xfrm>
            <a:off x="567000" y="5459040"/>
            <a:ext cx="11057400" cy="86832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84" name="Rectangle 17"/>
          <p:cNvSpPr/>
          <p:nvPr/>
        </p:nvSpPr>
        <p:spPr>
          <a:xfrm>
            <a:off x="567000" y="5459040"/>
            <a:ext cx="68400" cy="86832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85" name="TextBox 18"/>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Matiz importante</a:t>
            </a:r>
            <a:endParaRPr b="0" lang="en-US" sz="1200" spc="-1" strike="noStrike">
              <a:solidFill>
                <a:srgbClr val="000000"/>
              </a:solidFill>
              <a:latin typeface="Arial"/>
            </a:endParaRPr>
          </a:p>
        </p:txBody>
      </p:sp>
      <p:sp>
        <p:nvSpPr>
          <p:cNvPr id="786" name="TextBox 19"/>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Los límites anteriores son orientativos: con una mecánica muy rígida se trabajan bien relaciones de 15:1, y con una mecánica elástica una relación de 5:1 ya puede resonar. La rigidez importa tanto como la relación.</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7"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88"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789"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Paso 3 — Perfil de movimiento y par requerido</a:t>
            </a:r>
            <a:endParaRPr b="0" lang="en-US" sz="2500" spc="-1" strike="noStrike">
              <a:solidFill>
                <a:srgbClr val="000000"/>
              </a:solidFill>
              <a:latin typeface="Arial"/>
            </a:endParaRPr>
          </a:p>
        </p:txBody>
      </p:sp>
      <p:sp>
        <p:nvSpPr>
          <p:cNvPr id="790"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El par sigue a la aceleración, no a la velocidad</a:t>
            </a:r>
            <a:endParaRPr b="0" lang="en-US" sz="1250" spc="-1" strike="noStrike">
              <a:solidFill>
                <a:srgbClr val="000000"/>
              </a:solidFill>
              <a:latin typeface="Arial"/>
            </a:endParaRPr>
          </a:p>
        </p:txBody>
      </p:sp>
      <p:sp>
        <p:nvSpPr>
          <p:cNvPr id="791"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04</a:t>
            </a:r>
            <a:endParaRPr b="0" lang="en-US" sz="1100" spc="-1" strike="noStrike">
              <a:solidFill>
                <a:srgbClr val="000000"/>
              </a:solidFill>
              <a:latin typeface="Arial"/>
            </a:endParaRPr>
          </a:p>
        </p:txBody>
      </p:sp>
      <p:sp>
        <p:nvSpPr>
          <p:cNvPr id="792"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793"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44</a:t>
            </a:r>
            <a:endParaRPr b="0" lang="en-US" sz="900" spc="-1" strike="noStrike">
              <a:solidFill>
                <a:srgbClr val="000000"/>
              </a:solidFill>
              <a:latin typeface="Arial"/>
            </a:endParaRPr>
          </a:p>
        </p:txBody>
      </p:sp>
      <p:cxnSp>
        <p:nvCxnSpPr>
          <p:cNvPr id="794" name="Connector 8"/>
          <p:cNvCxnSpPr/>
          <p:nvPr/>
        </p:nvCxnSpPr>
        <p:spPr>
          <a:xfrm>
            <a:off x="1417320" y="2788920"/>
            <a:ext cx="6538320" cy="360"/>
          </a:xfrm>
          <a:prstGeom prst="straightConnector1">
            <a:avLst/>
          </a:prstGeom>
          <a:ln w="15875">
            <a:solidFill>
              <a:srgbClr val="1c2430"/>
            </a:solidFill>
            <a:round/>
          </a:ln>
        </p:spPr>
      </p:cxnSp>
      <p:cxnSp>
        <p:nvCxnSpPr>
          <p:cNvPr id="795" name="Connector 9"/>
          <p:cNvCxnSpPr/>
          <p:nvPr/>
        </p:nvCxnSpPr>
        <p:spPr>
          <a:xfrm flipV="1">
            <a:off x="1417320" y="1508760"/>
            <a:ext cx="360" cy="1280520"/>
          </a:xfrm>
          <a:prstGeom prst="straightConnector1">
            <a:avLst/>
          </a:prstGeom>
          <a:ln w="15875">
            <a:solidFill>
              <a:srgbClr val="1c2430"/>
            </a:solidFill>
            <a:round/>
          </a:ln>
        </p:spPr>
      </p:cxnSp>
      <p:sp>
        <p:nvSpPr>
          <p:cNvPr id="796" name="TextBox 10"/>
          <p:cNvSpPr/>
          <p:nvPr/>
        </p:nvSpPr>
        <p:spPr>
          <a:xfrm>
            <a:off x="137160" y="1234440"/>
            <a:ext cx="2377080" cy="1602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050" spc="-1" strike="noStrike">
                <a:solidFill>
                  <a:srgbClr val="1c2430"/>
                </a:solidFill>
                <a:latin typeface="Segoe UI"/>
              </a:rPr>
              <a:t>Velocidad  [rpm]</a:t>
            </a:r>
            <a:endParaRPr b="0" lang="en-US" sz="1050" spc="-1" strike="noStrike">
              <a:solidFill>
                <a:srgbClr val="000000"/>
              </a:solidFill>
              <a:latin typeface="Arial"/>
            </a:endParaRPr>
          </a:p>
        </p:txBody>
      </p:sp>
      <p:sp>
        <p:nvSpPr>
          <p:cNvPr id="797" name="Freeform 11"/>
          <p:cNvSpPr/>
          <p:nvPr/>
        </p:nvSpPr>
        <p:spPr>
          <a:xfrm>
            <a:off x="1417320" y="1737360"/>
            <a:ext cx="3730320" cy="1051200"/>
          </a:xfrm>
          <a:custGeom>
            <a:avLst/>
            <a:gdLst>
              <a:gd name="textAreaLeft" fmla="*/ 0 w 3730320"/>
              <a:gd name="textAreaRight" fmla="*/ 3730680 w 3730320"/>
              <a:gd name="textAreaTop" fmla="*/ 0 h 1051200"/>
              <a:gd name="textAreaBottom" fmla="*/ 1051560 h 1051200"/>
            </a:gdLst>
            <a:ahLst/>
            <a:rect l="textAreaLeft" t="textAreaTop" r="textAreaRight" b="textAreaBottom"/>
            <a:pathLst>
              <a:path w="3730752" h="1051560">
                <a:moveTo>
                  <a:pt x="0" y="1051560"/>
                </a:moveTo>
                <a:lnTo>
                  <a:pt x="621792" y="0"/>
                </a:lnTo>
                <a:lnTo>
                  <a:pt x="2487168" y="0"/>
                </a:lnTo>
                <a:lnTo>
                  <a:pt x="3730752" y="1051560"/>
                </a:lnTo>
                <a:lnTo>
                  <a:pt x="0" y="1051560"/>
                </a:lnTo>
                <a:close/>
              </a:path>
            </a:pathLst>
          </a:custGeom>
          <a:solidFill>
            <a:srgbClr val="e4eef7"/>
          </a:solidFill>
          <a:ln w="22225">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98" name="TextBox 12"/>
          <p:cNvSpPr/>
          <p:nvPr/>
        </p:nvSpPr>
        <p:spPr>
          <a:xfrm>
            <a:off x="1490400" y="1444680"/>
            <a:ext cx="201132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000" spc="-1" strike="noStrike">
                <a:solidFill>
                  <a:srgbClr val="1b5ea8"/>
                </a:solidFill>
                <a:latin typeface="Segoe UI"/>
              </a:rPr>
              <a:t>2.400 rpm</a:t>
            </a:r>
            <a:endParaRPr b="0" lang="en-US" sz="1000" spc="-1" strike="noStrike">
              <a:solidFill>
                <a:srgbClr val="000000"/>
              </a:solidFill>
              <a:latin typeface="Arial"/>
            </a:endParaRPr>
          </a:p>
        </p:txBody>
      </p:sp>
      <p:cxnSp>
        <p:nvCxnSpPr>
          <p:cNvPr id="799" name="Connector 13"/>
          <p:cNvCxnSpPr/>
          <p:nvPr/>
        </p:nvCxnSpPr>
        <p:spPr>
          <a:xfrm>
            <a:off x="1417320" y="5257800"/>
            <a:ext cx="6538320" cy="360"/>
          </a:xfrm>
          <a:prstGeom prst="straightConnector1">
            <a:avLst/>
          </a:prstGeom>
          <a:ln w="15875">
            <a:solidFill>
              <a:srgbClr val="1c2430"/>
            </a:solidFill>
            <a:round/>
          </a:ln>
        </p:spPr>
      </p:cxnSp>
      <p:cxnSp>
        <p:nvCxnSpPr>
          <p:cNvPr id="800" name="Connector 14"/>
          <p:cNvCxnSpPr/>
          <p:nvPr/>
        </p:nvCxnSpPr>
        <p:spPr>
          <a:xfrm>
            <a:off x="1417320" y="4160520"/>
            <a:ext cx="360" cy="1874880"/>
          </a:xfrm>
          <a:prstGeom prst="straightConnector1">
            <a:avLst/>
          </a:prstGeom>
          <a:ln w="15875">
            <a:solidFill>
              <a:srgbClr val="1c2430"/>
            </a:solidFill>
            <a:round/>
          </a:ln>
        </p:spPr>
      </p:cxnSp>
      <p:sp>
        <p:nvSpPr>
          <p:cNvPr id="801" name="TextBox 15"/>
          <p:cNvSpPr/>
          <p:nvPr/>
        </p:nvSpPr>
        <p:spPr>
          <a:xfrm>
            <a:off x="137160" y="3886200"/>
            <a:ext cx="2377080" cy="1602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050" spc="-1" strike="noStrike">
                <a:solidFill>
                  <a:srgbClr val="1c2430"/>
                </a:solidFill>
                <a:latin typeface="Segoe UI"/>
              </a:rPr>
              <a:t>Par  [N·m]</a:t>
            </a:r>
            <a:endParaRPr b="0" lang="en-US" sz="1050" spc="-1" strike="noStrike">
              <a:solidFill>
                <a:srgbClr val="000000"/>
              </a:solidFill>
              <a:latin typeface="Arial"/>
            </a:endParaRPr>
          </a:p>
        </p:txBody>
      </p:sp>
      <p:sp>
        <p:nvSpPr>
          <p:cNvPr id="802" name="Rectangle 16"/>
          <p:cNvSpPr/>
          <p:nvPr/>
        </p:nvSpPr>
        <p:spPr>
          <a:xfrm>
            <a:off x="1417320" y="4389120"/>
            <a:ext cx="621360" cy="868320"/>
          </a:xfrm>
          <a:prstGeom prst="rect">
            <a:avLst/>
          </a:prstGeom>
          <a:solidFill>
            <a:srgbClr val="c0392b"/>
          </a:solidFill>
          <a:ln w="12700">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03" name="TextBox 17"/>
          <p:cNvSpPr/>
          <p:nvPr/>
        </p:nvSpPr>
        <p:spPr>
          <a:xfrm>
            <a:off x="1371600" y="4114800"/>
            <a:ext cx="1462680" cy="1450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950" spc="-1" strike="noStrike">
                <a:solidFill>
                  <a:srgbClr val="c0392b"/>
                </a:solidFill>
                <a:latin typeface="Segoe UI"/>
              </a:rPr>
              <a:t>+10,95 N·m</a:t>
            </a:r>
            <a:endParaRPr b="0" lang="en-US" sz="950" spc="-1" strike="noStrike">
              <a:solidFill>
                <a:srgbClr val="000000"/>
              </a:solidFill>
              <a:latin typeface="Arial"/>
            </a:endParaRPr>
          </a:p>
        </p:txBody>
      </p:sp>
      <p:sp>
        <p:nvSpPr>
          <p:cNvPr id="804" name="Rectangle 18"/>
          <p:cNvSpPr/>
          <p:nvPr/>
        </p:nvSpPr>
        <p:spPr>
          <a:xfrm>
            <a:off x="2039040" y="5111640"/>
            <a:ext cx="1865160" cy="145800"/>
          </a:xfrm>
          <a:prstGeom prst="rect">
            <a:avLst/>
          </a:prstGeom>
          <a:solidFill>
            <a:srgbClr val="2e8b57"/>
          </a:solidFill>
          <a:ln w="12700">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05" name="TextBox 19"/>
          <p:cNvSpPr/>
          <p:nvPr/>
        </p:nvSpPr>
        <p:spPr>
          <a:xfrm>
            <a:off x="2039040" y="4818960"/>
            <a:ext cx="173700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2e8b57"/>
                </a:solidFill>
                <a:latin typeface="Segoe UI"/>
              </a:rPr>
              <a:t>+1,0 N·m (fricción)</a:t>
            </a:r>
            <a:endParaRPr b="0" lang="en-US" sz="950" spc="-1" strike="noStrike">
              <a:solidFill>
                <a:srgbClr val="000000"/>
              </a:solidFill>
              <a:latin typeface="Arial"/>
            </a:endParaRPr>
          </a:p>
        </p:txBody>
      </p:sp>
      <p:sp>
        <p:nvSpPr>
          <p:cNvPr id="806" name="Rectangle 20"/>
          <p:cNvSpPr/>
          <p:nvPr/>
        </p:nvSpPr>
        <p:spPr>
          <a:xfrm>
            <a:off x="3904560" y="5257800"/>
            <a:ext cx="1243080" cy="712080"/>
          </a:xfrm>
          <a:prstGeom prst="rect">
            <a:avLst/>
          </a:prstGeom>
          <a:solidFill>
            <a:srgbClr val="e89b1f"/>
          </a:solidFill>
          <a:ln w="12700">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07" name="TextBox 21"/>
          <p:cNvSpPr/>
          <p:nvPr/>
        </p:nvSpPr>
        <p:spPr>
          <a:xfrm>
            <a:off x="3904560" y="6006600"/>
            <a:ext cx="155412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e89b1f"/>
                </a:solidFill>
                <a:latin typeface="Segoe UI"/>
              </a:rPr>
              <a:t>−</a:t>
            </a:r>
            <a:r>
              <a:rPr b="1" lang="en-US" sz="950" spc="-1" strike="noStrike">
                <a:solidFill>
                  <a:srgbClr val="e89b1f"/>
                </a:solidFill>
                <a:latin typeface="Segoe UI"/>
              </a:rPr>
              <a:t>8,96 N·m</a:t>
            </a:r>
            <a:endParaRPr b="0" lang="en-US" sz="950" spc="-1" strike="noStrike">
              <a:solidFill>
                <a:srgbClr val="000000"/>
              </a:solidFill>
              <a:latin typeface="Arial"/>
            </a:endParaRPr>
          </a:p>
        </p:txBody>
      </p:sp>
      <p:sp>
        <p:nvSpPr>
          <p:cNvPr id="808" name="TextBox 22"/>
          <p:cNvSpPr/>
          <p:nvPr/>
        </p:nvSpPr>
        <p:spPr>
          <a:xfrm>
            <a:off x="5239440" y="4873680"/>
            <a:ext cx="23770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reposo: par ≈ 0</a:t>
            </a:r>
            <a:endParaRPr b="0" lang="en-US" sz="950" spc="-1" strike="noStrike">
              <a:solidFill>
                <a:srgbClr val="000000"/>
              </a:solidFill>
              <a:latin typeface="Arial"/>
            </a:endParaRPr>
          </a:p>
        </p:txBody>
      </p:sp>
      <p:cxnSp>
        <p:nvCxnSpPr>
          <p:cNvPr id="809" name="Connector 23"/>
          <p:cNvCxnSpPr/>
          <p:nvPr/>
        </p:nvCxnSpPr>
        <p:spPr>
          <a:xfrm>
            <a:off x="1417320" y="6007320"/>
            <a:ext cx="360" cy="91800"/>
          </a:xfrm>
          <a:prstGeom prst="straightConnector1">
            <a:avLst/>
          </a:prstGeom>
          <a:ln w="15875">
            <a:solidFill>
              <a:srgbClr val="5a6b7b"/>
            </a:solidFill>
            <a:round/>
          </a:ln>
        </p:spPr>
      </p:cxnSp>
      <p:sp>
        <p:nvSpPr>
          <p:cNvPr id="810" name="TextBox 24"/>
          <p:cNvSpPr/>
          <p:nvPr/>
        </p:nvSpPr>
        <p:spPr>
          <a:xfrm>
            <a:off x="914400" y="6117480"/>
            <a:ext cx="1005480" cy="1378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900" spc="-1" strike="noStrike">
                <a:solidFill>
                  <a:srgbClr val="5a6b7b"/>
                </a:solidFill>
                <a:latin typeface="Segoe UI"/>
              </a:rPr>
              <a:t>0</a:t>
            </a:r>
            <a:endParaRPr b="0" lang="en-US" sz="900" spc="-1" strike="noStrike">
              <a:solidFill>
                <a:srgbClr val="000000"/>
              </a:solidFill>
              <a:latin typeface="Arial"/>
            </a:endParaRPr>
          </a:p>
        </p:txBody>
      </p:sp>
      <p:cxnSp>
        <p:nvCxnSpPr>
          <p:cNvPr id="811" name="Connector 25"/>
          <p:cNvCxnSpPr/>
          <p:nvPr/>
        </p:nvCxnSpPr>
        <p:spPr>
          <a:xfrm>
            <a:off x="2039040" y="6007320"/>
            <a:ext cx="360" cy="91800"/>
          </a:xfrm>
          <a:prstGeom prst="straightConnector1">
            <a:avLst/>
          </a:prstGeom>
          <a:ln w="15875">
            <a:solidFill>
              <a:srgbClr val="5a6b7b"/>
            </a:solidFill>
            <a:round/>
          </a:ln>
        </p:spPr>
      </p:cxnSp>
      <p:sp>
        <p:nvSpPr>
          <p:cNvPr id="812" name="TextBox 26"/>
          <p:cNvSpPr/>
          <p:nvPr/>
        </p:nvSpPr>
        <p:spPr>
          <a:xfrm>
            <a:off x="1536120" y="6117480"/>
            <a:ext cx="1005480" cy="1378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900" spc="-1" strike="noStrike">
                <a:solidFill>
                  <a:srgbClr val="5a6b7b"/>
                </a:solidFill>
                <a:latin typeface="Segoe UI"/>
              </a:rPr>
              <a:t>0,25 s</a:t>
            </a:r>
            <a:endParaRPr b="0" lang="en-US" sz="900" spc="-1" strike="noStrike">
              <a:solidFill>
                <a:srgbClr val="000000"/>
              </a:solidFill>
              <a:latin typeface="Arial"/>
            </a:endParaRPr>
          </a:p>
        </p:txBody>
      </p:sp>
      <p:cxnSp>
        <p:nvCxnSpPr>
          <p:cNvPr id="813" name="Connector 27"/>
          <p:cNvCxnSpPr/>
          <p:nvPr/>
        </p:nvCxnSpPr>
        <p:spPr>
          <a:xfrm>
            <a:off x="3904200" y="6007320"/>
            <a:ext cx="360" cy="91800"/>
          </a:xfrm>
          <a:prstGeom prst="straightConnector1">
            <a:avLst/>
          </a:prstGeom>
          <a:ln w="15875">
            <a:solidFill>
              <a:srgbClr val="5a6b7b"/>
            </a:solidFill>
            <a:round/>
          </a:ln>
        </p:spPr>
      </p:cxnSp>
      <p:sp>
        <p:nvSpPr>
          <p:cNvPr id="814" name="TextBox 28"/>
          <p:cNvSpPr/>
          <p:nvPr/>
        </p:nvSpPr>
        <p:spPr>
          <a:xfrm>
            <a:off x="3401640" y="6117480"/>
            <a:ext cx="1005480" cy="1378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900" spc="-1" strike="noStrike">
                <a:solidFill>
                  <a:srgbClr val="5a6b7b"/>
                </a:solidFill>
                <a:latin typeface="Segoe UI"/>
              </a:rPr>
              <a:t>0,75 s</a:t>
            </a:r>
            <a:endParaRPr b="0" lang="en-US" sz="900" spc="-1" strike="noStrike">
              <a:solidFill>
                <a:srgbClr val="000000"/>
              </a:solidFill>
              <a:latin typeface="Arial"/>
            </a:endParaRPr>
          </a:p>
        </p:txBody>
      </p:sp>
      <p:cxnSp>
        <p:nvCxnSpPr>
          <p:cNvPr id="815" name="Connector 29"/>
          <p:cNvCxnSpPr/>
          <p:nvPr/>
        </p:nvCxnSpPr>
        <p:spPr>
          <a:xfrm>
            <a:off x="5148000" y="6007320"/>
            <a:ext cx="360" cy="91800"/>
          </a:xfrm>
          <a:prstGeom prst="straightConnector1">
            <a:avLst/>
          </a:prstGeom>
          <a:ln w="15875">
            <a:solidFill>
              <a:srgbClr val="5a6b7b"/>
            </a:solidFill>
            <a:round/>
          </a:ln>
        </p:spPr>
      </p:cxnSp>
      <p:sp>
        <p:nvSpPr>
          <p:cNvPr id="816" name="TextBox 30"/>
          <p:cNvSpPr/>
          <p:nvPr/>
        </p:nvSpPr>
        <p:spPr>
          <a:xfrm>
            <a:off x="4645080" y="6117480"/>
            <a:ext cx="1005480" cy="1378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900" spc="-1" strike="noStrike">
                <a:solidFill>
                  <a:srgbClr val="5a6b7b"/>
                </a:solidFill>
                <a:latin typeface="Segoe UI"/>
              </a:rPr>
              <a:t>1,0 s</a:t>
            </a:r>
            <a:endParaRPr b="0" lang="en-US" sz="900" spc="-1" strike="noStrike">
              <a:solidFill>
                <a:srgbClr val="000000"/>
              </a:solidFill>
              <a:latin typeface="Arial"/>
            </a:endParaRPr>
          </a:p>
        </p:txBody>
      </p:sp>
      <p:cxnSp>
        <p:nvCxnSpPr>
          <p:cNvPr id="817" name="Connector 31"/>
          <p:cNvCxnSpPr/>
          <p:nvPr/>
        </p:nvCxnSpPr>
        <p:spPr>
          <a:xfrm>
            <a:off x="7955280" y="6007320"/>
            <a:ext cx="360" cy="91800"/>
          </a:xfrm>
          <a:prstGeom prst="straightConnector1">
            <a:avLst/>
          </a:prstGeom>
          <a:ln w="15875">
            <a:solidFill>
              <a:srgbClr val="5a6b7b"/>
            </a:solidFill>
            <a:round/>
          </a:ln>
        </p:spPr>
      </p:cxnSp>
      <p:sp>
        <p:nvSpPr>
          <p:cNvPr id="818" name="TextBox 32"/>
          <p:cNvSpPr/>
          <p:nvPr/>
        </p:nvSpPr>
        <p:spPr>
          <a:xfrm>
            <a:off x="7452360" y="6117480"/>
            <a:ext cx="1005480" cy="1378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900" spc="-1" strike="noStrike">
                <a:solidFill>
                  <a:srgbClr val="5a6b7b"/>
                </a:solidFill>
                <a:latin typeface="Segoe UI"/>
              </a:rPr>
              <a:t>2,5 s</a:t>
            </a:r>
            <a:endParaRPr b="0" lang="en-US" sz="900" spc="-1" strike="noStrike">
              <a:solidFill>
                <a:srgbClr val="000000"/>
              </a:solidFill>
              <a:latin typeface="Arial"/>
            </a:endParaRPr>
          </a:p>
        </p:txBody>
      </p:sp>
      <p:sp>
        <p:nvSpPr>
          <p:cNvPr id="819" name="TextBox 33"/>
          <p:cNvSpPr/>
          <p:nvPr/>
        </p:nvSpPr>
        <p:spPr>
          <a:xfrm>
            <a:off x="1417320" y="6373440"/>
            <a:ext cx="621756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000" spc="-1" strike="noStrike">
                <a:solidFill>
                  <a:srgbClr val="1c2430"/>
                </a:solidFill>
                <a:latin typeface="Segoe UI"/>
              </a:rPr>
              <a:t>tiempo →</a:t>
            </a:r>
            <a:endParaRPr b="0" lang="en-US" sz="1000" spc="-1" strike="noStrike">
              <a:solidFill>
                <a:srgbClr val="000000"/>
              </a:solidFill>
              <a:latin typeface="Arial"/>
            </a:endParaRPr>
          </a:p>
        </p:txBody>
      </p:sp>
      <p:sp>
        <p:nvSpPr>
          <p:cNvPr id="820" name="Rectangle 34"/>
          <p:cNvSpPr/>
          <p:nvPr/>
        </p:nvSpPr>
        <p:spPr>
          <a:xfrm>
            <a:off x="8275320" y="1572840"/>
            <a:ext cx="3337200" cy="452592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21" name="TextBox 35"/>
          <p:cNvSpPr/>
          <p:nvPr/>
        </p:nvSpPr>
        <p:spPr>
          <a:xfrm>
            <a:off x="8503920" y="1755720"/>
            <a:ext cx="288000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0b2545"/>
                </a:solidFill>
                <a:latin typeface="Segoe UI"/>
              </a:rPr>
              <a:t>Los cuatro pares</a:t>
            </a:r>
            <a:endParaRPr b="0" lang="en-US" sz="1400" spc="-1" strike="noStrike">
              <a:solidFill>
                <a:srgbClr val="000000"/>
              </a:solidFill>
              <a:latin typeface="Arial"/>
            </a:endParaRPr>
          </a:p>
        </p:txBody>
      </p:sp>
      <p:sp>
        <p:nvSpPr>
          <p:cNvPr id="822" name="TextBox 36"/>
          <p:cNvSpPr/>
          <p:nvPr/>
        </p:nvSpPr>
        <p:spPr>
          <a:xfrm>
            <a:off x="8503920" y="2176200"/>
            <a:ext cx="2880000" cy="3066120"/>
          </a:xfrm>
          <a:prstGeom prst="rect">
            <a:avLst/>
          </a:prstGeom>
          <a:noFill/>
          <a:ln w="0">
            <a:noFill/>
          </a:ln>
        </p:spPr>
        <p:style>
          <a:lnRef idx="0"/>
          <a:fillRef idx="0"/>
          <a:effectRef idx="0"/>
          <a:fontRef idx="minor"/>
        </p:style>
        <p:txBody>
          <a:bodyPr lIns="90000" rIns="90000" tIns="45000" bIns="45000" anchor="t">
            <a:spAutoFit/>
          </a:bodyPr>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Aceleración: </a:t>
            </a:r>
            <a:r>
              <a:rPr b="1" lang="en-US" sz="1100" spc="-1" strike="noStrike">
                <a:solidFill>
                  <a:srgbClr val="1c2430"/>
                </a:solidFill>
                <a:latin typeface="Consolas"/>
              </a:rPr>
              <a:t>T = J_total · α</a:t>
            </a:r>
            <a:r>
              <a:rPr b="1" lang="en-US" sz="1100" spc="-1" strike="noStrike">
                <a:solidFill>
                  <a:srgbClr val="1c2430"/>
                </a:solidFill>
                <a:latin typeface="Segoe UI"/>
              </a:rPr>
              <a:t>  → el más alto del ciclo.</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Fricción: </a:t>
            </a:r>
            <a:r>
              <a:rPr b="1" lang="en-US" sz="1100" spc="-1" strike="noStrike">
                <a:solidFill>
                  <a:srgbClr val="1c2430"/>
                </a:solidFill>
                <a:latin typeface="Consolas"/>
              </a:rPr>
              <a:t>T = μ·m·g·p / (2π·η)</a:t>
            </a:r>
            <a:r>
              <a:rPr b="1" lang="en-US" sz="1100" spc="-1" strike="noStrike">
                <a:solidFill>
                  <a:srgbClr val="1c2430"/>
                </a:solidFill>
                <a:latin typeface="Segoe UI"/>
              </a:rPr>
              <a:t> → presente siempre que hay movimiento.</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Gravedad (ejes verticales): </a:t>
            </a:r>
            <a:r>
              <a:rPr b="1" lang="en-US" sz="1100" spc="-1" strike="noStrike">
                <a:solidFill>
                  <a:srgbClr val="1c2430"/>
                </a:solidFill>
                <a:latin typeface="Consolas"/>
              </a:rPr>
              <a:t>T = m·g·p / (2π·η)</a:t>
            </a:r>
            <a:r>
              <a:rPr b="1" lang="en-US" sz="1100" spc="-1" strike="noStrike">
                <a:solidFill>
                  <a:srgbClr val="1c2430"/>
                </a:solidFill>
                <a:latin typeface="Segoe UI"/>
              </a:rPr>
              <a:t> → presente también en reposo.</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Proceso: corte, prensado o empuje, según la fase del ciclo.</a:t>
            </a:r>
            <a:endParaRPr b="0" lang="en-US" sz="1100" spc="-1" strike="noStrike">
              <a:solidFill>
                <a:srgbClr val="000000"/>
              </a:solidFill>
              <a:latin typeface="Arial"/>
            </a:endParaRPr>
          </a:p>
          <a:p>
            <a:pPr defTabSz="457200">
              <a:lnSpc>
                <a:spcPct val="106000"/>
              </a:lnSpc>
              <a:spcAft>
                <a:spcPts val="901"/>
              </a:spcAft>
            </a:pPr>
            <a:r>
              <a:rPr b="0" lang="en-US" sz="600" spc="-1" strike="noStrike">
                <a:solidFill>
                  <a:srgbClr val="1c2430"/>
                </a:solidFill>
                <a:latin typeface="Segoe UI"/>
              </a:rPr>
              <a:t> </a:t>
            </a:r>
            <a:endParaRPr b="0" lang="en-US" sz="6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El par que hay que comparar con el catálogo es la suma de los que actúan a la vez.</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3"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24"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825"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Paso 4 — Par eficaz (RMS) y verificación térmica</a:t>
            </a:r>
            <a:endParaRPr b="0" lang="en-US" sz="2500" spc="-1" strike="noStrike">
              <a:solidFill>
                <a:srgbClr val="000000"/>
              </a:solidFill>
              <a:latin typeface="Arial"/>
            </a:endParaRPr>
          </a:p>
        </p:txBody>
      </p:sp>
      <p:sp>
        <p:nvSpPr>
          <p:cNvPr id="826"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comprobación que evita las alarmas </a:t>
            </a:r>
            <a:r>
              <a:rPr b="0" lang="en-US" sz="1250" spc="-1" strike="noStrike">
                <a:solidFill>
                  <a:srgbClr val="a9c6e0"/>
                </a:solidFill>
                <a:latin typeface="Consolas"/>
              </a:rPr>
              <a:t>A.720</a:t>
            </a:r>
            <a:endParaRPr b="0" lang="en-US" sz="1250" spc="-1" strike="noStrike">
              <a:solidFill>
                <a:srgbClr val="000000"/>
              </a:solidFill>
              <a:latin typeface="Arial"/>
            </a:endParaRPr>
          </a:p>
        </p:txBody>
      </p:sp>
      <p:sp>
        <p:nvSpPr>
          <p:cNvPr id="827"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04</a:t>
            </a:r>
            <a:endParaRPr b="0" lang="en-US" sz="1100" spc="-1" strike="noStrike">
              <a:solidFill>
                <a:srgbClr val="000000"/>
              </a:solidFill>
              <a:latin typeface="Arial"/>
            </a:endParaRPr>
          </a:p>
        </p:txBody>
      </p:sp>
      <p:sp>
        <p:nvSpPr>
          <p:cNvPr id="828"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829"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45</a:t>
            </a:r>
            <a:endParaRPr b="0" lang="en-US" sz="900" spc="-1" strike="noStrike">
              <a:solidFill>
                <a:srgbClr val="000000"/>
              </a:solidFill>
              <a:latin typeface="Arial"/>
            </a:endParaRPr>
          </a:p>
        </p:txBody>
      </p:sp>
      <p:sp>
        <p:nvSpPr>
          <p:cNvPr id="830" name="TextBox 8"/>
          <p:cNvSpPr/>
          <p:nvPr/>
        </p:nvSpPr>
        <p:spPr>
          <a:xfrm>
            <a:off x="567000" y="1481400"/>
            <a:ext cx="11057400" cy="497088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180" spc="-1" strike="noStrike">
                <a:solidFill>
                  <a:srgbClr val="1b5ea8"/>
                </a:solidFill>
                <a:latin typeface="Segoe UI Semibold"/>
              </a:rPr>
              <a:t>Por qué el par RMS</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Segoe UI"/>
              </a:rPr>
              <a:t>El motor puede dar un par muy alto durante poco tiempo, pero lo que determina su calentamiento es el valor eficaz del par a lo largo del ciclo completo, incluidas las paradas.</a:t>
            </a:r>
            <a:endParaRPr b="0" lang="en-US" sz="122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1180" spc="-1" strike="noStrike">
                <a:solidFill>
                  <a:srgbClr val="1b5ea8"/>
                </a:solidFill>
                <a:latin typeface="Segoe UI Semibold"/>
              </a:rPr>
              <a:t>Fórmula</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Consolas"/>
              </a:rPr>
              <a:t>T_rms = √[ (T₁²·t₁ + T₂²·t₂ + … + Tₙ²·tₙ) / T_ciclo ]</a:t>
            </a:r>
            <a:endParaRPr b="0" lang="en-US" sz="122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70" spc="-1" strike="noStrike">
                <a:solidFill>
                  <a:srgbClr val="333f4c"/>
                </a:solidFill>
                <a:latin typeface="Segoe UI"/>
              </a:rPr>
              <a:t>Los tiempos de parada </a:t>
            </a:r>
            <a:r>
              <a:rPr b="1" lang="en-US" sz="1070" spc="-1" strike="noStrike">
                <a:solidFill>
                  <a:srgbClr val="333f4c"/>
                </a:solidFill>
                <a:latin typeface="Segoe UI"/>
              </a:rPr>
              <a:t>entran en el denominador</a:t>
            </a:r>
            <a:r>
              <a:rPr b="0" lang="en-US" sz="1070" spc="-1" strike="noStrike">
                <a:solidFill>
                  <a:srgbClr val="333f4c"/>
                </a:solidFill>
                <a:latin typeface="Segoe UI"/>
              </a:rPr>
              <a:t> con par cero: alargar la pausa reduce el par eficaz. Por eso un mismo movimiento puede ser válido a 20 ciclos/min y no serlo a 40.</a:t>
            </a:r>
            <a:endParaRPr b="0" lang="en-US" sz="107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1180" spc="-1" strike="noStrike">
                <a:solidFill>
                  <a:srgbClr val="1b5ea8"/>
                </a:solidFill>
                <a:latin typeface="Segoe UI Semibold"/>
              </a:rPr>
              <a:t>Criterios de aceptación</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Segoe UI"/>
              </a:rPr>
              <a:t>T_rms ≤ 0,8 × par nominal del motor → margen del 20 % para desgaste, suciedad, temperatura ambiente y variación de la carga.</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Segoe UI"/>
              </a:rPr>
              <a:t>T_pico ≤ 0,8 × par máximo del motor.</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20" spc="-1" strike="noStrike">
                <a:solidFill>
                  <a:srgbClr val="1c2430"/>
                </a:solidFill>
                <a:latin typeface="Segoe UI"/>
              </a:rPr>
              <a:t>n_máx del ciclo ≤ 0,9 × velocidad máxima del motor, y siempre dentro de la curva par-velocidad a la tensión mínima de red.</a:t>
            </a:r>
            <a:endParaRPr b="0" lang="en-US" sz="122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1180" spc="-1" strike="noStrike">
                <a:solidFill>
                  <a:srgbClr val="1b5ea8"/>
                </a:solidFill>
                <a:latin typeface="Segoe UI Semibold"/>
              </a:rPr>
              <a:t>Correcciones que suelen olvidarse</a:t>
            </a:r>
            <a:endParaRPr b="0" lang="en-US" sz="118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70" spc="-1" strike="noStrike">
                <a:solidFill>
                  <a:srgbClr val="333f4c"/>
                </a:solidFill>
                <a:latin typeface="Segoe UI"/>
              </a:rPr>
              <a:t>Temperatura ambiente elevada dentro del armario o junto a la máquina.</a:t>
            </a:r>
            <a:endParaRPr b="0" lang="en-US" sz="10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70" spc="-1" strike="noStrike">
                <a:solidFill>
                  <a:srgbClr val="333f4c"/>
                </a:solidFill>
                <a:latin typeface="Segoe UI"/>
              </a:rPr>
              <a:t>Altitud superior a 1.000 m (menor capacidad de refrigeración).</a:t>
            </a:r>
            <a:endParaRPr b="0" lang="en-US" sz="10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70" spc="-1" strike="noStrike">
                <a:solidFill>
                  <a:srgbClr val="333f4c"/>
                </a:solidFill>
                <a:latin typeface="Segoe UI"/>
              </a:rPr>
              <a:t>Motor con freno o con reductor montado: más inercia y más pérdidas.</a:t>
            </a:r>
            <a:endParaRPr b="0" lang="en-US" sz="10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1"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32"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833"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Ejemplo completo (1/2) — Datos y cálculo cinemático</a:t>
            </a:r>
            <a:endParaRPr b="0" lang="en-US" sz="2500" spc="-1" strike="noStrike">
              <a:solidFill>
                <a:srgbClr val="000000"/>
              </a:solidFill>
              <a:latin typeface="Arial"/>
            </a:endParaRPr>
          </a:p>
        </p:txBody>
      </p:sp>
      <p:sp>
        <p:nvSpPr>
          <p:cNvPr id="834"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Eje horizontal con husillo de bolas, 400 kg, 600 mm en 1 s</a:t>
            </a:r>
            <a:endParaRPr b="0" lang="en-US" sz="1250" spc="-1" strike="noStrike">
              <a:solidFill>
                <a:srgbClr val="000000"/>
              </a:solidFill>
              <a:latin typeface="Arial"/>
            </a:endParaRPr>
          </a:p>
        </p:txBody>
      </p:sp>
      <p:sp>
        <p:nvSpPr>
          <p:cNvPr id="835"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04</a:t>
            </a:r>
            <a:endParaRPr b="0" lang="en-US" sz="1100" spc="-1" strike="noStrike">
              <a:solidFill>
                <a:srgbClr val="000000"/>
              </a:solidFill>
              <a:latin typeface="Arial"/>
            </a:endParaRPr>
          </a:p>
        </p:txBody>
      </p:sp>
      <p:sp>
        <p:nvSpPr>
          <p:cNvPr id="836"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837"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46</a:t>
            </a:r>
            <a:endParaRPr b="0" lang="en-US" sz="900" spc="-1" strike="noStrike">
              <a:solidFill>
                <a:srgbClr val="000000"/>
              </a:solidFill>
              <a:latin typeface="Arial"/>
            </a:endParaRPr>
          </a:p>
        </p:txBody>
      </p:sp>
      <p:graphicFrame>
        <p:nvGraphicFramePr>
          <p:cNvPr id="838" name="Table 8"/>
          <p:cNvGraphicFramePr/>
          <p:nvPr/>
        </p:nvGraphicFramePr>
        <p:xfrm>
          <a:off x="567000" y="1481400"/>
          <a:ext cx="11057400" cy="4462200"/>
        </p:xfrm>
        <a:graphic>
          <a:graphicData uri="http://schemas.openxmlformats.org/drawingml/2006/table">
            <a:tbl>
              <a:tblPr/>
              <a:tblGrid>
                <a:gridCol w="2467440"/>
                <a:gridCol w="5391720"/>
                <a:gridCol w="319824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Paso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Cálculo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Resultado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Segoe UI"/>
                        </a:rPr>
                        <a:t>Perfil de movimiento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Trapezoidal simétrico: t_acel = t_decel = 0,25 s, t_const = 0,5 s, t_mov = 1,0 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Segoe UI"/>
                        </a:rPr>
                        <a:t>Velocidad lineal máxima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v = s / (t_mov − t_acel) = 0,6 / 0,75</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0,8 m/s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Segoe UI"/>
                        </a:rPr>
                        <a:t>Aceleración lineal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 = v / t_acel = 0,8 / 0,25</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3,2 m/s²</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Segoe UI"/>
                        </a:rPr>
                        <a:t>Velocidad del motor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n = v / p × 60 = 0,8 / 0,020 × 60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2.400 rpm</a:t>
                      </a:r>
                      <a:r>
                        <a:rPr b="0" lang="en-US" sz="950" spc="-1" strike="noStrike">
                          <a:solidFill>
                            <a:srgbClr val="1c2430"/>
                          </a:solidFill>
                          <a:latin typeface="Segoe UI"/>
                        </a:rPr>
                        <a:t> (&lt; 3.000 ✔)</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Segoe UI"/>
                        </a:rPr>
                        <a:t>Aceleración angular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α = 2π·n/60 / t_acel = 251,3 / 0,25</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1.005 rad/s²</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Segoe UI"/>
                        </a:rPr>
                        <a:t>Inercia de la masa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J₁ = m·(p/2π)² = 400 × (0,020/6,2832)²</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40,5 × 10⁻⁴ kg·m²</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Segoe UI"/>
                        </a:rPr>
                        <a:t>Inercia del husillo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m_h = ρ·π·r²·L = 14,8 kg → J₂ = ½·m_h·r² = ½ × 14,8 × 0,02²</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29,6 × 10⁻⁴ kg·m²</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Segoe UI"/>
                        </a:rPr>
                        <a:t>Acoplamiento (catálogo)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J₃</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2,0 × 10⁻⁴ kg·m²</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Segoe UI"/>
                        </a:rPr>
                        <a:t>Inercia total de carga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J_L = J₁ + J₂ + J₃</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72,1 × 10⁻⁴ kg·m²</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Segoe UI"/>
                        </a:rPr>
                        <a:t>Relación de inercias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R = J_L / J_rotor (≈ 19 × 10⁻⁴ kg·m² para el SGMXA-30A)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 </a:t>
                      </a:r>
                      <a:r>
                        <a:rPr b="1" lang="en-US" sz="950" spc="-1" strike="noStrike">
                          <a:solidFill>
                            <a:srgbClr val="1c2430"/>
                          </a:solidFill>
                          <a:latin typeface="Segoe UI"/>
                        </a:rPr>
                        <a:t>3,8 : 1 ✔ zona cómoda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
        <p:nvSpPr>
          <p:cNvPr id="839"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La inercia del rotor es un valor de catálogo que depende de la variante exacta del motor (con o sin freno): confírmala antes de dar el cálculo por bueno.</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0"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41"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842" name="TextBox 3"/>
          <p:cNvSpPr/>
          <p:nvPr/>
        </p:nvSpPr>
        <p:spPr>
          <a:xfrm>
            <a:off x="567000" y="182880"/>
            <a:ext cx="8954280" cy="3463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270" spc="-1" strike="noStrike">
                <a:solidFill>
                  <a:srgbClr val="ffffff"/>
                </a:solidFill>
                <a:latin typeface="Segoe UI Semibold"/>
              </a:rPr>
              <a:t>Ejemplo completo (2/2) — Par, verificación y regeneración</a:t>
            </a:r>
            <a:endParaRPr b="0" lang="en-US" sz="2270" spc="-1" strike="noStrike">
              <a:solidFill>
                <a:srgbClr val="000000"/>
              </a:solidFill>
              <a:latin typeface="Arial"/>
            </a:endParaRPr>
          </a:p>
        </p:txBody>
      </p:sp>
      <p:sp>
        <p:nvSpPr>
          <p:cNvPr id="843"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Conclusión: el conjunto SGDXS-200A00A + SGMXA-30A es adecuado</a:t>
            </a:r>
            <a:endParaRPr b="0" lang="en-US" sz="1250" spc="-1" strike="noStrike">
              <a:solidFill>
                <a:srgbClr val="000000"/>
              </a:solidFill>
              <a:latin typeface="Arial"/>
            </a:endParaRPr>
          </a:p>
        </p:txBody>
      </p:sp>
      <p:sp>
        <p:nvSpPr>
          <p:cNvPr id="844"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04</a:t>
            </a:r>
            <a:endParaRPr b="0" lang="en-US" sz="1100" spc="-1" strike="noStrike">
              <a:solidFill>
                <a:srgbClr val="000000"/>
              </a:solidFill>
              <a:latin typeface="Arial"/>
            </a:endParaRPr>
          </a:p>
        </p:txBody>
      </p:sp>
      <p:sp>
        <p:nvSpPr>
          <p:cNvPr id="845"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846"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47</a:t>
            </a:r>
            <a:endParaRPr b="0" lang="en-US" sz="900" spc="-1" strike="noStrike">
              <a:solidFill>
                <a:srgbClr val="000000"/>
              </a:solidFill>
              <a:latin typeface="Arial"/>
            </a:endParaRPr>
          </a:p>
        </p:txBody>
      </p:sp>
      <p:graphicFrame>
        <p:nvGraphicFramePr>
          <p:cNvPr id="847" name="Table 8"/>
          <p:cNvGraphicFramePr/>
          <p:nvPr/>
        </p:nvGraphicFramePr>
        <p:xfrm>
          <a:off x="567000" y="1481400"/>
          <a:ext cx="11057400" cy="4461840"/>
        </p:xfrm>
        <a:graphic>
          <a:graphicData uri="http://schemas.openxmlformats.org/drawingml/2006/table">
            <a:tbl>
              <a:tblPr/>
              <a:tblGrid>
                <a:gridCol w="2649960"/>
                <a:gridCol w="5483160"/>
                <a:gridCol w="292428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Paso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Cálculo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Resultado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374040">
                <a:tc>
                  <a:txBody>
                    <a:bodyPr lIns="82080" rIns="82080" tIns="27360" bIns="27360" anchor="ctr">
                      <a:noAutofit/>
                    </a:bodyPr>
                    <a:p>
                      <a:pPr defTabSz="457200">
                        <a:lnSpc>
                          <a:spcPct val="100000"/>
                        </a:lnSpc>
                      </a:pPr>
                      <a:r>
                        <a:rPr b="0" lang="en-US" sz="950" spc="-1" strike="noStrike">
                          <a:solidFill>
                            <a:srgbClr val="1c2430"/>
                          </a:solidFill>
                          <a:latin typeface="Segoe UI"/>
                        </a:rPr>
                        <a:t>Par de fricción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 = μ·m·g = 0,05 × 400 × 9,81 = 196 N → T_f = F·p/(2π·η) + precarga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 </a:t>
                      </a:r>
                      <a:r>
                        <a:rPr b="1" lang="en-US" sz="950" spc="-1" strike="noStrike">
                          <a:solidFill>
                            <a:srgbClr val="1c2430"/>
                          </a:solidFill>
                          <a:latin typeface="Segoe UI"/>
                        </a:rPr>
                        <a:t>1,0 N·m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040">
                <a:tc>
                  <a:txBody>
                    <a:bodyPr lIns="82080" rIns="82080" tIns="27360" bIns="27360" anchor="ctr">
                      <a:noAutofit/>
                    </a:bodyPr>
                    <a:p>
                      <a:pPr defTabSz="457200">
                        <a:lnSpc>
                          <a:spcPct val="100000"/>
                        </a:lnSpc>
                      </a:pPr>
                      <a:r>
                        <a:rPr b="0" lang="en-US" sz="950" spc="-1" strike="noStrike">
                          <a:solidFill>
                            <a:srgbClr val="1c2430"/>
                          </a:solidFill>
                          <a:latin typeface="Segoe UI"/>
                        </a:rPr>
                        <a:t>Par de aceleración de la carga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 = J_L·α/η = 72,1e-4 × 1005 / 0,9</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8,05 N·m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040">
                <a:tc>
                  <a:txBody>
                    <a:bodyPr lIns="82080" rIns="82080" tIns="27360" bIns="27360" anchor="ctr">
                      <a:noAutofit/>
                    </a:bodyPr>
                    <a:p>
                      <a:pPr defTabSz="457200">
                        <a:lnSpc>
                          <a:spcPct val="100000"/>
                        </a:lnSpc>
                      </a:pPr>
                      <a:r>
                        <a:rPr b="0" lang="en-US" sz="950" spc="-1" strike="noStrike">
                          <a:solidFill>
                            <a:srgbClr val="1c2430"/>
                          </a:solidFill>
                          <a:latin typeface="Segoe UI"/>
                        </a:rPr>
                        <a:t>Par de aceleración del rotor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 = J_rotor·α = 19e-4 × 1005</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1,91 N·m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040">
                <a:tc>
                  <a:txBody>
                    <a:bodyPr lIns="82080" rIns="82080" tIns="27360" bIns="27360" anchor="ctr">
                      <a:noAutofit/>
                    </a:bodyPr>
                    <a:p>
                      <a:pPr defTabSz="457200">
                        <a:lnSpc>
                          <a:spcPct val="100000"/>
                        </a:lnSpc>
                      </a:pPr>
                      <a:r>
                        <a:rPr b="1" lang="en-US" sz="950" spc="-1" strike="noStrike">
                          <a:solidFill>
                            <a:srgbClr val="1c2430"/>
                          </a:solidFill>
                          <a:latin typeface="Segoe UI"/>
                        </a:rPr>
                        <a:t>Par pico (aceleración)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T_pico = 8,05 + 1,91 + 1,0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 </a:t>
                      </a:r>
                      <a:r>
                        <a:rPr b="1" lang="en-US" sz="950" spc="-1" strike="noStrike">
                          <a:solidFill>
                            <a:srgbClr val="1c2430"/>
                          </a:solidFill>
                          <a:latin typeface="Segoe UI"/>
                        </a:rPr>
                        <a:t>10,95 N·m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040">
                <a:tc>
                  <a:txBody>
                    <a:bodyPr lIns="82080" rIns="82080" tIns="27360" bIns="27360" anchor="ctr">
                      <a:noAutofit/>
                    </a:bodyPr>
                    <a:p>
                      <a:pPr defTabSz="457200">
                        <a:lnSpc>
                          <a:spcPct val="100000"/>
                        </a:lnSpc>
                      </a:pPr>
                      <a:r>
                        <a:rPr b="0" lang="en-US" sz="950" spc="-1" strike="noStrike">
                          <a:solidFill>
                            <a:srgbClr val="1c2430"/>
                          </a:solidFill>
                          <a:latin typeface="Segoe UI"/>
                        </a:rPr>
                        <a:t>Par a velocidad constante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Sólo fricción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 </a:t>
                      </a:r>
                      <a:r>
                        <a:rPr b="1" lang="en-US" sz="950" spc="-1" strike="noStrike">
                          <a:solidFill>
                            <a:srgbClr val="1c2430"/>
                          </a:solidFill>
                          <a:latin typeface="Segoe UI"/>
                        </a:rPr>
                        <a:t>1,0 N·m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040">
                <a:tc>
                  <a:txBody>
                    <a:bodyPr lIns="82080" rIns="82080" tIns="27360" bIns="27360" anchor="ctr">
                      <a:noAutofit/>
                    </a:bodyPr>
                    <a:p>
                      <a:pPr defTabSz="457200">
                        <a:lnSpc>
                          <a:spcPct val="100000"/>
                        </a:lnSpc>
                      </a:pPr>
                      <a:r>
                        <a:rPr b="0" lang="en-US" sz="950" spc="-1" strike="noStrike">
                          <a:solidFill>
                            <a:srgbClr val="1c2430"/>
                          </a:solidFill>
                          <a:latin typeface="Segoe UI"/>
                        </a:rPr>
                        <a:t>Par de deceleración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 = −(8,05 + 1,91) + 1,0 (la fricción ayuda)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 −</a:t>
                      </a:r>
                      <a:r>
                        <a:rPr b="1" lang="en-US" sz="950" spc="-1" strike="noStrike">
                          <a:solidFill>
                            <a:srgbClr val="1c2430"/>
                          </a:solidFill>
                          <a:latin typeface="Segoe UI"/>
                        </a:rPr>
                        <a:t>8,96 N·m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040">
                <a:tc>
                  <a:txBody>
                    <a:bodyPr lIns="82080" rIns="82080" tIns="27360" bIns="27360" anchor="ctr">
                      <a:noAutofit/>
                    </a:bodyPr>
                    <a:p>
                      <a:pPr defTabSz="457200">
                        <a:lnSpc>
                          <a:spcPct val="100000"/>
                        </a:lnSpc>
                      </a:pPr>
                      <a:r>
                        <a:rPr b="1" lang="en-US" sz="950" spc="-1" strike="noStrike">
                          <a:solidFill>
                            <a:srgbClr val="1c2430"/>
                          </a:solidFill>
                          <a:latin typeface="Segoe UI"/>
                        </a:rPr>
                        <a:t>Par eficaz del ciclo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T_rms = √[(10,95²×0,25 + 1,0²×0,5 + 8,96²×0,25) / 2,5]</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 </a:t>
                      </a:r>
                      <a:r>
                        <a:rPr b="1" lang="en-US" sz="950" spc="-1" strike="noStrike">
                          <a:solidFill>
                            <a:srgbClr val="1c2430"/>
                          </a:solidFill>
                          <a:latin typeface="Segoe UI"/>
                        </a:rPr>
                        <a:t>4,5 N·m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040">
                <a:tc>
                  <a:txBody>
                    <a:bodyPr lIns="82080" rIns="82080" tIns="27360" bIns="27360" anchor="ctr">
                      <a:noAutofit/>
                    </a:bodyPr>
                    <a:p>
                      <a:pPr defTabSz="457200">
                        <a:lnSpc>
                          <a:spcPct val="100000"/>
                        </a:lnSpc>
                      </a:pPr>
                      <a:r>
                        <a:rPr b="0" lang="en-US" sz="950" spc="-1" strike="noStrike">
                          <a:solidFill>
                            <a:srgbClr val="1c2430"/>
                          </a:solidFill>
                          <a:latin typeface="Segoe UI"/>
                        </a:rPr>
                        <a:t>Verificación continua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4,5 N·m frente a 9,55 N·m nominales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47 % ✔ margen amplio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040">
                <a:tc>
                  <a:txBody>
                    <a:bodyPr lIns="82080" rIns="82080" tIns="27360" bIns="27360" anchor="ctr">
                      <a:noAutofit/>
                    </a:bodyPr>
                    <a:p>
                      <a:pPr defTabSz="457200">
                        <a:lnSpc>
                          <a:spcPct val="100000"/>
                        </a:lnSpc>
                      </a:pPr>
                      <a:r>
                        <a:rPr b="0" lang="en-US" sz="950" spc="-1" strike="noStrike">
                          <a:solidFill>
                            <a:srgbClr val="1c2430"/>
                          </a:solidFill>
                          <a:latin typeface="Segoe UI"/>
                        </a:rPr>
                        <a:t>Verificación de pico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10,95 N·m frente a ≈ 28,6 N·m máximos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38 % ✔</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040">
                <a:tc>
                  <a:txBody>
                    <a:bodyPr lIns="82080" rIns="82080" tIns="27360" bIns="27360" anchor="ctr">
                      <a:noAutofit/>
                    </a:bodyPr>
                    <a:p>
                      <a:pPr defTabSz="457200">
                        <a:lnSpc>
                          <a:spcPct val="100000"/>
                        </a:lnSpc>
                      </a:pPr>
                      <a:r>
                        <a:rPr b="0" lang="en-US" sz="950" spc="-1" strike="noStrike">
                          <a:solidFill>
                            <a:srgbClr val="1c2430"/>
                          </a:solidFill>
                          <a:latin typeface="Segoe UI"/>
                        </a:rPr>
                        <a:t>Energía cinética a frenar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 = ½·J_total·ω² = ½ × 91e-4 × 251,3²</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 </a:t>
                      </a:r>
                      <a:r>
                        <a:rPr b="1" lang="en-US" sz="950" spc="-1" strike="noStrike">
                          <a:solidFill>
                            <a:srgbClr val="1c2430"/>
                          </a:solidFill>
                          <a:latin typeface="Segoe UI"/>
                        </a:rPr>
                        <a:t>288 J por frenado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040">
                <a:tc>
                  <a:txBody>
                    <a:bodyPr lIns="82080" rIns="82080" tIns="27360" bIns="27360" anchor="ctr">
                      <a:noAutofit/>
                    </a:bodyPr>
                    <a:p>
                      <a:pPr defTabSz="457200">
                        <a:lnSpc>
                          <a:spcPct val="100000"/>
                        </a:lnSpc>
                      </a:pPr>
                      <a:r>
                        <a:rPr b="0" lang="en-US" sz="950" spc="-1" strike="noStrike">
                          <a:solidFill>
                            <a:srgbClr val="1c2430"/>
                          </a:solidFill>
                          <a:latin typeface="Segoe UI"/>
                        </a:rPr>
                        <a:t>Potencia media de regeneración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Descontando fricción y pérdidas (≈ 60 %) y repartido en 2,5 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 </a:t>
                      </a:r>
                      <a:r>
                        <a:rPr b="1" lang="en-US" sz="950" spc="-1" strike="noStrike">
                          <a:solidFill>
                            <a:srgbClr val="1c2430"/>
                          </a:solidFill>
                          <a:latin typeface="Segoe UI"/>
                        </a:rPr>
                        <a:t>70 W → resistencia interna suficiente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848"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Los porcentajes de utilización (47 % continuo y 38 % de pico) indican que incluso podría estudiarse un motor menor; conviene comprobar antes la relación de inercias resultante.</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5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851"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Regeneración: cuándo hace falta resistencia externa</a:t>
            </a:r>
            <a:endParaRPr b="0" lang="en-US" sz="2500" spc="-1" strike="noStrike">
              <a:solidFill>
                <a:srgbClr val="000000"/>
              </a:solidFill>
              <a:latin typeface="Arial"/>
            </a:endParaRPr>
          </a:p>
        </p:txBody>
      </p:sp>
      <p:sp>
        <p:nvSpPr>
          <p:cNvPr id="85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Qué hacer con la energía que devuelve el motor</a:t>
            </a:r>
            <a:endParaRPr b="0" lang="en-US" sz="1250" spc="-1" strike="noStrike">
              <a:solidFill>
                <a:srgbClr val="000000"/>
              </a:solidFill>
              <a:latin typeface="Arial"/>
            </a:endParaRPr>
          </a:p>
        </p:txBody>
      </p:sp>
      <p:sp>
        <p:nvSpPr>
          <p:cNvPr id="85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04</a:t>
            </a:r>
            <a:endParaRPr b="0" lang="en-US" sz="1100" spc="-1" strike="noStrike">
              <a:solidFill>
                <a:srgbClr val="000000"/>
              </a:solidFill>
              <a:latin typeface="Arial"/>
            </a:endParaRPr>
          </a:p>
        </p:txBody>
      </p:sp>
      <p:sp>
        <p:nvSpPr>
          <p:cNvPr id="85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85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48</a:t>
            </a:r>
            <a:endParaRPr b="0" lang="en-US" sz="900" spc="-1" strike="noStrike">
              <a:solidFill>
                <a:srgbClr val="000000"/>
              </a:solidFill>
              <a:latin typeface="Arial"/>
            </a:endParaRPr>
          </a:p>
        </p:txBody>
      </p:sp>
      <p:sp>
        <p:nvSpPr>
          <p:cNvPr id="856" name="Rectangle 8"/>
          <p:cNvSpPr/>
          <p:nvPr/>
        </p:nvSpPr>
        <p:spPr>
          <a:xfrm>
            <a:off x="567000" y="1481400"/>
            <a:ext cx="5373000" cy="48459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57" name="Rectangle 9"/>
          <p:cNvSpPr/>
          <p:nvPr/>
        </p:nvSpPr>
        <p:spPr>
          <a:xfrm>
            <a:off x="567000" y="1481400"/>
            <a:ext cx="5373000" cy="42012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58"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Cuándo la interna no basta</a:t>
            </a:r>
            <a:endParaRPr b="0" lang="en-US" sz="1350" spc="-1" strike="noStrike">
              <a:solidFill>
                <a:srgbClr val="000000"/>
              </a:solidFill>
              <a:latin typeface="Arial"/>
            </a:endParaRPr>
          </a:p>
        </p:txBody>
      </p:sp>
      <p:sp>
        <p:nvSpPr>
          <p:cNvPr id="859" name="TextBox 11"/>
          <p:cNvSpPr/>
          <p:nvPr/>
        </p:nvSpPr>
        <p:spPr>
          <a:xfrm>
            <a:off x="768240" y="2048400"/>
            <a:ext cx="4970880" cy="258804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Ejes verticales que bajan con carga: la gravedad inyecta energía durante todo el descenso.</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Grandes inercias que frenan con frecuencia: volantes, bobinas, mesas rotativas pesadas.</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Ciclos muy rápidos: aunque cada frenado devuelva poca energía, la potencia media se acumula.</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Frenados de emergencia repetidos desde velocidad máxima.</a:t>
            </a:r>
            <a:endParaRPr b="0" lang="en-US" sz="13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200" spc="-1" strike="noStrike">
                <a:solidFill>
                  <a:srgbClr val="333f4c"/>
                </a:solidFill>
                <a:latin typeface="Segoe UI"/>
              </a:rPr>
              <a:t>Síntoma inequívoco: alarma </a:t>
            </a:r>
            <a:r>
              <a:rPr b="0" lang="en-US" sz="1200" spc="-1" strike="noStrike">
                <a:solidFill>
                  <a:srgbClr val="333f4c"/>
                </a:solidFill>
                <a:latin typeface="Consolas"/>
              </a:rPr>
              <a:t>A.400</a:t>
            </a:r>
            <a:r>
              <a:rPr b="0" lang="en-US" sz="1200" spc="-1" strike="noStrike">
                <a:solidFill>
                  <a:srgbClr val="333f4c"/>
                </a:solidFill>
                <a:latin typeface="Segoe UI"/>
              </a:rPr>
              <a:t> (sobretensión) al frenar, o </a:t>
            </a:r>
            <a:r>
              <a:rPr b="0" lang="en-US" sz="1200" spc="-1" strike="noStrike">
                <a:solidFill>
                  <a:srgbClr val="333f4c"/>
                </a:solidFill>
                <a:latin typeface="Consolas"/>
              </a:rPr>
              <a:t>A.320</a:t>
            </a:r>
            <a:r>
              <a:rPr b="0" lang="en-US" sz="1200" spc="-1" strike="noStrike">
                <a:solidFill>
                  <a:srgbClr val="333f4c"/>
                </a:solidFill>
                <a:latin typeface="Segoe UI"/>
              </a:rPr>
              <a:t> (sobrecarga de regeneración).</a:t>
            </a:r>
            <a:endParaRPr b="0" lang="en-US" sz="1200" spc="-1" strike="noStrike">
              <a:solidFill>
                <a:srgbClr val="000000"/>
              </a:solidFill>
              <a:latin typeface="Arial"/>
            </a:endParaRPr>
          </a:p>
        </p:txBody>
      </p:sp>
      <p:sp>
        <p:nvSpPr>
          <p:cNvPr id="860" name="Rectangle 12"/>
          <p:cNvSpPr/>
          <p:nvPr/>
        </p:nvSpPr>
        <p:spPr>
          <a:xfrm>
            <a:off x="6251400" y="1481400"/>
            <a:ext cx="5373000" cy="48459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61" name="Rectangle 13"/>
          <p:cNvSpPr/>
          <p:nvPr/>
        </p:nvSpPr>
        <p:spPr>
          <a:xfrm>
            <a:off x="6251400" y="1481400"/>
            <a:ext cx="5373000" cy="42012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62"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Cómo se resuelve</a:t>
            </a:r>
            <a:endParaRPr b="0" lang="en-US" sz="1350" spc="-1" strike="noStrike">
              <a:solidFill>
                <a:srgbClr val="000000"/>
              </a:solidFill>
              <a:latin typeface="Arial"/>
            </a:endParaRPr>
          </a:p>
        </p:txBody>
      </p:sp>
      <p:sp>
        <p:nvSpPr>
          <p:cNvPr id="863" name="TextBox 15"/>
          <p:cNvSpPr/>
          <p:nvPr/>
        </p:nvSpPr>
        <p:spPr>
          <a:xfrm>
            <a:off x="6452640" y="2048400"/>
            <a:ext cx="4970880" cy="396792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Retirar el puente </a:t>
            </a:r>
            <a:r>
              <a:rPr b="1" lang="en-US" sz="1350" spc="-1" strike="noStrike">
                <a:solidFill>
                  <a:srgbClr val="1c2430"/>
                </a:solidFill>
                <a:latin typeface="Consolas"/>
              </a:rPr>
              <a:t>B2</a:t>
            </a:r>
            <a:r>
              <a:rPr b="1" lang="en-US" sz="1350" spc="-1" strike="noStrike">
                <a:solidFill>
                  <a:srgbClr val="1c2430"/>
                </a:solidFill>
                <a:latin typeface="Segoe UI"/>
              </a:rPr>
              <a:t>-</a:t>
            </a:r>
            <a:r>
              <a:rPr b="1" lang="en-US" sz="1350" spc="-1" strike="noStrike">
                <a:solidFill>
                  <a:srgbClr val="1c2430"/>
                </a:solidFill>
                <a:latin typeface="Consolas"/>
              </a:rPr>
              <a:t>B3</a:t>
            </a:r>
            <a:r>
              <a:rPr b="1" lang="en-US" sz="1350" spc="-1" strike="noStrike">
                <a:solidFill>
                  <a:srgbClr val="1c2430"/>
                </a:solidFill>
                <a:latin typeface="Segoe UI"/>
              </a:rPr>
              <a:t> y conectar la resistencia externa entre </a:t>
            </a:r>
            <a:r>
              <a:rPr b="1" lang="en-US" sz="1350" spc="-1" strike="noStrike">
                <a:solidFill>
                  <a:srgbClr val="1c2430"/>
                </a:solidFill>
                <a:latin typeface="Consolas"/>
              </a:rPr>
              <a:t>B1/⊕</a:t>
            </a:r>
            <a:r>
              <a:rPr b="1" lang="en-US" sz="1350" spc="-1" strike="noStrike">
                <a:solidFill>
                  <a:srgbClr val="1c2430"/>
                </a:solidFill>
                <a:latin typeface="Segoe UI"/>
              </a:rPr>
              <a:t> y </a:t>
            </a:r>
            <a:r>
              <a:rPr b="1" lang="en-US" sz="1350" spc="-1" strike="noStrike">
                <a:solidFill>
                  <a:srgbClr val="1c2430"/>
                </a:solidFill>
                <a:latin typeface="Consolas"/>
              </a:rPr>
              <a:t>B2</a:t>
            </a:r>
            <a:r>
              <a:rPr b="1" lang="en-US" sz="1350" spc="-1" strike="noStrike">
                <a:solidFill>
                  <a:srgbClr val="1c2430"/>
                </a:solidFill>
                <a:latin typeface="Segoe UI"/>
              </a:rPr>
              <a:t>.</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Configurar la capacidad de la resistencia en el parámetro correspondiente (</a:t>
            </a:r>
            <a:r>
              <a:rPr b="1" lang="en-US" sz="1350" spc="-1" strike="noStrike">
                <a:solidFill>
                  <a:srgbClr val="1c2430"/>
                </a:solidFill>
                <a:latin typeface="Consolas"/>
              </a:rPr>
              <a:t>Pn600</a:t>
            </a:r>
            <a:r>
              <a:rPr b="1" lang="en-US" sz="1350" spc="-1" strike="noStrike">
                <a:solidFill>
                  <a:srgbClr val="1c2430"/>
                </a:solidFill>
                <a:latin typeface="Segoe UI"/>
              </a:rPr>
              <a:t>, capacidad de regeneración) para que el cálculo térmico del drive sea correcto.</a:t>
            </a:r>
            <a:endParaRPr b="0" lang="en-US" sz="13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200" spc="-1" strike="noStrike">
                <a:solidFill>
                  <a:srgbClr val="333f4c"/>
                </a:solidFill>
                <a:latin typeface="Segoe UI"/>
              </a:rPr>
              <a:t>Respetar la </a:t>
            </a:r>
            <a:r>
              <a:rPr b="1" lang="en-US" sz="1200" spc="-1" strike="noStrike">
                <a:solidFill>
                  <a:srgbClr val="333f4c"/>
                </a:solidFill>
                <a:latin typeface="Segoe UI"/>
              </a:rPr>
              <a:t>resistencia mínima admisible</a:t>
            </a:r>
            <a:r>
              <a:rPr b="0" lang="en-US" sz="1200" spc="-1" strike="noStrike">
                <a:solidFill>
                  <a:srgbClr val="333f4c"/>
                </a:solidFill>
                <a:latin typeface="Segoe UI"/>
              </a:rPr>
              <a:t> del amplificador: un valor menor daña el transistor de frenado.</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200" spc="-1" strike="noStrike">
                <a:solidFill>
                  <a:srgbClr val="333f4c"/>
                </a:solidFill>
                <a:latin typeface="Segoe UI"/>
              </a:rPr>
              <a:t>Montarla </a:t>
            </a:r>
            <a:r>
              <a:rPr b="1" lang="en-US" sz="1200" spc="-1" strike="noStrike">
                <a:solidFill>
                  <a:srgbClr val="333f4c"/>
                </a:solidFill>
                <a:latin typeface="Segoe UI"/>
              </a:rPr>
              <a:t>fuera del armario</a:t>
            </a:r>
            <a:r>
              <a:rPr b="0" lang="en-US" sz="1200" spc="-1" strike="noStrike">
                <a:solidFill>
                  <a:srgbClr val="333f4c"/>
                </a:solidFill>
                <a:latin typeface="Segoe UI"/>
              </a:rPr>
              <a:t> o con ventilación: disipa calor real y alcanza temperaturas altas.</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200" spc="-1" strike="noStrike">
                <a:solidFill>
                  <a:srgbClr val="333f4c"/>
                </a:solidFill>
                <a:latin typeface="Segoe UI"/>
              </a:rPr>
              <a:t>Prever </a:t>
            </a:r>
            <a:r>
              <a:rPr b="1" lang="en-US" sz="1200" spc="-1" strike="noStrike">
                <a:solidFill>
                  <a:srgbClr val="333f4c"/>
                </a:solidFill>
                <a:latin typeface="Segoe UI"/>
              </a:rPr>
              <a:t>termostato de seguridad</a:t>
            </a:r>
            <a:r>
              <a:rPr b="0" lang="en-US" sz="1200" spc="-1" strike="noStrike">
                <a:solidFill>
                  <a:srgbClr val="333f4c"/>
                </a:solidFill>
                <a:latin typeface="Segoe UI"/>
              </a:rPr>
              <a:t> en serie con el circuito de parada.</a:t>
            </a:r>
            <a:endParaRPr b="0" lang="en-US" sz="1200" spc="-1" strike="noStrike">
              <a:solidFill>
                <a:srgbClr val="000000"/>
              </a:solidFill>
              <a:latin typeface="Arial"/>
            </a:endParaRPr>
          </a:p>
          <a:p>
            <a:pPr defTabSz="457200">
              <a:lnSpc>
                <a:spcPct val="106000"/>
              </a:lnSpc>
              <a:spcBef>
                <a:spcPts val="799"/>
              </a:spcBef>
              <a:spcAft>
                <a:spcPts val="901"/>
              </a:spcAft>
              <a:tabLst>
                <a:tab algn="l" pos="0"/>
              </a:tabLst>
            </a:pPr>
            <a:r>
              <a:rPr b="1" lang="en-US" sz="1300" spc="-1" strike="noStrike">
                <a:solidFill>
                  <a:srgbClr val="1b5ea8"/>
                </a:solidFill>
                <a:latin typeface="Segoe UI Semibold"/>
              </a:rPr>
              <a:t>Alternativa</a:t>
            </a:r>
            <a:endParaRPr b="0" lang="en-US" sz="13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350" spc="-1" strike="noStrike">
                <a:solidFill>
                  <a:srgbClr val="1c2430"/>
                </a:solidFill>
                <a:latin typeface="Segoe UI"/>
              </a:rPr>
              <a:t>En ejes de gran potencia con regeneración continua, valorar una unidad de realimentación a red en lugar de quemar la energía.</a:t>
            </a:r>
            <a:endParaRPr b="0" lang="en-US" sz="1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6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86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Procedimiento de dimensionamiento en 8 pasos</a:t>
            </a:r>
            <a:endParaRPr b="0" lang="en-US" sz="2500" spc="-1" strike="noStrike">
              <a:solidFill>
                <a:srgbClr val="000000"/>
              </a:solidFill>
              <a:latin typeface="Arial"/>
            </a:endParaRPr>
          </a:p>
        </p:txBody>
      </p:sp>
      <p:sp>
        <p:nvSpPr>
          <p:cNvPr id="86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secuencia que hay que seguir siempre, en este orden</a:t>
            </a:r>
            <a:endParaRPr b="0" lang="en-US" sz="1250" spc="-1" strike="noStrike">
              <a:solidFill>
                <a:srgbClr val="000000"/>
              </a:solidFill>
              <a:latin typeface="Arial"/>
            </a:endParaRPr>
          </a:p>
        </p:txBody>
      </p:sp>
      <p:sp>
        <p:nvSpPr>
          <p:cNvPr id="86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04</a:t>
            </a:r>
            <a:endParaRPr b="0" lang="en-US" sz="1100" spc="-1" strike="noStrike">
              <a:solidFill>
                <a:srgbClr val="000000"/>
              </a:solidFill>
              <a:latin typeface="Arial"/>
            </a:endParaRPr>
          </a:p>
        </p:txBody>
      </p:sp>
      <p:sp>
        <p:nvSpPr>
          <p:cNvPr id="86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87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49</a:t>
            </a:r>
            <a:endParaRPr b="0" lang="en-US" sz="900" spc="-1" strike="noStrike">
              <a:solidFill>
                <a:srgbClr val="000000"/>
              </a:solidFill>
              <a:latin typeface="Arial"/>
            </a:endParaRPr>
          </a:p>
        </p:txBody>
      </p:sp>
      <p:sp>
        <p:nvSpPr>
          <p:cNvPr id="871" name="Rectangle 8"/>
          <p:cNvSpPr/>
          <p:nvPr/>
        </p:nvSpPr>
        <p:spPr>
          <a:xfrm>
            <a:off x="567000" y="1481400"/>
            <a:ext cx="11057400" cy="38952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72" name="Rectangle 9"/>
          <p:cNvSpPr/>
          <p:nvPr/>
        </p:nvSpPr>
        <p:spPr>
          <a:xfrm>
            <a:off x="567000" y="1481400"/>
            <a:ext cx="658080" cy="38952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73" name="TextBox 10"/>
          <p:cNvSpPr/>
          <p:nvPr/>
        </p:nvSpPr>
        <p:spPr>
          <a:xfrm>
            <a:off x="567000" y="155772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1</a:t>
            </a:r>
            <a:endParaRPr b="0" lang="en-US" sz="1550" spc="-1" strike="noStrike">
              <a:solidFill>
                <a:srgbClr val="000000"/>
              </a:solidFill>
              <a:latin typeface="Arial"/>
            </a:endParaRPr>
          </a:p>
        </p:txBody>
      </p:sp>
      <p:sp>
        <p:nvSpPr>
          <p:cNvPr id="874" name="TextBox 11"/>
          <p:cNvSpPr/>
          <p:nvPr/>
        </p:nvSpPr>
        <p:spPr>
          <a:xfrm>
            <a:off x="1435680" y="157284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Recoger los datos de la máquina</a:t>
            </a:r>
            <a:endParaRPr b="0" lang="en-US" sz="950" spc="-1" strike="noStrike">
              <a:solidFill>
                <a:srgbClr val="000000"/>
              </a:solidFill>
              <a:latin typeface="Arial"/>
            </a:endParaRPr>
          </a:p>
        </p:txBody>
      </p:sp>
      <p:sp>
        <p:nvSpPr>
          <p:cNvPr id="875" name="TextBox 12"/>
          <p:cNvSpPr/>
          <p:nvPr/>
        </p:nvSpPr>
        <p:spPr>
          <a:xfrm>
            <a:off x="1435680" y="1757160"/>
            <a:ext cx="9868680" cy="1195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Masa, recorrido, tiempos, transmisión, fricción, orientación y fuerza de proceso. Documenta las hipótesis.</a:t>
            </a:r>
            <a:endParaRPr b="0" lang="en-US" sz="750" spc="-1" strike="noStrike">
              <a:solidFill>
                <a:srgbClr val="000000"/>
              </a:solidFill>
              <a:latin typeface="Arial"/>
            </a:endParaRPr>
          </a:p>
        </p:txBody>
      </p:sp>
      <p:sp>
        <p:nvSpPr>
          <p:cNvPr id="876" name="Rectangle 13"/>
          <p:cNvSpPr/>
          <p:nvPr/>
        </p:nvSpPr>
        <p:spPr>
          <a:xfrm>
            <a:off x="567000" y="1980720"/>
            <a:ext cx="11057400" cy="38952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77" name="Rectangle 14"/>
          <p:cNvSpPr/>
          <p:nvPr/>
        </p:nvSpPr>
        <p:spPr>
          <a:xfrm>
            <a:off x="567000" y="1980720"/>
            <a:ext cx="658080" cy="38952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78" name="TextBox 15"/>
          <p:cNvSpPr/>
          <p:nvPr/>
        </p:nvSpPr>
        <p:spPr>
          <a:xfrm>
            <a:off x="567000" y="205704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2</a:t>
            </a:r>
            <a:endParaRPr b="0" lang="en-US" sz="1550" spc="-1" strike="noStrike">
              <a:solidFill>
                <a:srgbClr val="000000"/>
              </a:solidFill>
              <a:latin typeface="Arial"/>
            </a:endParaRPr>
          </a:p>
        </p:txBody>
      </p:sp>
      <p:sp>
        <p:nvSpPr>
          <p:cNvPr id="879" name="TextBox 16"/>
          <p:cNvSpPr/>
          <p:nvPr/>
        </p:nvSpPr>
        <p:spPr>
          <a:xfrm>
            <a:off x="1435680" y="207216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Definir el perfil de movimiento</a:t>
            </a:r>
            <a:endParaRPr b="0" lang="en-US" sz="950" spc="-1" strike="noStrike">
              <a:solidFill>
                <a:srgbClr val="000000"/>
              </a:solidFill>
              <a:latin typeface="Arial"/>
            </a:endParaRPr>
          </a:p>
        </p:txBody>
      </p:sp>
      <p:sp>
        <p:nvSpPr>
          <p:cNvPr id="880" name="TextBox 17"/>
          <p:cNvSpPr/>
          <p:nvPr/>
        </p:nvSpPr>
        <p:spPr>
          <a:xfrm>
            <a:off x="1435680" y="2256480"/>
            <a:ext cx="9868680" cy="1195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Trapezoidal o en S. Calcular velocidad máxima, aceleración y velocidad del motor.</a:t>
            </a:r>
            <a:endParaRPr b="0" lang="en-US" sz="750" spc="-1" strike="noStrike">
              <a:solidFill>
                <a:srgbClr val="000000"/>
              </a:solidFill>
              <a:latin typeface="Arial"/>
            </a:endParaRPr>
          </a:p>
        </p:txBody>
      </p:sp>
      <p:sp>
        <p:nvSpPr>
          <p:cNvPr id="881" name="Rectangle 18"/>
          <p:cNvSpPr/>
          <p:nvPr/>
        </p:nvSpPr>
        <p:spPr>
          <a:xfrm>
            <a:off x="567000" y="2480400"/>
            <a:ext cx="11057400" cy="38952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82" name="Rectangle 19"/>
          <p:cNvSpPr/>
          <p:nvPr/>
        </p:nvSpPr>
        <p:spPr>
          <a:xfrm>
            <a:off x="567000" y="2480400"/>
            <a:ext cx="658080" cy="38952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83" name="TextBox 20"/>
          <p:cNvSpPr/>
          <p:nvPr/>
        </p:nvSpPr>
        <p:spPr>
          <a:xfrm>
            <a:off x="567000" y="255672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3</a:t>
            </a:r>
            <a:endParaRPr b="0" lang="en-US" sz="1550" spc="-1" strike="noStrike">
              <a:solidFill>
                <a:srgbClr val="000000"/>
              </a:solidFill>
              <a:latin typeface="Arial"/>
            </a:endParaRPr>
          </a:p>
        </p:txBody>
      </p:sp>
      <p:sp>
        <p:nvSpPr>
          <p:cNvPr id="884" name="TextBox 21"/>
          <p:cNvSpPr/>
          <p:nvPr/>
        </p:nvSpPr>
        <p:spPr>
          <a:xfrm>
            <a:off x="1435680" y="257184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Calcular la inercia reflejada</a:t>
            </a:r>
            <a:endParaRPr b="0" lang="en-US" sz="950" spc="-1" strike="noStrike">
              <a:solidFill>
                <a:srgbClr val="000000"/>
              </a:solidFill>
              <a:latin typeface="Arial"/>
            </a:endParaRPr>
          </a:p>
        </p:txBody>
      </p:sp>
      <p:sp>
        <p:nvSpPr>
          <p:cNvPr id="885" name="TextBox 22"/>
          <p:cNvSpPr/>
          <p:nvPr/>
        </p:nvSpPr>
        <p:spPr>
          <a:xfrm>
            <a:off x="1435680" y="2756160"/>
            <a:ext cx="9868680" cy="1195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Sumar carga, husillo, acoplamiento y transmisión, todo referido al eje del motor.</a:t>
            </a:r>
            <a:endParaRPr b="0" lang="en-US" sz="750" spc="-1" strike="noStrike">
              <a:solidFill>
                <a:srgbClr val="000000"/>
              </a:solidFill>
              <a:latin typeface="Arial"/>
            </a:endParaRPr>
          </a:p>
        </p:txBody>
      </p:sp>
      <p:sp>
        <p:nvSpPr>
          <p:cNvPr id="886" name="Rectangle 23"/>
          <p:cNvSpPr/>
          <p:nvPr/>
        </p:nvSpPr>
        <p:spPr>
          <a:xfrm>
            <a:off x="567000" y="2979720"/>
            <a:ext cx="11057400" cy="38952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87" name="Rectangle 24"/>
          <p:cNvSpPr/>
          <p:nvPr/>
        </p:nvSpPr>
        <p:spPr>
          <a:xfrm>
            <a:off x="567000" y="2979720"/>
            <a:ext cx="658080" cy="38952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88" name="TextBox 25"/>
          <p:cNvSpPr/>
          <p:nvPr/>
        </p:nvSpPr>
        <p:spPr>
          <a:xfrm>
            <a:off x="567000" y="305604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4</a:t>
            </a:r>
            <a:endParaRPr b="0" lang="en-US" sz="1550" spc="-1" strike="noStrike">
              <a:solidFill>
                <a:srgbClr val="000000"/>
              </a:solidFill>
              <a:latin typeface="Arial"/>
            </a:endParaRPr>
          </a:p>
        </p:txBody>
      </p:sp>
      <p:sp>
        <p:nvSpPr>
          <p:cNvPr id="889" name="TextBox 26"/>
          <p:cNvSpPr/>
          <p:nvPr/>
        </p:nvSpPr>
        <p:spPr>
          <a:xfrm>
            <a:off x="1435680" y="307116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Preseleccionar el motor</a:t>
            </a:r>
            <a:endParaRPr b="0" lang="en-US" sz="950" spc="-1" strike="noStrike">
              <a:solidFill>
                <a:srgbClr val="000000"/>
              </a:solidFill>
              <a:latin typeface="Arial"/>
            </a:endParaRPr>
          </a:p>
        </p:txBody>
      </p:sp>
      <p:sp>
        <p:nvSpPr>
          <p:cNvPr id="890" name="TextBox 27"/>
          <p:cNvSpPr/>
          <p:nvPr/>
        </p:nvSpPr>
        <p:spPr>
          <a:xfrm>
            <a:off x="1435680" y="3255480"/>
            <a:ext cx="9868680" cy="1195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Por par nominal ≈ par RMS estimado y por velocidad máxima. Comprobar la relación de inercias.</a:t>
            </a:r>
            <a:endParaRPr b="0" lang="en-US" sz="750" spc="-1" strike="noStrike">
              <a:solidFill>
                <a:srgbClr val="000000"/>
              </a:solidFill>
              <a:latin typeface="Arial"/>
            </a:endParaRPr>
          </a:p>
        </p:txBody>
      </p:sp>
      <p:sp>
        <p:nvSpPr>
          <p:cNvPr id="891" name="Rectangle 28"/>
          <p:cNvSpPr/>
          <p:nvPr/>
        </p:nvSpPr>
        <p:spPr>
          <a:xfrm>
            <a:off x="567000" y="3479400"/>
            <a:ext cx="11057400" cy="38952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92" name="Rectangle 29"/>
          <p:cNvSpPr/>
          <p:nvPr/>
        </p:nvSpPr>
        <p:spPr>
          <a:xfrm>
            <a:off x="567000" y="3479400"/>
            <a:ext cx="658080" cy="38952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93" name="TextBox 30"/>
          <p:cNvSpPr/>
          <p:nvPr/>
        </p:nvSpPr>
        <p:spPr>
          <a:xfrm>
            <a:off x="567000" y="355572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5</a:t>
            </a:r>
            <a:endParaRPr b="0" lang="en-US" sz="1550" spc="-1" strike="noStrike">
              <a:solidFill>
                <a:srgbClr val="000000"/>
              </a:solidFill>
              <a:latin typeface="Arial"/>
            </a:endParaRPr>
          </a:p>
        </p:txBody>
      </p:sp>
      <p:sp>
        <p:nvSpPr>
          <p:cNvPr id="894" name="TextBox 31"/>
          <p:cNvSpPr/>
          <p:nvPr/>
        </p:nvSpPr>
        <p:spPr>
          <a:xfrm>
            <a:off x="1435680" y="357084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Calcular los pares del ciclo</a:t>
            </a:r>
            <a:endParaRPr b="0" lang="en-US" sz="950" spc="-1" strike="noStrike">
              <a:solidFill>
                <a:srgbClr val="000000"/>
              </a:solidFill>
              <a:latin typeface="Arial"/>
            </a:endParaRPr>
          </a:p>
        </p:txBody>
      </p:sp>
      <p:sp>
        <p:nvSpPr>
          <p:cNvPr id="895" name="TextBox 32"/>
          <p:cNvSpPr/>
          <p:nvPr/>
        </p:nvSpPr>
        <p:spPr>
          <a:xfrm>
            <a:off x="1435680" y="3755160"/>
            <a:ext cx="9868680" cy="1195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Aceleración, régimen constante, deceleración y mantenimiento. Incluir fricción, gravedad y proceso.</a:t>
            </a:r>
            <a:endParaRPr b="0" lang="en-US" sz="750" spc="-1" strike="noStrike">
              <a:solidFill>
                <a:srgbClr val="000000"/>
              </a:solidFill>
              <a:latin typeface="Arial"/>
            </a:endParaRPr>
          </a:p>
        </p:txBody>
      </p:sp>
      <p:sp>
        <p:nvSpPr>
          <p:cNvPr id="896" name="Rectangle 33"/>
          <p:cNvSpPr/>
          <p:nvPr/>
        </p:nvSpPr>
        <p:spPr>
          <a:xfrm>
            <a:off x="567000" y="3978720"/>
            <a:ext cx="11057400" cy="38952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97" name="Rectangle 34"/>
          <p:cNvSpPr/>
          <p:nvPr/>
        </p:nvSpPr>
        <p:spPr>
          <a:xfrm>
            <a:off x="567000" y="3978720"/>
            <a:ext cx="658080" cy="38952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98" name="TextBox 35"/>
          <p:cNvSpPr/>
          <p:nvPr/>
        </p:nvSpPr>
        <p:spPr>
          <a:xfrm>
            <a:off x="567000" y="405504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6</a:t>
            </a:r>
            <a:endParaRPr b="0" lang="en-US" sz="1550" spc="-1" strike="noStrike">
              <a:solidFill>
                <a:srgbClr val="000000"/>
              </a:solidFill>
              <a:latin typeface="Arial"/>
            </a:endParaRPr>
          </a:p>
        </p:txBody>
      </p:sp>
      <p:sp>
        <p:nvSpPr>
          <p:cNvPr id="899" name="TextBox 36"/>
          <p:cNvSpPr/>
          <p:nvPr/>
        </p:nvSpPr>
        <p:spPr>
          <a:xfrm>
            <a:off x="1435680" y="407016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Verificar pico y RMS contra la curva</a:t>
            </a:r>
            <a:endParaRPr b="0" lang="en-US" sz="950" spc="-1" strike="noStrike">
              <a:solidFill>
                <a:srgbClr val="000000"/>
              </a:solidFill>
              <a:latin typeface="Arial"/>
            </a:endParaRPr>
          </a:p>
        </p:txBody>
      </p:sp>
      <p:sp>
        <p:nvSpPr>
          <p:cNvPr id="900" name="TextBox 37"/>
          <p:cNvSpPr/>
          <p:nvPr/>
        </p:nvSpPr>
        <p:spPr>
          <a:xfrm>
            <a:off x="1435680" y="4254480"/>
            <a:ext cx="9868680" cy="1195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T_pico ≤ 80 % del máximo y T_rms ≤ 80 % del nominal, a la tensión mínima de red.</a:t>
            </a:r>
            <a:endParaRPr b="0" lang="en-US" sz="750" spc="-1" strike="noStrike">
              <a:solidFill>
                <a:srgbClr val="000000"/>
              </a:solidFill>
              <a:latin typeface="Arial"/>
            </a:endParaRPr>
          </a:p>
        </p:txBody>
      </p:sp>
      <p:sp>
        <p:nvSpPr>
          <p:cNvPr id="901" name="Rectangle 38"/>
          <p:cNvSpPr/>
          <p:nvPr/>
        </p:nvSpPr>
        <p:spPr>
          <a:xfrm>
            <a:off x="567000" y="4478400"/>
            <a:ext cx="11057400" cy="38952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02" name="Rectangle 39"/>
          <p:cNvSpPr/>
          <p:nvPr/>
        </p:nvSpPr>
        <p:spPr>
          <a:xfrm>
            <a:off x="567000" y="4478400"/>
            <a:ext cx="658080" cy="38952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03" name="TextBox 40"/>
          <p:cNvSpPr/>
          <p:nvPr/>
        </p:nvSpPr>
        <p:spPr>
          <a:xfrm>
            <a:off x="567000" y="455472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7</a:t>
            </a:r>
            <a:endParaRPr b="0" lang="en-US" sz="1550" spc="-1" strike="noStrike">
              <a:solidFill>
                <a:srgbClr val="000000"/>
              </a:solidFill>
              <a:latin typeface="Arial"/>
            </a:endParaRPr>
          </a:p>
        </p:txBody>
      </p:sp>
      <p:sp>
        <p:nvSpPr>
          <p:cNvPr id="904" name="TextBox 41"/>
          <p:cNvSpPr/>
          <p:nvPr/>
        </p:nvSpPr>
        <p:spPr>
          <a:xfrm>
            <a:off x="1435680" y="456984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Comprobar la regeneración</a:t>
            </a:r>
            <a:endParaRPr b="0" lang="en-US" sz="950" spc="-1" strike="noStrike">
              <a:solidFill>
                <a:srgbClr val="000000"/>
              </a:solidFill>
              <a:latin typeface="Arial"/>
            </a:endParaRPr>
          </a:p>
        </p:txBody>
      </p:sp>
      <p:sp>
        <p:nvSpPr>
          <p:cNvPr id="905" name="TextBox 42"/>
          <p:cNvSpPr/>
          <p:nvPr/>
        </p:nvSpPr>
        <p:spPr>
          <a:xfrm>
            <a:off x="1435680" y="4754160"/>
            <a:ext cx="9868680" cy="1195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Energía por frenado y potencia media; decidir si hace falta resistencia externa.</a:t>
            </a:r>
            <a:endParaRPr b="0" lang="en-US" sz="750" spc="-1" strike="noStrike">
              <a:solidFill>
                <a:srgbClr val="000000"/>
              </a:solidFill>
              <a:latin typeface="Arial"/>
            </a:endParaRPr>
          </a:p>
        </p:txBody>
      </p:sp>
      <p:sp>
        <p:nvSpPr>
          <p:cNvPr id="906" name="Rectangle 43"/>
          <p:cNvSpPr/>
          <p:nvPr/>
        </p:nvSpPr>
        <p:spPr>
          <a:xfrm>
            <a:off x="567000" y="4977720"/>
            <a:ext cx="11057400" cy="38952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07" name="Rectangle 44"/>
          <p:cNvSpPr/>
          <p:nvPr/>
        </p:nvSpPr>
        <p:spPr>
          <a:xfrm>
            <a:off x="567000" y="4977720"/>
            <a:ext cx="658080" cy="38952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08" name="TextBox 45"/>
          <p:cNvSpPr/>
          <p:nvPr/>
        </p:nvSpPr>
        <p:spPr>
          <a:xfrm>
            <a:off x="567000" y="505404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8</a:t>
            </a:r>
            <a:endParaRPr b="0" lang="en-US" sz="1550" spc="-1" strike="noStrike">
              <a:solidFill>
                <a:srgbClr val="000000"/>
              </a:solidFill>
              <a:latin typeface="Arial"/>
            </a:endParaRPr>
          </a:p>
        </p:txBody>
      </p:sp>
      <p:sp>
        <p:nvSpPr>
          <p:cNvPr id="909" name="TextBox 46"/>
          <p:cNvSpPr/>
          <p:nvPr/>
        </p:nvSpPr>
        <p:spPr>
          <a:xfrm>
            <a:off x="1435680" y="506916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Documentar y validar en la puesta en marcha</a:t>
            </a:r>
            <a:endParaRPr b="0" lang="en-US" sz="950" spc="-1" strike="noStrike">
              <a:solidFill>
                <a:srgbClr val="000000"/>
              </a:solidFill>
              <a:latin typeface="Arial"/>
            </a:endParaRPr>
          </a:p>
        </p:txBody>
      </p:sp>
      <p:sp>
        <p:nvSpPr>
          <p:cNvPr id="910" name="TextBox 47"/>
          <p:cNvSpPr/>
          <p:nvPr/>
        </p:nvSpPr>
        <p:spPr>
          <a:xfrm>
            <a:off x="1435680" y="5253480"/>
            <a:ext cx="9868680" cy="1195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Guardar la hoja de cálculo y comparar después con el par real medido (</a:t>
            </a:r>
            <a:r>
              <a:rPr b="0" lang="en-US" sz="750" spc="-1" strike="noStrike">
                <a:solidFill>
                  <a:srgbClr val="3a4654"/>
                </a:solidFill>
                <a:latin typeface="Consolas"/>
              </a:rPr>
              <a:t>Un002</a:t>
            </a:r>
            <a:r>
              <a:rPr b="0" lang="en-US" sz="750" spc="-1" strike="noStrike">
                <a:solidFill>
                  <a:srgbClr val="3a4654"/>
                </a:solidFill>
                <a:latin typeface="Segoe UI"/>
              </a:rPr>
              <a:t>) y con la traza de SigmaWin+.</a:t>
            </a:r>
            <a:endParaRPr b="0" lang="en-US" sz="750" spc="-1" strike="noStrike">
              <a:solidFill>
                <a:srgbClr val="000000"/>
              </a:solidFill>
              <a:latin typeface="Arial"/>
            </a:endParaRPr>
          </a:p>
        </p:txBody>
      </p:sp>
      <p:sp>
        <p:nvSpPr>
          <p:cNvPr id="911" name="Rectangle 48"/>
          <p:cNvSpPr/>
          <p:nvPr/>
        </p:nvSpPr>
        <p:spPr>
          <a:xfrm>
            <a:off x="567000" y="5504760"/>
            <a:ext cx="11057400" cy="82260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12" name="Rectangle 49"/>
          <p:cNvSpPr/>
          <p:nvPr/>
        </p:nvSpPr>
        <p:spPr>
          <a:xfrm>
            <a:off x="567000" y="5504760"/>
            <a:ext cx="68400" cy="82260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13" name="TextBox 50"/>
          <p:cNvSpPr/>
          <p:nvPr/>
        </p:nvSpPr>
        <p:spPr>
          <a:xfrm>
            <a:off x="841320" y="564192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1b5ea8"/>
                </a:solidFill>
                <a:latin typeface="Segoe UI Semibold"/>
              </a:rPr>
              <a:t>Herramientas que ahorran tiempo</a:t>
            </a:r>
            <a:endParaRPr b="0" lang="en-US" sz="1200" spc="-1" strike="noStrike">
              <a:solidFill>
                <a:srgbClr val="000000"/>
              </a:solidFill>
              <a:latin typeface="Arial"/>
            </a:endParaRPr>
          </a:p>
        </p:txBody>
      </p:sp>
      <p:sp>
        <p:nvSpPr>
          <p:cNvPr id="914" name="TextBox 51"/>
          <p:cNvSpPr/>
          <p:nvPr/>
        </p:nvSpPr>
        <p:spPr>
          <a:xfrm>
            <a:off x="841320" y="591624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YASKAWA ofrece software de selección (familia SigmaSelect / SigmaSize) que automatiza estos cálculos y propone la combinación motor-drive. Úsalo, pero </a:t>
            </a:r>
            <a:r>
              <a:rPr b="1" lang="en-US" sz="1150" spc="-1" strike="noStrike">
                <a:solidFill>
                  <a:srgbClr val="2b3644"/>
                </a:solidFill>
                <a:latin typeface="Segoe UI"/>
              </a:rPr>
              <a:t>entiende primero el cálculo a mano</a:t>
            </a:r>
            <a:r>
              <a:rPr b="0" lang="en-US" sz="1150" spc="-1" strike="noStrike">
                <a:solidFill>
                  <a:srgbClr val="2b3644"/>
                </a:solidFill>
                <a:latin typeface="Segoe UI"/>
              </a:rPr>
              <a:t>: sólo así puedes detectar cuándo el resultado no tiene sentido.</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5" name="Rectangle 1"/>
          <p:cNvSpPr/>
          <p:nvPr/>
        </p:nvSpPr>
        <p:spPr>
          <a:xfrm>
            <a:off x="0" y="0"/>
            <a:ext cx="12191400" cy="68576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16" name="Rectangle 2"/>
          <p:cNvSpPr/>
          <p:nvPr/>
        </p:nvSpPr>
        <p:spPr>
          <a:xfrm>
            <a:off x="0" y="0"/>
            <a:ext cx="383760" cy="6857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17" name="TextBox 3"/>
          <p:cNvSpPr/>
          <p:nvPr/>
        </p:nvSpPr>
        <p:spPr>
          <a:xfrm>
            <a:off x="1051560" y="1234440"/>
            <a:ext cx="5486040" cy="8841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5800" spc="-1" strike="noStrike">
                <a:solidFill>
                  <a:srgbClr val="143a63"/>
                </a:solidFill>
                <a:latin typeface="Segoe UI Semibold"/>
              </a:rPr>
              <a:t>MÓDULO 05</a:t>
            </a:r>
            <a:endParaRPr b="0" lang="en-US" sz="5800" spc="-1" strike="noStrike">
              <a:solidFill>
                <a:srgbClr val="000000"/>
              </a:solidFill>
              <a:latin typeface="Arial"/>
            </a:endParaRPr>
          </a:p>
        </p:txBody>
      </p:sp>
      <p:sp>
        <p:nvSpPr>
          <p:cNvPr id="918" name="TextBox 4"/>
          <p:cNvSpPr/>
          <p:nvPr/>
        </p:nvSpPr>
        <p:spPr>
          <a:xfrm>
            <a:off x="1051560" y="2331720"/>
            <a:ext cx="9875160" cy="54396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1" lang="en-US" sz="3400" spc="-1" strike="noStrike">
                <a:solidFill>
                  <a:srgbClr val="ffffff"/>
                </a:solidFill>
                <a:latin typeface="Segoe UI Semibold"/>
              </a:rPr>
              <a:t>Instalación mecánica y eléctrica</a:t>
            </a:r>
            <a:endParaRPr b="0" lang="en-US" sz="3400" spc="-1" strike="noStrike">
              <a:solidFill>
                <a:srgbClr val="000000"/>
              </a:solidFill>
              <a:latin typeface="Arial"/>
            </a:endParaRPr>
          </a:p>
        </p:txBody>
      </p:sp>
      <p:sp>
        <p:nvSpPr>
          <p:cNvPr id="919" name="Rectangle 5"/>
          <p:cNvSpPr/>
          <p:nvPr/>
        </p:nvSpPr>
        <p:spPr>
          <a:xfrm>
            <a:off x="1051560" y="3703320"/>
            <a:ext cx="1279800" cy="453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920" name="Rectangle 6"/>
          <p:cNvSpPr/>
          <p:nvPr/>
        </p:nvSpPr>
        <p:spPr>
          <a:xfrm>
            <a:off x="1051560" y="41468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21" name="TextBox 7"/>
          <p:cNvSpPr/>
          <p:nvPr/>
        </p:nvSpPr>
        <p:spPr>
          <a:xfrm>
            <a:off x="1325880" y="40690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Montaje en armario: espacio, orientación y temperatura</a:t>
            </a:r>
            <a:endParaRPr b="0" lang="en-US" sz="1350" spc="-1" strike="noStrike">
              <a:solidFill>
                <a:srgbClr val="000000"/>
              </a:solidFill>
              <a:latin typeface="Arial"/>
            </a:endParaRPr>
          </a:p>
        </p:txBody>
      </p:sp>
      <p:sp>
        <p:nvSpPr>
          <p:cNvPr id="922" name="Rectangle 8"/>
          <p:cNvSpPr/>
          <p:nvPr/>
        </p:nvSpPr>
        <p:spPr>
          <a:xfrm>
            <a:off x="1051560" y="451260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23" name="TextBox 9"/>
          <p:cNvSpPr/>
          <p:nvPr/>
        </p:nvSpPr>
        <p:spPr>
          <a:xfrm>
            <a:off x="1325880" y="443484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El esquema de potencia completo, borne a borne</a:t>
            </a:r>
            <a:endParaRPr b="0" lang="en-US" sz="1350" spc="-1" strike="noStrike">
              <a:solidFill>
                <a:srgbClr val="000000"/>
              </a:solidFill>
              <a:latin typeface="Arial"/>
            </a:endParaRPr>
          </a:p>
        </p:txBody>
      </p:sp>
      <p:sp>
        <p:nvSpPr>
          <p:cNvPr id="924" name="Rectangle 10"/>
          <p:cNvSpPr/>
          <p:nvPr/>
        </p:nvSpPr>
        <p:spPr>
          <a:xfrm>
            <a:off x="1051560" y="487836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25" name="TextBox 11"/>
          <p:cNvSpPr/>
          <p:nvPr/>
        </p:nvSpPr>
        <p:spPr>
          <a:xfrm>
            <a:off x="1325880" y="480060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Protecciones, contactor y secuencia de energizado</a:t>
            </a:r>
            <a:endParaRPr b="0" lang="en-US" sz="1350" spc="-1" strike="noStrike">
              <a:solidFill>
                <a:srgbClr val="000000"/>
              </a:solidFill>
              <a:latin typeface="Arial"/>
            </a:endParaRPr>
          </a:p>
        </p:txBody>
      </p:sp>
      <p:sp>
        <p:nvSpPr>
          <p:cNvPr id="926" name="Rectangle 12"/>
          <p:cNvSpPr/>
          <p:nvPr/>
        </p:nvSpPr>
        <p:spPr>
          <a:xfrm>
            <a:off x="1051560" y="524412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27" name="TextBox 13"/>
          <p:cNvSpPr/>
          <p:nvPr/>
        </p:nvSpPr>
        <p:spPr>
          <a:xfrm>
            <a:off x="1325880" y="516636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Compatibilidad electromagnética: filtro, tierra y apantallamiento</a:t>
            </a:r>
            <a:endParaRPr b="0" lang="en-US" sz="1350" spc="-1" strike="noStrike">
              <a:solidFill>
                <a:srgbClr val="000000"/>
              </a:solidFill>
              <a:latin typeface="Arial"/>
            </a:endParaRPr>
          </a:p>
        </p:txBody>
      </p:sp>
      <p:sp>
        <p:nvSpPr>
          <p:cNvPr id="928" name="Rectangle 14"/>
          <p:cNvSpPr/>
          <p:nvPr/>
        </p:nvSpPr>
        <p:spPr>
          <a:xfrm>
            <a:off x="1051560" y="560988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29" name="TextBox 15"/>
          <p:cNvSpPr/>
          <p:nvPr/>
        </p:nvSpPr>
        <p:spPr>
          <a:xfrm>
            <a:off x="1325880" y="553212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Resistencia de regeneración y freno de retención</a:t>
            </a:r>
            <a:endParaRPr b="0" lang="en-US" sz="1350" spc="-1" strike="noStrike">
              <a:solidFill>
                <a:srgbClr val="000000"/>
              </a:solidFill>
              <a:latin typeface="Arial"/>
            </a:endParaRPr>
          </a:p>
        </p:txBody>
      </p:sp>
      <p:sp>
        <p:nvSpPr>
          <p:cNvPr id="930" name="Rectangle 16"/>
          <p:cNvSpPr/>
          <p:nvPr/>
        </p:nvSpPr>
        <p:spPr>
          <a:xfrm>
            <a:off x="1051560" y="59756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31" name="TextBox 17"/>
          <p:cNvSpPr/>
          <p:nvPr/>
        </p:nvSpPr>
        <p:spPr>
          <a:xfrm>
            <a:off x="1325880" y="58978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Acoplamiento y alineación del motor</a:t>
            </a:r>
            <a:endParaRPr b="0" lang="en-US" sz="1350" spc="-1" strike="noStrike">
              <a:solidFill>
                <a:srgbClr val="000000"/>
              </a:solidFill>
              <a:latin typeface="Arial"/>
            </a:endParaRPr>
          </a:p>
        </p:txBody>
      </p:sp>
      <p:sp>
        <p:nvSpPr>
          <p:cNvPr id="932" name="TextBox 18"/>
          <p:cNvSpPr/>
          <p:nvPr/>
        </p:nvSpPr>
        <p:spPr>
          <a:xfrm>
            <a:off x="1051560" y="6172200"/>
            <a:ext cx="73148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e89b1f"/>
                </a:solidFill>
                <a:latin typeface="Segoe UI"/>
              </a:rPr>
              <a:t>Duración orientativa: 4 h</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3"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34"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935"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Montaje en el armario</a:t>
            </a:r>
            <a:endParaRPr b="0" lang="en-US" sz="2500" spc="-1" strike="noStrike">
              <a:solidFill>
                <a:srgbClr val="000000"/>
              </a:solidFill>
              <a:latin typeface="Arial"/>
            </a:endParaRPr>
          </a:p>
        </p:txBody>
      </p:sp>
      <p:sp>
        <p:nvSpPr>
          <p:cNvPr id="936"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Temperatura y limpieza son las dos variables que marcan la vida útil</a:t>
            </a:r>
            <a:endParaRPr b="0" lang="en-US" sz="1250" spc="-1" strike="noStrike">
              <a:solidFill>
                <a:srgbClr val="000000"/>
              </a:solidFill>
              <a:latin typeface="Arial"/>
            </a:endParaRPr>
          </a:p>
        </p:txBody>
      </p:sp>
      <p:sp>
        <p:nvSpPr>
          <p:cNvPr id="937"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938"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939"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51</a:t>
            </a:r>
            <a:endParaRPr b="0" lang="en-US" sz="900" spc="-1" strike="noStrike">
              <a:solidFill>
                <a:srgbClr val="000000"/>
              </a:solidFill>
              <a:latin typeface="Arial"/>
            </a:endParaRPr>
          </a:p>
        </p:txBody>
      </p:sp>
      <p:sp>
        <p:nvSpPr>
          <p:cNvPr id="940" name="Rectangle 8"/>
          <p:cNvSpPr/>
          <p:nvPr/>
        </p:nvSpPr>
        <p:spPr>
          <a:xfrm>
            <a:off x="5670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41" name="Rectangle 9"/>
          <p:cNvSpPr/>
          <p:nvPr/>
        </p:nvSpPr>
        <p:spPr>
          <a:xfrm>
            <a:off x="567000" y="1481400"/>
            <a:ext cx="5373000" cy="4201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42"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Reglas de montaje</a:t>
            </a:r>
            <a:endParaRPr b="0" lang="en-US" sz="1350" spc="-1" strike="noStrike">
              <a:solidFill>
                <a:srgbClr val="000000"/>
              </a:solidFill>
              <a:latin typeface="Arial"/>
            </a:endParaRPr>
          </a:p>
        </p:txBody>
      </p:sp>
      <p:sp>
        <p:nvSpPr>
          <p:cNvPr id="943" name="TextBox 11"/>
          <p:cNvSpPr/>
          <p:nvPr/>
        </p:nvSpPr>
        <p:spPr>
          <a:xfrm>
            <a:off x="768240" y="2048400"/>
            <a:ext cx="4970880" cy="267588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50" spc="-1" strike="noStrike">
                <a:solidFill>
                  <a:srgbClr val="1c2430"/>
                </a:solidFill>
                <a:latin typeface="Segoe UI"/>
              </a:rPr>
              <a:t>Montaje vertical, con los bornes hacia abajo y la etiqueta legible: el ventilador está diseñado para tiro vertical.</a:t>
            </a:r>
            <a:endParaRPr b="0" lang="en-US" sz="12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50" spc="-1" strike="noStrike">
                <a:solidFill>
                  <a:srgbClr val="1c2430"/>
                </a:solidFill>
                <a:latin typeface="Segoe UI"/>
              </a:rPr>
              <a:t>Fijación sobre placa metálica desnuda (sin pintura en la zona de contacto) para asegurar la continuidad de masa.</a:t>
            </a:r>
            <a:endParaRPr b="0" lang="en-US" sz="12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50" spc="-1" strike="noStrike">
                <a:solidFill>
                  <a:srgbClr val="1c2430"/>
                </a:solidFill>
                <a:latin typeface="Segoe UI"/>
              </a:rPr>
              <a:t>Distancias mínimas orientativas: 40 mm a los lados, 50 mm arriba y abajo entre unidades; más si hay varios amplificadores en fila.</a:t>
            </a:r>
            <a:endParaRPr b="0" lang="en-US" sz="12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50" spc="-1" strike="noStrike">
                <a:solidFill>
                  <a:srgbClr val="1c2430"/>
                </a:solidFill>
                <a:latin typeface="Segoe UI"/>
              </a:rPr>
              <a:t>Nunca por encima de elementos que generen calor (resistencias de frenado, transformadores).</a:t>
            </a:r>
            <a:endParaRPr b="0" lang="en-US" sz="12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50" spc="-1" strike="noStrike">
                <a:solidFill>
                  <a:srgbClr val="1c2430"/>
                </a:solidFill>
                <a:latin typeface="Segoe UI"/>
              </a:rPr>
              <a:t>Deja acceso frontal a </a:t>
            </a:r>
            <a:r>
              <a:rPr b="1" lang="en-US" sz="1250" spc="-1" strike="noStrike">
                <a:solidFill>
                  <a:srgbClr val="1c2430"/>
                </a:solidFill>
                <a:latin typeface="Consolas"/>
              </a:rPr>
              <a:t>CN7</a:t>
            </a:r>
            <a:r>
              <a:rPr b="1" lang="en-US" sz="1250" spc="-1" strike="noStrike">
                <a:solidFill>
                  <a:srgbClr val="1c2430"/>
                </a:solidFill>
                <a:latin typeface="Segoe UI"/>
              </a:rPr>
              <a:t> (USB) y al display: los necesitarás en cada intervención.</a:t>
            </a:r>
            <a:endParaRPr b="0" lang="en-US" sz="1250" spc="-1" strike="noStrike">
              <a:solidFill>
                <a:srgbClr val="000000"/>
              </a:solidFill>
              <a:latin typeface="Arial"/>
            </a:endParaRPr>
          </a:p>
        </p:txBody>
      </p:sp>
      <p:sp>
        <p:nvSpPr>
          <p:cNvPr id="944" name="Rectangle 12"/>
          <p:cNvSpPr/>
          <p:nvPr/>
        </p:nvSpPr>
        <p:spPr>
          <a:xfrm>
            <a:off x="62514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45" name="Rectangle 13"/>
          <p:cNvSpPr/>
          <p:nvPr/>
        </p:nvSpPr>
        <p:spPr>
          <a:xfrm>
            <a:off x="6251400" y="1481400"/>
            <a:ext cx="5373000" cy="42012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46"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Condiciones ambientales</a:t>
            </a:r>
            <a:endParaRPr b="0" lang="en-US" sz="1350" spc="-1" strike="noStrike">
              <a:solidFill>
                <a:srgbClr val="000000"/>
              </a:solidFill>
              <a:latin typeface="Arial"/>
            </a:endParaRPr>
          </a:p>
        </p:txBody>
      </p:sp>
      <p:sp>
        <p:nvSpPr>
          <p:cNvPr id="947" name="TextBox 15"/>
          <p:cNvSpPr/>
          <p:nvPr/>
        </p:nvSpPr>
        <p:spPr>
          <a:xfrm>
            <a:off x="6452640" y="2048400"/>
            <a:ext cx="4970880" cy="299484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80" spc="-1" strike="noStrike">
                <a:solidFill>
                  <a:srgbClr val="1c2430"/>
                </a:solidFill>
                <a:latin typeface="Segoe UI"/>
              </a:rPr>
              <a:t>Temperatura de servicio 0 a 55 °C; por encima de 45 °C hay que reducir la carga (derating).</a:t>
            </a:r>
            <a:endParaRPr b="0" lang="en-US" sz="12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80" spc="-1" strike="noStrike">
                <a:solidFill>
                  <a:srgbClr val="1c2430"/>
                </a:solidFill>
                <a:latin typeface="Segoe UI"/>
              </a:rPr>
              <a:t>Humedad hasta el 90 % sin condensación. Ojo con las máquinas que se paran el fin de semana en naves frías.</a:t>
            </a:r>
            <a:endParaRPr b="0" lang="en-US" sz="12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80" spc="-1" strike="noStrike">
                <a:solidFill>
                  <a:srgbClr val="1c2430"/>
                </a:solidFill>
                <a:latin typeface="Segoe UI"/>
              </a:rPr>
              <a:t>Altitud hasta 1.000 m sin corrección; por encima, menor capacidad de disipación y de aislamiento.</a:t>
            </a:r>
            <a:endParaRPr b="0" lang="en-US" sz="12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80" spc="-1" strike="noStrike">
                <a:solidFill>
                  <a:srgbClr val="1c2430"/>
                </a:solidFill>
                <a:latin typeface="Segoe UI"/>
              </a:rPr>
              <a:t>Ambiente sin polvo conductor, niebla de aceite ni gases corrosivos: el amplificador es IP20.</a:t>
            </a:r>
            <a:endParaRPr b="0" lang="en-US" sz="12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80" spc="-1" strike="noStrike">
                <a:solidFill>
                  <a:srgbClr val="1c2430"/>
                </a:solidFill>
                <a:latin typeface="Segoe UI"/>
              </a:rPr>
              <a:t>Vibración: montar sobre estructura rígida, alejado de prensas y punzonadoras.</a:t>
            </a:r>
            <a:endParaRPr b="0" lang="en-US" sz="128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130" spc="-1" strike="noStrike">
                <a:solidFill>
                  <a:srgbClr val="333f4c"/>
                </a:solidFill>
                <a:latin typeface="Segoe UI"/>
              </a:rPr>
              <a:t>En ambientes agresivos, armario cerrado con intercambiador o climatizador, nunca ventilación directa del exterior.</a:t>
            </a:r>
            <a:endParaRPr b="0" lang="en-US" sz="1130" spc="-1" strike="noStrike">
              <a:solidFill>
                <a:srgbClr val="000000"/>
              </a:solidFill>
              <a:latin typeface="Arial"/>
            </a:endParaRPr>
          </a:p>
        </p:txBody>
      </p:sp>
      <p:sp>
        <p:nvSpPr>
          <p:cNvPr id="948" name="Rectangle 16"/>
          <p:cNvSpPr/>
          <p:nvPr/>
        </p:nvSpPr>
        <p:spPr>
          <a:xfrm>
            <a:off x="567000" y="5459040"/>
            <a:ext cx="11057400" cy="86832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49" name="Rectangle 17"/>
          <p:cNvSpPr/>
          <p:nvPr/>
        </p:nvSpPr>
        <p:spPr>
          <a:xfrm>
            <a:off x="567000" y="5459040"/>
            <a:ext cx="68400" cy="86832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50" name="TextBox 18"/>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Cálculo rápido de disipación</a:t>
            </a:r>
            <a:endParaRPr b="0" lang="en-US" sz="1200" spc="-1" strike="noStrike">
              <a:solidFill>
                <a:srgbClr val="000000"/>
              </a:solidFill>
              <a:latin typeface="Arial"/>
            </a:endParaRPr>
          </a:p>
        </p:txBody>
      </p:sp>
      <p:sp>
        <p:nvSpPr>
          <p:cNvPr id="951" name="TextBox 19"/>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Estima las pérdidas del amplificador en torno al 5-8 % de la potencia que entrega. Para 3 kW trabajando al 50 % son aproximadamente 100-150 W que hay que evacuar del armario, más la resistencia de regeneración si es interna.</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2"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53"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954"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Esquema de potencia, borne a borne</a:t>
            </a:r>
            <a:endParaRPr b="0" lang="en-US" sz="2500" spc="-1" strike="noStrike">
              <a:solidFill>
                <a:srgbClr val="000000"/>
              </a:solidFill>
              <a:latin typeface="Arial"/>
            </a:endParaRPr>
          </a:p>
        </p:txBody>
      </p:sp>
      <p:sp>
        <p:nvSpPr>
          <p:cNvPr id="955"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Arquitectura recomendada: potencia conmutada, control permanente</a:t>
            </a:r>
            <a:endParaRPr b="0" lang="en-US" sz="1250" spc="-1" strike="noStrike">
              <a:solidFill>
                <a:srgbClr val="000000"/>
              </a:solidFill>
              <a:latin typeface="Arial"/>
            </a:endParaRPr>
          </a:p>
        </p:txBody>
      </p:sp>
      <p:sp>
        <p:nvSpPr>
          <p:cNvPr id="956"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957"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958"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52</a:t>
            </a:r>
            <a:endParaRPr b="0" lang="en-US" sz="900" spc="-1" strike="noStrike">
              <a:solidFill>
                <a:srgbClr val="000000"/>
              </a:solidFill>
              <a:latin typeface="Arial"/>
            </a:endParaRPr>
          </a:p>
        </p:txBody>
      </p:sp>
      <p:sp>
        <p:nvSpPr>
          <p:cNvPr id="959" name="Rounded Rectangle 8"/>
          <p:cNvSpPr/>
          <p:nvPr/>
        </p:nvSpPr>
        <p:spPr>
          <a:xfrm>
            <a:off x="567000" y="2103120"/>
            <a:ext cx="1170000" cy="868320"/>
          </a:xfrm>
          <a:prstGeom prst="roundRect">
            <a:avLst>
              <a:gd name="adj" fmla="val 10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Segoe UI"/>
              </a:rPr>
              <a:t>RED</a:t>
            </a:r>
            <a:endParaRPr b="0" lang="en-US" sz="950" spc="-1" strike="noStrike">
              <a:solidFill>
                <a:srgbClr val="ffffff"/>
              </a:solidFill>
              <a:latin typeface="Arial"/>
            </a:endParaRPr>
          </a:p>
          <a:p>
            <a:pPr algn="ctr" defTabSz="457200">
              <a:lnSpc>
                <a:spcPct val="100000"/>
              </a:lnSpc>
            </a:pPr>
            <a:r>
              <a:rPr b="1" lang="en-US" sz="950" spc="-1" strike="noStrike">
                <a:solidFill>
                  <a:srgbClr val="ffffff"/>
                </a:solidFill>
                <a:latin typeface="Segoe UI"/>
              </a:rPr>
              <a:t>3~ 200-240 V</a:t>
            </a:r>
            <a:endParaRPr b="0" lang="en-US" sz="950" spc="-1" strike="noStrike">
              <a:solidFill>
                <a:srgbClr val="ffffff"/>
              </a:solidFill>
              <a:latin typeface="Arial"/>
            </a:endParaRPr>
          </a:p>
        </p:txBody>
      </p:sp>
      <p:sp>
        <p:nvSpPr>
          <p:cNvPr id="960" name="Right Arrow 9"/>
          <p:cNvSpPr/>
          <p:nvPr/>
        </p:nvSpPr>
        <p:spPr>
          <a:xfrm>
            <a:off x="1764720" y="2464200"/>
            <a:ext cx="145800" cy="14580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961" name="Rounded Rectangle 10"/>
          <p:cNvSpPr/>
          <p:nvPr/>
        </p:nvSpPr>
        <p:spPr>
          <a:xfrm>
            <a:off x="1938600" y="2103120"/>
            <a:ext cx="1170000" cy="868320"/>
          </a:xfrm>
          <a:prstGeom prst="roundRect">
            <a:avLst>
              <a:gd name="adj" fmla="val 10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Segoe UI"/>
              </a:rPr>
              <a:t>INTERRUPTOR</a:t>
            </a:r>
            <a:endParaRPr b="0" lang="en-US" sz="950" spc="-1" strike="noStrike">
              <a:solidFill>
                <a:srgbClr val="ffffff"/>
              </a:solidFill>
              <a:latin typeface="Arial"/>
            </a:endParaRPr>
          </a:p>
          <a:p>
            <a:pPr algn="ctr" defTabSz="457200">
              <a:lnSpc>
                <a:spcPct val="100000"/>
              </a:lnSpc>
            </a:pPr>
            <a:r>
              <a:rPr b="1" lang="en-US" sz="950" spc="-1" strike="noStrike">
                <a:solidFill>
                  <a:srgbClr val="ffffff"/>
                </a:solidFill>
                <a:latin typeface="Segoe UI"/>
              </a:rPr>
              <a:t>automático</a:t>
            </a:r>
            <a:endParaRPr b="0" lang="en-US" sz="950" spc="-1" strike="noStrike">
              <a:solidFill>
                <a:srgbClr val="ffffff"/>
              </a:solidFill>
              <a:latin typeface="Arial"/>
            </a:endParaRPr>
          </a:p>
        </p:txBody>
      </p:sp>
      <p:sp>
        <p:nvSpPr>
          <p:cNvPr id="962" name="Right Arrow 11"/>
          <p:cNvSpPr/>
          <p:nvPr/>
        </p:nvSpPr>
        <p:spPr>
          <a:xfrm>
            <a:off x="3136320" y="2464200"/>
            <a:ext cx="145800" cy="14580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963" name="Rounded Rectangle 12"/>
          <p:cNvSpPr/>
          <p:nvPr/>
        </p:nvSpPr>
        <p:spPr>
          <a:xfrm>
            <a:off x="3310200" y="2103120"/>
            <a:ext cx="1170000" cy="868320"/>
          </a:xfrm>
          <a:prstGeom prst="roundRect">
            <a:avLst>
              <a:gd name="adj" fmla="val 10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Segoe UI"/>
              </a:rPr>
              <a:t>CONTACTOR</a:t>
            </a:r>
            <a:endParaRPr b="0" lang="en-US" sz="950" spc="-1" strike="noStrike">
              <a:solidFill>
                <a:srgbClr val="ffffff"/>
              </a:solidFill>
              <a:latin typeface="Arial"/>
            </a:endParaRPr>
          </a:p>
          <a:p>
            <a:pPr algn="ctr" defTabSz="457200">
              <a:lnSpc>
                <a:spcPct val="100000"/>
              </a:lnSpc>
            </a:pPr>
            <a:r>
              <a:rPr b="1" lang="en-US" sz="950" spc="-1" strike="noStrike">
                <a:solidFill>
                  <a:srgbClr val="ffffff"/>
                </a:solidFill>
                <a:latin typeface="Segoe UI"/>
              </a:rPr>
              <a:t>de línea</a:t>
            </a:r>
            <a:endParaRPr b="0" lang="en-US" sz="950" spc="-1" strike="noStrike">
              <a:solidFill>
                <a:srgbClr val="ffffff"/>
              </a:solidFill>
              <a:latin typeface="Arial"/>
            </a:endParaRPr>
          </a:p>
        </p:txBody>
      </p:sp>
      <p:sp>
        <p:nvSpPr>
          <p:cNvPr id="964" name="Right Arrow 13"/>
          <p:cNvSpPr/>
          <p:nvPr/>
        </p:nvSpPr>
        <p:spPr>
          <a:xfrm>
            <a:off x="4507920" y="2464200"/>
            <a:ext cx="145800" cy="14580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965" name="Rounded Rectangle 14"/>
          <p:cNvSpPr/>
          <p:nvPr/>
        </p:nvSpPr>
        <p:spPr>
          <a:xfrm>
            <a:off x="4681800" y="2103120"/>
            <a:ext cx="1170000" cy="868320"/>
          </a:xfrm>
          <a:prstGeom prst="roundRect">
            <a:avLst>
              <a:gd name="adj" fmla="val 10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Segoe UI"/>
              </a:rPr>
              <a:t>FILTRO EMC</a:t>
            </a:r>
            <a:endParaRPr b="0" lang="en-US" sz="950" spc="-1" strike="noStrike">
              <a:solidFill>
                <a:srgbClr val="ffffff"/>
              </a:solidFill>
              <a:latin typeface="Arial"/>
            </a:endParaRPr>
          </a:p>
        </p:txBody>
      </p:sp>
      <p:sp>
        <p:nvSpPr>
          <p:cNvPr id="966" name="Right Arrow 15"/>
          <p:cNvSpPr/>
          <p:nvPr/>
        </p:nvSpPr>
        <p:spPr>
          <a:xfrm>
            <a:off x="5879520" y="2464200"/>
            <a:ext cx="145800" cy="14580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967" name="Rectangle 16"/>
          <p:cNvSpPr/>
          <p:nvPr/>
        </p:nvSpPr>
        <p:spPr>
          <a:xfrm>
            <a:off x="6053400" y="1783080"/>
            <a:ext cx="2331360" cy="3245760"/>
          </a:xfrm>
          <a:prstGeom prst="rect">
            <a:avLst/>
          </a:prstGeom>
          <a:solidFill>
            <a:srgbClr val="f2f5f8"/>
          </a:solidFill>
          <a:ln w="25400">
            <a:solidFill>
              <a:srgbClr val="0b254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68" name="TextBox 17"/>
          <p:cNvSpPr/>
          <p:nvPr/>
        </p:nvSpPr>
        <p:spPr>
          <a:xfrm>
            <a:off x="6053400" y="1883520"/>
            <a:ext cx="2331360" cy="1987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300" spc="-1" strike="noStrike">
                <a:solidFill>
                  <a:srgbClr val="0b2545"/>
                </a:solidFill>
                <a:latin typeface="Segoe UI"/>
              </a:rPr>
              <a:t>SGDXS-200A00A</a:t>
            </a:r>
            <a:endParaRPr b="0" lang="en-US" sz="1300" spc="-1" strike="noStrike">
              <a:solidFill>
                <a:srgbClr val="000000"/>
              </a:solidFill>
              <a:latin typeface="Arial"/>
            </a:endParaRPr>
          </a:p>
        </p:txBody>
      </p:sp>
      <p:sp>
        <p:nvSpPr>
          <p:cNvPr id="969" name="Rounded Rectangle 18"/>
          <p:cNvSpPr/>
          <p:nvPr/>
        </p:nvSpPr>
        <p:spPr>
          <a:xfrm>
            <a:off x="6217920" y="2240280"/>
            <a:ext cx="2002320" cy="347040"/>
          </a:xfrm>
          <a:prstGeom prst="roundRect">
            <a:avLst>
              <a:gd name="adj" fmla="val 12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00" spc="-1" strike="noStrike">
                <a:solidFill>
                  <a:srgbClr val="ffffff"/>
                </a:solidFill>
                <a:latin typeface="Consolas"/>
              </a:rPr>
              <a:t>L1</a:t>
            </a:r>
            <a:r>
              <a:rPr b="1" lang="en-US" sz="1000" spc="-1" strike="noStrike">
                <a:solidFill>
                  <a:srgbClr val="ffffff"/>
                </a:solidFill>
                <a:latin typeface="Segoe UI"/>
              </a:rPr>
              <a:t> </a:t>
            </a:r>
            <a:r>
              <a:rPr b="1" lang="en-US" sz="1000" spc="-1" strike="noStrike">
                <a:solidFill>
                  <a:srgbClr val="ffffff"/>
                </a:solidFill>
                <a:latin typeface="Consolas"/>
              </a:rPr>
              <a:t>L2</a:t>
            </a:r>
            <a:r>
              <a:rPr b="1" lang="en-US" sz="1000" spc="-1" strike="noStrike">
                <a:solidFill>
                  <a:srgbClr val="ffffff"/>
                </a:solidFill>
                <a:latin typeface="Segoe UI"/>
              </a:rPr>
              <a:t> </a:t>
            </a:r>
            <a:r>
              <a:rPr b="1" lang="en-US" sz="1000" spc="-1" strike="noStrike">
                <a:solidFill>
                  <a:srgbClr val="ffffff"/>
                </a:solidFill>
                <a:latin typeface="Consolas"/>
              </a:rPr>
              <a:t>L3</a:t>
            </a:r>
            <a:endParaRPr b="0" lang="en-US" sz="1000" spc="-1" strike="noStrike">
              <a:solidFill>
                <a:srgbClr val="ffffff"/>
              </a:solidFill>
              <a:latin typeface="Arial"/>
            </a:endParaRPr>
          </a:p>
        </p:txBody>
      </p:sp>
      <p:sp>
        <p:nvSpPr>
          <p:cNvPr id="970" name="Rounded Rectangle 19"/>
          <p:cNvSpPr/>
          <p:nvPr/>
        </p:nvSpPr>
        <p:spPr>
          <a:xfrm>
            <a:off x="6217920" y="2743200"/>
            <a:ext cx="2002320" cy="347040"/>
          </a:xfrm>
          <a:prstGeom prst="roundRect">
            <a:avLst>
              <a:gd name="adj" fmla="val 12000"/>
            </a:avLst>
          </a:prstGeom>
          <a:solidFill>
            <a:srgbClr val="143a6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00" spc="-1" strike="noStrike">
                <a:solidFill>
                  <a:srgbClr val="ffffff"/>
                </a:solidFill>
                <a:latin typeface="Consolas"/>
              </a:rPr>
              <a:t>L1C</a:t>
            </a:r>
            <a:r>
              <a:rPr b="1" lang="en-US" sz="1000" spc="-1" strike="noStrike">
                <a:solidFill>
                  <a:srgbClr val="ffffff"/>
                </a:solidFill>
                <a:latin typeface="Segoe UI"/>
              </a:rPr>
              <a:t> </a:t>
            </a:r>
            <a:r>
              <a:rPr b="1" lang="en-US" sz="1000" spc="-1" strike="noStrike">
                <a:solidFill>
                  <a:srgbClr val="ffffff"/>
                </a:solidFill>
                <a:latin typeface="Consolas"/>
              </a:rPr>
              <a:t>L2C</a:t>
            </a:r>
            <a:endParaRPr b="0" lang="en-US" sz="1000" spc="-1" strike="noStrike">
              <a:solidFill>
                <a:srgbClr val="ffffff"/>
              </a:solidFill>
              <a:latin typeface="Arial"/>
            </a:endParaRPr>
          </a:p>
        </p:txBody>
      </p:sp>
      <p:sp>
        <p:nvSpPr>
          <p:cNvPr id="971" name="Rounded Rectangle 20"/>
          <p:cNvSpPr/>
          <p:nvPr/>
        </p:nvSpPr>
        <p:spPr>
          <a:xfrm>
            <a:off x="6217920" y="3246120"/>
            <a:ext cx="2002320" cy="347040"/>
          </a:xfrm>
          <a:prstGeom prst="roundRect">
            <a:avLst>
              <a:gd name="adj" fmla="val 12000"/>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00" spc="-1" strike="noStrike">
                <a:solidFill>
                  <a:srgbClr val="ffffff"/>
                </a:solidFill>
                <a:latin typeface="Consolas"/>
              </a:rPr>
              <a:t>B1/⊕</a:t>
            </a:r>
            <a:r>
              <a:rPr b="1" lang="en-US" sz="1000" spc="-1" strike="noStrike">
                <a:solidFill>
                  <a:srgbClr val="ffffff"/>
                </a:solidFill>
                <a:latin typeface="Segoe UI"/>
              </a:rPr>
              <a:t> </a:t>
            </a:r>
            <a:r>
              <a:rPr b="1" lang="en-US" sz="1000" spc="-1" strike="noStrike">
                <a:solidFill>
                  <a:srgbClr val="ffffff"/>
                </a:solidFill>
                <a:latin typeface="Consolas"/>
              </a:rPr>
              <a:t>B2</a:t>
            </a:r>
            <a:r>
              <a:rPr b="1" lang="en-US" sz="1000" spc="-1" strike="noStrike">
                <a:solidFill>
                  <a:srgbClr val="ffffff"/>
                </a:solidFill>
                <a:latin typeface="Segoe UI"/>
              </a:rPr>
              <a:t> </a:t>
            </a:r>
            <a:r>
              <a:rPr b="1" lang="en-US" sz="1000" spc="-1" strike="noStrike">
                <a:solidFill>
                  <a:srgbClr val="ffffff"/>
                </a:solidFill>
                <a:latin typeface="Consolas"/>
              </a:rPr>
              <a:t>B3</a:t>
            </a:r>
            <a:endParaRPr b="0" lang="en-US" sz="1000" spc="-1" strike="noStrike">
              <a:solidFill>
                <a:srgbClr val="ffffff"/>
              </a:solidFill>
              <a:latin typeface="Arial"/>
            </a:endParaRPr>
          </a:p>
        </p:txBody>
      </p:sp>
      <p:sp>
        <p:nvSpPr>
          <p:cNvPr id="972" name="Rounded Rectangle 21"/>
          <p:cNvSpPr/>
          <p:nvPr/>
        </p:nvSpPr>
        <p:spPr>
          <a:xfrm>
            <a:off x="6217920" y="3749040"/>
            <a:ext cx="2002320" cy="347040"/>
          </a:xfrm>
          <a:prstGeom prst="roundRect">
            <a:avLst>
              <a:gd name="adj" fmla="val 12000"/>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00" spc="-1" strike="noStrike">
                <a:solidFill>
                  <a:srgbClr val="ffffff"/>
                </a:solidFill>
                <a:latin typeface="Consolas"/>
              </a:rPr>
              <a:t>U</a:t>
            </a:r>
            <a:r>
              <a:rPr b="1" lang="en-US" sz="1000" spc="-1" strike="noStrike">
                <a:solidFill>
                  <a:srgbClr val="ffffff"/>
                </a:solidFill>
                <a:latin typeface="Segoe UI"/>
              </a:rPr>
              <a:t> </a:t>
            </a:r>
            <a:r>
              <a:rPr b="1" lang="en-US" sz="1000" spc="-1" strike="noStrike">
                <a:solidFill>
                  <a:srgbClr val="ffffff"/>
                </a:solidFill>
                <a:latin typeface="Consolas"/>
              </a:rPr>
              <a:t>V</a:t>
            </a:r>
            <a:r>
              <a:rPr b="1" lang="en-US" sz="1000" spc="-1" strike="noStrike">
                <a:solidFill>
                  <a:srgbClr val="ffffff"/>
                </a:solidFill>
                <a:latin typeface="Segoe UI"/>
              </a:rPr>
              <a:t> </a:t>
            </a:r>
            <a:r>
              <a:rPr b="1" lang="en-US" sz="1000" spc="-1" strike="noStrike">
                <a:solidFill>
                  <a:srgbClr val="ffffff"/>
                </a:solidFill>
                <a:latin typeface="Consolas"/>
              </a:rPr>
              <a:t>W</a:t>
            </a:r>
            <a:endParaRPr b="0" lang="en-US" sz="1000" spc="-1" strike="noStrike">
              <a:solidFill>
                <a:srgbClr val="ffffff"/>
              </a:solidFill>
              <a:latin typeface="Arial"/>
            </a:endParaRPr>
          </a:p>
        </p:txBody>
      </p:sp>
      <p:sp>
        <p:nvSpPr>
          <p:cNvPr id="973" name="Rounded Rectangle 22"/>
          <p:cNvSpPr/>
          <p:nvPr/>
        </p:nvSpPr>
        <p:spPr>
          <a:xfrm>
            <a:off x="6217920" y="4251960"/>
            <a:ext cx="2002320" cy="347040"/>
          </a:xfrm>
          <a:prstGeom prst="roundRect">
            <a:avLst>
              <a:gd name="adj" fmla="val 12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00" spc="-1" strike="noStrike">
                <a:solidFill>
                  <a:srgbClr val="ffffff"/>
                </a:solidFill>
                <a:latin typeface="Segoe UI"/>
              </a:rPr>
              <a:t>⏚</a:t>
            </a:r>
            <a:endParaRPr b="0" lang="en-US" sz="1000" spc="-1" strike="noStrike">
              <a:solidFill>
                <a:srgbClr val="ffffff"/>
              </a:solidFill>
              <a:latin typeface="Arial"/>
            </a:endParaRPr>
          </a:p>
        </p:txBody>
      </p:sp>
      <p:sp>
        <p:nvSpPr>
          <p:cNvPr id="974" name="Rounded Rectangle 23"/>
          <p:cNvSpPr/>
          <p:nvPr/>
        </p:nvSpPr>
        <p:spPr>
          <a:xfrm>
            <a:off x="6217920" y="4617720"/>
            <a:ext cx="2002320" cy="347040"/>
          </a:xfrm>
          <a:prstGeom prst="roundRect">
            <a:avLst>
              <a:gd name="adj" fmla="val 12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00" spc="-1" strike="noStrike">
                <a:solidFill>
                  <a:srgbClr val="ffffff"/>
                </a:solidFill>
                <a:latin typeface="Consolas"/>
              </a:rPr>
              <a:t>CN2</a:t>
            </a:r>
            <a:r>
              <a:rPr b="1" lang="en-US" sz="1000" spc="-1" strike="noStrike">
                <a:solidFill>
                  <a:srgbClr val="ffffff"/>
                </a:solidFill>
                <a:latin typeface="Segoe UI"/>
              </a:rPr>
              <a:t> encoder</a:t>
            </a:r>
            <a:endParaRPr b="0" lang="en-US" sz="1000" spc="-1" strike="noStrike">
              <a:solidFill>
                <a:srgbClr val="ffffff"/>
              </a:solidFill>
              <a:latin typeface="Arial"/>
            </a:endParaRPr>
          </a:p>
        </p:txBody>
      </p:sp>
      <p:sp>
        <p:nvSpPr>
          <p:cNvPr id="975" name="Rounded Rectangle 24"/>
          <p:cNvSpPr/>
          <p:nvPr/>
        </p:nvSpPr>
        <p:spPr>
          <a:xfrm>
            <a:off x="8888040" y="3520440"/>
            <a:ext cx="2331360" cy="914040"/>
          </a:xfrm>
          <a:prstGeom prst="roundRect">
            <a:avLst>
              <a:gd name="adj" fmla="val 10000"/>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150" spc="-1" strike="noStrike">
                <a:solidFill>
                  <a:srgbClr val="ffffff"/>
                </a:solidFill>
                <a:latin typeface="Segoe UI"/>
              </a:rPr>
              <a:t>SERVOMOTOR</a:t>
            </a:r>
            <a:endParaRPr b="0" lang="en-US" sz="1150" spc="-1" strike="noStrike">
              <a:solidFill>
                <a:srgbClr val="ffffff"/>
              </a:solidFill>
              <a:latin typeface="Arial"/>
            </a:endParaRPr>
          </a:p>
          <a:p>
            <a:pPr algn="ctr" defTabSz="457200">
              <a:lnSpc>
                <a:spcPct val="100000"/>
              </a:lnSpc>
            </a:pPr>
            <a:r>
              <a:rPr b="1" lang="en-US" sz="1150" spc="-1" strike="noStrike">
                <a:solidFill>
                  <a:srgbClr val="ffffff"/>
                </a:solidFill>
                <a:latin typeface="Segoe UI"/>
              </a:rPr>
              <a:t>SGMXA-30A</a:t>
            </a:r>
            <a:endParaRPr b="0" lang="en-US" sz="1150" spc="-1" strike="noStrike">
              <a:solidFill>
                <a:srgbClr val="ffffff"/>
              </a:solidFill>
              <a:latin typeface="Arial"/>
            </a:endParaRPr>
          </a:p>
        </p:txBody>
      </p:sp>
      <p:sp>
        <p:nvSpPr>
          <p:cNvPr id="976" name="Right Arrow 25"/>
          <p:cNvSpPr/>
          <p:nvPr/>
        </p:nvSpPr>
        <p:spPr>
          <a:xfrm>
            <a:off x="8430840" y="3831480"/>
            <a:ext cx="383760" cy="182520"/>
          </a:xfrm>
          <a:prstGeom prst="rightArrow">
            <a:avLst>
              <a:gd name="adj1" fmla="val 50000"/>
              <a:gd name="adj2" fmla="val 50000"/>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77" name="Rounded Rectangle 26"/>
          <p:cNvSpPr/>
          <p:nvPr/>
        </p:nvSpPr>
        <p:spPr>
          <a:xfrm>
            <a:off x="8888040" y="4617720"/>
            <a:ext cx="2331360" cy="411120"/>
          </a:xfrm>
          <a:prstGeom prst="roundRect">
            <a:avLst>
              <a:gd name="adj" fmla="val 12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00" spc="-1" strike="noStrike">
                <a:solidFill>
                  <a:srgbClr val="ffffff"/>
                </a:solidFill>
                <a:latin typeface="Segoe UI"/>
              </a:rPr>
              <a:t>ENCODER 24 bits</a:t>
            </a:r>
            <a:endParaRPr b="0" lang="en-US" sz="1000" spc="-1" strike="noStrike">
              <a:solidFill>
                <a:srgbClr val="ffffff"/>
              </a:solidFill>
              <a:latin typeface="Arial"/>
            </a:endParaRPr>
          </a:p>
        </p:txBody>
      </p:sp>
      <p:cxnSp>
        <p:nvCxnSpPr>
          <p:cNvPr id="978" name="Connector 27"/>
          <p:cNvCxnSpPr/>
          <p:nvPr/>
        </p:nvCxnSpPr>
        <p:spPr>
          <a:xfrm>
            <a:off x="8384760" y="4818600"/>
            <a:ext cx="503280" cy="360"/>
          </a:xfrm>
          <a:prstGeom prst="straightConnector1">
            <a:avLst/>
          </a:prstGeom>
          <a:ln w="19050">
            <a:solidFill>
              <a:srgbClr val="2e8b57"/>
            </a:solidFill>
            <a:round/>
          </a:ln>
        </p:spPr>
      </p:cxnSp>
      <p:sp>
        <p:nvSpPr>
          <p:cNvPr id="979" name="Rounded Rectangle 28"/>
          <p:cNvSpPr/>
          <p:nvPr/>
        </p:nvSpPr>
        <p:spPr>
          <a:xfrm>
            <a:off x="8888040" y="2331720"/>
            <a:ext cx="2331360" cy="776880"/>
          </a:xfrm>
          <a:prstGeom prst="roundRect">
            <a:avLst>
              <a:gd name="adj" fmla="val 10000"/>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Segoe UI"/>
              </a:rPr>
              <a:t>RESISTENCIA DE</a:t>
            </a:r>
            <a:endParaRPr b="0" lang="en-US" sz="950" spc="-1" strike="noStrike">
              <a:solidFill>
                <a:srgbClr val="ffffff"/>
              </a:solidFill>
              <a:latin typeface="Arial"/>
            </a:endParaRPr>
          </a:p>
          <a:p>
            <a:pPr algn="ctr" defTabSz="457200">
              <a:lnSpc>
                <a:spcPct val="100000"/>
              </a:lnSpc>
            </a:pPr>
            <a:r>
              <a:rPr b="1" lang="en-US" sz="950" spc="-1" strike="noStrike">
                <a:solidFill>
                  <a:srgbClr val="ffffff"/>
                </a:solidFill>
                <a:latin typeface="Segoe UI"/>
              </a:rPr>
              <a:t>REGENERACIÓN</a:t>
            </a:r>
            <a:endParaRPr b="0" lang="en-US" sz="950" spc="-1" strike="noStrike">
              <a:solidFill>
                <a:srgbClr val="ffffff"/>
              </a:solidFill>
              <a:latin typeface="Arial"/>
            </a:endParaRPr>
          </a:p>
          <a:p>
            <a:pPr algn="ctr" defTabSz="457200">
              <a:lnSpc>
                <a:spcPct val="100000"/>
              </a:lnSpc>
            </a:pPr>
            <a:r>
              <a:rPr b="1" lang="en-US" sz="950" spc="-1" strike="noStrike">
                <a:solidFill>
                  <a:srgbClr val="ffffff"/>
                </a:solidFill>
                <a:latin typeface="Segoe UI"/>
              </a:rPr>
              <a:t>(si el cálculo lo exige)</a:t>
            </a:r>
            <a:endParaRPr b="0" lang="en-US" sz="950" spc="-1" strike="noStrike">
              <a:solidFill>
                <a:srgbClr val="ffffff"/>
              </a:solidFill>
              <a:latin typeface="Arial"/>
            </a:endParaRPr>
          </a:p>
        </p:txBody>
      </p:sp>
      <p:cxnSp>
        <p:nvCxnSpPr>
          <p:cNvPr id="980" name="Connector 29"/>
          <p:cNvCxnSpPr/>
          <p:nvPr/>
        </p:nvCxnSpPr>
        <p:spPr>
          <a:xfrm flipV="1">
            <a:off x="8384760" y="2724840"/>
            <a:ext cx="503280" cy="695160"/>
          </a:xfrm>
          <a:prstGeom prst="straightConnector1">
            <a:avLst/>
          </a:prstGeom>
          <a:ln w="19050">
            <a:solidFill>
              <a:srgbClr val="c0392b"/>
            </a:solidFill>
            <a:prstDash val="dash"/>
            <a:round/>
          </a:ln>
        </p:spPr>
      </p:cxnSp>
      <p:cxnSp>
        <p:nvCxnSpPr>
          <p:cNvPr id="981" name="Connector 30"/>
          <p:cNvCxnSpPr/>
          <p:nvPr/>
        </p:nvCxnSpPr>
        <p:spPr>
          <a:xfrm>
            <a:off x="3236760" y="2971800"/>
            <a:ext cx="360" cy="2560680"/>
          </a:xfrm>
          <a:prstGeom prst="straightConnector1">
            <a:avLst/>
          </a:prstGeom>
          <a:ln w="19050">
            <a:solidFill>
              <a:srgbClr val="143a63"/>
            </a:solidFill>
            <a:round/>
          </a:ln>
        </p:spPr>
      </p:cxnSp>
      <p:cxnSp>
        <p:nvCxnSpPr>
          <p:cNvPr id="982" name="Connector 31"/>
          <p:cNvCxnSpPr/>
          <p:nvPr/>
        </p:nvCxnSpPr>
        <p:spPr>
          <a:xfrm>
            <a:off x="3236760" y="5532120"/>
            <a:ext cx="3182400" cy="360"/>
          </a:xfrm>
          <a:prstGeom prst="straightConnector1">
            <a:avLst/>
          </a:prstGeom>
          <a:ln w="19050">
            <a:solidFill>
              <a:srgbClr val="143a63"/>
            </a:solidFill>
            <a:round/>
          </a:ln>
        </p:spPr>
      </p:cxnSp>
      <p:cxnSp>
        <p:nvCxnSpPr>
          <p:cNvPr id="983" name="Connector 32"/>
          <p:cNvCxnSpPr/>
          <p:nvPr/>
        </p:nvCxnSpPr>
        <p:spPr>
          <a:xfrm flipV="1">
            <a:off x="6418800" y="3090600"/>
            <a:ext cx="360" cy="2441880"/>
          </a:xfrm>
          <a:prstGeom prst="straightConnector1">
            <a:avLst/>
          </a:prstGeom>
          <a:ln w="19050">
            <a:solidFill>
              <a:srgbClr val="143a63"/>
            </a:solidFill>
            <a:round/>
          </a:ln>
        </p:spPr>
      </p:cxnSp>
      <p:sp>
        <p:nvSpPr>
          <p:cNvPr id="984" name="TextBox 33"/>
          <p:cNvSpPr/>
          <p:nvPr/>
        </p:nvSpPr>
        <p:spPr>
          <a:xfrm>
            <a:off x="3374280" y="5577840"/>
            <a:ext cx="4754520" cy="289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143a63"/>
                </a:solidFill>
                <a:latin typeface="Segoe UI"/>
              </a:rPr>
              <a:t>Alimentación del control tomada </a:t>
            </a:r>
            <a:r>
              <a:rPr b="1" lang="en-US" sz="950" spc="-1" strike="noStrike">
                <a:solidFill>
                  <a:srgbClr val="143a63"/>
                </a:solidFill>
                <a:latin typeface="Segoe UI"/>
              </a:rPr>
              <a:t>antes</a:t>
            </a:r>
            <a:r>
              <a:rPr b="0" lang="en-US" sz="950" spc="-1" strike="noStrike">
                <a:solidFill>
                  <a:srgbClr val="143a63"/>
                </a:solidFill>
                <a:latin typeface="Segoe UI"/>
              </a:rPr>
              <a:t> del contactor: el drive sigue vivo con la potencia cortada</a:t>
            </a:r>
            <a:endParaRPr b="0" lang="en-US" sz="950" spc="-1" strike="noStrike">
              <a:solidFill>
                <a:srgbClr val="000000"/>
              </a:solidFill>
              <a:latin typeface="Arial"/>
            </a:endParaRPr>
          </a:p>
        </p:txBody>
      </p:sp>
      <p:sp>
        <p:nvSpPr>
          <p:cNvPr id="985" name="Rounded Rectangle 34"/>
          <p:cNvSpPr/>
          <p:nvPr/>
        </p:nvSpPr>
        <p:spPr>
          <a:xfrm>
            <a:off x="567000" y="5989320"/>
            <a:ext cx="11063880" cy="328680"/>
          </a:xfrm>
          <a:prstGeom prst="roundRect">
            <a:avLst>
              <a:gd name="adj" fmla="val 12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00" spc="-1" strike="noStrike">
                <a:solidFill>
                  <a:srgbClr val="ffffff"/>
                </a:solidFill>
                <a:latin typeface="Segoe UI"/>
              </a:rPr>
              <a:t>TIERRA EN ESTRELLA A LA PLACA DE MONTAJE — amplificador, motor, filtro y pantallas de todos los cables</a:t>
            </a:r>
            <a:endParaRPr b="0" lang="en-US" sz="1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8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98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Protecciones y cables para el SGDXS-200A00A</a:t>
            </a:r>
            <a:endParaRPr b="0" lang="en-US" sz="2500" spc="-1" strike="noStrike">
              <a:solidFill>
                <a:srgbClr val="000000"/>
              </a:solidFill>
              <a:latin typeface="Arial"/>
            </a:endParaRPr>
          </a:p>
        </p:txBody>
      </p:sp>
      <p:sp>
        <p:nvSpPr>
          <p:cNvPr id="98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Valores de partida que hay que confirmar con el manual y la norma</a:t>
            </a:r>
            <a:endParaRPr b="0" lang="en-US" sz="1250" spc="-1" strike="noStrike">
              <a:solidFill>
                <a:srgbClr val="000000"/>
              </a:solidFill>
              <a:latin typeface="Arial"/>
            </a:endParaRPr>
          </a:p>
        </p:txBody>
      </p:sp>
      <p:sp>
        <p:nvSpPr>
          <p:cNvPr id="99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99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99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53</a:t>
            </a:r>
            <a:endParaRPr b="0" lang="en-US" sz="900" spc="-1" strike="noStrike">
              <a:solidFill>
                <a:srgbClr val="000000"/>
              </a:solidFill>
              <a:latin typeface="Arial"/>
            </a:endParaRPr>
          </a:p>
        </p:txBody>
      </p:sp>
      <p:graphicFrame>
        <p:nvGraphicFramePr>
          <p:cNvPr id="993" name="Table 8"/>
          <p:cNvGraphicFramePr/>
          <p:nvPr/>
        </p:nvGraphicFramePr>
        <p:xfrm>
          <a:off x="567000" y="1481400"/>
          <a:ext cx="11057400" cy="4462200"/>
        </p:xfrm>
        <a:graphic>
          <a:graphicData uri="http://schemas.openxmlformats.org/drawingml/2006/table">
            <a:tbl>
              <a:tblPr/>
              <a:tblGrid>
                <a:gridCol w="2467440"/>
                <a:gridCol w="4660560"/>
                <a:gridCol w="392940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Elemento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Criterio de selección</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Valor orientativo para 3 kW</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Segoe UI"/>
                        </a:rPr>
                        <a:t>Interruptor automático / fusibles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Protección de cortocircuito de la línea; coordinar con la corriente de entrada (≈ 21 A) y con la corriente de arranque de precarga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Curva D o fusibles tipo gG; consulta la tabla del manual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Segoe UI"/>
                        </a:rPr>
                        <a:t>Sección del cable de red</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Corriente de entrada continua y caída de tensión admisible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Del orden de 4 mm² (verificar según norma, longitud y agrupamiento)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Segoe UI"/>
                        </a:rPr>
                        <a:t>Contactor de línea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Categoría AC-1/AC-3 según el criterio de la instalación; debe cortar el circuito principal, no el de control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Dimensionado para ≥ 25 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Segoe UI"/>
                        </a:rPr>
                        <a:t>Sección del cable de motor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Corriente nominal del motor (≈ 18,5 A) y pico (≈ 55 A) de corta duración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Del orden de 4 mm², </a:t>
                      </a:r>
                      <a:r>
                        <a:rPr b="1" lang="en-US" sz="950" spc="-1" strike="noStrike">
                          <a:solidFill>
                            <a:srgbClr val="1c2430"/>
                          </a:solidFill>
                          <a:latin typeface="Segoe UI"/>
                        </a:rPr>
                        <a:t>apantallado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Segoe UI"/>
                        </a:rPr>
                        <a:t>Cable de encoder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Cable original apantallado y confeccionado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No fabricarlo artesanalmente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Segoe UI"/>
                        </a:rPr>
                        <a:t>Cable de E/S (</a:t>
                      </a:r>
                      <a:r>
                        <a:rPr b="0" lang="en-US" sz="950" spc="-1" strike="noStrike">
                          <a:solidFill>
                            <a:srgbClr val="1c2430"/>
                          </a:solidFill>
                          <a:latin typeface="Consolas"/>
                        </a:rPr>
                        <a:t>CN1</a:t>
                      </a:r>
                      <a:r>
                        <a:rPr b="0" lang="en-US" sz="950" spc="-1" strike="noStrike">
                          <a:solidFill>
                            <a:srgbClr val="1c2430"/>
                          </a:solidFill>
                          <a:latin typeface="Segoe UI"/>
                        </a:rPr>
                        <a:t>)</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Par trenzado apantallado, señales de 24 V</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0,2-0,5 mm²</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Segoe UI"/>
                        </a:rPr>
                        <a:t>Fuente de 24 V CC</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Alimenta E/S y, en su caso, el freno del motor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Fuente independiente y dimensionada con margen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Segoe UI"/>
                        </a:rPr>
                        <a:t>Filtro de red EMC</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Corriente nominal ≥ corriente de entrada; modelo recomendado por el fabricante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 </a:t>
                      </a:r>
                      <a:r>
                        <a:rPr b="0" lang="en-US" sz="950" spc="-1" strike="noStrike">
                          <a:solidFill>
                            <a:srgbClr val="1c2430"/>
                          </a:solidFill>
                          <a:latin typeface="Segoe UI"/>
                        </a:rPr>
                        <a:t>25 A, monofásico o trifásico según el caso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Segoe UI"/>
                        </a:rPr>
                        <a:t>Diferencial (si procede)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Tipo B (sensible a corriente continua) por los armónicos del inversor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Sensibilidad ≥ 300 mA para evitar disparos intempestivos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994"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La selección definitiva de protecciones depende del régimen de neutro, de la norma aplicable y del estudio de cortocircuito de la instalación. Consulta la guía de periféricos de YASKAWA.</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9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997"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Secuencia de energizado y de parada</a:t>
            </a:r>
            <a:endParaRPr b="0" lang="en-US" sz="2500" spc="-1" strike="noStrike">
              <a:solidFill>
                <a:srgbClr val="000000"/>
              </a:solidFill>
              <a:latin typeface="Arial"/>
            </a:endParaRPr>
          </a:p>
        </p:txBody>
      </p:sp>
      <p:sp>
        <p:nvSpPr>
          <p:cNvPr id="99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El orden correcto evita alarmas y protege el equipo</a:t>
            </a:r>
            <a:endParaRPr b="0" lang="en-US" sz="1250" spc="-1" strike="noStrike">
              <a:solidFill>
                <a:srgbClr val="000000"/>
              </a:solidFill>
              <a:latin typeface="Arial"/>
            </a:endParaRPr>
          </a:p>
        </p:txBody>
      </p:sp>
      <p:sp>
        <p:nvSpPr>
          <p:cNvPr id="99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100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00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54</a:t>
            </a:r>
            <a:endParaRPr b="0" lang="en-US" sz="900" spc="-1" strike="noStrike">
              <a:solidFill>
                <a:srgbClr val="000000"/>
              </a:solidFill>
              <a:latin typeface="Arial"/>
            </a:endParaRPr>
          </a:p>
        </p:txBody>
      </p:sp>
      <p:sp>
        <p:nvSpPr>
          <p:cNvPr id="1002" name="Rounded Rectangle 8"/>
          <p:cNvSpPr/>
          <p:nvPr/>
        </p:nvSpPr>
        <p:spPr>
          <a:xfrm>
            <a:off x="567000" y="1783080"/>
            <a:ext cx="5348880" cy="411120"/>
          </a:xfrm>
          <a:prstGeom prst="roundRect">
            <a:avLst>
              <a:gd name="adj" fmla="val 12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200" spc="-1" strike="noStrike">
                <a:solidFill>
                  <a:srgbClr val="ffffff"/>
                </a:solidFill>
                <a:latin typeface="Segoe UI"/>
              </a:rPr>
              <a:t>SECUENCIA DE ARRANQUE</a:t>
            </a:r>
            <a:endParaRPr b="0" lang="en-US" sz="1200" spc="-1" strike="noStrike">
              <a:solidFill>
                <a:srgbClr val="ffffff"/>
              </a:solidFill>
              <a:latin typeface="Arial"/>
            </a:endParaRPr>
          </a:p>
        </p:txBody>
      </p:sp>
      <p:sp>
        <p:nvSpPr>
          <p:cNvPr id="1003" name="Rectangle 9"/>
          <p:cNvSpPr/>
          <p:nvPr/>
        </p:nvSpPr>
        <p:spPr>
          <a:xfrm>
            <a:off x="567000" y="2350080"/>
            <a:ext cx="5348880" cy="7311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04" name="Rectangle 10"/>
          <p:cNvSpPr/>
          <p:nvPr/>
        </p:nvSpPr>
        <p:spPr>
          <a:xfrm>
            <a:off x="567000" y="2350080"/>
            <a:ext cx="383760" cy="73116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05" name="TextBox 11"/>
          <p:cNvSpPr/>
          <p:nvPr/>
        </p:nvSpPr>
        <p:spPr>
          <a:xfrm>
            <a:off x="567000" y="2560320"/>
            <a:ext cx="383760" cy="2138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400" spc="-1" strike="noStrike">
                <a:solidFill>
                  <a:srgbClr val="ffffff"/>
                </a:solidFill>
                <a:latin typeface="Segoe UI"/>
              </a:rPr>
              <a:t>1</a:t>
            </a:r>
            <a:endParaRPr b="0" lang="en-US" sz="1400" spc="-1" strike="noStrike">
              <a:solidFill>
                <a:srgbClr val="000000"/>
              </a:solidFill>
              <a:latin typeface="Arial"/>
            </a:endParaRPr>
          </a:p>
        </p:txBody>
      </p:sp>
      <p:sp>
        <p:nvSpPr>
          <p:cNvPr id="1006" name="TextBox 12"/>
          <p:cNvSpPr/>
          <p:nvPr/>
        </p:nvSpPr>
        <p:spPr>
          <a:xfrm>
            <a:off x="1097280" y="2450520"/>
            <a:ext cx="46630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a:rPr>
              <a:t>Conectar la alimentación de control </a:t>
            </a:r>
            <a:r>
              <a:rPr b="1" lang="en-US" sz="1100" spc="-1" strike="noStrike">
                <a:solidFill>
                  <a:srgbClr val="0b2545"/>
                </a:solidFill>
                <a:latin typeface="Consolas"/>
              </a:rPr>
              <a:t>L1C</a:t>
            </a:r>
            <a:r>
              <a:rPr b="1" lang="en-US" sz="1100" spc="-1" strike="noStrike">
                <a:solidFill>
                  <a:srgbClr val="0b2545"/>
                </a:solidFill>
                <a:latin typeface="Segoe UI"/>
              </a:rPr>
              <a:t> </a:t>
            </a:r>
            <a:r>
              <a:rPr b="1" lang="en-US" sz="1100" spc="-1" strike="noStrike">
                <a:solidFill>
                  <a:srgbClr val="0b2545"/>
                </a:solidFill>
                <a:latin typeface="Consolas"/>
              </a:rPr>
              <a:t>L2C</a:t>
            </a:r>
            <a:endParaRPr b="0" lang="en-US" sz="1100" spc="-1" strike="noStrike">
              <a:solidFill>
                <a:srgbClr val="000000"/>
              </a:solidFill>
              <a:latin typeface="Arial"/>
            </a:endParaRPr>
          </a:p>
        </p:txBody>
      </p:sp>
      <p:sp>
        <p:nvSpPr>
          <p:cNvPr id="1007" name="TextBox 13"/>
          <p:cNvSpPr/>
          <p:nvPr/>
        </p:nvSpPr>
        <p:spPr>
          <a:xfrm>
            <a:off x="1097280" y="2743200"/>
            <a:ext cx="46630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El display se ilumina; el drive arranca su electrónica</a:t>
            </a:r>
            <a:endParaRPr b="0" lang="en-US" sz="950" spc="-1" strike="noStrike">
              <a:solidFill>
                <a:srgbClr val="000000"/>
              </a:solidFill>
              <a:latin typeface="Arial"/>
            </a:endParaRPr>
          </a:p>
        </p:txBody>
      </p:sp>
      <p:sp>
        <p:nvSpPr>
          <p:cNvPr id="1008" name="Rectangle 14"/>
          <p:cNvSpPr/>
          <p:nvPr/>
        </p:nvSpPr>
        <p:spPr>
          <a:xfrm>
            <a:off x="567000" y="3136320"/>
            <a:ext cx="5348880" cy="7311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09" name="Rectangle 15"/>
          <p:cNvSpPr/>
          <p:nvPr/>
        </p:nvSpPr>
        <p:spPr>
          <a:xfrm>
            <a:off x="567000" y="3136320"/>
            <a:ext cx="383760" cy="73116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10" name="TextBox 16"/>
          <p:cNvSpPr/>
          <p:nvPr/>
        </p:nvSpPr>
        <p:spPr>
          <a:xfrm>
            <a:off x="567000" y="3346560"/>
            <a:ext cx="383760" cy="2138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400" spc="-1" strike="noStrike">
                <a:solidFill>
                  <a:srgbClr val="ffffff"/>
                </a:solidFill>
                <a:latin typeface="Segoe UI"/>
              </a:rPr>
              <a:t>2</a:t>
            </a:r>
            <a:endParaRPr b="0" lang="en-US" sz="1400" spc="-1" strike="noStrike">
              <a:solidFill>
                <a:srgbClr val="000000"/>
              </a:solidFill>
              <a:latin typeface="Arial"/>
            </a:endParaRPr>
          </a:p>
        </p:txBody>
      </p:sp>
      <p:sp>
        <p:nvSpPr>
          <p:cNvPr id="1011" name="TextBox 17"/>
          <p:cNvSpPr/>
          <p:nvPr/>
        </p:nvSpPr>
        <p:spPr>
          <a:xfrm>
            <a:off x="1097280" y="3237120"/>
            <a:ext cx="46630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a:rPr>
              <a:t>Conectar la alimentación de potencia </a:t>
            </a:r>
            <a:r>
              <a:rPr b="1" lang="en-US" sz="1100" spc="-1" strike="noStrike">
                <a:solidFill>
                  <a:srgbClr val="0b2545"/>
                </a:solidFill>
                <a:latin typeface="Consolas"/>
              </a:rPr>
              <a:t>L1</a:t>
            </a:r>
            <a:r>
              <a:rPr b="1" lang="en-US" sz="1100" spc="-1" strike="noStrike">
                <a:solidFill>
                  <a:srgbClr val="0b2545"/>
                </a:solidFill>
                <a:latin typeface="Segoe UI"/>
              </a:rPr>
              <a:t> </a:t>
            </a:r>
            <a:r>
              <a:rPr b="1" lang="en-US" sz="1100" spc="-1" strike="noStrike">
                <a:solidFill>
                  <a:srgbClr val="0b2545"/>
                </a:solidFill>
                <a:latin typeface="Consolas"/>
              </a:rPr>
              <a:t>L2</a:t>
            </a:r>
            <a:r>
              <a:rPr b="1" lang="en-US" sz="1100" spc="-1" strike="noStrike">
                <a:solidFill>
                  <a:srgbClr val="0b2545"/>
                </a:solidFill>
                <a:latin typeface="Segoe UI"/>
              </a:rPr>
              <a:t> </a:t>
            </a:r>
            <a:r>
              <a:rPr b="1" lang="en-US" sz="1100" spc="-1" strike="noStrike">
                <a:solidFill>
                  <a:srgbClr val="0b2545"/>
                </a:solidFill>
                <a:latin typeface="Consolas"/>
              </a:rPr>
              <a:t>L3</a:t>
            </a:r>
            <a:endParaRPr b="0" lang="en-US" sz="1100" spc="-1" strike="noStrike">
              <a:solidFill>
                <a:srgbClr val="000000"/>
              </a:solidFill>
              <a:latin typeface="Arial"/>
            </a:endParaRPr>
          </a:p>
        </p:txBody>
      </p:sp>
      <p:sp>
        <p:nvSpPr>
          <p:cNvPr id="1012" name="TextBox 18"/>
          <p:cNvSpPr/>
          <p:nvPr/>
        </p:nvSpPr>
        <p:spPr>
          <a:xfrm>
            <a:off x="1097280" y="3529440"/>
            <a:ext cx="46630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Se cargan los condensadores del bus (precarga)</a:t>
            </a:r>
            <a:endParaRPr b="0" lang="en-US" sz="950" spc="-1" strike="noStrike">
              <a:solidFill>
                <a:srgbClr val="000000"/>
              </a:solidFill>
              <a:latin typeface="Arial"/>
            </a:endParaRPr>
          </a:p>
        </p:txBody>
      </p:sp>
      <p:sp>
        <p:nvSpPr>
          <p:cNvPr id="1013" name="Rectangle 19"/>
          <p:cNvSpPr/>
          <p:nvPr/>
        </p:nvSpPr>
        <p:spPr>
          <a:xfrm>
            <a:off x="567000" y="3922920"/>
            <a:ext cx="5348880" cy="7311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14" name="Rectangle 20"/>
          <p:cNvSpPr/>
          <p:nvPr/>
        </p:nvSpPr>
        <p:spPr>
          <a:xfrm>
            <a:off x="567000" y="3922920"/>
            <a:ext cx="383760" cy="73116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15" name="TextBox 21"/>
          <p:cNvSpPr/>
          <p:nvPr/>
        </p:nvSpPr>
        <p:spPr>
          <a:xfrm>
            <a:off x="567000" y="4133160"/>
            <a:ext cx="383760" cy="2138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400" spc="-1" strike="noStrike">
                <a:solidFill>
                  <a:srgbClr val="ffffff"/>
                </a:solidFill>
                <a:latin typeface="Segoe UI"/>
              </a:rPr>
              <a:t>3</a:t>
            </a:r>
            <a:endParaRPr b="0" lang="en-US" sz="1400" spc="-1" strike="noStrike">
              <a:solidFill>
                <a:srgbClr val="000000"/>
              </a:solidFill>
              <a:latin typeface="Arial"/>
            </a:endParaRPr>
          </a:p>
        </p:txBody>
      </p:sp>
      <p:sp>
        <p:nvSpPr>
          <p:cNvPr id="1016" name="TextBox 22"/>
          <p:cNvSpPr/>
          <p:nvPr/>
        </p:nvSpPr>
        <p:spPr>
          <a:xfrm>
            <a:off x="1097280" y="4023360"/>
            <a:ext cx="46630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a:rPr>
              <a:t>Esperar a que el drive esté listo (</a:t>
            </a:r>
            <a:r>
              <a:rPr b="1" lang="en-US" sz="1100" spc="-1" strike="noStrike">
                <a:solidFill>
                  <a:srgbClr val="0b2545"/>
                </a:solidFill>
                <a:latin typeface="Consolas"/>
              </a:rPr>
              <a:t>/S-RDY</a:t>
            </a:r>
            <a:r>
              <a:rPr b="1" lang="en-US" sz="1100" spc="-1" strike="noStrike">
                <a:solidFill>
                  <a:srgbClr val="0b2545"/>
                </a:solidFill>
                <a:latin typeface="Segoe UI"/>
              </a:rPr>
              <a:t>)</a:t>
            </a:r>
            <a:endParaRPr b="0" lang="en-US" sz="1100" spc="-1" strike="noStrike">
              <a:solidFill>
                <a:srgbClr val="000000"/>
              </a:solidFill>
              <a:latin typeface="Arial"/>
            </a:endParaRPr>
          </a:p>
        </p:txBody>
      </p:sp>
      <p:sp>
        <p:nvSpPr>
          <p:cNvPr id="1017" name="TextBox 23"/>
          <p:cNvSpPr/>
          <p:nvPr/>
        </p:nvSpPr>
        <p:spPr>
          <a:xfrm>
            <a:off x="1097280" y="4316040"/>
            <a:ext cx="46630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Unas décimas de segundo; no fuerces el paso</a:t>
            </a:r>
            <a:endParaRPr b="0" lang="en-US" sz="950" spc="-1" strike="noStrike">
              <a:solidFill>
                <a:srgbClr val="000000"/>
              </a:solidFill>
              <a:latin typeface="Arial"/>
            </a:endParaRPr>
          </a:p>
        </p:txBody>
      </p:sp>
      <p:sp>
        <p:nvSpPr>
          <p:cNvPr id="1018" name="Rectangle 24"/>
          <p:cNvSpPr/>
          <p:nvPr/>
        </p:nvSpPr>
        <p:spPr>
          <a:xfrm>
            <a:off x="567000" y="4709160"/>
            <a:ext cx="5348880" cy="7311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19" name="Rectangle 25"/>
          <p:cNvSpPr/>
          <p:nvPr/>
        </p:nvSpPr>
        <p:spPr>
          <a:xfrm>
            <a:off x="567000" y="4709160"/>
            <a:ext cx="383760" cy="73116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20" name="TextBox 26"/>
          <p:cNvSpPr/>
          <p:nvPr/>
        </p:nvSpPr>
        <p:spPr>
          <a:xfrm>
            <a:off x="567000" y="4919400"/>
            <a:ext cx="383760" cy="2138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400" spc="-1" strike="noStrike">
                <a:solidFill>
                  <a:srgbClr val="ffffff"/>
                </a:solidFill>
                <a:latin typeface="Segoe UI"/>
              </a:rPr>
              <a:t>4</a:t>
            </a:r>
            <a:endParaRPr b="0" lang="en-US" sz="1400" spc="-1" strike="noStrike">
              <a:solidFill>
                <a:srgbClr val="000000"/>
              </a:solidFill>
              <a:latin typeface="Arial"/>
            </a:endParaRPr>
          </a:p>
        </p:txBody>
      </p:sp>
      <p:sp>
        <p:nvSpPr>
          <p:cNvPr id="1021" name="TextBox 27"/>
          <p:cNvSpPr/>
          <p:nvPr/>
        </p:nvSpPr>
        <p:spPr>
          <a:xfrm>
            <a:off x="1097280" y="4809600"/>
            <a:ext cx="46630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a:rPr>
              <a:t>Servo ON (</a:t>
            </a:r>
            <a:r>
              <a:rPr b="1" lang="en-US" sz="1100" spc="-1" strike="noStrike">
                <a:solidFill>
                  <a:srgbClr val="0b2545"/>
                </a:solidFill>
                <a:latin typeface="Consolas"/>
              </a:rPr>
              <a:t>/S-ON</a:t>
            </a:r>
            <a:r>
              <a:rPr b="1" lang="en-US" sz="1100" spc="-1" strike="noStrike">
                <a:solidFill>
                  <a:srgbClr val="0b2545"/>
                </a:solidFill>
                <a:latin typeface="Segoe UI"/>
              </a:rPr>
              <a:t>), liberar el freno y mover</a:t>
            </a:r>
            <a:endParaRPr b="0" lang="en-US" sz="1100" spc="-1" strike="noStrike">
              <a:solidFill>
                <a:srgbClr val="000000"/>
              </a:solidFill>
              <a:latin typeface="Arial"/>
            </a:endParaRPr>
          </a:p>
        </p:txBody>
      </p:sp>
      <p:sp>
        <p:nvSpPr>
          <p:cNvPr id="1022" name="TextBox 28"/>
          <p:cNvSpPr/>
          <p:nvPr/>
        </p:nvSpPr>
        <p:spPr>
          <a:xfrm>
            <a:off x="1097280" y="5102280"/>
            <a:ext cx="46630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Primero el motor sostiene la carga, después se libera el freno</a:t>
            </a:r>
            <a:endParaRPr b="0" lang="en-US" sz="950" spc="-1" strike="noStrike">
              <a:solidFill>
                <a:srgbClr val="000000"/>
              </a:solidFill>
              <a:latin typeface="Arial"/>
            </a:endParaRPr>
          </a:p>
        </p:txBody>
      </p:sp>
      <p:sp>
        <p:nvSpPr>
          <p:cNvPr id="1023" name="Rounded Rectangle 29"/>
          <p:cNvSpPr/>
          <p:nvPr/>
        </p:nvSpPr>
        <p:spPr>
          <a:xfrm>
            <a:off x="6291000" y="1783080"/>
            <a:ext cx="5348880" cy="411120"/>
          </a:xfrm>
          <a:prstGeom prst="roundRect">
            <a:avLst>
              <a:gd name="adj" fmla="val 12000"/>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200" spc="-1" strike="noStrike">
                <a:solidFill>
                  <a:srgbClr val="ffffff"/>
                </a:solidFill>
                <a:latin typeface="Segoe UI"/>
              </a:rPr>
              <a:t>SECUENCIA DE PARADA</a:t>
            </a:r>
            <a:endParaRPr b="0" lang="en-US" sz="1200" spc="-1" strike="noStrike">
              <a:solidFill>
                <a:srgbClr val="ffffff"/>
              </a:solidFill>
              <a:latin typeface="Arial"/>
            </a:endParaRPr>
          </a:p>
        </p:txBody>
      </p:sp>
      <p:sp>
        <p:nvSpPr>
          <p:cNvPr id="1024" name="Rectangle 30"/>
          <p:cNvSpPr/>
          <p:nvPr/>
        </p:nvSpPr>
        <p:spPr>
          <a:xfrm>
            <a:off x="6291000" y="2350080"/>
            <a:ext cx="5348880" cy="7311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25" name="Rectangle 31"/>
          <p:cNvSpPr/>
          <p:nvPr/>
        </p:nvSpPr>
        <p:spPr>
          <a:xfrm>
            <a:off x="6291000" y="2350080"/>
            <a:ext cx="383760" cy="73116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26" name="TextBox 32"/>
          <p:cNvSpPr/>
          <p:nvPr/>
        </p:nvSpPr>
        <p:spPr>
          <a:xfrm>
            <a:off x="6291000" y="2560320"/>
            <a:ext cx="383760" cy="2138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400" spc="-1" strike="noStrike">
                <a:solidFill>
                  <a:srgbClr val="ffffff"/>
                </a:solidFill>
                <a:latin typeface="Segoe UI"/>
              </a:rPr>
              <a:t>1</a:t>
            </a:r>
            <a:endParaRPr b="0" lang="en-US" sz="1400" spc="-1" strike="noStrike">
              <a:solidFill>
                <a:srgbClr val="000000"/>
              </a:solidFill>
              <a:latin typeface="Arial"/>
            </a:endParaRPr>
          </a:p>
        </p:txBody>
      </p:sp>
      <p:sp>
        <p:nvSpPr>
          <p:cNvPr id="1027" name="TextBox 33"/>
          <p:cNvSpPr/>
          <p:nvPr/>
        </p:nvSpPr>
        <p:spPr>
          <a:xfrm>
            <a:off x="6821280" y="2450520"/>
            <a:ext cx="46630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a:rPr>
              <a:t>Llevar la consigna a cero y esperar velocidad cero</a:t>
            </a:r>
            <a:endParaRPr b="0" lang="en-US" sz="1100" spc="-1" strike="noStrike">
              <a:solidFill>
                <a:srgbClr val="000000"/>
              </a:solidFill>
              <a:latin typeface="Arial"/>
            </a:endParaRPr>
          </a:p>
        </p:txBody>
      </p:sp>
      <p:sp>
        <p:nvSpPr>
          <p:cNvPr id="1028" name="TextBox 34"/>
          <p:cNvSpPr/>
          <p:nvPr/>
        </p:nvSpPr>
        <p:spPr>
          <a:xfrm>
            <a:off x="6821280" y="2743200"/>
            <a:ext cx="46630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Nunca cortar en movimiento si puede evitarse</a:t>
            </a:r>
            <a:endParaRPr b="0" lang="en-US" sz="950" spc="-1" strike="noStrike">
              <a:solidFill>
                <a:srgbClr val="000000"/>
              </a:solidFill>
              <a:latin typeface="Arial"/>
            </a:endParaRPr>
          </a:p>
        </p:txBody>
      </p:sp>
      <p:sp>
        <p:nvSpPr>
          <p:cNvPr id="1029" name="Rectangle 35"/>
          <p:cNvSpPr/>
          <p:nvPr/>
        </p:nvSpPr>
        <p:spPr>
          <a:xfrm>
            <a:off x="6291000" y="3136320"/>
            <a:ext cx="5348880" cy="7311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30" name="Rectangle 36"/>
          <p:cNvSpPr/>
          <p:nvPr/>
        </p:nvSpPr>
        <p:spPr>
          <a:xfrm>
            <a:off x="6291000" y="3136320"/>
            <a:ext cx="383760" cy="73116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31" name="TextBox 37"/>
          <p:cNvSpPr/>
          <p:nvPr/>
        </p:nvSpPr>
        <p:spPr>
          <a:xfrm>
            <a:off x="6291000" y="3346560"/>
            <a:ext cx="383760" cy="2138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400" spc="-1" strike="noStrike">
                <a:solidFill>
                  <a:srgbClr val="ffffff"/>
                </a:solidFill>
                <a:latin typeface="Segoe UI"/>
              </a:rPr>
              <a:t>2</a:t>
            </a:r>
            <a:endParaRPr b="0" lang="en-US" sz="1400" spc="-1" strike="noStrike">
              <a:solidFill>
                <a:srgbClr val="000000"/>
              </a:solidFill>
              <a:latin typeface="Arial"/>
            </a:endParaRPr>
          </a:p>
        </p:txBody>
      </p:sp>
      <p:sp>
        <p:nvSpPr>
          <p:cNvPr id="1032" name="TextBox 38"/>
          <p:cNvSpPr/>
          <p:nvPr/>
        </p:nvSpPr>
        <p:spPr>
          <a:xfrm>
            <a:off x="6821280" y="3237120"/>
            <a:ext cx="46630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a:rPr>
              <a:t>Aplicar el freno (</a:t>
            </a:r>
            <a:r>
              <a:rPr b="1" lang="en-US" sz="1100" spc="-1" strike="noStrike">
                <a:solidFill>
                  <a:srgbClr val="0b2545"/>
                </a:solidFill>
                <a:latin typeface="Consolas"/>
              </a:rPr>
              <a:t>/BK</a:t>
            </a:r>
            <a:r>
              <a:rPr b="1" lang="en-US" sz="1100" spc="-1" strike="noStrike">
                <a:solidFill>
                  <a:srgbClr val="0b2545"/>
                </a:solidFill>
                <a:latin typeface="Segoe UI"/>
              </a:rPr>
              <a:t>) y esperar a que agarre</a:t>
            </a:r>
            <a:endParaRPr b="0" lang="en-US" sz="1100" spc="-1" strike="noStrike">
              <a:solidFill>
                <a:srgbClr val="000000"/>
              </a:solidFill>
              <a:latin typeface="Arial"/>
            </a:endParaRPr>
          </a:p>
        </p:txBody>
      </p:sp>
      <p:sp>
        <p:nvSpPr>
          <p:cNvPr id="1033" name="TextBox 39"/>
          <p:cNvSpPr/>
          <p:nvPr/>
        </p:nvSpPr>
        <p:spPr>
          <a:xfrm>
            <a:off x="6821280" y="3529440"/>
            <a:ext cx="46630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Consolas"/>
              </a:rPr>
              <a:t>Pn507</a:t>
            </a:r>
            <a:r>
              <a:rPr b="0" lang="en-US" sz="950" spc="-1" strike="noStrike">
                <a:solidFill>
                  <a:srgbClr val="5a6b7b"/>
                </a:solidFill>
                <a:latin typeface="Segoe UI"/>
              </a:rPr>
              <a:t> fija el umbral de velocidad; </a:t>
            </a:r>
            <a:r>
              <a:rPr b="0" lang="en-US" sz="950" spc="-1" strike="noStrike">
                <a:solidFill>
                  <a:srgbClr val="5a6b7b"/>
                </a:solidFill>
                <a:latin typeface="Consolas"/>
              </a:rPr>
              <a:t>Pn508</a:t>
            </a:r>
            <a:r>
              <a:rPr b="0" lang="en-US" sz="950" spc="-1" strike="noStrike">
                <a:solidFill>
                  <a:srgbClr val="5a6b7b"/>
                </a:solidFill>
                <a:latin typeface="Segoe UI"/>
              </a:rPr>
              <a:t>, la espera</a:t>
            </a:r>
            <a:endParaRPr b="0" lang="en-US" sz="950" spc="-1" strike="noStrike">
              <a:solidFill>
                <a:srgbClr val="000000"/>
              </a:solidFill>
              <a:latin typeface="Arial"/>
            </a:endParaRPr>
          </a:p>
        </p:txBody>
      </p:sp>
      <p:sp>
        <p:nvSpPr>
          <p:cNvPr id="1034" name="Rectangle 40"/>
          <p:cNvSpPr/>
          <p:nvPr/>
        </p:nvSpPr>
        <p:spPr>
          <a:xfrm>
            <a:off x="6291000" y="3922920"/>
            <a:ext cx="5348880" cy="7311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35" name="Rectangle 41"/>
          <p:cNvSpPr/>
          <p:nvPr/>
        </p:nvSpPr>
        <p:spPr>
          <a:xfrm>
            <a:off x="6291000" y="3922920"/>
            <a:ext cx="383760" cy="73116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36" name="TextBox 42"/>
          <p:cNvSpPr/>
          <p:nvPr/>
        </p:nvSpPr>
        <p:spPr>
          <a:xfrm>
            <a:off x="6291000" y="4133160"/>
            <a:ext cx="383760" cy="2138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400" spc="-1" strike="noStrike">
                <a:solidFill>
                  <a:srgbClr val="ffffff"/>
                </a:solidFill>
                <a:latin typeface="Segoe UI"/>
              </a:rPr>
              <a:t>3</a:t>
            </a:r>
            <a:endParaRPr b="0" lang="en-US" sz="1400" spc="-1" strike="noStrike">
              <a:solidFill>
                <a:srgbClr val="000000"/>
              </a:solidFill>
              <a:latin typeface="Arial"/>
            </a:endParaRPr>
          </a:p>
        </p:txBody>
      </p:sp>
      <p:sp>
        <p:nvSpPr>
          <p:cNvPr id="1037" name="TextBox 43"/>
          <p:cNvSpPr/>
          <p:nvPr/>
        </p:nvSpPr>
        <p:spPr>
          <a:xfrm>
            <a:off x="6821280" y="4023360"/>
            <a:ext cx="46630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a:rPr>
              <a:t>Desactivar servo OFF</a:t>
            </a:r>
            <a:endParaRPr b="0" lang="en-US" sz="1100" spc="-1" strike="noStrike">
              <a:solidFill>
                <a:srgbClr val="000000"/>
              </a:solidFill>
              <a:latin typeface="Arial"/>
            </a:endParaRPr>
          </a:p>
        </p:txBody>
      </p:sp>
      <p:sp>
        <p:nvSpPr>
          <p:cNvPr id="1038" name="TextBox 44"/>
          <p:cNvSpPr/>
          <p:nvPr/>
        </p:nvSpPr>
        <p:spPr>
          <a:xfrm>
            <a:off x="6821280" y="4316040"/>
            <a:ext cx="46630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El motor deja de dar par; el freno sostiene la carga</a:t>
            </a:r>
            <a:endParaRPr b="0" lang="en-US" sz="950" spc="-1" strike="noStrike">
              <a:solidFill>
                <a:srgbClr val="000000"/>
              </a:solidFill>
              <a:latin typeface="Arial"/>
            </a:endParaRPr>
          </a:p>
        </p:txBody>
      </p:sp>
      <p:sp>
        <p:nvSpPr>
          <p:cNvPr id="1039" name="Rectangle 45"/>
          <p:cNvSpPr/>
          <p:nvPr/>
        </p:nvSpPr>
        <p:spPr>
          <a:xfrm>
            <a:off x="6291000" y="4709160"/>
            <a:ext cx="5348880" cy="7311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40" name="Rectangle 46"/>
          <p:cNvSpPr/>
          <p:nvPr/>
        </p:nvSpPr>
        <p:spPr>
          <a:xfrm>
            <a:off x="6291000" y="4709160"/>
            <a:ext cx="383760" cy="73116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41" name="TextBox 47"/>
          <p:cNvSpPr/>
          <p:nvPr/>
        </p:nvSpPr>
        <p:spPr>
          <a:xfrm>
            <a:off x="6291000" y="4919400"/>
            <a:ext cx="383760" cy="2138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400" spc="-1" strike="noStrike">
                <a:solidFill>
                  <a:srgbClr val="ffffff"/>
                </a:solidFill>
                <a:latin typeface="Segoe UI"/>
              </a:rPr>
              <a:t>4</a:t>
            </a:r>
            <a:endParaRPr b="0" lang="en-US" sz="1400" spc="-1" strike="noStrike">
              <a:solidFill>
                <a:srgbClr val="000000"/>
              </a:solidFill>
              <a:latin typeface="Arial"/>
            </a:endParaRPr>
          </a:p>
        </p:txBody>
      </p:sp>
      <p:sp>
        <p:nvSpPr>
          <p:cNvPr id="1042" name="TextBox 48"/>
          <p:cNvSpPr/>
          <p:nvPr/>
        </p:nvSpPr>
        <p:spPr>
          <a:xfrm>
            <a:off x="6821280" y="4809600"/>
            <a:ext cx="46630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a:rPr>
              <a:t>Cortar la potencia y, por último, el control</a:t>
            </a:r>
            <a:endParaRPr b="0" lang="en-US" sz="1100" spc="-1" strike="noStrike">
              <a:solidFill>
                <a:srgbClr val="000000"/>
              </a:solidFill>
              <a:latin typeface="Arial"/>
            </a:endParaRPr>
          </a:p>
        </p:txBody>
      </p:sp>
      <p:sp>
        <p:nvSpPr>
          <p:cNvPr id="1043" name="TextBox 49"/>
          <p:cNvSpPr/>
          <p:nvPr/>
        </p:nvSpPr>
        <p:spPr>
          <a:xfrm>
            <a:off x="6821280" y="5102280"/>
            <a:ext cx="46630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El control se corta al final para no perder el diagnóstico</a:t>
            </a:r>
            <a:endParaRPr b="0" lang="en-US" sz="950" spc="-1" strike="noStrike">
              <a:solidFill>
                <a:srgbClr val="000000"/>
              </a:solidFill>
              <a:latin typeface="Arial"/>
            </a:endParaRPr>
          </a:p>
        </p:txBody>
      </p:sp>
      <p:sp>
        <p:nvSpPr>
          <p:cNvPr id="1044" name="Rectangle 50"/>
          <p:cNvSpPr/>
          <p:nvPr/>
        </p:nvSpPr>
        <p:spPr>
          <a:xfrm>
            <a:off x="567000" y="5577840"/>
            <a:ext cx="11063880" cy="74952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45" name="Rectangle 51"/>
          <p:cNvSpPr/>
          <p:nvPr/>
        </p:nvSpPr>
        <p:spPr>
          <a:xfrm>
            <a:off x="567000" y="5577840"/>
            <a:ext cx="68400" cy="74952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46" name="TextBox 52"/>
          <p:cNvSpPr/>
          <p:nvPr/>
        </p:nvSpPr>
        <p:spPr>
          <a:xfrm>
            <a:off x="841320" y="5715000"/>
            <a:ext cx="1056096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Dos errores de secuencia muy frecuentes</a:t>
            </a:r>
            <a:endParaRPr b="0" lang="en-US" sz="1200" spc="-1" strike="noStrike">
              <a:solidFill>
                <a:srgbClr val="000000"/>
              </a:solidFill>
              <a:latin typeface="Arial"/>
            </a:endParaRPr>
          </a:p>
        </p:txBody>
      </p:sp>
      <p:sp>
        <p:nvSpPr>
          <p:cNvPr id="1047" name="TextBox 53"/>
          <p:cNvSpPr/>
          <p:nvPr/>
        </p:nvSpPr>
        <p:spPr>
          <a:xfrm>
            <a:off x="841320" y="5989320"/>
            <a:ext cx="1056096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Dar servo ON inmediatamente después de la potencia (alarma de subtensión o de secuencia inválida) · Cortar el contactor de línea con el motor girando como forma habitual de parar la máquina (desgasta el circuito de precarga y provoca paradas por freno dinámico).</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8"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49"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050"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Compatibilidad electromagnética: reglas de oro</a:t>
            </a:r>
            <a:endParaRPr b="0" lang="en-US" sz="2500" spc="-1" strike="noStrike">
              <a:solidFill>
                <a:srgbClr val="000000"/>
              </a:solidFill>
              <a:latin typeface="Arial"/>
            </a:endParaRPr>
          </a:p>
        </p:txBody>
      </p:sp>
      <p:sp>
        <p:nvSpPr>
          <p:cNvPr id="1051"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El apantallamiento no es opcional: es parte del diseño eléctrico</a:t>
            </a:r>
            <a:endParaRPr b="0" lang="en-US" sz="1250" spc="-1" strike="noStrike">
              <a:solidFill>
                <a:srgbClr val="000000"/>
              </a:solidFill>
              <a:latin typeface="Arial"/>
            </a:endParaRPr>
          </a:p>
        </p:txBody>
      </p:sp>
      <p:sp>
        <p:nvSpPr>
          <p:cNvPr id="1052"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1053"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054"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55</a:t>
            </a:r>
            <a:endParaRPr b="0" lang="en-US" sz="900" spc="-1" strike="noStrike">
              <a:solidFill>
                <a:srgbClr val="000000"/>
              </a:solidFill>
              <a:latin typeface="Arial"/>
            </a:endParaRPr>
          </a:p>
        </p:txBody>
      </p:sp>
      <p:sp>
        <p:nvSpPr>
          <p:cNvPr id="1055" name="TextBox 8"/>
          <p:cNvSpPr/>
          <p:nvPr/>
        </p:nvSpPr>
        <p:spPr>
          <a:xfrm>
            <a:off x="567000" y="1481400"/>
            <a:ext cx="11057400" cy="381528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880" spc="-1" strike="noStrike">
                <a:solidFill>
                  <a:srgbClr val="1b5ea8"/>
                </a:solidFill>
                <a:latin typeface="Segoe UI Semibold"/>
              </a:rPr>
              <a:t>El problema</a:t>
            </a:r>
            <a:endParaRPr b="0" lang="en-US" sz="8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20" spc="-1" strike="noStrike">
                <a:solidFill>
                  <a:srgbClr val="1c2430"/>
                </a:solidFill>
                <a:latin typeface="Segoe UI"/>
              </a:rPr>
              <a:t>El inversor conmuta cientos de amperios en decenas de nanosegundos. Esos flancos generan interferencias que se acoplan a los cables cercanos y a la red.</a:t>
            </a:r>
            <a:endParaRPr b="0" lang="en-US" sz="92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880" spc="-1" strike="noStrike">
                <a:solidFill>
                  <a:srgbClr val="1b5ea8"/>
                </a:solidFill>
                <a:latin typeface="Segoe UI Semibold"/>
              </a:rPr>
              <a:t>Las siete reglas que resuelven el 95 % de los casos</a:t>
            </a:r>
            <a:endParaRPr b="0" lang="en-US" sz="8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20" spc="-1" strike="noStrike">
                <a:solidFill>
                  <a:srgbClr val="1c2430"/>
                </a:solidFill>
                <a:latin typeface="Segoe UI"/>
              </a:rPr>
              <a:t>1. Filtro de red en la entrada, montado junto al amplificador y con la carcasa en contacto metal-metal con la placa.</a:t>
            </a:r>
            <a:endParaRPr b="0" lang="en-US" sz="9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20" spc="-1" strike="noStrike">
                <a:solidFill>
                  <a:srgbClr val="1c2430"/>
                </a:solidFill>
                <a:latin typeface="Segoe UI"/>
              </a:rPr>
              <a:t>2. Cable de motor apantallado, con la malla conectada a tierra en ambos extremos y por 360° (abrazadera EMC), no con un latiguillo.</a:t>
            </a:r>
            <a:endParaRPr b="0" lang="en-US" sz="9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20" spc="-1" strike="noStrike">
                <a:solidFill>
                  <a:srgbClr val="1c2430"/>
                </a:solidFill>
                <a:latin typeface="Segoe UI"/>
              </a:rPr>
              <a:t>3. Separación física: mínimo 30 cm entre cables de potencia y cables de señal/encoder que discurran en paralelo.</a:t>
            </a:r>
            <a:endParaRPr b="0" lang="en-US" sz="9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20" spc="-1" strike="noStrike">
                <a:solidFill>
                  <a:srgbClr val="1c2430"/>
                </a:solidFill>
                <a:latin typeface="Segoe UI"/>
              </a:rPr>
              <a:t>4. Cruces a 90° cuando sea inevitable que se crucen.</a:t>
            </a:r>
            <a:endParaRPr b="0" lang="en-US" sz="9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20" spc="-1" strike="noStrike">
                <a:solidFill>
                  <a:srgbClr val="1c2430"/>
                </a:solidFill>
                <a:latin typeface="Segoe UI"/>
              </a:rPr>
              <a:t>5. Canaletas metálicas separadas para potencia y para señal, conectadas a tierra.</a:t>
            </a:r>
            <a:endParaRPr b="0" lang="en-US" sz="9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20" spc="-1" strike="noStrike">
                <a:solidFill>
                  <a:srgbClr val="1c2430"/>
                </a:solidFill>
                <a:latin typeface="Segoe UI"/>
              </a:rPr>
              <a:t>6. Cable de motor lo más corto posible: la longitud aumenta las corrientes de fuga y la emisión.</a:t>
            </a:r>
            <a:endParaRPr b="0" lang="en-US" sz="9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20" spc="-1" strike="noStrike">
                <a:solidFill>
                  <a:srgbClr val="1c2430"/>
                </a:solidFill>
                <a:latin typeface="Segoe UI"/>
              </a:rPr>
              <a:t>7. Un único punto de referencia de masa en el armario: placa de montaje desnuda, con todas las tierras en estrella hacia ella.</a:t>
            </a:r>
            <a:endParaRPr b="0" lang="en-US" sz="92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880" spc="-1" strike="noStrike">
                <a:solidFill>
                  <a:srgbClr val="1b5ea8"/>
                </a:solidFill>
                <a:latin typeface="Segoe UI Semibold"/>
              </a:rPr>
              <a:t>Cómo se manifiesta un problema de EMC</a:t>
            </a:r>
            <a:endParaRPr b="0" lang="en-US" sz="88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770" spc="-1" strike="noStrike">
                <a:solidFill>
                  <a:srgbClr val="333f4c"/>
                </a:solidFill>
                <a:latin typeface="Segoe UI"/>
              </a:rPr>
              <a:t>Alarmas intermitentes de encoder (</a:t>
            </a:r>
            <a:r>
              <a:rPr b="0" lang="en-US" sz="770" spc="-1" strike="noStrike">
                <a:solidFill>
                  <a:srgbClr val="333f4c"/>
                </a:solidFill>
                <a:latin typeface="Consolas"/>
              </a:rPr>
              <a:t>A.C90</a:t>
            </a:r>
            <a:r>
              <a:rPr b="0" lang="en-US" sz="770" spc="-1" strike="noStrike">
                <a:solidFill>
                  <a:srgbClr val="333f4c"/>
                </a:solidFill>
                <a:latin typeface="Segoe UI"/>
              </a:rPr>
              <a:t>, </a:t>
            </a:r>
            <a:r>
              <a:rPr b="0" lang="en-US" sz="770" spc="-1" strike="noStrike">
                <a:solidFill>
                  <a:srgbClr val="333f4c"/>
                </a:solidFill>
                <a:latin typeface="Consolas"/>
              </a:rPr>
              <a:t>A.840</a:t>
            </a:r>
            <a:r>
              <a:rPr b="0" lang="en-US" sz="770" spc="-1" strike="noStrike">
                <a:solidFill>
                  <a:srgbClr val="333f4c"/>
                </a:solidFill>
                <a:latin typeface="Segoe UI"/>
              </a:rPr>
              <a:t>) que 'aparecen y desaparecen' sin patrón.</a:t>
            </a:r>
            <a:endParaRPr b="0" lang="en-US" sz="7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770" spc="-1" strike="noStrike">
                <a:solidFill>
                  <a:srgbClr val="333f4c"/>
                </a:solidFill>
                <a:latin typeface="Segoe UI"/>
              </a:rPr>
              <a:t>Ruido en la medida de velocidad, entradas digitales que conmutan solas, pérdidas de comunicación de bus.</a:t>
            </a:r>
            <a:endParaRPr b="0" lang="en-US" sz="770" spc="-1" strike="noStrike">
              <a:solidFill>
                <a:srgbClr val="000000"/>
              </a:solidFill>
              <a:latin typeface="Arial"/>
            </a:endParaRPr>
          </a:p>
        </p:txBody>
      </p:sp>
      <p:sp>
        <p:nvSpPr>
          <p:cNvPr id="1056" name="Rectangle 9"/>
          <p:cNvSpPr/>
          <p:nvPr/>
        </p:nvSpPr>
        <p:spPr>
          <a:xfrm>
            <a:off x="567000" y="5459040"/>
            <a:ext cx="11057400" cy="86832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57" name="Rectangle 10"/>
          <p:cNvSpPr/>
          <p:nvPr/>
        </p:nvSpPr>
        <p:spPr>
          <a:xfrm>
            <a:off x="567000" y="5459040"/>
            <a:ext cx="68400" cy="86832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58" name="TextBox 11"/>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c0392b"/>
                </a:solidFill>
                <a:latin typeface="Segoe UI Semibold"/>
              </a:rPr>
              <a:t>El error más frecuente</a:t>
            </a:r>
            <a:endParaRPr b="0" lang="en-US" sz="1200" spc="-1" strike="noStrike">
              <a:solidFill>
                <a:srgbClr val="000000"/>
              </a:solidFill>
              <a:latin typeface="Arial"/>
            </a:endParaRPr>
          </a:p>
        </p:txBody>
      </p:sp>
      <p:sp>
        <p:nvSpPr>
          <p:cNvPr id="1059" name="TextBox 12"/>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Conectar la malla del cable de motor sólo en un extremo, o hacerlo con un cable trenzado largo hasta el borne de tierra. A alta frecuencia ese latiguillo es una inductancia: hay que usar abrazadera de 360°.</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0"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61"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062" name="TextBox 3"/>
          <p:cNvSpPr/>
          <p:nvPr/>
        </p:nvSpPr>
        <p:spPr>
          <a:xfrm>
            <a:off x="567000" y="182880"/>
            <a:ext cx="8954280" cy="379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490" spc="-1" strike="noStrike">
                <a:solidFill>
                  <a:srgbClr val="ffffff"/>
                </a:solidFill>
                <a:latin typeface="Segoe UI Semibold"/>
              </a:rPr>
              <a:t>Conexión de la regeneración y del freno de retención</a:t>
            </a:r>
            <a:endParaRPr b="0" lang="en-US" sz="2490" spc="-1" strike="noStrike">
              <a:solidFill>
                <a:srgbClr val="000000"/>
              </a:solidFill>
              <a:latin typeface="Arial"/>
            </a:endParaRPr>
          </a:p>
        </p:txBody>
      </p:sp>
      <p:sp>
        <p:nvSpPr>
          <p:cNvPr id="1063"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Dos detalles de cableado que provocan muchas averías</a:t>
            </a:r>
            <a:endParaRPr b="0" lang="en-US" sz="1250" spc="-1" strike="noStrike">
              <a:solidFill>
                <a:srgbClr val="000000"/>
              </a:solidFill>
              <a:latin typeface="Arial"/>
            </a:endParaRPr>
          </a:p>
        </p:txBody>
      </p:sp>
      <p:sp>
        <p:nvSpPr>
          <p:cNvPr id="1064"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1065"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066"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56</a:t>
            </a:r>
            <a:endParaRPr b="0" lang="en-US" sz="900" spc="-1" strike="noStrike">
              <a:solidFill>
                <a:srgbClr val="000000"/>
              </a:solidFill>
              <a:latin typeface="Arial"/>
            </a:endParaRPr>
          </a:p>
        </p:txBody>
      </p:sp>
      <p:sp>
        <p:nvSpPr>
          <p:cNvPr id="1067" name="Rectangle 8"/>
          <p:cNvSpPr/>
          <p:nvPr/>
        </p:nvSpPr>
        <p:spPr>
          <a:xfrm>
            <a:off x="567000" y="1645920"/>
            <a:ext cx="5394600" cy="397728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68" name="TextBox 9"/>
          <p:cNvSpPr/>
          <p:nvPr/>
        </p:nvSpPr>
        <p:spPr>
          <a:xfrm>
            <a:off x="822960" y="1810440"/>
            <a:ext cx="484596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c0392b"/>
                </a:solidFill>
                <a:latin typeface="Segoe UI"/>
              </a:rPr>
              <a:t>1 · Resistencia de regeneración</a:t>
            </a:r>
            <a:endParaRPr b="0" lang="en-US" sz="1400" spc="-1" strike="noStrike">
              <a:solidFill>
                <a:srgbClr val="000000"/>
              </a:solidFill>
              <a:latin typeface="Arial"/>
            </a:endParaRPr>
          </a:p>
        </p:txBody>
      </p:sp>
      <p:sp>
        <p:nvSpPr>
          <p:cNvPr id="1069" name="Rounded Rectangle 10"/>
          <p:cNvSpPr/>
          <p:nvPr/>
        </p:nvSpPr>
        <p:spPr>
          <a:xfrm>
            <a:off x="914400" y="2331720"/>
            <a:ext cx="1965600" cy="1416960"/>
          </a:xfrm>
          <a:prstGeom prst="roundRect">
            <a:avLst>
              <a:gd name="adj" fmla="val 8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Segoe UI"/>
              </a:rPr>
              <a:t>SERVOPACK</a:t>
            </a:r>
            <a:endParaRPr b="0" lang="en-US" sz="1050" spc="-1" strike="noStrike">
              <a:solidFill>
                <a:srgbClr val="ffffff"/>
              </a:solidFill>
              <a:latin typeface="Arial"/>
            </a:endParaRPr>
          </a:p>
          <a:p>
            <a:pPr algn="ctr" defTabSz="457200">
              <a:lnSpc>
                <a:spcPct val="100000"/>
              </a:lnSpc>
            </a:pPr>
            <a:endParaRPr b="0" lang="en-US" sz="1800" spc="-1" strike="noStrike">
              <a:solidFill>
                <a:srgbClr val="ffffff"/>
              </a:solidFill>
              <a:latin typeface="Arial"/>
            </a:endParaRPr>
          </a:p>
          <a:p>
            <a:pPr algn="ctr" defTabSz="457200">
              <a:lnSpc>
                <a:spcPct val="100000"/>
              </a:lnSpc>
            </a:pPr>
            <a:r>
              <a:rPr b="1" lang="en-US" sz="1050" spc="-1" strike="noStrike">
                <a:solidFill>
                  <a:srgbClr val="ffffff"/>
                </a:solidFill>
                <a:latin typeface="Consolas"/>
              </a:rPr>
              <a:t>B1/⊕</a:t>
            </a:r>
            <a:endParaRPr b="0" lang="en-US" sz="1050" spc="-1" strike="noStrike">
              <a:solidFill>
                <a:srgbClr val="ffffff"/>
              </a:solidFill>
              <a:latin typeface="Arial"/>
            </a:endParaRPr>
          </a:p>
          <a:p>
            <a:pPr algn="ctr" defTabSz="457200">
              <a:lnSpc>
                <a:spcPct val="100000"/>
              </a:lnSpc>
            </a:pPr>
            <a:r>
              <a:rPr b="1" lang="en-US" sz="1050" spc="-1" strike="noStrike">
                <a:solidFill>
                  <a:srgbClr val="ffffff"/>
                </a:solidFill>
                <a:latin typeface="Consolas"/>
              </a:rPr>
              <a:t>B2</a:t>
            </a:r>
            <a:endParaRPr b="0" lang="en-US" sz="1050" spc="-1" strike="noStrike">
              <a:solidFill>
                <a:srgbClr val="ffffff"/>
              </a:solidFill>
              <a:latin typeface="Arial"/>
            </a:endParaRPr>
          </a:p>
          <a:p>
            <a:pPr algn="ctr" defTabSz="457200">
              <a:lnSpc>
                <a:spcPct val="100000"/>
              </a:lnSpc>
            </a:pPr>
            <a:r>
              <a:rPr b="1" lang="en-US" sz="1050" spc="-1" strike="noStrike">
                <a:solidFill>
                  <a:srgbClr val="ffffff"/>
                </a:solidFill>
                <a:latin typeface="Consolas"/>
              </a:rPr>
              <a:t>B3</a:t>
            </a:r>
            <a:endParaRPr b="0" lang="en-US" sz="1050" spc="-1" strike="noStrike">
              <a:solidFill>
                <a:srgbClr val="ffffff"/>
              </a:solidFill>
              <a:latin typeface="Arial"/>
            </a:endParaRPr>
          </a:p>
        </p:txBody>
      </p:sp>
      <p:sp>
        <p:nvSpPr>
          <p:cNvPr id="1070" name="Rounded Rectangle 11"/>
          <p:cNvSpPr/>
          <p:nvPr/>
        </p:nvSpPr>
        <p:spPr>
          <a:xfrm>
            <a:off x="3520440" y="2331720"/>
            <a:ext cx="2148480" cy="621360"/>
          </a:xfrm>
          <a:prstGeom prst="roundRect">
            <a:avLst>
              <a:gd name="adj" fmla="val 8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Segoe UI"/>
              </a:rPr>
              <a:t>CONFIGURACIÓN DE FÁBRICA</a:t>
            </a:r>
            <a:endParaRPr b="0" lang="en-US" sz="950" spc="-1" strike="noStrike">
              <a:solidFill>
                <a:srgbClr val="ffffff"/>
              </a:solidFill>
              <a:latin typeface="Arial"/>
            </a:endParaRPr>
          </a:p>
          <a:p>
            <a:pPr algn="ctr" defTabSz="457200">
              <a:lnSpc>
                <a:spcPct val="100000"/>
              </a:lnSpc>
            </a:pPr>
            <a:r>
              <a:rPr b="1" lang="en-US" sz="950" spc="-1" strike="noStrike">
                <a:solidFill>
                  <a:srgbClr val="ffffff"/>
                </a:solidFill>
                <a:latin typeface="Segoe UI"/>
              </a:rPr>
              <a:t>puente </a:t>
            </a:r>
            <a:r>
              <a:rPr b="1" lang="en-US" sz="950" spc="-1" strike="noStrike">
                <a:solidFill>
                  <a:srgbClr val="ffffff"/>
                </a:solidFill>
                <a:latin typeface="Consolas"/>
              </a:rPr>
              <a:t>B2</a:t>
            </a:r>
            <a:r>
              <a:rPr b="1" lang="en-US" sz="950" spc="-1" strike="noStrike">
                <a:solidFill>
                  <a:srgbClr val="ffffff"/>
                </a:solidFill>
                <a:latin typeface="Segoe UI"/>
              </a:rPr>
              <a:t>-</a:t>
            </a:r>
            <a:r>
              <a:rPr b="1" lang="en-US" sz="950" spc="-1" strike="noStrike">
                <a:solidFill>
                  <a:srgbClr val="ffffff"/>
                </a:solidFill>
                <a:latin typeface="Consolas"/>
              </a:rPr>
              <a:t>B3</a:t>
            </a:r>
            <a:r>
              <a:rPr b="1" lang="en-US" sz="950" spc="-1" strike="noStrike">
                <a:solidFill>
                  <a:srgbClr val="ffffff"/>
                </a:solidFill>
                <a:latin typeface="Segoe UI"/>
              </a:rPr>
              <a:t> colocado</a:t>
            </a:r>
            <a:endParaRPr b="0" lang="en-US" sz="950" spc="-1" strike="noStrike">
              <a:solidFill>
                <a:srgbClr val="ffffff"/>
              </a:solidFill>
              <a:latin typeface="Arial"/>
            </a:endParaRPr>
          </a:p>
        </p:txBody>
      </p:sp>
      <p:sp>
        <p:nvSpPr>
          <p:cNvPr id="1071" name="Rounded Rectangle 12"/>
          <p:cNvSpPr/>
          <p:nvPr/>
        </p:nvSpPr>
        <p:spPr>
          <a:xfrm>
            <a:off x="3520440" y="3127320"/>
            <a:ext cx="2148480" cy="621360"/>
          </a:xfrm>
          <a:prstGeom prst="roundRect">
            <a:avLst>
              <a:gd name="adj" fmla="val 8000"/>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Segoe UI"/>
              </a:rPr>
              <a:t>RESISTENCIA EXTERNA</a:t>
            </a:r>
            <a:endParaRPr b="0" lang="en-US" sz="950" spc="-1" strike="noStrike">
              <a:solidFill>
                <a:srgbClr val="ffffff"/>
              </a:solidFill>
              <a:latin typeface="Arial"/>
            </a:endParaRPr>
          </a:p>
          <a:p>
            <a:pPr algn="ctr" defTabSz="457200">
              <a:lnSpc>
                <a:spcPct val="100000"/>
              </a:lnSpc>
            </a:pPr>
            <a:r>
              <a:rPr b="1" lang="en-US" sz="950" spc="-1" strike="noStrike">
                <a:solidFill>
                  <a:srgbClr val="ffffff"/>
                </a:solidFill>
                <a:latin typeface="Segoe UI"/>
              </a:rPr>
              <a:t>retirar el puente y conectar </a:t>
            </a:r>
            <a:r>
              <a:rPr b="1" lang="en-US" sz="950" spc="-1" strike="noStrike">
                <a:solidFill>
                  <a:srgbClr val="ffffff"/>
                </a:solidFill>
                <a:latin typeface="Consolas"/>
              </a:rPr>
              <a:t>B1</a:t>
            </a:r>
            <a:r>
              <a:rPr b="1" lang="en-US" sz="950" spc="-1" strike="noStrike">
                <a:solidFill>
                  <a:srgbClr val="ffffff"/>
                </a:solidFill>
                <a:latin typeface="Segoe UI"/>
              </a:rPr>
              <a:t>-</a:t>
            </a:r>
            <a:r>
              <a:rPr b="1" lang="en-US" sz="950" spc="-1" strike="noStrike">
                <a:solidFill>
                  <a:srgbClr val="ffffff"/>
                </a:solidFill>
                <a:latin typeface="Consolas"/>
              </a:rPr>
              <a:t>B2</a:t>
            </a:r>
            <a:endParaRPr b="0" lang="en-US" sz="950" spc="-1" strike="noStrike">
              <a:solidFill>
                <a:srgbClr val="ffffff"/>
              </a:solidFill>
              <a:latin typeface="Arial"/>
            </a:endParaRPr>
          </a:p>
        </p:txBody>
      </p:sp>
      <p:cxnSp>
        <p:nvCxnSpPr>
          <p:cNvPr id="1072" name="Connector 13"/>
          <p:cNvCxnSpPr/>
          <p:nvPr/>
        </p:nvCxnSpPr>
        <p:spPr>
          <a:xfrm>
            <a:off x="2880360" y="2642400"/>
            <a:ext cx="640440" cy="360"/>
          </a:xfrm>
          <a:prstGeom prst="straightConnector1">
            <a:avLst/>
          </a:prstGeom>
          <a:ln w="19050">
            <a:solidFill>
              <a:srgbClr val="2e8b57"/>
            </a:solidFill>
            <a:round/>
          </a:ln>
        </p:spPr>
      </p:cxnSp>
      <p:cxnSp>
        <p:nvCxnSpPr>
          <p:cNvPr id="1073" name="Connector 14"/>
          <p:cNvCxnSpPr/>
          <p:nvPr/>
        </p:nvCxnSpPr>
        <p:spPr>
          <a:xfrm>
            <a:off x="2880360" y="3438000"/>
            <a:ext cx="640440" cy="360"/>
          </a:xfrm>
          <a:prstGeom prst="straightConnector1">
            <a:avLst/>
          </a:prstGeom>
          <a:ln w="19050">
            <a:solidFill>
              <a:srgbClr val="c0392b"/>
            </a:solidFill>
            <a:round/>
          </a:ln>
        </p:spPr>
      </p:cxnSp>
      <p:sp>
        <p:nvSpPr>
          <p:cNvPr id="1074" name="TextBox 15"/>
          <p:cNvSpPr/>
          <p:nvPr/>
        </p:nvSpPr>
        <p:spPr>
          <a:xfrm>
            <a:off x="868680" y="3931920"/>
            <a:ext cx="4800240" cy="1617480"/>
          </a:xfrm>
          <a:prstGeom prst="rect">
            <a:avLst/>
          </a:prstGeom>
          <a:noFill/>
          <a:ln w="0">
            <a:noFill/>
          </a:ln>
        </p:spPr>
        <p:style>
          <a:lnRef idx="0"/>
          <a:fillRef idx="0"/>
          <a:effectRef idx="0"/>
          <a:fontRef idx="minor"/>
        </p:style>
        <p:txBody>
          <a:bodyPr lIns="90000" rIns="90000" tIns="45000" bIns="45000" anchor="t">
            <a:spAutoFit/>
          </a:bodyPr>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Retira siempre el puente antes de conectar una resistencia externa.</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Respeta la resistencia mínima admisible del amplificador.</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Declara la capacidad en </a:t>
            </a:r>
            <a:r>
              <a:rPr b="1" lang="en-US" sz="1050" spc="-1" strike="noStrike">
                <a:solidFill>
                  <a:srgbClr val="1c2430"/>
                </a:solidFill>
                <a:latin typeface="Consolas"/>
              </a:rPr>
              <a:t>Pn600</a:t>
            </a:r>
            <a:r>
              <a:rPr b="1" lang="en-US" sz="1050" spc="-1" strike="noStrike">
                <a:solidFill>
                  <a:srgbClr val="1c2430"/>
                </a:solidFill>
                <a:latin typeface="Segoe UI"/>
              </a:rPr>
              <a:t> para que la protección térmica funcione.</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Móntala ventilada y con termostato de seguridad: alcanza temperaturas muy altas.</a:t>
            </a:r>
            <a:endParaRPr b="0" lang="en-US" sz="1050" spc="-1" strike="noStrike">
              <a:solidFill>
                <a:srgbClr val="000000"/>
              </a:solidFill>
              <a:latin typeface="Arial"/>
            </a:endParaRPr>
          </a:p>
        </p:txBody>
      </p:sp>
      <p:sp>
        <p:nvSpPr>
          <p:cNvPr id="1075" name="Rectangle 16"/>
          <p:cNvSpPr/>
          <p:nvPr/>
        </p:nvSpPr>
        <p:spPr>
          <a:xfrm>
            <a:off x="6236280" y="1645920"/>
            <a:ext cx="5394600" cy="397728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76" name="TextBox 17"/>
          <p:cNvSpPr/>
          <p:nvPr/>
        </p:nvSpPr>
        <p:spPr>
          <a:xfrm>
            <a:off x="6492240" y="1810440"/>
            <a:ext cx="484596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2e8b57"/>
                </a:solidFill>
                <a:latin typeface="Segoe UI"/>
              </a:rPr>
              <a:t>2 · Freno de retención del motor</a:t>
            </a:r>
            <a:endParaRPr b="0" lang="en-US" sz="1400" spc="-1" strike="noStrike">
              <a:solidFill>
                <a:srgbClr val="000000"/>
              </a:solidFill>
              <a:latin typeface="Arial"/>
            </a:endParaRPr>
          </a:p>
        </p:txBody>
      </p:sp>
      <p:sp>
        <p:nvSpPr>
          <p:cNvPr id="1077" name="Rounded Rectangle 18"/>
          <p:cNvSpPr/>
          <p:nvPr/>
        </p:nvSpPr>
        <p:spPr>
          <a:xfrm>
            <a:off x="6537960" y="2331720"/>
            <a:ext cx="1691280" cy="658080"/>
          </a:xfrm>
          <a:prstGeom prst="roundRect">
            <a:avLst>
              <a:gd name="adj" fmla="val 8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00" spc="-1" strike="noStrike">
                <a:solidFill>
                  <a:srgbClr val="ffffff"/>
                </a:solidFill>
                <a:latin typeface="Segoe UI"/>
              </a:rPr>
              <a:t>Salida </a:t>
            </a:r>
            <a:r>
              <a:rPr b="1" lang="en-US" sz="1000" spc="-1" strike="noStrike">
                <a:solidFill>
                  <a:srgbClr val="ffffff"/>
                </a:solidFill>
                <a:latin typeface="Consolas"/>
              </a:rPr>
              <a:t>/BK</a:t>
            </a:r>
            <a:endParaRPr b="0" lang="en-US" sz="1000" spc="-1" strike="noStrike">
              <a:solidFill>
                <a:srgbClr val="ffffff"/>
              </a:solidFill>
              <a:latin typeface="Arial"/>
            </a:endParaRPr>
          </a:p>
          <a:p>
            <a:pPr algn="ctr" defTabSz="457200">
              <a:lnSpc>
                <a:spcPct val="100000"/>
              </a:lnSpc>
            </a:pPr>
            <a:r>
              <a:rPr b="1" lang="en-US" sz="1000" spc="-1" strike="noStrike">
                <a:solidFill>
                  <a:srgbClr val="ffffff"/>
                </a:solidFill>
                <a:latin typeface="Segoe UI"/>
              </a:rPr>
              <a:t>del </a:t>
            </a:r>
            <a:r>
              <a:rPr b="1" lang="en-US" sz="1000" spc="-1" strike="noStrike">
                <a:solidFill>
                  <a:srgbClr val="ffffff"/>
                </a:solidFill>
                <a:latin typeface="Consolas"/>
              </a:rPr>
              <a:t>CN1</a:t>
            </a:r>
            <a:endParaRPr b="0" lang="en-US" sz="1000" spc="-1" strike="noStrike">
              <a:solidFill>
                <a:srgbClr val="ffffff"/>
              </a:solidFill>
              <a:latin typeface="Arial"/>
            </a:endParaRPr>
          </a:p>
        </p:txBody>
      </p:sp>
      <p:sp>
        <p:nvSpPr>
          <p:cNvPr id="1078" name="Right Arrow 19"/>
          <p:cNvSpPr/>
          <p:nvPr/>
        </p:nvSpPr>
        <p:spPr>
          <a:xfrm>
            <a:off x="8275320" y="2578680"/>
            <a:ext cx="319680" cy="16416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7080" bIns="37080" anchor="ctr">
            <a:noAutofit/>
          </a:bodyPr>
          <a:p>
            <a:pPr algn="ctr" defTabSz="457200">
              <a:lnSpc>
                <a:spcPct val="100000"/>
              </a:lnSpc>
            </a:pPr>
            <a:endParaRPr b="0" lang="en-US" sz="1800" spc="-1" strike="noStrike">
              <a:solidFill>
                <a:schemeClr val="lt1"/>
              </a:solidFill>
              <a:latin typeface="Calibri"/>
            </a:endParaRPr>
          </a:p>
        </p:txBody>
      </p:sp>
      <p:sp>
        <p:nvSpPr>
          <p:cNvPr id="1079" name="Rounded Rectangle 20"/>
          <p:cNvSpPr/>
          <p:nvPr/>
        </p:nvSpPr>
        <p:spPr>
          <a:xfrm>
            <a:off x="8641080" y="2331720"/>
            <a:ext cx="1462680" cy="658080"/>
          </a:xfrm>
          <a:prstGeom prst="roundRect">
            <a:avLst>
              <a:gd name="adj" fmla="val 8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00" spc="-1" strike="noStrike">
                <a:solidFill>
                  <a:srgbClr val="ffffff"/>
                </a:solidFill>
                <a:latin typeface="Segoe UI"/>
              </a:rPr>
              <a:t>RELÉ</a:t>
            </a:r>
            <a:endParaRPr b="0" lang="en-US" sz="1000" spc="-1" strike="noStrike">
              <a:solidFill>
                <a:srgbClr val="ffffff"/>
              </a:solidFill>
              <a:latin typeface="Arial"/>
            </a:endParaRPr>
          </a:p>
          <a:p>
            <a:pPr algn="ctr" defTabSz="457200">
              <a:lnSpc>
                <a:spcPct val="100000"/>
              </a:lnSpc>
            </a:pPr>
            <a:r>
              <a:rPr b="1" lang="en-US" sz="1000" spc="-1" strike="noStrike">
                <a:solidFill>
                  <a:srgbClr val="ffffff"/>
                </a:solidFill>
                <a:latin typeface="Segoe UI"/>
              </a:rPr>
              <a:t>intermedio</a:t>
            </a:r>
            <a:endParaRPr b="0" lang="en-US" sz="1000" spc="-1" strike="noStrike">
              <a:solidFill>
                <a:srgbClr val="ffffff"/>
              </a:solidFill>
              <a:latin typeface="Arial"/>
            </a:endParaRPr>
          </a:p>
        </p:txBody>
      </p:sp>
      <p:sp>
        <p:nvSpPr>
          <p:cNvPr id="1080" name="Right Arrow 21"/>
          <p:cNvSpPr/>
          <p:nvPr/>
        </p:nvSpPr>
        <p:spPr>
          <a:xfrm>
            <a:off x="10149840" y="2578680"/>
            <a:ext cx="319680" cy="16416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7080" bIns="37080" anchor="ctr">
            <a:noAutofit/>
          </a:bodyPr>
          <a:p>
            <a:pPr algn="ctr" defTabSz="457200">
              <a:lnSpc>
                <a:spcPct val="100000"/>
              </a:lnSpc>
            </a:pPr>
            <a:endParaRPr b="0" lang="en-US" sz="1800" spc="-1" strike="noStrike">
              <a:solidFill>
                <a:schemeClr val="lt1"/>
              </a:solidFill>
              <a:latin typeface="Calibri"/>
            </a:endParaRPr>
          </a:p>
        </p:txBody>
      </p:sp>
      <p:sp>
        <p:nvSpPr>
          <p:cNvPr id="1081" name="Rounded Rectangle 22"/>
          <p:cNvSpPr/>
          <p:nvPr/>
        </p:nvSpPr>
        <p:spPr>
          <a:xfrm>
            <a:off x="10515600" y="2331720"/>
            <a:ext cx="959760" cy="658080"/>
          </a:xfrm>
          <a:prstGeom prst="roundRect">
            <a:avLst>
              <a:gd name="adj" fmla="val 8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00" spc="-1" strike="noStrike">
                <a:solidFill>
                  <a:srgbClr val="ffffff"/>
                </a:solidFill>
                <a:latin typeface="Segoe UI"/>
              </a:rPr>
              <a:t>FRENO</a:t>
            </a:r>
            <a:endParaRPr b="0" lang="en-US" sz="1000" spc="-1" strike="noStrike">
              <a:solidFill>
                <a:srgbClr val="ffffff"/>
              </a:solidFill>
              <a:latin typeface="Arial"/>
            </a:endParaRPr>
          </a:p>
          <a:p>
            <a:pPr algn="ctr" defTabSz="457200">
              <a:lnSpc>
                <a:spcPct val="100000"/>
              </a:lnSpc>
            </a:pPr>
            <a:r>
              <a:rPr b="1" lang="en-US" sz="1000" spc="-1" strike="noStrike">
                <a:solidFill>
                  <a:srgbClr val="ffffff"/>
                </a:solidFill>
                <a:latin typeface="Segoe UI"/>
              </a:rPr>
              <a:t>24 V</a:t>
            </a:r>
            <a:endParaRPr b="0" lang="en-US" sz="1000" spc="-1" strike="noStrike">
              <a:solidFill>
                <a:srgbClr val="ffffff"/>
              </a:solidFill>
              <a:latin typeface="Arial"/>
            </a:endParaRPr>
          </a:p>
        </p:txBody>
      </p:sp>
      <p:sp>
        <p:nvSpPr>
          <p:cNvPr id="1082" name="Rounded Rectangle 23"/>
          <p:cNvSpPr/>
          <p:nvPr/>
        </p:nvSpPr>
        <p:spPr>
          <a:xfrm>
            <a:off x="8641080" y="3154680"/>
            <a:ext cx="1462680" cy="502560"/>
          </a:xfrm>
          <a:prstGeom prst="roundRect">
            <a:avLst>
              <a:gd name="adj" fmla="val 8000"/>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00" spc="-1" strike="noStrike">
                <a:solidFill>
                  <a:srgbClr val="ffffff"/>
                </a:solidFill>
                <a:latin typeface="Segoe UI"/>
              </a:rPr>
              <a:t>Supresor</a:t>
            </a:r>
            <a:endParaRPr b="0" lang="en-US" sz="900" spc="-1" strike="noStrike">
              <a:solidFill>
                <a:srgbClr val="ffffff"/>
              </a:solidFill>
              <a:latin typeface="Arial"/>
            </a:endParaRPr>
          </a:p>
          <a:p>
            <a:pPr algn="ctr" defTabSz="457200">
              <a:lnSpc>
                <a:spcPct val="100000"/>
              </a:lnSpc>
            </a:pPr>
            <a:r>
              <a:rPr b="1" lang="en-US" sz="900" spc="-1" strike="noStrike">
                <a:solidFill>
                  <a:srgbClr val="ffffff"/>
                </a:solidFill>
                <a:latin typeface="Segoe UI"/>
              </a:rPr>
              <a:t>(varistor/diodo)</a:t>
            </a:r>
            <a:endParaRPr b="0" lang="en-US" sz="900" spc="-1" strike="noStrike">
              <a:solidFill>
                <a:srgbClr val="ffffff"/>
              </a:solidFill>
              <a:latin typeface="Arial"/>
            </a:endParaRPr>
          </a:p>
        </p:txBody>
      </p:sp>
      <p:cxnSp>
        <p:nvCxnSpPr>
          <p:cNvPr id="1083" name="Connector 24"/>
          <p:cNvCxnSpPr/>
          <p:nvPr/>
        </p:nvCxnSpPr>
        <p:spPr>
          <a:xfrm>
            <a:off x="9372600" y="2989800"/>
            <a:ext cx="360" cy="165240"/>
          </a:xfrm>
          <a:prstGeom prst="straightConnector1">
            <a:avLst/>
          </a:prstGeom>
          <a:ln w="15875">
            <a:solidFill>
              <a:srgbClr val="c0392b"/>
            </a:solidFill>
            <a:round/>
          </a:ln>
        </p:spPr>
      </p:cxnSp>
      <p:sp>
        <p:nvSpPr>
          <p:cNvPr id="1084" name="TextBox 25"/>
          <p:cNvSpPr/>
          <p:nvPr/>
        </p:nvSpPr>
        <p:spPr>
          <a:xfrm>
            <a:off x="6537960" y="3886200"/>
            <a:ext cx="4800240" cy="1109880"/>
          </a:xfrm>
          <a:prstGeom prst="rect">
            <a:avLst/>
          </a:prstGeom>
          <a:noFill/>
          <a:ln w="0">
            <a:noFill/>
          </a:ln>
        </p:spPr>
        <p:style>
          <a:lnRef idx="0"/>
          <a:fillRef idx="0"/>
          <a:effectRef idx="0"/>
          <a:fontRef idx="minor"/>
        </p:style>
        <p:txBody>
          <a:bodyPr lIns="90000" rIns="90000" tIns="45000" bIns="45000" anchor="t">
            <a:spAutoFit/>
          </a:bodyPr>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Alimentación de 24 V independiente de la de las E/S.</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Supresor de sobretensión obligatorio en la bobina.</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Asigna la señal </a:t>
            </a:r>
            <a:r>
              <a:rPr b="1" lang="en-US" sz="1050" spc="-1" strike="noStrike">
                <a:solidFill>
                  <a:srgbClr val="1c2430"/>
                </a:solidFill>
                <a:latin typeface="Consolas"/>
              </a:rPr>
              <a:t>/BK</a:t>
            </a:r>
            <a:r>
              <a:rPr b="1" lang="en-US" sz="1050" spc="-1" strike="noStrike">
                <a:solidFill>
                  <a:srgbClr val="1c2430"/>
                </a:solidFill>
                <a:latin typeface="Segoe UI"/>
              </a:rPr>
              <a:t> a una salida física con </a:t>
            </a:r>
            <a:r>
              <a:rPr b="1" lang="en-US" sz="1050" spc="-1" strike="noStrike">
                <a:solidFill>
                  <a:srgbClr val="1c2430"/>
                </a:solidFill>
                <a:latin typeface="Consolas"/>
              </a:rPr>
              <a:t>Pn50F</a:t>
            </a:r>
            <a:r>
              <a:rPr b="1" lang="en-US" sz="1050" spc="-1" strike="noStrike">
                <a:solidFill>
                  <a:srgbClr val="1c2430"/>
                </a:solidFill>
                <a:latin typeface="Segoe UI"/>
              </a:rPr>
              <a:t>.</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Ajusta </a:t>
            </a:r>
            <a:r>
              <a:rPr b="1" lang="en-US" sz="1050" spc="-1" strike="noStrike">
                <a:solidFill>
                  <a:srgbClr val="1c2430"/>
                </a:solidFill>
                <a:latin typeface="Consolas"/>
              </a:rPr>
              <a:t>Pn506</a:t>
            </a:r>
            <a:r>
              <a:rPr b="1" lang="en-US" sz="1050" spc="-1" strike="noStrike">
                <a:solidFill>
                  <a:srgbClr val="1c2430"/>
                </a:solidFill>
                <a:latin typeface="Segoe UI"/>
              </a:rPr>
              <a:t>, </a:t>
            </a:r>
            <a:r>
              <a:rPr b="1" lang="en-US" sz="1050" spc="-1" strike="noStrike">
                <a:solidFill>
                  <a:srgbClr val="1c2430"/>
                </a:solidFill>
                <a:latin typeface="Consolas"/>
              </a:rPr>
              <a:t>Pn507</a:t>
            </a:r>
            <a:r>
              <a:rPr b="1" lang="en-US" sz="1050" spc="-1" strike="noStrike">
                <a:solidFill>
                  <a:srgbClr val="1c2430"/>
                </a:solidFill>
                <a:latin typeface="Segoe UI"/>
              </a:rPr>
              <a:t> y </a:t>
            </a:r>
            <a:r>
              <a:rPr b="1" lang="en-US" sz="1050" spc="-1" strike="noStrike">
                <a:solidFill>
                  <a:srgbClr val="1c2430"/>
                </a:solidFill>
                <a:latin typeface="Consolas"/>
              </a:rPr>
              <a:t>Pn508</a:t>
            </a:r>
            <a:r>
              <a:rPr b="1" lang="en-US" sz="1050" spc="-1" strike="noStrike">
                <a:solidFill>
                  <a:srgbClr val="1c2430"/>
                </a:solidFill>
                <a:latin typeface="Segoe UI"/>
              </a:rPr>
              <a:t> según el eje (ver Módulo 03).</a:t>
            </a:r>
            <a:endParaRPr b="0" lang="en-US" sz="1050" spc="-1" strike="noStrike">
              <a:solidFill>
                <a:srgbClr val="000000"/>
              </a:solidFill>
              <a:latin typeface="Arial"/>
            </a:endParaRPr>
          </a:p>
        </p:txBody>
      </p:sp>
      <p:sp>
        <p:nvSpPr>
          <p:cNvPr id="1085" name="Rectangle 26"/>
          <p:cNvSpPr/>
          <p:nvPr/>
        </p:nvSpPr>
        <p:spPr>
          <a:xfrm>
            <a:off x="567000" y="5669280"/>
            <a:ext cx="11063880" cy="65808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86" name="Rectangle 27"/>
          <p:cNvSpPr/>
          <p:nvPr/>
        </p:nvSpPr>
        <p:spPr>
          <a:xfrm>
            <a:off x="567000" y="5669280"/>
            <a:ext cx="68400" cy="65808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87" name="TextBox 28"/>
          <p:cNvSpPr/>
          <p:nvPr/>
        </p:nvSpPr>
        <p:spPr>
          <a:xfrm>
            <a:off x="841320" y="5806440"/>
            <a:ext cx="1056096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Comprobación en la puesta en marcha</a:t>
            </a:r>
            <a:endParaRPr b="0" lang="en-US" sz="1200" spc="-1" strike="noStrike">
              <a:solidFill>
                <a:srgbClr val="000000"/>
              </a:solidFill>
              <a:latin typeface="Arial"/>
            </a:endParaRPr>
          </a:p>
        </p:txBody>
      </p:sp>
      <p:sp>
        <p:nvSpPr>
          <p:cNvPr id="1088" name="TextBox 29"/>
          <p:cNvSpPr/>
          <p:nvPr/>
        </p:nvSpPr>
        <p:spPr>
          <a:xfrm>
            <a:off x="841320" y="6080760"/>
            <a:ext cx="10560960" cy="18540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Con el eje asegurado mecánicamente, verifica que el freno </a:t>
            </a:r>
            <a:r>
              <a:rPr b="1" lang="en-US" sz="1150" spc="-1" strike="noStrike">
                <a:solidFill>
                  <a:srgbClr val="2b3644"/>
                </a:solidFill>
                <a:latin typeface="Segoe UI"/>
              </a:rPr>
              <a:t>agarra</a:t>
            </a:r>
            <a:r>
              <a:rPr b="0" lang="en-US" sz="1150" spc="-1" strike="noStrike">
                <a:solidFill>
                  <a:srgbClr val="2b3644"/>
                </a:solidFill>
                <a:latin typeface="Segoe UI"/>
              </a:rPr>
              <a:t> al quitar los 24 V y que </a:t>
            </a:r>
            <a:r>
              <a:rPr b="1" lang="en-US" sz="1150" spc="-1" strike="noStrike">
                <a:solidFill>
                  <a:srgbClr val="2b3644"/>
                </a:solidFill>
                <a:latin typeface="Segoe UI"/>
              </a:rPr>
              <a:t>no arrastra</a:t>
            </a:r>
            <a:r>
              <a:rPr b="0" lang="en-US" sz="1150" spc="-1" strike="noStrike">
                <a:solidFill>
                  <a:srgbClr val="2b3644"/>
                </a:solidFill>
                <a:latin typeface="Segoe UI"/>
              </a:rPr>
              <a:t> con el motor en movimiento.</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9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091"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Esquema de conexiones completo del SGDXS-□□□A</a:t>
            </a:r>
            <a:endParaRPr b="0" lang="en-US" sz="2500" spc="-1" strike="noStrike">
              <a:solidFill>
                <a:srgbClr val="000000"/>
              </a:solidFill>
              <a:latin typeface="Arial"/>
            </a:endParaRPr>
          </a:p>
        </p:txBody>
      </p:sp>
      <p:sp>
        <p:nvSpPr>
          <p:cNvPr id="109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lámina de referencia: todo el eje en un solo dibujo</a:t>
            </a:r>
            <a:endParaRPr b="0" lang="en-US" sz="1250" spc="-1" strike="noStrike">
              <a:solidFill>
                <a:srgbClr val="000000"/>
              </a:solidFill>
              <a:latin typeface="Arial"/>
            </a:endParaRPr>
          </a:p>
        </p:txBody>
      </p:sp>
      <p:sp>
        <p:nvSpPr>
          <p:cNvPr id="109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109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09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57</a:t>
            </a:r>
            <a:endParaRPr b="0" lang="en-US" sz="900" spc="-1" strike="noStrike">
              <a:solidFill>
                <a:srgbClr val="000000"/>
              </a:solidFill>
              <a:latin typeface="Arial"/>
            </a:endParaRPr>
          </a:p>
        </p:txBody>
      </p:sp>
      <p:sp>
        <p:nvSpPr>
          <p:cNvPr id="1096" name="Rectangle 8"/>
          <p:cNvSpPr/>
          <p:nvPr/>
        </p:nvSpPr>
        <p:spPr>
          <a:xfrm>
            <a:off x="4527000" y="1426320"/>
            <a:ext cx="313704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097" name="Picture 9" descr="conexiones_generales.png"/>
          <p:cNvPicPr/>
          <p:nvPr/>
        </p:nvPicPr>
        <p:blipFill>
          <a:blip r:embed="rId1"/>
          <a:stretch/>
        </p:blipFill>
        <p:spPr>
          <a:xfrm>
            <a:off x="4582080" y="1481400"/>
            <a:ext cx="3027240" cy="4498560"/>
          </a:xfrm>
          <a:prstGeom prst="rect">
            <a:avLst/>
          </a:prstGeom>
          <a:ln w="0">
            <a:noFill/>
          </a:ln>
        </p:spPr>
      </p:pic>
      <p:sp>
        <p:nvSpPr>
          <p:cNvPr id="1098"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4.2.1</a:t>
            </a:r>
            <a:endParaRPr b="0" lang="en-US"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0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101"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Circuito de potencia con sus protecciones</a:t>
            </a:r>
            <a:endParaRPr b="0" lang="en-US" sz="2500" spc="-1" strike="noStrike">
              <a:solidFill>
                <a:srgbClr val="000000"/>
              </a:solidFill>
              <a:latin typeface="Arial"/>
            </a:endParaRPr>
          </a:p>
        </p:txBody>
      </p:sp>
      <p:sp>
        <p:nvSpPr>
          <p:cNvPr id="110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Ejemplo oficial para entrada trifásica de 200 V CA</a:t>
            </a:r>
            <a:endParaRPr b="0" lang="en-US" sz="1250" spc="-1" strike="noStrike">
              <a:solidFill>
                <a:srgbClr val="000000"/>
              </a:solidFill>
              <a:latin typeface="Arial"/>
            </a:endParaRPr>
          </a:p>
        </p:txBody>
      </p:sp>
      <p:sp>
        <p:nvSpPr>
          <p:cNvPr id="110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110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10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58</a:t>
            </a:r>
            <a:endParaRPr b="0" lang="en-US" sz="900" spc="-1" strike="noStrike">
              <a:solidFill>
                <a:srgbClr val="000000"/>
              </a:solidFill>
              <a:latin typeface="Arial"/>
            </a:endParaRPr>
          </a:p>
        </p:txBody>
      </p:sp>
      <p:sp>
        <p:nvSpPr>
          <p:cNvPr id="1106" name="Rectangle 8"/>
          <p:cNvSpPr/>
          <p:nvPr/>
        </p:nvSpPr>
        <p:spPr>
          <a:xfrm>
            <a:off x="1076760" y="1426320"/>
            <a:ext cx="594648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107" name="Picture 9" descr="potencia_protecciones.png"/>
          <p:cNvPicPr/>
          <p:nvPr/>
        </p:nvPicPr>
        <p:blipFill>
          <a:blip r:embed="rId1"/>
          <a:stretch/>
        </p:blipFill>
        <p:spPr>
          <a:xfrm>
            <a:off x="1131480" y="1481400"/>
            <a:ext cx="5836680" cy="4498560"/>
          </a:xfrm>
          <a:prstGeom prst="rect">
            <a:avLst/>
          </a:prstGeom>
          <a:ln w="0">
            <a:noFill/>
          </a:ln>
        </p:spPr>
      </p:pic>
      <p:sp>
        <p:nvSpPr>
          <p:cNvPr id="1108"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4.3.4</a:t>
            </a:r>
            <a:endParaRPr b="0" lang="en-US" sz="850" spc="-1" strike="noStrike">
              <a:solidFill>
                <a:srgbClr val="000000"/>
              </a:solidFill>
              <a:latin typeface="Arial"/>
            </a:endParaRPr>
          </a:p>
        </p:txBody>
      </p:sp>
      <p:sp>
        <p:nvSpPr>
          <p:cNvPr id="1109"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10" name="TextBox 12"/>
          <p:cNvSpPr/>
          <p:nvPr/>
        </p:nvSpPr>
        <p:spPr>
          <a:xfrm>
            <a:off x="8027280" y="1664280"/>
            <a:ext cx="3377880" cy="369828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920" spc="-1" strike="noStrike">
                <a:solidFill>
                  <a:srgbClr val="1b5ea8"/>
                </a:solidFill>
                <a:latin typeface="Segoe UI Semibold"/>
              </a:rPr>
              <a:t>Elementos del esquema</a:t>
            </a:r>
            <a:endParaRPr b="0" lang="en-US" sz="9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80" spc="-1" strike="noStrike">
                <a:solidFill>
                  <a:srgbClr val="1c2430"/>
                </a:solidFill>
                <a:latin typeface="Segoe UI"/>
              </a:rPr>
              <a:t>1QF — interruptor automático de caja moldeada.</a:t>
            </a:r>
            <a:endParaRPr b="0" lang="en-US" sz="9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80" spc="-1" strike="noStrike">
                <a:solidFill>
                  <a:srgbClr val="1c2430"/>
                </a:solidFill>
                <a:latin typeface="Segoe UI"/>
              </a:rPr>
              <a:t>1FLT — filtro de red para compatibilidad electromagnética.</a:t>
            </a:r>
            <a:endParaRPr b="0" lang="en-US" sz="9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80" spc="-1" strike="noStrike">
                <a:solidFill>
                  <a:srgbClr val="1c2430"/>
                </a:solidFill>
                <a:latin typeface="Segoe UI"/>
              </a:rPr>
              <a:t>1KM — contactor de la alimentación de control.</a:t>
            </a:r>
            <a:endParaRPr b="0" lang="en-US" sz="9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80" spc="-1" strike="noStrike">
                <a:solidFill>
                  <a:srgbClr val="1c2430"/>
                </a:solidFill>
                <a:latin typeface="Segoe UI"/>
              </a:rPr>
              <a:t>2KM — contactor de la alimentación de potencia.</a:t>
            </a:r>
            <a:endParaRPr b="0" lang="en-US" sz="9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80" spc="-1" strike="noStrike">
                <a:solidFill>
                  <a:srgbClr val="1c2430"/>
                </a:solidFill>
                <a:latin typeface="Segoe UI"/>
              </a:rPr>
              <a:t>1SA / 2SA / 3SA — absorbedores de sobretensión.</a:t>
            </a:r>
            <a:endParaRPr b="0" lang="en-US" sz="9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80" spc="-1" strike="noStrike">
                <a:solidFill>
                  <a:srgbClr val="1c2430"/>
                </a:solidFill>
                <a:latin typeface="Segoe UI"/>
              </a:rPr>
              <a:t>1D — diodo volante sobre la bobina del relé.</a:t>
            </a:r>
            <a:endParaRPr b="0" lang="en-US" sz="9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80" spc="-1" strike="noStrike">
                <a:solidFill>
                  <a:srgbClr val="1c2430"/>
                </a:solidFill>
                <a:latin typeface="Segoe UI"/>
              </a:rPr>
              <a:t>1Ry — relé de la maniobra · 1PL — lámpara de alarma.</a:t>
            </a:r>
            <a:endParaRPr b="0" lang="en-US" sz="980" spc="-1" strike="noStrike">
              <a:solidFill>
                <a:srgbClr val="000000"/>
              </a:solidFill>
              <a:latin typeface="Arial"/>
            </a:endParaRPr>
          </a:p>
          <a:p>
            <a:pPr defTabSz="457200">
              <a:lnSpc>
                <a:spcPct val="106000"/>
              </a:lnSpc>
              <a:spcBef>
                <a:spcPts val="799"/>
              </a:spcBef>
              <a:spcAft>
                <a:spcPts val="901"/>
              </a:spcAft>
              <a:tabLst>
                <a:tab algn="l" pos="0"/>
              </a:tabLst>
            </a:pPr>
            <a:r>
              <a:rPr b="1" lang="en-US" sz="920" spc="-1" strike="noStrike">
                <a:solidFill>
                  <a:srgbClr val="1b5ea8"/>
                </a:solidFill>
                <a:latin typeface="Segoe UI Semibold"/>
              </a:rPr>
              <a:t>La lógica de la maniobra</a:t>
            </a:r>
            <a:endParaRPr b="0" lang="en-US" sz="9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80" spc="-1" strike="noStrike">
                <a:solidFill>
                  <a:srgbClr val="1c2430"/>
                </a:solidFill>
                <a:latin typeface="Segoe UI"/>
              </a:rPr>
              <a:t>La salida </a:t>
            </a:r>
            <a:r>
              <a:rPr b="1" lang="en-US" sz="980" spc="-1" strike="noStrike">
                <a:solidFill>
                  <a:srgbClr val="1c2430"/>
                </a:solidFill>
                <a:latin typeface="Consolas"/>
              </a:rPr>
              <a:t>ALM</a:t>
            </a:r>
            <a:r>
              <a:rPr b="1" lang="en-US" sz="980" spc="-1" strike="noStrike">
                <a:solidFill>
                  <a:srgbClr val="1c2430"/>
                </a:solidFill>
                <a:latin typeface="Segoe UI"/>
              </a:rPr>
              <a:t> del drive (</a:t>
            </a:r>
            <a:r>
              <a:rPr b="1" lang="en-US" sz="980" spc="-1" strike="noStrike">
                <a:solidFill>
                  <a:srgbClr val="1c2430"/>
                </a:solidFill>
                <a:latin typeface="Consolas"/>
              </a:rPr>
              <a:t>CN1-31</a:t>
            </a:r>
            <a:r>
              <a:rPr b="1" lang="en-US" sz="980" spc="-1" strike="noStrike">
                <a:solidFill>
                  <a:srgbClr val="1c2430"/>
                </a:solidFill>
                <a:latin typeface="Segoe UI"/>
              </a:rPr>
              <a:t> / </a:t>
            </a:r>
            <a:r>
              <a:rPr b="1" lang="en-US" sz="980" spc="-1" strike="noStrike">
                <a:solidFill>
                  <a:srgbClr val="1c2430"/>
                </a:solidFill>
                <a:latin typeface="Consolas"/>
              </a:rPr>
              <a:t>CN1-32</a:t>
            </a:r>
            <a:r>
              <a:rPr b="1" lang="en-US" sz="980" spc="-1" strike="noStrike">
                <a:solidFill>
                  <a:srgbClr val="1c2430"/>
                </a:solidFill>
                <a:latin typeface="Segoe UI"/>
              </a:rPr>
              <a:t>) está en serie con la maniobra: una alarma corta la potencia y enciende la lámpara.</a:t>
            </a:r>
            <a:endParaRPr b="0" lang="en-US" sz="98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820" spc="-1" strike="noStrike">
                <a:solidFill>
                  <a:srgbClr val="333f4c"/>
                </a:solidFill>
                <a:latin typeface="Segoe UI"/>
              </a:rPr>
              <a:t>El pulsador de marcha excita 1KM, que se automantiene, y a continuación 2KM da potencia.</a:t>
            </a:r>
            <a:endParaRPr b="0" lang="en-US" sz="82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1"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12"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113"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Secuencia de encendido, según el manual</a:t>
            </a:r>
            <a:endParaRPr b="0" lang="en-US" sz="2500" spc="-1" strike="noStrike">
              <a:solidFill>
                <a:srgbClr val="000000"/>
              </a:solidFill>
              <a:latin typeface="Arial"/>
            </a:endParaRPr>
          </a:p>
        </p:txBody>
      </p:sp>
      <p:sp>
        <p:nvSpPr>
          <p:cNvPr id="1114"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Cronograma oficial y la advertencia de descarga del bus</a:t>
            </a:r>
            <a:endParaRPr b="0" lang="en-US" sz="1250" spc="-1" strike="noStrike">
              <a:solidFill>
                <a:srgbClr val="000000"/>
              </a:solidFill>
              <a:latin typeface="Arial"/>
            </a:endParaRPr>
          </a:p>
        </p:txBody>
      </p:sp>
      <p:sp>
        <p:nvSpPr>
          <p:cNvPr id="1115"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1116"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117"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59</a:t>
            </a:r>
            <a:endParaRPr b="0" lang="en-US" sz="900" spc="-1" strike="noStrike">
              <a:solidFill>
                <a:srgbClr val="000000"/>
              </a:solidFill>
              <a:latin typeface="Arial"/>
            </a:endParaRPr>
          </a:p>
        </p:txBody>
      </p:sp>
      <p:sp>
        <p:nvSpPr>
          <p:cNvPr id="1118" name="Rectangle 8"/>
          <p:cNvSpPr/>
          <p:nvPr/>
        </p:nvSpPr>
        <p:spPr>
          <a:xfrm>
            <a:off x="1432080" y="1426320"/>
            <a:ext cx="523548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119" name="Picture 9" descr="secuencia_encendido.png"/>
          <p:cNvPicPr/>
          <p:nvPr/>
        </p:nvPicPr>
        <p:blipFill>
          <a:blip r:embed="rId1"/>
          <a:stretch/>
        </p:blipFill>
        <p:spPr>
          <a:xfrm>
            <a:off x="1487160" y="1481400"/>
            <a:ext cx="5125680" cy="4498560"/>
          </a:xfrm>
          <a:prstGeom prst="rect">
            <a:avLst/>
          </a:prstGeom>
          <a:ln w="0">
            <a:noFill/>
          </a:ln>
        </p:spPr>
      </p:pic>
      <p:sp>
        <p:nvSpPr>
          <p:cNvPr id="1120"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4.3.3</a:t>
            </a:r>
            <a:endParaRPr b="0" lang="en-US" sz="850" spc="-1" strike="noStrike">
              <a:solidFill>
                <a:srgbClr val="000000"/>
              </a:solidFill>
              <a:latin typeface="Arial"/>
            </a:endParaRPr>
          </a:p>
        </p:txBody>
      </p:sp>
      <p:sp>
        <p:nvSpPr>
          <p:cNvPr id="1121"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22" name="TextBox 12"/>
          <p:cNvSpPr/>
          <p:nvPr/>
        </p:nvSpPr>
        <p:spPr>
          <a:xfrm>
            <a:off x="8027280" y="1664280"/>
            <a:ext cx="3377880" cy="392508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130" spc="-1" strike="noStrike">
                <a:solidFill>
                  <a:srgbClr val="1b5ea8"/>
                </a:solidFill>
                <a:latin typeface="Segoe UI Semibold"/>
              </a:rPr>
              <a:t>Lo que fija el cronograma</a:t>
            </a:r>
            <a:endParaRPr b="0" lang="en-US" sz="11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80" spc="-1" strike="noStrike">
                <a:solidFill>
                  <a:srgbClr val="1c2430"/>
                </a:solidFill>
                <a:latin typeface="Segoe UI"/>
              </a:rPr>
              <a:t>La alimentación de control se establece antes o a la vez que la de potencia.</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80" spc="-1" strike="noStrike">
                <a:solidFill>
                  <a:srgbClr val="1c2430"/>
                </a:solidFill>
                <a:latin typeface="Segoe UI"/>
              </a:rPr>
              <a:t>Existe un retardo entre dar potencia y que el drive acepte el servo ON: es la precarga de los condensadores.</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80" spc="-1" strike="noStrike">
                <a:solidFill>
                  <a:srgbClr val="1c2430"/>
                </a:solidFill>
                <a:latin typeface="Segoe UI"/>
              </a:rPr>
              <a:t>La señal </a:t>
            </a:r>
            <a:r>
              <a:rPr b="1" lang="en-US" sz="1180" spc="-1" strike="noStrike">
                <a:solidFill>
                  <a:srgbClr val="1c2430"/>
                </a:solidFill>
                <a:latin typeface="Consolas"/>
              </a:rPr>
              <a:t>ALM</a:t>
            </a:r>
            <a:r>
              <a:rPr b="1" lang="en-US" sz="1180" spc="-1" strike="noStrike">
                <a:solidFill>
                  <a:srgbClr val="1c2430"/>
                </a:solidFill>
                <a:latin typeface="Segoe UI"/>
              </a:rPr>
              <a:t> sólo es válida una vez transcurrido ese tiempo.</a:t>
            </a:r>
            <a:endParaRPr b="0" lang="en-US" sz="1180" spc="-1" strike="noStrike">
              <a:solidFill>
                <a:srgbClr val="000000"/>
              </a:solidFill>
              <a:latin typeface="Arial"/>
            </a:endParaRPr>
          </a:p>
          <a:p>
            <a:pPr defTabSz="457200">
              <a:lnSpc>
                <a:spcPct val="106000"/>
              </a:lnSpc>
              <a:spcBef>
                <a:spcPts val="799"/>
              </a:spcBef>
              <a:spcAft>
                <a:spcPts val="901"/>
              </a:spcAft>
              <a:tabLst>
                <a:tab algn="l" pos="0"/>
              </a:tabLst>
            </a:pPr>
            <a:r>
              <a:rPr b="1" lang="en-US" sz="1130" spc="-1" strike="noStrike">
                <a:solidFill>
                  <a:srgbClr val="1b5ea8"/>
                </a:solidFill>
                <a:latin typeface="Segoe UI Semibold"/>
              </a:rPr>
              <a:t>La advertencia en rojo</a:t>
            </a:r>
            <a:endParaRPr b="0" lang="en-US" sz="11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80" spc="-1" strike="noStrike">
                <a:solidFill>
                  <a:srgbClr val="1c2430"/>
                </a:solidFill>
                <a:latin typeface="Segoe UI"/>
              </a:rPr>
              <a:t>Tras cortar la alimentación, el bus de continua conserva tensión peligrosa. Espera al menos 15 minutos desde que se apaga el indicador CHARGE antes de tocar nada.</a:t>
            </a:r>
            <a:endParaRPr b="0" lang="en-US" sz="118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30" spc="-1" strike="noStrike">
                <a:solidFill>
                  <a:srgbClr val="333f4c"/>
                </a:solidFill>
                <a:latin typeface="Segoe UI"/>
              </a:rPr>
              <a:t>No toques los bornes de potencia ni los del motor mientras el indicador CHARGE esté encendido.</a:t>
            </a:r>
            <a:endParaRPr b="0" lang="en-US" sz="103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3"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24"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125" name="TextBox 3"/>
          <p:cNvSpPr/>
          <p:nvPr/>
        </p:nvSpPr>
        <p:spPr>
          <a:xfrm>
            <a:off x="567000" y="182880"/>
            <a:ext cx="8954280" cy="3524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310" spc="-1" strike="noStrike">
                <a:solidFill>
                  <a:srgbClr val="ffffff"/>
                </a:solidFill>
                <a:latin typeface="Segoe UI Semibold"/>
              </a:rPr>
              <a:t>Resistencia de regeneración externa: el puente </a:t>
            </a:r>
            <a:r>
              <a:rPr b="1" lang="en-US" sz="2310" spc="-1" strike="noStrike">
                <a:solidFill>
                  <a:srgbClr val="ffffff"/>
                </a:solidFill>
                <a:latin typeface="Consolas"/>
              </a:rPr>
              <a:t>B2</a:t>
            </a:r>
            <a:r>
              <a:rPr b="1" lang="en-US" sz="2310" spc="-1" strike="noStrike">
                <a:solidFill>
                  <a:srgbClr val="ffffff"/>
                </a:solidFill>
                <a:latin typeface="Segoe UI Semibold"/>
              </a:rPr>
              <a:t>-</a:t>
            </a:r>
            <a:r>
              <a:rPr b="1" lang="en-US" sz="2310" spc="-1" strike="noStrike">
                <a:solidFill>
                  <a:srgbClr val="ffffff"/>
                </a:solidFill>
                <a:latin typeface="Consolas"/>
              </a:rPr>
              <a:t>B3</a:t>
            </a:r>
            <a:endParaRPr b="0" lang="en-US" sz="2310" spc="-1" strike="noStrike">
              <a:solidFill>
                <a:srgbClr val="000000"/>
              </a:solidFill>
              <a:latin typeface="Arial"/>
            </a:endParaRPr>
          </a:p>
        </p:txBody>
      </p:sp>
      <p:sp>
        <p:nvSpPr>
          <p:cNvPr id="1126"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Figura oficial del procedimiento en los modelos 180A a 330A</a:t>
            </a:r>
            <a:endParaRPr b="0" lang="en-US" sz="1250" spc="-1" strike="noStrike">
              <a:solidFill>
                <a:srgbClr val="000000"/>
              </a:solidFill>
              <a:latin typeface="Arial"/>
            </a:endParaRPr>
          </a:p>
        </p:txBody>
      </p:sp>
      <p:sp>
        <p:nvSpPr>
          <p:cNvPr id="1127"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1128"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129"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60</a:t>
            </a:r>
            <a:endParaRPr b="0" lang="en-US" sz="900" spc="-1" strike="noStrike">
              <a:solidFill>
                <a:srgbClr val="000000"/>
              </a:solidFill>
              <a:latin typeface="Arial"/>
            </a:endParaRPr>
          </a:p>
        </p:txBody>
      </p:sp>
      <p:sp>
        <p:nvSpPr>
          <p:cNvPr id="1130" name="Rectangle 8"/>
          <p:cNvSpPr/>
          <p:nvPr/>
        </p:nvSpPr>
        <p:spPr>
          <a:xfrm>
            <a:off x="511920" y="2372400"/>
            <a:ext cx="7075800" cy="271620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131" name="Picture 9" descr="regeneracion_externa.png"/>
          <p:cNvPicPr/>
          <p:nvPr/>
        </p:nvPicPr>
        <p:blipFill>
          <a:blip r:embed="rId1"/>
          <a:stretch/>
        </p:blipFill>
        <p:spPr>
          <a:xfrm>
            <a:off x="567000" y="2427120"/>
            <a:ext cx="6966000" cy="2606760"/>
          </a:xfrm>
          <a:prstGeom prst="rect">
            <a:avLst/>
          </a:prstGeom>
          <a:ln w="0">
            <a:noFill/>
          </a:ln>
        </p:spPr>
      </p:pic>
      <p:sp>
        <p:nvSpPr>
          <p:cNvPr id="1132"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4.3.5</a:t>
            </a:r>
            <a:endParaRPr b="0" lang="en-US" sz="850" spc="-1" strike="noStrike">
              <a:solidFill>
                <a:srgbClr val="000000"/>
              </a:solidFill>
              <a:latin typeface="Arial"/>
            </a:endParaRPr>
          </a:p>
        </p:txBody>
      </p:sp>
      <p:sp>
        <p:nvSpPr>
          <p:cNvPr id="1133"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34" name="TextBox 12"/>
          <p:cNvSpPr/>
          <p:nvPr/>
        </p:nvSpPr>
        <p:spPr>
          <a:xfrm>
            <a:off x="8027280" y="1664280"/>
            <a:ext cx="3377880" cy="357588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900" spc="-1" strike="noStrike">
                <a:solidFill>
                  <a:srgbClr val="1b5ea8"/>
                </a:solidFill>
                <a:latin typeface="Segoe UI Semibold"/>
              </a:rPr>
              <a:t>Procedimiento</a:t>
            </a:r>
            <a:endParaRPr b="0" lang="en-US" sz="9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50" spc="-1" strike="noStrike">
                <a:solidFill>
                  <a:srgbClr val="1c2430"/>
                </a:solidFill>
                <a:latin typeface="Segoe UI"/>
              </a:rPr>
              <a:t>1. Retirar el puente (cable corto) entre </a:t>
            </a:r>
            <a:r>
              <a:rPr b="1" lang="en-US" sz="950" spc="-1" strike="noStrike">
                <a:solidFill>
                  <a:srgbClr val="1c2430"/>
                </a:solidFill>
                <a:latin typeface="Consolas"/>
              </a:rPr>
              <a:t>B2</a:t>
            </a:r>
            <a:r>
              <a:rPr b="1" lang="en-US" sz="950" spc="-1" strike="noStrike">
                <a:solidFill>
                  <a:srgbClr val="1c2430"/>
                </a:solidFill>
                <a:latin typeface="Segoe UI"/>
              </a:rPr>
              <a:t> y </a:t>
            </a:r>
            <a:r>
              <a:rPr b="1" lang="en-US" sz="950" spc="-1" strike="noStrike">
                <a:solidFill>
                  <a:srgbClr val="1c2430"/>
                </a:solidFill>
                <a:latin typeface="Consolas"/>
              </a:rPr>
              <a:t>B3</a:t>
            </a:r>
            <a:r>
              <a:rPr b="1" lang="en-US" sz="950" spc="-1" strike="noStrike">
                <a:solidFill>
                  <a:srgbClr val="1c2430"/>
                </a:solidFill>
                <a:latin typeface="Segoe UI"/>
              </a:rPr>
              <a:t>.</a:t>
            </a:r>
            <a:endParaRPr b="0" lang="en-US" sz="9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50" spc="-1" strike="noStrike">
                <a:solidFill>
                  <a:srgbClr val="1c2430"/>
                </a:solidFill>
                <a:latin typeface="Segoe UI"/>
              </a:rPr>
              <a:t>2. Conectar la resistencia externa entre </a:t>
            </a:r>
            <a:r>
              <a:rPr b="1" lang="en-US" sz="950" spc="-1" strike="noStrike">
                <a:solidFill>
                  <a:srgbClr val="1c2430"/>
                </a:solidFill>
                <a:latin typeface="Consolas"/>
              </a:rPr>
              <a:t>B1/⊕</a:t>
            </a:r>
            <a:r>
              <a:rPr b="1" lang="en-US" sz="950" spc="-1" strike="noStrike">
                <a:solidFill>
                  <a:srgbClr val="1c2430"/>
                </a:solidFill>
                <a:latin typeface="Segoe UI"/>
              </a:rPr>
              <a:t> y </a:t>
            </a:r>
            <a:r>
              <a:rPr b="1" lang="en-US" sz="950" spc="-1" strike="noStrike">
                <a:solidFill>
                  <a:srgbClr val="1c2430"/>
                </a:solidFill>
                <a:latin typeface="Consolas"/>
              </a:rPr>
              <a:t>B2</a:t>
            </a:r>
            <a:r>
              <a:rPr b="1" lang="en-US" sz="950" spc="-1" strike="noStrike">
                <a:solidFill>
                  <a:srgbClr val="1c2430"/>
                </a:solidFill>
                <a:latin typeface="Segoe UI"/>
              </a:rPr>
              <a:t>.</a:t>
            </a:r>
            <a:endParaRPr b="0" lang="en-US" sz="9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50" spc="-1" strike="noStrike">
                <a:solidFill>
                  <a:srgbClr val="1c2430"/>
                </a:solidFill>
                <a:latin typeface="Segoe UI"/>
              </a:rPr>
              <a:t>3. Declarar la resistencia en los parámetros.</a:t>
            </a:r>
            <a:endParaRPr b="0" lang="en-US" sz="950" spc="-1" strike="noStrike">
              <a:solidFill>
                <a:srgbClr val="000000"/>
              </a:solidFill>
              <a:latin typeface="Arial"/>
            </a:endParaRPr>
          </a:p>
          <a:p>
            <a:pPr defTabSz="457200">
              <a:lnSpc>
                <a:spcPct val="106000"/>
              </a:lnSpc>
              <a:spcBef>
                <a:spcPts val="799"/>
              </a:spcBef>
              <a:spcAft>
                <a:spcPts val="901"/>
              </a:spcAft>
              <a:tabLst>
                <a:tab algn="l" pos="0"/>
              </a:tabLst>
            </a:pPr>
            <a:r>
              <a:rPr b="1" lang="en-US" sz="900" spc="-1" strike="noStrike">
                <a:solidFill>
                  <a:srgbClr val="1b5ea8"/>
                </a:solidFill>
                <a:latin typeface="Segoe UI Semibold"/>
              </a:rPr>
              <a:t>Datos de tu amplificador</a:t>
            </a:r>
            <a:endParaRPr b="0" lang="en-US" sz="9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50" spc="-1" strike="noStrike">
                <a:solidFill>
                  <a:srgbClr val="1c2430"/>
                </a:solidFill>
                <a:latin typeface="Segoe UI"/>
              </a:rPr>
              <a:t>Resistencia interna: 10 Ω · 60 W, con 30 W de consumo continuo admisible.</a:t>
            </a:r>
            <a:endParaRPr b="0" lang="en-US" sz="9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50" spc="-1" strike="noStrike">
                <a:solidFill>
                  <a:srgbClr val="1c2430"/>
                </a:solidFill>
                <a:latin typeface="Segoe UI"/>
              </a:rPr>
              <a:t>Resistencia externa mínima admisible: 10 Ω.</a:t>
            </a:r>
            <a:endParaRPr b="0" lang="en-US" sz="950" spc="-1" strike="noStrike">
              <a:solidFill>
                <a:srgbClr val="000000"/>
              </a:solidFill>
              <a:latin typeface="Arial"/>
            </a:endParaRPr>
          </a:p>
          <a:p>
            <a:pPr defTabSz="457200">
              <a:lnSpc>
                <a:spcPct val="106000"/>
              </a:lnSpc>
              <a:spcBef>
                <a:spcPts val="799"/>
              </a:spcBef>
              <a:spcAft>
                <a:spcPts val="901"/>
              </a:spcAft>
              <a:tabLst>
                <a:tab algn="l" pos="0"/>
              </a:tabLst>
            </a:pPr>
            <a:r>
              <a:rPr b="1" lang="en-US" sz="900" spc="-1" strike="noStrike">
                <a:solidFill>
                  <a:srgbClr val="1b5ea8"/>
                </a:solidFill>
                <a:latin typeface="Segoe UI Semibold"/>
              </a:rPr>
              <a:t>Parámetros que hay que ajustar</a:t>
            </a:r>
            <a:endParaRPr b="0" lang="en-US" sz="9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50" spc="-1" strike="noStrike">
                <a:solidFill>
                  <a:srgbClr val="1c2430"/>
                </a:solidFill>
                <a:latin typeface="Consolas"/>
              </a:rPr>
              <a:t>Pn600</a:t>
            </a:r>
            <a:r>
              <a:rPr b="1" lang="en-US" sz="950" spc="-1" strike="noStrike">
                <a:solidFill>
                  <a:srgbClr val="1c2430"/>
                </a:solidFill>
                <a:latin typeface="Segoe UI"/>
              </a:rPr>
              <a:t> — capacidad de la resistencia de regeneración [W].</a:t>
            </a:r>
            <a:endParaRPr b="0" lang="en-US" sz="9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50" spc="-1" strike="noStrike">
                <a:solidFill>
                  <a:srgbClr val="1c2430"/>
                </a:solidFill>
                <a:latin typeface="Consolas"/>
              </a:rPr>
              <a:t>Pn603</a:t>
            </a:r>
            <a:r>
              <a:rPr b="1" lang="en-US" sz="950" spc="-1" strike="noStrike">
                <a:solidFill>
                  <a:srgbClr val="1c2430"/>
                </a:solidFill>
                <a:latin typeface="Segoe UI"/>
              </a:rPr>
              <a:t> — valor óhmico de la resistencia de regeneración.</a:t>
            </a:r>
            <a:endParaRPr b="0" lang="en-US" sz="9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800" spc="-1" strike="noStrike">
                <a:solidFill>
                  <a:srgbClr val="333f4c"/>
                </a:solidFill>
                <a:latin typeface="Segoe UI"/>
              </a:rPr>
              <a:t>Si no los declaras, la protección térmica del drive calculará con la resistencia interna y protegerá mal.</a:t>
            </a:r>
            <a:endParaRPr b="0" lang="en-US" sz="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3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137"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Cableado del encoder absoluto y de la batería</a:t>
            </a:r>
            <a:endParaRPr b="0" lang="en-US" sz="2500" spc="-1" strike="noStrike">
              <a:solidFill>
                <a:srgbClr val="000000"/>
              </a:solidFill>
              <a:latin typeface="Arial"/>
            </a:endParaRPr>
          </a:p>
        </p:txBody>
      </p:sp>
      <p:sp>
        <p:nvSpPr>
          <p:cNvPr id="113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Conexión por </a:t>
            </a:r>
            <a:r>
              <a:rPr b="0" lang="en-US" sz="1250" spc="-1" strike="noStrike">
                <a:solidFill>
                  <a:srgbClr val="a9c6e0"/>
                </a:solidFill>
                <a:latin typeface="Consolas"/>
              </a:rPr>
              <a:t>CN2</a:t>
            </a:r>
            <a:r>
              <a:rPr b="0" lang="en-US" sz="1250" spc="-1" strike="noStrike">
                <a:solidFill>
                  <a:srgbClr val="a9c6e0"/>
                </a:solidFill>
                <a:latin typeface="Segoe UI"/>
              </a:rPr>
              <a:t> y ubicación de la batería</a:t>
            </a:r>
            <a:endParaRPr b="0" lang="en-US" sz="1250" spc="-1" strike="noStrike">
              <a:solidFill>
                <a:srgbClr val="000000"/>
              </a:solidFill>
              <a:latin typeface="Arial"/>
            </a:endParaRPr>
          </a:p>
        </p:txBody>
      </p:sp>
      <p:sp>
        <p:nvSpPr>
          <p:cNvPr id="113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114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14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61</a:t>
            </a:r>
            <a:endParaRPr b="0" lang="en-US" sz="900" spc="-1" strike="noStrike">
              <a:solidFill>
                <a:srgbClr val="000000"/>
              </a:solidFill>
              <a:latin typeface="Arial"/>
            </a:endParaRPr>
          </a:p>
        </p:txBody>
      </p:sp>
      <p:sp>
        <p:nvSpPr>
          <p:cNvPr id="1142" name="Rectangle 8"/>
          <p:cNvSpPr/>
          <p:nvPr/>
        </p:nvSpPr>
        <p:spPr>
          <a:xfrm>
            <a:off x="673920" y="1426320"/>
            <a:ext cx="675216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143" name="Picture 9" descr="cableado_encoder.png"/>
          <p:cNvPicPr/>
          <p:nvPr/>
        </p:nvPicPr>
        <p:blipFill>
          <a:blip r:embed="rId1"/>
          <a:stretch/>
        </p:blipFill>
        <p:spPr>
          <a:xfrm>
            <a:off x="728640" y="1481400"/>
            <a:ext cx="6642720" cy="4498560"/>
          </a:xfrm>
          <a:prstGeom prst="rect">
            <a:avLst/>
          </a:prstGeom>
          <a:ln w="0">
            <a:noFill/>
          </a:ln>
        </p:spPr>
      </p:pic>
      <p:sp>
        <p:nvSpPr>
          <p:cNvPr id="1144"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4.4.3</a:t>
            </a:r>
            <a:endParaRPr b="0" lang="en-US" sz="850" spc="-1" strike="noStrike">
              <a:solidFill>
                <a:srgbClr val="000000"/>
              </a:solidFill>
              <a:latin typeface="Arial"/>
            </a:endParaRPr>
          </a:p>
        </p:txBody>
      </p:sp>
      <p:sp>
        <p:nvSpPr>
          <p:cNvPr id="1145"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46" name="TextBox 12"/>
          <p:cNvSpPr/>
          <p:nvPr/>
        </p:nvSpPr>
        <p:spPr>
          <a:xfrm>
            <a:off x="8027280" y="1664280"/>
            <a:ext cx="3377880" cy="361908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150" spc="-1" strike="noStrike">
                <a:solidFill>
                  <a:srgbClr val="1b5ea8"/>
                </a:solidFill>
                <a:latin typeface="Segoe UI Semibold"/>
              </a:rPr>
              <a:t>Las dos ubicaciones posibles de la batería</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En el cable de encoder (unidad de batería intercalada).</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En el controlador anfitrión, a través de los pines </a:t>
            </a:r>
            <a:r>
              <a:rPr b="1" lang="en-US" sz="1200" spc="-1" strike="noStrike">
                <a:solidFill>
                  <a:srgbClr val="1c2430"/>
                </a:solidFill>
                <a:latin typeface="Consolas"/>
              </a:rPr>
              <a:t>BAT+</a:t>
            </a:r>
            <a:r>
              <a:rPr b="1" lang="en-US" sz="1200" spc="-1" strike="noStrike">
                <a:solidFill>
                  <a:srgbClr val="1c2430"/>
                </a:solidFill>
                <a:latin typeface="Segoe UI"/>
              </a:rPr>
              <a:t> / </a:t>
            </a:r>
            <a:r>
              <a:rPr b="1" lang="en-US" sz="1200" spc="-1" strike="noStrike">
                <a:solidFill>
                  <a:srgbClr val="1c2430"/>
                </a:solidFill>
                <a:latin typeface="Consolas"/>
              </a:rPr>
              <a:t>BAT-</a:t>
            </a:r>
            <a:r>
              <a:rPr b="1" lang="en-US" sz="1200" spc="-1" strike="noStrike">
                <a:solidFill>
                  <a:srgbClr val="1c2430"/>
                </a:solidFill>
                <a:latin typeface="Segoe UI"/>
              </a:rPr>
              <a:t> de </a:t>
            </a:r>
            <a:r>
              <a:rPr b="1" lang="en-US" sz="1200" spc="-1" strike="noStrike">
                <a:solidFill>
                  <a:srgbClr val="1c2430"/>
                </a:solidFill>
                <a:latin typeface="Consolas"/>
              </a:rPr>
              <a:t>CN1</a:t>
            </a:r>
            <a:r>
              <a:rPr b="1" lang="en-US" sz="1200" spc="-1" strike="noStrike">
                <a:solidFill>
                  <a:srgbClr val="1c2430"/>
                </a:solidFill>
                <a:latin typeface="Segoe UI"/>
              </a:rPr>
              <a:t> (21 y 22).</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1" lang="en-US" sz="1050" spc="-1" strike="noStrike">
                <a:solidFill>
                  <a:srgbClr val="333f4c"/>
                </a:solidFill>
                <a:latin typeface="Segoe UI"/>
              </a:rPr>
              <a:t>Nunca las dos a la vez</a:t>
            </a:r>
            <a:r>
              <a:rPr b="0" lang="en-US" sz="1050" spc="-1" strike="noStrike">
                <a:solidFill>
                  <a:srgbClr val="333f4c"/>
                </a:solidFill>
                <a:latin typeface="Segoe UI"/>
              </a:rPr>
              <a:t>: se producirían corrientes de circulación entre ambas.</a:t>
            </a:r>
            <a:endParaRPr b="0" lang="en-US" sz="1050" spc="-1" strike="noStrike">
              <a:solidFill>
                <a:srgbClr val="000000"/>
              </a:solidFill>
              <a:latin typeface="Arial"/>
            </a:endParaRPr>
          </a:p>
          <a:p>
            <a:pPr defTabSz="457200">
              <a:lnSpc>
                <a:spcPct val="106000"/>
              </a:lnSpc>
              <a:spcBef>
                <a:spcPts val="799"/>
              </a:spcBef>
              <a:spcAft>
                <a:spcPts val="901"/>
              </a:spcAft>
              <a:tabLst>
                <a:tab algn="l" pos="0"/>
              </a:tabLst>
            </a:pPr>
            <a:r>
              <a:rPr b="1" lang="en-US" sz="1150" spc="-1" strike="noStrike">
                <a:solidFill>
                  <a:srgbClr val="1b5ea8"/>
                </a:solidFill>
                <a:latin typeface="Segoe UI Semibold"/>
              </a:rPr>
              <a:t>Reglas de cableado</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Cable original y apantallado, con la malla a tierra.</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Separado de los cables de potencia; cruces a 90°.</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La mayoría de las alarmas intermitentes de encoder son problemas de cable, conector o apantallamiento.</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7"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48"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149"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Cableado del freno de retención</a:t>
            </a:r>
            <a:endParaRPr b="0" lang="en-US" sz="2500" spc="-1" strike="noStrike">
              <a:solidFill>
                <a:srgbClr val="000000"/>
              </a:solidFill>
              <a:latin typeface="Arial"/>
            </a:endParaRPr>
          </a:p>
        </p:txBody>
      </p:sp>
      <p:sp>
        <p:nvSpPr>
          <p:cNvPr id="1150"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Circuito oficial con relé intermedio y fuente independiente</a:t>
            </a:r>
            <a:endParaRPr b="0" lang="en-US" sz="1250" spc="-1" strike="noStrike">
              <a:solidFill>
                <a:srgbClr val="000000"/>
              </a:solidFill>
              <a:latin typeface="Arial"/>
            </a:endParaRPr>
          </a:p>
        </p:txBody>
      </p:sp>
      <p:sp>
        <p:nvSpPr>
          <p:cNvPr id="1151"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1152"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153"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62</a:t>
            </a:r>
            <a:endParaRPr b="0" lang="en-US" sz="900" spc="-1" strike="noStrike">
              <a:solidFill>
                <a:srgbClr val="000000"/>
              </a:solidFill>
              <a:latin typeface="Arial"/>
            </a:endParaRPr>
          </a:p>
        </p:txBody>
      </p:sp>
      <p:sp>
        <p:nvSpPr>
          <p:cNvPr id="1154" name="Rectangle 8"/>
          <p:cNvSpPr/>
          <p:nvPr/>
        </p:nvSpPr>
        <p:spPr>
          <a:xfrm>
            <a:off x="1847520" y="1426320"/>
            <a:ext cx="440496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155" name="Picture 9" descr="freno_retencion.png"/>
          <p:cNvPicPr/>
          <p:nvPr/>
        </p:nvPicPr>
        <p:blipFill>
          <a:blip r:embed="rId1"/>
          <a:stretch/>
        </p:blipFill>
        <p:spPr>
          <a:xfrm>
            <a:off x="1902240" y="1481400"/>
            <a:ext cx="4295160" cy="4498560"/>
          </a:xfrm>
          <a:prstGeom prst="rect">
            <a:avLst/>
          </a:prstGeom>
          <a:ln w="0">
            <a:noFill/>
          </a:ln>
        </p:spPr>
      </p:pic>
      <p:sp>
        <p:nvSpPr>
          <p:cNvPr id="1156"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4.4.4</a:t>
            </a:r>
            <a:endParaRPr b="0" lang="en-US" sz="850" spc="-1" strike="noStrike">
              <a:solidFill>
                <a:srgbClr val="000000"/>
              </a:solidFill>
              <a:latin typeface="Arial"/>
            </a:endParaRPr>
          </a:p>
        </p:txBody>
      </p:sp>
      <p:sp>
        <p:nvSpPr>
          <p:cNvPr id="1157"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58" name="TextBox 12"/>
          <p:cNvSpPr/>
          <p:nvPr/>
        </p:nvSpPr>
        <p:spPr>
          <a:xfrm>
            <a:off x="8027280" y="1664280"/>
            <a:ext cx="3377880" cy="371952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950" spc="-1" strike="noStrike">
                <a:solidFill>
                  <a:srgbClr val="1b5ea8"/>
                </a:solidFill>
                <a:latin typeface="Segoe UI Semibold"/>
              </a:rPr>
              <a:t>Lo que muestra la figura</a:t>
            </a:r>
            <a:endParaRPr b="0" lang="en-US" sz="9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00" spc="-1" strike="noStrike">
                <a:solidFill>
                  <a:srgbClr val="1c2430"/>
                </a:solidFill>
                <a:latin typeface="Segoe UI"/>
              </a:rPr>
              <a:t>La salida </a:t>
            </a:r>
            <a:r>
              <a:rPr b="1" lang="en-US" sz="1000" spc="-1" strike="noStrike">
                <a:solidFill>
                  <a:srgbClr val="1c2430"/>
                </a:solidFill>
                <a:latin typeface="Consolas"/>
              </a:rPr>
              <a:t>/BK</a:t>
            </a:r>
            <a:r>
              <a:rPr b="1" lang="en-US" sz="1000" spc="-1" strike="noStrike">
                <a:solidFill>
                  <a:srgbClr val="1c2430"/>
                </a:solidFill>
                <a:latin typeface="Segoe UI"/>
              </a:rPr>
              <a:t> del drive ataca un relé intermedio, no la bobina del freno directamente.</a:t>
            </a:r>
            <a:endParaRPr b="0" lang="en-US" sz="10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00" spc="-1" strike="noStrike">
                <a:solidFill>
                  <a:srgbClr val="1c2430"/>
                </a:solidFill>
                <a:latin typeface="Segoe UI"/>
              </a:rPr>
              <a:t>El freno se alimenta con una fuente de 24 V independiente de la de las E/S.</a:t>
            </a:r>
            <a:endParaRPr b="0" lang="en-US" sz="10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00" spc="-1" strike="noStrike">
                <a:solidFill>
                  <a:srgbClr val="1c2430"/>
                </a:solidFill>
                <a:latin typeface="Segoe UI"/>
              </a:rPr>
              <a:t>Se intercala un supresor de sobretensión en el circuito de la bobina.</a:t>
            </a:r>
            <a:endParaRPr b="0" lang="en-US" sz="1000" spc="-1" strike="noStrike">
              <a:solidFill>
                <a:srgbClr val="000000"/>
              </a:solidFill>
              <a:latin typeface="Arial"/>
            </a:endParaRPr>
          </a:p>
          <a:p>
            <a:pPr defTabSz="457200">
              <a:lnSpc>
                <a:spcPct val="106000"/>
              </a:lnSpc>
              <a:spcBef>
                <a:spcPts val="799"/>
              </a:spcBef>
              <a:spcAft>
                <a:spcPts val="901"/>
              </a:spcAft>
              <a:tabLst>
                <a:tab algn="l" pos="0"/>
              </a:tabLst>
            </a:pPr>
            <a:r>
              <a:rPr b="1" lang="en-US" sz="950" spc="-1" strike="noStrike">
                <a:solidFill>
                  <a:srgbClr val="1b5ea8"/>
                </a:solidFill>
                <a:latin typeface="Segoe UI Semibold"/>
              </a:rPr>
              <a:t>Por qué esas tres precauciones</a:t>
            </a:r>
            <a:endParaRPr b="0" lang="en-US" sz="9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00" spc="-1" strike="noStrike">
                <a:solidFill>
                  <a:srgbClr val="1c2430"/>
                </a:solidFill>
                <a:latin typeface="Segoe UI"/>
              </a:rPr>
              <a:t>La corriente de conexión del freno es alta y perturba las señales si comparte fuente.</a:t>
            </a:r>
            <a:endParaRPr b="0" lang="en-US" sz="10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00" spc="-1" strike="noStrike">
                <a:solidFill>
                  <a:srgbClr val="1c2430"/>
                </a:solidFill>
                <a:latin typeface="Segoe UI"/>
              </a:rPr>
              <a:t>Al cortar una bobina se generan picos de cientos de voltios.</a:t>
            </a:r>
            <a:endParaRPr b="0" lang="en-US" sz="10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850" spc="-1" strike="noStrike">
                <a:solidFill>
                  <a:srgbClr val="333f4c"/>
                </a:solidFill>
                <a:latin typeface="Segoe UI"/>
              </a:rPr>
              <a:t>La salida del drive es un transistor de baja capacidad.</a:t>
            </a:r>
            <a:endParaRPr b="0" lang="en-US" sz="850" spc="-1" strike="noStrike">
              <a:solidFill>
                <a:srgbClr val="000000"/>
              </a:solidFill>
              <a:latin typeface="Arial"/>
            </a:endParaRPr>
          </a:p>
          <a:p>
            <a:pPr defTabSz="457200">
              <a:lnSpc>
                <a:spcPct val="106000"/>
              </a:lnSpc>
              <a:spcBef>
                <a:spcPts val="799"/>
              </a:spcBef>
              <a:spcAft>
                <a:spcPts val="901"/>
              </a:spcAft>
              <a:tabLst>
                <a:tab algn="l" pos="0"/>
              </a:tabLst>
            </a:pPr>
            <a:r>
              <a:rPr b="1" lang="en-US" sz="950" spc="-1" strike="noStrike">
                <a:solidFill>
                  <a:srgbClr val="1b5ea8"/>
                </a:solidFill>
                <a:latin typeface="Segoe UI Semibold"/>
              </a:rPr>
              <a:t>Parámetros asociados</a:t>
            </a:r>
            <a:endParaRPr b="0" lang="en-US" sz="9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00" spc="-1" strike="noStrike">
                <a:solidFill>
                  <a:srgbClr val="1c2430"/>
                </a:solidFill>
                <a:latin typeface="Consolas"/>
              </a:rPr>
              <a:t>Pn506</a:t>
            </a:r>
            <a:r>
              <a:rPr b="1" lang="en-US" sz="1000" spc="-1" strike="noStrike">
                <a:solidFill>
                  <a:srgbClr val="1c2430"/>
                </a:solidFill>
                <a:latin typeface="Segoe UI"/>
              </a:rPr>
              <a:t>, </a:t>
            </a:r>
            <a:r>
              <a:rPr b="1" lang="en-US" sz="1000" spc="-1" strike="noStrike">
                <a:solidFill>
                  <a:srgbClr val="1c2430"/>
                </a:solidFill>
                <a:latin typeface="Consolas"/>
              </a:rPr>
              <a:t>Pn507</a:t>
            </a:r>
            <a:r>
              <a:rPr b="1" lang="en-US" sz="1000" spc="-1" strike="noStrike">
                <a:solidFill>
                  <a:srgbClr val="1c2430"/>
                </a:solidFill>
                <a:latin typeface="Segoe UI"/>
              </a:rPr>
              <a:t> y </a:t>
            </a:r>
            <a:r>
              <a:rPr b="1" lang="en-US" sz="1000" spc="-1" strike="noStrike">
                <a:solidFill>
                  <a:srgbClr val="1c2430"/>
                </a:solidFill>
                <a:latin typeface="Consolas"/>
              </a:rPr>
              <a:t>Pn508</a:t>
            </a:r>
            <a:r>
              <a:rPr b="1" lang="en-US" sz="1000" spc="-1" strike="noStrike">
                <a:solidFill>
                  <a:srgbClr val="1c2430"/>
                </a:solidFill>
                <a:latin typeface="Segoe UI"/>
              </a:rPr>
              <a:t> gobiernan la temporización; la señal </a:t>
            </a:r>
            <a:r>
              <a:rPr b="1" lang="en-US" sz="1000" spc="-1" strike="noStrike">
                <a:solidFill>
                  <a:srgbClr val="1c2430"/>
                </a:solidFill>
                <a:latin typeface="Consolas"/>
              </a:rPr>
              <a:t>/BK</a:t>
            </a:r>
            <a:r>
              <a:rPr b="1" lang="en-US" sz="1000" spc="-1" strike="noStrike">
                <a:solidFill>
                  <a:srgbClr val="1c2430"/>
                </a:solidFill>
                <a:latin typeface="Segoe UI"/>
              </a:rPr>
              <a:t> se asigna con </a:t>
            </a:r>
            <a:r>
              <a:rPr b="1" lang="en-US" sz="1000" spc="-1" strike="noStrike">
                <a:solidFill>
                  <a:srgbClr val="1c2430"/>
                </a:solidFill>
                <a:latin typeface="Consolas"/>
              </a:rPr>
              <a:t>Pn50F</a:t>
            </a:r>
            <a:r>
              <a:rPr b="1" lang="en-US" sz="1000" spc="-1" strike="noStrike">
                <a:solidFill>
                  <a:srgbClr val="1c2430"/>
                </a:solidFill>
                <a:latin typeface="Segoe UI"/>
              </a:rPr>
              <a:t>.</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6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161" name="TextBox 3"/>
          <p:cNvSpPr/>
          <p:nvPr/>
        </p:nvSpPr>
        <p:spPr>
          <a:xfrm>
            <a:off x="567000" y="182880"/>
            <a:ext cx="8954280" cy="3135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060" spc="-1" strike="noStrike">
                <a:solidFill>
                  <a:srgbClr val="ffffff"/>
                </a:solidFill>
                <a:latin typeface="Segoe UI Semibold"/>
              </a:rPr>
              <a:t>Condiciones de instalación para compatibilidad electromagnética</a:t>
            </a:r>
            <a:endParaRPr b="0" lang="en-US" sz="2060" spc="-1" strike="noStrike">
              <a:solidFill>
                <a:srgbClr val="000000"/>
              </a:solidFill>
              <a:latin typeface="Arial"/>
            </a:endParaRPr>
          </a:p>
        </p:txBody>
      </p:sp>
      <p:sp>
        <p:nvSpPr>
          <p:cNvPr id="116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Disposición recomendada por el fabricante</a:t>
            </a:r>
            <a:endParaRPr b="0" lang="en-US" sz="1250" spc="-1" strike="noStrike">
              <a:solidFill>
                <a:srgbClr val="000000"/>
              </a:solidFill>
              <a:latin typeface="Arial"/>
            </a:endParaRPr>
          </a:p>
        </p:txBody>
      </p:sp>
      <p:sp>
        <p:nvSpPr>
          <p:cNvPr id="116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116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16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63</a:t>
            </a:r>
            <a:endParaRPr b="0" lang="en-US" sz="900" spc="-1" strike="noStrike">
              <a:solidFill>
                <a:srgbClr val="000000"/>
              </a:solidFill>
              <a:latin typeface="Arial"/>
            </a:endParaRPr>
          </a:p>
        </p:txBody>
      </p:sp>
      <p:sp>
        <p:nvSpPr>
          <p:cNvPr id="1166" name="Rectangle 8"/>
          <p:cNvSpPr/>
          <p:nvPr/>
        </p:nvSpPr>
        <p:spPr>
          <a:xfrm>
            <a:off x="1482120" y="1426320"/>
            <a:ext cx="513540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167" name="Picture 9" descr="emc_instalacion.png"/>
          <p:cNvPicPr/>
          <p:nvPr/>
        </p:nvPicPr>
        <p:blipFill>
          <a:blip r:embed="rId1"/>
          <a:stretch/>
        </p:blipFill>
        <p:spPr>
          <a:xfrm>
            <a:off x="1537200" y="1481400"/>
            <a:ext cx="5025600" cy="4498560"/>
          </a:xfrm>
          <a:prstGeom prst="rect">
            <a:avLst/>
          </a:prstGeom>
          <a:ln w="0">
            <a:noFill/>
          </a:ln>
        </p:spPr>
      </p:pic>
      <p:sp>
        <p:nvSpPr>
          <p:cNvPr id="1168"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3.7</a:t>
            </a:r>
            <a:endParaRPr b="0" lang="en-US" sz="850" spc="-1" strike="noStrike">
              <a:solidFill>
                <a:srgbClr val="000000"/>
              </a:solidFill>
              <a:latin typeface="Arial"/>
            </a:endParaRPr>
          </a:p>
        </p:txBody>
      </p:sp>
      <p:sp>
        <p:nvSpPr>
          <p:cNvPr id="1169"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70" name="TextBox 12"/>
          <p:cNvSpPr/>
          <p:nvPr/>
        </p:nvSpPr>
        <p:spPr>
          <a:xfrm>
            <a:off x="8027280" y="1664280"/>
            <a:ext cx="3377880" cy="356472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100" spc="-1" strike="noStrike">
                <a:solidFill>
                  <a:srgbClr val="1b5ea8"/>
                </a:solidFill>
                <a:latin typeface="Segoe UI Semibold"/>
              </a:rPr>
              <a:t>Lo que exige la figura</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50" spc="-1" strike="noStrike">
                <a:solidFill>
                  <a:srgbClr val="1c2430"/>
                </a:solidFill>
                <a:latin typeface="Segoe UI"/>
              </a:rPr>
              <a:t>Placa de montaje metálica con superficie conductora como referencia de masas.</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50" spc="-1" strike="noStrike">
                <a:solidFill>
                  <a:srgbClr val="1c2430"/>
                </a:solidFill>
                <a:latin typeface="Segoe UI"/>
              </a:rPr>
              <a:t>Filtro de red montado sobre la propia placa, junto al amplificador.</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50" spc="-1" strike="noStrike">
                <a:solidFill>
                  <a:srgbClr val="1c2430"/>
                </a:solidFill>
                <a:latin typeface="Segoe UI"/>
              </a:rPr>
              <a:t>Abrazaderas de pantalla que rodean la malla de los cables por 360°, no latiguillos.</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50" spc="-1" strike="noStrike">
                <a:solidFill>
                  <a:srgbClr val="1c2430"/>
                </a:solidFill>
                <a:latin typeface="Segoe UI"/>
              </a:rPr>
              <a:t>Cables de motor, encoder y E/S apantallados.</a:t>
            </a:r>
            <a:endParaRPr b="0" lang="en-US" sz="1150" spc="-1" strike="noStrike">
              <a:solidFill>
                <a:srgbClr val="000000"/>
              </a:solidFill>
              <a:latin typeface="Arial"/>
            </a:endParaRPr>
          </a:p>
          <a:p>
            <a:pPr defTabSz="457200">
              <a:lnSpc>
                <a:spcPct val="106000"/>
              </a:lnSpc>
              <a:spcBef>
                <a:spcPts val="799"/>
              </a:spcBef>
              <a:spcAft>
                <a:spcPts val="901"/>
              </a:spcAft>
              <a:tabLst>
                <a:tab algn="l" pos="0"/>
              </a:tabLst>
            </a:pPr>
            <a:r>
              <a:rPr b="1" lang="en-US" sz="1100" spc="-1" strike="noStrike">
                <a:solidFill>
                  <a:srgbClr val="1b5ea8"/>
                </a:solidFill>
                <a:latin typeface="Segoe UI Semibold"/>
              </a:rPr>
              <a:t>Errores que anulan la protección</a:t>
            </a:r>
            <a:endParaRPr b="0" lang="en-US" sz="11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00" spc="-1" strike="noStrike">
                <a:solidFill>
                  <a:srgbClr val="333f4c"/>
                </a:solidFill>
                <a:latin typeface="Segoe UI"/>
              </a:rPr>
              <a:t>Conectar la malla con un cable trenzado largo hasta un borne.</a:t>
            </a:r>
            <a:endParaRPr b="0" lang="en-US" sz="10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00" spc="-1" strike="noStrike">
                <a:solidFill>
                  <a:srgbClr val="333f4c"/>
                </a:solidFill>
                <a:latin typeface="Segoe UI"/>
              </a:rPr>
              <a:t>Pintar la zona de contacto de la placa de montaje.</a:t>
            </a:r>
            <a:endParaRPr b="0" lang="en-US" sz="10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00" spc="-1" strike="noStrike">
                <a:solidFill>
                  <a:srgbClr val="333f4c"/>
                </a:solidFill>
                <a:latin typeface="Segoe UI"/>
              </a:rPr>
              <a:t>Llevar potencia y señal por la misma canaleta.</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1"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72"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173"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Puesta a tierra de varios SERVOPACK en el armario</a:t>
            </a:r>
            <a:endParaRPr b="0" lang="en-US" sz="2500" spc="-1" strike="noStrike">
              <a:solidFill>
                <a:srgbClr val="000000"/>
              </a:solidFill>
              <a:latin typeface="Arial"/>
            </a:endParaRPr>
          </a:p>
        </p:txBody>
      </p:sp>
      <p:sp>
        <p:nvSpPr>
          <p:cNvPr id="1174"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Tierra en estrella sobre la placa de montaje, no en cadena</a:t>
            </a:r>
            <a:endParaRPr b="0" lang="en-US" sz="1250" spc="-1" strike="noStrike">
              <a:solidFill>
                <a:srgbClr val="000000"/>
              </a:solidFill>
              <a:latin typeface="Arial"/>
            </a:endParaRPr>
          </a:p>
        </p:txBody>
      </p:sp>
      <p:sp>
        <p:nvSpPr>
          <p:cNvPr id="1175"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1176"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177"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64</a:t>
            </a:r>
            <a:endParaRPr b="0" lang="en-US" sz="900" spc="-1" strike="noStrike">
              <a:solidFill>
                <a:srgbClr val="000000"/>
              </a:solidFill>
              <a:latin typeface="Arial"/>
            </a:endParaRPr>
          </a:p>
        </p:txBody>
      </p:sp>
      <p:sp>
        <p:nvSpPr>
          <p:cNvPr id="1178" name="Rectangle 8"/>
          <p:cNvSpPr/>
          <p:nvPr/>
        </p:nvSpPr>
        <p:spPr>
          <a:xfrm>
            <a:off x="1304280" y="1426320"/>
            <a:ext cx="549180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179" name="Picture 9" descr="puesta_a_tierra.png"/>
          <p:cNvPicPr/>
          <p:nvPr/>
        </p:nvPicPr>
        <p:blipFill>
          <a:blip r:embed="rId1"/>
          <a:stretch/>
        </p:blipFill>
        <p:spPr>
          <a:xfrm>
            <a:off x="1359000" y="1481400"/>
            <a:ext cx="5382000" cy="4498560"/>
          </a:xfrm>
          <a:prstGeom prst="rect">
            <a:avLst/>
          </a:prstGeom>
          <a:ln w="0">
            <a:noFill/>
          </a:ln>
        </p:spPr>
      </p:pic>
      <p:sp>
        <p:nvSpPr>
          <p:cNvPr id="1180"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4.1.3</a:t>
            </a:r>
            <a:endParaRPr b="0" lang="en-US" sz="850" spc="-1" strike="noStrike">
              <a:solidFill>
                <a:srgbClr val="000000"/>
              </a:solidFill>
              <a:latin typeface="Arial"/>
            </a:endParaRPr>
          </a:p>
        </p:txBody>
      </p:sp>
      <p:sp>
        <p:nvSpPr>
          <p:cNvPr id="1181"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82" name="TextBox 12"/>
          <p:cNvSpPr/>
          <p:nvPr/>
        </p:nvSpPr>
        <p:spPr>
          <a:xfrm>
            <a:off x="8027280" y="1664280"/>
            <a:ext cx="3377880" cy="223164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Todas las tierras van a un único punto de la placa de montaje.</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El filtro de red se monta sobre la misma placa y su carcasa hace contacto metal-metal.</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No encadenes las tierras de un amplificador a otro: se forma un bucle y el ruido recorre todo el armario.</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050" spc="-1" strike="noStrike">
                <a:solidFill>
                  <a:srgbClr val="333f4c"/>
                </a:solidFill>
                <a:latin typeface="Segoe UI"/>
              </a:rPr>
              <a:t>Máxima resistencia de tierra: </a:t>
            </a:r>
            <a:r>
              <a:rPr b="1" lang="en-US" sz="1050" spc="-1" strike="noStrike">
                <a:solidFill>
                  <a:srgbClr val="333f4c"/>
                </a:solidFill>
                <a:latin typeface="Segoe UI"/>
              </a:rPr>
              <a:t>100 Ω</a:t>
            </a:r>
            <a:r>
              <a:rPr b="0" lang="en-US" sz="1050" spc="-1" strike="noStrike">
                <a:solidFill>
                  <a:srgbClr val="333f4c"/>
                </a:solidFill>
                <a:latin typeface="Segoe UI"/>
              </a:rPr>
              <a:t> según el manual.</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3"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84"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185"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Instalación mecánica del motor</a:t>
            </a:r>
            <a:endParaRPr b="0" lang="en-US" sz="2500" spc="-1" strike="noStrike">
              <a:solidFill>
                <a:srgbClr val="000000"/>
              </a:solidFill>
              <a:latin typeface="Arial"/>
            </a:endParaRPr>
          </a:p>
        </p:txBody>
      </p:sp>
      <p:sp>
        <p:nvSpPr>
          <p:cNvPr id="1186"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mecánica define el techo de lo que podrás sintonizar después</a:t>
            </a:r>
            <a:endParaRPr b="0" lang="en-US" sz="1250" spc="-1" strike="noStrike">
              <a:solidFill>
                <a:srgbClr val="000000"/>
              </a:solidFill>
              <a:latin typeface="Arial"/>
            </a:endParaRPr>
          </a:p>
        </p:txBody>
      </p:sp>
      <p:sp>
        <p:nvSpPr>
          <p:cNvPr id="1187"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1188"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189"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65</a:t>
            </a:r>
            <a:endParaRPr b="0" lang="en-US" sz="900" spc="-1" strike="noStrike">
              <a:solidFill>
                <a:srgbClr val="000000"/>
              </a:solidFill>
              <a:latin typeface="Arial"/>
            </a:endParaRPr>
          </a:p>
        </p:txBody>
      </p:sp>
      <p:sp>
        <p:nvSpPr>
          <p:cNvPr id="1190" name="Rectangle 8"/>
          <p:cNvSpPr/>
          <p:nvPr/>
        </p:nvSpPr>
        <p:spPr>
          <a:xfrm>
            <a:off x="567000" y="148140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91" name="Rectangle 9"/>
          <p:cNvSpPr/>
          <p:nvPr/>
        </p:nvSpPr>
        <p:spPr>
          <a:xfrm>
            <a:off x="567000" y="148140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92" name="TextBox 10"/>
          <p:cNvSpPr/>
          <p:nvPr/>
        </p:nvSpPr>
        <p:spPr>
          <a:xfrm>
            <a:off x="567000" y="159336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1</a:t>
            </a:r>
            <a:endParaRPr b="0" lang="en-US" sz="1550" spc="-1" strike="noStrike">
              <a:solidFill>
                <a:srgbClr val="000000"/>
              </a:solidFill>
              <a:latin typeface="Arial"/>
            </a:endParaRPr>
          </a:p>
        </p:txBody>
      </p:sp>
      <p:sp>
        <p:nvSpPr>
          <p:cNvPr id="1193" name="TextBox 11"/>
          <p:cNvSpPr/>
          <p:nvPr/>
        </p:nvSpPr>
        <p:spPr>
          <a:xfrm>
            <a:off x="1435680" y="157284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Verificar el eje y la brida antes de montar</a:t>
            </a:r>
            <a:endParaRPr b="0" lang="en-US" sz="950" spc="-1" strike="noStrike">
              <a:solidFill>
                <a:srgbClr val="000000"/>
              </a:solidFill>
              <a:latin typeface="Arial"/>
            </a:endParaRPr>
          </a:p>
        </p:txBody>
      </p:sp>
      <p:sp>
        <p:nvSpPr>
          <p:cNvPr id="1194" name="TextBox 12"/>
          <p:cNvSpPr/>
          <p:nvPr/>
        </p:nvSpPr>
        <p:spPr>
          <a:xfrm>
            <a:off x="1435680" y="175716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Limpieza, ausencia de golpes y presencia de la chaveta correcta. Nunca golpear el eje con martillo: se daña el rodamiento y el encoder.</a:t>
            </a:r>
            <a:endParaRPr b="0" lang="en-US" sz="750" spc="-1" strike="noStrike">
              <a:solidFill>
                <a:srgbClr val="000000"/>
              </a:solidFill>
              <a:latin typeface="Arial"/>
            </a:endParaRPr>
          </a:p>
        </p:txBody>
      </p:sp>
      <p:sp>
        <p:nvSpPr>
          <p:cNvPr id="1195" name="Rectangle 13"/>
          <p:cNvSpPr/>
          <p:nvPr/>
        </p:nvSpPr>
        <p:spPr>
          <a:xfrm>
            <a:off x="567000" y="205200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96" name="Rectangle 14"/>
          <p:cNvSpPr/>
          <p:nvPr/>
        </p:nvSpPr>
        <p:spPr>
          <a:xfrm>
            <a:off x="567000" y="205200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97" name="TextBox 15"/>
          <p:cNvSpPr/>
          <p:nvPr/>
        </p:nvSpPr>
        <p:spPr>
          <a:xfrm>
            <a:off x="567000" y="216396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2</a:t>
            </a:r>
            <a:endParaRPr b="0" lang="en-US" sz="1550" spc="-1" strike="noStrike">
              <a:solidFill>
                <a:srgbClr val="000000"/>
              </a:solidFill>
              <a:latin typeface="Arial"/>
            </a:endParaRPr>
          </a:p>
        </p:txBody>
      </p:sp>
      <p:sp>
        <p:nvSpPr>
          <p:cNvPr id="1198" name="TextBox 16"/>
          <p:cNvSpPr/>
          <p:nvPr/>
        </p:nvSpPr>
        <p:spPr>
          <a:xfrm>
            <a:off x="1435680" y="214344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Montar el acoplamiento sin esfuerzo axial</a:t>
            </a:r>
            <a:endParaRPr b="0" lang="en-US" sz="950" spc="-1" strike="noStrike">
              <a:solidFill>
                <a:srgbClr val="000000"/>
              </a:solidFill>
              <a:latin typeface="Arial"/>
            </a:endParaRPr>
          </a:p>
        </p:txBody>
      </p:sp>
      <p:sp>
        <p:nvSpPr>
          <p:cNvPr id="1199" name="TextBox 17"/>
          <p:cNvSpPr/>
          <p:nvPr/>
        </p:nvSpPr>
        <p:spPr>
          <a:xfrm>
            <a:off x="1435680" y="232776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Calentar el buje o usar extractor. Comprobar la carga axial y radial máxima admisible del motor en el catálogo.</a:t>
            </a:r>
            <a:endParaRPr b="0" lang="en-US" sz="750" spc="-1" strike="noStrike">
              <a:solidFill>
                <a:srgbClr val="000000"/>
              </a:solidFill>
              <a:latin typeface="Arial"/>
            </a:endParaRPr>
          </a:p>
        </p:txBody>
      </p:sp>
      <p:sp>
        <p:nvSpPr>
          <p:cNvPr id="1200" name="Rectangle 18"/>
          <p:cNvSpPr/>
          <p:nvPr/>
        </p:nvSpPr>
        <p:spPr>
          <a:xfrm>
            <a:off x="567000" y="262296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01" name="Rectangle 19"/>
          <p:cNvSpPr/>
          <p:nvPr/>
        </p:nvSpPr>
        <p:spPr>
          <a:xfrm>
            <a:off x="567000" y="262296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02" name="TextBox 20"/>
          <p:cNvSpPr/>
          <p:nvPr/>
        </p:nvSpPr>
        <p:spPr>
          <a:xfrm>
            <a:off x="567000" y="273492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3</a:t>
            </a:r>
            <a:endParaRPr b="0" lang="en-US" sz="1550" spc="-1" strike="noStrike">
              <a:solidFill>
                <a:srgbClr val="000000"/>
              </a:solidFill>
              <a:latin typeface="Arial"/>
            </a:endParaRPr>
          </a:p>
        </p:txBody>
      </p:sp>
      <p:sp>
        <p:nvSpPr>
          <p:cNvPr id="1203" name="TextBox 21"/>
          <p:cNvSpPr/>
          <p:nvPr/>
        </p:nvSpPr>
        <p:spPr>
          <a:xfrm>
            <a:off x="1435680" y="271440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Alinear con precisión</a:t>
            </a:r>
            <a:endParaRPr b="0" lang="en-US" sz="950" spc="-1" strike="noStrike">
              <a:solidFill>
                <a:srgbClr val="000000"/>
              </a:solidFill>
              <a:latin typeface="Arial"/>
            </a:endParaRPr>
          </a:p>
        </p:txBody>
      </p:sp>
      <p:sp>
        <p:nvSpPr>
          <p:cNvPr id="1204" name="TextBox 22"/>
          <p:cNvSpPr/>
          <p:nvPr/>
        </p:nvSpPr>
        <p:spPr>
          <a:xfrm>
            <a:off x="1435680" y="289872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La desalineación genera par pulsante, ruido y desgaste prematuro del rodamiento. Usar comparador o alineador láser; seguir la tolerancia del acoplamiento.</a:t>
            </a:r>
            <a:endParaRPr b="0" lang="en-US" sz="750" spc="-1" strike="noStrike">
              <a:solidFill>
                <a:srgbClr val="000000"/>
              </a:solidFill>
              <a:latin typeface="Arial"/>
            </a:endParaRPr>
          </a:p>
        </p:txBody>
      </p:sp>
      <p:sp>
        <p:nvSpPr>
          <p:cNvPr id="1205" name="Rectangle 23"/>
          <p:cNvSpPr/>
          <p:nvPr/>
        </p:nvSpPr>
        <p:spPr>
          <a:xfrm>
            <a:off x="567000" y="319392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06" name="Rectangle 24"/>
          <p:cNvSpPr/>
          <p:nvPr/>
        </p:nvSpPr>
        <p:spPr>
          <a:xfrm>
            <a:off x="567000" y="319392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07" name="TextBox 25"/>
          <p:cNvSpPr/>
          <p:nvPr/>
        </p:nvSpPr>
        <p:spPr>
          <a:xfrm>
            <a:off x="567000" y="330588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4</a:t>
            </a:r>
            <a:endParaRPr b="0" lang="en-US" sz="1550" spc="-1" strike="noStrike">
              <a:solidFill>
                <a:srgbClr val="000000"/>
              </a:solidFill>
              <a:latin typeface="Arial"/>
            </a:endParaRPr>
          </a:p>
        </p:txBody>
      </p:sp>
      <p:sp>
        <p:nvSpPr>
          <p:cNvPr id="1208" name="TextBox 26"/>
          <p:cNvSpPr/>
          <p:nvPr/>
        </p:nvSpPr>
        <p:spPr>
          <a:xfrm>
            <a:off x="1435680" y="328536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Elegir bien el acoplamiento</a:t>
            </a:r>
            <a:endParaRPr b="0" lang="en-US" sz="950" spc="-1" strike="noStrike">
              <a:solidFill>
                <a:srgbClr val="000000"/>
              </a:solidFill>
              <a:latin typeface="Arial"/>
            </a:endParaRPr>
          </a:p>
        </p:txBody>
      </p:sp>
      <p:sp>
        <p:nvSpPr>
          <p:cNvPr id="1209" name="TextBox 27"/>
          <p:cNvSpPr/>
          <p:nvPr/>
        </p:nvSpPr>
        <p:spPr>
          <a:xfrm>
            <a:off x="1435680" y="346968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Rígido o de fuelle metálico para máxima rigidez torsional; los elastoméricos introducen elasticidad que limita la ganancia alcanzable.</a:t>
            </a:r>
            <a:endParaRPr b="0" lang="en-US" sz="750" spc="-1" strike="noStrike">
              <a:solidFill>
                <a:srgbClr val="000000"/>
              </a:solidFill>
              <a:latin typeface="Arial"/>
            </a:endParaRPr>
          </a:p>
        </p:txBody>
      </p:sp>
      <p:sp>
        <p:nvSpPr>
          <p:cNvPr id="1210" name="Rectangle 28"/>
          <p:cNvSpPr/>
          <p:nvPr/>
        </p:nvSpPr>
        <p:spPr>
          <a:xfrm>
            <a:off x="567000" y="376488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11" name="Rectangle 29"/>
          <p:cNvSpPr/>
          <p:nvPr/>
        </p:nvSpPr>
        <p:spPr>
          <a:xfrm>
            <a:off x="567000" y="376488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12" name="TextBox 30"/>
          <p:cNvSpPr/>
          <p:nvPr/>
        </p:nvSpPr>
        <p:spPr>
          <a:xfrm>
            <a:off x="567000" y="387684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5</a:t>
            </a:r>
            <a:endParaRPr b="0" lang="en-US" sz="1550" spc="-1" strike="noStrike">
              <a:solidFill>
                <a:srgbClr val="000000"/>
              </a:solidFill>
              <a:latin typeface="Arial"/>
            </a:endParaRPr>
          </a:p>
        </p:txBody>
      </p:sp>
      <p:sp>
        <p:nvSpPr>
          <p:cNvPr id="1213" name="TextBox 31"/>
          <p:cNvSpPr/>
          <p:nvPr/>
        </p:nvSpPr>
        <p:spPr>
          <a:xfrm>
            <a:off x="1435680" y="385632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Cuidar la posición de los conectores</a:t>
            </a:r>
            <a:endParaRPr b="0" lang="en-US" sz="950" spc="-1" strike="noStrike">
              <a:solidFill>
                <a:srgbClr val="000000"/>
              </a:solidFill>
              <a:latin typeface="Arial"/>
            </a:endParaRPr>
          </a:p>
        </p:txBody>
      </p:sp>
      <p:sp>
        <p:nvSpPr>
          <p:cNvPr id="1214" name="TextBox 32"/>
          <p:cNvSpPr/>
          <p:nvPr/>
        </p:nvSpPr>
        <p:spPr>
          <a:xfrm>
            <a:off x="1435680" y="404028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Orientados hacia abajo si hay riesgo de goteo, con bucle de goteo antes del conector y sin tensión mecánica en el cable.</a:t>
            </a:r>
            <a:endParaRPr b="0" lang="en-US" sz="750" spc="-1" strike="noStrike">
              <a:solidFill>
                <a:srgbClr val="000000"/>
              </a:solidFill>
              <a:latin typeface="Arial"/>
            </a:endParaRPr>
          </a:p>
        </p:txBody>
      </p:sp>
      <p:sp>
        <p:nvSpPr>
          <p:cNvPr id="1215" name="Rectangle 33"/>
          <p:cNvSpPr/>
          <p:nvPr/>
        </p:nvSpPr>
        <p:spPr>
          <a:xfrm>
            <a:off x="567000" y="433548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16" name="Rectangle 34"/>
          <p:cNvSpPr/>
          <p:nvPr/>
        </p:nvSpPr>
        <p:spPr>
          <a:xfrm>
            <a:off x="567000" y="433548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17" name="TextBox 35"/>
          <p:cNvSpPr/>
          <p:nvPr/>
        </p:nvSpPr>
        <p:spPr>
          <a:xfrm>
            <a:off x="567000" y="444744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6</a:t>
            </a:r>
            <a:endParaRPr b="0" lang="en-US" sz="1550" spc="-1" strike="noStrike">
              <a:solidFill>
                <a:srgbClr val="000000"/>
              </a:solidFill>
              <a:latin typeface="Arial"/>
            </a:endParaRPr>
          </a:p>
        </p:txBody>
      </p:sp>
      <p:sp>
        <p:nvSpPr>
          <p:cNvPr id="1218" name="TextBox 36"/>
          <p:cNvSpPr/>
          <p:nvPr/>
        </p:nvSpPr>
        <p:spPr>
          <a:xfrm>
            <a:off x="1435680" y="442692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Prever el radio de curvatura y el movimiento</a:t>
            </a:r>
            <a:endParaRPr b="0" lang="en-US" sz="950" spc="-1" strike="noStrike">
              <a:solidFill>
                <a:srgbClr val="000000"/>
              </a:solidFill>
              <a:latin typeface="Arial"/>
            </a:endParaRPr>
          </a:p>
        </p:txBody>
      </p:sp>
      <p:sp>
        <p:nvSpPr>
          <p:cNvPr id="1219" name="TextBox 37"/>
          <p:cNvSpPr/>
          <p:nvPr/>
        </p:nvSpPr>
        <p:spPr>
          <a:xfrm>
            <a:off x="1435680" y="461124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En ejes móviles, cable de cadena portacables específico. Un cable estándar en cadena falla en meses.</a:t>
            </a:r>
            <a:endParaRPr b="0" lang="en-US" sz="750" spc="-1" strike="noStrike">
              <a:solidFill>
                <a:srgbClr val="000000"/>
              </a:solidFill>
              <a:latin typeface="Arial"/>
            </a:endParaRPr>
          </a:p>
        </p:txBody>
      </p:sp>
      <p:sp>
        <p:nvSpPr>
          <p:cNvPr id="1220" name="Rectangle 38"/>
          <p:cNvSpPr/>
          <p:nvPr/>
        </p:nvSpPr>
        <p:spPr>
          <a:xfrm>
            <a:off x="567000" y="490644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21" name="Rectangle 39"/>
          <p:cNvSpPr/>
          <p:nvPr/>
        </p:nvSpPr>
        <p:spPr>
          <a:xfrm>
            <a:off x="567000" y="490644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22" name="TextBox 40"/>
          <p:cNvSpPr/>
          <p:nvPr/>
        </p:nvSpPr>
        <p:spPr>
          <a:xfrm>
            <a:off x="567000" y="501840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7</a:t>
            </a:r>
            <a:endParaRPr b="0" lang="en-US" sz="1550" spc="-1" strike="noStrike">
              <a:solidFill>
                <a:srgbClr val="000000"/>
              </a:solidFill>
              <a:latin typeface="Arial"/>
            </a:endParaRPr>
          </a:p>
        </p:txBody>
      </p:sp>
      <p:sp>
        <p:nvSpPr>
          <p:cNvPr id="1223" name="TextBox 41"/>
          <p:cNvSpPr/>
          <p:nvPr/>
        </p:nvSpPr>
        <p:spPr>
          <a:xfrm>
            <a:off x="1435680" y="499788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Conectar la tierra del motor</a:t>
            </a:r>
            <a:endParaRPr b="0" lang="en-US" sz="950" spc="-1" strike="noStrike">
              <a:solidFill>
                <a:srgbClr val="000000"/>
              </a:solidFill>
              <a:latin typeface="Arial"/>
            </a:endParaRPr>
          </a:p>
        </p:txBody>
      </p:sp>
      <p:sp>
        <p:nvSpPr>
          <p:cNvPr id="1224" name="TextBox 42"/>
          <p:cNvSpPr/>
          <p:nvPr/>
        </p:nvSpPr>
        <p:spPr>
          <a:xfrm>
            <a:off x="1435680" y="518220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Al borne de tierra del amplificador, con la sección adecuada. Es requisito de seguridad y de EMC.</a:t>
            </a:r>
            <a:endParaRPr b="0" lang="en-US" sz="750" spc="-1" strike="noStrike">
              <a:solidFill>
                <a:srgbClr val="000000"/>
              </a:solidFill>
              <a:latin typeface="Arial"/>
            </a:endParaRPr>
          </a:p>
        </p:txBody>
      </p:sp>
      <p:sp>
        <p:nvSpPr>
          <p:cNvPr id="1225" name="Rectangle 43"/>
          <p:cNvSpPr/>
          <p:nvPr/>
        </p:nvSpPr>
        <p:spPr>
          <a:xfrm>
            <a:off x="567000" y="5504760"/>
            <a:ext cx="11057400" cy="82260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26" name="Rectangle 44"/>
          <p:cNvSpPr/>
          <p:nvPr/>
        </p:nvSpPr>
        <p:spPr>
          <a:xfrm>
            <a:off x="567000" y="5504760"/>
            <a:ext cx="68400" cy="82260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27" name="TextBox 45"/>
          <p:cNvSpPr/>
          <p:nvPr/>
        </p:nvSpPr>
        <p:spPr>
          <a:xfrm>
            <a:off x="841320" y="564192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1b5ea8"/>
                </a:solidFill>
                <a:latin typeface="Segoe UI Semibold"/>
              </a:rPr>
              <a:t>Por qué el acoplamiento importa tanto</a:t>
            </a:r>
            <a:endParaRPr b="0" lang="en-US" sz="1200" spc="-1" strike="noStrike">
              <a:solidFill>
                <a:srgbClr val="000000"/>
              </a:solidFill>
              <a:latin typeface="Arial"/>
            </a:endParaRPr>
          </a:p>
        </p:txBody>
      </p:sp>
      <p:sp>
        <p:nvSpPr>
          <p:cNvPr id="1228" name="TextBox 46"/>
          <p:cNvSpPr/>
          <p:nvPr/>
        </p:nvSpPr>
        <p:spPr>
          <a:xfrm>
            <a:off x="841320" y="591624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El acoplamiento y el eje forman un sistema masa-muelle con la carga. Su frecuencia de resonancia marca el límite superior de las ganancias: cuanto más rígido, más alta la resonancia y más rápido puede ser el eje.</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3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231"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Lista de verificación antes de energizar</a:t>
            </a:r>
            <a:endParaRPr b="0" lang="en-US" sz="2500" spc="-1" strike="noStrike">
              <a:solidFill>
                <a:srgbClr val="000000"/>
              </a:solidFill>
              <a:latin typeface="Arial"/>
            </a:endParaRPr>
          </a:p>
        </p:txBody>
      </p:sp>
      <p:sp>
        <p:nvSpPr>
          <p:cNvPr id="123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Imprime esta lista y fírmala: es tu registro de instalación</a:t>
            </a:r>
            <a:endParaRPr b="0" lang="en-US" sz="1250" spc="-1" strike="noStrike">
              <a:solidFill>
                <a:srgbClr val="000000"/>
              </a:solidFill>
              <a:latin typeface="Arial"/>
            </a:endParaRPr>
          </a:p>
        </p:txBody>
      </p:sp>
      <p:sp>
        <p:nvSpPr>
          <p:cNvPr id="123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05</a:t>
            </a:r>
            <a:endParaRPr b="0" lang="en-US" sz="1100" spc="-1" strike="noStrike">
              <a:solidFill>
                <a:srgbClr val="000000"/>
              </a:solidFill>
              <a:latin typeface="Arial"/>
            </a:endParaRPr>
          </a:p>
        </p:txBody>
      </p:sp>
      <p:sp>
        <p:nvSpPr>
          <p:cNvPr id="123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23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66</a:t>
            </a:r>
            <a:endParaRPr b="0" lang="en-US" sz="900" spc="-1" strike="noStrike">
              <a:solidFill>
                <a:srgbClr val="000000"/>
              </a:solidFill>
              <a:latin typeface="Arial"/>
            </a:endParaRPr>
          </a:p>
        </p:txBody>
      </p:sp>
      <p:graphicFrame>
        <p:nvGraphicFramePr>
          <p:cNvPr id="1236" name="Table 8"/>
          <p:cNvGraphicFramePr/>
          <p:nvPr/>
        </p:nvGraphicFramePr>
        <p:xfrm>
          <a:off x="567000" y="1481400"/>
          <a:ext cx="11057400" cy="4845960"/>
        </p:xfrm>
        <a:graphic>
          <a:graphicData uri="http://schemas.openxmlformats.org/drawingml/2006/table">
            <a:tbl>
              <a:tblPr/>
              <a:tblGrid>
                <a:gridCol w="536760"/>
                <a:gridCol w="4616280"/>
                <a:gridCol w="5904360"/>
              </a:tblGrid>
              <a:tr h="347400">
                <a:tc>
                  <a:txBody>
                    <a:bodyPr lIns="82080" rIns="82080" tIns="27360" bIns="27360" anchor="ctr">
                      <a:noAutofit/>
                    </a:bodyPr>
                    <a:p>
                      <a:pPr algn="ctr" defTabSz="457200">
                        <a:lnSpc>
                          <a:spcPct val="100000"/>
                        </a:lnSpc>
                      </a:pPr>
                      <a:r>
                        <a:rPr b="1" lang="en-US" sz="950" spc="-1" strike="noStrike">
                          <a:solidFill>
                            <a:srgbClr val="ffffff"/>
                          </a:solidFill>
                          <a:latin typeface="Segoe UI"/>
                        </a:rPr>
                        <a:t>#</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Comprobación</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Criterio de aceptación</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374760">
                <a:tc>
                  <a:txBody>
                    <a:bodyPr lIns="82080" rIns="82080" tIns="27360" bIns="27360" anchor="ctr">
                      <a:noAutofit/>
                    </a:bodyPr>
                    <a:p>
                      <a:pPr algn="ctr" defTabSz="457200">
                        <a:lnSpc>
                          <a:spcPct val="100000"/>
                        </a:lnSpc>
                      </a:pPr>
                      <a:r>
                        <a:rPr b="0" lang="en-US" sz="950" spc="-1" strike="noStrike">
                          <a:solidFill>
                            <a:srgbClr val="1c2430"/>
                          </a:solidFill>
                          <a:latin typeface="Segoe UI"/>
                        </a:rPr>
                        <a:t>1</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Modelo de amplificador y de motor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Combinación homologada; coinciden con el proyecto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algn="ctr" defTabSz="457200">
                        <a:lnSpc>
                          <a:spcPct val="100000"/>
                        </a:lnSpc>
                      </a:pPr>
                      <a:r>
                        <a:rPr b="0" lang="en-US" sz="950" spc="-1" strike="noStrike">
                          <a:solidFill>
                            <a:srgbClr val="1c2430"/>
                          </a:solidFill>
                          <a:latin typeface="Segoe UI"/>
                        </a:rPr>
                        <a:t>2</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Tensión de red medida en el armario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Dentro de 200-240 V CA, −15 % / +10 %, equilibrada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760">
                <a:tc>
                  <a:txBody>
                    <a:bodyPr lIns="82080" rIns="82080" tIns="27360" bIns="27360" anchor="ctr">
                      <a:noAutofit/>
                    </a:bodyPr>
                    <a:p>
                      <a:pPr algn="ctr" defTabSz="457200">
                        <a:lnSpc>
                          <a:spcPct val="100000"/>
                        </a:lnSpc>
                      </a:pPr>
                      <a:r>
                        <a:rPr b="0" lang="en-US" sz="950" spc="-1" strike="noStrike">
                          <a:solidFill>
                            <a:srgbClr val="1c2430"/>
                          </a:solidFill>
                          <a:latin typeface="Segoe UI"/>
                        </a:rPr>
                        <a:t>3</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Conexión </a:t>
                      </a:r>
                      <a:r>
                        <a:rPr b="0" lang="en-US" sz="950" spc="-1" strike="noStrike">
                          <a:solidFill>
                            <a:srgbClr val="1c2430"/>
                          </a:solidFill>
                          <a:latin typeface="Consolas"/>
                        </a:rPr>
                        <a:t>L1</a:t>
                      </a:r>
                      <a:r>
                        <a:rPr b="0" lang="en-US" sz="950" spc="-1" strike="noStrike">
                          <a:solidFill>
                            <a:srgbClr val="1c2430"/>
                          </a:solidFill>
                          <a:latin typeface="Segoe UI"/>
                        </a:rPr>
                        <a:t> </a:t>
                      </a:r>
                      <a:r>
                        <a:rPr b="0" lang="en-US" sz="950" spc="-1" strike="noStrike">
                          <a:solidFill>
                            <a:srgbClr val="1c2430"/>
                          </a:solidFill>
                          <a:latin typeface="Consolas"/>
                        </a:rPr>
                        <a:t>L2</a:t>
                      </a:r>
                      <a:r>
                        <a:rPr b="0" lang="en-US" sz="950" spc="-1" strike="noStrike">
                          <a:solidFill>
                            <a:srgbClr val="1c2430"/>
                          </a:solidFill>
                          <a:latin typeface="Segoe UI"/>
                        </a:rPr>
                        <a:t> </a:t>
                      </a:r>
                      <a:r>
                        <a:rPr b="0" lang="en-US" sz="950" spc="-1" strike="noStrike">
                          <a:solidFill>
                            <a:srgbClr val="1c2430"/>
                          </a:solidFill>
                          <a:latin typeface="Consolas"/>
                        </a:rPr>
                        <a:t>L3</a:t>
                      </a:r>
                      <a:r>
                        <a:rPr b="0" lang="en-US" sz="950" spc="-1" strike="noStrike">
                          <a:solidFill>
                            <a:srgbClr val="1c2430"/>
                          </a:solidFill>
                          <a:latin typeface="Segoe UI"/>
                        </a:rPr>
                        <a:t> y </a:t>
                      </a:r>
                      <a:r>
                        <a:rPr b="0" lang="en-US" sz="950" spc="-1" strike="noStrike">
                          <a:solidFill>
                            <a:srgbClr val="1c2430"/>
                          </a:solidFill>
                          <a:latin typeface="Consolas"/>
                        </a:rPr>
                        <a:t>L1C</a:t>
                      </a:r>
                      <a:r>
                        <a:rPr b="0" lang="en-US" sz="950" spc="-1" strike="noStrike">
                          <a:solidFill>
                            <a:srgbClr val="1c2430"/>
                          </a:solidFill>
                          <a:latin typeface="Segoe UI"/>
                        </a:rPr>
                        <a:t> </a:t>
                      </a:r>
                      <a:r>
                        <a:rPr b="0" lang="en-US" sz="950" spc="-1" strike="noStrike">
                          <a:solidFill>
                            <a:srgbClr val="1c2430"/>
                          </a:solidFill>
                          <a:latin typeface="Consolas"/>
                        </a:rPr>
                        <a:t>L2C</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Apriete al par indicado; ninguna fase en </a:t>
                      </a:r>
                      <a:r>
                        <a:rPr b="0" lang="en-US" sz="950" spc="-1" strike="noStrike">
                          <a:solidFill>
                            <a:srgbClr val="1c2430"/>
                          </a:solidFill>
                          <a:latin typeface="Consolas"/>
                        </a:rPr>
                        <a:t>U</a:t>
                      </a:r>
                      <a:r>
                        <a:rPr b="0" lang="en-US" sz="950" spc="-1" strike="noStrike">
                          <a:solidFill>
                            <a:srgbClr val="1c2430"/>
                          </a:solidFill>
                          <a:latin typeface="Segoe UI"/>
                        </a:rPr>
                        <a:t> </a:t>
                      </a:r>
                      <a:r>
                        <a:rPr b="0" lang="en-US" sz="950" spc="-1" strike="noStrike">
                          <a:solidFill>
                            <a:srgbClr val="1c2430"/>
                          </a:solidFill>
                          <a:latin typeface="Consolas"/>
                        </a:rPr>
                        <a:t>V</a:t>
                      </a:r>
                      <a:r>
                        <a:rPr b="0" lang="en-US" sz="950" spc="-1" strike="noStrike">
                          <a:solidFill>
                            <a:srgbClr val="1c2430"/>
                          </a:solidFill>
                          <a:latin typeface="Segoe UI"/>
                        </a:rPr>
                        <a:t> </a:t>
                      </a:r>
                      <a:r>
                        <a:rPr b="0" lang="en-US" sz="950" spc="-1" strike="noStrike">
                          <a:solidFill>
                            <a:srgbClr val="1c2430"/>
                          </a:solidFill>
                          <a:latin typeface="Consolas"/>
                        </a:rPr>
                        <a:t>W</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algn="ctr" defTabSz="457200">
                        <a:lnSpc>
                          <a:spcPct val="100000"/>
                        </a:lnSpc>
                      </a:pPr>
                      <a:r>
                        <a:rPr b="0" lang="en-US" sz="950" spc="-1" strike="noStrike">
                          <a:solidFill>
                            <a:srgbClr val="1c2430"/>
                          </a:solidFill>
                          <a:latin typeface="Segoe UI"/>
                        </a:rPr>
                        <a:t>4</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Conexión </a:t>
                      </a:r>
                      <a:r>
                        <a:rPr b="0" lang="en-US" sz="950" spc="-1" strike="noStrike">
                          <a:solidFill>
                            <a:srgbClr val="1c2430"/>
                          </a:solidFill>
                          <a:latin typeface="Consolas"/>
                        </a:rPr>
                        <a:t>U</a:t>
                      </a:r>
                      <a:r>
                        <a:rPr b="0" lang="en-US" sz="950" spc="-1" strike="noStrike">
                          <a:solidFill>
                            <a:srgbClr val="1c2430"/>
                          </a:solidFill>
                          <a:latin typeface="Segoe UI"/>
                        </a:rPr>
                        <a:t> </a:t>
                      </a:r>
                      <a:r>
                        <a:rPr b="0" lang="en-US" sz="950" spc="-1" strike="noStrike">
                          <a:solidFill>
                            <a:srgbClr val="1c2430"/>
                          </a:solidFill>
                          <a:latin typeface="Consolas"/>
                        </a:rPr>
                        <a:t>V</a:t>
                      </a:r>
                      <a:r>
                        <a:rPr b="0" lang="en-US" sz="950" spc="-1" strike="noStrike">
                          <a:solidFill>
                            <a:srgbClr val="1c2430"/>
                          </a:solidFill>
                          <a:latin typeface="Segoe UI"/>
                        </a:rPr>
                        <a:t> </a:t>
                      </a:r>
                      <a:r>
                        <a:rPr b="0" lang="en-US" sz="950" spc="-1" strike="noStrike">
                          <a:solidFill>
                            <a:srgbClr val="1c2430"/>
                          </a:solidFill>
                          <a:latin typeface="Consolas"/>
                        </a:rPr>
                        <a:t>W</a:t>
                      </a:r>
                      <a:r>
                        <a:rPr b="0" lang="en-US" sz="950" spc="-1" strike="noStrike">
                          <a:solidFill>
                            <a:srgbClr val="1c2430"/>
                          </a:solidFill>
                          <a:latin typeface="Segoe UI"/>
                        </a:rPr>
                        <a:t> al motor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Orden correcto y misma fase en ambos extremos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760">
                <a:tc>
                  <a:txBody>
                    <a:bodyPr lIns="82080" rIns="82080" tIns="27360" bIns="27360" anchor="ctr">
                      <a:noAutofit/>
                    </a:bodyPr>
                    <a:p>
                      <a:pPr algn="ctr" defTabSz="457200">
                        <a:lnSpc>
                          <a:spcPct val="100000"/>
                        </a:lnSpc>
                      </a:pPr>
                      <a:r>
                        <a:rPr b="0" lang="en-US" sz="950" spc="-1" strike="noStrike">
                          <a:solidFill>
                            <a:srgbClr val="1c2430"/>
                          </a:solidFill>
                          <a:latin typeface="Segoe UI"/>
                        </a:rPr>
                        <a:t>5</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Tierra del amplificador y del motor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Continuidad verificada con multímetro; &lt; 100 Ω a tierra de instalación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algn="ctr" defTabSz="457200">
                        <a:lnSpc>
                          <a:spcPct val="100000"/>
                        </a:lnSpc>
                      </a:pPr>
                      <a:r>
                        <a:rPr b="0" lang="en-US" sz="950" spc="-1" strike="noStrike">
                          <a:solidFill>
                            <a:srgbClr val="1c2430"/>
                          </a:solidFill>
                          <a:latin typeface="Segoe UI"/>
                        </a:rPr>
                        <a:t>6</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Puente </a:t>
                      </a:r>
                      <a:r>
                        <a:rPr b="0" lang="en-US" sz="950" spc="-1" strike="noStrike">
                          <a:solidFill>
                            <a:srgbClr val="1c2430"/>
                          </a:solidFill>
                          <a:latin typeface="Consolas"/>
                        </a:rPr>
                        <a:t>B2</a:t>
                      </a:r>
                      <a:r>
                        <a:rPr b="0" lang="en-US" sz="950" spc="-1" strike="noStrike">
                          <a:solidFill>
                            <a:srgbClr val="1c2430"/>
                          </a:solidFill>
                          <a:latin typeface="Segoe UI"/>
                        </a:rPr>
                        <a:t>-</a:t>
                      </a:r>
                      <a:r>
                        <a:rPr b="0" lang="en-US" sz="950" spc="-1" strike="noStrike">
                          <a:solidFill>
                            <a:srgbClr val="1c2430"/>
                          </a:solidFill>
                          <a:latin typeface="Consolas"/>
                        </a:rPr>
                        <a:t>B3</a:t>
                      </a:r>
                      <a:r>
                        <a:rPr b="0" lang="en-US" sz="950" spc="-1" strike="noStrike">
                          <a:solidFill>
                            <a:srgbClr val="1c2430"/>
                          </a:solidFill>
                          <a:latin typeface="Segoe UI"/>
                        </a:rPr>
                        <a:t> o resistencia externa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Coherente con el cálculo de regeneración y con </a:t>
                      </a:r>
                      <a:r>
                        <a:rPr b="0" lang="en-US" sz="950" spc="-1" strike="noStrike">
                          <a:solidFill>
                            <a:srgbClr val="1c2430"/>
                          </a:solidFill>
                          <a:latin typeface="Consolas"/>
                        </a:rPr>
                        <a:t>Pn600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760">
                <a:tc>
                  <a:txBody>
                    <a:bodyPr lIns="82080" rIns="82080" tIns="27360" bIns="27360" anchor="ctr">
                      <a:noAutofit/>
                    </a:bodyPr>
                    <a:p>
                      <a:pPr algn="ctr" defTabSz="457200">
                        <a:lnSpc>
                          <a:spcPct val="100000"/>
                        </a:lnSpc>
                      </a:pPr>
                      <a:r>
                        <a:rPr b="0" lang="en-US" sz="950" spc="-1" strike="noStrike">
                          <a:solidFill>
                            <a:srgbClr val="1c2430"/>
                          </a:solidFill>
                          <a:latin typeface="Segoe UI"/>
                        </a:rPr>
                        <a:t>7</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Cable de encoder en </a:t>
                      </a:r>
                      <a:r>
                        <a:rPr b="0" lang="en-US" sz="950" spc="-1" strike="noStrike">
                          <a:solidFill>
                            <a:srgbClr val="1c2430"/>
                          </a:solidFill>
                          <a:latin typeface="Consolas"/>
                        </a:rPr>
                        <a:t>CN2</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Conector encajado, malla a tierra, sin compartir canaleta con potencia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algn="ctr" defTabSz="457200">
                        <a:lnSpc>
                          <a:spcPct val="100000"/>
                        </a:lnSpc>
                      </a:pPr>
                      <a:r>
                        <a:rPr b="0" lang="en-US" sz="950" spc="-1" strike="noStrike">
                          <a:solidFill>
                            <a:srgbClr val="1c2430"/>
                          </a:solidFill>
                          <a:latin typeface="Segoe UI"/>
                        </a:rPr>
                        <a:t>8</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Cableado de </a:t>
                      </a:r>
                      <a:r>
                        <a:rPr b="0" lang="en-US" sz="950" spc="-1" strike="noStrike">
                          <a:solidFill>
                            <a:srgbClr val="1c2430"/>
                          </a:solidFill>
                          <a:latin typeface="Consolas"/>
                        </a:rPr>
                        <a:t>CN1</a:t>
                      </a:r>
                      <a:r>
                        <a:rPr b="0" lang="en-US" sz="950" spc="-1" strike="noStrike">
                          <a:solidFill>
                            <a:srgbClr val="1c2430"/>
                          </a:solidFill>
                          <a:latin typeface="Segoe UI"/>
                        </a:rPr>
                        <a:t> y fuente de 24 V</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Polaridad correcta; </a:t>
                      </a:r>
                      <a:r>
                        <a:rPr b="0" lang="en-US" sz="950" spc="-1" strike="noStrike">
                          <a:solidFill>
                            <a:srgbClr val="1c2430"/>
                          </a:solidFill>
                          <a:latin typeface="Consolas"/>
                        </a:rPr>
                        <a:t>+24VIN</a:t>
                      </a:r>
                      <a:r>
                        <a:rPr b="0" lang="en-US" sz="950" spc="-1" strike="noStrike">
                          <a:solidFill>
                            <a:srgbClr val="1c2430"/>
                          </a:solidFill>
                          <a:latin typeface="Segoe UI"/>
                        </a:rPr>
                        <a:t> alimentado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760">
                <a:tc>
                  <a:txBody>
                    <a:bodyPr lIns="82080" rIns="82080" tIns="27360" bIns="27360" anchor="ctr">
                      <a:noAutofit/>
                    </a:bodyPr>
                    <a:p>
                      <a:pPr algn="ctr" defTabSz="457200">
                        <a:lnSpc>
                          <a:spcPct val="100000"/>
                        </a:lnSpc>
                      </a:pPr>
                      <a:r>
                        <a:rPr b="0" lang="en-US" sz="950" spc="-1" strike="noStrike">
                          <a:solidFill>
                            <a:srgbClr val="1c2430"/>
                          </a:solidFill>
                          <a:latin typeface="Segoe UI"/>
                        </a:rPr>
                        <a:t>9</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Conector </a:t>
                      </a:r>
                      <a:r>
                        <a:rPr b="0" lang="en-US" sz="950" spc="-1" strike="noStrike">
                          <a:solidFill>
                            <a:srgbClr val="1c2430"/>
                          </a:solidFill>
                          <a:latin typeface="Consolas"/>
                        </a:rPr>
                        <a:t>CN8</a:t>
                      </a:r>
                      <a:r>
                        <a:rPr b="0" lang="en-US" sz="950" spc="-1" strike="noStrike">
                          <a:solidFill>
                            <a:srgbClr val="1c2430"/>
                          </a:solidFill>
                          <a:latin typeface="Segoe UI"/>
                        </a:rPr>
                        <a:t> de seguridad</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Puente original colocado </a:t>
                      </a:r>
                      <a:r>
                        <a:rPr b="1" lang="en-US" sz="950" spc="-1" strike="noStrike">
                          <a:solidFill>
                            <a:srgbClr val="1c2430"/>
                          </a:solidFill>
                          <a:latin typeface="Segoe UI"/>
                        </a:rPr>
                        <a:t>o</a:t>
                      </a:r>
                      <a:r>
                        <a:rPr b="0" lang="en-US" sz="950" spc="-1" strike="noStrike">
                          <a:solidFill>
                            <a:srgbClr val="1c2430"/>
                          </a:solidFill>
                          <a:latin typeface="Segoe UI"/>
                        </a:rPr>
                        <a:t> circuito HWBB correctamente cableado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algn="ctr" defTabSz="457200">
                        <a:lnSpc>
                          <a:spcPct val="100000"/>
                        </a:lnSpc>
                      </a:pPr>
                      <a:r>
                        <a:rPr b="0" lang="en-US" sz="950" spc="-1" strike="noStrike">
                          <a:solidFill>
                            <a:srgbClr val="1c2430"/>
                          </a:solidFill>
                          <a:latin typeface="Segoe UI"/>
                        </a:rPr>
                        <a:t>10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Freno de retención (si existe)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Alimentación propia de 24 V; eje mecánicamente asegurado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760">
                <a:tc>
                  <a:txBody>
                    <a:bodyPr lIns="82080" rIns="82080" tIns="27360" bIns="27360" anchor="ctr">
                      <a:noAutofit/>
                    </a:bodyPr>
                    <a:p>
                      <a:pPr algn="ctr" defTabSz="457200">
                        <a:lnSpc>
                          <a:spcPct val="100000"/>
                        </a:lnSpc>
                      </a:pPr>
                      <a:r>
                        <a:rPr b="0" lang="en-US" sz="950" spc="-1" strike="noStrike">
                          <a:solidFill>
                            <a:srgbClr val="1c2430"/>
                          </a:solidFill>
                          <a:latin typeface="Segoe UI"/>
                        </a:rPr>
                        <a:t>11</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Zona mecánica despejada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Sin herramientas, chavetas sueltas ni personas en el recorrido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algn="ctr" defTabSz="457200">
                        <a:lnSpc>
                          <a:spcPct val="100000"/>
                        </a:lnSpc>
                      </a:pPr>
                      <a:r>
                        <a:rPr b="0" lang="en-US" sz="950" spc="-1" strike="noStrike">
                          <a:solidFill>
                            <a:srgbClr val="1c2430"/>
                          </a:solidFill>
                          <a:latin typeface="Segoe UI"/>
                        </a:rPr>
                        <a:t>12</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Finales de carrera y parada de emergencia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Probados eléctricamente antes de dar potencia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Tree>
  </p:cSld>
  <mc:AlternateContent>
    <mc:Choice Requires="p14">
      <p:transition spd="slow" p14:dur="2000"/>
    </mc:Choice>
    <mc:Fallback>
      <p:transition spd="slow"/>
    </mc:Fallback>
  </mc:AlternateContent>
</p:sld>
</file>

<file path=ppt/slides/slide6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7" name="Rectangle 1"/>
          <p:cNvSpPr/>
          <p:nvPr/>
        </p:nvSpPr>
        <p:spPr>
          <a:xfrm>
            <a:off x="0" y="0"/>
            <a:ext cx="12191400" cy="68576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38" name="Rectangle 2"/>
          <p:cNvSpPr/>
          <p:nvPr/>
        </p:nvSpPr>
        <p:spPr>
          <a:xfrm>
            <a:off x="0" y="0"/>
            <a:ext cx="383760" cy="6857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39" name="TextBox 3"/>
          <p:cNvSpPr/>
          <p:nvPr/>
        </p:nvSpPr>
        <p:spPr>
          <a:xfrm>
            <a:off x="1051560" y="1234440"/>
            <a:ext cx="5486040" cy="8841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5800" spc="-1" strike="noStrike">
                <a:solidFill>
                  <a:srgbClr val="143a63"/>
                </a:solidFill>
                <a:latin typeface="Segoe UI Semibold"/>
              </a:rPr>
              <a:t>MÓDULO 06</a:t>
            </a:r>
            <a:endParaRPr b="0" lang="en-US" sz="5800" spc="-1" strike="noStrike">
              <a:solidFill>
                <a:srgbClr val="000000"/>
              </a:solidFill>
              <a:latin typeface="Arial"/>
            </a:endParaRPr>
          </a:p>
        </p:txBody>
      </p:sp>
      <p:sp>
        <p:nvSpPr>
          <p:cNvPr id="1240" name="TextBox 4"/>
          <p:cNvSpPr/>
          <p:nvPr/>
        </p:nvSpPr>
        <p:spPr>
          <a:xfrm>
            <a:off x="1051560" y="2331720"/>
            <a:ext cx="9875160" cy="108756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1" lang="en-US" sz="3400" spc="-1" strike="noStrike">
                <a:solidFill>
                  <a:srgbClr val="ffffff"/>
                </a:solidFill>
                <a:latin typeface="Segoe UI Semibold"/>
              </a:rPr>
              <a:t>Interfaz de control: CN1, analógico, pulsos y bus</a:t>
            </a:r>
            <a:endParaRPr b="0" lang="en-US" sz="3400" spc="-1" strike="noStrike">
              <a:solidFill>
                <a:srgbClr val="000000"/>
              </a:solidFill>
              <a:latin typeface="Arial"/>
            </a:endParaRPr>
          </a:p>
        </p:txBody>
      </p:sp>
      <p:sp>
        <p:nvSpPr>
          <p:cNvPr id="1241" name="Rectangle 5"/>
          <p:cNvSpPr/>
          <p:nvPr/>
        </p:nvSpPr>
        <p:spPr>
          <a:xfrm>
            <a:off x="1051560" y="3703320"/>
            <a:ext cx="1279800" cy="453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1242" name="Rectangle 6"/>
          <p:cNvSpPr/>
          <p:nvPr/>
        </p:nvSpPr>
        <p:spPr>
          <a:xfrm>
            <a:off x="1051560" y="41468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43" name="TextBox 7"/>
          <p:cNvSpPr/>
          <p:nvPr/>
        </p:nvSpPr>
        <p:spPr>
          <a:xfrm>
            <a:off x="1325880" y="40690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Para qué sirve cada conector del amplificador</a:t>
            </a:r>
            <a:endParaRPr b="0" lang="en-US" sz="1350" spc="-1" strike="noStrike">
              <a:solidFill>
                <a:srgbClr val="000000"/>
              </a:solidFill>
              <a:latin typeface="Arial"/>
            </a:endParaRPr>
          </a:p>
        </p:txBody>
      </p:sp>
      <p:sp>
        <p:nvSpPr>
          <p:cNvPr id="1244" name="Rectangle 8"/>
          <p:cNvSpPr/>
          <p:nvPr/>
        </p:nvSpPr>
        <p:spPr>
          <a:xfrm>
            <a:off x="1051560" y="451260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45" name="TextBox 9"/>
          <p:cNvSpPr/>
          <p:nvPr/>
        </p:nvSpPr>
        <p:spPr>
          <a:xfrm>
            <a:off x="1325880" y="443484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Entradas y salidas digitales de </a:t>
            </a:r>
            <a:r>
              <a:rPr b="0" lang="en-US" sz="1350" spc="-1" strike="noStrike">
                <a:solidFill>
                  <a:srgbClr val="c9dcee"/>
                </a:solidFill>
                <a:latin typeface="Consolas"/>
              </a:rPr>
              <a:t>CN1</a:t>
            </a:r>
            <a:r>
              <a:rPr b="0" lang="en-US" sz="1350" spc="-1" strike="noStrike">
                <a:solidFill>
                  <a:srgbClr val="c9dcee"/>
                </a:solidFill>
                <a:latin typeface="Segoe UI"/>
              </a:rPr>
              <a:t>: asignación y remapeo</a:t>
            </a:r>
            <a:endParaRPr b="0" lang="en-US" sz="1350" spc="-1" strike="noStrike">
              <a:solidFill>
                <a:srgbClr val="000000"/>
              </a:solidFill>
              <a:latin typeface="Arial"/>
            </a:endParaRPr>
          </a:p>
        </p:txBody>
      </p:sp>
      <p:sp>
        <p:nvSpPr>
          <p:cNvPr id="1246" name="Rectangle 10"/>
          <p:cNvSpPr/>
          <p:nvPr/>
        </p:nvSpPr>
        <p:spPr>
          <a:xfrm>
            <a:off x="1051560" y="487836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47" name="TextBox 11"/>
          <p:cNvSpPr/>
          <p:nvPr/>
        </p:nvSpPr>
        <p:spPr>
          <a:xfrm>
            <a:off x="1325880" y="480060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Consigna analógica de velocidad y de par</a:t>
            </a:r>
            <a:endParaRPr b="0" lang="en-US" sz="1350" spc="-1" strike="noStrike">
              <a:solidFill>
                <a:srgbClr val="000000"/>
              </a:solidFill>
              <a:latin typeface="Arial"/>
            </a:endParaRPr>
          </a:p>
        </p:txBody>
      </p:sp>
      <p:sp>
        <p:nvSpPr>
          <p:cNvPr id="1248" name="Rectangle 12"/>
          <p:cNvSpPr/>
          <p:nvPr/>
        </p:nvSpPr>
        <p:spPr>
          <a:xfrm>
            <a:off x="1051560" y="524412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49" name="TextBox 13"/>
          <p:cNvSpPr/>
          <p:nvPr/>
        </p:nvSpPr>
        <p:spPr>
          <a:xfrm>
            <a:off x="1325880" y="516636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Consigna por tren de pulsos y salida de encoder</a:t>
            </a:r>
            <a:endParaRPr b="0" lang="en-US" sz="1350" spc="-1" strike="noStrike">
              <a:solidFill>
                <a:srgbClr val="000000"/>
              </a:solidFill>
              <a:latin typeface="Arial"/>
            </a:endParaRPr>
          </a:p>
        </p:txBody>
      </p:sp>
      <p:sp>
        <p:nvSpPr>
          <p:cNvPr id="1250" name="Rectangle 14"/>
          <p:cNvSpPr/>
          <p:nvPr/>
        </p:nvSpPr>
        <p:spPr>
          <a:xfrm>
            <a:off x="1051560" y="560988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51" name="TextBox 15"/>
          <p:cNvSpPr/>
          <p:nvPr/>
        </p:nvSpPr>
        <p:spPr>
          <a:xfrm>
            <a:off x="1325880" y="553212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Finales de carrera y métodos de parada</a:t>
            </a:r>
            <a:endParaRPr b="0" lang="en-US" sz="1350" spc="-1" strike="noStrike">
              <a:solidFill>
                <a:srgbClr val="000000"/>
              </a:solidFill>
              <a:latin typeface="Arial"/>
            </a:endParaRPr>
          </a:p>
        </p:txBody>
      </p:sp>
      <p:sp>
        <p:nvSpPr>
          <p:cNvPr id="1252" name="Rectangle 16"/>
          <p:cNvSpPr/>
          <p:nvPr/>
        </p:nvSpPr>
        <p:spPr>
          <a:xfrm>
            <a:off x="1051560" y="59756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53" name="TextBox 17"/>
          <p:cNvSpPr/>
          <p:nvPr/>
        </p:nvSpPr>
        <p:spPr>
          <a:xfrm>
            <a:off x="1325880" y="58978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Buses de movimiento: MECHATROLINK-III y EtherCAT (CiA 402)</a:t>
            </a:r>
            <a:endParaRPr b="0" lang="en-US" sz="1350" spc="-1" strike="noStrike">
              <a:solidFill>
                <a:srgbClr val="000000"/>
              </a:solidFill>
              <a:latin typeface="Arial"/>
            </a:endParaRPr>
          </a:p>
        </p:txBody>
      </p:sp>
      <p:sp>
        <p:nvSpPr>
          <p:cNvPr id="1254" name="TextBox 18"/>
          <p:cNvSpPr/>
          <p:nvPr/>
        </p:nvSpPr>
        <p:spPr>
          <a:xfrm>
            <a:off x="1051560" y="6172200"/>
            <a:ext cx="73148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e89b1f"/>
                </a:solidFill>
                <a:latin typeface="Segoe UI"/>
              </a:rPr>
              <a:t>Duración orientativa: 4 h</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5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257" name="TextBox 3"/>
          <p:cNvSpPr/>
          <p:nvPr/>
        </p:nvSpPr>
        <p:spPr>
          <a:xfrm>
            <a:off x="567000" y="182880"/>
            <a:ext cx="8954280" cy="3654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400" spc="-1" strike="noStrike">
                <a:solidFill>
                  <a:srgbClr val="ffffff"/>
                </a:solidFill>
                <a:latin typeface="Segoe UI Semibold"/>
              </a:rPr>
              <a:t>Los conectores del SERVOPACK y para qué sirve cada uno</a:t>
            </a:r>
            <a:endParaRPr b="0" lang="en-US" sz="2400" spc="-1" strike="noStrike">
              <a:solidFill>
                <a:srgbClr val="000000"/>
              </a:solidFill>
              <a:latin typeface="Arial"/>
            </a:endParaRPr>
          </a:p>
        </p:txBody>
      </p:sp>
      <p:sp>
        <p:nvSpPr>
          <p:cNvPr id="125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Mapa mental del frontal del amplificador</a:t>
            </a:r>
            <a:endParaRPr b="0" lang="en-US" sz="1250" spc="-1" strike="noStrike">
              <a:solidFill>
                <a:srgbClr val="000000"/>
              </a:solidFill>
              <a:latin typeface="Arial"/>
            </a:endParaRPr>
          </a:p>
        </p:txBody>
      </p:sp>
      <p:sp>
        <p:nvSpPr>
          <p:cNvPr id="125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26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26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68</a:t>
            </a:r>
            <a:endParaRPr b="0" lang="en-US" sz="900" spc="-1" strike="noStrike">
              <a:solidFill>
                <a:srgbClr val="000000"/>
              </a:solidFill>
              <a:latin typeface="Arial"/>
            </a:endParaRPr>
          </a:p>
        </p:txBody>
      </p:sp>
      <p:graphicFrame>
        <p:nvGraphicFramePr>
          <p:cNvPr id="1262" name="Table 8"/>
          <p:cNvGraphicFramePr/>
          <p:nvPr/>
        </p:nvGraphicFramePr>
        <p:xfrm>
          <a:off x="567000" y="1481400"/>
          <a:ext cx="11057400" cy="4461840"/>
        </p:xfrm>
        <a:graphic>
          <a:graphicData uri="http://schemas.openxmlformats.org/drawingml/2006/table">
            <a:tbl>
              <a:tblPr/>
              <a:tblGrid>
                <a:gridCol w="1289880"/>
                <a:gridCol w="2395800"/>
                <a:gridCol w="3685680"/>
                <a:gridCol w="368568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Conector</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Función</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Qué se conecta</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Cuándo lo usarás</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587520">
                <a:tc>
                  <a:txBody>
                    <a:bodyPr lIns="82080" rIns="82080" tIns="27360" bIns="27360" anchor="ctr">
                      <a:noAutofit/>
                    </a:bodyPr>
                    <a:p>
                      <a:pPr defTabSz="457200">
                        <a:lnSpc>
                          <a:spcPct val="100000"/>
                        </a:lnSpc>
                      </a:pPr>
                      <a:r>
                        <a:rPr b="0" lang="en-US" sz="950" spc="-1" strike="noStrike">
                          <a:solidFill>
                            <a:srgbClr val="1c2430"/>
                          </a:solidFill>
                          <a:latin typeface="Consolas"/>
                        </a:rPr>
                        <a:t>CN1</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Entradas y salidas de control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Servo ON, finales de carrera, reset de alarma, salidas de estado, consigna analógica y tren de pulsos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Siempre en variantes analógicas/pulsos; parcialmente en variantes de bus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87520">
                <a:tc>
                  <a:txBody>
                    <a:bodyPr lIns="82080" rIns="82080" tIns="27360" bIns="27360" anchor="ctr">
                      <a:noAutofit/>
                    </a:bodyPr>
                    <a:p>
                      <a:pPr defTabSz="457200">
                        <a:lnSpc>
                          <a:spcPct val="100000"/>
                        </a:lnSpc>
                      </a:pPr>
                      <a:r>
                        <a:rPr b="0" lang="en-US" sz="950" spc="-1" strike="noStrike">
                          <a:solidFill>
                            <a:srgbClr val="1c2430"/>
                          </a:solidFill>
                          <a:latin typeface="Consolas"/>
                        </a:rPr>
                        <a:t>CN2</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Realimentación del encoder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Cable de encoder del motor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Siempre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87520">
                <a:tc>
                  <a:txBody>
                    <a:bodyPr lIns="82080" rIns="82080" tIns="27360" bIns="27360" anchor="ctr">
                      <a:noAutofit/>
                    </a:bodyPr>
                    <a:p>
                      <a:pPr defTabSz="457200">
                        <a:lnSpc>
                          <a:spcPct val="100000"/>
                        </a:lnSpc>
                      </a:pPr>
                      <a:r>
                        <a:rPr b="0" lang="en-US" sz="950" spc="-1" strike="noStrike">
                          <a:solidFill>
                            <a:srgbClr val="1c2430"/>
                          </a:solidFill>
                          <a:latin typeface="Consolas"/>
                        </a:rPr>
                        <a:t>CN3</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Operador digital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Consola JUSP-OP05A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Opcional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87520">
                <a:tc>
                  <a:txBody>
                    <a:bodyPr lIns="82080" rIns="82080" tIns="27360" bIns="27360" anchor="ctr">
                      <a:noAutofit/>
                    </a:bodyPr>
                    <a:p>
                      <a:pPr defTabSz="457200">
                        <a:lnSpc>
                          <a:spcPct val="100000"/>
                        </a:lnSpc>
                      </a:pPr>
                      <a:r>
                        <a:rPr b="0" lang="en-US" sz="950" spc="-1" strike="noStrike">
                          <a:solidFill>
                            <a:srgbClr val="1c2430"/>
                          </a:solidFill>
                          <a:latin typeface="Consolas"/>
                        </a:rPr>
                        <a:t>CN5</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Monitor analógico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Osciloscopio para ver velocidad, par o error en tiempo real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Muy útil en sintonización avanzada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87520">
                <a:tc>
                  <a:txBody>
                    <a:bodyPr lIns="82080" rIns="82080" tIns="27360" bIns="27360" anchor="ctr">
                      <a:noAutofit/>
                    </a:bodyPr>
                    <a:p>
                      <a:pPr defTabSz="457200">
                        <a:lnSpc>
                          <a:spcPct val="100000"/>
                        </a:lnSpc>
                      </a:pPr>
                      <a:r>
                        <a:rPr b="0" lang="en-US" sz="950" spc="-1" strike="noStrike">
                          <a:solidFill>
                            <a:srgbClr val="1c2430"/>
                          </a:solidFill>
                          <a:latin typeface="Consolas"/>
                        </a:rPr>
                        <a:t>CN6</a:t>
                      </a:r>
                      <a:r>
                        <a:rPr b="0" lang="en-US" sz="950" spc="-1" strike="noStrike">
                          <a:solidFill>
                            <a:srgbClr val="1c2430"/>
                          </a:solidFill>
                          <a:latin typeface="Segoe UI"/>
                        </a:rPr>
                        <a:t> / </a:t>
                      </a:r>
                      <a:r>
                        <a:rPr b="0" lang="en-US" sz="950" spc="-1" strike="noStrike">
                          <a:solidFill>
                            <a:srgbClr val="1c2430"/>
                          </a:solidFill>
                          <a:latin typeface="Consolas"/>
                        </a:rPr>
                        <a:t>CN6A-B</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Comunicación de bus (en variantes de bus)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MECHATROLINK-III o EtherCAT (entrada y salida)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En arquitecturas con bus de movimiento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87520">
                <a:tc>
                  <a:txBody>
                    <a:bodyPr lIns="82080" rIns="82080" tIns="27360" bIns="27360" anchor="ctr">
                      <a:noAutofit/>
                    </a:bodyPr>
                    <a:p>
                      <a:pPr defTabSz="457200">
                        <a:lnSpc>
                          <a:spcPct val="100000"/>
                        </a:lnSpc>
                      </a:pPr>
                      <a:r>
                        <a:rPr b="0" lang="en-US" sz="950" spc="-1" strike="noStrike">
                          <a:solidFill>
                            <a:srgbClr val="1c2430"/>
                          </a:solidFill>
                          <a:latin typeface="Consolas"/>
                        </a:rPr>
                        <a:t>CN7</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USB</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PC con SigmaWin+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En puesta en marcha, ajuste y diagnóstico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87520">
                <a:tc>
                  <a:txBody>
                    <a:bodyPr lIns="82080" rIns="82080" tIns="27360" bIns="27360" anchor="ctr">
                      <a:noAutofit/>
                    </a:bodyPr>
                    <a:p>
                      <a:pPr defTabSz="457200">
                        <a:lnSpc>
                          <a:spcPct val="100000"/>
                        </a:lnSpc>
                      </a:pPr>
                      <a:r>
                        <a:rPr b="0" lang="en-US" sz="950" spc="-1" strike="noStrike">
                          <a:solidFill>
                            <a:srgbClr val="1c2430"/>
                          </a:solidFill>
                          <a:latin typeface="Consolas"/>
                        </a:rPr>
                        <a:t>CN8</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Seguridad funcional (HWBB)</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Relé o módulo de seguridad; sale con puente de fábrica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Siempre que la máquina requiera STO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263"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La disponibilidad y el número exacto de conectores varía según la variante de interfaz: comprueba el frontal de tu equipo.</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6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26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Cableado típico de </a:t>
            </a:r>
            <a:r>
              <a:rPr b="1" lang="en-US" sz="2500" spc="-1" strike="noStrike">
                <a:solidFill>
                  <a:srgbClr val="ffffff"/>
                </a:solidFill>
                <a:latin typeface="Consolas"/>
              </a:rPr>
              <a:t>CN1</a:t>
            </a:r>
            <a:endParaRPr b="0" lang="en-US" sz="2500" spc="-1" strike="noStrike">
              <a:solidFill>
                <a:srgbClr val="000000"/>
              </a:solidFill>
              <a:latin typeface="Arial"/>
            </a:endParaRPr>
          </a:p>
        </p:txBody>
      </p:sp>
      <p:sp>
        <p:nvSpPr>
          <p:cNvPr id="126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Entradas por optoacoplador, salidas por transistor, todo referido a 24 V</a:t>
            </a:r>
            <a:endParaRPr b="0" lang="en-US" sz="1250" spc="-1" strike="noStrike">
              <a:solidFill>
                <a:srgbClr val="000000"/>
              </a:solidFill>
              <a:latin typeface="Arial"/>
            </a:endParaRPr>
          </a:p>
        </p:txBody>
      </p:sp>
      <p:sp>
        <p:nvSpPr>
          <p:cNvPr id="126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26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27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69</a:t>
            </a:r>
            <a:endParaRPr b="0" lang="en-US" sz="900" spc="-1" strike="noStrike">
              <a:solidFill>
                <a:srgbClr val="000000"/>
              </a:solidFill>
              <a:latin typeface="Arial"/>
            </a:endParaRPr>
          </a:p>
        </p:txBody>
      </p:sp>
      <p:sp>
        <p:nvSpPr>
          <p:cNvPr id="1271" name="Rounded Rectangle 8"/>
          <p:cNvSpPr/>
          <p:nvPr/>
        </p:nvSpPr>
        <p:spPr>
          <a:xfrm>
            <a:off x="567000" y="1874520"/>
            <a:ext cx="2102760" cy="776880"/>
          </a:xfrm>
          <a:prstGeom prst="roundRect">
            <a:avLst>
              <a:gd name="adj" fmla="val 10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100" spc="-1" strike="noStrike">
                <a:solidFill>
                  <a:srgbClr val="ffffff"/>
                </a:solidFill>
                <a:latin typeface="Segoe UI"/>
              </a:rPr>
              <a:t>FUENTE 24 V CC</a:t>
            </a:r>
            <a:endParaRPr b="0" lang="en-US" sz="1100" spc="-1" strike="noStrike">
              <a:solidFill>
                <a:srgbClr val="ffffff"/>
              </a:solidFill>
              <a:latin typeface="Arial"/>
            </a:endParaRPr>
          </a:p>
          <a:p>
            <a:pPr algn="ctr" defTabSz="457200">
              <a:lnSpc>
                <a:spcPct val="100000"/>
              </a:lnSpc>
            </a:pPr>
            <a:r>
              <a:rPr b="1" lang="en-US" sz="1100" spc="-1" strike="noStrike">
                <a:solidFill>
                  <a:srgbClr val="ffffff"/>
                </a:solidFill>
                <a:latin typeface="Segoe UI"/>
              </a:rPr>
              <a:t>de las E/S</a:t>
            </a:r>
            <a:endParaRPr b="0" lang="en-US" sz="1100" spc="-1" strike="noStrike">
              <a:solidFill>
                <a:srgbClr val="ffffff"/>
              </a:solidFill>
              <a:latin typeface="Arial"/>
            </a:endParaRPr>
          </a:p>
        </p:txBody>
      </p:sp>
      <p:sp>
        <p:nvSpPr>
          <p:cNvPr id="1272" name="Rectangle 9"/>
          <p:cNvSpPr/>
          <p:nvPr/>
        </p:nvSpPr>
        <p:spPr>
          <a:xfrm>
            <a:off x="4526280" y="1645920"/>
            <a:ext cx="3108600" cy="4160160"/>
          </a:xfrm>
          <a:prstGeom prst="rect">
            <a:avLst/>
          </a:prstGeom>
          <a:solidFill>
            <a:srgbClr val="f2f5f8"/>
          </a:solidFill>
          <a:ln w="25400">
            <a:solidFill>
              <a:srgbClr val="0b254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73" name="TextBox 10"/>
          <p:cNvSpPr/>
          <p:nvPr/>
        </p:nvSpPr>
        <p:spPr>
          <a:xfrm>
            <a:off x="4526280" y="1755720"/>
            <a:ext cx="3108600" cy="1987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300" spc="-1" strike="noStrike">
                <a:solidFill>
                  <a:srgbClr val="0b2545"/>
                </a:solidFill>
                <a:latin typeface="Consolas"/>
              </a:rPr>
              <a:t>CN1</a:t>
            </a:r>
            <a:r>
              <a:rPr b="1" lang="en-US" sz="1300" spc="-1" strike="noStrike">
                <a:solidFill>
                  <a:srgbClr val="0b2545"/>
                </a:solidFill>
                <a:latin typeface="Segoe UI"/>
              </a:rPr>
              <a:t> del SERVOPACK</a:t>
            </a:r>
            <a:endParaRPr b="0" lang="en-US" sz="1300" spc="-1" strike="noStrike">
              <a:solidFill>
                <a:srgbClr val="000000"/>
              </a:solidFill>
              <a:latin typeface="Arial"/>
            </a:endParaRPr>
          </a:p>
        </p:txBody>
      </p:sp>
      <p:sp>
        <p:nvSpPr>
          <p:cNvPr id="1274" name="Rounded Rectangle 11"/>
          <p:cNvSpPr/>
          <p:nvPr/>
        </p:nvSpPr>
        <p:spPr>
          <a:xfrm>
            <a:off x="4709160" y="2148840"/>
            <a:ext cx="2742840" cy="383760"/>
          </a:xfrm>
          <a:prstGeom prst="roundRect">
            <a:avLst>
              <a:gd name="adj" fmla="val 12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00" spc="-1" strike="noStrike">
                <a:solidFill>
                  <a:srgbClr val="ffffff"/>
                </a:solidFill>
                <a:latin typeface="Consolas"/>
              </a:rPr>
              <a:t>+24VIN</a:t>
            </a:r>
            <a:r>
              <a:rPr b="1" lang="en-US" sz="1000" spc="-1" strike="noStrike">
                <a:solidFill>
                  <a:srgbClr val="ffffff"/>
                </a:solidFill>
                <a:latin typeface="Segoe UI"/>
              </a:rPr>
              <a:t>  común de entradas</a:t>
            </a:r>
            <a:endParaRPr b="0" lang="en-US" sz="1000" spc="-1" strike="noStrike">
              <a:solidFill>
                <a:srgbClr val="000000"/>
              </a:solidFill>
              <a:latin typeface="Arial"/>
            </a:endParaRPr>
          </a:p>
        </p:txBody>
      </p:sp>
      <p:sp>
        <p:nvSpPr>
          <p:cNvPr id="1275" name="Rounded Rectangle 12"/>
          <p:cNvSpPr/>
          <p:nvPr/>
        </p:nvSpPr>
        <p:spPr>
          <a:xfrm>
            <a:off x="4709160" y="2633400"/>
            <a:ext cx="2742840" cy="310680"/>
          </a:xfrm>
          <a:prstGeom prst="roundRect">
            <a:avLst>
              <a:gd name="adj" fmla="val 12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Consolas"/>
              </a:rPr>
              <a:t>/S-ON</a:t>
            </a:r>
            <a:r>
              <a:rPr b="1" lang="en-US" sz="950" spc="-1" strike="noStrike">
                <a:solidFill>
                  <a:srgbClr val="ffffff"/>
                </a:solidFill>
                <a:latin typeface="Segoe UI"/>
              </a:rPr>
              <a:t>  servo ON</a:t>
            </a:r>
            <a:endParaRPr b="0" lang="en-US" sz="950" spc="-1" strike="noStrike">
              <a:solidFill>
                <a:srgbClr val="ffffff"/>
              </a:solidFill>
              <a:latin typeface="Arial"/>
            </a:endParaRPr>
          </a:p>
        </p:txBody>
      </p:sp>
      <p:sp>
        <p:nvSpPr>
          <p:cNvPr id="1276" name="Rounded Rectangle 13"/>
          <p:cNvSpPr/>
          <p:nvPr/>
        </p:nvSpPr>
        <p:spPr>
          <a:xfrm>
            <a:off x="4709160" y="2999160"/>
            <a:ext cx="2742840" cy="310680"/>
          </a:xfrm>
          <a:prstGeom prst="roundRect">
            <a:avLst>
              <a:gd name="adj" fmla="val 12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Consolas"/>
              </a:rPr>
              <a:t>P-OT</a:t>
            </a:r>
            <a:r>
              <a:rPr b="1" lang="en-US" sz="950" spc="-1" strike="noStrike">
                <a:solidFill>
                  <a:srgbClr val="ffffff"/>
                </a:solidFill>
                <a:latin typeface="Segoe UI"/>
              </a:rPr>
              <a:t> / </a:t>
            </a:r>
            <a:r>
              <a:rPr b="1" lang="en-US" sz="950" spc="-1" strike="noStrike">
                <a:solidFill>
                  <a:srgbClr val="ffffff"/>
                </a:solidFill>
                <a:latin typeface="Consolas"/>
              </a:rPr>
              <a:t>N-OT</a:t>
            </a:r>
            <a:r>
              <a:rPr b="1" lang="en-US" sz="950" spc="-1" strike="noStrike">
                <a:solidFill>
                  <a:srgbClr val="ffffff"/>
                </a:solidFill>
                <a:latin typeface="Segoe UI"/>
              </a:rPr>
              <a:t>  finales de carrera</a:t>
            </a:r>
            <a:endParaRPr b="0" lang="en-US" sz="950" spc="-1" strike="noStrike">
              <a:solidFill>
                <a:srgbClr val="ffffff"/>
              </a:solidFill>
              <a:latin typeface="Arial"/>
            </a:endParaRPr>
          </a:p>
        </p:txBody>
      </p:sp>
      <p:sp>
        <p:nvSpPr>
          <p:cNvPr id="1277" name="Rounded Rectangle 14"/>
          <p:cNvSpPr/>
          <p:nvPr/>
        </p:nvSpPr>
        <p:spPr>
          <a:xfrm>
            <a:off x="4709160" y="3364920"/>
            <a:ext cx="2742840" cy="310680"/>
          </a:xfrm>
          <a:prstGeom prst="roundRect">
            <a:avLst>
              <a:gd name="adj" fmla="val 12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Consolas"/>
              </a:rPr>
              <a:t>/ALM-RST</a:t>
            </a:r>
            <a:r>
              <a:rPr b="1" lang="en-US" sz="950" spc="-1" strike="noStrike">
                <a:solidFill>
                  <a:srgbClr val="ffffff"/>
                </a:solidFill>
                <a:latin typeface="Segoe UI"/>
              </a:rPr>
              <a:t>  reset de alarma</a:t>
            </a:r>
            <a:endParaRPr b="0" lang="en-US" sz="950" spc="-1" strike="noStrike">
              <a:solidFill>
                <a:srgbClr val="ffffff"/>
              </a:solidFill>
              <a:latin typeface="Arial"/>
            </a:endParaRPr>
          </a:p>
        </p:txBody>
      </p:sp>
      <p:sp>
        <p:nvSpPr>
          <p:cNvPr id="1278" name="Rounded Rectangle 15"/>
          <p:cNvSpPr/>
          <p:nvPr/>
        </p:nvSpPr>
        <p:spPr>
          <a:xfrm>
            <a:off x="4709160" y="3730680"/>
            <a:ext cx="2742840" cy="310680"/>
          </a:xfrm>
          <a:prstGeom prst="roundRect">
            <a:avLst>
              <a:gd name="adj" fmla="val 12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Consolas"/>
              </a:rPr>
              <a:t>/P-CL</a:t>
            </a:r>
            <a:r>
              <a:rPr b="1" lang="en-US" sz="950" spc="-1" strike="noStrike">
                <a:solidFill>
                  <a:srgbClr val="ffffff"/>
                </a:solidFill>
                <a:latin typeface="Segoe UI"/>
              </a:rPr>
              <a:t> / </a:t>
            </a:r>
            <a:r>
              <a:rPr b="1" lang="en-US" sz="950" spc="-1" strike="noStrike">
                <a:solidFill>
                  <a:srgbClr val="ffffff"/>
                </a:solidFill>
                <a:latin typeface="Consolas"/>
              </a:rPr>
              <a:t>/N-CL</a:t>
            </a:r>
            <a:r>
              <a:rPr b="1" lang="en-US" sz="950" spc="-1" strike="noStrike">
                <a:solidFill>
                  <a:srgbClr val="ffffff"/>
                </a:solidFill>
                <a:latin typeface="Segoe UI"/>
              </a:rPr>
              <a:t>  límite de par</a:t>
            </a:r>
            <a:endParaRPr b="0" lang="en-US" sz="950" spc="-1" strike="noStrike">
              <a:solidFill>
                <a:srgbClr val="ffffff"/>
              </a:solidFill>
              <a:latin typeface="Arial"/>
            </a:endParaRPr>
          </a:p>
        </p:txBody>
      </p:sp>
      <p:sp>
        <p:nvSpPr>
          <p:cNvPr id="1279" name="Rounded Rectangle 16"/>
          <p:cNvSpPr/>
          <p:nvPr/>
        </p:nvSpPr>
        <p:spPr>
          <a:xfrm>
            <a:off x="4709160" y="4187880"/>
            <a:ext cx="2742840" cy="310680"/>
          </a:xfrm>
          <a:prstGeom prst="roundRect">
            <a:avLst>
              <a:gd name="adj" fmla="val 12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Consolas"/>
              </a:rPr>
              <a:t>ALM</a:t>
            </a:r>
            <a:r>
              <a:rPr b="1" lang="en-US" sz="950" spc="-1" strike="noStrike">
                <a:solidFill>
                  <a:srgbClr val="ffffff"/>
                </a:solidFill>
                <a:latin typeface="Segoe UI"/>
              </a:rPr>
              <a:t>  alarma</a:t>
            </a:r>
            <a:endParaRPr b="0" lang="en-US" sz="950" spc="-1" strike="noStrike">
              <a:solidFill>
                <a:srgbClr val="ffffff"/>
              </a:solidFill>
              <a:latin typeface="Arial"/>
            </a:endParaRPr>
          </a:p>
        </p:txBody>
      </p:sp>
      <p:sp>
        <p:nvSpPr>
          <p:cNvPr id="1280" name="Rounded Rectangle 17"/>
          <p:cNvSpPr/>
          <p:nvPr/>
        </p:nvSpPr>
        <p:spPr>
          <a:xfrm>
            <a:off x="4709160" y="4553640"/>
            <a:ext cx="2742840" cy="310680"/>
          </a:xfrm>
          <a:prstGeom prst="roundRect">
            <a:avLst>
              <a:gd name="adj" fmla="val 12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Consolas"/>
              </a:rPr>
              <a:t>/S-RDY</a:t>
            </a:r>
            <a:r>
              <a:rPr b="1" lang="en-US" sz="950" spc="-1" strike="noStrike">
                <a:solidFill>
                  <a:srgbClr val="ffffff"/>
                </a:solidFill>
                <a:latin typeface="Segoe UI"/>
              </a:rPr>
              <a:t>  servo listo</a:t>
            </a:r>
            <a:endParaRPr b="0" lang="en-US" sz="950" spc="-1" strike="noStrike">
              <a:solidFill>
                <a:srgbClr val="ffffff"/>
              </a:solidFill>
              <a:latin typeface="Arial"/>
            </a:endParaRPr>
          </a:p>
        </p:txBody>
      </p:sp>
      <p:sp>
        <p:nvSpPr>
          <p:cNvPr id="1281" name="Rounded Rectangle 18"/>
          <p:cNvSpPr/>
          <p:nvPr/>
        </p:nvSpPr>
        <p:spPr>
          <a:xfrm>
            <a:off x="4709160" y="4919400"/>
            <a:ext cx="2742840" cy="310680"/>
          </a:xfrm>
          <a:prstGeom prst="roundRect">
            <a:avLst>
              <a:gd name="adj" fmla="val 12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Consolas"/>
              </a:rPr>
              <a:t>/COIN</a:t>
            </a:r>
            <a:r>
              <a:rPr b="1" lang="en-US" sz="950" spc="-1" strike="noStrike">
                <a:solidFill>
                  <a:srgbClr val="ffffff"/>
                </a:solidFill>
                <a:latin typeface="Segoe UI"/>
              </a:rPr>
              <a:t>  en posición</a:t>
            </a:r>
            <a:endParaRPr b="0" lang="en-US" sz="950" spc="-1" strike="noStrike">
              <a:solidFill>
                <a:srgbClr val="ffffff"/>
              </a:solidFill>
              <a:latin typeface="Arial"/>
            </a:endParaRPr>
          </a:p>
        </p:txBody>
      </p:sp>
      <p:sp>
        <p:nvSpPr>
          <p:cNvPr id="1282" name="Rounded Rectangle 19"/>
          <p:cNvSpPr/>
          <p:nvPr/>
        </p:nvSpPr>
        <p:spPr>
          <a:xfrm>
            <a:off x="4709160" y="5285160"/>
            <a:ext cx="2742840" cy="310680"/>
          </a:xfrm>
          <a:prstGeom prst="roundRect">
            <a:avLst>
              <a:gd name="adj" fmla="val 12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Consolas"/>
              </a:rPr>
              <a:t>/BK</a:t>
            </a:r>
            <a:r>
              <a:rPr b="1" lang="en-US" sz="950" spc="-1" strike="noStrike">
                <a:solidFill>
                  <a:srgbClr val="ffffff"/>
                </a:solidFill>
                <a:latin typeface="Segoe UI"/>
              </a:rPr>
              <a:t>  mando de freno</a:t>
            </a:r>
            <a:endParaRPr b="0" lang="en-US" sz="950" spc="-1" strike="noStrike">
              <a:solidFill>
                <a:srgbClr val="ffffff"/>
              </a:solidFill>
              <a:latin typeface="Arial"/>
            </a:endParaRPr>
          </a:p>
        </p:txBody>
      </p:sp>
      <p:sp>
        <p:nvSpPr>
          <p:cNvPr id="1283" name="Rectangle 20"/>
          <p:cNvSpPr/>
          <p:nvPr/>
        </p:nvSpPr>
        <p:spPr>
          <a:xfrm>
            <a:off x="567000" y="2926080"/>
            <a:ext cx="3428640" cy="288000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84" name="TextBox 21"/>
          <p:cNvSpPr/>
          <p:nvPr/>
        </p:nvSpPr>
        <p:spPr>
          <a:xfrm>
            <a:off x="777240" y="3063240"/>
            <a:ext cx="3017160" cy="1756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50" spc="-1" strike="noStrike">
                <a:solidFill>
                  <a:srgbClr val="0b2545"/>
                </a:solidFill>
                <a:latin typeface="Segoe UI"/>
              </a:rPr>
              <a:t>Contactos y mandos externos</a:t>
            </a:r>
            <a:endParaRPr b="0" lang="en-US" sz="1150" spc="-1" strike="noStrike">
              <a:solidFill>
                <a:srgbClr val="000000"/>
              </a:solidFill>
              <a:latin typeface="Arial"/>
            </a:endParaRPr>
          </a:p>
        </p:txBody>
      </p:sp>
      <p:sp>
        <p:nvSpPr>
          <p:cNvPr id="1285" name="TextBox 22"/>
          <p:cNvSpPr/>
          <p:nvPr/>
        </p:nvSpPr>
        <p:spPr>
          <a:xfrm>
            <a:off x="777240" y="3401640"/>
            <a:ext cx="3017160" cy="1786680"/>
          </a:xfrm>
          <a:prstGeom prst="rect">
            <a:avLst/>
          </a:prstGeom>
          <a:noFill/>
          <a:ln w="0">
            <a:noFill/>
          </a:ln>
        </p:spPr>
        <p:style>
          <a:lnRef idx="0"/>
          <a:fillRef idx="0"/>
          <a:effectRef idx="0"/>
          <a:fontRef idx="minor"/>
        </p:style>
        <p:txBody>
          <a:bodyPr lIns="90000" rIns="90000" tIns="45000" bIns="45000" anchor="t">
            <a:spAutoFit/>
          </a:bodyPr>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Salida digital del PLC o contacto de relé para </a:t>
            </a:r>
            <a:r>
              <a:rPr b="1" lang="en-US" sz="1050" spc="-1" strike="noStrike">
                <a:solidFill>
                  <a:srgbClr val="1c2430"/>
                </a:solidFill>
                <a:latin typeface="Consolas"/>
              </a:rPr>
              <a:t>/S-ON</a:t>
            </a:r>
            <a:r>
              <a:rPr b="1" lang="en-US" sz="1050" spc="-1" strike="noStrike">
                <a:solidFill>
                  <a:srgbClr val="1c2430"/>
                </a:solidFill>
                <a:latin typeface="Segoe UI"/>
              </a:rPr>
              <a:t>.</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Finales de carrera con contacto normalmente cerrado.</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Pulsador o salida del PLC para el reset de alarma.</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Todo con cable apantallado y separado de la potencia.</a:t>
            </a:r>
            <a:endParaRPr b="0" lang="en-US" sz="1050" spc="-1" strike="noStrike">
              <a:solidFill>
                <a:srgbClr val="000000"/>
              </a:solidFill>
              <a:latin typeface="Arial"/>
            </a:endParaRPr>
          </a:p>
        </p:txBody>
      </p:sp>
      <p:sp>
        <p:nvSpPr>
          <p:cNvPr id="1286" name="Right Arrow 23"/>
          <p:cNvSpPr/>
          <p:nvPr/>
        </p:nvSpPr>
        <p:spPr>
          <a:xfrm>
            <a:off x="4069080" y="2267640"/>
            <a:ext cx="383760" cy="14580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287" name="Right Arrow 24"/>
          <p:cNvSpPr/>
          <p:nvPr/>
        </p:nvSpPr>
        <p:spPr>
          <a:xfrm>
            <a:off x="4069080" y="3840480"/>
            <a:ext cx="383760" cy="145800"/>
          </a:xfrm>
          <a:prstGeom prst="rightArrow">
            <a:avLst>
              <a:gd name="adj1" fmla="val 50000"/>
              <a:gd name="adj2" fmla="val 50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288" name="Rectangle 25"/>
          <p:cNvSpPr/>
          <p:nvPr/>
        </p:nvSpPr>
        <p:spPr>
          <a:xfrm>
            <a:off x="8092440" y="2926080"/>
            <a:ext cx="3520080" cy="288000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89" name="TextBox 26"/>
          <p:cNvSpPr/>
          <p:nvPr/>
        </p:nvSpPr>
        <p:spPr>
          <a:xfrm>
            <a:off x="8321040" y="3063240"/>
            <a:ext cx="3062880" cy="1756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50" spc="-1" strike="noStrike">
                <a:solidFill>
                  <a:srgbClr val="0b2545"/>
                </a:solidFill>
                <a:latin typeface="Segoe UI"/>
              </a:rPr>
              <a:t>Reglas de las salidas</a:t>
            </a:r>
            <a:endParaRPr b="0" lang="en-US" sz="1150" spc="-1" strike="noStrike">
              <a:solidFill>
                <a:srgbClr val="000000"/>
              </a:solidFill>
              <a:latin typeface="Arial"/>
            </a:endParaRPr>
          </a:p>
        </p:txBody>
      </p:sp>
      <p:sp>
        <p:nvSpPr>
          <p:cNvPr id="1290" name="TextBox 27"/>
          <p:cNvSpPr/>
          <p:nvPr/>
        </p:nvSpPr>
        <p:spPr>
          <a:xfrm>
            <a:off x="8321040" y="3401640"/>
            <a:ext cx="3062880" cy="2125080"/>
          </a:xfrm>
          <a:prstGeom prst="rect">
            <a:avLst/>
          </a:prstGeom>
          <a:noFill/>
          <a:ln w="0">
            <a:noFill/>
          </a:ln>
        </p:spPr>
        <p:style>
          <a:lnRef idx="0"/>
          <a:fillRef idx="0"/>
          <a:effectRef idx="0"/>
          <a:fontRef idx="minor"/>
        </p:style>
        <p:txBody>
          <a:bodyPr lIns="90000" rIns="90000" tIns="45000" bIns="45000" anchor="t">
            <a:spAutoFit/>
          </a:bodyPr>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Son transistores de baja capacidad: usa siempre relé intermedio para cargas reales.</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Supresor (diodo o varistor) en toda bobina.</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Consolas"/>
              </a:rPr>
              <a:t>ALM</a:t>
            </a:r>
            <a:r>
              <a:rPr b="1" lang="en-US" sz="1050" spc="-1" strike="noStrike">
                <a:solidFill>
                  <a:srgbClr val="1c2430"/>
                </a:solidFill>
                <a:latin typeface="Segoe UI"/>
              </a:rPr>
              <a:t> en serie con la bobina del contactor de línea.</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Respeta la polaridad: son salidas de colector abierto, no contactos libres de potencial.</a:t>
            </a:r>
            <a:endParaRPr b="0" lang="en-US" sz="1050" spc="-1" strike="noStrike">
              <a:solidFill>
                <a:srgbClr val="000000"/>
              </a:solidFill>
              <a:latin typeface="Arial"/>
            </a:endParaRPr>
          </a:p>
        </p:txBody>
      </p:sp>
      <p:sp>
        <p:nvSpPr>
          <p:cNvPr id="1291" name="Right Arrow 28"/>
          <p:cNvSpPr/>
          <p:nvPr/>
        </p:nvSpPr>
        <p:spPr>
          <a:xfrm>
            <a:off x="7699320" y="4617720"/>
            <a:ext cx="328680" cy="145800"/>
          </a:xfrm>
          <a:prstGeom prst="rightArrow">
            <a:avLst>
              <a:gd name="adj1" fmla="val 50000"/>
              <a:gd name="adj2" fmla="val 50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292" name="Rectangle 29"/>
          <p:cNvSpPr/>
          <p:nvPr/>
        </p:nvSpPr>
        <p:spPr>
          <a:xfrm>
            <a:off x="567000" y="5961960"/>
            <a:ext cx="11063880" cy="38376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93" name="Rectangle 30"/>
          <p:cNvSpPr/>
          <p:nvPr/>
        </p:nvSpPr>
        <p:spPr>
          <a:xfrm>
            <a:off x="567000" y="5961960"/>
            <a:ext cx="68400" cy="38376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94" name="TextBox 31"/>
          <p:cNvSpPr/>
          <p:nvPr/>
        </p:nvSpPr>
        <p:spPr>
          <a:xfrm>
            <a:off x="841320" y="6099120"/>
            <a:ext cx="1056096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c0392b"/>
                </a:solidFill>
                <a:latin typeface="Segoe UI Semibold"/>
              </a:rPr>
              <a:t>Sin </a:t>
            </a:r>
            <a:r>
              <a:rPr b="1" lang="en-US" sz="1200" spc="-1" strike="noStrike">
                <a:solidFill>
                  <a:srgbClr val="c0392b"/>
                </a:solidFill>
                <a:latin typeface="Consolas"/>
              </a:rPr>
              <a:t>+24VIN</a:t>
            </a:r>
            <a:r>
              <a:rPr b="1" lang="en-US" sz="1200" spc="-1" strike="noStrike">
                <a:solidFill>
                  <a:srgbClr val="c0392b"/>
                </a:solidFill>
                <a:latin typeface="Segoe UI Semibold"/>
              </a:rPr>
              <a:t> alimentado, ninguna entrada digital funciona — y el drive no da ninguna alarma por ello.</a:t>
            </a:r>
            <a:endParaRPr b="0" lang="en-US" sz="1200" spc="-1" strike="noStrike">
              <a:solidFill>
                <a:srgbClr val="000000"/>
              </a:solidFill>
              <a:latin typeface="Arial"/>
            </a:endParaRPr>
          </a:p>
        </p:txBody>
      </p:sp>
      <p:sp>
        <p:nvSpPr>
          <p:cNvPr id="1295" name="TextBox 32"/>
          <p:cNvSpPr/>
          <p:nvPr/>
        </p:nvSpPr>
        <p:spPr>
          <a:xfrm>
            <a:off x="841320" y="6254640"/>
            <a:ext cx="10560960" cy="118440"/>
          </a:xfrm>
          <a:prstGeom prst="rect">
            <a:avLst/>
          </a:prstGeom>
          <a:noFill/>
          <a:ln w="0">
            <a:noFill/>
          </a:ln>
        </p:spPr>
        <p:style>
          <a:lnRef idx="0"/>
          <a:fillRef idx="0"/>
          <a:effectRef idx="0"/>
          <a:fontRef idx="minor"/>
        </p:style>
        <p:txBody>
          <a:bodyPr lIns="0" rIns="0" tIns="0" bIns="0" anchor="t">
            <a:spAutoFit/>
          </a:bodyPr>
          <a:p>
            <a:pPr defTabSz="457200">
              <a:lnSpc>
                <a:spcPct val="106000"/>
              </a:lnSpc>
            </a:pPr>
            <a:endParaRPr b="0" lang="en-US" sz="1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7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9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29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Entradas digitales: asignación de fábrica y remapeo</a:t>
            </a:r>
            <a:endParaRPr b="0" lang="en-US" sz="2500" spc="-1" strike="noStrike">
              <a:solidFill>
                <a:srgbClr val="000000"/>
              </a:solidFill>
              <a:latin typeface="Arial"/>
            </a:endParaRPr>
          </a:p>
        </p:txBody>
      </p:sp>
      <p:sp>
        <p:nvSpPr>
          <p:cNvPr id="129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Se reasignan con </a:t>
            </a:r>
            <a:r>
              <a:rPr b="0" lang="en-US" sz="1250" spc="-1" strike="noStrike">
                <a:solidFill>
                  <a:srgbClr val="a9c6e0"/>
                </a:solidFill>
                <a:latin typeface="Consolas"/>
              </a:rPr>
              <a:t>Pn50A</a:t>
            </a:r>
            <a:r>
              <a:rPr b="0" lang="en-US" sz="1250" spc="-1" strike="noStrike">
                <a:solidFill>
                  <a:srgbClr val="a9c6e0"/>
                </a:solidFill>
                <a:latin typeface="Segoe UI"/>
              </a:rPr>
              <a:t> y </a:t>
            </a:r>
            <a:r>
              <a:rPr b="0" lang="en-US" sz="1250" spc="-1" strike="noStrike">
                <a:solidFill>
                  <a:srgbClr val="a9c6e0"/>
                </a:solidFill>
                <a:latin typeface="Consolas"/>
              </a:rPr>
              <a:t>Pn50B</a:t>
            </a:r>
            <a:r>
              <a:rPr b="0" lang="en-US" sz="1250" spc="-1" strike="noStrike">
                <a:solidFill>
                  <a:srgbClr val="a9c6e0"/>
                </a:solidFill>
                <a:latin typeface="Segoe UI"/>
              </a:rPr>
              <a:t> (selección de señales de entrada)</a:t>
            </a:r>
            <a:endParaRPr b="0" lang="en-US" sz="1250" spc="-1" strike="noStrike">
              <a:solidFill>
                <a:srgbClr val="000000"/>
              </a:solidFill>
              <a:latin typeface="Arial"/>
            </a:endParaRPr>
          </a:p>
        </p:txBody>
      </p:sp>
      <p:sp>
        <p:nvSpPr>
          <p:cNvPr id="130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30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30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70</a:t>
            </a:r>
            <a:endParaRPr b="0" lang="en-US" sz="900" spc="-1" strike="noStrike">
              <a:solidFill>
                <a:srgbClr val="000000"/>
              </a:solidFill>
              <a:latin typeface="Arial"/>
            </a:endParaRPr>
          </a:p>
        </p:txBody>
      </p:sp>
      <p:graphicFrame>
        <p:nvGraphicFramePr>
          <p:cNvPr id="1303" name="Table 8"/>
          <p:cNvGraphicFramePr/>
          <p:nvPr/>
        </p:nvGraphicFramePr>
        <p:xfrm>
          <a:off x="567000" y="1481400"/>
          <a:ext cx="11057400" cy="4462200"/>
        </p:xfrm>
        <a:graphic>
          <a:graphicData uri="http://schemas.openxmlformats.org/drawingml/2006/table">
            <a:tbl>
              <a:tblPr/>
              <a:tblGrid>
                <a:gridCol w="1935000"/>
                <a:gridCol w="3777840"/>
                <a:gridCol w="534456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Señal</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Qué hace</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Notas de uso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Consolas"/>
                        </a:rPr>
                        <a:t>/S-ON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Servo ON: habilita el par en el motor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Sin esta señal el eje está libre. Es la señal maestra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Consolas"/>
                        </a:rPr>
                        <a:t>P-OT</a:t>
                      </a:r>
                      <a:r>
                        <a:rPr b="0" lang="en-US" sz="950" spc="-1" strike="noStrike">
                          <a:solidFill>
                            <a:srgbClr val="1c2430"/>
                          </a:solidFill>
                          <a:latin typeface="Segoe UI"/>
                        </a:rPr>
                        <a:t> / </a:t>
                      </a:r>
                      <a:r>
                        <a:rPr b="0" lang="en-US" sz="950" spc="-1" strike="noStrike">
                          <a:solidFill>
                            <a:srgbClr val="1c2430"/>
                          </a:solidFill>
                          <a:latin typeface="Consolas"/>
                        </a:rPr>
                        <a:t>N-OT</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Finales de carrera de sobrerrecorrido en sentido positivo y negativo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Activas a nivel bajo</a:t>
                      </a:r>
                      <a:r>
                        <a:rPr b="0" lang="en-US" sz="950" spc="-1" strike="noStrike">
                          <a:solidFill>
                            <a:srgbClr val="1c2430"/>
                          </a:solidFill>
                          <a:latin typeface="Segoe UI"/>
                        </a:rPr>
                        <a:t>: si no se cablean, el drive las considera en alarma. Se pueden deshabilitar por parámetro (bajo tu responsabilidad)</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Consolas"/>
                        </a:rPr>
                        <a:t>/ALM-RST</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Reinicio de alarma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Sólo funciona si la causa ha desaparecido; algunas alarmas exigen ciclo de alimentación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Consolas"/>
                        </a:rPr>
                        <a:t>/P-CL</a:t>
                      </a:r>
                      <a:r>
                        <a:rPr b="0" lang="en-US" sz="950" spc="-1" strike="noStrike">
                          <a:solidFill>
                            <a:srgbClr val="1c2430"/>
                          </a:solidFill>
                          <a:latin typeface="Segoe UI"/>
                        </a:rPr>
                        <a:t> / </a:t>
                      </a:r>
                      <a:r>
                        <a:rPr b="0" lang="en-US" sz="950" spc="-1" strike="noStrike">
                          <a:solidFill>
                            <a:srgbClr val="1c2430"/>
                          </a:solidFill>
                          <a:latin typeface="Consolas"/>
                        </a:rPr>
                        <a:t>/N-CL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Limitación externa de par en cada sentido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Muy útil en apriete controlado y en topes mecánicos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Consolas"/>
                        </a:rPr>
                        <a:t>/P-CON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Conmutación de función (P/PI, modo de control, sentido…)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Su efecto depende de </a:t>
                      </a:r>
                      <a:r>
                        <a:rPr b="0" lang="en-US" sz="950" spc="-1" strike="noStrike">
                          <a:solidFill>
                            <a:srgbClr val="1c2430"/>
                          </a:solidFill>
                          <a:latin typeface="Consolas"/>
                        </a:rPr>
                        <a:t>Pn000</a:t>
                      </a:r>
                      <a:r>
                        <a:rPr b="0" lang="en-US" sz="950" spc="-1" strike="noStrike">
                          <a:solidFill>
                            <a:srgbClr val="1c2430"/>
                          </a:solidFill>
                          <a:latin typeface="Segoe UI"/>
                        </a:rPr>
                        <a:t> y del modo configurado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Consolas"/>
                        </a:rPr>
                        <a:t>/SPD-A</a:t>
                      </a:r>
                      <a:r>
                        <a:rPr b="0" lang="en-US" sz="950" spc="-1" strike="noStrike">
                          <a:solidFill>
                            <a:srgbClr val="1c2430"/>
                          </a:solidFill>
                          <a:latin typeface="Segoe UI"/>
                        </a:rPr>
                        <a:t> </a:t>
                      </a:r>
                      <a:r>
                        <a:rPr b="0" lang="en-US" sz="950" spc="-1" strike="noStrike">
                          <a:solidFill>
                            <a:srgbClr val="1c2430"/>
                          </a:solidFill>
                          <a:latin typeface="Consolas"/>
                        </a:rPr>
                        <a:t>/SPD-B</a:t>
                      </a:r>
                      <a:r>
                        <a:rPr b="0" lang="en-US" sz="950" spc="-1" strike="noStrike">
                          <a:solidFill>
                            <a:srgbClr val="1c2430"/>
                          </a:solidFill>
                          <a:latin typeface="Segoe UI"/>
                        </a:rPr>
                        <a:t> </a:t>
                      </a:r>
                      <a:r>
                        <a:rPr b="0" lang="en-US" sz="950" spc="-1" strike="noStrike">
                          <a:solidFill>
                            <a:srgbClr val="1c2430"/>
                          </a:solidFill>
                          <a:latin typeface="Consolas"/>
                        </a:rPr>
                        <a:t>/SPD-D</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Selección de velocidades internas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Permite trabajar sin consigna analógica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Consolas"/>
                        </a:rPr>
                        <a:t>/C-SEL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Conmutación de modo de control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En modos combinados (velocidad↔par, por ejemplo)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Consolas"/>
                        </a:rPr>
                        <a:t>/ZCLAMP</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Fijación a velocidad cero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Evita deriva con consigna analógica próxima a 0 V</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950" spc="-1" strike="noStrike">
                          <a:solidFill>
                            <a:srgbClr val="1c2430"/>
                          </a:solidFill>
                          <a:latin typeface="Consolas"/>
                        </a:rPr>
                        <a:t>/INHIBIT</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Inhibición del tren de pulsos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Congela la consigna de posición sin desactivar el servo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304"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Los parámetros de asignación usan dígitos hexadecimales por señal: cada dígito indica a qué terminal físico se asocia, o si la señal se fuerza a activa o inactiva permanentemente.</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0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307"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Salidas digitales y señales de estado</a:t>
            </a:r>
            <a:endParaRPr b="0" lang="en-US" sz="2500" spc="-1" strike="noStrike">
              <a:solidFill>
                <a:srgbClr val="000000"/>
              </a:solidFill>
              <a:latin typeface="Arial"/>
            </a:endParaRPr>
          </a:p>
        </p:txBody>
      </p:sp>
      <p:sp>
        <p:nvSpPr>
          <p:cNvPr id="130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Lo que el drive le cuenta al PLC</a:t>
            </a:r>
            <a:endParaRPr b="0" lang="en-US" sz="1250" spc="-1" strike="noStrike">
              <a:solidFill>
                <a:srgbClr val="000000"/>
              </a:solidFill>
              <a:latin typeface="Arial"/>
            </a:endParaRPr>
          </a:p>
        </p:txBody>
      </p:sp>
      <p:sp>
        <p:nvSpPr>
          <p:cNvPr id="130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31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31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71</a:t>
            </a:r>
            <a:endParaRPr b="0" lang="en-US" sz="900" spc="-1" strike="noStrike">
              <a:solidFill>
                <a:srgbClr val="000000"/>
              </a:solidFill>
              <a:latin typeface="Arial"/>
            </a:endParaRPr>
          </a:p>
        </p:txBody>
      </p:sp>
      <p:sp>
        <p:nvSpPr>
          <p:cNvPr id="1312" name="Rectangle 8"/>
          <p:cNvSpPr/>
          <p:nvPr/>
        </p:nvSpPr>
        <p:spPr>
          <a:xfrm>
            <a:off x="567000" y="1481400"/>
            <a:ext cx="5373000" cy="48459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13" name="Rectangle 9"/>
          <p:cNvSpPr/>
          <p:nvPr/>
        </p:nvSpPr>
        <p:spPr>
          <a:xfrm>
            <a:off x="567000" y="1481400"/>
            <a:ext cx="5373000" cy="4201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14"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Las salidas más utilizadas</a:t>
            </a:r>
            <a:endParaRPr b="0" lang="en-US" sz="1350" spc="-1" strike="noStrike">
              <a:solidFill>
                <a:srgbClr val="000000"/>
              </a:solidFill>
              <a:latin typeface="Arial"/>
            </a:endParaRPr>
          </a:p>
        </p:txBody>
      </p:sp>
      <p:sp>
        <p:nvSpPr>
          <p:cNvPr id="1315" name="TextBox 11"/>
          <p:cNvSpPr/>
          <p:nvPr/>
        </p:nvSpPr>
        <p:spPr>
          <a:xfrm>
            <a:off x="768240" y="2048400"/>
            <a:ext cx="4970880" cy="382572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50" spc="-1" strike="noStrike">
                <a:solidFill>
                  <a:srgbClr val="1c2430"/>
                </a:solidFill>
                <a:latin typeface="Consolas"/>
              </a:rPr>
              <a:t>ALM</a:t>
            </a:r>
            <a:r>
              <a:rPr b="1" lang="en-US" sz="1250" spc="-1" strike="noStrike">
                <a:solidFill>
                  <a:srgbClr val="1c2430"/>
                </a:solidFill>
                <a:latin typeface="Segoe UI"/>
              </a:rPr>
              <a:t> — Alarma. Contacto que se abre ante cualquier fallo grave. Se cablea en serie con la bobina del contactor de línea y se lleva al PLC.</a:t>
            </a:r>
            <a:endParaRPr b="0" lang="en-US" sz="12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50" spc="-1" strike="noStrike">
                <a:solidFill>
                  <a:srgbClr val="1c2430"/>
                </a:solidFill>
                <a:latin typeface="Consolas"/>
              </a:rPr>
              <a:t>/S-RDY</a:t>
            </a:r>
            <a:r>
              <a:rPr b="1" lang="en-US" sz="1250" spc="-1" strike="noStrike">
                <a:solidFill>
                  <a:srgbClr val="1c2430"/>
                </a:solidFill>
                <a:latin typeface="Segoe UI"/>
              </a:rPr>
              <a:t> — Servo listo: el drive tiene potencia y está preparado para recibir servo ON.</a:t>
            </a:r>
            <a:endParaRPr b="0" lang="en-US" sz="12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50" spc="-1" strike="noStrike">
                <a:solidFill>
                  <a:srgbClr val="1c2430"/>
                </a:solidFill>
                <a:latin typeface="Consolas"/>
              </a:rPr>
              <a:t>/COIN</a:t>
            </a:r>
            <a:r>
              <a:rPr b="1" lang="en-US" sz="1250" spc="-1" strike="noStrike">
                <a:solidFill>
                  <a:srgbClr val="1c2430"/>
                </a:solidFill>
                <a:latin typeface="Segoe UI"/>
              </a:rPr>
              <a:t> — Posicionado completado: la posición real está dentro de la ventana </a:t>
            </a:r>
            <a:r>
              <a:rPr b="1" lang="en-US" sz="1250" spc="-1" strike="noStrike">
                <a:solidFill>
                  <a:srgbClr val="1c2430"/>
                </a:solidFill>
                <a:latin typeface="Consolas"/>
              </a:rPr>
              <a:t>Pn522</a:t>
            </a:r>
            <a:r>
              <a:rPr b="1" lang="en-US" sz="1250" spc="-1" strike="noStrike">
                <a:solidFill>
                  <a:srgbClr val="1c2430"/>
                </a:solidFill>
                <a:latin typeface="Segoe UI"/>
              </a:rPr>
              <a:t>. Es la señal que espera el PLC para continuar el ciclo.</a:t>
            </a:r>
            <a:endParaRPr b="0" lang="en-US" sz="12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50" spc="-1" strike="noStrike">
                <a:solidFill>
                  <a:srgbClr val="1c2430"/>
                </a:solidFill>
                <a:latin typeface="Consolas"/>
              </a:rPr>
              <a:t>/V-CMP</a:t>
            </a:r>
            <a:r>
              <a:rPr b="1" lang="en-US" sz="1250" spc="-1" strike="noStrike">
                <a:solidFill>
                  <a:srgbClr val="1c2430"/>
                </a:solidFill>
                <a:latin typeface="Segoe UI"/>
              </a:rPr>
              <a:t> — Velocidad alcanzada (en modo velocidad).</a:t>
            </a:r>
            <a:endParaRPr b="0" lang="en-US" sz="12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50" spc="-1" strike="noStrike">
                <a:solidFill>
                  <a:srgbClr val="1c2430"/>
                </a:solidFill>
                <a:latin typeface="Consolas"/>
              </a:rPr>
              <a:t>/TGON</a:t>
            </a:r>
            <a:r>
              <a:rPr b="1" lang="en-US" sz="1250" spc="-1" strike="noStrike">
                <a:solidFill>
                  <a:srgbClr val="1c2430"/>
                </a:solidFill>
                <a:latin typeface="Segoe UI"/>
              </a:rPr>
              <a:t> — El motor está girando por encima del umbral </a:t>
            </a:r>
            <a:r>
              <a:rPr b="1" lang="en-US" sz="1250" spc="-1" strike="noStrike">
                <a:solidFill>
                  <a:srgbClr val="1c2430"/>
                </a:solidFill>
                <a:latin typeface="Consolas"/>
              </a:rPr>
              <a:t>Pn502</a:t>
            </a:r>
            <a:r>
              <a:rPr b="1" lang="en-US" sz="1250" spc="-1" strike="noStrike">
                <a:solidFill>
                  <a:srgbClr val="1c2430"/>
                </a:solidFill>
                <a:latin typeface="Segoe UI"/>
              </a:rPr>
              <a:t>.</a:t>
            </a:r>
            <a:endParaRPr b="0" lang="en-US" sz="12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50" spc="-1" strike="noStrike">
                <a:solidFill>
                  <a:srgbClr val="1c2430"/>
                </a:solidFill>
                <a:latin typeface="Consolas"/>
              </a:rPr>
              <a:t>/BK</a:t>
            </a:r>
            <a:r>
              <a:rPr b="1" lang="en-US" sz="1250" spc="-1" strike="noStrike">
                <a:solidFill>
                  <a:srgbClr val="1c2430"/>
                </a:solidFill>
                <a:latin typeface="Segoe UI"/>
              </a:rPr>
              <a:t> — Mando del freno de retención.</a:t>
            </a:r>
            <a:endParaRPr b="0" lang="en-US" sz="12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50" spc="-1" strike="noStrike">
                <a:solidFill>
                  <a:srgbClr val="1c2430"/>
                </a:solidFill>
                <a:latin typeface="Consolas"/>
              </a:rPr>
              <a:t>/WARN</a:t>
            </a:r>
            <a:r>
              <a:rPr b="1" lang="en-US" sz="1250" spc="-1" strike="noStrike">
                <a:solidFill>
                  <a:srgbClr val="1c2430"/>
                </a:solidFill>
                <a:latin typeface="Segoe UI"/>
              </a:rPr>
              <a:t> — Aviso previo a la alarma (sobrecarga, batería…).</a:t>
            </a:r>
            <a:endParaRPr b="0" lang="en-US" sz="12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50" spc="-1" strike="noStrike">
                <a:solidFill>
                  <a:srgbClr val="1c2430"/>
                </a:solidFill>
                <a:latin typeface="Consolas"/>
              </a:rPr>
              <a:t>/NEAR</a:t>
            </a:r>
            <a:r>
              <a:rPr b="1" lang="en-US" sz="1250" spc="-1" strike="noStrike">
                <a:solidFill>
                  <a:srgbClr val="1c2430"/>
                </a:solidFill>
                <a:latin typeface="Segoe UI"/>
              </a:rPr>
              <a:t> — Proximidad al destino: permite al PLC anticipar la siguiente acción.</a:t>
            </a:r>
            <a:endParaRPr b="0" lang="en-US" sz="1250" spc="-1" strike="noStrike">
              <a:solidFill>
                <a:srgbClr val="000000"/>
              </a:solidFill>
              <a:latin typeface="Arial"/>
            </a:endParaRPr>
          </a:p>
        </p:txBody>
      </p:sp>
      <p:sp>
        <p:nvSpPr>
          <p:cNvPr id="1316" name="Rectangle 12"/>
          <p:cNvSpPr/>
          <p:nvPr/>
        </p:nvSpPr>
        <p:spPr>
          <a:xfrm>
            <a:off x="6251400" y="1481400"/>
            <a:ext cx="5373000" cy="48459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17" name="Rectangle 13"/>
          <p:cNvSpPr/>
          <p:nvPr/>
        </p:nvSpPr>
        <p:spPr>
          <a:xfrm>
            <a:off x="6251400" y="1481400"/>
            <a:ext cx="5373000" cy="42012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18"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Cómo se configuran y se usan</a:t>
            </a:r>
            <a:endParaRPr b="0" lang="en-US" sz="1350" spc="-1" strike="noStrike">
              <a:solidFill>
                <a:srgbClr val="000000"/>
              </a:solidFill>
              <a:latin typeface="Arial"/>
            </a:endParaRPr>
          </a:p>
        </p:txBody>
      </p:sp>
      <p:sp>
        <p:nvSpPr>
          <p:cNvPr id="1319" name="TextBox 15"/>
          <p:cNvSpPr/>
          <p:nvPr/>
        </p:nvSpPr>
        <p:spPr>
          <a:xfrm>
            <a:off x="6452640" y="2048400"/>
            <a:ext cx="4970880" cy="385236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Se asignan a los terminales físicos con </a:t>
            </a:r>
            <a:r>
              <a:rPr b="1" lang="en-US" sz="1350" spc="-1" strike="noStrike">
                <a:solidFill>
                  <a:srgbClr val="1c2430"/>
                </a:solidFill>
                <a:latin typeface="Consolas"/>
              </a:rPr>
              <a:t>Pn50E</a:t>
            </a:r>
            <a:r>
              <a:rPr b="1" lang="en-US" sz="1350" spc="-1" strike="noStrike">
                <a:solidFill>
                  <a:srgbClr val="1c2430"/>
                </a:solidFill>
                <a:latin typeface="Segoe UI"/>
              </a:rPr>
              <a:t>, </a:t>
            </a:r>
            <a:r>
              <a:rPr b="1" lang="en-US" sz="1350" spc="-1" strike="noStrike">
                <a:solidFill>
                  <a:srgbClr val="1c2430"/>
                </a:solidFill>
                <a:latin typeface="Consolas"/>
              </a:rPr>
              <a:t>Pn50F</a:t>
            </a:r>
            <a:r>
              <a:rPr b="1" lang="en-US" sz="1350" spc="-1" strike="noStrike">
                <a:solidFill>
                  <a:srgbClr val="1c2430"/>
                </a:solidFill>
                <a:latin typeface="Segoe UI"/>
              </a:rPr>
              <a:t> y </a:t>
            </a:r>
            <a:r>
              <a:rPr b="1" lang="en-US" sz="1350" spc="-1" strike="noStrike">
                <a:solidFill>
                  <a:srgbClr val="1c2430"/>
                </a:solidFill>
                <a:latin typeface="Consolas"/>
              </a:rPr>
              <a:t>Pn510</a:t>
            </a:r>
            <a:r>
              <a:rPr b="1" lang="en-US" sz="1350" spc="-1" strike="noStrike">
                <a:solidFill>
                  <a:srgbClr val="1c2430"/>
                </a:solidFill>
                <a:latin typeface="Segoe UI"/>
              </a:rPr>
              <a:t>.</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Hay menos salidas físicas que señales disponibles: hay que elegir las tres o cuatro que realmente aporta valor cablear.</a:t>
            </a:r>
            <a:endParaRPr b="0" lang="en-US" sz="1350" spc="-1" strike="noStrike">
              <a:solidFill>
                <a:srgbClr val="000000"/>
              </a:solidFill>
              <a:latin typeface="Arial"/>
            </a:endParaRPr>
          </a:p>
          <a:p>
            <a:pPr defTabSz="457200">
              <a:lnSpc>
                <a:spcPct val="106000"/>
              </a:lnSpc>
              <a:spcBef>
                <a:spcPts val="799"/>
              </a:spcBef>
              <a:spcAft>
                <a:spcPts val="901"/>
              </a:spcAft>
              <a:tabLst>
                <a:tab algn="l" pos="0"/>
              </a:tabLst>
            </a:pPr>
            <a:r>
              <a:rPr b="1" lang="en-US" sz="1300" spc="-1" strike="noStrike">
                <a:solidFill>
                  <a:srgbClr val="1b5ea8"/>
                </a:solidFill>
                <a:latin typeface="Segoe UI Semibold"/>
              </a:rPr>
              <a:t>Selección típica en máquina automática</a:t>
            </a:r>
            <a:endParaRPr b="0" lang="en-US" sz="13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200" spc="-1" strike="noStrike">
                <a:solidFill>
                  <a:srgbClr val="333f4c"/>
                </a:solidFill>
                <a:latin typeface="Consolas"/>
              </a:rPr>
              <a:t>ALM</a:t>
            </a:r>
            <a:r>
              <a:rPr b="0" lang="en-US" sz="1200" spc="-1" strike="noStrike">
                <a:solidFill>
                  <a:srgbClr val="333f4c"/>
                </a:solidFill>
                <a:latin typeface="Segoe UI"/>
              </a:rPr>
              <a:t> al circuito de seguridad y al PLC.</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200" spc="-1" strike="noStrike">
                <a:solidFill>
                  <a:srgbClr val="333f4c"/>
                </a:solidFill>
                <a:latin typeface="Consolas"/>
              </a:rPr>
              <a:t>/COIN</a:t>
            </a:r>
            <a:r>
              <a:rPr b="0" lang="en-US" sz="1200" spc="-1" strike="noStrike">
                <a:solidFill>
                  <a:srgbClr val="333f4c"/>
                </a:solidFill>
                <a:latin typeface="Segoe UI"/>
              </a:rPr>
              <a:t> al PLC para encadenar el ciclo.</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200" spc="-1" strike="noStrike">
                <a:solidFill>
                  <a:srgbClr val="333f4c"/>
                </a:solidFill>
                <a:latin typeface="Consolas"/>
              </a:rPr>
              <a:t>/BK</a:t>
            </a:r>
            <a:r>
              <a:rPr b="0" lang="en-US" sz="1200" spc="-1" strike="noStrike">
                <a:solidFill>
                  <a:srgbClr val="333f4c"/>
                </a:solidFill>
                <a:latin typeface="Segoe UI"/>
              </a:rPr>
              <a:t> al relé del freno (si el eje lo lleva).</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200" spc="-1" strike="noStrike">
                <a:solidFill>
                  <a:srgbClr val="333f4c"/>
                </a:solidFill>
                <a:latin typeface="Consolas"/>
              </a:rPr>
              <a:t>/S-RDY</a:t>
            </a:r>
            <a:r>
              <a:rPr b="0" lang="en-US" sz="1200" spc="-1" strike="noStrike">
                <a:solidFill>
                  <a:srgbClr val="333f4c"/>
                </a:solidFill>
                <a:latin typeface="Segoe UI"/>
              </a:rPr>
              <a:t> al PLC para la lógica de arranque.</a:t>
            </a:r>
            <a:endParaRPr b="0" lang="en-US" sz="1200" spc="-1" strike="noStrike">
              <a:solidFill>
                <a:srgbClr val="000000"/>
              </a:solidFill>
              <a:latin typeface="Arial"/>
            </a:endParaRPr>
          </a:p>
          <a:p>
            <a:pPr defTabSz="457200">
              <a:lnSpc>
                <a:spcPct val="106000"/>
              </a:lnSpc>
              <a:spcBef>
                <a:spcPts val="799"/>
              </a:spcBef>
              <a:spcAft>
                <a:spcPts val="901"/>
              </a:spcAft>
              <a:tabLst>
                <a:tab algn="l" pos="0"/>
              </a:tabLst>
            </a:pPr>
            <a:r>
              <a:rPr b="1" lang="en-US" sz="1300" spc="-1" strike="noStrike">
                <a:solidFill>
                  <a:srgbClr val="1b5ea8"/>
                </a:solidFill>
                <a:latin typeface="Segoe UI Semibold"/>
              </a:rPr>
              <a:t>Cuidado con la ventana de posicionado</a:t>
            </a:r>
            <a:endParaRPr b="0" lang="en-US" sz="13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350" spc="-1" strike="noStrike">
                <a:solidFill>
                  <a:srgbClr val="1c2430"/>
                </a:solidFill>
                <a:latin typeface="Consolas"/>
              </a:rPr>
              <a:t>Pn522</a:t>
            </a:r>
            <a:r>
              <a:rPr b="1" lang="en-US" sz="1350" spc="-1" strike="noStrike">
                <a:solidFill>
                  <a:srgbClr val="1c2430"/>
                </a:solidFill>
                <a:latin typeface="Segoe UI"/>
              </a:rPr>
              <a:t> demasiado grande da un </a:t>
            </a:r>
            <a:r>
              <a:rPr b="1" lang="en-US" sz="1350" spc="-1" strike="noStrike">
                <a:solidFill>
                  <a:srgbClr val="1c2430"/>
                </a:solidFill>
                <a:latin typeface="Consolas"/>
              </a:rPr>
              <a:t>/COIN</a:t>
            </a:r>
            <a:r>
              <a:rPr b="1" lang="en-US" sz="1350" spc="-1" strike="noStrike">
                <a:solidFill>
                  <a:srgbClr val="1c2430"/>
                </a:solidFill>
                <a:latin typeface="Segoe UI"/>
              </a:rPr>
              <a:t> prematuro (la máquina avanza antes de tiempo); demasiado pequeña, y </a:t>
            </a:r>
            <a:r>
              <a:rPr b="1" lang="en-US" sz="1350" spc="-1" strike="noStrike">
                <a:solidFill>
                  <a:srgbClr val="1c2430"/>
                </a:solidFill>
                <a:latin typeface="Consolas"/>
              </a:rPr>
              <a:t>/COIN</a:t>
            </a:r>
            <a:r>
              <a:rPr b="1" lang="en-US" sz="1350" spc="-1" strike="noStrike">
                <a:solidFill>
                  <a:srgbClr val="1c2430"/>
                </a:solidFill>
                <a:latin typeface="Segoe UI"/>
              </a:rPr>
              <a:t> no llega nunca y el ciclo se cuelga.</a:t>
            </a:r>
            <a:endParaRPr b="0" lang="en-US" sz="1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0"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21"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322"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Consigna analógica: velocidad y par</a:t>
            </a:r>
            <a:endParaRPr b="0" lang="en-US" sz="2500" spc="-1" strike="noStrike">
              <a:solidFill>
                <a:srgbClr val="000000"/>
              </a:solidFill>
              <a:latin typeface="Arial"/>
            </a:endParaRPr>
          </a:p>
        </p:txBody>
      </p:sp>
      <p:sp>
        <p:nvSpPr>
          <p:cNvPr id="1323"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El método clásico, todavía muy vivo en máquina-herramienta</a:t>
            </a:r>
            <a:endParaRPr b="0" lang="en-US" sz="1250" spc="-1" strike="noStrike">
              <a:solidFill>
                <a:srgbClr val="000000"/>
              </a:solidFill>
              <a:latin typeface="Arial"/>
            </a:endParaRPr>
          </a:p>
        </p:txBody>
      </p:sp>
      <p:sp>
        <p:nvSpPr>
          <p:cNvPr id="1324"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325"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326"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72</a:t>
            </a:r>
            <a:endParaRPr b="0" lang="en-US" sz="900" spc="-1" strike="noStrike">
              <a:solidFill>
                <a:srgbClr val="000000"/>
              </a:solidFill>
              <a:latin typeface="Arial"/>
            </a:endParaRPr>
          </a:p>
        </p:txBody>
      </p:sp>
      <p:sp>
        <p:nvSpPr>
          <p:cNvPr id="1327" name="Rectangle 8"/>
          <p:cNvSpPr/>
          <p:nvPr/>
        </p:nvSpPr>
        <p:spPr>
          <a:xfrm>
            <a:off x="5670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28" name="Rectangle 9"/>
          <p:cNvSpPr/>
          <p:nvPr/>
        </p:nvSpPr>
        <p:spPr>
          <a:xfrm>
            <a:off x="567000" y="1481400"/>
            <a:ext cx="5373000" cy="42012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29"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Cómo funciona</a:t>
            </a:r>
            <a:endParaRPr b="0" lang="en-US" sz="1350" spc="-1" strike="noStrike">
              <a:solidFill>
                <a:srgbClr val="000000"/>
              </a:solidFill>
              <a:latin typeface="Arial"/>
            </a:endParaRPr>
          </a:p>
        </p:txBody>
      </p:sp>
      <p:sp>
        <p:nvSpPr>
          <p:cNvPr id="1330" name="TextBox 11"/>
          <p:cNvSpPr/>
          <p:nvPr/>
        </p:nvSpPr>
        <p:spPr>
          <a:xfrm>
            <a:off x="768240" y="2048400"/>
            <a:ext cx="4970880" cy="263628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Dos entradas diferenciales de tensión: </a:t>
            </a:r>
            <a:r>
              <a:rPr b="1" lang="en-US" sz="1350" spc="-1" strike="noStrike">
                <a:solidFill>
                  <a:srgbClr val="1c2430"/>
                </a:solidFill>
                <a:latin typeface="Consolas"/>
              </a:rPr>
              <a:t>V-REF</a:t>
            </a:r>
            <a:r>
              <a:rPr b="1" lang="en-US" sz="1350" spc="-1" strike="noStrike">
                <a:solidFill>
                  <a:srgbClr val="1c2430"/>
                </a:solidFill>
                <a:latin typeface="Segoe UI"/>
              </a:rPr>
              <a:t> (velocidad) y </a:t>
            </a:r>
            <a:r>
              <a:rPr b="1" lang="en-US" sz="1350" spc="-1" strike="noStrike">
                <a:solidFill>
                  <a:srgbClr val="1c2430"/>
                </a:solidFill>
                <a:latin typeface="Consolas"/>
              </a:rPr>
              <a:t>T-REF</a:t>
            </a:r>
            <a:r>
              <a:rPr b="1" lang="en-US" sz="1350" spc="-1" strike="noStrike">
                <a:solidFill>
                  <a:srgbClr val="1c2430"/>
                </a:solidFill>
                <a:latin typeface="Segoe UI"/>
              </a:rPr>
              <a:t> (par), con rango típico ±10 V.</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El signo de la tensión define el sentido de giro.</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Escalado de velocidad: </a:t>
            </a:r>
            <a:r>
              <a:rPr b="1" lang="en-US" sz="1350" spc="-1" strike="noStrike">
                <a:solidFill>
                  <a:srgbClr val="1c2430"/>
                </a:solidFill>
                <a:latin typeface="Consolas"/>
              </a:rPr>
              <a:t>Pn300</a:t>
            </a:r>
            <a:r>
              <a:rPr b="1" lang="en-US" sz="1350" spc="-1" strike="noStrike">
                <a:solidFill>
                  <a:srgbClr val="1c2430"/>
                </a:solidFill>
                <a:latin typeface="Segoe UI"/>
              </a:rPr>
              <a:t> fija a cuántas rpm equivale la tensión nominal de consigna.</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Escalado de par: </a:t>
            </a:r>
            <a:r>
              <a:rPr b="1" lang="en-US" sz="1350" spc="-1" strike="noStrike">
                <a:solidFill>
                  <a:srgbClr val="1c2430"/>
                </a:solidFill>
                <a:latin typeface="Consolas"/>
              </a:rPr>
              <a:t>Pn400</a:t>
            </a:r>
            <a:r>
              <a:rPr b="1" lang="en-US" sz="1350" spc="-1" strike="noStrike">
                <a:solidFill>
                  <a:srgbClr val="1c2430"/>
                </a:solidFill>
                <a:latin typeface="Segoe UI"/>
              </a:rPr>
              <a:t> fija a qué porcentaje de par equivale la tensión nominal.</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Ajuste de offset: siempre hay unos milivoltios de deriva. Se corrigen con la función de ajuste automático de offset o manualmente por parámetro.</a:t>
            </a:r>
            <a:endParaRPr b="0" lang="en-US" sz="1350" spc="-1" strike="noStrike">
              <a:solidFill>
                <a:srgbClr val="000000"/>
              </a:solidFill>
              <a:latin typeface="Arial"/>
            </a:endParaRPr>
          </a:p>
        </p:txBody>
      </p:sp>
      <p:sp>
        <p:nvSpPr>
          <p:cNvPr id="1331" name="Rectangle 12"/>
          <p:cNvSpPr/>
          <p:nvPr/>
        </p:nvSpPr>
        <p:spPr>
          <a:xfrm>
            <a:off x="62514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32" name="Rectangle 13"/>
          <p:cNvSpPr/>
          <p:nvPr/>
        </p:nvSpPr>
        <p:spPr>
          <a:xfrm>
            <a:off x="6251400" y="1481400"/>
            <a:ext cx="5373000" cy="4201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33"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Ventajas, inconvenientes y trucos</a:t>
            </a:r>
            <a:endParaRPr b="0" lang="en-US" sz="1350" spc="-1" strike="noStrike">
              <a:solidFill>
                <a:srgbClr val="000000"/>
              </a:solidFill>
              <a:latin typeface="Arial"/>
            </a:endParaRPr>
          </a:p>
        </p:txBody>
      </p:sp>
      <p:sp>
        <p:nvSpPr>
          <p:cNvPr id="1334" name="TextBox 15"/>
          <p:cNvSpPr/>
          <p:nvPr/>
        </p:nvSpPr>
        <p:spPr>
          <a:xfrm>
            <a:off x="6452640" y="2048400"/>
            <a:ext cx="4970880" cy="290484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050" spc="-1" strike="noStrike">
                <a:solidFill>
                  <a:srgbClr val="1b5ea8"/>
                </a:solidFill>
                <a:latin typeface="Segoe UI Semibold"/>
              </a:rPr>
              <a:t>A favor</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50" spc="-1" strike="noStrike">
                <a:solidFill>
                  <a:srgbClr val="333f4c"/>
                </a:solidFill>
                <a:latin typeface="Segoe UI"/>
              </a:rPr>
              <a:t>Respuesta inmediata, sin latencia de red. Es la razón de que sobreviva en máquina-herramienta.</a:t>
            </a:r>
            <a:endParaRPr b="0" lang="en-US" sz="9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50" spc="-1" strike="noStrike">
                <a:solidFill>
                  <a:srgbClr val="333f4c"/>
                </a:solidFill>
                <a:latin typeface="Segoe UI"/>
              </a:rPr>
              <a:t>Compatible con cualquier CNC o controlador antiguo.</a:t>
            </a:r>
            <a:endParaRPr b="0" lang="en-US" sz="950" spc="-1" strike="noStrike">
              <a:solidFill>
                <a:srgbClr val="000000"/>
              </a:solidFill>
              <a:latin typeface="Arial"/>
            </a:endParaRPr>
          </a:p>
          <a:p>
            <a:pPr defTabSz="457200">
              <a:lnSpc>
                <a:spcPct val="106000"/>
              </a:lnSpc>
              <a:spcBef>
                <a:spcPts val="799"/>
              </a:spcBef>
              <a:spcAft>
                <a:spcPts val="901"/>
              </a:spcAft>
              <a:tabLst>
                <a:tab algn="l" pos="0"/>
              </a:tabLst>
            </a:pPr>
            <a:r>
              <a:rPr b="1" lang="en-US" sz="1050" spc="-1" strike="noStrike">
                <a:solidFill>
                  <a:srgbClr val="1b5ea8"/>
                </a:solidFill>
                <a:latin typeface="Segoe UI Semibold"/>
              </a:rPr>
              <a:t>En contra</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50" spc="-1" strike="noStrike">
                <a:solidFill>
                  <a:srgbClr val="333f4c"/>
                </a:solidFill>
                <a:latin typeface="Segoe UI"/>
              </a:rPr>
              <a:t>Sensible al ruido: cable apantallado obligatorio y masa de señal bien referenciada.</a:t>
            </a:r>
            <a:endParaRPr b="0" lang="en-US" sz="9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50" spc="-1" strike="noStrike">
                <a:solidFill>
                  <a:srgbClr val="333f4c"/>
                </a:solidFill>
                <a:latin typeface="Segoe UI"/>
              </a:rPr>
              <a:t>La deriva térmica del convertidor del controlador se traduce en movimiento lento del eje con consigna cero.</a:t>
            </a:r>
            <a:endParaRPr b="0" lang="en-US" sz="950" spc="-1" strike="noStrike">
              <a:solidFill>
                <a:srgbClr val="000000"/>
              </a:solidFill>
              <a:latin typeface="Arial"/>
            </a:endParaRPr>
          </a:p>
          <a:p>
            <a:pPr defTabSz="457200">
              <a:lnSpc>
                <a:spcPct val="106000"/>
              </a:lnSpc>
              <a:spcBef>
                <a:spcPts val="799"/>
              </a:spcBef>
              <a:spcAft>
                <a:spcPts val="901"/>
              </a:spcAft>
              <a:tabLst>
                <a:tab algn="l" pos="0"/>
              </a:tabLst>
            </a:pPr>
            <a:r>
              <a:rPr b="1" lang="en-US" sz="1050" spc="-1" strike="noStrike">
                <a:solidFill>
                  <a:srgbClr val="1b5ea8"/>
                </a:solidFill>
                <a:latin typeface="Segoe UI Semibold"/>
              </a:rPr>
              <a:t>Truco imprescindible</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50" spc="-1" strike="noStrike">
                <a:solidFill>
                  <a:srgbClr val="333f4c"/>
                </a:solidFill>
                <a:latin typeface="Segoe UI"/>
              </a:rPr>
              <a:t>Usa </a:t>
            </a:r>
            <a:r>
              <a:rPr b="0" lang="en-US" sz="950" spc="-1" strike="noStrike">
                <a:solidFill>
                  <a:srgbClr val="333f4c"/>
                </a:solidFill>
                <a:latin typeface="Consolas"/>
              </a:rPr>
              <a:t>/ZCLAMP</a:t>
            </a:r>
            <a:r>
              <a:rPr b="0" lang="en-US" sz="950" spc="-1" strike="noStrike">
                <a:solidFill>
                  <a:srgbClr val="333f4c"/>
                </a:solidFill>
                <a:latin typeface="Segoe UI"/>
              </a:rPr>
              <a:t> o una banda muerta para que el eje no derive con consigna próxima a cero.</a:t>
            </a:r>
            <a:endParaRPr b="0" lang="en-US" sz="9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50" spc="-1" strike="noStrike">
                <a:solidFill>
                  <a:srgbClr val="333f4c"/>
                </a:solidFill>
                <a:latin typeface="Segoe UI"/>
              </a:rPr>
              <a:t>Verifica el offset </a:t>
            </a:r>
            <a:r>
              <a:rPr b="1" lang="en-US" sz="950" spc="-1" strike="noStrike">
                <a:solidFill>
                  <a:srgbClr val="333f4c"/>
                </a:solidFill>
                <a:latin typeface="Segoe UI"/>
              </a:rPr>
              <a:t>en frío y en caliente</a:t>
            </a:r>
            <a:r>
              <a:rPr b="0" lang="en-US" sz="950" spc="-1" strike="noStrike">
                <a:solidFill>
                  <a:srgbClr val="333f4c"/>
                </a:solidFill>
                <a:latin typeface="Segoe UI"/>
              </a:rPr>
              <a:t>: cambia.</a:t>
            </a:r>
            <a:endParaRPr b="0" lang="en-US" sz="950" spc="-1" strike="noStrike">
              <a:solidFill>
                <a:srgbClr val="000000"/>
              </a:solidFill>
              <a:latin typeface="Arial"/>
            </a:endParaRPr>
          </a:p>
        </p:txBody>
      </p:sp>
      <p:sp>
        <p:nvSpPr>
          <p:cNvPr id="1335" name="Rectangle 16"/>
          <p:cNvSpPr/>
          <p:nvPr/>
        </p:nvSpPr>
        <p:spPr>
          <a:xfrm>
            <a:off x="567000" y="5459040"/>
            <a:ext cx="11057400" cy="86832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36" name="Rectangle 17"/>
          <p:cNvSpPr/>
          <p:nvPr/>
        </p:nvSpPr>
        <p:spPr>
          <a:xfrm>
            <a:off x="567000" y="5459040"/>
            <a:ext cx="68400" cy="8683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37" name="TextBox 18"/>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1b5ea8"/>
                </a:solidFill>
                <a:latin typeface="Segoe UI Semibold"/>
              </a:rPr>
              <a:t>En modo analógico de velocidad, el lazo de posición lo cierra el CNC</a:t>
            </a:r>
            <a:endParaRPr b="0" lang="en-US" sz="1200" spc="-1" strike="noStrike">
              <a:solidFill>
                <a:srgbClr val="000000"/>
              </a:solidFill>
              <a:latin typeface="Arial"/>
            </a:endParaRPr>
          </a:p>
        </p:txBody>
      </p:sp>
      <p:sp>
        <p:nvSpPr>
          <p:cNvPr id="1338" name="TextBox 19"/>
          <p:cNvSpPr/>
          <p:nvPr/>
        </p:nvSpPr>
        <p:spPr>
          <a:xfrm>
            <a:off x="841320" y="5870520"/>
            <a:ext cx="10554480" cy="18612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El drive sólo regula velocidad. La precisión de posicionado depende entonces del CNC y de la calidad de la señal analógica, no del SERVOPACK.</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4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341"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Consigna por tren de pulsos y salida de encoder</a:t>
            </a:r>
            <a:endParaRPr b="0" lang="en-US" sz="2500" spc="-1" strike="noStrike">
              <a:solidFill>
                <a:srgbClr val="000000"/>
              </a:solidFill>
              <a:latin typeface="Arial"/>
            </a:endParaRPr>
          </a:p>
        </p:txBody>
      </p:sp>
      <p:sp>
        <p:nvSpPr>
          <p:cNvPr id="134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El método más extendido en máquina automática sin bus</a:t>
            </a:r>
            <a:endParaRPr b="0" lang="en-US" sz="1250" spc="-1" strike="noStrike">
              <a:solidFill>
                <a:srgbClr val="000000"/>
              </a:solidFill>
              <a:latin typeface="Arial"/>
            </a:endParaRPr>
          </a:p>
        </p:txBody>
      </p:sp>
      <p:sp>
        <p:nvSpPr>
          <p:cNvPr id="134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34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34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73</a:t>
            </a:r>
            <a:endParaRPr b="0" lang="en-US" sz="900" spc="-1" strike="noStrike">
              <a:solidFill>
                <a:srgbClr val="000000"/>
              </a:solidFill>
              <a:latin typeface="Arial"/>
            </a:endParaRPr>
          </a:p>
        </p:txBody>
      </p:sp>
      <p:sp>
        <p:nvSpPr>
          <p:cNvPr id="1346" name="Rectangle 8"/>
          <p:cNvSpPr/>
          <p:nvPr/>
        </p:nvSpPr>
        <p:spPr>
          <a:xfrm>
            <a:off x="567000" y="1627560"/>
            <a:ext cx="5486040" cy="23313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47" name="TextBox 9"/>
          <p:cNvSpPr/>
          <p:nvPr/>
        </p:nvSpPr>
        <p:spPr>
          <a:xfrm>
            <a:off x="804600" y="1774080"/>
            <a:ext cx="502884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50" spc="-1" strike="noStrike">
                <a:solidFill>
                  <a:srgbClr val="0b2545"/>
                </a:solidFill>
                <a:latin typeface="Segoe UI"/>
              </a:rPr>
              <a:t>Entrada: </a:t>
            </a:r>
            <a:r>
              <a:rPr b="1" lang="en-US" sz="1250" spc="-1" strike="noStrike">
                <a:solidFill>
                  <a:srgbClr val="0b2545"/>
                </a:solidFill>
                <a:latin typeface="Consolas"/>
              </a:rPr>
              <a:t>PULS</a:t>
            </a:r>
            <a:r>
              <a:rPr b="1" lang="en-US" sz="1250" spc="-1" strike="noStrike">
                <a:solidFill>
                  <a:srgbClr val="0b2545"/>
                </a:solidFill>
                <a:latin typeface="Segoe UI"/>
              </a:rPr>
              <a:t> / </a:t>
            </a:r>
            <a:r>
              <a:rPr b="1" lang="en-US" sz="1250" spc="-1" strike="noStrike">
                <a:solidFill>
                  <a:srgbClr val="0b2545"/>
                </a:solidFill>
                <a:latin typeface="Consolas"/>
              </a:rPr>
              <a:t>SIGN</a:t>
            </a:r>
            <a:r>
              <a:rPr b="1" lang="en-US" sz="1250" spc="-1" strike="noStrike">
                <a:solidFill>
                  <a:srgbClr val="0b2545"/>
                </a:solidFill>
                <a:latin typeface="Segoe UI"/>
              </a:rPr>
              <a:t>  (</a:t>
            </a:r>
            <a:r>
              <a:rPr b="1" lang="en-US" sz="1250" spc="-1" strike="noStrike">
                <a:solidFill>
                  <a:srgbClr val="0b2545"/>
                </a:solidFill>
                <a:latin typeface="Consolas"/>
              </a:rPr>
              <a:t>Pn200.0</a:t>
            </a:r>
            <a:r>
              <a:rPr b="1" lang="en-US" sz="1250" spc="-1" strike="noStrike">
                <a:solidFill>
                  <a:srgbClr val="0b2545"/>
                </a:solidFill>
                <a:latin typeface="Segoe UI"/>
              </a:rPr>
              <a:t> selecciona el formato)</a:t>
            </a:r>
            <a:endParaRPr b="0" lang="en-US" sz="1250" spc="-1" strike="noStrike">
              <a:solidFill>
                <a:srgbClr val="000000"/>
              </a:solidFill>
              <a:latin typeface="Arial"/>
            </a:endParaRPr>
          </a:p>
        </p:txBody>
      </p:sp>
      <p:sp>
        <p:nvSpPr>
          <p:cNvPr id="1348" name="Rectangle 10"/>
          <p:cNvSpPr/>
          <p:nvPr/>
        </p:nvSpPr>
        <p:spPr>
          <a:xfrm>
            <a:off x="804600" y="2176200"/>
            <a:ext cx="5028840" cy="52992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49" name="Rectangle 11"/>
          <p:cNvSpPr/>
          <p:nvPr/>
        </p:nvSpPr>
        <p:spPr>
          <a:xfrm>
            <a:off x="804600" y="2176200"/>
            <a:ext cx="54360" cy="5299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50" name="TextBox 12"/>
          <p:cNvSpPr/>
          <p:nvPr/>
        </p:nvSpPr>
        <p:spPr>
          <a:xfrm>
            <a:off x="987480" y="2231280"/>
            <a:ext cx="4663080" cy="1602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050" spc="-1" strike="noStrike">
                <a:solidFill>
                  <a:srgbClr val="1b5ea8"/>
                </a:solidFill>
                <a:latin typeface="Segoe UI"/>
              </a:rPr>
              <a:t>Pulso + sentido</a:t>
            </a:r>
            <a:endParaRPr b="0" lang="en-US" sz="1050" spc="-1" strike="noStrike">
              <a:solidFill>
                <a:srgbClr val="000000"/>
              </a:solidFill>
              <a:latin typeface="Arial"/>
            </a:endParaRPr>
          </a:p>
        </p:txBody>
      </p:sp>
      <p:sp>
        <p:nvSpPr>
          <p:cNvPr id="1351" name="TextBox 13"/>
          <p:cNvSpPr/>
          <p:nvPr/>
        </p:nvSpPr>
        <p:spPr>
          <a:xfrm>
            <a:off x="987480" y="2450520"/>
            <a:ext cx="4663080" cy="289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Un tren de pulsos marca el movimiento y una señal estática el sentido. El más habitual.</a:t>
            </a:r>
            <a:endParaRPr b="0" lang="en-US" sz="950" spc="-1" strike="noStrike">
              <a:solidFill>
                <a:srgbClr val="000000"/>
              </a:solidFill>
              <a:latin typeface="Arial"/>
            </a:endParaRPr>
          </a:p>
        </p:txBody>
      </p:sp>
      <p:sp>
        <p:nvSpPr>
          <p:cNvPr id="1352" name="Rectangle 14"/>
          <p:cNvSpPr/>
          <p:nvPr/>
        </p:nvSpPr>
        <p:spPr>
          <a:xfrm>
            <a:off x="804600" y="2761560"/>
            <a:ext cx="5028840" cy="52992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53" name="Rectangle 15"/>
          <p:cNvSpPr/>
          <p:nvPr/>
        </p:nvSpPr>
        <p:spPr>
          <a:xfrm>
            <a:off x="804600" y="2761560"/>
            <a:ext cx="54360" cy="5299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54" name="TextBox 16"/>
          <p:cNvSpPr/>
          <p:nvPr/>
        </p:nvSpPr>
        <p:spPr>
          <a:xfrm>
            <a:off x="987480" y="2816280"/>
            <a:ext cx="4663080" cy="1602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050" spc="-1" strike="noStrike">
                <a:solidFill>
                  <a:srgbClr val="1b5ea8"/>
                </a:solidFill>
                <a:latin typeface="Segoe UI"/>
              </a:rPr>
              <a:t>CW / CCW</a:t>
            </a:r>
            <a:endParaRPr b="0" lang="en-US" sz="1050" spc="-1" strike="noStrike">
              <a:solidFill>
                <a:srgbClr val="000000"/>
              </a:solidFill>
              <a:latin typeface="Arial"/>
            </a:endParaRPr>
          </a:p>
        </p:txBody>
      </p:sp>
      <p:sp>
        <p:nvSpPr>
          <p:cNvPr id="1355" name="TextBox 17"/>
          <p:cNvSpPr/>
          <p:nvPr/>
        </p:nvSpPr>
        <p:spPr>
          <a:xfrm>
            <a:off x="987480" y="3035880"/>
            <a:ext cx="46630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Dos trenes independientes, uno por sentido de giro.</a:t>
            </a:r>
            <a:endParaRPr b="0" lang="en-US" sz="950" spc="-1" strike="noStrike">
              <a:solidFill>
                <a:srgbClr val="000000"/>
              </a:solidFill>
              <a:latin typeface="Arial"/>
            </a:endParaRPr>
          </a:p>
        </p:txBody>
      </p:sp>
      <p:sp>
        <p:nvSpPr>
          <p:cNvPr id="1356" name="Rectangle 18"/>
          <p:cNvSpPr/>
          <p:nvPr/>
        </p:nvSpPr>
        <p:spPr>
          <a:xfrm>
            <a:off x="804600" y="3346560"/>
            <a:ext cx="5028840" cy="52992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57" name="Rectangle 19"/>
          <p:cNvSpPr/>
          <p:nvPr/>
        </p:nvSpPr>
        <p:spPr>
          <a:xfrm>
            <a:off x="804600" y="3346560"/>
            <a:ext cx="54360" cy="5299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58" name="TextBox 20"/>
          <p:cNvSpPr/>
          <p:nvPr/>
        </p:nvSpPr>
        <p:spPr>
          <a:xfrm>
            <a:off x="987480" y="3401640"/>
            <a:ext cx="4663080" cy="1602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050" spc="-1" strike="noStrike">
                <a:solidFill>
                  <a:srgbClr val="1b5ea8"/>
                </a:solidFill>
                <a:latin typeface="Segoe UI"/>
              </a:rPr>
              <a:t>Cuadratura A/B (×1, ×2, ×4)</a:t>
            </a:r>
            <a:endParaRPr b="0" lang="en-US" sz="1050" spc="-1" strike="noStrike">
              <a:solidFill>
                <a:srgbClr val="000000"/>
              </a:solidFill>
              <a:latin typeface="Arial"/>
            </a:endParaRPr>
          </a:p>
        </p:txBody>
      </p:sp>
      <p:sp>
        <p:nvSpPr>
          <p:cNvPr id="1359" name="TextBox 21"/>
          <p:cNvSpPr/>
          <p:nvPr/>
        </p:nvSpPr>
        <p:spPr>
          <a:xfrm>
            <a:off x="987480" y="3620880"/>
            <a:ext cx="46630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Dos señales desfasadas 90°; permite multiplicar la resolución por 4.</a:t>
            </a:r>
            <a:endParaRPr b="0" lang="en-US" sz="950" spc="-1" strike="noStrike">
              <a:solidFill>
                <a:srgbClr val="000000"/>
              </a:solidFill>
              <a:latin typeface="Arial"/>
            </a:endParaRPr>
          </a:p>
        </p:txBody>
      </p:sp>
      <p:sp>
        <p:nvSpPr>
          <p:cNvPr id="1360" name="Rectangle 22"/>
          <p:cNvSpPr/>
          <p:nvPr/>
        </p:nvSpPr>
        <p:spPr>
          <a:xfrm>
            <a:off x="6327720" y="1627560"/>
            <a:ext cx="5303160" cy="23313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61" name="TextBox 23"/>
          <p:cNvSpPr/>
          <p:nvPr/>
        </p:nvSpPr>
        <p:spPr>
          <a:xfrm>
            <a:off x="6565320" y="1774080"/>
            <a:ext cx="484596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50" spc="-1" strike="noStrike">
                <a:solidFill>
                  <a:srgbClr val="0b2545"/>
                </a:solidFill>
                <a:latin typeface="Segoe UI"/>
              </a:rPr>
              <a:t>Salida: </a:t>
            </a:r>
            <a:r>
              <a:rPr b="1" lang="en-US" sz="1250" spc="-1" strike="noStrike">
                <a:solidFill>
                  <a:srgbClr val="0b2545"/>
                </a:solidFill>
                <a:latin typeface="Consolas"/>
              </a:rPr>
              <a:t>PAO</a:t>
            </a:r>
            <a:r>
              <a:rPr b="1" lang="en-US" sz="1250" spc="-1" strike="noStrike">
                <a:solidFill>
                  <a:srgbClr val="0b2545"/>
                </a:solidFill>
                <a:latin typeface="Segoe UI"/>
              </a:rPr>
              <a:t> / </a:t>
            </a:r>
            <a:r>
              <a:rPr b="1" lang="en-US" sz="1250" spc="-1" strike="noStrike">
                <a:solidFill>
                  <a:srgbClr val="0b2545"/>
                </a:solidFill>
                <a:latin typeface="Consolas"/>
              </a:rPr>
              <a:t>PBO</a:t>
            </a:r>
            <a:r>
              <a:rPr b="1" lang="en-US" sz="1250" spc="-1" strike="noStrike">
                <a:solidFill>
                  <a:srgbClr val="0b2545"/>
                </a:solidFill>
                <a:latin typeface="Segoe UI"/>
              </a:rPr>
              <a:t> / </a:t>
            </a:r>
            <a:r>
              <a:rPr b="1" lang="en-US" sz="1250" spc="-1" strike="noStrike">
                <a:solidFill>
                  <a:srgbClr val="0b2545"/>
                </a:solidFill>
                <a:latin typeface="Consolas"/>
              </a:rPr>
              <a:t>PCO</a:t>
            </a:r>
            <a:r>
              <a:rPr b="1" lang="en-US" sz="1250" spc="-1" strike="noStrike">
                <a:solidFill>
                  <a:srgbClr val="0b2545"/>
                </a:solidFill>
                <a:latin typeface="Segoe UI"/>
              </a:rPr>
              <a:t>  (</a:t>
            </a:r>
            <a:r>
              <a:rPr b="1" lang="en-US" sz="1250" spc="-1" strike="noStrike">
                <a:solidFill>
                  <a:srgbClr val="0b2545"/>
                </a:solidFill>
                <a:latin typeface="Consolas"/>
              </a:rPr>
              <a:t>Pn212</a:t>
            </a:r>
            <a:r>
              <a:rPr b="1" lang="en-US" sz="1250" spc="-1" strike="noStrike">
                <a:solidFill>
                  <a:srgbClr val="0b2545"/>
                </a:solidFill>
                <a:latin typeface="Segoe UI"/>
              </a:rPr>
              <a:t> fija la resolución)</a:t>
            </a:r>
            <a:endParaRPr b="0" lang="en-US" sz="1250" spc="-1" strike="noStrike">
              <a:solidFill>
                <a:srgbClr val="000000"/>
              </a:solidFill>
              <a:latin typeface="Arial"/>
            </a:endParaRPr>
          </a:p>
        </p:txBody>
      </p:sp>
      <p:sp>
        <p:nvSpPr>
          <p:cNvPr id="1362" name="TextBox 24"/>
          <p:cNvSpPr/>
          <p:nvPr/>
        </p:nvSpPr>
        <p:spPr>
          <a:xfrm>
            <a:off x="6565320" y="2176200"/>
            <a:ext cx="4845960" cy="1617480"/>
          </a:xfrm>
          <a:prstGeom prst="rect">
            <a:avLst/>
          </a:prstGeom>
          <a:noFill/>
          <a:ln w="0">
            <a:noFill/>
          </a:ln>
        </p:spPr>
        <p:style>
          <a:lnRef idx="0"/>
          <a:fillRef idx="0"/>
          <a:effectRef idx="0"/>
          <a:fontRef idx="minor"/>
        </p:style>
        <p:txBody>
          <a:bodyPr lIns="90000" rIns="90000" tIns="45000" bIns="45000" anchor="t">
            <a:spAutoFit/>
          </a:bodyPr>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Consolas"/>
              </a:rPr>
              <a:t>PAO</a:t>
            </a:r>
            <a:r>
              <a:rPr b="1" lang="en-US" sz="1050" spc="-1" strike="noStrike">
                <a:solidFill>
                  <a:srgbClr val="1c2430"/>
                </a:solidFill>
                <a:latin typeface="Segoe UI"/>
              </a:rPr>
              <a:t> y </a:t>
            </a:r>
            <a:r>
              <a:rPr b="1" lang="en-US" sz="1050" spc="-1" strike="noStrike">
                <a:solidFill>
                  <a:srgbClr val="1c2430"/>
                </a:solidFill>
                <a:latin typeface="Consolas"/>
              </a:rPr>
              <a:t>PBO</a:t>
            </a:r>
            <a:r>
              <a:rPr b="1" lang="en-US" sz="1050" spc="-1" strike="noStrike">
                <a:solidFill>
                  <a:srgbClr val="1c2430"/>
                </a:solidFill>
                <a:latin typeface="Segoe UI"/>
              </a:rPr>
              <a:t>: dos canales en cuadratura que reproducen el movimiento.</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Consolas"/>
              </a:rPr>
              <a:t>PCO</a:t>
            </a:r>
            <a:r>
              <a:rPr b="1" lang="en-US" sz="1050" spc="-1" strike="noStrike">
                <a:solidFill>
                  <a:srgbClr val="1c2430"/>
                </a:solidFill>
                <a:latin typeface="Segoe UI"/>
              </a:rPr>
              <a:t>: pulso de marca, uno por vuelta, para la búsqueda de origen.</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Consolas"/>
              </a:rPr>
              <a:t>Pn212</a:t>
            </a:r>
            <a:r>
              <a:rPr b="1" lang="en-US" sz="1050" spc="-1" strike="noStrike">
                <a:solidFill>
                  <a:srgbClr val="1c2430"/>
                </a:solidFill>
                <a:latin typeface="Segoe UI"/>
              </a:rPr>
              <a:t> define cuántos pulsos por vuelta se emiten (valor típico de fábrica: 2.048).</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Comprueba que la frecuencia resultante a velocidad máxima no supera el límite del amplificador ni el del controlador.</a:t>
            </a:r>
            <a:endParaRPr b="0" lang="en-US" sz="1050" spc="-1" strike="noStrike">
              <a:solidFill>
                <a:srgbClr val="000000"/>
              </a:solidFill>
              <a:latin typeface="Arial"/>
            </a:endParaRPr>
          </a:p>
        </p:txBody>
      </p:sp>
      <p:sp>
        <p:nvSpPr>
          <p:cNvPr id="1363" name="Rectangle 25"/>
          <p:cNvSpPr/>
          <p:nvPr/>
        </p:nvSpPr>
        <p:spPr>
          <a:xfrm>
            <a:off x="567000" y="4160520"/>
            <a:ext cx="11063880" cy="141696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64" name="TextBox 26"/>
          <p:cNvSpPr/>
          <p:nvPr/>
        </p:nvSpPr>
        <p:spPr>
          <a:xfrm>
            <a:off x="822960" y="4297680"/>
            <a:ext cx="1051524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50" spc="-1" strike="noStrike">
                <a:solidFill>
                  <a:srgbClr val="0b2545"/>
                </a:solidFill>
                <a:latin typeface="Segoe UI"/>
              </a:rPr>
              <a:t>Line driver frente a colector abierto: no es un detalle menor</a:t>
            </a:r>
            <a:endParaRPr b="0" lang="en-US" sz="1250" spc="-1" strike="noStrike">
              <a:solidFill>
                <a:srgbClr val="000000"/>
              </a:solidFill>
              <a:latin typeface="Arial"/>
            </a:endParaRPr>
          </a:p>
        </p:txBody>
      </p:sp>
      <p:sp>
        <p:nvSpPr>
          <p:cNvPr id="1365" name="TextBox 27"/>
          <p:cNvSpPr/>
          <p:nvPr/>
        </p:nvSpPr>
        <p:spPr>
          <a:xfrm>
            <a:off x="822960" y="4617720"/>
            <a:ext cx="5120280" cy="553320"/>
          </a:xfrm>
          <a:prstGeom prst="rect">
            <a:avLst/>
          </a:prstGeom>
          <a:noFill/>
          <a:ln w="0">
            <a:noFill/>
          </a:ln>
        </p:spPr>
        <p:style>
          <a:lnRef idx="0"/>
          <a:fillRef idx="0"/>
          <a:effectRef idx="0"/>
          <a:fontRef idx="minor"/>
        </p:style>
        <p:txBody>
          <a:bodyPr lIns="0" rIns="0" tIns="0" bIns="0" anchor="t">
            <a:spAutoFit/>
          </a:bodyPr>
          <a:p>
            <a:pPr defTabSz="457200">
              <a:lnSpc>
                <a:spcPct val="110000"/>
              </a:lnSpc>
            </a:pPr>
            <a:r>
              <a:rPr b="1" lang="en-US" sz="1100" spc="-1" strike="noStrike">
                <a:solidFill>
                  <a:srgbClr val="1c2430"/>
                </a:solidFill>
                <a:latin typeface="Segoe UI"/>
              </a:rPr>
              <a:t>Line driver (RS-422, diferencial)</a:t>
            </a:r>
            <a:endParaRPr b="0" lang="en-US" sz="1100" spc="-1" strike="noStrike">
              <a:solidFill>
                <a:srgbClr val="000000"/>
              </a:solidFill>
              <a:latin typeface="Arial"/>
            </a:endParaRPr>
          </a:p>
          <a:p>
            <a:pPr defTabSz="457200">
              <a:lnSpc>
                <a:spcPct val="110000"/>
              </a:lnSpc>
            </a:pPr>
            <a:r>
              <a:rPr b="0" lang="en-US" sz="1100" spc="-1" strike="noStrike">
                <a:solidFill>
                  <a:srgbClr val="1c2430"/>
                </a:solidFill>
                <a:latin typeface="Segoe UI"/>
              </a:rPr>
              <a:t>Frecuencias altas, cables largos, gran inmunidad al ruido. Es la opción recomendada en cualquier eje exigente.</a:t>
            </a:r>
            <a:endParaRPr b="0" lang="en-US" sz="1100" spc="-1" strike="noStrike">
              <a:solidFill>
                <a:srgbClr val="000000"/>
              </a:solidFill>
              <a:latin typeface="Arial"/>
            </a:endParaRPr>
          </a:p>
        </p:txBody>
      </p:sp>
      <p:sp>
        <p:nvSpPr>
          <p:cNvPr id="1366" name="TextBox 28"/>
          <p:cNvSpPr/>
          <p:nvPr/>
        </p:nvSpPr>
        <p:spPr>
          <a:xfrm>
            <a:off x="6355080" y="4617720"/>
            <a:ext cx="5028840" cy="553320"/>
          </a:xfrm>
          <a:prstGeom prst="rect">
            <a:avLst/>
          </a:prstGeom>
          <a:noFill/>
          <a:ln w="0">
            <a:noFill/>
          </a:ln>
        </p:spPr>
        <p:style>
          <a:lnRef idx="0"/>
          <a:fillRef idx="0"/>
          <a:effectRef idx="0"/>
          <a:fontRef idx="minor"/>
        </p:style>
        <p:txBody>
          <a:bodyPr lIns="0" rIns="0" tIns="0" bIns="0" anchor="t">
            <a:spAutoFit/>
          </a:bodyPr>
          <a:p>
            <a:pPr defTabSz="457200">
              <a:lnSpc>
                <a:spcPct val="110000"/>
              </a:lnSpc>
            </a:pPr>
            <a:r>
              <a:rPr b="1" lang="en-US" sz="1100" spc="-1" strike="noStrike">
                <a:solidFill>
                  <a:srgbClr val="1c2430"/>
                </a:solidFill>
                <a:latin typeface="Segoe UI"/>
              </a:rPr>
              <a:t>Colector abierto</a:t>
            </a:r>
            <a:endParaRPr b="0" lang="en-US" sz="1100" spc="-1" strike="noStrike">
              <a:solidFill>
                <a:srgbClr val="000000"/>
              </a:solidFill>
              <a:latin typeface="Arial"/>
            </a:endParaRPr>
          </a:p>
          <a:p>
            <a:pPr defTabSz="457200">
              <a:lnSpc>
                <a:spcPct val="110000"/>
              </a:lnSpc>
            </a:pPr>
            <a:r>
              <a:rPr b="0" lang="en-US" sz="1100" spc="-1" strike="noStrike">
                <a:solidFill>
                  <a:srgbClr val="1c2430"/>
                </a:solidFill>
                <a:latin typeface="Segoe UI"/>
              </a:rPr>
              <a:t>Más sencillo y barato, pero limita la frecuencia y la longitud del cable. Suele ser el origen de pérdidas de pulsos y de posiciones que 'se van'.</a:t>
            </a:r>
            <a:endParaRPr b="0" lang="en-US" sz="1100" spc="-1" strike="noStrike">
              <a:solidFill>
                <a:srgbClr val="000000"/>
              </a:solidFill>
              <a:latin typeface="Arial"/>
            </a:endParaRPr>
          </a:p>
        </p:txBody>
      </p:sp>
      <p:sp>
        <p:nvSpPr>
          <p:cNvPr id="1367" name="Rectangle 29"/>
          <p:cNvSpPr/>
          <p:nvPr/>
        </p:nvSpPr>
        <p:spPr>
          <a:xfrm>
            <a:off x="567000" y="5632560"/>
            <a:ext cx="11063880" cy="69444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68" name="Rectangle 30"/>
          <p:cNvSpPr/>
          <p:nvPr/>
        </p:nvSpPr>
        <p:spPr>
          <a:xfrm>
            <a:off x="567000" y="5632560"/>
            <a:ext cx="68400" cy="69444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69" name="TextBox 31"/>
          <p:cNvSpPr/>
          <p:nvPr/>
        </p:nvSpPr>
        <p:spPr>
          <a:xfrm>
            <a:off x="841320" y="5769720"/>
            <a:ext cx="1056096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Síntoma clásico de formato mal configurado</a:t>
            </a:r>
            <a:endParaRPr b="0" lang="en-US" sz="1200" spc="-1" strike="noStrike">
              <a:solidFill>
                <a:srgbClr val="000000"/>
              </a:solidFill>
              <a:latin typeface="Arial"/>
            </a:endParaRPr>
          </a:p>
        </p:txBody>
      </p:sp>
      <p:sp>
        <p:nvSpPr>
          <p:cNvPr id="1370" name="TextBox 32"/>
          <p:cNvSpPr/>
          <p:nvPr/>
        </p:nvSpPr>
        <p:spPr>
          <a:xfrm>
            <a:off x="841320" y="6044040"/>
            <a:ext cx="1056096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El eje se mueve la mitad o el cuádruple de lo pedido, o siempre en el mismo sentido. Revisa </a:t>
            </a:r>
            <a:r>
              <a:rPr b="0" lang="en-US" sz="1150" spc="-1" strike="noStrike">
                <a:solidFill>
                  <a:srgbClr val="2b3644"/>
                </a:solidFill>
                <a:latin typeface="Consolas"/>
              </a:rPr>
              <a:t>Pn200.0</a:t>
            </a:r>
            <a:r>
              <a:rPr b="0" lang="en-US" sz="1150" spc="-1" strike="noStrike">
                <a:solidFill>
                  <a:srgbClr val="2b3644"/>
                </a:solidFill>
                <a:latin typeface="Segoe UI"/>
              </a:rPr>
              <a:t> y el engranaje electrónico antes de buscar problemas mecánicos.</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1"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72"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373"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Disposición de pines del conector </a:t>
            </a:r>
            <a:r>
              <a:rPr b="1" lang="en-US" sz="2500" spc="-1" strike="noStrike">
                <a:solidFill>
                  <a:srgbClr val="ffffff"/>
                </a:solidFill>
                <a:latin typeface="Consolas"/>
              </a:rPr>
              <a:t>CN1</a:t>
            </a:r>
            <a:endParaRPr b="0" lang="en-US" sz="2500" spc="-1" strike="noStrike">
              <a:solidFill>
                <a:srgbClr val="000000"/>
              </a:solidFill>
              <a:latin typeface="Arial"/>
            </a:endParaRPr>
          </a:p>
        </p:txBody>
      </p:sp>
      <p:sp>
        <p:nvSpPr>
          <p:cNvPr id="1374"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50 pines vistos desde el lado de conexión</a:t>
            </a:r>
            <a:endParaRPr b="0" lang="en-US" sz="1250" spc="-1" strike="noStrike">
              <a:solidFill>
                <a:srgbClr val="000000"/>
              </a:solidFill>
              <a:latin typeface="Arial"/>
            </a:endParaRPr>
          </a:p>
        </p:txBody>
      </p:sp>
      <p:sp>
        <p:nvSpPr>
          <p:cNvPr id="1375"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376"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377"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74</a:t>
            </a:r>
            <a:endParaRPr b="0" lang="en-US" sz="900" spc="-1" strike="noStrike">
              <a:solidFill>
                <a:srgbClr val="000000"/>
              </a:solidFill>
              <a:latin typeface="Arial"/>
            </a:endParaRPr>
          </a:p>
        </p:txBody>
      </p:sp>
      <p:sp>
        <p:nvSpPr>
          <p:cNvPr id="1378" name="Rectangle 8"/>
          <p:cNvSpPr/>
          <p:nvPr/>
        </p:nvSpPr>
        <p:spPr>
          <a:xfrm>
            <a:off x="511920" y="2570400"/>
            <a:ext cx="7075800" cy="232020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379" name="Picture 9" descr="cn1_conector.png"/>
          <p:cNvPicPr/>
          <p:nvPr/>
        </p:nvPicPr>
        <p:blipFill>
          <a:blip r:embed="rId1"/>
          <a:stretch/>
        </p:blipFill>
        <p:spPr>
          <a:xfrm>
            <a:off x="567000" y="2625120"/>
            <a:ext cx="6966000" cy="2210760"/>
          </a:xfrm>
          <a:prstGeom prst="rect">
            <a:avLst/>
          </a:prstGeom>
          <a:ln w="0">
            <a:noFill/>
          </a:ln>
        </p:spPr>
      </p:pic>
      <p:sp>
        <p:nvSpPr>
          <p:cNvPr id="1380"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4.5.2</a:t>
            </a:r>
            <a:endParaRPr b="0" lang="en-US" sz="850" spc="-1" strike="noStrike">
              <a:solidFill>
                <a:srgbClr val="000000"/>
              </a:solidFill>
              <a:latin typeface="Arial"/>
            </a:endParaRPr>
          </a:p>
        </p:txBody>
      </p:sp>
      <p:sp>
        <p:nvSpPr>
          <p:cNvPr id="1381"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82" name="TextBox 12"/>
          <p:cNvSpPr/>
          <p:nvPr/>
        </p:nvSpPr>
        <p:spPr>
          <a:xfrm>
            <a:off x="8027280" y="1664280"/>
            <a:ext cx="3377880" cy="290916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150" spc="-1" strike="noStrike">
                <a:solidFill>
                  <a:srgbClr val="1b5ea8"/>
                </a:solidFill>
                <a:latin typeface="Segoe UI Semibold"/>
              </a:rPr>
              <a:t>Cómo se numera</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Dos filas: pines 1 a 25 y pines 26 a 50.</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La ilustración corresponde a la vista sin la carcasa del conector.</a:t>
            </a:r>
            <a:endParaRPr b="0" lang="en-US" sz="1200" spc="-1" strike="noStrike">
              <a:solidFill>
                <a:srgbClr val="000000"/>
              </a:solidFill>
              <a:latin typeface="Arial"/>
            </a:endParaRPr>
          </a:p>
          <a:p>
            <a:pPr defTabSz="457200">
              <a:lnSpc>
                <a:spcPct val="106000"/>
              </a:lnSpc>
              <a:spcBef>
                <a:spcPts val="799"/>
              </a:spcBef>
              <a:spcAft>
                <a:spcPts val="901"/>
              </a:spcAft>
              <a:tabLst>
                <a:tab algn="l" pos="0"/>
              </a:tabLst>
            </a:pPr>
            <a:r>
              <a:rPr b="1" lang="en-US" sz="1150" spc="-1" strike="noStrike">
                <a:solidFill>
                  <a:srgbClr val="1b5ea8"/>
                </a:solidFill>
                <a:latin typeface="Segoe UI Semibold"/>
              </a:rPr>
              <a:t>Antes de cablear</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Comprueba la asignación real de tu equipo: el sufijo -Y3600A puede traer asignaciones de fábrica distintas de las estándar.</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Verifica siempre con </a:t>
            </a:r>
            <a:r>
              <a:rPr b="0" lang="en-US" sz="1050" spc="-1" strike="noStrike">
                <a:solidFill>
                  <a:srgbClr val="333f4c"/>
                </a:solidFill>
                <a:latin typeface="Consolas"/>
              </a:rPr>
              <a:t>Un005</a:t>
            </a:r>
            <a:r>
              <a:rPr b="0" lang="en-US" sz="1050" spc="-1" strike="noStrike">
                <a:solidFill>
                  <a:srgbClr val="333f4c"/>
                </a:solidFill>
                <a:latin typeface="Segoe UI"/>
              </a:rPr>
              <a:t> y </a:t>
            </a:r>
            <a:r>
              <a:rPr b="0" lang="en-US" sz="1050" spc="-1" strike="noStrike">
                <a:solidFill>
                  <a:srgbClr val="333f4c"/>
                </a:solidFill>
                <a:latin typeface="Consolas"/>
              </a:rPr>
              <a:t>Un006</a:t>
            </a:r>
            <a:r>
              <a:rPr b="0" lang="en-US" sz="1050" spc="-1" strike="noStrike">
                <a:solidFill>
                  <a:srgbClr val="333f4c"/>
                </a:solidFill>
                <a:latin typeface="Segoe UI"/>
              </a:rPr>
              <a:t> qué señales ve realmente el drive antes de dar por bueno el cableado.</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3"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84"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385" name="TextBox 3"/>
          <p:cNvSpPr/>
          <p:nvPr/>
        </p:nvSpPr>
        <p:spPr>
          <a:xfrm>
            <a:off x="567000" y="182880"/>
            <a:ext cx="8954280" cy="3463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270" spc="-1" strike="noStrike">
                <a:solidFill>
                  <a:srgbClr val="ffffff"/>
                </a:solidFill>
                <a:latin typeface="Segoe UI Semibold"/>
              </a:rPr>
              <a:t>Asignación de fábrica de </a:t>
            </a:r>
            <a:r>
              <a:rPr b="1" lang="en-US" sz="2270" spc="-1" strike="noStrike">
                <a:solidFill>
                  <a:srgbClr val="ffffff"/>
                </a:solidFill>
                <a:latin typeface="Consolas"/>
              </a:rPr>
              <a:t>CN1</a:t>
            </a:r>
            <a:r>
              <a:rPr b="1" lang="en-US" sz="2270" spc="-1" strike="noStrike">
                <a:solidFill>
                  <a:srgbClr val="ffffff"/>
                </a:solidFill>
                <a:latin typeface="Segoe UI Semibold"/>
              </a:rPr>
              <a:t> (SGDXS analógica / pulsos)</a:t>
            </a:r>
            <a:endParaRPr b="0" lang="en-US" sz="2270" spc="-1" strike="noStrike">
              <a:solidFill>
                <a:srgbClr val="000000"/>
              </a:solidFill>
              <a:latin typeface="Arial"/>
            </a:endParaRPr>
          </a:p>
        </p:txBody>
      </p:sp>
      <p:sp>
        <p:nvSpPr>
          <p:cNvPr id="1386"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Asignación por defecto tomada del manual</a:t>
            </a:r>
            <a:endParaRPr b="0" lang="en-US" sz="1250" spc="-1" strike="noStrike">
              <a:solidFill>
                <a:srgbClr val="000000"/>
              </a:solidFill>
              <a:latin typeface="Arial"/>
            </a:endParaRPr>
          </a:p>
        </p:txBody>
      </p:sp>
      <p:sp>
        <p:nvSpPr>
          <p:cNvPr id="1387"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388"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389"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75</a:t>
            </a:r>
            <a:endParaRPr b="0" lang="en-US" sz="900" spc="-1" strike="noStrike">
              <a:solidFill>
                <a:srgbClr val="000000"/>
              </a:solidFill>
              <a:latin typeface="Arial"/>
            </a:endParaRPr>
          </a:p>
        </p:txBody>
      </p:sp>
      <p:graphicFrame>
        <p:nvGraphicFramePr>
          <p:cNvPr id="1390" name="Table 8"/>
          <p:cNvGraphicFramePr/>
          <p:nvPr/>
        </p:nvGraphicFramePr>
        <p:xfrm>
          <a:off x="567000" y="1481400"/>
          <a:ext cx="11057400" cy="4461840"/>
        </p:xfrm>
        <a:graphic>
          <a:graphicData uri="http://schemas.openxmlformats.org/drawingml/2006/table">
            <a:tbl>
              <a:tblPr/>
              <a:tblGrid>
                <a:gridCol w="762480"/>
                <a:gridCol w="1906200"/>
                <a:gridCol w="2859480"/>
                <a:gridCol w="762480"/>
                <a:gridCol w="1906200"/>
                <a:gridCol w="2859480"/>
              </a:tblGrid>
              <a:tr h="347400">
                <a:tc>
                  <a:txBody>
                    <a:bodyPr lIns="82080" rIns="82080" tIns="27360" bIns="27360" anchor="ctr">
                      <a:noAutofit/>
                    </a:bodyPr>
                    <a:p>
                      <a:pPr defTabSz="457200">
                        <a:lnSpc>
                          <a:spcPct val="100000"/>
                        </a:lnSpc>
                      </a:pPr>
                      <a:r>
                        <a:rPr b="1" lang="en-US" sz="850" spc="-1" strike="noStrike">
                          <a:solidFill>
                            <a:srgbClr val="ffffff"/>
                          </a:solidFill>
                          <a:latin typeface="Segoe UI"/>
                        </a:rPr>
                        <a:t>Pin</a:t>
                      </a:r>
                      <a:endParaRPr b="0" lang="en-US" sz="8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850" spc="-1" strike="noStrike">
                          <a:solidFill>
                            <a:srgbClr val="ffffff"/>
                          </a:solidFill>
                          <a:latin typeface="Segoe UI"/>
                        </a:rPr>
                        <a:t>Señal</a:t>
                      </a:r>
                      <a:endParaRPr b="0" lang="en-US" sz="8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850" spc="-1" strike="noStrike">
                          <a:solidFill>
                            <a:srgbClr val="ffffff"/>
                          </a:solidFill>
                          <a:latin typeface="Segoe UI"/>
                        </a:rPr>
                        <a:t>Función</a:t>
                      </a:r>
                      <a:endParaRPr b="0" lang="en-US" sz="8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850" spc="-1" strike="noStrike">
                          <a:solidFill>
                            <a:srgbClr val="ffffff"/>
                          </a:solidFill>
                          <a:latin typeface="Segoe UI"/>
                        </a:rPr>
                        <a:t>Pin</a:t>
                      </a:r>
                      <a:endParaRPr b="0" lang="en-US" sz="8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850" spc="-1" strike="noStrike">
                          <a:solidFill>
                            <a:srgbClr val="ffffff"/>
                          </a:solidFill>
                          <a:latin typeface="Segoe UI"/>
                        </a:rPr>
                        <a:t>Señal</a:t>
                      </a:r>
                      <a:endParaRPr b="0" lang="en-US" sz="8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850" spc="-1" strike="noStrike">
                          <a:solidFill>
                            <a:srgbClr val="ffffff"/>
                          </a:solidFill>
                          <a:latin typeface="Segoe UI"/>
                        </a:rPr>
                        <a:t>Función</a:t>
                      </a:r>
                      <a:endParaRPr b="0" lang="en-US" sz="8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316440">
                <a:tc>
                  <a:txBody>
                    <a:bodyPr lIns="82080" rIns="82080" tIns="27360" bIns="27360" anchor="ctr">
                      <a:noAutofit/>
                    </a:bodyPr>
                    <a:p>
                      <a:pPr defTabSz="457200">
                        <a:lnSpc>
                          <a:spcPct val="100000"/>
                        </a:lnSpc>
                      </a:pPr>
                      <a:r>
                        <a:rPr b="0" lang="en-US" sz="850" spc="-1" strike="noStrike">
                          <a:solidFill>
                            <a:srgbClr val="1c2430"/>
                          </a:solidFill>
                          <a:latin typeface="Segoe UI"/>
                        </a:rPr>
                        <a:t>1</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SG</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Masa de señal</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27-28</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/SO2 (</a:t>
                      </a:r>
                      <a:r>
                        <a:rPr b="0" lang="en-US" sz="850" spc="-1" strike="noStrike">
                          <a:solidFill>
                            <a:srgbClr val="1c2430"/>
                          </a:solidFill>
                          <a:latin typeface="Consolas"/>
                        </a:rPr>
                        <a:t>/TGON</a:t>
                      </a:r>
                      <a:r>
                        <a:rPr b="0" lang="en-US" sz="850" spc="-1" strike="noStrike">
                          <a:solidFill>
                            <a:srgbClr val="1c2430"/>
                          </a:solidFill>
                          <a:latin typeface="Segoe UI"/>
                        </a:rPr>
                        <a:t>)</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Salida 2: motor girando</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16440">
                <a:tc>
                  <a:txBody>
                    <a:bodyPr lIns="82080" rIns="82080" tIns="27360" bIns="27360" anchor="ctr">
                      <a:noAutofit/>
                    </a:bodyPr>
                    <a:p>
                      <a:pPr defTabSz="457200">
                        <a:lnSpc>
                          <a:spcPct val="100000"/>
                        </a:lnSpc>
                      </a:pPr>
                      <a:r>
                        <a:rPr b="0" lang="en-US" sz="850" spc="-1" strike="noStrike">
                          <a:solidFill>
                            <a:srgbClr val="1c2430"/>
                          </a:solidFill>
                          <a:latin typeface="Segoe UI"/>
                        </a:rPr>
                        <a:t>2</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SG</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Masa de señal</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29-30</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/SO3 (</a:t>
                      </a:r>
                      <a:r>
                        <a:rPr b="0" lang="en-US" sz="850" spc="-1" strike="noStrike">
                          <a:solidFill>
                            <a:srgbClr val="1c2430"/>
                          </a:solidFill>
                          <a:latin typeface="Consolas"/>
                        </a:rPr>
                        <a:t>/S-RDY</a:t>
                      </a:r>
                      <a:r>
                        <a:rPr b="0" lang="en-US" sz="850" spc="-1" strike="noStrike">
                          <a:solidFill>
                            <a:srgbClr val="1c2430"/>
                          </a:solidFill>
                          <a:latin typeface="Segoe UI"/>
                        </a:rPr>
                        <a:t>)</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Salida 3: servo listo</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16440">
                <a:tc>
                  <a:txBody>
                    <a:bodyPr lIns="82080" rIns="82080" tIns="27360" bIns="27360" anchor="ctr">
                      <a:noAutofit/>
                    </a:bodyPr>
                    <a:p>
                      <a:pPr defTabSz="457200">
                        <a:lnSpc>
                          <a:spcPct val="100000"/>
                        </a:lnSpc>
                      </a:pPr>
                      <a:r>
                        <a:rPr b="0" lang="en-US" sz="850" spc="-1" strike="noStrike">
                          <a:solidFill>
                            <a:srgbClr val="1c2430"/>
                          </a:solidFill>
                          <a:latin typeface="Segoe UI"/>
                        </a:rPr>
                        <a:t>4</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SEN</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Petición de dato absoluto</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31-32</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Consolas"/>
                        </a:rPr>
                        <a:t>ALM+</a:t>
                      </a:r>
                      <a:r>
                        <a:rPr b="0" lang="en-US" sz="850" spc="-1" strike="noStrike">
                          <a:solidFill>
                            <a:srgbClr val="1c2430"/>
                          </a:solidFill>
                          <a:latin typeface="Segoe UI"/>
                        </a:rPr>
                        <a:t> / </a:t>
                      </a:r>
                      <a:r>
                        <a:rPr b="0" lang="en-US" sz="850" spc="-1" strike="noStrike">
                          <a:solidFill>
                            <a:srgbClr val="1c2430"/>
                          </a:solidFill>
                          <a:latin typeface="Consolas"/>
                        </a:rPr>
                        <a:t>ALM-</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850" spc="-1" strike="noStrike">
                          <a:solidFill>
                            <a:srgbClr val="1c2430"/>
                          </a:solidFill>
                          <a:latin typeface="Segoe UI"/>
                        </a:rPr>
                        <a:t>Salida de alarma</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16440">
                <a:tc>
                  <a:txBody>
                    <a:bodyPr lIns="82080" rIns="82080" tIns="27360" bIns="27360" anchor="ctr">
                      <a:noAutofit/>
                    </a:bodyPr>
                    <a:p>
                      <a:pPr defTabSz="457200">
                        <a:lnSpc>
                          <a:spcPct val="100000"/>
                        </a:lnSpc>
                      </a:pPr>
                      <a:r>
                        <a:rPr b="0" lang="en-US" sz="850" spc="-1" strike="noStrike">
                          <a:solidFill>
                            <a:srgbClr val="1c2430"/>
                          </a:solidFill>
                          <a:latin typeface="Segoe UI"/>
                        </a:rPr>
                        <a:t>5-6</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Consolas"/>
                        </a:rPr>
                        <a:t>V-REF</a:t>
                      </a:r>
                      <a:r>
                        <a:rPr b="0" lang="en-US" sz="850" spc="-1" strike="noStrike">
                          <a:solidFill>
                            <a:srgbClr val="1c2430"/>
                          </a:solidFill>
                          <a:latin typeface="Segoe UI"/>
                        </a:rPr>
                        <a:t> / SG</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Consigna de velocidad ±12 V</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33-34</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Consolas"/>
                        </a:rPr>
                        <a:t>PAO</a:t>
                      </a:r>
                      <a:r>
                        <a:rPr b="0" lang="en-US" sz="850" spc="-1" strike="noStrike">
                          <a:solidFill>
                            <a:srgbClr val="1c2430"/>
                          </a:solidFill>
                          <a:latin typeface="Segoe UI"/>
                        </a:rPr>
                        <a:t> / </a:t>
                      </a:r>
                      <a:r>
                        <a:rPr b="0" lang="en-US" sz="850" spc="-1" strike="noStrike">
                          <a:solidFill>
                            <a:srgbClr val="1c2430"/>
                          </a:solidFill>
                          <a:latin typeface="Consolas"/>
                        </a:rPr>
                        <a:t>/PAO</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Salida de encoder, fase A</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16440">
                <a:tc>
                  <a:txBody>
                    <a:bodyPr lIns="82080" rIns="82080" tIns="27360" bIns="27360" anchor="ctr">
                      <a:noAutofit/>
                    </a:bodyPr>
                    <a:p>
                      <a:pPr defTabSz="457200">
                        <a:lnSpc>
                          <a:spcPct val="100000"/>
                        </a:lnSpc>
                      </a:pPr>
                      <a:r>
                        <a:rPr b="0" lang="en-US" sz="850" spc="-1" strike="noStrike">
                          <a:solidFill>
                            <a:srgbClr val="1c2430"/>
                          </a:solidFill>
                          <a:latin typeface="Segoe UI"/>
                        </a:rPr>
                        <a:t>7-8</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Consolas"/>
                        </a:rPr>
                        <a:t>PULS</a:t>
                      </a:r>
                      <a:r>
                        <a:rPr b="0" lang="en-US" sz="850" spc="-1" strike="noStrike">
                          <a:solidFill>
                            <a:srgbClr val="1c2430"/>
                          </a:solidFill>
                          <a:latin typeface="Segoe UI"/>
                        </a:rPr>
                        <a:t> / </a:t>
                      </a:r>
                      <a:r>
                        <a:rPr b="0" lang="en-US" sz="850" spc="-1" strike="noStrike">
                          <a:solidFill>
                            <a:srgbClr val="1c2430"/>
                          </a:solidFill>
                          <a:latin typeface="Consolas"/>
                        </a:rPr>
                        <a:t>/PULS</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Tren de pulsos de referencia</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35-36</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Consolas"/>
                        </a:rPr>
                        <a:t>PBO</a:t>
                      </a:r>
                      <a:r>
                        <a:rPr b="0" lang="en-US" sz="850" spc="-1" strike="noStrike">
                          <a:solidFill>
                            <a:srgbClr val="1c2430"/>
                          </a:solidFill>
                          <a:latin typeface="Segoe UI"/>
                        </a:rPr>
                        <a:t> / </a:t>
                      </a:r>
                      <a:r>
                        <a:rPr b="0" lang="en-US" sz="850" spc="-1" strike="noStrike">
                          <a:solidFill>
                            <a:srgbClr val="1c2430"/>
                          </a:solidFill>
                          <a:latin typeface="Consolas"/>
                        </a:rPr>
                        <a:t>/PBO</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Salida de encoder, fase B</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16440">
                <a:tc>
                  <a:txBody>
                    <a:bodyPr lIns="82080" rIns="82080" tIns="27360" bIns="27360" anchor="ctr">
                      <a:noAutofit/>
                    </a:bodyPr>
                    <a:p>
                      <a:pPr defTabSz="457200">
                        <a:lnSpc>
                          <a:spcPct val="100000"/>
                        </a:lnSpc>
                      </a:pPr>
                      <a:r>
                        <a:rPr b="0" lang="en-US" sz="850" spc="-1" strike="noStrike">
                          <a:solidFill>
                            <a:srgbClr val="1c2430"/>
                          </a:solidFill>
                          <a:latin typeface="Segoe UI"/>
                        </a:rPr>
                        <a:t>9-10</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Consolas"/>
                        </a:rPr>
                        <a:t>T-REF</a:t>
                      </a:r>
                      <a:r>
                        <a:rPr b="0" lang="en-US" sz="850" spc="-1" strike="noStrike">
                          <a:solidFill>
                            <a:srgbClr val="1c2430"/>
                          </a:solidFill>
                          <a:latin typeface="Segoe UI"/>
                        </a:rPr>
                        <a:t> / SG</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Consigna de par ±12 V</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37-39</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Consolas"/>
                        </a:rPr>
                        <a:t>ALO1</a:t>
                      </a:r>
                      <a:r>
                        <a:rPr b="0" lang="en-US" sz="850" spc="-1" strike="noStrike">
                          <a:solidFill>
                            <a:srgbClr val="1c2430"/>
                          </a:solidFill>
                          <a:latin typeface="Segoe UI"/>
                        </a:rPr>
                        <a:t>…</a:t>
                      </a:r>
                      <a:r>
                        <a:rPr b="0" lang="en-US" sz="850" spc="-1" strike="noStrike">
                          <a:solidFill>
                            <a:srgbClr val="1c2430"/>
                          </a:solidFill>
                          <a:latin typeface="Consolas"/>
                        </a:rPr>
                        <a:t>ALO3</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Código de alarma</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16440">
                <a:tc>
                  <a:txBody>
                    <a:bodyPr lIns="82080" rIns="82080" tIns="27360" bIns="27360" anchor="ctr">
                      <a:noAutofit/>
                    </a:bodyPr>
                    <a:p>
                      <a:pPr defTabSz="457200">
                        <a:lnSpc>
                          <a:spcPct val="100000"/>
                        </a:lnSpc>
                      </a:pPr>
                      <a:r>
                        <a:rPr b="0" lang="en-US" sz="850" spc="-1" strike="noStrike">
                          <a:solidFill>
                            <a:srgbClr val="1c2430"/>
                          </a:solidFill>
                          <a:latin typeface="Segoe UI"/>
                        </a:rPr>
                        <a:t>11-12</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Consolas"/>
                        </a:rPr>
                        <a:t>SIGN</a:t>
                      </a:r>
                      <a:r>
                        <a:rPr b="0" lang="en-US" sz="850" spc="-1" strike="noStrike">
                          <a:solidFill>
                            <a:srgbClr val="1c2430"/>
                          </a:solidFill>
                          <a:latin typeface="Segoe UI"/>
                        </a:rPr>
                        <a:t> / </a:t>
                      </a:r>
                      <a:r>
                        <a:rPr b="0" lang="en-US" sz="850" spc="-1" strike="noStrike">
                          <a:solidFill>
                            <a:srgbClr val="1c2430"/>
                          </a:solidFill>
                          <a:latin typeface="Consolas"/>
                        </a:rPr>
                        <a:t>/SIGN</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Signo del tren de pulsos</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40</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/SI0 (</a:t>
                      </a:r>
                      <a:r>
                        <a:rPr b="0" lang="en-US" sz="850" spc="-1" strike="noStrike">
                          <a:solidFill>
                            <a:srgbClr val="1c2430"/>
                          </a:solidFill>
                          <a:latin typeface="Consolas"/>
                        </a:rPr>
                        <a:t>/S-ON</a:t>
                      </a:r>
                      <a:r>
                        <a:rPr b="0" lang="en-US" sz="850" spc="-1" strike="noStrike">
                          <a:solidFill>
                            <a:srgbClr val="1c2430"/>
                          </a:solidFill>
                          <a:latin typeface="Segoe UI"/>
                        </a:rPr>
                        <a:t>)</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850" spc="-1" strike="noStrike">
                          <a:solidFill>
                            <a:srgbClr val="1c2430"/>
                          </a:solidFill>
                          <a:latin typeface="Segoe UI"/>
                        </a:rPr>
                        <a:t>Servo ON</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16440">
                <a:tc>
                  <a:txBody>
                    <a:bodyPr lIns="82080" rIns="82080" tIns="27360" bIns="27360" anchor="ctr">
                      <a:noAutofit/>
                    </a:bodyPr>
                    <a:p>
                      <a:pPr defTabSz="457200">
                        <a:lnSpc>
                          <a:spcPct val="100000"/>
                        </a:lnSpc>
                      </a:pPr>
                      <a:r>
                        <a:rPr b="0" lang="en-US" sz="850" spc="-1" strike="noStrike">
                          <a:solidFill>
                            <a:srgbClr val="1c2430"/>
                          </a:solidFill>
                          <a:latin typeface="Segoe UI"/>
                        </a:rPr>
                        <a:t>14-15</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Consolas"/>
                        </a:rPr>
                        <a:t>/CLR</a:t>
                      </a:r>
                      <a:r>
                        <a:rPr b="0" lang="en-US" sz="850" spc="-1" strike="noStrike">
                          <a:solidFill>
                            <a:srgbClr val="1c2430"/>
                          </a:solidFill>
                          <a:latin typeface="Segoe UI"/>
                        </a:rPr>
                        <a:t> / </a:t>
                      </a:r>
                      <a:r>
                        <a:rPr b="0" lang="en-US" sz="850" spc="-1" strike="noStrike">
                          <a:solidFill>
                            <a:srgbClr val="1c2430"/>
                          </a:solidFill>
                          <a:latin typeface="Consolas"/>
                        </a:rPr>
                        <a:t>CLR</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Borrado del error de posición</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41</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/SI3 (</a:t>
                      </a:r>
                      <a:r>
                        <a:rPr b="0" lang="en-US" sz="850" spc="-1" strike="noStrike">
                          <a:solidFill>
                            <a:srgbClr val="1c2430"/>
                          </a:solidFill>
                          <a:latin typeface="Consolas"/>
                        </a:rPr>
                        <a:t>/P-CON</a:t>
                      </a:r>
                      <a:r>
                        <a:rPr b="0" lang="en-US" sz="850" spc="-1" strike="noStrike">
                          <a:solidFill>
                            <a:srgbClr val="1c2430"/>
                          </a:solidFill>
                          <a:latin typeface="Segoe UI"/>
                        </a:rPr>
                        <a:t>)</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Control proporcional</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16440">
                <a:tc>
                  <a:txBody>
                    <a:bodyPr lIns="82080" rIns="82080" tIns="27360" bIns="27360" anchor="ctr">
                      <a:noAutofit/>
                    </a:bodyPr>
                    <a:p>
                      <a:pPr defTabSz="457200">
                        <a:lnSpc>
                          <a:spcPct val="100000"/>
                        </a:lnSpc>
                      </a:pPr>
                      <a:r>
                        <a:rPr b="0" lang="en-US" sz="850" spc="-1" strike="noStrike">
                          <a:solidFill>
                            <a:srgbClr val="1c2430"/>
                          </a:solidFill>
                          <a:latin typeface="Segoe UI"/>
                        </a:rPr>
                        <a:t>19-20</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Consolas"/>
                        </a:rPr>
                        <a:t>PCO</a:t>
                      </a:r>
                      <a:r>
                        <a:rPr b="0" lang="en-US" sz="850" spc="-1" strike="noStrike">
                          <a:solidFill>
                            <a:srgbClr val="1c2430"/>
                          </a:solidFill>
                          <a:latin typeface="Segoe UI"/>
                        </a:rPr>
                        <a:t> / </a:t>
                      </a:r>
                      <a:r>
                        <a:rPr b="0" lang="en-US" sz="850" spc="-1" strike="noStrike">
                          <a:solidFill>
                            <a:srgbClr val="1c2430"/>
                          </a:solidFill>
                          <a:latin typeface="Consolas"/>
                        </a:rPr>
                        <a:t>/PCO</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Salida de encoder, fase C (marca)</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42</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/SI1 (</a:t>
                      </a:r>
                      <a:r>
                        <a:rPr b="0" lang="en-US" sz="850" spc="-1" strike="noStrike">
                          <a:solidFill>
                            <a:srgbClr val="1c2430"/>
                          </a:solidFill>
                          <a:latin typeface="Consolas"/>
                        </a:rPr>
                        <a:t>P-OT</a:t>
                      </a:r>
                      <a:r>
                        <a:rPr b="0" lang="en-US" sz="850" spc="-1" strike="noStrike">
                          <a:solidFill>
                            <a:srgbClr val="1c2430"/>
                          </a:solidFill>
                          <a:latin typeface="Segoe UI"/>
                        </a:rPr>
                        <a:t>)</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Límite de recorrido positivo</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16440">
                <a:tc>
                  <a:txBody>
                    <a:bodyPr lIns="82080" rIns="82080" tIns="27360" bIns="27360" anchor="ctr">
                      <a:noAutofit/>
                    </a:bodyPr>
                    <a:p>
                      <a:pPr defTabSz="457200">
                        <a:lnSpc>
                          <a:spcPct val="100000"/>
                        </a:lnSpc>
                      </a:pPr>
                      <a:r>
                        <a:rPr b="0" lang="en-US" sz="850" spc="-1" strike="noStrike">
                          <a:solidFill>
                            <a:srgbClr val="1c2430"/>
                          </a:solidFill>
                          <a:latin typeface="Segoe UI"/>
                        </a:rPr>
                        <a:t>21-22</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Consolas"/>
                        </a:rPr>
                        <a:t>BAT+</a:t>
                      </a:r>
                      <a:r>
                        <a:rPr b="0" lang="en-US" sz="850" spc="-1" strike="noStrike">
                          <a:solidFill>
                            <a:srgbClr val="1c2430"/>
                          </a:solidFill>
                          <a:latin typeface="Segoe UI"/>
                        </a:rPr>
                        <a:t> / </a:t>
                      </a:r>
                      <a:r>
                        <a:rPr b="0" lang="en-US" sz="850" spc="-1" strike="noStrike">
                          <a:solidFill>
                            <a:srgbClr val="1c2430"/>
                          </a:solidFill>
                          <a:latin typeface="Consolas"/>
                        </a:rPr>
                        <a:t>BAT-</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Batería del encoder absoluto</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43</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/SI2 (</a:t>
                      </a:r>
                      <a:r>
                        <a:rPr b="0" lang="en-US" sz="850" spc="-1" strike="noStrike">
                          <a:solidFill>
                            <a:srgbClr val="1c2430"/>
                          </a:solidFill>
                          <a:latin typeface="Consolas"/>
                        </a:rPr>
                        <a:t>N-OT</a:t>
                      </a:r>
                      <a:r>
                        <a:rPr b="0" lang="en-US" sz="850" spc="-1" strike="noStrike">
                          <a:solidFill>
                            <a:srgbClr val="1c2430"/>
                          </a:solidFill>
                          <a:latin typeface="Segoe UI"/>
                        </a:rPr>
                        <a:t>)</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Límite de recorrido negativo</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16440">
                <a:tc>
                  <a:txBody>
                    <a:bodyPr lIns="82080" rIns="82080" tIns="27360" bIns="27360" anchor="ctr">
                      <a:noAutofit/>
                    </a:bodyPr>
                    <a:p>
                      <a:pPr defTabSz="457200">
                        <a:lnSpc>
                          <a:spcPct val="100000"/>
                        </a:lnSpc>
                      </a:pPr>
                      <a:r>
                        <a:rPr b="0" lang="en-US" sz="850" spc="-1" strike="noStrike">
                          <a:solidFill>
                            <a:srgbClr val="1c2430"/>
                          </a:solidFill>
                          <a:latin typeface="Segoe UI"/>
                        </a:rPr>
                        <a:t>25-26</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/SO1 (</a:t>
                      </a:r>
                      <a:r>
                        <a:rPr b="0" lang="en-US" sz="850" spc="-1" strike="noStrike">
                          <a:solidFill>
                            <a:srgbClr val="1c2430"/>
                          </a:solidFill>
                          <a:latin typeface="Consolas"/>
                        </a:rPr>
                        <a:t>/COIN</a:t>
                      </a:r>
                      <a:r>
                        <a:rPr b="0" lang="en-US" sz="850" spc="-1" strike="noStrike">
                          <a:solidFill>
                            <a:srgbClr val="1c2430"/>
                          </a:solidFill>
                          <a:latin typeface="Segoe UI"/>
                        </a:rPr>
                        <a:t> o </a:t>
                      </a:r>
                      <a:r>
                        <a:rPr b="0" lang="en-US" sz="850" spc="-1" strike="noStrike">
                          <a:solidFill>
                            <a:srgbClr val="1c2430"/>
                          </a:solidFill>
                          <a:latin typeface="Consolas"/>
                        </a:rPr>
                        <a:t>/V-CMP</a:t>
                      </a:r>
                      <a:r>
                        <a:rPr b="0" lang="en-US" sz="850" spc="-1" strike="noStrike">
                          <a:solidFill>
                            <a:srgbClr val="1c2430"/>
                          </a:solidFill>
                          <a:latin typeface="Segoe UI"/>
                        </a:rPr>
                        <a:t>)</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Salida 1: en posición</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44</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/SI4 (</a:t>
                      </a:r>
                      <a:r>
                        <a:rPr b="0" lang="en-US" sz="850" spc="-1" strike="noStrike">
                          <a:solidFill>
                            <a:srgbClr val="1c2430"/>
                          </a:solidFill>
                          <a:latin typeface="Consolas"/>
                        </a:rPr>
                        <a:t>/ALM-RST</a:t>
                      </a:r>
                      <a:r>
                        <a:rPr b="0" lang="en-US" sz="850" spc="-1" strike="noStrike">
                          <a:solidFill>
                            <a:srgbClr val="1c2430"/>
                          </a:solidFill>
                          <a:latin typeface="Segoe UI"/>
                        </a:rPr>
                        <a:t>)</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Reinicio de alarma</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16440">
                <a:tc>
                  <a:txBody>
                    <a:bodyPr lIns="82080" rIns="82080" tIns="27360" bIns="27360" anchor="ctr">
                      <a:noAutofit/>
                    </a:bodyPr>
                    <a:p>
                      <a:pPr defTabSz="457200">
                        <a:lnSpc>
                          <a:spcPct val="100000"/>
                        </a:lnSpc>
                      </a:pPr>
                      <a:r>
                        <a:rPr b="0" lang="en-US" sz="850" spc="-1" strike="noStrike">
                          <a:solidFill>
                            <a:srgbClr val="1c2430"/>
                          </a:solidFill>
                          <a:latin typeface="Segoe UI"/>
                        </a:rPr>
                        <a:t>48-49</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Consolas"/>
                        </a:rPr>
                        <a:t>PSO</a:t>
                      </a:r>
                      <a:r>
                        <a:rPr b="0" lang="en-US" sz="850" spc="-1" strike="noStrike">
                          <a:solidFill>
                            <a:srgbClr val="1c2430"/>
                          </a:solidFill>
                          <a:latin typeface="Segoe UI"/>
                        </a:rPr>
                        <a:t> / </a:t>
                      </a:r>
                      <a:r>
                        <a:rPr b="0" lang="en-US" sz="850" spc="-1" strike="noStrike">
                          <a:solidFill>
                            <a:srgbClr val="1c2430"/>
                          </a:solidFill>
                          <a:latin typeface="Consolas"/>
                        </a:rPr>
                        <a:t>/PSO</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Salida de posición absoluta</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45-46</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/SI5, /SI6 (</a:t>
                      </a:r>
                      <a:r>
                        <a:rPr b="0" lang="en-US" sz="850" spc="-1" strike="noStrike">
                          <a:solidFill>
                            <a:srgbClr val="1c2430"/>
                          </a:solidFill>
                          <a:latin typeface="Consolas"/>
                        </a:rPr>
                        <a:t>/P-CL</a:t>
                      </a:r>
                      <a:r>
                        <a:rPr b="0" lang="en-US" sz="850" spc="-1" strike="noStrike">
                          <a:solidFill>
                            <a:srgbClr val="1c2430"/>
                          </a:solidFill>
                          <a:latin typeface="Segoe UI"/>
                        </a:rPr>
                        <a:t>, </a:t>
                      </a:r>
                      <a:r>
                        <a:rPr b="0" lang="en-US" sz="850" spc="-1" strike="noStrike">
                          <a:solidFill>
                            <a:srgbClr val="1c2430"/>
                          </a:solidFill>
                          <a:latin typeface="Consolas"/>
                        </a:rPr>
                        <a:t>/N-CL</a:t>
                      </a:r>
                      <a:r>
                        <a:rPr b="0" lang="en-US" sz="850" spc="-1" strike="noStrike">
                          <a:solidFill>
                            <a:srgbClr val="1c2430"/>
                          </a:solidFill>
                          <a:latin typeface="Segoe UI"/>
                        </a:rPr>
                        <a:t>)</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Límite externo de par</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16440">
                <a:tc>
                  <a:txBody>
                    <a:bodyPr lIns="82080" rIns="82080" tIns="27360" bIns="27360" anchor="ctr">
                      <a:noAutofit/>
                    </a:bodyPr>
                    <a:p>
                      <a:pPr defTabSz="457200">
                        <a:lnSpc>
                          <a:spcPct val="100000"/>
                        </a:lnSpc>
                      </a:pPr>
                      <a:r>
                        <a:rPr b="0" lang="en-US" sz="850" spc="-1" strike="noStrike">
                          <a:solidFill>
                            <a:srgbClr val="1c2430"/>
                          </a:solidFill>
                          <a:latin typeface="Segoe UI"/>
                        </a:rPr>
                        <a:t>50</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Consolas"/>
                        </a:rPr>
                        <a:t>TH</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Entrada de protección térmica</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Segoe UI"/>
                        </a:rPr>
                        <a:t>47</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850" spc="-1" strike="noStrike">
                          <a:solidFill>
                            <a:srgbClr val="1c2430"/>
                          </a:solidFill>
                          <a:latin typeface="Consolas"/>
                        </a:rPr>
                        <a:t>+24VIN</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850" spc="-1" strike="noStrike">
                          <a:solidFill>
                            <a:srgbClr val="1c2430"/>
                          </a:solidFill>
                          <a:latin typeface="Segoe UI"/>
                        </a:rPr>
                        <a:t>Común de las entradas</a:t>
                      </a:r>
                      <a:endParaRPr b="0" lang="en-US" sz="8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391"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Fuente: SIEP C710812 03I, apartado 4.5.2. Muchas de estas señales se pueden reasignar por parámetro; el sufijo -Y3600A puede alterar los valores de fábrica.</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2"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393"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394"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Ejemplo oficial de cableado: control de velocidad</a:t>
            </a:r>
            <a:endParaRPr b="0" lang="en-US" sz="2500" spc="-1" strike="noStrike">
              <a:solidFill>
                <a:srgbClr val="000000"/>
              </a:solidFill>
              <a:latin typeface="Arial"/>
            </a:endParaRPr>
          </a:p>
        </p:txBody>
      </p:sp>
      <p:sp>
        <p:nvSpPr>
          <p:cNvPr id="1395"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Servomotor rotativo con consigna analógica</a:t>
            </a:r>
            <a:endParaRPr b="0" lang="en-US" sz="1250" spc="-1" strike="noStrike">
              <a:solidFill>
                <a:srgbClr val="000000"/>
              </a:solidFill>
              <a:latin typeface="Arial"/>
            </a:endParaRPr>
          </a:p>
        </p:txBody>
      </p:sp>
      <p:sp>
        <p:nvSpPr>
          <p:cNvPr id="1396"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397"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398"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76</a:t>
            </a:r>
            <a:endParaRPr b="0" lang="en-US" sz="900" spc="-1" strike="noStrike">
              <a:solidFill>
                <a:srgbClr val="000000"/>
              </a:solidFill>
              <a:latin typeface="Arial"/>
            </a:endParaRPr>
          </a:p>
        </p:txBody>
      </p:sp>
      <p:sp>
        <p:nvSpPr>
          <p:cNvPr id="1399" name="Rectangle 8"/>
          <p:cNvSpPr/>
          <p:nvPr/>
        </p:nvSpPr>
        <p:spPr>
          <a:xfrm>
            <a:off x="3706560" y="1426320"/>
            <a:ext cx="477828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400" name="Picture 9" descr="cn1_ejemplo_velocidad.png"/>
          <p:cNvPicPr/>
          <p:nvPr/>
        </p:nvPicPr>
        <p:blipFill>
          <a:blip r:embed="rId1"/>
          <a:stretch/>
        </p:blipFill>
        <p:spPr>
          <a:xfrm>
            <a:off x="3761280" y="1481400"/>
            <a:ext cx="4668480" cy="4498560"/>
          </a:xfrm>
          <a:prstGeom prst="rect">
            <a:avLst/>
          </a:prstGeom>
          <a:ln w="0">
            <a:noFill/>
          </a:ln>
        </p:spPr>
      </p:pic>
      <p:sp>
        <p:nvSpPr>
          <p:cNvPr id="1401"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4.5.3 (1)</a:t>
            </a:r>
            <a:endParaRPr b="0" lang="en-US"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2"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03"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404"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Ejemplo oficial de cableado: control de posición</a:t>
            </a:r>
            <a:endParaRPr b="0" lang="en-US" sz="2500" spc="-1" strike="noStrike">
              <a:solidFill>
                <a:srgbClr val="000000"/>
              </a:solidFill>
              <a:latin typeface="Arial"/>
            </a:endParaRPr>
          </a:p>
        </p:txBody>
      </p:sp>
      <p:sp>
        <p:nvSpPr>
          <p:cNvPr id="1405"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Servomotor rotativo con tren de pulsos</a:t>
            </a:r>
            <a:endParaRPr b="0" lang="en-US" sz="1250" spc="-1" strike="noStrike">
              <a:solidFill>
                <a:srgbClr val="000000"/>
              </a:solidFill>
              <a:latin typeface="Arial"/>
            </a:endParaRPr>
          </a:p>
        </p:txBody>
      </p:sp>
      <p:sp>
        <p:nvSpPr>
          <p:cNvPr id="1406"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407"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408"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77</a:t>
            </a:r>
            <a:endParaRPr b="0" lang="en-US" sz="900" spc="-1" strike="noStrike">
              <a:solidFill>
                <a:srgbClr val="000000"/>
              </a:solidFill>
              <a:latin typeface="Arial"/>
            </a:endParaRPr>
          </a:p>
        </p:txBody>
      </p:sp>
      <p:sp>
        <p:nvSpPr>
          <p:cNvPr id="1409" name="Rectangle 8"/>
          <p:cNvSpPr/>
          <p:nvPr/>
        </p:nvSpPr>
        <p:spPr>
          <a:xfrm>
            <a:off x="3972240" y="1426320"/>
            <a:ext cx="424728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410" name="Picture 9" descr="cn1_ejemplo_posicion.png"/>
          <p:cNvPicPr/>
          <p:nvPr/>
        </p:nvPicPr>
        <p:blipFill>
          <a:blip r:embed="rId1"/>
          <a:stretch/>
        </p:blipFill>
        <p:spPr>
          <a:xfrm>
            <a:off x="4026960" y="1481400"/>
            <a:ext cx="4137480" cy="4498560"/>
          </a:xfrm>
          <a:prstGeom prst="rect">
            <a:avLst/>
          </a:prstGeom>
          <a:ln w="0">
            <a:noFill/>
          </a:ln>
        </p:spPr>
      </p:pic>
      <p:sp>
        <p:nvSpPr>
          <p:cNvPr id="1411"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4.5.3 (3)</a:t>
            </a:r>
            <a:endParaRPr b="0" lang="en-US" sz="8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2"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13"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414" name="TextBox 3"/>
          <p:cNvSpPr/>
          <p:nvPr/>
        </p:nvSpPr>
        <p:spPr>
          <a:xfrm>
            <a:off x="567000" y="182880"/>
            <a:ext cx="8954280" cy="298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960" spc="-1" strike="noStrike">
                <a:solidFill>
                  <a:srgbClr val="ffffff"/>
                </a:solidFill>
                <a:latin typeface="Segoe UI Semibold"/>
              </a:rPr>
              <a:t>Circuitos de entrada de referencia: line driver o colector abierto</a:t>
            </a:r>
            <a:endParaRPr b="0" lang="en-US" sz="1960" spc="-1" strike="noStrike">
              <a:solidFill>
                <a:srgbClr val="000000"/>
              </a:solidFill>
              <a:latin typeface="Arial"/>
            </a:endParaRPr>
          </a:p>
        </p:txBody>
      </p:sp>
      <p:sp>
        <p:nvSpPr>
          <p:cNvPr id="1415"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elección eléctrica que condiciona la fiabilidad del eje</a:t>
            </a:r>
            <a:endParaRPr b="0" lang="en-US" sz="1250" spc="-1" strike="noStrike">
              <a:solidFill>
                <a:srgbClr val="000000"/>
              </a:solidFill>
              <a:latin typeface="Arial"/>
            </a:endParaRPr>
          </a:p>
        </p:txBody>
      </p:sp>
      <p:sp>
        <p:nvSpPr>
          <p:cNvPr id="1416"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417"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418"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78</a:t>
            </a:r>
            <a:endParaRPr b="0" lang="en-US" sz="900" spc="-1" strike="noStrike">
              <a:solidFill>
                <a:srgbClr val="000000"/>
              </a:solidFill>
              <a:latin typeface="Arial"/>
            </a:endParaRPr>
          </a:p>
        </p:txBody>
      </p:sp>
      <p:sp>
        <p:nvSpPr>
          <p:cNvPr id="1419" name="Rectangle 8"/>
          <p:cNvSpPr/>
          <p:nvPr/>
        </p:nvSpPr>
        <p:spPr>
          <a:xfrm>
            <a:off x="511920" y="2193840"/>
            <a:ext cx="7075800" cy="307332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420" name="Picture 9" descr="cn1_circuitos_pulsos.png"/>
          <p:cNvPicPr/>
          <p:nvPr/>
        </p:nvPicPr>
        <p:blipFill>
          <a:blip r:embed="rId1"/>
          <a:stretch/>
        </p:blipFill>
        <p:spPr>
          <a:xfrm>
            <a:off x="567000" y="2248560"/>
            <a:ext cx="6966000" cy="2963880"/>
          </a:xfrm>
          <a:prstGeom prst="rect">
            <a:avLst/>
          </a:prstGeom>
          <a:ln w="0">
            <a:noFill/>
          </a:ln>
        </p:spPr>
      </p:pic>
      <p:sp>
        <p:nvSpPr>
          <p:cNvPr id="1421"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4.5.4</a:t>
            </a:r>
            <a:endParaRPr b="0" lang="en-US" sz="850" spc="-1" strike="noStrike">
              <a:solidFill>
                <a:srgbClr val="000000"/>
              </a:solidFill>
              <a:latin typeface="Arial"/>
            </a:endParaRPr>
          </a:p>
        </p:txBody>
      </p:sp>
      <p:sp>
        <p:nvSpPr>
          <p:cNvPr id="1422"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23" name="TextBox 12"/>
          <p:cNvSpPr/>
          <p:nvPr/>
        </p:nvSpPr>
        <p:spPr>
          <a:xfrm>
            <a:off x="8027280" y="1664280"/>
            <a:ext cx="3377880" cy="389700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100" spc="-1" strike="noStrike">
                <a:solidFill>
                  <a:srgbClr val="1b5ea8"/>
                </a:solidFill>
                <a:latin typeface="Segoe UI Semibold"/>
              </a:rPr>
              <a:t>Line driver (recomendado)</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50" spc="-1" strike="noStrike">
                <a:solidFill>
                  <a:srgbClr val="1c2430"/>
                </a:solidFill>
                <a:latin typeface="Segoe UI"/>
              </a:rPr>
              <a:t>Salida diferencial tipo SN75ALS174 o equivalente.</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50" spc="-1" strike="noStrike">
                <a:solidFill>
                  <a:srgbClr val="1c2430"/>
                </a:solidFill>
                <a:latin typeface="Segoe UI"/>
              </a:rPr>
              <a:t>Nivel alto ≥ 2,9 V y nivel bajo ≤ 3,6 V según la fórmula del manual.</a:t>
            </a:r>
            <a:endParaRPr b="0" lang="en-US" sz="11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00" spc="-1" strike="noStrike">
                <a:solidFill>
                  <a:srgbClr val="333f4c"/>
                </a:solidFill>
                <a:latin typeface="Segoe UI"/>
              </a:rPr>
              <a:t>Si no se cumple, la entrada es </a:t>
            </a:r>
            <a:r>
              <a:rPr b="1" lang="en-US" sz="1000" spc="-1" strike="noStrike">
                <a:solidFill>
                  <a:srgbClr val="333f4c"/>
                </a:solidFill>
                <a:latin typeface="Segoe UI"/>
              </a:rPr>
              <a:t>inestable</a:t>
            </a:r>
            <a:r>
              <a:rPr b="0" lang="en-US" sz="1000" spc="-1" strike="noStrike">
                <a:solidFill>
                  <a:srgbClr val="333f4c"/>
                </a:solidFill>
                <a:latin typeface="Segoe UI"/>
              </a:rPr>
              <a:t>: se pierden pulsos, se invierte el signo o se activa el borrado por error.</a:t>
            </a:r>
            <a:endParaRPr b="0" lang="en-US" sz="1000" spc="-1" strike="noStrike">
              <a:solidFill>
                <a:srgbClr val="000000"/>
              </a:solidFill>
              <a:latin typeface="Arial"/>
            </a:endParaRPr>
          </a:p>
          <a:p>
            <a:pPr defTabSz="457200">
              <a:lnSpc>
                <a:spcPct val="106000"/>
              </a:lnSpc>
              <a:spcBef>
                <a:spcPts val="799"/>
              </a:spcBef>
              <a:spcAft>
                <a:spcPts val="901"/>
              </a:spcAft>
              <a:tabLst>
                <a:tab algn="l" pos="0"/>
              </a:tabLst>
            </a:pPr>
            <a:r>
              <a:rPr b="1" lang="en-US" sz="1100" spc="-1" strike="noStrike">
                <a:solidFill>
                  <a:srgbClr val="1b5ea8"/>
                </a:solidFill>
                <a:latin typeface="Segoe UI Semibold"/>
              </a:rPr>
              <a:t>Colector abierto</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50" spc="-1" strike="noStrike">
                <a:solidFill>
                  <a:srgbClr val="1c2430"/>
                </a:solidFill>
                <a:latin typeface="Segoe UI"/>
              </a:rPr>
              <a:t>El drive ofrece salida de alimentación por </a:t>
            </a:r>
            <a:r>
              <a:rPr b="1" lang="en-US" sz="1150" spc="-1" strike="noStrike">
                <a:solidFill>
                  <a:srgbClr val="1c2430"/>
                </a:solidFill>
                <a:latin typeface="Consolas"/>
              </a:rPr>
              <a:t>PL1</a:t>
            </a:r>
            <a:r>
              <a:rPr b="1" lang="en-US" sz="1150" spc="-1" strike="noStrike">
                <a:solidFill>
                  <a:srgbClr val="1c2430"/>
                </a:solidFill>
                <a:latin typeface="Segoe UI"/>
              </a:rPr>
              <a:t>, </a:t>
            </a:r>
            <a:r>
              <a:rPr b="1" lang="en-US" sz="1150" spc="-1" strike="noStrike">
                <a:solidFill>
                  <a:srgbClr val="1c2430"/>
                </a:solidFill>
                <a:latin typeface="Consolas"/>
              </a:rPr>
              <a:t>PL2</a:t>
            </a:r>
            <a:r>
              <a:rPr b="1" lang="en-US" sz="1150" spc="-1" strike="noStrike">
                <a:solidFill>
                  <a:srgbClr val="1c2430"/>
                </a:solidFill>
                <a:latin typeface="Segoe UI"/>
              </a:rPr>
              <a:t> y </a:t>
            </a:r>
            <a:r>
              <a:rPr b="1" lang="en-US" sz="1150" spc="-1" strike="noStrike">
                <a:solidFill>
                  <a:srgbClr val="1c2430"/>
                </a:solidFill>
                <a:latin typeface="Consolas"/>
              </a:rPr>
              <a:t>PL3</a:t>
            </a:r>
            <a:r>
              <a:rPr b="1" lang="en-US" sz="1150" spc="-1" strike="noStrike">
                <a:solidFill>
                  <a:srgbClr val="1c2430"/>
                </a:solidFill>
                <a:latin typeface="Segoe UI"/>
              </a:rPr>
              <a:t> con resistencia interna de 1 kΩ.</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50" spc="-1" strike="noStrike">
                <a:solidFill>
                  <a:srgbClr val="1c2430"/>
                </a:solidFill>
                <a:latin typeface="Segoe UI"/>
              </a:rPr>
              <a:t>Si el controlador usa su propia fuente, hay que respetar la tabla de resistencia de pull-up: 24 V → 1,8-2,7 kΩ · 12 V → 820 Ω-1,5 kΩ · 5 V → 180-470 Ω.</a:t>
            </a:r>
            <a:endParaRPr b="0" lang="en-US" sz="11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00" spc="-1" strike="noStrike">
                <a:solidFill>
                  <a:srgbClr val="333f4c"/>
                </a:solidFill>
                <a:latin typeface="Segoe UI"/>
              </a:rPr>
              <a:t>Corriente de salida máxima: 20 mA.</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2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42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Circuitos de salida por fotoacoplador</a:t>
            </a:r>
            <a:endParaRPr b="0" lang="en-US" sz="2500" spc="-1" strike="noStrike">
              <a:solidFill>
                <a:srgbClr val="000000"/>
              </a:solidFill>
              <a:latin typeface="Arial"/>
            </a:endParaRPr>
          </a:p>
        </p:txBody>
      </p:sp>
      <p:sp>
        <p:nvSpPr>
          <p:cNvPr id="142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Lo que realmente hay detrás de </a:t>
            </a:r>
            <a:r>
              <a:rPr b="0" lang="en-US" sz="1250" spc="-1" strike="noStrike">
                <a:solidFill>
                  <a:srgbClr val="a9c6e0"/>
                </a:solidFill>
                <a:latin typeface="Consolas"/>
              </a:rPr>
              <a:t>ALM</a:t>
            </a:r>
            <a:r>
              <a:rPr b="0" lang="en-US" sz="1250" spc="-1" strike="noStrike">
                <a:solidFill>
                  <a:srgbClr val="a9c6e0"/>
                </a:solidFill>
                <a:latin typeface="Segoe UI"/>
              </a:rPr>
              <a:t>, </a:t>
            </a:r>
            <a:r>
              <a:rPr b="0" lang="en-US" sz="1250" spc="-1" strike="noStrike">
                <a:solidFill>
                  <a:srgbClr val="a9c6e0"/>
                </a:solidFill>
                <a:latin typeface="Consolas"/>
              </a:rPr>
              <a:t>/COIN</a:t>
            </a:r>
            <a:r>
              <a:rPr b="0" lang="en-US" sz="1250" spc="-1" strike="noStrike">
                <a:solidFill>
                  <a:srgbClr val="a9c6e0"/>
                </a:solidFill>
                <a:latin typeface="Segoe UI"/>
              </a:rPr>
              <a:t> o </a:t>
            </a:r>
            <a:r>
              <a:rPr b="0" lang="en-US" sz="1250" spc="-1" strike="noStrike">
                <a:solidFill>
                  <a:srgbClr val="a9c6e0"/>
                </a:solidFill>
                <a:latin typeface="Consolas"/>
              </a:rPr>
              <a:t>/BK</a:t>
            </a:r>
            <a:endParaRPr b="0" lang="en-US" sz="1250" spc="-1" strike="noStrike">
              <a:solidFill>
                <a:srgbClr val="000000"/>
              </a:solidFill>
              <a:latin typeface="Arial"/>
            </a:endParaRPr>
          </a:p>
        </p:txBody>
      </p:sp>
      <p:sp>
        <p:nvSpPr>
          <p:cNvPr id="142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42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43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79</a:t>
            </a:r>
            <a:endParaRPr b="0" lang="en-US" sz="900" spc="-1" strike="noStrike">
              <a:solidFill>
                <a:srgbClr val="000000"/>
              </a:solidFill>
              <a:latin typeface="Arial"/>
            </a:endParaRPr>
          </a:p>
        </p:txBody>
      </p:sp>
      <p:sp>
        <p:nvSpPr>
          <p:cNvPr id="1431" name="Rectangle 8"/>
          <p:cNvSpPr/>
          <p:nvPr/>
        </p:nvSpPr>
        <p:spPr>
          <a:xfrm>
            <a:off x="1927440" y="1426320"/>
            <a:ext cx="424512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432" name="Picture 9" descr="cn1_circuitos_salida.png"/>
          <p:cNvPicPr/>
          <p:nvPr/>
        </p:nvPicPr>
        <p:blipFill>
          <a:blip r:embed="rId1"/>
          <a:stretch/>
        </p:blipFill>
        <p:spPr>
          <a:xfrm>
            <a:off x="1982160" y="1481400"/>
            <a:ext cx="4135320" cy="4498560"/>
          </a:xfrm>
          <a:prstGeom prst="rect">
            <a:avLst/>
          </a:prstGeom>
          <a:ln w="0">
            <a:noFill/>
          </a:ln>
        </p:spPr>
      </p:pic>
      <p:sp>
        <p:nvSpPr>
          <p:cNvPr id="1433"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4.5.4</a:t>
            </a:r>
            <a:endParaRPr b="0" lang="en-US" sz="850" spc="-1" strike="noStrike">
              <a:solidFill>
                <a:srgbClr val="000000"/>
              </a:solidFill>
              <a:latin typeface="Arial"/>
            </a:endParaRPr>
          </a:p>
        </p:txBody>
      </p:sp>
      <p:sp>
        <p:nvSpPr>
          <p:cNvPr id="1434"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35" name="TextBox 12"/>
          <p:cNvSpPr/>
          <p:nvPr/>
        </p:nvSpPr>
        <p:spPr>
          <a:xfrm>
            <a:off x="8027280" y="1664280"/>
            <a:ext cx="3377880" cy="354996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150" spc="-1" strike="noStrike">
                <a:solidFill>
                  <a:srgbClr val="1b5ea8"/>
                </a:solidFill>
                <a:latin typeface="Segoe UI Semibold"/>
              </a:rPr>
              <a:t>Características</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Salidas por fotoacoplador, aisladas del circuito interno.</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Máximo 30 V CC y 50 mA por salida.</a:t>
            </a:r>
            <a:endParaRPr b="0" lang="en-US" sz="1200" spc="-1" strike="noStrike">
              <a:solidFill>
                <a:srgbClr val="000000"/>
              </a:solidFill>
              <a:latin typeface="Arial"/>
            </a:endParaRPr>
          </a:p>
          <a:p>
            <a:pPr defTabSz="457200">
              <a:lnSpc>
                <a:spcPct val="106000"/>
              </a:lnSpc>
              <a:spcBef>
                <a:spcPts val="799"/>
              </a:spcBef>
              <a:spcAft>
                <a:spcPts val="901"/>
              </a:spcAft>
              <a:tabLst>
                <a:tab algn="l" pos="0"/>
              </a:tabLst>
            </a:pPr>
            <a:r>
              <a:rPr b="1" lang="en-US" sz="1150" spc="-1" strike="noStrike">
                <a:solidFill>
                  <a:srgbClr val="1b5ea8"/>
                </a:solidFill>
                <a:latin typeface="Segoe UI Semibold"/>
              </a:rPr>
              <a:t>Consecuencias prácticas</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No atacan directamente contactores, electroválvulas ni lámparas de potencia: hay que usar relé intermedio.</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Toda carga inductiva necesita diodo volante o varistor.</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Respeta la polaridad: no son contactos libres de potencial.</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Si superas los límites, la salida se destruye y la reparación exige cambiar el amplificador.</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3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43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Circuitos de entrada analógica</a:t>
            </a:r>
            <a:endParaRPr b="0" lang="en-US" sz="2500" spc="-1" strike="noStrike">
              <a:solidFill>
                <a:srgbClr val="000000"/>
              </a:solidFill>
              <a:latin typeface="Arial"/>
            </a:endParaRPr>
          </a:p>
        </p:txBody>
      </p:sp>
      <p:sp>
        <p:nvSpPr>
          <p:cNvPr id="143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Consolas"/>
              </a:rPr>
              <a:t>V-REF</a:t>
            </a:r>
            <a:r>
              <a:rPr b="0" lang="en-US" sz="1250" spc="-1" strike="noStrike">
                <a:solidFill>
                  <a:srgbClr val="a9c6e0"/>
                </a:solidFill>
                <a:latin typeface="Segoe UI"/>
              </a:rPr>
              <a:t> (pines 5-6) y </a:t>
            </a:r>
            <a:r>
              <a:rPr b="0" lang="en-US" sz="1250" spc="-1" strike="noStrike">
                <a:solidFill>
                  <a:srgbClr val="a9c6e0"/>
                </a:solidFill>
                <a:latin typeface="Consolas"/>
              </a:rPr>
              <a:t>T-REF</a:t>
            </a:r>
            <a:r>
              <a:rPr b="0" lang="en-US" sz="1250" spc="-1" strike="noStrike">
                <a:solidFill>
                  <a:srgbClr val="a9c6e0"/>
                </a:solidFill>
                <a:latin typeface="Segoe UI"/>
              </a:rPr>
              <a:t> (pines 9-10)</a:t>
            </a:r>
            <a:endParaRPr b="0" lang="en-US" sz="1250" spc="-1" strike="noStrike">
              <a:solidFill>
                <a:srgbClr val="000000"/>
              </a:solidFill>
              <a:latin typeface="Arial"/>
            </a:endParaRPr>
          </a:p>
        </p:txBody>
      </p:sp>
      <p:sp>
        <p:nvSpPr>
          <p:cNvPr id="144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44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44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80</a:t>
            </a:r>
            <a:endParaRPr b="0" lang="en-US" sz="900" spc="-1" strike="noStrike">
              <a:solidFill>
                <a:srgbClr val="000000"/>
              </a:solidFill>
              <a:latin typeface="Arial"/>
            </a:endParaRPr>
          </a:p>
        </p:txBody>
      </p:sp>
      <p:sp>
        <p:nvSpPr>
          <p:cNvPr id="1443" name="Rectangle 8"/>
          <p:cNvSpPr/>
          <p:nvPr/>
        </p:nvSpPr>
        <p:spPr>
          <a:xfrm>
            <a:off x="511920" y="2540880"/>
            <a:ext cx="7075800" cy="237960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444" name="Picture 9" descr="cn1_circuitos_analogicos.png"/>
          <p:cNvPicPr/>
          <p:nvPr/>
        </p:nvPicPr>
        <p:blipFill>
          <a:blip r:embed="rId1"/>
          <a:stretch/>
        </p:blipFill>
        <p:spPr>
          <a:xfrm>
            <a:off x="567000" y="2595600"/>
            <a:ext cx="6966000" cy="2269800"/>
          </a:xfrm>
          <a:prstGeom prst="rect">
            <a:avLst/>
          </a:prstGeom>
          <a:ln w="0">
            <a:noFill/>
          </a:ln>
        </p:spPr>
      </p:pic>
      <p:sp>
        <p:nvSpPr>
          <p:cNvPr id="1445"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4.5.4</a:t>
            </a:r>
            <a:endParaRPr b="0" lang="en-US" sz="850" spc="-1" strike="noStrike">
              <a:solidFill>
                <a:srgbClr val="000000"/>
              </a:solidFill>
              <a:latin typeface="Arial"/>
            </a:endParaRPr>
          </a:p>
        </p:txBody>
      </p:sp>
      <p:sp>
        <p:nvSpPr>
          <p:cNvPr id="1446"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47" name="TextBox 12"/>
          <p:cNvSpPr/>
          <p:nvPr/>
        </p:nvSpPr>
        <p:spPr>
          <a:xfrm>
            <a:off x="8027280" y="1664280"/>
            <a:ext cx="3377880" cy="354996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150" spc="-1" strike="noStrike">
                <a:solidFill>
                  <a:srgbClr val="1b5ea8"/>
                </a:solidFill>
                <a:latin typeface="Segoe UI Semibold"/>
              </a:rPr>
              <a:t>Datos eléctricos</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Impedancia de entrada: 30 kΩ en ambas.</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Tensión máxima admisible: ±12 V.</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Se usan como consigna de velocidad, de par, o como límite externo de par.</a:t>
            </a:r>
            <a:endParaRPr b="0" lang="en-US" sz="1200" spc="-1" strike="noStrike">
              <a:solidFill>
                <a:srgbClr val="000000"/>
              </a:solidFill>
              <a:latin typeface="Arial"/>
            </a:endParaRPr>
          </a:p>
          <a:p>
            <a:pPr defTabSz="457200">
              <a:lnSpc>
                <a:spcPct val="106000"/>
              </a:lnSpc>
              <a:spcBef>
                <a:spcPts val="799"/>
              </a:spcBef>
              <a:spcAft>
                <a:spcPts val="901"/>
              </a:spcAft>
              <a:tabLst>
                <a:tab algn="l" pos="0"/>
              </a:tabLst>
            </a:pPr>
            <a:r>
              <a:rPr b="1" lang="en-US" sz="1150" spc="-1" strike="noStrike">
                <a:solidFill>
                  <a:srgbClr val="1b5ea8"/>
                </a:solidFill>
                <a:latin typeface="Segoe UI Semibold"/>
              </a:rPr>
              <a:t>Buenas prácticas</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Par trenzado y apantallado; masa de señal (SG) bien referenciada.</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Ajusta el offset en frío y en caliente: la deriva del convertidor del controlador hace que el eje se mueva con consigna cero.</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Usa </a:t>
            </a:r>
            <a:r>
              <a:rPr b="0" lang="en-US" sz="1050" spc="-1" strike="noStrike">
                <a:solidFill>
                  <a:srgbClr val="333f4c"/>
                </a:solidFill>
                <a:latin typeface="Consolas"/>
              </a:rPr>
              <a:t>/ZCLAMP</a:t>
            </a:r>
            <a:r>
              <a:rPr b="0" lang="en-US" sz="1050" spc="-1" strike="noStrike">
                <a:solidFill>
                  <a:srgbClr val="333f4c"/>
                </a:solidFill>
                <a:latin typeface="Segoe UI"/>
              </a:rPr>
              <a:t> para fijar velocidad cero y evitar la deriva.</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8"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49"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450"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Sobrerrecorrido, límites y métodos de parada</a:t>
            </a:r>
            <a:endParaRPr b="0" lang="en-US" sz="2500" spc="-1" strike="noStrike">
              <a:solidFill>
                <a:srgbClr val="000000"/>
              </a:solidFill>
              <a:latin typeface="Arial"/>
            </a:endParaRPr>
          </a:p>
        </p:txBody>
      </p:sp>
      <p:sp>
        <p:nvSpPr>
          <p:cNvPr id="1451"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Consolas"/>
              </a:rPr>
              <a:t>Pn001</a:t>
            </a:r>
            <a:r>
              <a:rPr b="0" lang="en-US" sz="1250" spc="-1" strike="noStrike">
                <a:solidFill>
                  <a:srgbClr val="a9c6e0"/>
                </a:solidFill>
                <a:latin typeface="Segoe UI"/>
              </a:rPr>
              <a:t> decide qué pasa cuando algo va mal</a:t>
            </a:r>
            <a:endParaRPr b="0" lang="en-US" sz="1250" spc="-1" strike="noStrike">
              <a:solidFill>
                <a:srgbClr val="000000"/>
              </a:solidFill>
              <a:latin typeface="Arial"/>
            </a:endParaRPr>
          </a:p>
        </p:txBody>
      </p:sp>
      <p:sp>
        <p:nvSpPr>
          <p:cNvPr id="1452"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453"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454"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81</a:t>
            </a:r>
            <a:endParaRPr b="0" lang="en-US" sz="900" spc="-1" strike="noStrike">
              <a:solidFill>
                <a:srgbClr val="000000"/>
              </a:solidFill>
              <a:latin typeface="Arial"/>
            </a:endParaRPr>
          </a:p>
        </p:txBody>
      </p:sp>
      <p:sp>
        <p:nvSpPr>
          <p:cNvPr id="1455" name="TextBox 8"/>
          <p:cNvSpPr/>
          <p:nvPr/>
        </p:nvSpPr>
        <p:spPr>
          <a:xfrm>
            <a:off x="567000" y="1481400"/>
            <a:ext cx="11057400" cy="377244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980" spc="-1" strike="noStrike">
                <a:solidFill>
                  <a:srgbClr val="1b5ea8"/>
                </a:solidFill>
                <a:latin typeface="Segoe UI Semibold"/>
              </a:rPr>
              <a:t>Las tres capas de protección de recorrido</a:t>
            </a:r>
            <a:endParaRPr b="0" lang="en-US" sz="9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30" spc="-1" strike="noStrike">
                <a:solidFill>
                  <a:srgbClr val="1c2430"/>
                </a:solidFill>
                <a:latin typeface="Segoe UI"/>
              </a:rPr>
              <a:t>Límite software del controlador: la primera barrera; el PLC o el CNC no genera consignas fuera del rango útil.</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30" spc="-1" strike="noStrike">
                <a:solidFill>
                  <a:srgbClr val="1c2430"/>
                </a:solidFill>
                <a:latin typeface="Segoe UI"/>
              </a:rPr>
              <a:t>Finales de carrera </a:t>
            </a:r>
            <a:r>
              <a:rPr b="1" lang="en-US" sz="1030" spc="-1" strike="noStrike">
                <a:solidFill>
                  <a:srgbClr val="1c2430"/>
                </a:solidFill>
                <a:latin typeface="Consolas"/>
              </a:rPr>
              <a:t>P-OT</a:t>
            </a:r>
            <a:r>
              <a:rPr b="1" lang="en-US" sz="1030" spc="-1" strike="noStrike">
                <a:solidFill>
                  <a:srgbClr val="1c2430"/>
                </a:solidFill>
                <a:latin typeface="Segoe UI"/>
              </a:rPr>
              <a:t> / </a:t>
            </a:r>
            <a:r>
              <a:rPr b="1" lang="en-US" sz="1030" spc="-1" strike="noStrike">
                <a:solidFill>
                  <a:srgbClr val="1c2430"/>
                </a:solidFill>
                <a:latin typeface="Consolas"/>
              </a:rPr>
              <a:t>N-OT</a:t>
            </a:r>
            <a:r>
              <a:rPr b="1" lang="en-US" sz="1030" spc="-1" strike="noStrike">
                <a:solidFill>
                  <a:srgbClr val="1c2430"/>
                </a:solidFill>
                <a:latin typeface="Segoe UI"/>
              </a:rPr>
              <a:t> cableados al drive: detienen el eje aunque el controlador falle.</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30" spc="-1" strike="noStrike">
                <a:solidFill>
                  <a:srgbClr val="1c2430"/>
                </a:solidFill>
                <a:latin typeface="Segoe UI"/>
              </a:rPr>
              <a:t>Topes mecánicos y finales de seguridad independientes: la última barrera, dimensionada para absorber el impacto.</a:t>
            </a:r>
            <a:endParaRPr b="0" lang="en-US" sz="103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980" spc="-1" strike="noStrike">
                <a:solidFill>
                  <a:srgbClr val="1b5ea8"/>
                </a:solidFill>
                <a:latin typeface="Segoe UI Semibold"/>
              </a:rPr>
              <a:t>Qué hace el drive al detectar sobrerrecorrido</a:t>
            </a:r>
            <a:endParaRPr b="0" lang="en-US" sz="9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30" spc="-1" strike="noStrike">
                <a:solidFill>
                  <a:srgbClr val="1c2430"/>
                </a:solidFill>
                <a:latin typeface="Segoe UI"/>
              </a:rPr>
              <a:t>Detiene el movimiento en el sentido de la infracción, pero permite salir en sentido contrario: así puedes retirar el eje.</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30" spc="-1" strike="noStrike">
                <a:solidFill>
                  <a:srgbClr val="1c2430"/>
                </a:solidFill>
                <a:latin typeface="Segoe UI"/>
              </a:rPr>
              <a:t>El método de parada se configura en </a:t>
            </a:r>
            <a:r>
              <a:rPr b="1" lang="en-US" sz="1030" spc="-1" strike="noStrike">
                <a:solidFill>
                  <a:srgbClr val="1c2430"/>
                </a:solidFill>
                <a:latin typeface="Consolas"/>
              </a:rPr>
              <a:t>Pn001</a:t>
            </a:r>
            <a:r>
              <a:rPr b="1" lang="en-US" sz="1030" spc="-1" strike="noStrike">
                <a:solidFill>
                  <a:srgbClr val="1c2430"/>
                </a:solidFill>
                <a:latin typeface="Segoe UI"/>
              </a:rPr>
              <a:t>: parada por freno dinámico, parada por rampa de par o desactivación libre.</a:t>
            </a:r>
            <a:endParaRPr b="0" lang="en-US" sz="103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880" spc="-1" strike="noStrike">
                <a:solidFill>
                  <a:srgbClr val="333f4c"/>
                </a:solidFill>
                <a:latin typeface="Segoe UI"/>
              </a:rPr>
              <a:t>Tras la parada, el eje puede quedar </a:t>
            </a:r>
            <a:r>
              <a:rPr b="1" lang="en-US" sz="880" spc="-1" strike="noStrike">
                <a:solidFill>
                  <a:srgbClr val="333f4c"/>
                </a:solidFill>
                <a:latin typeface="Segoe UI"/>
              </a:rPr>
              <a:t>enclavado</a:t>
            </a:r>
            <a:r>
              <a:rPr b="0" lang="en-US" sz="880" spc="-1" strike="noStrike">
                <a:solidFill>
                  <a:srgbClr val="333f4c"/>
                </a:solidFill>
                <a:latin typeface="Segoe UI"/>
              </a:rPr>
              <a:t> (manteniendo posición) o </a:t>
            </a:r>
            <a:r>
              <a:rPr b="1" lang="en-US" sz="880" spc="-1" strike="noStrike">
                <a:solidFill>
                  <a:srgbClr val="333f4c"/>
                </a:solidFill>
                <a:latin typeface="Segoe UI"/>
              </a:rPr>
              <a:t>libre</a:t>
            </a:r>
            <a:r>
              <a:rPr b="0" lang="en-US" sz="880" spc="-1" strike="noStrike">
                <a:solidFill>
                  <a:srgbClr val="333f4c"/>
                </a:solidFill>
                <a:latin typeface="Segoe UI"/>
              </a:rPr>
              <a:t>, según la configuración.</a:t>
            </a:r>
            <a:endParaRPr b="0" lang="en-US" sz="88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980" spc="-1" strike="noStrike">
                <a:solidFill>
                  <a:srgbClr val="1b5ea8"/>
                </a:solidFill>
                <a:latin typeface="Segoe UI Semibold"/>
              </a:rPr>
              <a:t>Métodos de parada disponibles y cuándo usarlos</a:t>
            </a:r>
            <a:endParaRPr b="0" lang="en-US" sz="9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30" spc="-1" strike="noStrike">
                <a:solidFill>
                  <a:srgbClr val="1c2430"/>
                </a:solidFill>
                <a:latin typeface="Segoe UI"/>
              </a:rPr>
              <a:t>Freno dinámico — parada rápida cortocircuitando las fases. Adecuado para emergencia; genera esfuerzo mecánico.</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30" spc="-1" strike="noStrike">
                <a:solidFill>
                  <a:srgbClr val="1c2430"/>
                </a:solidFill>
                <a:latin typeface="Segoe UI"/>
              </a:rPr>
              <a:t>Parada por par máximo (rampa) — el motor frena de forma controlada. Es la más suave para la mecánica.</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30" spc="-1" strike="noStrike">
                <a:solidFill>
                  <a:srgbClr val="1c2430"/>
                </a:solidFill>
                <a:latin typeface="Segoe UI"/>
              </a:rPr>
              <a:t>Marcha libre (coast) — el eje se detiene por rozamiento. Inaceptable en ejes verticales o de gran inercia.</a:t>
            </a:r>
            <a:endParaRPr b="0" lang="en-US" sz="1030" spc="-1" strike="noStrike">
              <a:solidFill>
                <a:srgbClr val="000000"/>
              </a:solidFill>
              <a:latin typeface="Arial"/>
            </a:endParaRPr>
          </a:p>
        </p:txBody>
      </p:sp>
      <p:sp>
        <p:nvSpPr>
          <p:cNvPr id="1456" name="Rectangle 9"/>
          <p:cNvSpPr/>
          <p:nvPr/>
        </p:nvSpPr>
        <p:spPr>
          <a:xfrm>
            <a:off x="567000" y="5459040"/>
            <a:ext cx="11057400" cy="86832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57" name="Rectangle 10"/>
          <p:cNvSpPr/>
          <p:nvPr/>
        </p:nvSpPr>
        <p:spPr>
          <a:xfrm>
            <a:off x="567000" y="5459040"/>
            <a:ext cx="68400" cy="86832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58" name="TextBox 11"/>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c0392b"/>
                </a:solidFill>
                <a:latin typeface="Segoe UI Semibold"/>
              </a:rPr>
              <a:t>Regla de seguridad</a:t>
            </a:r>
            <a:endParaRPr b="0" lang="en-US" sz="1200" spc="-1" strike="noStrike">
              <a:solidFill>
                <a:srgbClr val="000000"/>
              </a:solidFill>
              <a:latin typeface="Arial"/>
            </a:endParaRPr>
          </a:p>
        </p:txBody>
      </p:sp>
      <p:sp>
        <p:nvSpPr>
          <p:cNvPr id="1459" name="TextBox 12"/>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Deshabilitar </a:t>
            </a:r>
            <a:r>
              <a:rPr b="0" lang="en-US" sz="1150" spc="-1" strike="noStrike">
                <a:solidFill>
                  <a:srgbClr val="2b3644"/>
                </a:solidFill>
                <a:latin typeface="Consolas"/>
              </a:rPr>
              <a:t>P-OT</a:t>
            </a:r>
            <a:r>
              <a:rPr b="0" lang="en-US" sz="1150" spc="-1" strike="noStrike">
                <a:solidFill>
                  <a:srgbClr val="2b3644"/>
                </a:solidFill>
                <a:latin typeface="Segoe UI"/>
              </a:rPr>
              <a:t>/</a:t>
            </a:r>
            <a:r>
              <a:rPr b="0" lang="en-US" sz="1150" spc="-1" strike="noStrike">
                <a:solidFill>
                  <a:srgbClr val="2b3644"/>
                </a:solidFill>
                <a:latin typeface="Consolas"/>
              </a:rPr>
              <a:t>N-OT</a:t>
            </a:r>
            <a:r>
              <a:rPr b="0" lang="en-US" sz="1150" spc="-1" strike="noStrike">
                <a:solidFill>
                  <a:srgbClr val="2b3644"/>
                </a:solidFill>
                <a:latin typeface="Segoe UI"/>
              </a:rPr>
              <a:t> por parámetro para 'facilitar las pruebas' y olvidarse de reactivarlos es una de las causas más habituales de colisiones caras. Documenta cualquier deshabilitación temporal.</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0"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61"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462"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Buses de movimiento: MECHATROLINK-III y EtherCAT</a:t>
            </a:r>
            <a:endParaRPr b="0" lang="en-US" sz="2500" spc="-1" strike="noStrike">
              <a:solidFill>
                <a:srgbClr val="000000"/>
              </a:solidFill>
              <a:latin typeface="Arial"/>
            </a:endParaRPr>
          </a:p>
        </p:txBody>
      </p:sp>
      <p:sp>
        <p:nvSpPr>
          <p:cNvPr id="1463"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En instalación nueva, el bus es casi siempre la mejor opción</a:t>
            </a:r>
            <a:endParaRPr b="0" lang="en-US" sz="1250" spc="-1" strike="noStrike">
              <a:solidFill>
                <a:srgbClr val="000000"/>
              </a:solidFill>
              <a:latin typeface="Arial"/>
            </a:endParaRPr>
          </a:p>
        </p:txBody>
      </p:sp>
      <p:sp>
        <p:nvSpPr>
          <p:cNvPr id="1464"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465"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466"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82</a:t>
            </a:r>
            <a:endParaRPr b="0" lang="en-US" sz="900" spc="-1" strike="noStrike">
              <a:solidFill>
                <a:srgbClr val="000000"/>
              </a:solidFill>
              <a:latin typeface="Arial"/>
            </a:endParaRPr>
          </a:p>
        </p:txBody>
      </p:sp>
      <p:graphicFrame>
        <p:nvGraphicFramePr>
          <p:cNvPr id="1467" name="Table 8"/>
          <p:cNvGraphicFramePr/>
          <p:nvPr/>
        </p:nvGraphicFramePr>
        <p:xfrm>
          <a:off x="567000" y="1481400"/>
          <a:ext cx="11057400" cy="4461840"/>
        </p:xfrm>
        <a:graphic>
          <a:graphicData uri="http://schemas.openxmlformats.org/drawingml/2006/table">
            <a:tbl>
              <a:tblPr/>
              <a:tblGrid>
                <a:gridCol w="1842840"/>
                <a:gridCol w="4146480"/>
                <a:gridCol w="506808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Aspecto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MECHATROLINK-III</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EtherCAT (CoE, perfil CiA 402)</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514080">
                <a:tc>
                  <a:txBody>
                    <a:bodyPr lIns="82080" rIns="82080" tIns="27360" bIns="27360" anchor="ctr">
                      <a:noAutofit/>
                    </a:bodyPr>
                    <a:p>
                      <a:pPr defTabSz="457200">
                        <a:lnSpc>
                          <a:spcPct val="100000"/>
                        </a:lnSpc>
                      </a:pPr>
                      <a:r>
                        <a:rPr b="0" lang="en-US" sz="950" spc="-1" strike="noStrike">
                          <a:solidFill>
                            <a:srgbClr val="1c2430"/>
                          </a:solidFill>
                          <a:latin typeface="Segoe UI"/>
                        </a:rPr>
                        <a:t>Origen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Bus propietario YASKAWA para movimiento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Estándar abierto muy extendido en la industria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950" spc="-1" strike="noStrike">
                          <a:solidFill>
                            <a:srgbClr val="1c2430"/>
                          </a:solidFill>
                          <a:latin typeface="Segoe UI"/>
                        </a:rPr>
                        <a:t>Topología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Línea, con repetidores/switch dedicado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Línea o anillo sobre Ethernet industrial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14080">
                <a:tc>
                  <a:txBody>
                    <a:bodyPr lIns="82080" rIns="82080" tIns="27360" bIns="27360" anchor="ctr">
                      <a:noAutofit/>
                    </a:bodyPr>
                    <a:p>
                      <a:pPr defTabSz="457200">
                        <a:lnSpc>
                          <a:spcPct val="100000"/>
                        </a:lnSpc>
                      </a:pPr>
                      <a:r>
                        <a:rPr b="0" lang="en-US" sz="950" spc="-1" strike="noStrike">
                          <a:solidFill>
                            <a:srgbClr val="1c2430"/>
                          </a:solidFill>
                          <a:latin typeface="Segoe UI"/>
                        </a:rPr>
                        <a:t>Controlador típico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MP2000 / MP3000 de YASKAWA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Cualquier maestro EtherCAT (Beckhoff, Omron, Codesys, Yaskawa…)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950" spc="-1" strike="noStrike">
                          <a:solidFill>
                            <a:srgbClr val="1c2430"/>
                          </a:solidFill>
                          <a:latin typeface="Segoe UI"/>
                        </a:rPr>
                        <a:t>Modos de operación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Posición, velocidad, par, interpolación, búsqueda de origen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Modos CiA 402: </a:t>
                      </a:r>
                      <a:r>
                        <a:rPr b="0" lang="en-US" sz="950" spc="-1" strike="noStrike">
                          <a:solidFill>
                            <a:srgbClr val="1c2430"/>
                          </a:solidFill>
                          <a:latin typeface="Consolas"/>
                        </a:rPr>
                        <a:t>csp</a:t>
                      </a:r>
                      <a:r>
                        <a:rPr b="0" lang="en-US" sz="950" spc="-1" strike="noStrike">
                          <a:solidFill>
                            <a:srgbClr val="1c2430"/>
                          </a:solidFill>
                          <a:latin typeface="Segoe UI"/>
                        </a:rPr>
                        <a:t> (posición cíclica), </a:t>
                      </a:r>
                      <a:r>
                        <a:rPr b="0" lang="en-US" sz="950" spc="-1" strike="noStrike">
                          <a:solidFill>
                            <a:srgbClr val="1c2430"/>
                          </a:solidFill>
                          <a:latin typeface="Consolas"/>
                        </a:rPr>
                        <a:t>csv</a:t>
                      </a:r>
                      <a:r>
                        <a:rPr b="0" lang="en-US" sz="950" spc="-1" strike="noStrike">
                          <a:solidFill>
                            <a:srgbClr val="1c2430"/>
                          </a:solidFill>
                          <a:latin typeface="Segoe UI"/>
                        </a:rPr>
                        <a:t> (velocidad cíclica), </a:t>
                      </a:r>
                      <a:r>
                        <a:rPr b="0" lang="en-US" sz="950" spc="-1" strike="noStrike">
                          <a:solidFill>
                            <a:srgbClr val="1c2430"/>
                          </a:solidFill>
                          <a:latin typeface="Consolas"/>
                        </a:rPr>
                        <a:t>cst</a:t>
                      </a:r>
                      <a:r>
                        <a:rPr b="0" lang="en-US" sz="950" spc="-1" strike="noStrike">
                          <a:solidFill>
                            <a:srgbClr val="1c2430"/>
                          </a:solidFill>
                          <a:latin typeface="Segoe UI"/>
                        </a:rPr>
                        <a:t> (par cíclico), </a:t>
                      </a:r>
                      <a:r>
                        <a:rPr b="0" lang="en-US" sz="950" spc="-1" strike="noStrike">
                          <a:solidFill>
                            <a:srgbClr val="1c2430"/>
                          </a:solidFill>
                          <a:latin typeface="Consolas"/>
                        </a:rPr>
                        <a:t>pp</a:t>
                      </a:r>
                      <a:r>
                        <a:rPr b="0" lang="en-US" sz="950" spc="-1" strike="noStrike">
                          <a:solidFill>
                            <a:srgbClr val="1c2430"/>
                          </a:solidFill>
                          <a:latin typeface="Segoe UI"/>
                        </a:rPr>
                        <a:t>, </a:t>
                      </a:r>
                      <a:r>
                        <a:rPr b="0" lang="en-US" sz="950" spc="-1" strike="noStrike">
                          <a:solidFill>
                            <a:srgbClr val="1c2430"/>
                          </a:solidFill>
                          <a:latin typeface="Consolas"/>
                        </a:rPr>
                        <a:t>hm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14080">
                <a:tc>
                  <a:txBody>
                    <a:bodyPr lIns="82080" rIns="82080" tIns="27360" bIns="27360" anchor="ctr">
                      <a:noAutofit/>
                    </a:bodyPr>
                    <a:p>
                      <a:pPr defTabSz="457200">
                        <a:lnSpc>
                          <a:spcPct val="100000"/>
                        </a:lnSpc>
                      </a:pPr>
                      <a:r>
                        <a:rPr b="0" lang="en-US" sz="950" spc="-1" strike="noStrike">
                          <a:solidFill>
                            <a:srgbClr val="1c2430"/>
                          </a:solidFill>
                          <a:latin typeface="Segoe UI"/>
                        </a:rPr>
                        <a:t>Ventajas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Integración total con el ecosistema YASKAWA; sincronismo excelente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Interoperabilidad, coste de infraestructura bajo, diagnóstico remoto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950" spc="-1" strike="noStrike">
                          <a:solidFill>
                            <a:srgbClr val="1c2430"/>
                          </a:solidFill>
                          <a:latin typeface="Segoe UI"/>
                        </a:rPr>
                        <a:t>Cableado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Cable específico del bus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Cable Ethernet industrial apantallado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14080">
                <a:tc>
                  <a:txBody>
                    <a:bodyPr lIns="82080" rIns="82080" tIns="27360" bIns="27360" anchor="ctr">
                      <a:noAutofit/>
                    </a:bodyPr>
                    <a:p>
                      <a:pPr defTabSz="457200">
                        <a:lnSpc>
                          <a:spcPct val="100000"/>
                        </a:lnSpc>
                      </a:pPr>
                      <a:r>
                        <a:rPr b="0" lang="en-US" sz="950" spc="-1" strike="noStrike">
                          <a:solidFill>
                            <a:srgbClr val="1c2430"/>
                          </a:solidFill>
                          <a:latin typeface="Segoe UI"/>
                        </a:rPr>
                        <a:t>Puesta en marcha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Direccionamiento por interruptores/parámetro y configuración en el controlador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Fichero ESI, mapeo PDO y configuración del maestro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950" spc="-1" strike="noStrike">
                          <a:solidFill>
                            <a:srgbClr val="1c2430"/>
                          </a:solidFill>
                          <a:latin typeface="Segoe UI"/>
                        </a:rPr>
                        <a:t>Diagnóstico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Alarmas de comunicación específicas del bus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Contadores de error por puerto, muy útiles para localizar el cable malo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
        <p:nvSpPr>
          <p:cNvPr id="1468"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Con bus desaparece casi todo el cableado de CN1: servo ON, consigna y estado viajan por telegrama. Los finales de carrera y la seguridad siguen siendo cableado físico.</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6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7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471"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Cómo elegir la arquitectura de control</a:t>
            </a:r>
            <a:endParaRPr b="0" lang="en-US" sz="2500" spc="-1" strike="noStrike">
              <a:solidFill>
                <a:srgbClr val="000000"/>
              </a:solidFill>
              <a:latin typeface="Arial"/>
            </a:endParaRPr>
          </a:p>
        </p:txBody>
      </p:sp>
      <p:sp>
        <p:nvSpPr>
          <p:cNvPr id="147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Tres arquitecturas, tres contextos distintos</a:t>
            </a:r>
            <a:endParaRPr b="0" lang="en-US" sz="1250" spc="-1" strike="noStrike">
              <a:solidFill>
                <a:srgbClr val="000000"/>
              </a:solidFill>
              <a:latin typeface="Arial"/>
            </a:endParaRPr>
          </a:p>
        </p:txBody>
      </p:sp>
      <p:sp>
        <p:nvSpPr>
          <p:cNvPr id="147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06</a:t>
            </a:r>
            <a:endParaRPr b="0" lang="en-US" sz="1100" spc="-1" strike="noStrike">
              <a:solidFill>
                <a:srgbClr val="000000"/>
              </a:solidFill>
              <a:latin typeface="Arial"/>
            </a:endParaRPr>
          </a:p>
        </p:txBody>
      </p:sp>
      <p:sp>
        <p:nvSpPr>
          <p:cNvPr id="147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47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83</a:t>
            </a:r>
            <a:endParaRPr b="0" lang="en-US" sz="900" spc="-1" strike="noStrike">
              <a:solidFill>
                <a:srgbClr val="000000"/>
              </a:solidFill>
              <a:latin typeface="Arial"/>
            </a:endParaRPr>
          </a:p>
        </p:txBody>
      </p:sp>
      <p:sp>
        <p:nvSpPr>
          <p:cNvPr id="1476" name="TextBox 8"/>
          <p:cNvSpPr/>
          <p:nvPr/>
        </p:nvSpPr>
        <p:spPr>
          <a:xfrm>
            <a:off x="567000" y="1481400"/>
            <a:ext cx="1105740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5a6b7b"/>
                </a:solidFill>
                <a:latin typeface="Segoe UI"/>
              </a:rPr>
              <a:t>La decisión se toma al comprar el amplificador: forma parte del código de modelo y no se puede cambiar después.</a:t>
            </a:r>
            <a:endParaRPr b="0" lang="en-US" sz="1350" spc="-1" strike="noStrike">
              <a:solidFill>
                <a:srgbClr val="000000"/>
              </a:solidFill>
              <a:latin typeface="Arial"/>
            </a:endParaRPr>
          </a:p>
        </p:txBody>
      </p:sp>
      <p:sp>
        <p:nvSpPr>
          <p:cNvPr id="1477" name="Rectangle 9"/>
          <p:cNvSpPr/>
          <p:nvPr/>
        </p:nvSpPr>
        <p:spPr>
          <a:xfrm>
            <a:off x="567000" y="1956960"/>
            <a:ext cx="3515040" cy="437040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78" name="Rectangle 10"/>
          <p:cNvSpPr/>
          <p:nvPr/>
        </p:nvSpPr>
        <p:spPr>
          <a:xfrm>
            <a:off x="567000" y="1956960"/>
            <a:ext cx="50040" cy="437040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79" name="TextBox 11"/>
          <p:cNvSpPr/>
          <p:nvPr/>
        </p:nvSpPr>
        <p:spPr>
          <a:xfrm>
            <a:off x="822960" y="213984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Elige ANALÓGICA / PULSOS si…</a:t>
            </a:r>
            <a:endParaRPr b="0" lang="en-US" sz="1400" spc="-1" strike="noStrike">
              <a:solidFill>
                <a:srgbClr val="000000"/>
              </a:solidFill>
              <a:latin typeface="Arial"/>
            </a:endParaRPr>
          </a:p>
        </p:txBody>
      </p:sp>
      <p:sp>
        <p:nvSpPr>
          <p:cNvPr id="1480" name="TextBox 12"/>
          <p:cNvSpPr/>
          <p:nvPr/>
        </p:nvSpPr>
        <p:spPr>
          <a:xfrm>
            <a:off x="822960" y="2670120"/>
            <a:ext cx="3057840" cy="168768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200" spc="-1" strike="noStrike">
                <a:solidFill>
                  <a:srgbClr val="2b3644"/>
                </a:solidFill>
                <a:latin typeface="Segoe UI"/>
              </a:rPr>
              <a:t>· Sustituyes un drive antiguo y el controlador se queda.</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El controlador sólo tiene salida de pulsos o ±10 V.</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Hay uno o dos ejes y no se necesita diagnóstico remoto.</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Se prioriza la latencia mínima sobre todo lo demás.</a:t>
            </a:r>
            <a:endParaRPr b="0" lang="en-US" sz="1200" spc="-1" strike="noStrike">
              <a:solidFill>
                <a:srgbClr val="000000"/>
              </a:solidFill>
              <a:latin typeface="Arial"/>
            </a:endParaRPr>
          </a:p>
        </p:txBody>
      </p:sp>
      <p:sp>
        <p:nvSpPr>
          <p:cNvPr id="1481" name="Rectangle 13"/>
          <p:cNvSpPr/>
          <p:nvPr/>
        </p:nvSpPr>
        <p:spPr>
          <a:xfrm>
            <a:off x="4338360" y="1956960"/>
            <a:ext cx="3515040" cy="437040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82" name="Rectangle 14"/>
          <p:cNvSpPr/>
          <p:nvPr/>
        </p:nvSpPr>
        <p:spPr>
          <a:xfrm>
            <a:off x="4338360" y="1956960"/>
            <a:ext cx="50040" cy="437040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83" name="TextBox 15"/>
          <p:cNvSpPr/>
          <p:nvPr/>
        </p:nvSpPr>
        <p:spPr>
          <a:xfrm>
            <a:off x="4594320" y="2139840"/>
            <a:ext cx="3057840" cy="43524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Elige BUS (EtherCAT / MECHATROLINK) si…</a:t>
            </a:r>
            <a:endParaRPr b="0" lang="en-US" sz="1400" spc="-1" strike="noStrike">
              <a:solidFill>
                <a:srgbClr val="000000"/>
              </a:solidFill>
              <a:latin typeface="Arial"/>
            </a:endParaRPr>
          </a:p>
        </p:txBody>
      </p:sp>
      <p:sp>
        <p:nvSpPr>
          <p:cNvPr id="1484" name="TextBox 16"/>
          <p:cNvSpPr/>
          <p:nvPr/>
        </p:nvSpPr>
        <p:spPr>
          <a:xfrm>
            <a:off x="4594320" y="2670120"/>
            <a:ext cx="3057840" cy="149580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200" spc="-1" strike="noStrike">
                <a:solidFill>
                  <a:srgbClr val="2b3644"/>
                </a:solidFill>
                <a:latin typeface="Segoe UI"/>
              </a:rPr>
              <a:t>· Instalación nueva con más de dos ejes.</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Se necesita sincronismo entre ejes (levas, gantry, corte al vuelo).</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Quieres diagnóstico y parametrización remotos.</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Quieres reducir cableado y errores de montaje.</a:t>
            </a:r>
            <a:endParaRPr b="0" lang="en-US" sz="1200" spc="-1" strike="noStrike">
              <a:solidFill>
                <a:srgbClr val="000000"/>
              </a:solidFill>
              <a:latin typeface="Arial"/>
            </a:endParaRPr>
          </a:p>
        </p:txBody>
      </p:sp>
      <p:sp>
        <p:nvSpPr>
          <p:cNvPr id="1485" name="Rectangle 17"/>
          <p:cNvSpPr/>
          <p:nvPr/>
        </p:nvSpPr>
        <p:spPr>
          <a:xfrm>
            <a:off x="8109360" y="1956960"/>
            <a:ext cx="3515040" cy="4370400"/>
          </a:xfrm>
          <a:prstGeom prst="rect">
            <a:avLst/>
          </a:prstGeom>
          <a:solidFill>
            <a:srgbClr val="e4f2ea"/>
          </a:solidFill>
          <a:ln>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86" name="Rectangle 18"/>
          <p:cNvSpPr/>
          <p:nvPr/>
        </p:nvSpPr>
        <p:spPr>
          <a:xfrm>
            <a:off x="8109360" y="1956960"/>
            <a:ext cx="50040" cy="437040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87" name="TextBox 19"/>
          <p:cNvSpPr/>
          <p:nvPr/>
        </p:nvSpPr>
        <p:spPr>
          <a:xfrm>
            <a:off x="8365680" y="2139840"/>
            <a:ext cx="3057840" cy="43524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Elige POSICIONAMIENTO INTERNO si…</a:t>
            </a:r>
            <a:endParaRPr b="0" lang="en-US" sz="1400" spc="-1" strike="noStrike">
              <a:solidFill>
                <a:srgbClr val="000000"/>
              </a:solidFill>
              <a:latin typeface="Arial"/>
            </a:endParaRPr>
          </a:p>
        </p:txBody>
      </p:sp>
      <p:sp>
        <p:nvSpPr>
          <p:cNvPr id="1488" name="TextBox 20"/>
          <p:cNvSpPr/>
          <p:nvPr/>
        </p:nvSpPr>
        <p:spPr>
          <a:xfrm>
            <a:off x="8365680" y="2670120"/>
            <a:ext cx="3057840" cy="168768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200" spc="-1" strike="noStrike">
                <a:solidFill>
                  <a:srgbClr val="2b3644"/>
                </a:solidFill>
                <a:latin typeface="Segoe UI"/>
              </a:rPr>
              <a:t>· El movimiento se reduce a unas pocas posiciones fijas.</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No hay PLC de movimiento y se quiere simplificar.</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El ciclo se dispara con entradas digitales sencillas.</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Se acepta menos flexibilidad a cambio de menos coste.</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9" name="Rectangle 1"/>
          <p:cNvSpPr/>
          <p:nvPr/>
        </p:nvSpPr>
        <p:spPr>
          <a:xfrm>
            <a:off x="0" y="0"/>
            <a:ext cx="12191400" cy="68576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90" name="Rectangle 2"/>
          <p:cNvSpPr/>
          <p:nvPr/>
        </p:nvSpPr>
        <p:spPr>
          <a:xfrm>
            <a:off x="0" y="0"/>
            <a:ext cx="383760" cy="6857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91" name="TextBox 3"/>
          <p:cNvSpPr/>
          <p:nvPr/>
        </p:nvSpPr>
        <p:spPr>
          <a:xfrm>
            <a:off x="1051560" y="1234440"/>
            <a:ext cx="5486040" cy="8841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5800" spc="-1" strike="noStrike">
                <a:solidFill>
                  <a:srgbClr val="143a63"/>
                </a:solidFill>
                <a:latin typeface="Segoe UI Semibold"/>
              </a:rPr>
              <a:t>MÓDULO 07</a:t>
            </a:r>
            <a:endParaRPr b="0" lang="en-US" sz="5800" spc="-1" strike="noStrike">
              <a:solidFill>
                <a:srgbClr val="000000"/>
              </a:solidFill>
              <a:latin typeface="Arial"/>
            </a:endParaRPr>
          </a:p>
        </p:txBody>
      </p:sp>
      <p:sp>
        <p:nvSpPr>
          <p:cNvPr id="1492" name="TextBox 4"/>
          <p:cNvSpPr/>
          <p:nvPr/>
        </p:nvSpPr>
        <p:spPr>
          <a:xfrm>
            <a:off x="1051560" y="2331720"/>
            <a:ext cx="9875160" cy="54396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1" lang="en-US" sz="3400" spc="-1" strike="noStrike">
                <a:solidFill>
                  <a:srgbClr val="ffffff"/>
                </a:solidFill>
                <a:latin typeface="Segoe UI Semibold"/>
              </a:rPr>
              <a:t>Parámetros, panel y SigmaWin+</a:t>
            </a:r>
            <a:endParaRPr b="0" lang="en-US" sz="3400" spc="-1" strike="noStrike">
              <a:solidFill>
                <a:srgbClr val="000000"/>
              </a:solidFill>
              <a:latin typeface="Arial"/>
            </a:endParaRPr>
          </a:p>
        </p:txBody>
      </p:sp>
      <p:sp>
        <p:nvSpPr>
          <p:cNvPr id="1493" name="Rectangle 5"/>
          <p:cNvSpPr/>
          <p:nvPr/>
        </p:nvSpPr>
        <p:spPr>
          <a:xfrm>
            <a:off x="1051560" y="3703320"/>
            <a:ext cx="1279800" cy="453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1494" name="Rectangle 6"/>
          <p:cNvSpPr/>
          <p:nvPr/>
        </p:nvSpPr>
        <p:spPr>
          <a:xfrm>
            <a:off x="1051560" y="41468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95" name="TextBox 7"/>
          <p:cNvSpPr/>
          <p:nvPr/>
        </p:nvSpPr>
        <p:spPr>
          <a:xfrm>
            <a:off x="1325880" y="40690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El panel frontal: leer el estado y navegar sin PC</a:t>
            </a:r>
            <a:endParaRPr b="0" lang="en-US" sz="1350" spc="-1" strike="noStrike">
              <a:solidFill>
                <a:srgbClr val="000000"/>
              </a:solidFill>
              <a:latin typeface="Arial"/>
            </a:endParaRPr>
          </a:p>
        </p:txBody>
      </p:sp>
      <p:sp>
        <p:nvSpPr>
          <p:cNvPr id="1496" name="Rectangle 8"/>
          <p:cNvSpPr/>
          <p:nvPr/>
        </p:nvSpPr>
        <p:spPr>
          <a:xfrm>
            <a:off x="1051560" y="451260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97" name="TextBox 9"/>
          <p:cNvSpPr/>
          <p:nvPr/>
        </p:nvSpPr>
        <p:spPr>
          <a:xfrm>
            <a:off x="1325880" y="443484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La lógica </a:t>
            </a:r>
            <a:r>
              <a:rPr b="0" lang="en-US" sz="1350" spc="-1" strike="noStrike">
                <a:solidFill>
                  <a:srgbClr val="c9dcee"/>
                </a:solidFill>
                <a:latin typeface="Consolas"/>
              </a:rPr>
              <a:t>Pn</a:t>
            </a:r>
            <a:r>
              <a:rPr b="0" lang="en-US" sz="1350" spc="-1" strike="noStrike">
                <a:solidFill>
                  <a:srgbClr val="c9dcee"/>
                </a:solidFill>
                <a:latin typeface="Segoe UI"/>
              </a:rPr>
              <a:t> / </a:t>
            </a:r>
            <a:r>
              <a:rPr b="0" lang="en-US" sz="1350" spc="-1" strike="noStrike">
                <a:solidFill>
                  <a:srgbClr val="c9dcee"/>
                </a:solidFill>
                <a:latin typeface="Consolas"/>
              </a:rPr>
              <a:t>Fn</a:t>
            </a:r>
            <a:r>
              <a:rPr b="0" lang="en-US" sz="1350" spc="-1" strike="noStrike">
                <a:solidFill>
                  <a:srgbClr val="c9dcee"/>
                </a:solidFill>
                <a:latin typeface="Segoe UI"/>
              </a:rPr>
              <a:t> / </a:t>
            </a:r>
            <a:r>
              <a:rPr b="0" lang="en-US" sz="1350" spc="-1" strike="noStrike">
                <a:solidFill>
                  <a:srgbClr val="c9dcee"/>
                </a:solidFill>
                <a:latin typeface="Consolas"/>
              </a:rPr>
              <a:t>Un</a:t>
            </a:r>
            <a:r>
              <a:rPr b="0" lang="en-US" sz="1350" spc="-1" strike="noStrike">
                <a:solidFill>
                  <a:srgbClr val="c9dcee"/>
                </a:solidFill>
                <a:latin typeface="Segoe UI"/>
              </a:rPr>
              <a:t> y cómo se editan los parámetros</a:t>
            </a:r>
            <a:endParaRPr b="0" lang="en-US" sz="1350" spc="-1" strike="noStrike">
              <a:solidFill>
                <a:srgbClr val="000000"/>
              </a:solidFill>
              <a:latin typeface="Arial"/>
            </a:endParaRPr>
          </a:p>
        </p:txBody>
      </p:sp>
      <p:sp>
        <p:nvSpPr>
          <p:cNvPr id="1498" name="Rectangle 10"/>
          <p:cNvSpPr/>
          <p:nvPr/>
        </p:nvSpPr>
        <p:spPr>
          <a:xfrm>
            <a:off x="1051560" y="487836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499" name="TextBox 11"/>
          <p:cNvSpPr/>
          <p:nvPr/>
        </p:nvSpPr>
        <p:spPr>
          <a:xfrm>
            <a:off x="1325880" y="480060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SigmaWin+ Ver.7: conexión, menú y flujo de trabajo con pantallas reales</a:t>
            </a:r>
            <a:endParaRPr b="0" lang="en-US" sz="1350" spc="-1" strike="noStrike">
              <a:solidFill>
                <a:srgbClr val="000000"/>
              </a:solidFill>
              <a:latin typeface="Arial"/>
            </a:endParaRPr>
          </a:p>
        </p:txBody>
      </p:sp>
      <p:sp>
        <p:nvSpPr>
          <p:cNvPr id="1500" name="Rectangle 12"/>
          <p:cNvSpPr/>
          <p:nvPr/>
        </p:nvSpPr>
        <p:spPr>
          <a:xfrm>
            <a:off x="1051560" y="524412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01" name="TextBox 13"/>
          <p:cNvSpPr/>
          <p:nvPr/>
        </p:nvSpPr>
        <p:spPr>
          <a:xfrm>
            <a:off x="1325880" y="516636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JOG, monitor, traza, autoajuste, análisis mecánico y alarmas</a:t>
            </a:r>
            <a:endParaRPr b="0" lang="en-US" sz="1350" spc="-1" strike="noStrike">
              <a:solidFill>
                <a:srgbClr val="000000"/>
              </a:solidFill>
              <a:latin typeface="Arial"/>
            </a:endParaRPr>
          </a:p>
        </p:txBody>
      </p:sp>
      <p:sp>
        <p:nvSpPr>
          <p:cNvPr id="1502" name="Rectangle 14"/>
          <p:cNvSpPr/>
          <p:nvPr/>
        </p:nvSpPr>
        <p:spPr>
          <a:xfrm>
            <a:off x="1051560" y="560988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03" name="TextBox 15"/>
          <p:cNvSpPr/>
          <p:nvPr/>
        </p:nvSpPr>
        <p:spPr>
          <a:xfrm>
            <a:off x="1325880" y="553212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El engranaje electrónico explicado con números</a:t>
            </a:r>
            <a:endParaRPr b="0" lang="en-US" sz="1350" spc="-1" strike="noStrike">
              <a:solidFill>
                <a:srgbClr val="000000"/>
              </a:solidFill>
              <a:latin typeface="Arial"/>
            </a:endParaRPr>
          </a:p>
        </p:txBody>
      </p:sp>
      <p:sp>
        <p:nvSpPr>
          <p:cNvPr id="1504" name="Rectangle 16"/>
          <p:cNvSpPr/>
          <p:nvPr/>
        </p:nvSpPr>
        <p:spPr>
          <a:xfrm>
            <a:off x="1051560" y="59756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05" name="TextBox 17"/>
          <p:cNvSpPr/>
          <p:nvPr/>
        </p:nvSpPr>
        <p:spPr>
          <a:xfrm>
            <a:off x="1325880" y="58978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Los parámetros que realmente vas a tocar y la copia de seguridad</a:t>
            </a:r>
            <a:endParaRPr b="0" lang="en-US" sz="1350" spc="-1" strike="noStrike">
              <a:solidFill>
                <a:srgbClr val="000000"/>
              </a:solidFill>
              <a:latin typeface="Arial"/>
            </a:endParaRPr>
          </a:p>
        </p:txBody>
      </p:sp>
      <p:sp>
        <p:nvSpPr>
          <p:cNvPr id="1506" name="TextBox 18"/>
          <p:cNvSpPr/>
          <p:nvPr/>
        </p:nvSpPr>
        <p:spPr>
          <a:xfrm>
            <a:off x="1051560" y="6172200"/>
            <a:ext cx="73148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e89b1f"/>
                </a:solidFill>
                <a:latin typeface="Segoe UI"/>
              </a:rPr>
              <a:t>Duración orientativa: 5 h</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7"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08"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509"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El panel frontal: leer el estado sin PC</a:t>
            </a:r>
            <a:endParaRPr b="0" lang="en-US" sz="2500" spc="-1" strike="noStrike">
              <a:solidFill>
                <a:srgbClr val="000000"/>
              </a:solidFill>
              <a:latin typeface="Arial"/>
            </a:endParaRPr>
          </a:p>
        </p:txBody>
      </p:sp>
      <p:sp>
        <p:nvSpPr>
          <p:cNvPr id="1510"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Cinco dígitos que te dicen casi todo</a:t>
            </a:r>
            <a:endParaRPr b="0" lang="en-US" sz="1250" spc="-1" strike="noStrike">
              <a:solidFill>
                <a:srgbClr val="000000"/>
              </a:solidFill>
              <a:latin typeface="Arial"/>
            </a:endParaRPr>
          </a:p>
        </p:txBody>
      </p:sp>
      <p:sp>
        <p:nvSpPr>
          <p:cNvPr id="1511"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512"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513"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85</a:t>
            </a:r>
            <a:endParaRPr b="0" lang="en-US" sz="900" spc="-1" strike="noStrike">
              <a:solidFill>
                <a:srgbClr val="000000"/>
              </a:solidFill>
              <a:latin typeface="Arial"/>
            </a:endParaRPr>
          </a:p>
        </p:txBody>
      </p:sp>
      <p:sp>
        <p:nvSpPr>
          <p:cNvPr id="1514" name="Rectangle 8"/>
          <p:cNvSpPr/>
          <p:nvPr/>
        </p:nvSpPr>
        <p:spPr>
          <a:xfrm>
            <a:off x="731520" y="1737360"/>
            <a:ext cx="4205880" cy="2834280"/>
          </a:xfrm>
          <a:prstGeom prst="rect">
            <a:avLst/>
          </a:prstGeom>
          <a:solidFill>
            <a:srgbClr val="0b2545"/>
          </a:solidFill>
          <a:ln w="12700">
            <a:solidFill>
              <a:srgbClr val="0b254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15" name="Rectangle 9"/>
          <p:cNvSpPr/>
          <p:nvPr/>
        </p:nvSpPr>
        <p:spPr>
          <a:xfrm>
            <a:off x="1143000" y="2148840"/>
            <a:ext cx="3382920" cy="959760"/>
          </a:xfrm>
          <a:prstGeom prst="rect">
            <a:avLst/>
          </a:prstGeom>
          <a:solidFill>
            <a:srgbClr val="1c2430"/>
          </a:solidFill>
          <a:ln w="19050">
            <a:solidFill>
              <a:srgbClr val="00a9ce"/>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16" name="TextBox 10"/>
          <p:cNvSpPr/>
          <p:nvPr/>
        </p:nvSpPr>
        <p:spPr>
          <a:xfrm>
            <a:off x="1143000" y="2304360"/>
            <a:ext cx="3382920" cy="5184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3400" spc="-1" strike="noStrike">
                <a:solidFill>
                  <a:srgbClr val="00a9ce"/>
                </a:solidFill>
                <a:latin typeface="Consolas"/>
              </a:rPr>
              <a:t>A.7 2 0</a:t>
            </a:r>
            <a:endParaRPr b="0" lang="en-US" sz="3400" spc="-1" strike="noStrike">
              <a:solidFill>
                <a:srgbClr val="000000"/>
              </a:solidFill>
              <a:latin typeface="Arial"/>
            </a:endParaRPr>
          </a:p>
        </p:txBody>
      </p:sp>
      <p:sp>
        <p:nvSpPr>
          <p:cNvPr id="1517" name="Rounded Rectangle 11"/>
          <p:cNvSpPr/>
          <p:nvPr/>
        </p:nvSpPr>
        <p:spPr>
          <a:xfrm>
            <a:off x="1005840" y="3429000"/>
            <a:ext cx="868320" cy="566640"/>
          </a:xfrm>
          <a:prstGeom prst="roundRect">
            <a:avLst>
              <a:gd name="adj" fmla="val 15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Segoe UI"/>
              </a:rPr>
              <a:t>MODE/SET</a:t>
            </a:r>
            <a:endParaRPr b="0" lang="en-US" sz="950" spc="-1" strike="noStrike">
              <a:solidFill>
                <a:srgbClr val="ffffff"/>
              </a:solidFill>
              <a:latin typeface="Arial"/>
            </a:endParaRPr>
          </a:p>
        </p:txBody>
      </p:sp>
      <p:sp>
        <p:nvSpPr>
          <p:cNvPr id="1518" name="Rounded Rectangle 12"/>
          <p:cNvSpPr/>
          <p:nvPr/>
        </p:nvSpPr>
        <p:spPr>
          <a:xfrm>
            <a:off x="1984320" y="3429000"/>
            <a:ext cx="868320" cy="566640"/>
          </a:xfrm>
          <a:prstGeom prst="roundRect">
            <a:avLst>
              <a:gd name="adj" fmla="val 15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Segoe UI"/>
              </a:rPr>
              <a:t>▲</a:t>
            </a:r>
            <a:endParaRPr b="0" lang="en-US" sz="950" spc="-1" strike="noStrike">
              <a:solidFill>
                <a:srgbClr val="ffffff"/>
              </a:solidFill>
              <a:latin typeface="Arial"/>
            </a:endParaRPr>
          </a:p>
        </p:txBody>
      </p:sp>
      <p:sp>
        <p:nvSpPr>
          <p:cNvPr id="1519" name="Rounded Rectangle 13"/>
          <p:cNvSpPr/>
          <p:nvPr/>
        </p:nvSpPr>
        <p:spPr>
          <a:xfrm>
            <a:off x="2962800" y="3429000"/>
            <a:ext cx="868320" cy="566640"/>
          </a:xfrm>
          <a:prstGeom prst="roundRect">
            <a:avLst>
              <a:gd name="adj" fmla="val 15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Segoe UI"/>
              </a:rPr>
              <a:t>▼</a:t>
            </a:r>
            <a:endParaRPr b="0" lang="en-US" sz="950" spc="-1" strike="noStrike">
              <a:solidFill>
                <a:srgbClr val="ffffff"/>
              </a:solidFill>
              <a:latin typeface="Arial"/>
            </a:endParaRPr>
          </a:p>
        </p:txBody>
      </p:sp>
      <p:sp>
        <p:nvSpPr>
          <p:cNvPr id="1520" name="Rounded Rectangle 14"/>
          <p:cNvSpPr/>
          <p:nvPr/>
        </p:nvSpPr>
        <p:spPr>
          <a:xfrm>
            <a:off x="3940920" y="3429000"/>
            <a:ext cx="868320" cy="566640"/>
          </a:xfrm>
          <a:prstGeom prst="roundRect">
            <a:avLst>
              <a:gd name="adj" fmla="val 15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950" spc="-1" strike="noStrike">
                <a:solidFill>
                  <a:srgbClr val="ffffff"/>
                </a:solidFill>
                <a:latin typeface="Segoe UI"/>
              </a:rPr>
              <a:t>◀ </a:t>
            </a:r>
            <a:r>
              <a:rPr b="1" lang="en-US" sz="950" spc="-1" strike="noStrike">
                <a:solidFill>
                  <a:srgbClr val="ffffff"/>
                </a:solidFill>
                <a:latin typeface="Segoe UI"/>
              </a:rPr>
              <a:t>/ DATA</a:t>
            </a:r>
            <a:endParaRPr b="0" lang="en-US" sz="950" spc="-1" strike="noStrike">
              <a:solidFill>
                <a:srgbClr val="ffffff"/>
              </a:solidFill>
              <a:latin typeface="Arial"/>
            </a:endParaRPr>
          </a:p>
        </p:txBody>
      </p:sp>
      <p:sp>
        <p:nvSpPr>
          <p:cNvPr id="1521" name="TextBox 15"/>
          <p:cNvSpPr/>
          <p:nvPr/>
        </p:nvSpPr>
        <p:spPr>
          <a:xfrm>
            <a:off x="731520" y="4700160"/>
            <a:ext cx="4205880" cy="1530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000" spc="-1" strike="noStrike">
                <a:solidFill>
                  <a:srgbClr val="5a6b7b"/>
                </a:solidFill>
                <a:latin typeface="Segoe UI"/>
              </a:rPr>
              <a:t>Display de 5 dígitos y 4 teclas de navegación</a:t>
            </a:r>
            <a:endParaRPr b="0" lang="en-US" sz="1000" spc="-1" strike="noStrike">
              <a:solidFill>
                <a:srgbClr val="000000"/>
              </a:solidFill>
              <a:latin typeface="Arial"/>
            </a:endParaRPr>
          </a:p>
        </p:txBody>
      </p:sp>
      <p:sp>
        <p:nvSpPr>
          <p:cNvPr id="1522" name="Rectangle 16"/>
          <p:cNvSpPr/>
          <p:nvPr/>
        </p:nvSpPr>
        <p:spPr>
          <a:xfrm>
            <a:off x="5349240" y="1737360"/>
            <a:ext cx="6263280" cy="283428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23" name="TextBox 17"/>
          <p:cNvSpPr/>
          <p:nvPr/>
        </p:nvSpPr>
        <p:spPr>
          <a:xfrm>
            <a:off x="5577840" y="1874520"/>
            <a:ext cx="5760360" cy="1987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00" spc="-1" strike="noStrike">
                <a:solidFill>
                  <a:srgbClr val="0b2545"/>
                </a:solidFill>
                <a:latin typeface="Segoe UI"/>
              </a:rPr>
              <a:t>Qué estás viendo en el display</a:t>
            </a:r>
            <a:endParaRPr b="0" lang="en-US" sz="1300" spc="-1" strike="noStrike">
              <a:solidFill>
                <a:srgbClr val="000000"/>
              </a:solidFill>
              <a:latin typeface="Arial"/>
            </a:endParaRPr>
          </a:p>
        </p:txBody>
      </p:sp>
      <p:sp>
        <p:nvSpPr>
          <p:cNvPr id="1524" name="Rectangle 18"/>
          <p:cNvSpPr/>
          <p:nvPr/>
        </p:nvSpPr>
        <p:spPr>
          <a:xfrm>
            <a:off x="5577840" y="2286000"/>
            <a:ext cx="5760360" cy="5025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25" name="Rectangle 19"/>
          <p:cNvSpPr/>
          <p:nvPr/>
        </p:nvSpPr>
        <p:spPr>
          <a:xfrm>
            <a:off x="5577840" y="2286000"/>
            <a:ext cx="54360" cy="50256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26" name="TextBox 20"/>
          <p:cNvSpPr/>
          <p:nvPr/>
        </p:nvSpPr>
        <p:spPr>
          <a:xfrm>
            <a:off x="5779080" y="2331720"/>
            <a:ext cx="17370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000" spc="-1" strike="noStrike">
                <a:solidFill>
                  <a:srgbClr val="1b5ea8"/>
                </a:solidFill>
                <a:latin typeface="Segoe UI"/>
              </a:rPr>
              <a:t>Estado de funcionamiento</a:t>
            </a:r>
            <a:endParaRPr b="0" lang="en-US" sz="1000" spc="-1" strike="noStrike">
              <a:solidFill>
                <a:srgbClr val="000000"/>
              </a:solidFill>
              <a:latin typeface="Arial"/>
            </a:endParaRPr>
          </a:p>
        </p:txBody>
      </p:sp>
      <p:sp>
        <p:nvSpPr>
          <p:cNvPr id="1527" name="TextBox 21"/>
          <p:cNvSpPr/>
          <p:nvPr/>
        </p:nvSpPr>
        <p:spPr>
          <a:xfrm>
            <a:off x="5779080" y="2541960"/>
            <a:ext cx="539460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El drive indica si está listo, con el servo activo o en baseblock</a:t>
            </a:r>
            <a:endParaRPr b="0" lang="en-US" sz="950" spc="-1" strike="noStrike">
              <a:solidFill>
                <a:srgbClr val="000000"/>
              </a:solidFill>
              <a:latin typeface="Arial"/>
            </a:endParaRPr>
          </a:p>
        </p:txBody>
      </p:sp>
      <p:sp>
        <p:nvSpPr>
          <p:cNvPr id="1528" name="Rectangle 22"/>
          <p:cNvSpPr/>
          <p:nvPr/>
        </p:nvSpPr>
        <p:spPr>
          <a:xfrm>
            <a:off x="5577840" y="2853000"/>
            <a:ext cx="5760360" cy="5025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29" name="Rectangle 23"/>
          <p:cNvSpPr/>
          <p:nvPr/>
        </p:nvSpPr>
        <p:spPr>
          <a:xfrm>
            <a:off x="5577840" y="2853000"/>
            <a:ext cx="54360" cy="50256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30" name="TextBox 24"/>
          <p:cNvSpPr/>
          <p:nvPr/>
        </p:nvSpPr>
        <p:spPr>
          <a:xfrm>
            <a:off x="5779080" y="2898720"/>
            <a:ext cx="17370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000" spc="-1" strike="noStrike">
                <a:solidFill>
                  <a:srgbClr val="c0392b"/>
                </a:solidFill>
                <a:latin typeface="Consolas"/>
              </a:rPr>
              <a:t>A.___</a:t>
            </a:r>
            <a:endParaRPr b="0" lang="en-US" sz="1000" spc="-1" strike="noStrike">
              <a:solidFill>
                <a:srgbClr val="000000"/>
              </a:solidFill>
              <a:latin typeface="Arial"/>
            </a:endParaRPr>
          </a:p>
        </p:txBody>
      </p:sp>
      <p:sp>
        <p:nvSpPr>
          <p:cNvPr id="1531" name="TextBox 25"/>
          <p:cNvSpPr/>
          <p:nvPr/>
        </p:nvSpPr>
        <p:spPr>
          <a:xfrm>
            <a:off x="5779080" y="3108960"/>
            <a:ext cx="539460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Código de </a:t>
            </a:r>
            <a:r>
              <a:rPr b="1" lang="en-US" sz="950" spc="-1" strike="noStrike">
                <a:solidFill>
                  <a:srgbClr val="5a6b7b"/>
                </a:solidFill>
                <a:latin typeface="Segoe UI"/>
              </a:rPr>
              <a:t>alarma</a:t>
            </a:r>
            <a:r>
              <a:rPr b="0" lang="en-US" sz="950" spc="-1" strike="noStrike">
                <a:solidFill>
                  <a:srgbClr val="5a6b7b"/>
                </a:solidFill>
                <a:latin typeface="Segoe UI"/>
              </a:rPr>
              <a:t>: el eje está parado y hay que actuar</a:t>
            </a:r>
            <a:endParaRPr b="0" lang="en-US" sz="950" spc="-1" strike="noStrike">
              <a:solidFill>
                <a:srgbClr val="000000"/>
              </a:solidFill>
              <a:latin typeface="Arial"/>
            </a:endParaRPr>
          </a:p>
        </p:txBody>
      </p:sp>
      <p:sp>
        <p:nvSpPr>
          <p:cNvPr id="1532" name="Rectangle 26"/>
          <p:cNvSpPr/>
          <p:nvPr/>
        </p:nvSpPr>
        <p:spPr>
          <a:xfrm>
            <a:off x="5577840" y="3420000"/>
            <a:ext cx="5760360" cy="5025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33" name="Rectangle 27"/>
          <p:cNvSpPr/>
          <p:nvPr/>
        </p:nvSpPr>
        <p:spPr>
          <a:xfrm>
            <a:off x="5577840" y="3420000"/>
            <a:ext cx="54360" cy="5025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34" name="TextBox 28"/>
          <p:cNvSpPr/>
          <p:nvPr/>
        </p:nvSpPr>
        <p:spPr>
          <a:xfrm>
            <a:off x="5779080" y="3465720"/>
            <a:ext cx="17370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000" spc="-1" strike="noStrike">
                <a:solidFill>
                  <a:srgbClr val="e89b1f"/>
                </a:solidFill>
                <a:latin typeface="Consolas"/>
              </a:rPr>
              <a:t>A.9__</a:t>
            </a:r>
            <a:endParaRPr b="0" lang="en-US" sz="1000" spc="-1" strike="noStrike">
              <a:solidFill>
                <a:srgbClr val="000000"/>
              </a:solidFill>
              <a:latin typeface="Arial"/>
            </a:endParaRPr>
          </a:p>
        </p:txBody>
      </p:sp>
      <p:sp>
        <p:nvSpPr>
          <p:cNvPr id="1535" name="TextBox 29"/>
          <p:cNvSpPr/>
          <p:nvPr/>
        </p:nvSpPr>
        <p:spPr>
          <a:xfrm>
            <a:off x="5779080" y="3675960"/>
            <a:ext cx="539460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Código de </a:t>
            </a:r>
            <a:r>
              <a:rPr b="1" lang="en-US" sz="950" spc="-1" strike="noStrike">
                <a:solidFill>
                  <a:srgbClr val="5a6b7b"/>
                </a:solidFill>
                <a:latin typeface="Segoe UI"/>
              </a:rPr>
              <a:t>aviso</a:t>
            </a:r>
            <a:r>
              <a:rPr b="0" lang="en-US" sz="950" spc="-1" strike="noStrike">
                <a:solidFill>
                  <a:srgbClr val="5a6b7b"/>
                </a:solidFill>
                <a:latin typeface="Segoe UI"/>
              </a:rPr>
              <a:t> (warning): el eje sigue funcionando, pero algo va mal</a:t>
            </a:r>
            <a:endParaRPr b="0" lang="en-US" sz="950" spc="-1" strike="noStrike">
              <a:solidFill>
                <a:srgbClr val="000000"/>
              </a:solidFill>
              <a:latin typeface="Arial"/>
            </a:endParaRPr>
          </a:p>
        </p:txBody>
      </p:sp>
      <p:sp>
        <p:nvSpPr>
          <p:cNvPr id="1536" name="Rectangle 30"/>
          <p:cNvSpPr/>
          <p:nvPr/>
        </p:nvSpPr>
        <p:spPr>
          <a:xfrm>
            <a:off x="5577840" y="3986640"/>
            <a:ext cx="5760360" cy="5025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37" name="Rectangle 31"/>
          <p:cNvSpPr/>
          <p:nvPr/>
        </p:nvSpPr>
        <p:spPr>
          <a:xfrm>
            <a:off x="5577840" y="3986640"/>
            <a:ext cx="54360" cy="50256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38" name="TextBox 32"/>
          <p:cNvSpPr/>
          <p:nvPr/>
        </p:nvSpPr>
        <p:spPr>
          <a:xfrm>
            <a:off x="5779080" y="4032360"/>
            <a:ext cx="17370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000" spc="-1" strike="noStrike">
                <a:solidFill>
                  <a:srgbClr val="2e8b57"/>
                </a:solidFill>
                <a:latin typeface="Segoe UI"/>
              </a:rPr>
              <a:t>Valor numérico</a:t>
            </a:r>
            <a:endParaRPr b="0" lang="en-US" sz="1000" spc="-1" strike="noStrike">
              <a:solidFill>
                <a:srgbClr val="000000"/>
              </a:solidFill>
              <a:latin typeface="Arial"/>
            </a:endParaRPr>
          </a:p>
        </p:txBody>
      </p:sp>
      <p:sp>
        <p:nvSpPr>
          <p:cNvPr id="1539" name="TextBox 33"/>
          <p:cNvSpPr/>
          <p:nvPr/>
        </p:nvSpPr>
        <p:spPr>
          <a:xfrm>
            <a:off x="5779080" y="4242960"/>
            <a:ext cx="539460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50" spc="-1" strike="noStrike">
                <a:solidFill>
                  <a:srgbClr val="5a6b7b"/>
                </a:solidFill>
                <a:latin typeface="Segoe UI"/>
              </a:rPr>
              <a:t>Monitor </a:t>
            </a:r>
            <a:r>
              <a:rPr b="0" lang="en-US" sz="950" spc="-1" strike="noStrike">
                <a:solidFill>
                  <a:srgbClr val="5a6b7b"/>
                </a:solidFill>
                <a:latin typeface="Consolas"/>
              </a:rPr>
              <a:t>Un</a:t>
            </a:r>
            <a:r>
              <a:rPr b="0" lang="en-US" sz="950" spc="-1" strike="noStrike">
                <a:solidFill>
                  <a:srgbClr val="5a6b7b"/>
                </a:solidFill>
                <a:latin typeface="Segoe UI"/>
              </a:rPr>
              <a:t> o parámetro </a:t>
            </a:r>
            <a:r>
              <a:rPr b="0" lang="en-US" sz="950" spc="-1" strike="noStrike">
                <a:solidFill>
                  <a:srgbClr val="5a6b7b"/>
                </a:solidFill>
                <a:latin typeface="Consolas"/>
              </a:rPr>
              <a:t>Pn</a:t>
            </a:r>
            <a:r>
              <a:rPr b="0" lang="en-US" sz="950" spc="-1" strike="noStrike">
                <a:solidFill>
                  <a:srgbClr val="5a6b7b"/>
                </a:solidFill>
                <a:latin typeface="Segoe UI"/>
              </a:rPr>
              <a:t> que estás consultando o editando</a:t>
            </a:r>
            <a:endParaRPr b="0" lang="en-US" sz="950" spc="-1" strike="noStrike">
              <a:solidFill>
                <a:srgbClr val="000000"/>
              </a:solidFill>
              <a:latin typeface="Arial"/>
            </a:endParaRPr>
          </a:p>
        </p:txBody>
      </p:sp>
      <p:sp>
        <p:nvSpPr>
          <p:cNvPr id="1540" name="Rectangle 34"/>
          <p:cNvSpPr/>
          <p:nvPr/>
        </p:nvSpPr>
        <p:spPr>
          <a:xfrm>
            <a:off x="731520" y="4892040"/>
            <a:ext cx="10881000" cy="95976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41" name="Rectangle 35"/>
          <p:cNvSpPr/>
          <p:nvPr/>
        </p:nvSpPr>
        <p:spPr>
          <a:xfrm>
            <a:off x="731520" y="4892040"/>
            <a:ext cx="68400" cy="95976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42" name="TextBox 36"/>
          <p:cNvSpPr/>
          <p:nvPr/>
        </p:nvSpPr>
        <p:spPr>
          <a:xfrm>
            <a:off x="1005840" y="5029200"/>
            <a:ext cx="103780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1b5ea8"/>
                </a:solidFill>
                <a:latin typeface="Segoe UI Semibold"/>
              </a:rPr>
              <a:t>Los tres gestos que hay que dominar en el panel</a:t>
            </a:r>
            <a:endParaRPr b="0" lang="en-US" sz="1200" spc="-1" strike="noStrike">
              <a:solidFill>
                <a:srgbClr val="000000"/>
              </a:solidFill>
              <a:latin typeface="Arial"/>
            </a:endParaRPr>
          </a:p>
        </p:txBody>
      </p:sp>
      <p:sp>
        <p:nvSpPr>
          <p:cNvPr id="1543" name="TextBox 37"/>
          <p:cNvSpPr/>
          <p:nvPr/>
        </p:nvSpPr>
        <p:spPr>
          <a:xfrm>
            <a:off x="1005840" y="5303520"/>
            <a:ext cx="10378080" cy="37188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1) Consultar un monitor </a:t>
            </a:r>
            <a:r>
              <a:rPr b="0" lang="en-US" sz="1150" spc="-1" strike="noStrike">
                <a:solidFill>
                  <a:srgbClr val="2b3644"/>
                </a:solidFill>
                <a:latin typeface="Consolas"/>
              </a:rPr>
              <a:t>Un</a:t>
            </a:r>
            <a:r>
              <a:rPr b="0" lang="en-US" sz="1150" spc="-1" strike="noStrike">
                <a:solidFill>
                  <a:srgbClr val="2b3644"/>
                </a:solidFill>
                <a:latin typeface="Segoe UI"/>
              </a:rPr>
              <a:t> para ver qué está pasando.   2) Leer el historial de alarmas con </a:t>
            </a:r>
            <a:r>
              <a:rPr b="0" lang="en-US" sz="1150" spc="-1" strike="noStrike">
                <a:solidFill>
                  <a:srgbClr val="2b3644"/>
                </a:solidFill>
                <a:latin typeface="Consolas"/>
              </a:rPr>
              <a:t>Fn000</a:t>
            </a:r>
            <a:r>
              <a:rPr b="0" lang="en-US" sz="1150" spc="-1" strike="noStrike">
                <a:solidFill>
                  <a:srgbClr val="2b3644"/>
                </a:solidFill>
                <a:latin typeface="Segoe UI"/>
              </a:rPr>
              <a:t> para saber qué pasó antes.   3) Ejecutar un JOG con </a:t>
            </a:r>
            <a:r>
              <a:rPr b="0" lang="en-US" sz="1150" spc="-1" strike="noStrike">
                <a:solidFill>
                  <a:srgbClr val="2b3644"/>
                </a:solidFill>
                <a:latin typeface="Consolas"/>
              </a:rPr>
              <a:t>Fn002</a:t>
            </a:r>
            <a:r>
              <a:rPr b="0" lang="en-US" sz="1150" spc="-1" strike="noStrike">
                <a:solidFill>
                  <a:srgbClr val="2b3644"/>
                </a:solidFill>
                <a:latin typeface="Segoe UI"/>
              </a:rPr>
              <a:t> para comprobar que el motor responde. Todo lo demás es más cómodo desde SigmaWin+.</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4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54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La lógica de la Σ-X: </a:t>
            </a:r>
            <a:r>
              <a:rPr b="1" lang="en-US" sz="2500" spc="-1" strike="noStrike">
                <a:solidFill>
                  <a:srgbClr val="ffffff"/>
                </a:solidFill>
                <a:latin typeface="Consolas"/>
              </a:rPr>
              <a:t>Pn</a:t>
            </a:r>
            <a:r>
              <a:rPr b="1" lang="en-US" sz="2500" spc="-1" strike="noStrike">
                <a:solidFill>
                  <a:srgbClr val="ffffff"/>
                </a:solidFill>
                <a:latin typeface="Segoe UI Semibold"/>
              </a:rPr>
              <a:t>, </a:t>
            </a:r>
            <a:r>
              <a:rPr b="1" lang="en-US" sz="2500" spc="-1" strike="noStrike">
                <a:solidFill>
                  <a:srgbClr val="ffffff"/>
                </a:solidFill>
                <a:latin typeface="Consolas"/>
              </a:rPr>
              <a:t>Fn</a:t>
            </a:r>
            <a:r>
              <a:rPr b="1" lang="en-US" sz="2500" spc="-1" strike="noStrike">
                <a:solidFill>
                  <a:srgbClr val="ffffff"/>
                </a:solidFill>
                <a:latin typeface="Segoe UI Semibold"/>
              </a:rPr>
              <a:t> y </a:t>
            </a:r>
            <a:r>
              <a:rPr b="1" lang="en-US" sz="2500" spc="-1" strike="noStrike">
                <a:solidFill>
                  <a:srgbClr val="ffffff"/>
                </a:solidFill>
                <a:latin typeface="Consolas"/>
              </a:rPr>
              <a:t>Un</a:t>
            </a:r>
            <a:endParaRPr b="0" lang="en-US" sz="2500" spc="-1" strike="noStrike">
              <a:solidFill>
                <a:srgbClr val="000000"/>
              </a:solidFill>
              <a:latin typeface="Arial"/>
            </a:endParaRPr>
          </a:p>
        </p:txBody>
      </p:sp>
      <p:sp>
        <p:nvSpPr>
          <p:cNvPr id="154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Tres familias, tres propósitos distintos</a:t>
            </a:r>
            <a:endParaRPr b="0" lang="en-US" sz="1250" spc="-1" strike="noStrike">
              <a:solidFill>
                <a:srgbClr val="000000"/>
              </a:solidFill>
              <a:latin typeface="Arial"/>
            </a:endParaRPr>
          </a:p>
        </p:txBody>
      </p:sp>
      <p:sp>
        <p:nvSpPr>
          <p:cNvPr id="154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54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55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86</a:t>
            </a:r>
            <a:endParaRPr b="0" lang="en-US" sz="900" spc="-1" strike="noStrike">
              <a:solidFill>
                <a:srgbClr val="000000"/>
              </a:solidFill>
              <a:latin typeface="Arial"/>
            </a:endParaRPr>
          </a:p>
        </p:txBody>
      </p:sp>
      <p:sp>
        <p:nvSpPr>
          <p:cNvPr id="1551" name="TextBox 8"/>
          <p:cNvSpPr/>
          <p:nvPr/>
        </p:nvSpPr>
        <p:spPr>
          <a:xfrm>
            <a:off x="567000" y="1481400"/>
            <a:ext cx="1105740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5a6b7b"/>
                </a:solidFill>
                <a:latin typeface="Segoe UI"/>
              </a:rPr>
              <a:t>Si entiendes esta clasificación, el manual deja de ser intimidante: sabes en qué capítulo buscar.</a:t>
            </a:r>
            <a:endParaRPr b="0" lang="en-US" sz="1350" spc="-1" strike="noStrike">
              <a:solidFill>
                <a:srgbClr val="000000"/>
              </a:solidFill>
              <a:latin typeface="Arial"/>
            </a:endParaRPr>
          </a:p>
        </p:txBody>
      </p:sp>
      <p:sp>
        <p:nvSpPr>
          <p:cNvPr id="1552" name="Rectangle 9"/>
          <p:cNvSpPr/>
          <p:nvPr/>
        </p:nvSpPr>
        <p:spPr>
          <a:xfrm>
            <a:off x="567000" y="1956960"/>
            <a:ext cx="3515040" cy="437040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53" name="Rectangle 10"/>
          <p:cNvSpPr/>
          <p:nvPr/>
        </p:nvSpPr>
        <p:spPr>
          <a:xfrm>
            <a:off x="567000" y="1956960"/>
            <a:ext cx="50040" cy="437040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54" name="TextBox 11"/>
          <p:cNvSpPr/>
          <p:nvPr/>
        </p:nvSpPr>
        <p:spPr>
          <a:xfrm>
            <a:off x="822960" y="213984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Consolas"/>
              </a:rPr>
              <a:t>Pn___</a:t>
            </a:r>
            <a:r>
              <a:rPr b="1" lang="en-US" sz="1400" spc="-1" strike="noStrike">
                <a:solidFill>
                  <a:srgbClr val="0b2545"/>
                </a:solidFill>
                <a:latin typeface="Segoe UI Semibold"/>
              </a:rPr>
              <a:t> — Parámetros</a:t>
            </a:r>
            <a:endParaRPr b="0" lang="en-US" sz="1400" spc="-1" strike="noStrike">
              <a:solidFill>
                <a:srgbClr val="000000"/>
              </a:solidFill>
              <a:latin typeface="Arial"/>
            </a:endParaRPr>
          </a:p>
        </p:txBody>
      </p:sp>
      <p:sp>
        <p:nvSpPr>
          <p:cNvPr id="1555" name="TextBox 12"/>
          <p:cNvSpPr/>
          <p:nvPr/>
        </p:nvSpPr>
        <p:spPr>
          <a:xfrm>
            <a:off x="822960" y="2670120"/>
            <a:ext cx="3057840" cy="149580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1" lang="en-US" sz="1200" spc="-1" strike="noStrike">
                <a:solidFill>
                  <a:srgbClr val="2b3644"/>
                </a:solidFill>
                <a:latin typeface="Segoe UI"/>
              </a:rPr>
              <a:t>Configuran</a:t>
            </a:r>
            <a:r>
              <a:rPr b="0" lang="en-US" sz="1200" spc="-1" strike="noStrike">
                <a:solidFill>
                  <a:srgbClr val="2b3644"/>
                </a:solidFill>
                <a:latin typeface="Segoe UI"/>
              </a:rPr>
              <a:t> el comportamiento del drive y se guardan en memoria no volátil.</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Numéricos: </a:t>
            </a:r>
            <a:r>
              <a:rPr b="0" lang="en-US" sz="1200" spc="-1" strike="noStrike">
                <a:solidFill>
                  <a:srgbClr val="2b3644"/>
                </a:solidFill>
                <a:latin typeface="Consolas"/>
              </a:rPr>
              <a:t>Pn100</a:t>
            </a:r>
            <a:r>
              <a:rPr b="0" lang="en-US" sz="1200" spc="-1" strike="noStrike">
                <a:solidFill>
                  <a:srgbClr val="2b3644"/>
                </a:solidFill>
                <a:latin typeface="Segoe UI"/>
              </a:rPr>
              <a:t> = 40,0 Hz.</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De selección por dígitos: </a:t>
            </a:r>
            <a:r>
              <a:rPr b="0" lang="en-US" sz="1200" spc="-1" strike="noStrike">
                <a:solidFill>
                  <a:srgbClr val="2b3644"/>
                </a:solidFill>
                <a:latin typeface="Consolas"/>
              </a:rPr>
              <a:t>Pn000.1</a:t>
            </a:r>
            <a:r>
              <a:rPr b="0" lang="en-US" sz="1200" spc="-1" strike="noStrike">
                <a:solidFill>
                  <a:srgbClr val="2b3644"/>
                </a:solidFill>
                <a:latin typeface="Segoe UI"/>
              </a:rPr>
              <a:t> selecciona el modo de control.</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Algunos exigen apagar y encender para hacerse efectivos.</a:t>
            </a:r>
            <a:endParaRPr b="0" lang="en-US" sz="1200" spc="-1" strike="noStrike">
              <a:solidFill>
                <a:srgbClr val="000000"/>
              </a:solidFill>
              <a:latin typeface="Arial"/>
            </a:endParaRPr>
          </a:p>
        </p:txBody>
      </p:sp>
      <p:sp>
        <p:nvSpPr>
          <p:cNvPr id="1556" name="Rectangle 13"/>
          <p:cNvSpPr/>
          <p:nvPr/>
        </p:nvSpPr>
        <p:spPr>
          <a:xfrm>
            <a:off x="4338360" y="1956960"/>
            <a:ext cx="3515040" cy="437040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57" name="Rectangle 14"/>
          <p:cNvSpPr/>
          <p:nvPr/>
        </p:nvSpPr>
        <p:spPr>
          <a:xfrm>
            <a:off x="4338360" y="1956960"/>
            <a:ext cx="50040" cy="437040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58" name="TextBox 15"/>
          <p:cNvSpPr/>
          <p:nvPr/>
        </p:nvSpPr>
        <p:spPr>
          <a:xfrm>
            <a:off x="4594320" y="213984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Consolas"/>
              </a:rPr>
              <a:t>Fn___</a:t>
            </a:r>
            <a:r>
              <a:rPr b="1" lang="en-US" sz="1400" spc="-1" strike="noStrike">
                <a:solidFill>
                  <a:srgbClr val="0b2545"/>
                </a:solidFill>
                <a:latin typeface="Segoe UI Semibold"/>
              </a:rPr>
              <a:t> — Funciones de utilidad</a:t>
            </a:r>
            <a:endParaRPr b="0" lang="en-US" sz="1400" spc="-1" strike="noStrike">
              <a:solidFill>
                <a:srgbClr val="000000"/>
              </a:solidFill>
              <a:latin typeface="Arial"/>
            </a:endParaRPr>
          </a:p>
        </p:txBody>
      </p:sp>
      <p:sp>
        <p:nvSpPr>
          <p:cNvPr id="1559" name="TextBox 16"/>
          <p:cNvSpPr/>
          <p:nvPr/>
        </p:nvSpPr>
        <p:spPr>
          <a:xfrm>
            <a:off x="4594320" y="2670120"/>
            <a:ext cx="3057840" cy="159732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1" lang="en-US" sz="1200" spc="-1" strike="noStrike">
                <a:solidFill>
                  <a:srgbClr val="2b3644"/>
                </a:solidFill>
                <a:latin typeface="Segoe UI"/>
              </a:rPr>
              <a:t>Ejecutan</a:t>
            </a:r>
            <a:r>
              <a:rPr b="0" lang="en-US" sz="1200" spc="-1" strike="noStrike">
                <a:solidFill>
                  <a:srgbClr val="2b3644"/>
                </a:solidFill>
                <a:latin typeface="Segoe UI"/>
              </a:rPr>
              <a:t> una operación: no son valores, son acciones.</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a:t>
            </a:r>
            <a:r>
              <a:rPr b="0" lang="en-US" sz="1200" spc="-1" strike="noStrike">
                <a:solidFill>
                  <a:srgbClr val="2b3644"/>
                </a:solidFill>
                <a:latin typeface="Consolas"/>
              </a:rPr>
              <a:t>Fn002</a:t>
            </a:r>
            <a:r>
              <a:rPr b="0" lang="en-US" sz="1200" spc="-1" strike="noStrike">
                <a:solidFill>
                  <a:srgbClr val="2b3644"/>
                </a:solidFill>
                <a:latin typeface="Segoe UI"/>
              </a:rPr>
              <a:t> JOG · </a:t>
            </a:r>
            <a:r>
              <a:rPr b="0" lang="en-US" sz="1200" spc="-1" strike="noStrike">
                <a:solidFill>
                  <a:srgbClr val="2b3644"/>
                </a:solidFill>
                <a:latin typeface="Consolas"/>
              </a:rPr>
              <a:t>Fn004</a:t>
            </a:r>
            <a:r>
              <a:rPr b="0" lang="en-US" sz="1200" spc="-1" strike="noStrike">
                <a:solidFill>
                  <a:srgbClr val="2b3644"/>
                </a:solidFill>
                <a:latin typeface="Segoe UI"/>
              </a:rPr>
              <a:t> JOG programado.</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a:t>
            </a:r>
            <a:r>
              <a:rPr b="0" lang="en-US" sz="1200" spc="-1" strike="noStrike">
                <a:solidFill>
                  <a:srgbClr val="2b3644"/>
                </a:solidFill>
                <a:latin typeface="Consolas"/>
              </a:rPr>
              <a:t>Fn005</a:t>
            </a:r>
            <a:r>
              <a:rPr b="0" lang="en-US" sz="1200" spc="-1" strike="noStrike">
                <a:solidFill>
                  <a:srgbClr val="2b3644"/>
                </a:solidFill>
                <a:latin typeface="Segoe UI"/>
              </a:rPr>
              <a:t> inicialización de parámetros.</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a:t>
            </a:r>
            <a:r>
              <a:rPr b="0" lang="en-US" sz="1200" spc="-1" strike="noStrike">
                <a:solidFill>
                  <a:srgbClr val="2b3644"/>
                </a:solidFill>
                <a:latin typeface="Consolas"/>
              </a:rPr>
              <a:t>Fn008</a:t>
            </a:r>
            <a:r>
              <a:rPr b="0" lang="en-US" sz="1200" spc="-1" strike="noStrike">
                <a:solidFill>
                  <a:srgbClr val="2b3644"/>
                </a:solidFill>
                <a:latin typeface="Segoe UI"/>
              </a:rPr>
              <a:t> setup del encoder absoluto.</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a:t>
            </a:r>
            <a:r>
              <a:rPr b="0" lang="en-US" sz="1200" spc="-1" strike="noStrike">
                <a:solidFill>
                  <a:srgbClr val="2b3644"/>
                </a:solidFill>
                <a:latin typeface="Consolas"/>
              </a:rPr>
              <a:t>Fn201</a:t>
            </a:r>
            <a:r>
              <a:rPr b="0" lang="en-US" sz="1200" spc="-1" strike="noStrike">
                <a:solidFill>
                  <a:srgbClr val="2b3644"/>
                </a:solidFill>
                <a:latin typeface="Segoe UI"/>
              </a:rPr>
              <a:t> autoajuste avanzado.</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a:t>
            </a:r>
            <a:r>
              <a:rPr b="0" lang="en-US" sz="1200" spc="-1" strike="noStrike">
                <a:solidFill>
                  <a:srgbClr val="2b3644"/>
                </a:solidFill>
                <a:latin typeface="Consolas"/>
              </a:rPr>
              <a:t>Fn000</a:t>
            </a:r>
            <a:r>
              <a:rPr b="0" lang="en-US" sz="1200" spc="-1" strike="noStrike">
                <a:solidFill>
                  <a:srgbClr val="2b3644"/>
                </a:solidFill>
                <a:latin typeface="Segoe UI"/>
              </a:rPr>
              <a:t> historial de alarmas.</a:t>
            </a:r>
            <a:endParaRPr b="0" lang="en-US" sz="1200" spc="-1" strike="noStrike">
              <a:solidFill>
                <a:srgbClr val="000000"/>
              </a:solidFill>
              <a:latin typeface="Arial"/>
            </a:endParaRPr>
          </a:p>
        </p:txBody>
      </p:sp>
      <p:sp>
        <p:nvSpPr>
          <p:cNvPr id="1560" name="Rectangle 17"/>
          <p:cNvSpPr/>
          <p:nvPr/>
        </p:nvSpPr>
        <p:spPr>
          <a:xfrm>
            <a:off x="8109360" y="1956960"/>
            <a:ext cx="3515040" cy="4370400"/>
          </a:xfrm>
          <a:prstGeom prst="rect">
            <a:avLst/>
          </a:prstGeom>
          <a:solidFill>
            <a:srgbClr val="e4f2ea"/>
          </a:solidFill>
          <a:ln>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61" name="Rectangle 18"/>
          <p:cNvSpPr/>
          <p:nvPr/>
        </p:nvSpPr>
        <p:spPr>
          <a:xfrm>
            <a:off x="8109360" y="1956960"/>
            <a:ext cx="50040" cy="437040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62" name="TextBox 19"/>
          <p:cNvSpPr/>
          <p:nvPr/>
        </p:nvSpPr>
        <p:spPr>
          <a:xfrm>
            <a:off x="8365680" y="213984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Consolas"/>
              </a:rPr>
              <a:t>Un___</a:t>
            </a:r>
            <a:r>
              <a:rPr b="1" lang="en-US" sz="1400" spc="-1" strike="noStrike">
                <a:solidFill>
                  <a:srgbClr val="0b2545"/>
                </a:solidFill>
                <a:latin typeface="Segoe UI Semibold"/>
              </a:rPr>
              <a:t> — Monitores</a:t>
            </a:r>
            <a:endParaRPr b="0" lang="en-US" sz="1400" spc="-1" strike="noStrike">
              <a:solidFill>
                <a:srgbClr val="000000"/>
              </a:solidFill>
              <a:latin typeface="Arial"/>
            </a:endParaRPr>
          </a:p>
        </p:txBody>
      </p:sp>
      <p:sp>
        <p:nvSpPr>
          <p:cNvPr id="1563" name="TextBox 20"/>
          <p:cNvSpPr/>
          <p:nvPr/>
        </p:nvSpPr>
        <p:spPr>
          <a:xfrm>
            <a:off x="8365680" y="2670120"/>
            <a:ext cx="3057840" cy="178920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1" lang="en-US" sz="1200" spc="-1" strike="noStrike">
                <a:solidFill>
                  <a:srgbClr val="2b3644"/>
                </a:solidFill>
                <a:latin typeface="Segoe UI"/>
              </a:rPr>
              <a:t>Muestran</a:t>
            </a:r>
            <a:r>
              <a:rPr b="0" lang="en-US" sz="1200" spc="-1" strike="noStrike">
                <a:solidFill>
                  <a:srgbClr val="2b3644"/>
                </a:solidFill>
                <a:latin typeface="Segoe UI"/>
              </a:rPr>
              <a:t> valores en tiempo real; son de sólo lectura.</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a:t>
            </a:r>
            <a:r>
              <a:rPr b="0" lang="en-US" sz="1200" spc="-1" strike="noStrike">
                <a:solidFill>
                  <a:srgbClr val="2b3644"/>
                </a:solidFill>
                <a:latin typeface="Consolas"/>
              </a:rPr>
              <a:t>Un000</a:t>
            </a:r>
            <a:r>
              <a:rPr b="0" lang="en-US" sz="1200" spc="-1" strike="noStrike">
                <a:solidFill>
                  <a:srgbClr val="2b3644"/>
                </a:solidFill>
                <a:latin typeface="Segoe UI"/>
              </a:rPr>
              <a:t> velocidad del motor.</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a:t>
            </a:r>
            <a:r>
              <a:rPr b="0" lang="en-US" sz="1200" spc="-1" strike="noStrike">
                <a:solidFill>
                  <a:srgbClr val="2b3644"/>
                </a:solidFill>
                <a:latin typeface="Consolas"/>
              </a:rPr>
              <a:t>Un002</a:t>
            </a:r>
            <a:r>
              <a:rPr b="0" lang="en-US" sz="1200" spc="-1" strike="noStrike">
                <a:solidFill>
                  <a:srgbClr val="2b3644"/>
                </a:solidFill>
                <a:latin typeface="Segoe UI"/>
              </a:rPr>
              <a:t> par (% del nominal).</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a:t>
            </a:r>
            <a:r>
              <a:rPr b="0" lang="en-US" sz="1200" spc="-1" strike="noStrike">
                <a:solidFill>
                  <a:srgbClr val="2b3644"/>
                </a:solidFill>
                <a:latin typeface="Consolas"/>
              </a:rPr>
              <a:t>Un008</a:t>
            </a:r>
            <a:r>
              <a:rPr b="0" lang="en-US" sz="1200" spc="-1" strike="noStrike">
                <a:solidFill>
                  <a:srgbClr val="2b3644"/>
                </a:solidFill>
                <a:latin typeface="Segoe UI"/>
              </a:rPr>
              <a:t> error de posición.</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 </a:t>
            </a:r>
            <a:r>
              <a:rPr b="0" lang="en-US" sz="1200" spc="-1" strike="noStrike">
                <a:solidFill>
                  <a:srgbClr val="2b3644"/>
                </a:solidFill>
                <a:latin typeface="Consolas"/>
              </a:rPr>
              <a:t>Un005</a:t>
            </a:r>
            <a:r>
              <a:rPr b="0" lang="en-US" sz="1200" spc="-1" strike="noStrike">
                <a:solidFill>
                  <a:srgbClr val="2b3644"/>
                </a:solidFill>
                <a:latin typeface="Segoe UI"/>
              </a:rPr>
              <a:t> / </a:t>
            </a:r>
            <a:r>
              <a:rPr b="0" lang="en-US" sz="1200" spc="-1" strike="noStrike">
                <a:solidFill>
                  <a:srgbClr val="2b3644"/>
                </a:solidFill>
                <a:latin typeface="Consolas"/>
              </a:rPr>
              <a:t>Un006</a:t>
            </a:r>
            <a:r>
              <a:rPr b="0" lang="en-US" sz="1200" spc="-1" strike="noStrike">
                <a:solidFill>
                  <a:srgbClr val="2b3644"/>
                </a:solidFill>
                <a:latin typeface="Segoe UI"/>
              </a:rPr>
              <a:t> estado de entradas y salidas.</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Son la base del diagnóstico rápido.</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6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56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Editar un parámetro: procedimiento y precauciones</a:t>
            </a:r>
            <a:endParaRPr b="0" lang="en-US" sz="2500" spc="-1" strike="noStrike">
              <a:solidFill>
                <a:srgbClr val="000000"/>
              </a:solidFill>
              <a:latin typeface="Arial"/>
            </a:endParaRPr>
          </a:p>
        </p:txBody>
      </p:sp>
      <p:sp>
        <p:nvSpPr>
          <p:cNvPr id="156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disciplina en el cambio de parámetros ahorra días de trabajo</a:t>
            </a:r>
            <a:endParaRPr b="0" lang="en-US" sz="1250" spc="-1" strike="noStrike">
              <a:solidFill>
                <a:srgbClr val="000000"/>
              </a:solidFill>
              <a:latin typeface="Arial"/>
            </a:endParaRPr>
          </a:p>
        </p:txBody>
      </p:sp>
      <p:sp>
        <p:nvSpPr>
          <p:cNvPr id="156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56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57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87</a:t>
            </a:r>
            <a:endParaRPr b="0" lang="en-US" sz="900" spc="-1" strike="noStrike">
              <a:solidFill>
                <a:srgbClr val="000000"/>
              </a:solidFill>
              <a:latin typeface="Arial"/>
            </a:endParaRPr>
          </a:p>
        </p:txBody>
      </p:sp>
      <p:sp>
        <p:nvSpPr>
          <p:cNvPr id="1571" name="Rectangle 8"/>
          <p:cNvSpPr/>
          <p:nvPr/>
        </p:nvSpPr>
        <p:spPr>
          <a:xfrm>
            <a:off x="567000" y="1481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72" name="Rectangle 9"/>
          <p:cNvSpPr/>
          <p:nvPr/>
        </p:nvSpPr>
        <p:spPr>
          <a:xfrm>
            <a:off x="567000" y="1481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73" name="TextBox 10"/>
          <p:cNvSpPr/>
          <p:nvPr/>
        </p:nvSpPr>
        <p:spPr>
          <a:xfrm>
            <a:off x="567000" y="1629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1</a:t>
            </a:r>
            <a:endParaRPr b="0" lang="en-US" sz="1700" spc="-1" strike="noStrike">
              <a:solidFill>
                <a:srgbClr val="000000"/>
              </a:solidFill>
              <a:latin typeface="Arial"/>
            </a:endParaRPr>
          </a:p>
        </p:txBody>
      </p:sp>
      <p:sp>
        <p:nvSpPr>
          <p:cNvPr id="1574" name="TextBox 11"/>
          <p:cNvSpPr/>
          <p:nvPr/>
        </p:nvSpPr>
        <p:spPr>
          <a:xfrm>
            <a:off x="1435680" y="1572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Anota el valor actual antes de cambiar nada</a:t>
            </a:r>
            <a:endParaRPr b="0" lang="en-US" sz="1100" spc="-1" strike="noStrike">
              <a:solidFill>
                <a:srgbClr val="000000"/>
              </a:solidFill>
              <a:latin typeface="Arial"/>
            </a:endParaRPr>
          </a:p>
        </p:txBody>
      </p:sp>
      <p:sp>
        <p:nvSpPr>
          <p:cNvPr id="1575" name="TextBox 12"/>
          <p:cNvSpPr/>
          <p:nvPr/>
        </p:nvSpPr>
        <p:spPr>
          <a:xfrm>
            <a:off x="1435680" y="1781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Sin excepciones. Si el cambio empeora el comportamiento, tienes que poder volver atrás en segundos.</a:t>
            </a:r>
            <a:endParaRPr b="0" lang="en-US" sz="900" spc="-1" strike="noStrike">
              <a:solidFill>
                <a:srgbClr val="000000"/>
              </a:solidFill>
              <a:latin typeface="Arial"/>
            </a:endParaRPr>
          </a:p>
        </p:txBody>
      </p:sp>
      <p:sp>
        <p:nvSpPr>
          <p:cNvPr id="1576" name="Rectangle 13"/>
          <p:cNvSpPr/>
          <p:nvPr/>
        </p:nvSpPr>
        <p:spPr>
          <a:xfrm>
            <a:off x="567000" y="2147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77" name="Rectangle 14"/>
          <p:cNvSpPr/>
          <p:nvPr/>
        </p:nvSpPr>
        <p:spPr>
          <a:xfrm>
            <a:off x="567000" y="2147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78" name="TextBox 15"/>
          <p:cNvSpPr/>
          <p:nvPr/>
        </p:nvSpPr>
        <p:spPr>
          <a:xfrm>
            <a:off x="567000" y="2295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2</a:t>
            </a:r>
            <a:endParaRPr b="0" lang="en-US" sz="1700" spc="-1" strike="noStrike">
              <a:solidFill>
                <a:srgbClr val="000000"/>
              </a:solidFill>
              <a:latin typeface="Arial"/>
            </a:endParaRPr>
          </a:p>
        </p:txBody>
      </p:sp>
      <p:sp>
        <p:nvSpPr>
          <p:cNvPr id="1579" name="TextBox 16"/>
          <p:cNvSpPr/>
          <p:nvPr/>
        </p:nvSpPr>
        <p:spPr>
          <a:xfrm>
            <a:off x="1435680" y="2238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Comprueba si el parámetro se puede cambiar con el servo activo</a:t>
            </a:r>
            <a:endParaRPr b="0" lang="en-US" sz="1100" spc="-1" strike="noStrike">
              <a:solidFill>
                <a:srgbClr val="000000"/>
              </a:solidFill>
              <a:latin typeface="Arial"/>
            </a:endParaRPr>
          </a:p>
        </p:txBody>
      </p:sp>
      <p:sp>
        <p:nvSpPr>
          <p:cNvPr id="1580" name="TextBox 17"/>
          <p:cNvSpPr/>
          <p:nvPr/>
        </p:nvSpPr>
        <p:spPr>
          <a:xfrm>
            <a:off x="1435680" y="2447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Muchos parámetros de configuración exigen servo OFF; el drive lo rechaza o avisa si no se cumple la condición.</a:t>
            </a:r>
            <a:endParaRPr b="0" lang="en-US" sz="900" spc="-1" strike="noStrike">
              <a:solidFill>
                <a:srgbClr val="000000"/>
              </a:solidFill>
              <a:latin typeface="Arial"/>
            </a:endParaRPr>
          </a:p>
        </p:txBody>
      </p:sp>
      <p:sp>
        <p:nvSpPr>
          <p:cNvPr id="1581" name="Rectangle 18"/>
          <p:cNvSpPr/>
          <p:nvPr/>
        </p:nvSpPr>
        <p:spPr>
          <a:xfrm>
            <a:off x="567000" y="2813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82" name="Rectangle 19"/>
          <p:cNvSpPr/>
          <p:nvPr/>
        </p:nvSpPr>
        <p:spPr>
          <a:xfrm>
            <a:off x="567000" y="2813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83" name="TextBox 20"/>
          <p:cNvSpPr/>
          <p:nvPr/>
        </p:nvSpPr>
        <p:spPr>
          <a:xfrm>
            <a:off x="567000" y="2961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3</a:t>
            </a:r>
            <a:endParaRPr b="0" lang="en-US" sz="1700" spc="-1" strike="noStrike">
              <a:solidFill>
                <a:srgbClr val="000000"/>
              </a:solidFill>
              <a:latin typeface="Arial"/>
            </a:endParaRPr>
          </a:p>
        </p:txBody>
      </p:sp>
      <p:sp>
        <p:nvSpPr>
          <p:cNvPr id="1584" name="TextBox 21"/>
          <p:cNvSpPr/>
          <p:nvPr/>
        </p:nvSpPr>
        <p:spPr>
          <a:xfrm>
            <a:off x="1435680" y="2904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Introduce el nuevo valor y confírmalo</a:t>
            </a:r>
            <a:endParaRPr b="0" lang="en-US" sz="1100" spc="-1" strike="noStrike">
              <a:solidFill>
                <a:srgbClr val="000000"/>
              </a:solidFill>
              <a:latin typeface="Arial"/>
            </a:endParaRPr>
          </a:p>
        </p:txBody>
      </p:sp>
      <p:sp>
        <p:nvSpPr>
          <p:cNvPr id="1585" name="TextBox 22"/>
          <p:cNvSpPr/>
          <p:nvPr/>
        </p:nvSpPr>
        <p:spPr>
          <a:xfrm>
            <a:off x="1435680" y="3113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En el panel se navega con las teclas de flecha y se confirma con la tecla de datos; en SigmaWin+, escribiendo en la celda.</a:t>
            </a:r>
            <a:endParaRPr b="0" lang="en-US" sz="900" spc="-1" strike="noStrike">
              <a:solidFill>
                <a:srgbClr val="000000"/>
              </a:solidFill>
              <a:latin typeface="Arial"/>
            </a:endParaRPr>
          </a:p>
        </p:txBody>
      </p:sp>
      <p:sp>
        <p:nvSpPr>
          <p:cNvPr id="1586" name="Rectangle 23"/>
          <p:cNvSpPr/>
          <p:nvPr/>
        </p:nvSpPr>
        <p:spPr>
          <a:xfrm>
            <a:off x="567000" y="3479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87" name="Rectangle 24"/>
          <p:cNvSpPr/>
          <p:nvPr/>
        </p:nvSpPr>
        <p:spPr>
          <a:xfrm>
            <a:off x="567000" y="3479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88" name="TextBox 25"/>
          <p:cNvSpPr/>
          <p:nvPr/>
        </p:nvSpPr>
        <p:spPr>
          <a:xfrm>
            <a:off x="567000" y="3627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4</a:t>
            </a:r>
            <a:endParaRPr b="0" lang="en-US" sz="1700" spc="-1" strike="noStrike">
              <a:solidFill>
                <a:srgbClr val="000000"/>
              </a:solidFill>
              <a:latin typeface="Arial"/>
            </a:endParaRPr>
          </a:p>
        </p:txBody>
      </p:sp>
      <p:sp>
        <p:nvSpPr>
          <p:cNvPr id="1589" name="TextBox 26"/>
          <p:cNvSpPr/>
          <p:nvPr/>
        </p:nvSpPr>
        <p:spPr>
          <a:xfrm>
            <a:off x="1435680" y="3570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Verifica si requiere reinicio</a:t>
            </a:r>
            <a:endParaRPr b="0" lang="en-US" sz="1100" spc="-1" strike="noStrike">
              <a:solidFill>
                <a:srgbClr val="000000"/>
              </a:solidFill>
              <a:latin typeface="Arial"/>
            </a:endParaRPr>
          </a:p>
        </p:txBody>
      </p:sp>
      <p:sp>
        <p:nvSpPr>
          <p:cNvPr id="1590" name="TextBox 27"/>
          <p:cNvSpPr/>
          <p:nvPr/>
        </p:nvSpPr>
        <p:spPr>
          <a:xfrm>
            <a:off x="1435680" y="3779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El drive lo indica con un aviso (familia </a:t>
            </a:r>
            <a:r>
              <a:rPr b="0" lang="en-US" sz="900" spc="-1" strike="noStrike">
                <a:solidFill>
                  <a:srgbClr val="3a4654"/>
                </a:solidFill>
                <a:latin typeface="Consolas"/>
              </a:rPr>
              <a:t>A.941</a:t>
            </a:r>
            <a:r>
              <a:rPr b="0" lang="en-US" sz="900" spc="-1" strike="noStrike">
                <a:solidFill>
                  <a:srgbClr val="3a4654"/>
                </a:solidFill>
                <a:latin typeface="Segoe UI"/>
              </a:rPr>
              <a:t>). Hasta que no se reinicie, el valor nuevo está escrito pero no aplicado.</a:t>
            </a:r>
            <a:endParaRPr b="0" lang="en-US" sz="900" spc="-1" strike="noStrike">
              <a:solidFill>
                <a:srgbClr val="000000"/>
              </a:solidFill>
              <a:latin typeface="Arial"/>
            </a:endParaRPr>
          </a:p>
        </p:txBody>
      </p:sp>
      <p:sp>
        <p:nvSpPr>
          <p:cNvPr id="1591" name="Rectangle 28"/>
          <p:cNvSpPr/>
          <p:nvPr/>
        </p:nvSpPr>
        <p:spPr>
          <a:xfrm>
            <a:off x="567000" y="4145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92" name="Rectangle 29"/>
          <p:cNvSpPr/>
          <p:nvPr/>
        </p:nvSpPr>
        <p:spPr>
          <a:xfrm>
            <a:off x="567000" y="4145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93" name="TextBox 30"/>
          <p:cNvSpPr/>
          <p:nvPr/>
        </p:nvSpPr>
        <p:spPr>
          <a:xfrm>
            <a:off x="567000" y="4293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5</a:t>
            </a:r>
            <a:endParaRPr b="0" lang="en-US" sz="1700" spc="-1" strike="noStrike">
              <a:solidFill>
                <a:srgbClr val="000000"/>
              </a:solidFill>
              <a:latin typeface="Arial"/>
            </a:endParaRPr>
          </a:p>
        </p:txBody>
      </p:sp>
      <p:sp>
        <p:nvSpPr>
          <p:cNvPr id="1594" name="TextBox 31"/>
          <p:cNvSpPr/>
          <p:nvPr/>
        </p:nvSpPr>
        <p:spPr>
          <a:xfrm>
            <a:off x="1435680" y="4236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Prueba el efecto de forma controlada</a:t>
            </a:r>
            <a:endParaRPr b="0" lang="en-US" sz="1100" spc="-1" strike="noStrike">
              <a:solidFill>
                <a:srgbClr val="000000"/>
              </a:solidFill>
              <a:latin typeface="Arial"/>
            </a:endParaRPr>
          </a:p>
        </p:txBody>
      </p:sp>
      <p:sp>
        <p:nvSpPr>
          <p:cNvPr id="1595" name="TextBox 32"/>
          <p:cNvSpPr/>
          <p:nvPr/>
        </p:nvSpPr>
        <p:spPr>
          <a:xfrm>
            <a:off x="1435680" y="4445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Un cambio cada vez, y comprobando. Cambiar cinco parámetros a la vez hace imposible saber cuál ha sido el responsable.</a:t>
            </a:r>
            <a:endParaRPr b="0" lang="en-US" sz="900" spc="-1" strike="noStrike">
              <a:solidFill>
                <a:srgbClr val="000000"/>
              </a:solidFill>
              <a:latin typeface="Arial"/>
            </a:endParaRPr>
          </a:p>
        </p:txBody>
      </p:sp>
      <p:sp>
        <p:nvSpPr>
          <p:cNvPr id="1596" name="Rectangle 33"/>
          <p:cNvSpPr/>
          <p:nvPr/>
        </p:nvSpPr>
        <p:spPr>
          <a:xfrm>
            <a:off x="567000" y="4811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97" name="Rectangle 34"/>
          <p:cNvSpPr/>
          <p:nvPr/>
        </p:nvSpPr>
        <p:spPr>
          <a:xfrm>
            <a:off x="567000" y="4811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598" name="TextBox 35"/>
          <p:cNvSpPr/>
          <p:nvPr/>
        </p:nvSpPr>
        <p:spPr>
          <a:xfrm>
            <a:off x="567000" y="4959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6</a:t>
            </a:r>
            <a:endParaRPr b="0" lang="en-US" sz="1700" spc="-1" strike="noStrike">
              <a:solidFill>
                <a:srgbClr val="000000"/>
              </a:solidFill>
              <a:latin typeface="Arial"/>
            </a:endParaRPr>
          </a:p>
        </p:txBody>
      </p:sp>
      <p:sp>
        <p:nvSpPr>
          <p:cNvPr id="1599" name="TextBox 36"/>
          <p:cNvSpPr/>
          <p:nvPr/>
        </p:nvSpPr>
        <p:spPr>
          <a:xfrm>
            <a:off x="1435680" y="4902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Guarda la configuración completa</a:t>
            </a:r>
            <a:endParaRPr b="0" lang="en-US" sz="1100" spc="-1" strike="noStrike">
              <a:solidFill>
                <a:srgbClr val="000000"/>
              </a:solidFill>
              <a:latin typeface="Arial"/>
            </a:endParaRPr>
          </a:p>
        </p:txBody>
      </p:sp>
      <p:sp>
        <p:nvSpPr>
          <p:cNvPr id="1600" name="TextBox 37"/>
          <p:cNvSpPr/>
          <p:nvPr/>
        </p:nvSpPr>
        <p:spPr>
          <a:xfrm>
            <a:off x="1435680" y="5111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Exporta el fichero de parámetros a disco con fecha y descripción del cambio. Es tu histórico de configuración.</a:t>
            </a:r>
            <a:endParaRPr b="0" lang="en-US" sz="900" spc="-1" strike="noStrike">
              <a:solidFill>
                <a:srgbClr val="000000"/>
              </a:solidFill>
              <a:latin typeface="Arial"/>
            </a:endParaRPr>
          </a:p>
        </p:txBody>
      </p:sp>
      <p:sp>
        <p:nvSpPr>
          <p:cNvPr id="1601" name="Rectangle 38"/>
          <p:cNvSpPr/>
          <p:nvPr/>
        </p:nvSpPr>
        <p:spPr>
          <a:xfrm>
            <a:off x="567000" y="5504760"/>
            <a:ext cx="11057400" cy="82260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02" name="Rectangle 39"/>
          <p:cNvSpPr/>
          <p:nvPr/>
        </p:nvSpPr>
        <p:spPr>
          <a:xfrm>
            <a:off x="567000" y="5504760"/>
            <a:ext cx="68400" cy="82260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03" name="TextBox 40"/>
          <p:cNvSpPr/>
          <p:nvPr/>
        </p:nvSpPr>
        <p:spPr>
          <a:xfrm>
            <a:off x="841320" y="564192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c0392b"/>
                </a:solidFill>
                <a:latin typeface="Segoe UI Semibold"/>
              </a:rPr>
              <a:t>Cuidado con </a:t>
            </a:r>
            <a:r>
              <a:rPr b="1" lang="en-US" sz="1200" spc="-1" strike="noStrike">
                <a:solidFill>
                  <a:srgbClr val="c0392b"/>
                </a:solidFill>
                <a:latin typeface="Consolas"/>
              </a:rPr>
              <a:t>Fn005</a:t>
            </a:r>
            <a:r>
              <a:rPr b="1" lang="en-US" sz="1200" spc="-1" strike="noStrike">
                <a:solidFill>
                  <a:srgbClr val="c0392b"/>
                </a:solidFill>
                <a:latin typeface="Segoe UI Semibold"/>
              </a:rPr>
              <a:t> (inicialización de parámetros)</a:t>
            </a:r>
            <a:endParaRPr b="0" lang="en-US" sz="1200" spc="-1" strike="noStrike">
              <a:solidFill>
                <a:srgbClr val="000000"/>
              </a:solidFill>
              <a:latin typeface="Arial"/>
            </a:endParaRPr>
          </a:p>
        </p:txBody>
      </p:sp>
      <p:sp>
        <p:nvSpPr>
          <p:cNvPr id="1604" name="TextBox 41"/>
          <p:cNvSpPr/>
          <p:nvPr/>
        </p:nvSpPr>
        <p:spPr>
          <a:xfrm>
            <a:off x="841320" y="591624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Devuelve el drive a valores de fábrica. Es útil cuando heredas un equipo con configuración desconocida, pero borra la sintonización y la asignación de E/S. Nunca lo ejecutes sin tener copia previa.</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0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607"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SigmaWin+: la herramienta imprescindible</a:t>
            </a:r>
            <a:endParaRPr b="0" lang="en-US" sz="2500" spc="-1" strike="noStrike">
              <a:solidFill>
                <a:srgbClr val="000000"/>
              </a:solidFill>
              <a:latin typeface="Arial"/>
            </a:endParaRPr>
          </a:p>
        </p:txBody>
      </p:sp>
      <p:sp>
        <p:nvSpPr>
          <p:cNvPr id="160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Se puede trabajar sin PC, pero es mucho más lento y más arriesgado</a:t>
            </a:r>
            <a:endParaRPr b="0" lang="en-US" sz="1250" spc="-1" strike="noStrike">
              <a:solidFill>
                <a:srgbClr val="000000"/>
              </a:solidFill>
              <a:latin typeface="Arial"/>
            </a:endParaRPr>
          </a:p>
        </p:txBody>
      </p:sp>
      <p:sp>
        <p:nvSpPr>
          <p:cNvPr id="160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61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61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88</a:t>
            </a:r>
            <a:endParaRPr b="0" lang="en-US" sz="900" spc="-1" strike="noStrike">
              <a:solidFill>
                <a:srgbClr val="000000"/>
              </a:solidFill>
              <a:latin typeface="Arial"/>
            </a:endParaRPr>
          </a:p>
        </p:txBody>
      </p:sp>
      <p:sp>
        <p:nvSpPr>
          <p:cNvPr id="1612" name="Rectangle 8"/>
          <p:cNvSpPr/>
          <p:nvPr/>
        </p:nvSpPr>
        <p:spPr>
          <a:xfrm>
            <a:off x="5670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13" name="Rectangle 9"/>
          <p:cNvSpPr/>
          <p:nvPr/>
        </p:nvSpPr>
        <p:spPr>
          <a:xfrm>
            <a:off x="567000" y="1481400"/>
            <a:ext cx="5373000" cy="4201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14"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Qué te permite hacer</a:t>
            </a:r>
            <a:endParaRPr b="0" lang="en-US" sz="1350" spc="-1" strike="noStrike">
              <a:solidFill>
                <a:srgbClr val="000000"/>
              </a:solidFill>
              <a:latin typeface="Arial"/>
            </a:endParaRPr>
          </a:p>
        </p:txBody>
      </p:sp>
      <p:sp>
        <p:nvSpPr>
          <p:cNvPr id="1615" name="TextBox 11"/>
          <p:cNvSpPr/>
          <p:nvPr/>
        </p:nvSpPr>
        <p:spPr>
          <a:xfrm>
            <a:off x="768240" y="2048400"/>
            <a:ext cx="4970880" cy="276948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070" spc="-1" strike="noStrike">
                <a:solidFill>
                  <a:srgbClr val="1c2430"/>
                </a:solidFill>
                <a:latin typeface="Segoe UI"/>
              </a:rPr>
              <a:t>Editar todos los parámetros con descripción, rango y unidades a la vista, en lugar de números crípticos en un display de cinco dígitos.</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70" spc="-1" strike="noStrike">
                <a:solidFill>
                  <a:srgbClr val="1c2430"/>
                </a:solidFill>
                <a:latin typeface="Segoe UI"/>
              </a:rPr>
              <a:t>Autoajuste guiado: los asistentes de sintonización se manejan mucho mejor desde el PC que desde el panel.</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70" spc="-1" strike="noStrike">
                <a:solidFill>
                  <a:srgbClr val="1c2430"/>
                </a:solidFill>
                <a:latin typeface="Segoe UI"/>
              </a:rPr>
              <a:t>Traza (osciloscopio software): captura consigna, posición real, error, velocidad, par y corriente sincronizados. Es la herramienta de diagnóstico definitiva.</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70" spc="-1" strike="noStrike">
                <a:solidFill>
                  <a:srgbClr val="1c2430"/>
                </a:solidFill>
                <a:latin typeface="Segoe UI"/>
              </a:rPr>
              <a:t>Análisis mecánico: excitación y respuesta en frecuencia para localizar resonancias.</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70" spc="-1" strike="noStrike">
                <a:solidFill>
                  <a:srgbClr val="1c2430"/>
                </a:solidFill>
                <a:latin typeface="Segoe UI"/>
              </a:rPr>
              <a:t>Monitorización en vivo de todas las variables y del estado de E/S.</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70" spc="-1" strike="noStrike">
                <a:solidFill>
                  <a:srgbClr val="1c2430"/>
                </a:solidFill>
                <a:latin typeface="Segoe UI"/>
              </a:rPr>
              <a:t>Copia de seguridad y comparación entre configuraciones.</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70" spc="-1" strike="noStrike">
                <a:solidFill>
                  <a:srgbClr val="1c2430"/>
                </a:solidFill>
                <a:latin typeface="Segoe UI"/>
              </a:rPr>
              <a:t>Historial de alarmas con contexto.</a:t>
            </a:r>
            <a:endParaRPr b="0" lang="en-US" sz="1070" spc="-1" strike="noStrike">
              <a:solidFill>
                <a:srgbClr val="000000"/>
              </a:solidFill>
              <a:latin typeface="Arial"/>
            </a:endParaRPr>
          </a:p>
        </p:txBody>
      </p:sp>
      <p:sp>
        <p:nvSpPr>
          <p:cNvPr id="1616" name="Rectangle 12"/>
          <p:cNvSpPr/>
          <p:nvPr/>
        </p:nvSpPr>
        <p:spPr>
          <a:xfrm>
            <a:off x="62514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17" name="Rectangle 13"/>
          <p:cNvSpPr/>
          <p:nvPr/>
        </p:nvSpPr>
        <p:spPr>
          <a:xfrm>
            <a:off x="6251400" y="1481400"/>
            <a:ext cx="5373000" cy="42012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18"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Cómo trabajar con él</a:t>
            </a:r>
            <a:endParaRPr b="0" lang="en-US" sz="1350" spc="-1" strike="noStrike">
              <a:solidFill>
                <a:srgbClr val="000000"/>
              </a:solidFill>
              <a:latin typeface="Arial"/>
            </a:endParaRPr>
          </a:p>
        </p:txBody>
      </p:sp>
      <p:sp>
        <p:nvSpPr>
          <p:cNvPr id="1619" name="TextBox 15"/>
          <p:cNvSpPr/>
          <p:nvPr/>
        </p:nvSpPr>
        <p:spPr>
          <a:xfrm>
            <a:off x="6452640" y="2048400"/>
            <a:ext cx="4970880" cy="293148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Conexión habitual por USB al conector </a:t>
            </a:r>
            <a:r>
              <a:rPr b="1" lang="en-US" sz="1100" spc="-1" strike="noStrike">
                <a:solidFill>
                  <a:srgbClr val="1c2430"/>
                </a:solidFill>
                <a:latin typeface="Consolas"/>
              </a:rPr>
              <a:t>CN7</a:t>
            </a:r>
            <a:r>
              <a:rPr b="1" lang="en-US" sz="1100" spc="-1" strike="noStrike">
                <a:solidFill>
                  <a:srgbClr val="1c2430"/>
                </a:solidFill>
                <a:latin typeface="Segoe UI"/>
              </a:rPr>
              <a:t>; también por bus en las variantes de red.</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Instala el driver USB antes de conectar; el PC debe reconocer el drive como dispositivo.</a:t>
            </a:r>
            <a:endParaRPr b="0" lang="en-US" sz="1100" spc="-1" strike="noStrike">
              <a:solidFill>
                <a:srgbClr val="000000"/>
              </a:solidFill>
              <a:latin typeface="Arial"/>
            </a:endParaRPr>
          </a:p>
          <a:p>
            <a:pPr defTabSz="457200">
              <a:lnSpc>
                <a:spcPct val="106000"/>
              </a:lnSpc>
              <a:spcBef>
                <a:spcPts val="799"/>
              </a:spcBef>
              <a:spcAft>
                <a:spcPts val="901"/>
              </a:spcAft>
              <a:tabLst>
                <a:tab algn="l" pos="0"/>
              </a:tabLst>
            </a:pPr>
            <a:r>
              <a:rPr b="1" lang="en-US" sz="1050" spc="-1" strike="noStrike">
                <a:solidFill>
                  <a:srgbClr val="1b5ea8"/>
                </a:solidFill>
                <a:latin typeface="Segoe UI Semibold"/>
              </a:rPr>
              <a:t>Flujo de trabajo recomendado</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50" spc="-1" strike="noStrike">
                <a:solidFill>
                  <a:srgbClr val="333f4c"/>
                </a:solidFill>
                <a:latin typeface="Segoe UI"/>
              </a:rPr>
              <a:t>Abrir proyecto → leer parámetros del drive → </a:t>
            </a:r>
            <a:r>
              <a:rPr b="1" lang="en-US" sz="950" spc="-1" strike="noStrike">
                <a:solidFill>
                  <a:srgbClr val="333f4c"/>
                </a:solidFill>
                <a:latin typeface="Segoe UI"/>
              </a:rPr>
              <a:t>guardar copia original</a:t>
            </a:r>
            <a:r>
              <a:rPr b="0" lang="en-US" sz="950" spc="-1" strike="noStrike">
                <a:solidFill>
                  <a:srgbClr val="333f4c"/>
                </a:solidFill>
                <a:latin typeface="Segoe UI"/>
              </a:rPr>
              <a:t>.</a:t>
            </a:r>
            <a:endParaRPr b="0" lang="en-US" sz="9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50" spc="-1" strike="noStrike">
                <a:solidFill>
                  <a:srgbClr val="333f4c"/>
                </a:solidFill>
                <a:latin typeface="Segoe UI"/>
              </a:rPr>
              <a:t>Trabajar, ajustar y probar.</a:t>
            </a:r>
            <a:endParaRPr b="0" lang="en-US" sz="9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50" spc="-1" strike="noStrike">
                <a:solidFill>
                  <a:srgbClr val="333f4c"/>
                </a:solidFill>
                <a:latin typeface="Segoe UI"/>
              </a:rPr>
              <a:t>Guardar la nueva versión con fecha y comentario.</a:t>
            </a:r>
            <a:endParaRPr b="0" lang="en-US" sz="9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50" spc="-1" strike="noStrike">
                <a:solidFill>
                  <a:srgbClr val="333f4c"/>
                </a:solidFill>
                <a:latin typeface="Segoe UI"/>
              </a:rPr>
              <a:t>Comparar antes/después con la función de comparación.</a:t>
            </a:r>
            <a:endParaRPr b="0" lang="en-US" sz="950" spc="-1" strike="noStrike">
              <a:solidFill>
                <a:srgbClr val="000000"/>
              </a:solidFill>
              <a:latin typeface="Arial"/>
            </a:endParaRPr>
          </a:p>
          <a:p>
            <a:pPr defTabSz="457200">
              <a:lnSpc>
                <a:spcPct val="106000"/>
              </a:lnSpc>
              <a:spcBef>
                <a:spcPts val="799"/>
              </a:spcBef>
              <a:spcAft>
                <a:spcPts val="901"/>
              </a:spcAft>
              <a:tabLst>
                <a:tab algn="l" pos="0"/>
              </a:tabLst>
            </a:pPr>
            <a:r>
              <a:rPr b="1" lang="en-US" sz="1050" spc="-1" strike="noStrike">
                <a:solidFill>
                  <a:srgbClr val="1b5ea8"/>
                </a:solidFill>
                <a:latin typeface="Segoe UI Semibold"/>
              </a:rPr>
              <a:t>Modo offline</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00" spc="-1" strike="noStrike">
                <a:solidFill>
                  <a:srgbClr val="1c2430"/>
                </a:solidFill>
                <a:latin typeface="Segoe UI"/>
              </a:rPr>
              <a:t>Permite preparar toda la configuración de una máquina antes de ir a planta, y volcarla en minutos durante la puesta en marcha.</a:t>
            </a:r>
            <a:endParaRPr b="0" lang="en-US" sz="1100" spc="-1" strike="noStrike">
              <a:solidFill>
                <a:srgbClr val="000000"/>
              </a:solidFill>
              <a:latin typeface="Arial"/>
            </a:endParaRPr>
          </a:p>
        </p:txBody>
      </p:sp>
      <p:sp>
        <p:nvSpPr>
          <p:cNvPr id="1620" name="Rectangle 16"/>
          <p:cNvSpPr/>
          <p:nvPr/>
        </p:nvSpPr>
        <p:spPr>
          <a:xfrm>
            <a:off x="567000" y="5459040"/>
            <a:ext cx="11057400" cy="868320"/>
          </a:xfrm>
          <a:prstGeom prst="rect">
            <a:avLst/>
          </a:prstGeom>
          <a:solidFill>
            <a:srgbClr val="e4f2ea"/>
          </a:solidFill>
          <a:ln>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21" name="Rectangle 17"/>
          <p:cNvSpPr/>
          <p:nvPr/>
        </p:nvSpPr>
        <p:spPr>
          <a:xfrm>
            <a:off x="567000" y="5459040"/>
            <a:ext cx="68400" cy="86832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22" name="TextBox 18"/>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2e8b57"/>
                </a:solidFill>
                <a:latin typeface="Segoe UI Semibold"/>
              </a:rPr>
              <a:t>Consejo profesional</a:t>
            </a:r>
            <a:endParaRPr b="0" lang="en-US" sz="1200" spc="-1" strike="noStrike">
              <a:solidFill>
                <a:srgbClr val="000000"/>
              </a:solidFill>
              <a:latin typeface="Arial"/>
            </a:endParaRPr>
          </a:p>
        </p:txBody>
      </p:sp>
      <p:sp>
        <p:nvSpPr>
          <p:cNvPr id="1623" name="TextBox 19"/>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Lleva siempre en el maletín: portátil con SigmaWin+ instalado y probado, cable USB de repuesto, y una carpeta con las copias de parámetros de todos los ejes de la planta. Los tres elementos juntos convierten una avería de un día en una de una hora.</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2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62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Conexión del operador digital al SERVOPACK</a:t>
            </a:r>
            <a:endParaRPr b="0" lang="en-US" sz="2500" spc="-1" strike="noStrike">
              <a:solidFill>
                <a:srgbClr val="000000"/>
              </a:solidFill>
              <a:latin typeface="Arial"/>
            </a:endParaRPr>
          </a:p>
        </p:txBody>
      </p:sp>
      <p:sp>
        <p:nvSpPr>
          <p:cNvPr id="162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Comunicación local: </a:t>
            </a:r>
            <a:r>
              <a:rPr b="0" lang="en-US" sz="1250" spc="-1" strike="noStrike">
                <a:solidFill>
                  <a:srgbClr val="a9c6e0"/>
                </a:solidFill>
                <a:latin typeface="Consolas"/>
              </a:rPr>
              <a:t>CN3</a:t>
            </a:r>
            <a:r>
              <a:rPr b="0" lang="en-US" sz="1250" spc="-1" strike="noStrike">
                <a:solidFill>
                  <a:srgbClr val="a9c6e0"/>
                </a:solidFill>
                <a:latin typeface="Segoe UI"/>
              </a:rPr>
              <a:t> (RS-422) y </a:t>
            </a:r>
            <a:r>
              <a:rPr b="0" lang="en-US" sz="1250" spc="-1" strike="noStrike">
                <a:solidFill>
                  <a:srgbClr val="a9c6e0"/>
                </a:solidFill>
                <a:latin typeface="Consolas"/>
              </a:rPr>
              <a:t>CN7</a:t>
            </a:r>
            <a:r>
              <a:rPr b="0" lang="en-US" sz="1250" spc="-1" strike="noStrike">
                <a:solidFill>
                  <a:srgbClr val="a9c6e0"/>
                </a:solidFill>
                <a:latin typeface="Segoe UI"/>
              </a:rPr>
              <a:t> (USB / SigmaWin+)</a:t>
            </a:r>
            <a:endParaRPr b="0" lang="en-US" sz="1250" spc="-1" strike="noStrike">
              <a:solidFill>
                <a:srgbClr val="000000"/>
              </a:solidFill>
              <a:latin typeface="Arial"/>
            </a:endParaRPr>
          </a:p>
        </p:txBody>
      </p:sp>
      <p:sp>
        <p:nvSpPr>
          <p:cNvPr id="162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62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63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89</a:t>
            </a:r>
            <a:endParaRPr b="0" lang="en-US" sz="900" spc="-1" strike="noStrike">
              <a:solidFill>
                <a:srgbClr val="000000"/>
              </a:solidFill>
              <a:latin typeface="Arial"/>
            </a:endParaRPr>
          </a:p>
        </p:txBody>
      </p:sp>
      <p:sp>
        <p:nvSpPr>
          <p:cNvPr id="1631" name="Rectangle 8"/>
          <p:cNvSpPr/>
          <p:nvPr/>
        </p:nvSpPr>
        <p:spPr>
          <a:xfrm>
            <a:off x="511920" y="2318040"/>
            <a:ext cx="7075800" cy="282528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632" name="Picture 9" descr="conexion_operador.png"/>
          <p:cNvPicPr/>
          <p:nvPr/>
        </p:nvPicPr>
        <p:blipFill>
          <a:blip r:embed="rId1"/>
          <a:stretch/>
        </p:blipFill>
        <p:spPr>
          <a:xfrm>
            <a:off x="567000" y="2372760"/>
            <a:ext cx="6966000" cy="2715480"/>
          </a:xfrm>
          <a:prstGeom prst="rect">
            <a:avLst/>
          </a:prstGeom>
          <a:ln w="0">
            <a:noFill/>
          </a:ln>
        </p:spPr>
      </p:pic>
      <p:sp>
        <p:nvSpPr>
          <p:cNvPr id="1633"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apartados 4.7 y 4.8</a:t>
            </a:r>
            <a:endParaRPr b="0" lang="en-US" sz="850" spc="-1" strike="noStrike">
              <a:solidFill>
                <a:srgbClr val="000000"/>
              </a:solidFill>
              <a:latin typeface="Arial"/>
            </a:endParaRPr>
          </a:p>
        </p:txBody>
      </p:sp>
      <p:sp>
        <p:nvSpPr>
          <p:cNvPr id="1634"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35" name="TextBox 12"/>
          <p:cNvSpPr/>
          <p:nvPr/>
        </p:nvSpPr>
        <p:spPr>
          <a:xfrm>
            <a:off x="8027280" y="1664280"/>
            <a:ext cx="3377880" cy="220716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El operador digital se conecta al conector </a:t>
            </a:r>
            <a:r>
              <a:rPr b="1" lang="en-US" sz="1200" spc="-1" strike="noStrike">
                <a:solidFill>
                  <a:srgbClr val="1c2430"/>
                </a:solidFill>
                <a:latin typeface="Consolas"/>
              </a:rPr>
              <a:t>CN3</a:t>
            </a:r>
            <a:r>
              <a:rPr b="1" lang="en-US" sz="1200" spc="-1" strike="noStrike">
                <a:solidFill>
                  <a:srgbClr val="1c2430"/>
                </a:solidFill>
                <a:latin typeface="Segoe UI"/>
              </a:rPr>
              <a:t>.</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El PC con SigmaWin+ se conecta al conector USB </a:t>
            </a:r>
            <a:r>
              <a:rPr b="1" lang="en-US" sz="1200" spc="-1" strike="noStrike">
                <a:solidFill>
                  <a:srgbClr val="1c2430"/>
                </a:solidFill>
                <a:latin typeface="Consolas"/>
              </a:rPr>
              <a:t>CN7</a:t>
            </a:r>
            <a:r>
              <a:rPr b="1" lang="en-US" sz="1200" spc="-1" strike="noStrike">
                <a:solidFill>
                  <a:srgbClr val="1c2430"/>
                </a:solidFill>
                <a:latin typeface="Segoe UI"/>
              </a:rPr>
              <a:t>.</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Usa siempre el cable especificado por YASKAWA: con otro cable la inmunidad al ruido no está garantizada.</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050" spc="-1" strike="noStrike">
                <a:solidFill>
                  <a:srgbClr val="333f4c"/>
                </a:solidFill>
                <a:latin typeface="Segoe UI"/>
              </a:rPr>
              <a:t>Modelos de operador habituales: </a:t>
            </a:r>
            <a:r>
              <a:rPr b="0" lang="en-US" sz="1050" spc="-1" strike="noStrike">
                <a:solidFill>
                  <a:srgbClr val="333f4c"/>
                </a:solidFill>
                <a:latin typeface="Consolas"/>
              </a:rPr>
              <a:t>JUSP-OP05A-1-E</a:t>
            </a:r>
            <a:r>
              <a:rPr b="0" lang="en-US" sz="1050" spc="-1" strike="noStrike">
                <a:solidFill>
                  <a:srgbClr val="333f4c"/>
                </a:solidFill>
                <a:latin typeface="Segoe UI"/>
              </a:rPr>
              <a:t> y equivalentes indicados en el catálogo.</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3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638" name="TextBox 3"/>
          <p:cNvSpPr/>
          <p:nvPr/>
        </p:nvSpPr>
        <p:spPr>
          <a:xfrm>
            <a:off x="567000" y="182880"/>
            <a:ext cx="8954280" cy="3524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310" spc="-1" strike="noStrike">
                <a:solidFill>
                  <a:srgbClr val="ffffff"/>
                </a:solidFill>
                <a:latin typeface="Segoe UI Semibold"/>
              </a:rPr>
              <a:t>El mapa de SigmaWin+: estado del eje y menú de funciones</a:t>
            </a:r>
            <a:endParaRPr b="0" lang="en-US" sz="2310" spc="-1" strike="noStrike">
              <a:solidFill>
                <a:srgbClr val="000000"/>
              </a:solidFill>
              <a:latin typeface="Arial"/>
            </a:endParaRPr>
          </a:p>
        </p:txBody>
      </p:sp>
      <p:sp>
        <p:nvSpPr>
          <p:cNvPr id="163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Una vez en línea, todo se abre desde este menú de nueve bloques</a:t>
            </a:r>
            <a:endParaRPr b="0" lang="en-US" sz="1250" spc="-1" strike="noStrike">
              <a:solidFill>
                <a:srgbClr val="000000"/>
              </a:solidFill>
              <a:latin typeface="Arial"/>
            </a:endParaRPr>
          </a:p>
        </p:txBody>
      </p:sp>
      <p:sp>
        <p:nvSpPr>
          <p:cNvPr id="164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64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64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90</a:t>
            </a:r>
            <a:endParaRPr b="0" lang="en-US" sz="900" spc="-1" strike="noStrike">
              <a:solidFill>
                <a:srgbClr val="000000"/>
              </a:solidFill>
              <a:latin typeface="Arial"/>
            </a:endParaRPr>
          </a:p>
        </p:txBody>
      </p:sp>
      <p:sp>
        <p:nvSpPr>
          <p:cNvPr id="1643" name="Rectangle 8"/>
          <p:cNvSpPr/>
          <p:nvPr/>
        </p:nvSpPr>
        <p:spPr>
          <a:xfrm>
            <a:off x="1632960" y="1426320"/>
            <a:ext cx="483372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644" name="Picture 9" descr="sw_mapa.png"/>
          <p:cNvPicPr/>
          <p:nvPr/>
        </p:nvPicPr>
        <p:blipFill>
          <a:blip r:embed="rId1"/>
          <a:stretch/>
        </p:blipFill>
        <p:spPr>
          <a:xfrm>
            <a:off x="1688040" y="1481400"/>
            <a:ext cx="4723920" cy="4498560"/>
          </a:xfrm>
          <a:prstGeom prst="rect">
            <a:avLst/>
          </a:prstGeom>
          <a:ln w="0">
            <a:noFill/>
          </a:ln>
        </p:spPr>
      </p:pic>
      <p:sp>
        <p:nvSpPr>
          <p:cNvPr id="1645"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capturas de SigmaWin+ Ver.7 · apartado 9.2</a:t>
            </a:r>
            <a:endParaRPr b="0" lang="en-US" sz="850" spc="-1" strike="noStrike">
              <a:solidFill>
                <a:srgbClr val="000000"/>
              </a:solidFill>
              <a:latin typeface="Arial"/>
            </a:endParaRPr>
          </a:p>
        </p:txBody>
      </p:sp>
      <p:sp>
        <p:nvSpPr>
          <p:cNvPr id="1646"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47" name="TextBox 12"/>
          <p:cNvSpPr/>
          <p:nvPr/>
        </p:nvSpPr>
        <p:spPr>
          <a:xfrm>
            <a:off x="8027280" y="1664280"/>
            <a:ext cx="3377880" cy="307620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Arriba: el estado del eje (POWER, HBB, P-OT, N-OT, FSTP).</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El botón del drive abre el [Menu]. Ahí están todas las funciones.</a:t>
            </a:r>
            <a:endParaRPr b="0" lang="en-US" sz="1200" spc="-1" strike="noStrike">
              <a:solidFill>
                <a:srgbClr val="000000"/>
              </a:solidFill>
              <a:latin typeface="Arial"/>
            </a:endParaRPr>
          </a:p>
          <a:p>
            <a:pPr defTabSz="457200">
              <a:lnSpc>
                <a:spcPct val="106000"/>
              </a:lnSpc>
              <a:spcBef>
                <a:spcPts val="799"/>
              </a:spcBef>
              <a:spcAft>
                <a:spcPts val="901"/>
              </a:spcAft>
              <a:tabLst>
                <a:tab algn="l" pos="0"/>
              </a:tabLst>
            </a:pPr>
            <a:r>
              <a:rPr b="1" lang="en-US" sz="1150" spc="-1" strike="noStrike">
                <a:solidFill>
                  <a:srgbClr val="1b5ea8"/>
                </a:solidFill>
                <a:latin typeface="Segoe UI Semibold"/>
              </a:rPr>
              <a:t>Los bloques que más vas a usar</a:t>
            </a:r>
            <a:endParaRPr b="0" lang="en-US" sz="11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1" lang="en-US" sz="1050" spc="-1" strike="noStrike">
                <a:solidFill>
                  <a:srgbClr val="333f4c"/>
                </a:solidFill>
                <a:latin typeface="Segoe UI"/>
              </a:rPr>
              <a:t>Basic Functions</a:t>
            </a:r>
            <a:r>
              <a:rPr b="0" lang="en-US" sz="1050" spc="-1" strike="noStrike">
                <a:solidFill>
                  <a:srgbClr val="333f4c"/>
                </a:solidFill>
                <a:latin typeface="Segoe UI"/>
              </a:rPr>
              <a:t>: Edit Parameters, Set Up Wizard.</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1" lang="en-US" sz="1050" spc="-1" strike="noStrike">
                <a:solidFill>
                  <a:srgbClr val="333f4c"/>
                </a:solidFill>
                <a:latin typeface="Segoe UI"/>
              </a:rPr>
              <a:t>Operation</a:t>
            </a:r>
            <a:r>
              <a:rPr b="0" lang="en-US" sz="1050" spc="-1" strike="noStrike">
                <a:solidFill>
                  <a:srgbClr val="333f4c"/>
                </a:solidFill>
                <a:latin typeface="Segoe UI"/>
              </a:rPr>
              <a:t>: Jog y Program JOG.</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1" lang="en-US" sz="1050" spc="-1" strike="noStrike">
                <a:solidFill>
                  <a:srgbClr val="333f4c"/>
                </a:solidFill>
                <a:latin typeface="Segoe UI"/>
              </a:rPr>
              <a:t>Monitor</a:t>
            </a:r>
            <a:r>
              <a:rPr b="0" lang="en-US" sz="1050" spc="-1" strike="noStrike">
                <a:solidFill>
                  <a:srgbClr val="333f4c"/>
                </a:solidFill>
                <a:latin typeface="Segoe UI"/>
              </a:rPr>
              <a:t>: Trace, Monitor y Life Monitor.</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1" lang="en-US" sz="1050" spc="-1" strike="noStrike">
                <a:solidFill>
                  <a:srgbClr val="333f4c"/>
                </a:solidFill>
                <a:latin typeface="Segoe UI"/>
              </a:rPr>
              <a:t>Tuning</a:t>
            </a:r>
            <a:r>
              <a:rPr b="0" lang="en-US" sz="1050" spc="-1" strike="noStrike">
                <a:solidFill>
                  <a:srgbClr val="333f4c"/>
                </a:solidFill>
                <a:latin typeface="Segoe UI"/>
              </a:rPr>
              <a:t>: autoajuste y nivel de respuesta.</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1" lang="en-US" sz="1050" spc="-1" strike="noStrike">
                <a:solidFill>
                  <a:srgbClr val="333f4c"/>
                </a:solidFill>
                <a:latin typeface="Segoe UI"/>
              </a:rPr>
              <a:t>Diagnostic</a:t>
            </a:r>
            <a:r>
              <a:rPr b="0" lang="en-US" sz="1050" spc="-1" strike="noStrike">
                <a:solidFill>
                  <a:srgbClr val="333f4c"/>
                </a:solidFill>
                <a:latin typeface="Segoe UI"/>
              </a:rPr>
              <a:t>: Mechanical Analysis y EasyFFT.</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1" lang="en-US" sz="1050" spc="-1" strike="noStrike">
                <a:solidFill>
                  <a:srgbClr val="333f4c"/>
                </a:solidFill>
                <a:latin typeface="Segoe UI"/>
              </a:rPr>
              <a:t>Troubleshooting</a:t>
            </a:r>
            <a:r>
              <a:rPr b="0" lang="en-US" sz="1050" spc="-1" strike="noStrike">
                <a:solidFill>
                  <a:srgbClr val="333f4c"/>
                </a:solidFill>
                <a:latin typeface="Segoe UI"/>
              </a:rPr>
              <a:t>: Display Alarm y Alarm Trace.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8"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49"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650"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Flujo de trabajo la primera vez que abres SigmaWin+</a:t>
            </a:r>
            <a:endParaRPr b="0" lang="en-US" sz="2500" spc="-1" strike="noStrike">
              <a:solidFill>
                <a:srgbClr val="000000"/>
              </a:solidFill>
              <a:latin typeface="Arial"/>
            </a:endParaRPr>
          </a:p>
        </p:txBody>
      </p:sp>
      <p:sp>
        <p:nvSpPr>
          <p:cNvPr id="1651"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Seis pasos. El que se salta el 4 es el que un día no puede volver atrás</a:t>
            </a:r>
            <a:endParaRPr b="0" lang="en-US" sz="1250" spc="-1" strike="noStrike">
              <a:solidFill>
                <a:srgbClr val="000000"/>
              </a:solidFill>
              <a:latin typeface="Arial"/>
            </a:endParaRPr>
          </a:p>
        </p:txBody>
      </p:sp>
      <p:sp>
        <p:nvSpPr>
          <p:cNvPr id="1652"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653"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654"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91</a:t>
            </a:r>
            <a:endParaRPr b="0" lang="en-US" sz="900" spc="-1" strike="noStrike">
              <a:solidFill>
                <a:srgbClr val="000000"/>
              </a:solidFill>
              <a:latin typeface="Arial"/>
            </a:endParaRPr>
          </a:p>
        </p:txBody>
      </p:sp>
      <p:sp>
        <p:nvSpPr>
          <p:cNvPr id="1655" name="Rectangle 8"/>
          <p:cNvSpPr/>
          <p:nvPr/>
        </p:nvSpPr>
        <p:spPr>
          <a:xfrm>
            <a:off x="567000" y="1481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56" name="Rectangle 9"/>
          <p:cNvSpPr/>
          <p:nvPr/>
        </p:nvSpPr>
        <p:spPr>
          <a:xfrm>
            <a:off x="567000" y="1481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57" name="TextBox 10"/>
          <p:cNvSpPr/>
          <p:nvPr/>
        </p:nvSpPr>
        <p:spPr>
          <a:xfrm>
            <a:off x="567000" y="1629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1</a:t>
            </a:r>
            <a:endParaRPr b="0" lang="en-US" sz="1700" spc="-1" strike="noStrike">
              <a:solidFill>
                <a:srgbClr val="000000"/>
              </a:solidFill>
              <a:latin typeface="Arial"/>
            </a:endParaRPr>
          </a:p>
        </p:txBody>
      </p:sp>
      <p:sp>
        <p:nvSpPr>
          <p:cNvPr id="1658" name="TextBox 11"/>
          <p:cNvSpPr/>
          <p:nvPr/>
        </p:nvSpPr>
        <p:spPr>
          <a:xfrm>
            <a:off x="1435680" y="1572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Instalar SigmaWin+ Ver.7 y el driver USB</a:t>
            </a:r>
            <a:endParaRPr b="0" lang="en-US" sz="1100" spc="-1" strike="noStrike">
              <a:solidFill>
                <a:srgbClr val="000000"/>
              </a:solidFill>
              <a:latin typeface="Arial"/>
            </a:endParaRPr>
          </a:p>
        </p:txBody>
      </p:sp>
      <p:sp>
        <p:nvSpPr>
          <p:cNvPr id="1659" name="TextBox 12"/>
          <p:cNvSpPr/>
          <p:nvPr/>
        </p:nvSpPr>
        <p:spPr>
          <a:xfrm>
            <a:off x="1435680" y="1781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Descárgalo de YASKAWA. Extrae el ZIP completo antes de instalar. SigmaWin+ 5 y 7 pueden convivir; para la Σ-X usa siempre la 7.</a:t>
            </a:r>
            <a:endParaRPr b="0" lang="en-US" sz="900" spc="-1" strike="noStrike">
              <a:solidFill>
                <a:srgbClr val="000000"/>
              </a:solidFill>
              <a:latin typeface="Arial"/>
            </a:endParaRPr>
          </a:p>
        </p:txBody>
      </p:sp>
      <p:sp>
        <p:nvSpPr>
          <p:cNvPr id="1660" name="Rectangle 13"/>
          <p:cNvSpPr/>
          <p:nvPr/>
        </p:nvSpPr>
        <p:spPr>
          <a:xfrm>
            <a:off x="567000" y="2147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61" name="Rectangle 14"/>
          <p:cNvSpPr/>
          <p:nvPr/>
        </p:nvSpPr>
        <p:spPr>
          <a:xfrm>
            <a:off x="567000" y="2147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62" name="TextBox 15"/>
          <p:cNvSpPr/>
          <p:nvPr/>
        </p:nvSpPr>
        <p:spPr>
          <a:xfrm>
            <a:off x="567000" y="2295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2</a:t>
            </a:r>
            <a:endParaRPr b="0" lang="en-US" sz="1700" spc="-1" strike="noStrike">
              <a:solidFill>
                <a:srgbClr val="000000"/>
              </a:solidFill>
              <a:latin typeface="Arial"/>
            </a:endParaRPr>
          </a:p>
        </p:txBody>
      </p:sp>
      <p:sp>
        <p:nvSpPr>
          <p:cNvPr id="1663" name="TextBox 16"/>
          <p:cNvSpPr/>
          <p:nvPr/>
        </p:nvSpPr>
        <p:spPr>
          <a:xfrm>
            <a:off x="1435680" y="2238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Conectar el PC al </a:t>
            </a:r>
            <a:r>
              <a:rPr b="1" lang="en-US" sz="1100" spc="-1" strike="noStrike">
                <a:solidFill>
                  <a:srgbClr val="0b2545"/>
                </a:solidFill>
                <a:latin typeface="Consolas"/>
              </a:rPr>
              <a:t>CN7</a:t>
            </a:r>
            <a:r>
              <a:rPr b="1" lang="en-US" sz="1100" spc="-1" strike="noStrike">
                <a:solidFill>
                  <a:srgbClr val="0b2545"/>
                </a:solidFill>
                <a:latin typeface="Segoe UI Semibold"/>
              </a:rPr>
              <a:t> con el cable USB original</a:t>
            </a:r>
            <a:endParaRPr b="0" lang="en-US" sz="1100" spc="-1" strike="noStrike">
              <a:solidFill>
                <a:srgbClr val="000000"/>
              </a:solidFill>
              <a:latin typeface="Arial"/>
            </a:endParaRPr>
          </a:p>
        </p:txBody>
      </p:sp>
      <p:sp>
        <p:nvSpPr>
          <p:cNvPr id="1664" name="TextBox 17"/>
          <p:cNvSpPr/>
          <p:nvPr/>
        </p:nvSpPr>
        <p:spPr>
          <a:xfrm>
            <a:off x="1435680" y="2447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Enciende primero el SERVOPACK (al menos la alimentación de control) y después conecta el USB. El PC debe reconocer el dispositivo.</a:t>
            </a:r>
            <a:endParaRPr b="0" lang="en-US" sz="900" spc="-1" strike="noStrike">
              <a:solidFill>
                <a:srgbClr val="000000"/>
              </a:solidFill>
              <a:latin typeface="Arial"/>
            </a:endParaRPr>
          </a:p>
        </p:txBody>
      </p:sp>
      <p:sp>
        <p:nvSpPr>
          <p:cNvPr id="1665" name="Rectangle 18"/>
          <p:cNvSpPr/>
          <p:nvPr/>
        </p:nvSpPr>
        <p:spPr>
          <a:xfrm>
            <a:off x="567000" y="2813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66" name="Rectangle 19"/>
          <p:cNvSpPr/>
          <p:nvPr/>
        </p:nvSpPr>
        <p:spPr>
          <a:xfrm>
            <a:off x="567000" y="2813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67" name="TextBox 20"/>
          <p:cNvSpPr/>
          <p:nvPr/>
        </p:nvSpPr>
        <p:spPr>
          <a:xfrm>
            <a:off x="567000" y="2961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3</a:t>
            </a:r>
            <a:endParaRPr b="0" lang="en-US" sz="1700" spc="-1" strike="noStrike">
              <a:solidFill>
                <a:srgbClr val="000000"/>
              </a:solidFill>
              <a:latin typeface="Arial"/>
            </a:endParaRPr>
          </a:p>
        </p:txBody>
      </p:sp>
      <p:sp>
        <p:nvSpPr>
          <p:cNvPr id="1668" name="TextBox 21"/>
          <p:cNvSpPr/>
          <p:nvPr/>
        </p:nvSpPr>
        <p:spPr>
          <a:xfrm>
            <a:off x="1435680" y="2904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Arrancar SigmaWin+ y poner el eje en línea</a:t>
            </a:r>
            <a:endParaRPr b="0" lang="en-US" sz="1100" spc="-1" strike="noStrike">
              <a:solidFill>
                <a:srgbClr val="000000"/>
              </a:solidFill>
              <a:latin typeface="Arial"/>
            </a:endParaRPr>
          </a:p>
        </p:txBody>
      </p:sp>
      <p:sp>
        <p:nvSpPr>
          <p:cNvPr id="1669" name="TextBox 22"/>
          <p:cNvSpPr/>
          <p:nvPr/>
        </p:nvSpPr>
        <p:spPr>
          <a:xfrm>
            <a:off x="1435680" y="3113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En la ventana Home, añade el servo, elige la comunicación USB y conéctate. El drive aparece en el workspace con sus LEDs de estado.</a:t>
            </a:r>
            <a:endParaRPr b="0" lang="en-US" sz="900" spc="-1" strike="noStrike">
              <a:solidFill>
                <a:srgbClr val="000000"/>
              </a:solidFill>
              <a:latin typeface="Arial"/>
            </a:endParaRPr>
          </a:p>
        </p:txBody>
      </p:sp>
      <p:sp>
        <p:nvSpPr>
          <p:cNvPr id="1670" name="Rectangle 23"/>
          <p:cNvSpPr/>
          <p:nvPr/>
        </p:nvSpPr>
        <p:spPr>
          <a:xfrm>
            <a:off x="567000" y="3479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71" name="Rectangle 24"/>
          <p:cNvSpPr/>
          <p:nvPr/>
        </p:nvSpPr>
        <p:spPr>
          <a:xfrm>
            <a:off x="567000" y="3479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72" name="TextBox 25"/>
          <p:cNvSpPr/>
          <p:nvPr/>
        </p:nvSpPr>
        <p:spPr>
          <a:xfrm>
            <a:off x="567000" y="3627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4</a:t>
            </a:r>
            <a:endParaRPr b="0" lang="en-US" sz="1700" spc="-1" strike="noStrike">
              <a:solidFill>
                <a:srgbClr val="000000"/>
              </a:solidFill>
              <a:latin typeface="Arial"/>
            </a:endParaRPr>
          </a:p>
        </p:txBody>
      </p:sp>
      <p:sp>
        <p:nvSpPr>
          <p:cNvPr id="1673" name="TextBox 26"/>
          <p:cNvSpPr/>
          <p:nvPr/>
        </p:nvSpPr>
        <p:spPr>
          <a:xfrm>
            <a:off x="1435680" y="3570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Abrir el menú del eje y guardar una copia</a:t>
            </a:r>
            <a:endParaRPr b="0" lang="en-US" sz="1100" spc="-1" strike="noStrike">
              <a:solidFill>
                <a:srgbClr val="000000"/>
              </a:solidFill>
              <a:latin typeface="Arial"/>
            </a:endParaRPr>
          </a:p>
        </p:txBody>
      </p:sp>
      <p:sp>
        <p:nvSpPr>
          <p:cNvPr id="1674" name="TextBox 27"/>
          <p:cNvSpPr/>
          <p:nvPr/>
        </p:nvSpPr>
        <p:spPr>
          <a:xfrm>
            <a:off x="1435680" y="3779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Consolas"/>
              </a:rPr>
              <a:t>Edit Parameters</a:t>
            </a:r>
            <a:r>
              <a:rPr b="0" lang="en-US" sz="900" spc="-1" strike="noStrike">
                <a:solidFill>
                  <a:srgbClr val="3a4654"/>
                </a:solidFill>
                <a:latin typeface="Segoe UI"/>
              </a:rPr>
              <a:t> → </a:t>
            </a:r>
            <a:r>
              <a:rPr b="0" lang="en-US" sz="900" spc="-1" strike="noStrike">
                <a:solidFill>
                  <a:srgbClr val="3a4654"/>
                </a:solidFill>
                <a:latin typeface="Consolas"/>
              </a:rPr>
              <a:t>Export</a:t>
            </a:r>
            <a:r>
              <a:rPr b="0" lang="en-US" sz="900" spc="-1" strike="noStrike">
                <a:solidFill>
                  <a:srgbClr val="3a4654"/>
                </a:solidFill>
                <a:latin typeface="Segoe UI"/>
              </a:rPr>
              <a:t> o </a:t>
            </a:r>
            <a:r>
              <a:rPr b="0" lang="en-US" sz="900" spc="-1" strike="noStrike">
                <a:solidFill>
                  <a:srgbClr val="3a4654"/>
                </a:solidFill>
                <a:latin typeface="Consolas"/>
              </a:rPr>
              <a:t>Save to Project</a:t>
            </a:r>
            <a:r>
              <a:rPr b="0" lang="en-US" sz="900" spc="-1" strike="noStrike">
                <a:solidFill>
                  <a:srgbClr val="3a4654"/>
                </a:solidFill>
                <a:latin typeface="Segoe UI"/>
              </a:rPr>
              <a:t>. Esta es la copia 'como llegó'. Sin ella no se toca nada.</a:t>
            </a:r>
            <a:endParaRPr b="0" lang="en-US" sz="900" spc="-1" strike="noStrike">
              <a:solidFill>
                <a:srgbClr val="000000"/>
              </a:solidFill>
              <a:latin typeface="Arial"/>
            </a:endParaRPr>
          </a:p>
        </p:txBody>
      </p:sp>
      <p:sp>
        <p:nvSpPr>
          <p:cNvPr id="1675" name="Rectangle 28"/>
          <p:cNvSpPr/>
          <p:nvPr/>
        </p:nvSpPr>
        <p:spPr>
          <a:xfrm>
            <a:off x="567000" y="4145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76" name="Rectangle 29"/>
          <p:cNvSpPr/>
          <p:nvPr/>
        </p:nvSpPr>
        <p:spPr>
          <a:xfrm>
            <a:off x="567000" y="4145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77" name="TextBox 30"/>
          <p:cNvSpPr/>
          <p:nvPr/>
        </p:nvSpPr>
        <p:spPr>
          <a:xfrm>
            <a:off x="567000" y="4293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5</a:t>
            </a:r>
            <a:endParaRPr b="0" lang="en-US" sz="1700" spc="-1" strike="noStrike">
              <a:solidFill>
                <a:srgbClr val="000000"/>
              </a:solidFill>
              <a:latin typeface="Arial"/>
            </a:endParaRPr>
          </a:p>
        </p:txBody>
      </p:sp>
      <p:sp>
        <p:nvSpPr>
          <p:cNvPr id="1678" name="TextBox 31"/>
          <p:cNvSpPr/>
          <p:nvPr/>
        </p:nvSpPr>
        <p:spPr>
          <a:xfrm>
            <a:off x="1435680" y="4236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Trabajar en el bloque que corresponda</a:t>
            </a:r>
            <a:endParaRPr b="0" lang="en-US" sz="1100" spc="-1" strike="noStrike">
              <a:solidFill>
                <a:srgbClr val="000000"/>
              </a:solidFill>
              <a:latin typeface="Arial"/>
            </a:endParaRPr>
          </a:p>
        </p:txBody>
      </p:sp>
      <p:sp>
        <p:nvSpPr>
          <p:cNvPr id="1679" name="TextBox 32"/>
          <p:cNvSpPr/>
          <p:nvPr/>
        </p:nvSpPr>
        <p:spPr>
          <a:xfrm>
            <a:off x="1435680" y="4445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Setup Wizard o Edit Parameters para configurar. Jog para probar. Tuning para autoajustar. Trace para medir. Display Alarm si hay fallo.</a:t>
            </a:r>
            <a:endParaRPr b="0" lang="en-US" sz="900" spc="-1" strike="noStrike">
              <a:solidFill>
                <a:srgbClr val="000000"/>
              </a:solidFill>
              <a:latin typeface="Arial"/>
            </a:endParaRPr>
          </a:p>
        </p:txBody>
      </p:sp>
      <p:sp>
        <p:nvSpPr>
          <p:cNvPr id="1680" name="Rectangle 33"/>
          <p:cNvSpPr/>
          <p:nvPr/>
        </p:nvSpPr>
        <p:spPr>
          <a:xfrm>
            <a:off x="567000" y="4811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81" name="Rectangle 34"/>
          <p:cNvSpPr/>
          <p:nvPr/>
        </p:nvSpPr>
        <p:spPr>
          <a:xfrm>
            <a:off x="567000" y="4811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82" name="TextBox 35"/>
          <p:cNvSpPr/>
          <p:nvPr/>
        </p:nvSpPr>
        <p:spPr>
          <a:xfrm>
            <a:off x="567000" y="4959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6</a:t>
            </a:r>
            <a:endParaRPr b="0" lang="en-US" sz="1700" spc="-1" strike="noStrike">
              <a:solidFill>
                <a:srgbClr val="000000"/>
              </a:solidFill>
              <a:latin typeface="Arial"/>
            </a:endParaRPr>
          </a:p>
        </p:txBody>
      </p:sp>
      <p:sp>
        <p:nvSpPr>
          <p:cNvPr id="1683" name="TextBox 36"/>
          <p:cNvSpPr/>
          <p:nvPr/>
        </p:nvSpPr>
        <p:spPr>
          <a:xfrm>
            <a:off x="1435680" y="4902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Escribir, verificar y volver a guardar</a:t>
            </a:r>
            <a:endParaRPr b="0" lang="en-US" sz="1100" spc="-1" strike="noStrike">
              <a:solidFill>
                <a:srgbClr val="000000"/>
              </a:solidFill>
              <a:latin typeface="Arial"/>
            </a:endParaRPr>
          </a:p>
        </p:txBody>
      </p:sp>
      <p:sp>
        <p:nvSpPr>
          <p:cNvPr id="1684" name="TextBox 37"/>
          <p:cNvSpPr/>
          <p:nvPr/>
        </p:nvSpPr>
        <p:spPr>
          <a:xfrm>
            <a:off x="1435680" y="5111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Tras cambiar parámetros: </a:t>
            </a:r>
            <a:r>
              <a:rPr b="0" lang="en-US" sz="900" spc="-1" strike="noStrike">
                <a:solidFill>
                  <a:srgbClr val="3a4654"/>
                </a:solidFill>
                <a:latin typeface="Consolas"/>
              </a:rPr>
              <a:t>Write to Servo</a:t>
            </a:r>
            <a:r>
              <a:rPr b="0" lang="en-US" sz="900" spc="-1" strike="noStrike">
                <a:solidFill>
                  <a:srgbClr val="3a4654"/>
                </a:solidFill>
                <a:latin typeface="Segoe UI"/>
              </a:rPr>
              <a:t> → </a:t>
            </a:r>
            <a:r>
              <a:rPr b="0" lang="en-US" sz="900" spc="-1" strike="noStrike">
                <a:solidFill>
                  <a:srgbClr val="3a4654"/>
                </a:solidFill>
                <a:latin typeface="Consolas"/>
              </a:rPr>
              <a:t>Edited Parameters</a:t>
            </a:r>
            <a:r>
              <a:rPr b="0" lang="en-US" sz="900" spc="-1" strike="noStrike">
                <a:solidFill>
                  <a:srgbClr val="3a4654"/>
                </a:solidFill>
                <a:latin typeface="Segoe UI"/>
              </a:rPr>
              <a:t>. Si el drive pide reinicio, ciclo de alimentación. Luego exporta 'como quedó' con fecha y motivo.</a:t>
            </a:r>
            <a:endParaRPr b="0" lang="en-US" sz="900" spc="-1" strike="noStrike">
              <a:solidFill>
                <a:srgbClr val="000000"/>
              </a:solidFill>
              <a:latin typeface="Arial"/>
            </a:endParaRPr>
          </a:p>
        </p:txBody>
      </p:sp>
      <p:sp>
        <p:nvSpPr>
          <p:cNvPr id="1685" name="Rectangle 38"/>
          <p:cNvSpPr/>
          <p:nvPr/>
        </p:nvSpPr>
        <p:spPr>
          <a:xfrm>
            <a:off x="567000" y="5504760"/>
            <a:ext cx="11057400" cy="82260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86" name="Rectangle 39"/>
          <p:cNvSpPr/>
          <p:nvPr/>
        </p:nvSpPr>
        <p:spPr>
          <a:xfrm>
            <a:off x="567000" y="5504760"/>
            <a:ext cx="68400" cy="82260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87" name="TextBox 40"/>
          <p:cNvSpPr/>
          <p:nvPr/>
        </p:nvSpPr>
        <p:spPr>
          <a:xfrm>
            <a:off x="841320" y="564192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Verde en la celda = escrito en el PC, no todavía en el drive</a:t>
            </a:r>
            <a:endParaRPr b="0" lang="en-US" sz="1200" spc="-1" strike="noStrike">
              <a:solidFill>
                <a:srgbClr val="000000"/>
              </a:solidFill>
              <a:latin typeface="Arial"/>
            </a:endParaRPr>
          </a:p>
        </p:txBody>
      </p:sp>
      <p:sp>
        <p:nvSpPr>
          <p:cNvPr id="1688" name="TextBox 41"/>
          <p:cNvSpPr/>
          <p:nvPr/>
        </p:nvSpPr>
        <p:spPr>
          <a:xfrm>
            <a:off x="841320" y="591624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Al editar un parámetro, la celda se pone verde. Hasta que no pulses </a:t>
            </a:r>
            <a:r>
              <a:rPr b="0" lang="en-US" sz="1150" spc="-1" strike="noStrike">
                <a:solidFill>
                  <a:srgbClr val="2b3644"/>
                </a:solidFill>
                <a:latin typeface="Consolas"/>
              </a:rPr>
              <a:t>Write to Servo</a:t>
            </a:r>
            <a:r>
              <a:rPr b="0" lang="en-US" sz="1150" spc="-1" strike="noStrike">
                <a:solidFill>
                  <a:srgbClr val="2b3644"/>
                </a:solidFill>
                <a:latin typeface="Segoe UI"/>
              </a:rPr>
              <a:t> → </a:t>
            </a:r>
            <a:r>
              <a:rPr b="0" lang="en-US" sz="1150" spc="-1" strike="noStrike">
                <a:solidFill>
                  <a:srgbClr val="2b3644"/>
                </a:solidFill>
                <a:latin typeface="Consolas"/>
              </a:rPr>
              <a:t>Edited Parameters</a:t>
            </a:r>
            <a:r>
              <a:rPr b="0" lang="en-US" sz="1150" spc="-1" strike="noStrike">
                <a:solidFill>
                  <a:srgbClr val="2b3644"/>
                </a:solidFill>
                <a:latin typeface="Segoe UI"/>
              </a:rPr>
              <a:t> el SERVOPACK sigue con el valor anterior. Confundir 'lo he cambiado en pantalla' con 'ya está en el eje' es el error de principiante más caro.</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9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691" name="TextBox 3"/>
          <p:cNvSpPr/>
          <p:nvPr/>
        </p:nvSpPr>
        <p:spPr>
          <a:xfrm>
            <a:off x="567000" y="182880"/>
            <a:ext cx="8954280" cy="3654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400" spc="-1" strike="noStrike">
                <a:solidFill>
                  <a:srgbClr val="ffffff"/>
                </a:solidFill>
                <a:latin typeface="Segoe UI Semibold"/>
              </a:rPr>
              <a:t>Editar parámetros: nombre, rango, unidades y escritura</a:t>
            </a:r>
            <a:endParaRPr b="0" lang="en-US" sz="2400" spc="-1" strike="noStrike">
              <a:solidFill>
                <a:srgbClr val="000000"/>
              </a:solidFill>
              <a:latin typeface="Arial"/>
            </a:endParaRPr>
          </a:p>
        </p:txBody>
      </p:sp>
      <p:sp>
        <p:nvSpPr>
          <p:cNvPr id="169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Consolas"/>
              </a:rPr>
              <a:t>Edit Parameters</a:t>
            </a:r>
            <a:r>
              <a:rPr b="0" lang="en-US" sz="1250" spc="-1" strike="noStrike">
                <a:solidFill>
                  <a:srgbClr val="a9c6e0"/>
                </a:solidFill>
                <a:latin typeface="Segoe UI"/>
              </a:rPr>
              <a:t>: dejas de memorizar códigos de cinco dígitos</a:t>
            </a:r>
            <a:endParaRPr b="0" lang="en-US" sz="1250" spc="-1" strike="noStrike">
              <a:solidFill>
                <a:srgbClr val="000000"/>
              </a:solidFill>
              <a:latin typeface="Arial"/>
            </a:endParaRPr>
          </a:p>
        </p:txBody>
      </p:sp>
      <p:sp>
        <p:nvSpPr>
          <p:cNvPr id="169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69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69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92</a:t>
            </a:r>
            <a:endParaRPr b="0" lang="en-US" sz="900" spc="-1" strike="noStrike">
              <a:solidFill>
                <a:srgbClr val="000000"/>
              </a:solidFill>
              <a:latin typeface="Arial"/>
            </a:endParaRPr>
          </a:p>
        </p:txBody>
      </p:sp>
      <p:sp>
        <p:nvSpPr>
          <p:cNvPr id="1696" name="Rectangle 8"/>
          <p:cNvSpPr/>
          <p:nvPr/>
        </p:nvSpPr>
        <p:spPr>
          <a:xfrm>
            <a:off x="1253520" y="1426320"/>
            <a:ext cx="559260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697" name="Picture 9" descr="sw_parametros.png"/>
          <p:cNvPicPr/>
          <p:nvPr/>
        </p:nvPicPr>
        <p:blipFill>
          <a:blip r:embed="rId1"/>
          <a:stretch/>
        </p:blipFill>
        <p:spPr>
          <a:xfrm>
            <a:off x="1308600" y="1481400"/>
            <a:ext cx="5482800" cy="4498560"/>
          </a:xfrm>
          <a:prstGeom prst="rect">
            <a:avLst/>
          </a:prstGeom>
          <a:ln w="0">
            <a:noFill/>
          </a:ln>
        </p:spPr>
      </p:pic>
      <p:sp>
        <p:nvSpPr>
          <p:cNvPr id="1698"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capturas de SigmaWin+ Ver.7 · apartado 5.1.3</a:t>
            </a:r>
            <a:endParaRPr b="0" lang="en-US" sz="850" spc="-1" strike="noStrike">
              <a:solidFill>
                <a:srgbClr val="000000"/>
              </a:solidFill>
              <a:latin typeface="Arial"/>
            </a:endParaRPr>
          </a:p>
        </p:txBody>
      </p:sp>
      <p:sp>
        <p:nvSpPr>
          <p:cNvPr id="1699"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00" name="TextBox 12"/>
          <p:cNvSpPr/>
          <p:nvPr/>
        </p:nvSpPr>
        <p:spPr>
          <a:xfrm>
            <a:off x="8027280" y="1664280"/>
            <a:ext cx="3377880" cy="323532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Doble clic en la celda → cambia el valor → Enter.</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La celda verde es un cambio pendiente de escribir al drive.</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Consolas"/>
              </a:rPr>
              <a:t>Write to Servo</a:t>
            </a:r>
            <a:r>
              <a:rPr b="1" lang="en-US" sz="1200" spc="-1" strike="noStrike">
                <a:solidFill>
                  <a:srgbClr val="1c2430"/>
                </a:solidFill>
                <a:latin typeface="Segoe UI"/>
              </a:rPr>
              <a:t> → Edited Parameters lo vuelve blanco: ya está en el SERVOPACK.</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Los </a:t>
            </a:r>
            <a:r>
              <a:rPr b="1" lang="en-US" sz="1200" spc="-1" strike="noStrike">
                <a:solidFill>
                  <a:srgbClr val="1c2430"/>
                </a:solidFill>
                <a:latin typeface="Consolas"/>
              </a:rPr>
              <a:t>Pn</a:t>
            </a:r>
            <a:r>
              <a:rPr b="1" lang="en-US" sz="1200" spc="-1" strike="noStrike">
                <a:solidFill>
                  <a:srgbClr val="1c2430"/>
                </a:solidFill>
                <a:latin typeface="Segoe UI"/>
              </a:rPr>
              <a:t> de bits (como </a:t>
            </a:r>
            <a:r>
              <a:rPr b="1" lang="en-US" sz="1200" spc="-1" strike="noStrike">
                <a:solidFill>
                  <a:srgbClr val="1c2430"/>
                </a:solidFill>
                <a:latin typeface="Consolas"/>
              </a:rPr>
              <a:t>Pn000.0</a:t>
            </a:r>
            <a:r>
              <a:rPr b="1" lang="en-US" sz="1200" spc="-1" strike="noStrike">
                <a:solidFill>
                  <a:srgbClr val="1c2430"/>
                </a:solidFill>
                <a:latin typeface="Segoe UI"/>
              </a:rPr>
              <a:t>) se eligen en un desplegable: sentido de giro, modo de parada…</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Los </a:t>
            </a:r>
            <a:r>
              <a:rPr b="1" lang="en-US" sz="1200" spc="-1" strike="noStrike">
                <a:solidFill>
                  <a:srgbClr val="1c2430"/>
                </a:solidFill>
                <a:latin typeface="Consolas"/>
              </a:rPr>
              <a:t>Pn</a:t>
            </a:r>
            <a:r>
              <a:rPr b="1" lang="en-US" sz="1200" spc="-1" strike="noStrike">
                <a:solidFill>
                  <a:srgbClr val="1c2430"/>
                </a:solidFill>
                <a:latin typeface="Segoe UI"/>
              </a:rPr>
              <a:t> numéricos (</a:t>
            </a:r>
            <a:r>
              <a:rPr b="1" lang="en-US" sz="1200" spc="-1" strike="noStrike">
                <a:solidFill>
                  <a:srgbClr val="1c2430"/>
                </a:solidFill>
                <a:latin typeface="Consolas"/>
              </a:rPr>
              <a:t>Pn100</a:t>
            </a:r>
            <a:r>
              <a:rPr b="1" lang="en-US" sz="1200" spc="-1" strike="noStrike">
                <a:solidFill>
                  <a:srgbClr val="1c2430"/>
                </a:solidFill>
                <a:latin typeface="Segoe UI"/>
              </a:rPr>
              <a:t>, </a:t>
            </a:r>
            <a:r>
              <a:rPr b="1" lang="en-US" sz="1200" spc="-1" strike="noStrike">
                <a:solidFill>
                  <a:srgbClr val="1c2430"/>
                </a:solidFill>
                <a:latin typeface="Consolas"/>
              </a:rPr>
              <a:t>Pn101</a:t>
            </a:r>
            <a:r>
              <a:rPr b="1" lang="en-US" sz="1200" spc="-1" strike="noStrike">
                <a:solidFill>
                  <a:srgbClr val="1c2430"/>
                </a:solidFill>
                <a:latin typeface="Segoe UI"/>
              </a:rPr>
              <a:t>, </a:t>
            </a:r>
            <a:r>
              <a:rPr b="1" lang="en-US" sz="1200" spc="-1" strike="noStrike">
                <a:solidFill>
                  <a:srgbClr val="1c2430"/>
                </a:solidFill>
                <a:latin typeface="Consolas"/>
              </a:rPr>
              <a:t>Pn102</a:t>
            </a:r>
            <a:r>
              <a:rPr b="1" lang="en-US" sz="1200" spc="-1" strike="noStrike">
                <a:solidFill>
                  <a:srgbClr val="1c2430"/>
                </a:solidFill>
                <a:latin typeface="Segoe UI"/>
              </a:rPr>
              <a:t>) muestran rango y valor por defecto en un recuadro.</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050" spc="-1" strike="noStrike">
                <a:solidFill>
                  <a:srgbClr val="333f4c"/>
                </a:solidFill>
                <a:latin typeface="Consolas"/>
              </a:rPr>
              <a:t>Read from Servo</a:t>
            </a:r>
            <a:r>
              <a:rPr b="0" lang="en-US" sz="1050" spc="-1" strike="noStrike">
                <a:solidFill>
                  <a:srgbClr val="333f4c"/>
                </a:solidFill>
                <a:latin typeface="Segoe UI"/>
              </a:rPr>
              <a:t> recarga lo que hay realmente en el equipo.</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1"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02"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703"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JOG desde SigmaWin+: el primer movimiento del motor</a:t>
            </a:r>
            <a:endParaRPr b="0" lang="en-US" sz="2500" spc="-1" strike="noStrike">
              <a:solidFill>
                <a:srgbClr val="000000"/>
              </a:solidFill>
              <a:latin typeface="Arial"/>
            </a:endParaRPr>
          </a:p>
        </p:txBody>
      </p:sp>
      <p:sp>
        <p:nvSpPr>
          <p:cNvPr id="1704"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Consolas"/>
              </a:rPr>
              <a:t>Operation</a:t>
            </a:r>
            <a:r>
              <a:rPr b="0" lang="en-US" sz="1250" spc="-1" strike="noStrike">
                <a:solidFill>
                  <a:srgbClr val="a9c6e0"/>
                </a:solidFill>
                <a:latin typeface="Segoe UI"/>
              </a:rPr>
              <a:t> → </a:t>
            </a:r>
            <a:r>
              <a:rPr b="0" lang="en-US" sz="1250" spc="-1" strike="noStrike">
                <a:solidFill>
                  <a:srgbClr val="a9c6e0"/>
                </a:solidFill>
                <a:latin typeface="Consolas"/>
              </a:rPr>
              <a:t>Jog</a:t>
            </a:r>
            <a:r>
              <a:rPr b="0" lang="en-US" sz="1250" spc="-1" strike="noStrike">
                <a:solidFill>
                  <a:srgbClr val="a9c6e0"/>
                </a:solidFill>
                <a:latin typeface="Segoe UI"/>
              </a:rPr>
              <a:t> · el eje se mueve sólo mientras mantienes el ratón</a:t>
            </a:r>
            <a:endParaRPr b="0" lang="en-US" sz="1250" spc="-1" strike="noStrike">
              <a:solidFill>
                <a:srgbClr val="000000"/>
              </a:solidFill>
              <a:latin typeface="Arial"/>
            </a:endParaRPr>
          </a:p>
        </p:txBody>
      </p:sp>
      <p:sp>
        <p:nvSpPr>
          <p:cNvPr id="1705"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706"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707"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93</a:t>
            </a:r>
            <a:endParaRPr b="0" lang="en-US" sz="900" spc="-1" strike="noStrike">
              <a:solidFill>
                <a:srgbClr val="000000"/>
              </a:solidFill>
              <a:latin typeface="Arial"/>
            </a:endParaRPr>
          </a:p>
        </p:txBody>
      </p:sp>
      <p:sp>
        <p:nvSpPr>
          <p:cNvPr id="1708" name="Rectangle 8"/>
          <p:cNvSpPr/>
          <p:nvPr/>
        </p:nvSpPr>
        <p:spPr>
          <a:xfrm>
            <a:off x="2396160" y="1426320"/>
            <a:ext cx="3307320" cy="36939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709" name="Picture 9" descr="sw_jog.png"/>
          <p:cNvPicPr/>
          <p:nvPr/>
        </p:nvPicPr>
        <p:blipFill>
          <a:blip r:embed="rId1"/>
          <a:stretch/>
        </p:blipFill>
        <p:spPr>
          <a:xfrm>
            <a:off x="2451240" y="1481400"/>
            <a:ext cx="3197520" cy="3584160"/>
          </a:xfrm>
          <a:prstGeom prst="rect">
            <a:avLst/>
          </a:prstGeom>
          <a:ln w="0">
            <a:noFill/>
          </a:ln>
        </p:spPr>
      </p:pic>
      <p:sp>
        <p:nvSpPr>
          <p:cNvPr id="1710"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capturas de SigmaWin+ Ver.7 · apartado 7.3.3</a:t>
            </a:r>
            <a:endParaRPr b="0" lang="en-US" sz="850" spc="-1" strike="noStrike">
              <a:solidFill>
                <a:srgbClr val="000000"/>
              </a:solidFill>
              <a:latin typeface="Arial"/>
            </a:endParaRPr>
          </a:p>
        </p:txBody>
      </p:sp>
      <p:sp>
        <p:nvSpPr>
          <p:cNvPr id="1711" name="Rectangle 11"/>
          <p:cNvSpPr/>
          <p:nvPr/>
        </p:nvSpPr>
        <p:spPr>
          <a:xfrm>
            <a:off x="7807680" y="1481400"/>
            <a:ext cx="3816720" cy="35841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12" name="TextBox 12"/>
          <p:cNvSpPr/>
          <p:nvPr/>
        </p:nvSpPr>
        <p:spPr>
          <a:xfrm>
            <a:off x="8027280" y="1664280"/>
            <a:ext cx="3377880" cy="284796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Ruta: [Operation] → [Jog].</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La velocidad es </a:t>
            </a:r>
            <a:r>
              <a:rPr b="1" lang="en-US" sz="1200" spc="-1" strike="noStrike">
                <a:solidFill>
                  <a:srgbClr val="1c2430"/>
                </a:solidFill>
                <a:latin typeface="Consolas"/>
              </a:rPr>
              <a:t>Pn304</a:t>
            </a:r>
            <a:r>
              <a:rPr b="1" lang="en-US" sz="1200" spc="-1" strike="noStrike">
                <a:solidFill>
                  <a:srgbClr val="1c2430"/>
                </a:solidFill>
                <a:latin typeface="Segoe UI"/>
              </a:rPr>
              <a:t>. Empieza baja: 50–100 min⁻¹, no 500.</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1) Servo ON. El indicador pasa a verde.</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2) Mantén Forward (+) o Reverse (−). Al soltar, para.</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Antes de pulsar OK, el software avisa: P-OT y N-OT quedan deshabilitados durante el JOG. El eje no respetará finales de carrera.</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050" spc="-1" strike="noStrike">
                <a:solidFill>
                  <a:srgbClr val="333f4c"/>
                </a:solidFill>
                <a:latin typeface="Segoe UI"/>
              </a:rPr>
              <a:t>Tras el JOG, ciclo de alimentación si el manual lo pide.</a:t>
            </a:r>
            <a:endParaRPr b="0" lang="en-US" sz="1050" spc="-1" strike="noStrike">
              <a:solidFill>
                <a:srgbClr val="000000"/>
              </a:solidFill>
              <a:latin typeface="Arial"/>
            </a:endParaRPr>
          </a:p>
        </p:txBody>
      </p:sp>
      <p:sp>
        <p:nvSpPr>
          <p:cNvPr id="1713" name="Rectangle 13"/>
          <p:cNvSpPr/>
          <p:nvPr/>
        </p:nvSpPr>
        <p:spPr>
          <a:xfrm>
            <a:off x="567000" y="5139000"/>
            <a:ext cx="11057400" cy="84096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14" name="Rectangle 14"/>
          <p:cNvSpPr/>
          <p:nvPr/>
        </p:nvSpPr>
        <p:spPr>
          <a:xfrm>
            <a:off x="567000" y="5139000"/>
            <a:ext cx="68400" cy="84096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15" name="TextBox 15"/>
          <p:cNvSpPr/>
          <p:nvPr/>
        </p:nvSpPr>
        <p:spPr>
          <a:xfrm>
            <a:off x="841320" y="527616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c0392b"/>
                </a:solidFill>
                <a:latin typeface="Segoe UI Semibold"/>
              </a:rPr>
              <a:t>El JOG no es un movimiento 'suave de prueba'</a:t>
            </a:r>
            <a:endParaRPr b="0" lang="en-US" sz="1200" spc="-1" strike="noStrike">
              <a:solidFill>
                <a:srgbClr val="000000"/>
              </a:solidFill>
              <a:latin typeface="Arial"/>
            </a:endParaRPr>
          </a:p>
        </p:txBody>
      </p:sp>
      <p:sp>
        <p:nvSpPr>
          <p:cNvPr id="1716" name="TextBox 16"/>
          <p:cNvSpPr/>
          <p:nvPr/>
        </p:nvSpPr>
        <p:spPr>
          <a:xfrm>
            <a:off x="841320" y="5550480"/>
            <a:ext cx="10554480" cy="18612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Con los OT desactivados y sin el ciclo del PLC, eres tú el único límite. Zona despejada, E-stop a mano y nadie cerca del mecanismo.</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7"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18"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719" name="TextBox 3"/>
          <p:cNvSpPr/>
          <p:nvPr/>
        </p:nvSpPr>
        <p:spPr>
          <a:xfrm>
            <a:off x="567000" y="182880"/>
            <a:ext cx="8954280" cy="372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440" spc="-1" strike="noStrike">
                <a:solidFill>
                  <a:srgbClr val="ffffff"/>
                </a:solidFill>
                <a:latin typeface="Segoe UI Semibold"/>
              </a:rPr>
              <a:t>Monitor en vivo: lo que el panel muestra, pero entero</a:t>
            </a:r>
            <a:endParaRPr b="0" lang="en-US" sz="2440" spc="-1" strike="noStrike">
              <a:solidFill>
                <a:srgbClr val="000000"/>
              </a:solidFill>
              <a:latin typeface="Arial"/>
            </a:endParaRPr>
          </a:p>
        </p:txBody>
      </p:sp>
      <p:sp>
        <p:nvSpPr>
          <p:cNvPr id="1720"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Consolas"/>
              </a:rPr>
              <a:t>Monitor</a:t>
            </a:r>
            <a:r>
              <a:rPr b="0" lang="en-US" sz="1250" spc="-1" strike="noStrike">
                <a:solidFill>
                  <a:srgbClr val="a9c6e0"/>
                </a:solidFill>
                <a:latin typeface="Segoe UI"/>
              </a:rPr>
              <a:t> → </a:t>
            </a:r>
            <a:r>
              <a:rPr b="0" lang="en-US" sz="1250" spc="-1" strike="noStrike">
                <a:solidFill>
                  <a:srgbClr val="a9c6e0"/>
                </a:solidFill>
                <a:latin typeface="Consolas"/>
              </a:rPr>
              <a:t>Monitor</a:t>
            </a:r>
            <a:r>
              <a:rPr b="0" lang="en-US" sz="1250" spc="-1" strike="noStrike">
                <a:solidFill>
                  <a:srgbClr val="a9c6e0"/>
                </a:solidFill>
                <a:latin typeface="Segoe UI"/>
              </a:rPr>
              <a:t> · pestañas Operation, Status e I/O</a:t>
            </a:r>
            <a:endParaRPr b="0" lang="en-US" sz="1250" spc="-1" strike="noStrike">
              <a:solidFill>
                <a:srgbClr val="000000"/>
              </a:solidFill>
              <a:latin typeface="Arial"/>
            </a:endParaRPr>
          </a:p>
        </p:txBody>
      </p:sp>
      <p:sp>
        <p:nvSpPr>
          <p:cNvPr id="1721"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722"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723"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94</a:t>
            </a:r>
            <a:endParaRPr b="0" lang="en-US" sz="900" spc="-1" strike="noStrike">
              <a:solidFill>
                <a:srgbClr val="000000"/>
              </a:solidFill>
              <a:latin typeface="Arial"/>
            </a:endParaRPr>
          </a:p>
        </p:txBody>
      </p:sp>
      <p:sp>
        <p:nvSpPr>
          <p:cNvPr id="1724" name="Rectangle 8"/>
          <p:cNvSpPr/>
          <p:nvPr/>
        </p:nvSpPr>
        <p:spPr>
          <a:xfrm>
            <a:off x="1173240" y="1426320"/>
            <a:ext cx="575352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725" name="Picture 9" descr="sw_monitor.png"/>
          <p:cNvPicPr/>
          <p:nvPr/>
        </p:nvPicPr>
        <p:blipFill>
          <a:blip r:embed="rId1"/>
          <a:stretch/>
        </p:blipFill>
        <p:spPr>
          <a:xfrm>
            <a:off x="1227960" y="1481400"/>
            <a:ext cx="5644080" cy="4498560"/>
          </a:xfrm>
          <a:prstGeom prst="rect">
            <a:avLst/>
          </a:prstGeom>
          <a:ln w="0">
            <a:noFill/>
          </a:ln>
        </p:spPr>
      </p:pic>
      <p:sp>
        <p:nvSpPr>
          <p:cNvPr id="1726"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capturas de SigmaWin+ Ver.7 · apartado 9.2.2</a:t>
            </a:r>
            <a:endParaRPr b="0" lang="en-US" sz="850" spc="-1" strike="noStrike">
              <a:solidFill>
                <a:srgbClr val="000000"/>
              </a:solidFill>
              <a:latin typeface="Arial"/>
            </a:endParaRPr>
          </a:p>
        </p:txBody>
      </p:sp>
      <p:sp>
        <p:nvSpPr>
          <p:cNvPr id="1727"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28" name="TextBox 12"/>
          <p:cNvSpPr/>
          <p:nvPr/>
        </p:nvSpPr>
        <p:spPr>
          <a:xfrm>
            <a:off x="8027280" y="1664280"/>
            <a:ext cx="3377880" cy="323532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Equivalente software de los monitores </a:t>
            </a:r>
            <a:r>
              <a:rPr b="1" lang="en-US" sz="1200" spc="-1" strike="noStrike">
                <a:solidFill>
                  <a:srgbClr val="1c2430"/>
                </a:solidFill>
                <a:latin typeface="Consolas"/>
              </a:rPr>
              <a:t>Un</a:t>
            </a:r>
            <a:r>
              <a:rPr b="1" lang="en-US" sz="1200" spc="-1" strike="noStrike">
                <a:solidFill>
                  <a:srgbClr val="1c2430"/>
                </a:solidFill>
                <a:latin typeface="Segoe UI"/>
              </a:rPr>
              <a:t>, con nombres y unidades.</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Operation: velocidad, consigna, error de posición, carga, regeneración y alarma actual.</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Status: </a:t>
            </a:r>
            <a:r>
              <a:rPr b="1" lang="en-US" sz="1200" spc="-1" strike="noStrike">
                <a:solidFill>
                  <a:srgbClr val="1c2430"/>
                </a:solidFill>
                <a:latin typeface="Consolas"/>
              </a:rPr>
              <a:t>/S-RDY</a:t>
            </a:r>
            <a:r>
              <a:rPr b="1" lang="en-US" sz="1200" spc="-1" strike="noStrike">
                <a:solidFill>
                  <a:srgbClr val="1c2430"/>
                </a:solidFill>
                <a:latin typeface="Segoe UI"/>
              </a:rPr>
              <a:t>, </a:t>
            </a:r>
            <a:r>
              <a:rPr b="1" lang="en-US" sz="1200" spc="-1" strike="noStrike">
                <a:solidFill>
                  <a:srgbClr val="1c2430"/>
                </a:solidFill>
                <a:latin typeface="Consolas"/>
              </a:rPr>
              <a:t>/COIN</a:t>
            </a:r>
            <a:r>
              <a:rPr b="1" lang="en-US" sz="1200" spc="-1" strike="noStrike">
                <a:solidFill>
                  <a:srgbClr val="1c2430"/>
                </a:solidFill>
                <a:latin typeface="Segoe UI"/>
              </a:rPr>
              <a:t>, </a:t>
            </a:r>
            <a:r>
              <a:rPr b="1" lang="en-US" sz="1200" spc="-1" strike="noStrike">
                <a:solidFill>
                  <a:srgbClr val="1c2430"/>
                </a:solidFill>
                <a:latin typeface="Consolas"/>
              </a:rPr>
              <a:t>/BK</a:t>
            </a:r>
            <a:r>
              <a:rPr b="1" lang="en-US" sz="1200" spc="-1" strike="noStrike">
                <a:solidFill>
                  <a:srgbClr val="1c2430"/>
                </a:solidFill>
                <a:latin typeface="Segoe UI"/>
              </a:rPr>
              <a:t>, freno dinámico, avisos.</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I/O: el estado real de cada entrada y salida de </a:t>
            </a:r>
            <a:r>
              <a:rPr b="1" lang="en-US" sz="1200" spc="-1" strike="noStrike">
                <a:solidFill>
                  <a:srgbClr val="1c2430"/>
                </a:solidFill>
                <a:latin typeface="Consolas"/>
              </a:rPr>
              <a:t>CN1</a:t>
            </a:r>
            <a:r>
              <a:rPr b="1" lang="en-US" sz="1200" spc="-1" strike="noStrike">
                <a:solidFill>
                  <a:srgbClr val="1c2430"/>
                </a:solidFill>
                <a:latin typeface="Segoe UI"/>
              </a:rPr>
              <a:t>.</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En la captura aparece </a:t>
            </a:r>
            <a:r>
              <a:rPr b="1" lang="en-US" sz="1200" spc="-1" strike="noStrike">
                <a:solidFill>
                  <a:srgbClr val="1c2430"/>
                </a:solidFill>
                <a:latin typeface="Consolas"/>
              </a:rPr>
              <a:t>A.810</a:t>
            </a:r>
            <a:r>
              <a:rPr b="1" lang="en-US" sz="1200" spc="-1" strike="noStrike">
                <a:solidFill>
                  <a:srgbClr val="1c2430"/>
                </a:solidFill>
                <a:latin typeface="Segoe UI"/>
              </a:rPr>
              <a:t> (batería del encoder): el monitor no miente aunque el eje 'parezca parado'.</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050" spc="-1" strike="noStrike">
                <a:solidFill>
                  <a:srgbClr val="333f4c"/>
                </a:solidFill>
                <a:latin typeface="Segoe UI"/>
              </a:rPr>
              <a:t>Si </a:t>
            </a:r>
            <a:r>
              <a:rPr b="0" lang="en-US" sz="1050" spc="-1" strike="noStrike">
                <a:solidFill>
                  <a:srgbClr val="333f4c"/>
                </a:solidFill>
                <a:latin typeface="Consolas"/>
              </a:rPr>
              <a:t>/S-ON</a:t>
            </a:r>
            <a:r>
              <a:rPr b="0" lang="en-US" sz="1050" spc="-1" strike="noStrike">
                <a:solidFill>
                  <a:srgbClr val="333f4c"/>
                </a:solidFill>
                <a:latin typeface="Segoe UI"/>
              </a:rPr>
              <a:t> no llega, se ve aquí antes de tocar ganancias.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2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3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731" name="TextBox 3"/>
          <p:cNvSpPr/>
          <p:nvPr/>
        </p:nvSpPr>
        <p:spPr>
          <a:xfrm>
            <a:off x="567000" y="182880"/>
            <a:ext cx="8954280" cy="3585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350" spc="-1" strike="noStrike">
                <a:solidFill>
                  <a:srgbClr val="ffffff"/>
                </a:solidFill>
                <a:latin typeface="Segoe UI Semibold"/>
              </a:rPr>
              <a:t>La traza: el osciloscopio que lleva el SERVOPACK dentro</a:t>
            </a:r>
            <a:endParaRPr b="0" lang="en-US" sz="2350" spc="-1" strike="noStrike">
              <a:solidFill>
                <a:srgbClr val="000000"/>
              </a:solidFill>
              <a:latin typeface="Arial"/>
            </a:endParaRPr>
          </a:p>
        </p:txBody>
      </p:sp>
      <p:sp>
        <p:nvSpPr>
          <p:cNvPr id="173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Consolas"/>
              </a:rPr>
              <a:t>Monitor</a:t>
            </a:r>
            <a:r>
              <a:rPr b="0" lang="en-US" sz="1250" spc="-1" strike="noStrike">
                <a:solidFill>
                  <a:srgbClr val="a9c6e0"/>
                </a:solidFill>
                <a:latin typeface="Segoe UI"/>
              </a:rPr>
              <a:t> → </a:t>
            </a:r>
            <a:r>
              <a:rPr b="0" lang="en-US" sz="1250" spc="-1" strike="noStrike">
                <a:solidFill>
                  <a:srgbClr val="a9c6e0"/>
                </a:solidFill>
                <a:latin typeface="Consolas"/>
              </a:rPr>
              <a:t>Trace</a:t>
            </a:r>
            <a:r>
              <a:rPr b="0" lang="en-US" sz="1250" spc="-1" strike="noStrike">
                <a:solidFill>
                  <a:srgbClr val="a9c6e0"/>
                </a:solidFill>
                <a:latin typeface="Segoe UI"/>
              </a:rPr>
              <a:t> · consigna, real, error, par y E/S en la misma base de tiempos</a:t>
            </a:r>
            <a:endParaRPr b="0" lang="en-US" sz="1250" spc="-1" strike="noStrike">
              <a:solidFill>
                <a:srgbClr val="000000"/>
              </a:solidFill>
              <a:latin typeface="Arial"/>
            </a:endParaRPr>
          </a:p>
        </p:txBody>
      </p:sp>
      <p:sp>
        <p:nvSpPr>
          <p:cNvPr id="173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73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73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95</a:t>
            </a:r>
            <a:endParaRPr b="0" lang="en-US" sz="900" spc="-1" strike="noStrike">
              <a:solidFill>
                <a:srgbClr val="000000"/>
              </a:solidFill>
              <a:latin typeface="Arial"/>
            </a:endParaRPr>
          </a:p>
        </p:txBody>
      </p:sp>
      <p:sp>
        <p:nvSpPr>
          <p:cNvPr id="1736" name="Rectangle 8"/>
          <p:cNvSpPr/>
          <p:nvPr/>
        </p:nvSpPr>
        <p:spPr>
          <a:xfrm>
            <a:off x="2143080" y="1426320"/>
            <a:ext cx="381384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737" name="Picture 9" descr="sw_traza.png"/>
          <p:cNvPicPr/>
          <p:nvPr/>
        </p:nvPicPr>
        <p:blipFill>
          <a:blip r:embed="rId1"/>
          <a:stretch/>
        </p:blipFill>
        <p:spPr>
          <a:xfrm>
            <a:off x="2197800" y="1481400"/>
            <a:ext cx="3704040" cy="4498560"/>
          </a:xfrm>
          <a:prstGeom prst="rect">
            <a:avLst/>
          </a:prstGeom>
          <a:ln w="0">
            <a:noFill/>
          </a:ln>
        </p:spPr>
      </p:pic>
      <p:sp>
        <p:nvSpPr>
          <p:cNvPr id="1738"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capturas de SigmaWin+ Ver.7 · apartado 9.3.2</a:t>
            </a:r>
            <a:endParaRPr b="0" lang="en-US" sz="850" spc="-1" strike="noStrike">
              <a:solidFill>
                <a:srgbClr val="000000"/>
              </a:solidFill>
              <a:latin typeface="Arial"/>
            </a:endParaRPr>
          </a:p>
        </p:txBody>
      </p:sp>
      <p:sp>
        <p:nvSpPr>
          <p:cNvPr id="1739"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40" name="TextBox 12"/>
          <p:cNvSpPr/>
          <p:nvPr/>
        </p:nvSpPr>
        <p:spPr>
          <a:xfrm>
            <a:off x="8027280" y="1664280"/>
            <a:ext cx="3377880" cy="284796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Consolas"/>
              </a:rPr>
              <a:t>Setting</a:t>
            </a:r>
            <a:r>
              <a:rPr b="1" lang="en-US" sz="1200" spc="-1" strike="noStrike">
                <a:solidFill>
                  <a:srgbClr val="1c2430"/>
                </a:solidFill>
                <a:latin typeface="Segoe UI"/>
              </a:rPr>
              <a:t> abre Trace Setting: qué señales, con qué muestreo y con qué disparo.</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Señales típicas: Feedback Speed, Torque Reference, error de posición, </a:t>
            </a:r>
            <a:r>
              <a:rPr b="1" lang="en-US" sz="1200" spc="-1" strike="noStrike">
                <a:solidFill>
                  <a:srgbClr val="1c2430"/>
                </a:solidFill>
                <a:latin typeface="Consolas"/>
              </a:rPr>
              <a:t>/S-ON</a:t>
            </a:r>
            <a:r>
              <a:rPr b="1" lang="en-US" sz="1200" spc="-1" strike="noStrike">
                <a:solidFill>
                  <a:srgbClr val="1c2430"/>
                </a:solidFill>
                <a:latin typeface="Segoe UI"/>
              </a:rPr>
              <a:t>.</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El trigger (flanco, umbral, pre-trigger) evita capturar a ciegas.</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Muestreo de ejemplo: 125 µs × 1024 = 128 ms de ventana.</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Guarda la captura (y el CSV) antes y después de cada ajuste.</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050" spc="-1" strike="noStrike">
                <a:solidFill>
                  <a:srgbClr val="333f4c"/>
                </a:solidFill>
                <a:latin typeface="Segoe UI"/>
              </a:rPr>
              <a:t>Sin traza, la sintonización es opinión. Con traza, es medida.</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1"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42"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743"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Autoajuste guiado: el drive propone las ganancias</a:t>
            </a:r>
            <a:endParaRPr b="0" lang="en-US" sz="2500" spc="-1" strike="noStrike">
              <a:solidFill>
                <a:srgbClr val="000000"/>
              </a:solidFill>
              <a:latin typeface="Arial"/>
            </a:endParaRPr>
          </a:p>
        </p:txBody>
      </p:sp>
      <p:sp>
        <p:nvSpPr>
          <p:cNvPr id="1744"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Consolas"/>
              </a:rPr>
              <a:t>Tuning</a:t>
            </a:r>
            <a:r>
              <a:rPr b="0" lang="en-US" sz="1250" spc="-1" strike="noStrike">
                <a:solidFill>
                  <a:srgbClr val="a9c6e0"/>
                </a:solidFill>
                <a:latin typeface="Segoe UI"/>
              </a:rPr>
              <a:t> → </a:t>
            </a:r>
            <a:r>
              <a:rPr b="0" lang="en-US" sz="1250" spc="-1" strike="noStrike">
                <a:solidFill>
                  <a:srgbClr val="a9c6e0"/>
                </a:solidFill>
                <a:latin typeface="Consolas"/>
              </a:rPr>
              <a:t>Tuning</a:t>
            </a:r>
            <a:r>
              <a:rPr b="0" lang="en-US" sz="1250" spc="-1" strike="noStrike">
                <a:solidFill>
                  <a:srgbClr val="a9c6e0"/>
                </a:solidFill>
                <a:latin typeface="Segoe UI"/>
              </a:rPr>
              <a:t> · Autotuning without a Host Reference (</a:t>
            </a:r>
            <a:r>
              <a:rPr b="0" lang="en-US" sz="1250" spc="-1" strike="noStrike">
                <a:solidFill>
                  <a:srgbClr val="a9c6e0"/>
                </a:solidFill>
                <a:latin typeface="Consolas"/>
              </a:rPr>
              <a:t>Fn201</a:t>
            </a:r>
            <a:r>
              <a:rPr b="0" lang="en-US" sz="1250" spc="-1" strike="noStrike">
                <a:solidFill>
                  <a:srgbClr val="a9c6e0"/>
                </a:solidFill>
                <a:latin typeface="Segoe UI"/>
              </a:rPr>
              <a:t>)</a:t>
            </a:r>
            <a:endParaRPr b="0" lang="en-US" sz="1250" spc="-1" strike="noStrike">
              <a:solidFill>
                <a:srgbClr val="000000"/>
              </a:solidFill>
              <a:latin typeface="Arial"/>
            </a:endParaRPr>
          </a:p>
        </p:txBody>
      </p:sp>
      <p:sp>
        <p:nvSpPr>
          <p:cNvPr id="1745"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746"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747"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96</a:t>
            </a:r>
            <a:endParaRPr b="0" lang="en-US" sz="900" spc="-1" strike="noStrike">
              <a:solidFill>
                <a:srgbClr val="000000"/>
              </a:solidFill>
              <a:latin typeface="Arial"/>
            </a:endParaRPr>
          </a:p>
        </p:txBody>
      </p:sp>
      <p:sp>
        <p:nvSpPr>
          <p:cNvPr id="1748" name="Rectangle 8"/>
          <p:cNvSpPr/>
          <p:nvPr/>
        </p:nvSpPr>
        <p:spPr>
          <a:xfrm>
            <a:off x="2677680" y="1426320"/>
            <a:ext cx="2744280" cy="36939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749" name="Picture 9" descr="sw_autoajuste.png"/>
          <p:cNvPicPr/>
          <p:nvPr/>
        </p:nvPicPr>
        <p:blipFill>
          <a:blip r:embed="rId1"/>
          <a:stretch/>
        </p:blipFill>
        <p:spPr>
          <a:xfrm>
            <a:off x="2732760" y="1481400"/>
            <a:ext cx="2634480" cy="3584160"/>
          </a:xfrm>
          <a:prstGeom prst="rect">
            <a:avLst/>
          </a:prstGeom>
          <a:ln w="0">
            <a:noFill/>
          </a:ln>
        </p:spPr>
      </p:pic>
      <p:sp>
        <p:nvSpPr>
          <p:cNvPr id="1750"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capturas de SigmaWin+ Ver.7 · apartado 8.7</a:t>
            </a:r>
            <a:endParaRPr b="0" lang="en-US" sz="850" spc="-1" strike="noStrike">
              <a:solidFill>
                <a:srgbClr val="000000"/>
              </a:solidFill>
              <a:latin typeface="Arial"/>
            </a:endParaRPr>
          </a:p>
        </p:txBody>
      </p:sp>
      <p:sp>
        <p:nvSpPr>
          <p:cNvPr id="1751" name="Rectangle 11"/>
          <p:cNvSpPr/>
          <p:nvPr/>
        </p:nvSpPr>
        <p:spPr>
          <a:xfrm>
            <a:off x="7807680" y="1481400"/>
            <a:ext cx="3816720" cy="35841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52" name="TextBox 12"/>
          <p:cNvSpPr/>
          <p:nvPr/>
        </p:nvSpPr>
        <p:spPr>
          <a:xfrm>
            <a:off x="8027280" y="1664280"/>
            <a:ext cx="3377880" cy="312660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070" spc="-1" strike="noStrike">
                <a:solidFill>
                  <a:srgbClr val="1c2430"/>
                </a:solidFill>
                <a:latin typeface="Segoe UI"/>
              </a:rPr>
              <a:t>El asistente pide Servo ON, modo (posicionado), mecánica (husillo, correa…) y recorrido.</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70" spc="-1" strike="noStrike">
                <a:solidFill>
                  <a:srgbClr val="1c2430"/>
                </a:solidFill>
                <a:latin typeface="Consolas"/>
              </a:rPr>
              <a:t>Start tuning</a:t>
            </a:r>
            <a:r>
              <a:rPr b="1" lang="en-US" sz="1070" spc="-1" strike="noStrike">
                <a:solidFill>
                  <a:srgbClr val="1c2430"/>
                </a:solidFill>
                <a:latin typeface="Segoe UI"/>
              </a:rPr>
              <a:t> → confirmación de seguridad → el eje se mueve solo.</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70" spc="-1" strike="noStrike">
                <a:solidFill>
                  <a:srgbClr val="1c2430"/>
                </a:solidFill>
                <a:latin typeface="Segoe UI"/>
              </a:rPr>
              <a:t>Al terminar ves settling time, overshoot y la tabla </a:t>
            </a:r>
            <a:r>
              <a:rPr b="1" lang="en-US" sz="1070" spc="-1" strike="noStrike">
                <a:solidFill>
                  <a:srgbClr val="1c2430"/>
                </a:solidFill>
                <a:latin typeface="Consolas"/>
              </a:rPr>
              <a:t>Value (before)</a:t>
            </a:r>
            <a:r>
              <a:rPr b="1" lang="en-US" sz="1070" spc="-1" strike="noStrike">
                <a:solidFill>
                  <a:srgbClr val="1c2430"/>
                </a:solidFill>
                <a:latin typeface="Segoe UI"/>
              </a:rPr>
              <a:t> / </a:t>
            </a:r>
            <a:r>
              <a:rPr b="1" lang="en-US" sz="1070" spc="-1" strike="noStrike">
                <a:solidFill>
                  <a:srgbClr val="1c2430"/>
                </a:solidFill>
                <a:latin typeface="Consolas"/>
              </a:rPr>
              <a:t>Value (after)</a:t>
            </a:r>
            <a:r>
              <a:rPr b="1" lang="en-US" sz="1070" spc="-1" strike="noStrike">
                <a:solidFill>
                  <a:srgbClr val="1c2430"/>
                </a:solidFill>
                <a:latin typeface="Segoe UI"/>
              </a:rPr>
              <a:t> en rojo.</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70" spc="-1" strike="noStrike">
                <a:solidFill>
                  <a:srgbClr val="1c2430"/>
                </a:solidFill>
                <a:latin typeface="Segoe UI"/>
              </a:rPr>
              <a:t>En el ejemplo, </a:t>
            </a:r>
            <a:r>
              <a:rPr b="1" lang="en-US" sz="1070" spc="-1" strike="noStrike">
                <a:solidFill>
                  <a:srgbClr val="1c2430"/>
                </a:solidFill>
                <a:latin typeface="Consolas"/>
              </a:rPr>
              <a:t>Pn100</a:t>
            </a:r>
            <a:r>
              <a:rPr b="1" lang="en-US" sz="1070" spc="-1" strike="noStrike">
                <a:solidFill>
                  <a:srgbClr val="1c2430"/>
                </a:solidFill>
                <a:latin typeface="Segoe UI"/>
              </a:rPr>
              <a:t> pasa de 400 a 2400 (0,1 Hz): el autoajuste ha subido la ganancia de velocidad.</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70" spc="-1" strike="noStrike">
                <a:solidFill>
                  <a:srgbClr val="1c2430"/>
                </a:solidFill>
                <a:latin typeface="Segoe UI"/>
              </a:rPr>
              <a:t>También enciende notch, control de vibración y filtros si los detecta.</a:t>
            </a:r>
            <a:endParaRPr b="0" lang="en-US" sz="10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920" spc="-1" strike="noStrike">
                <a:solidFill>
                  <a:srgbClr val="333f4c"/>
                </a:solidFill>
                <a:latin typeface="Segoe UI"/>
              </a:rPr>
              <a:t>Carga </a:t>
            </a:r>
            <a:r>
              <a:rPr b="1" lang="en-US" sz="920" spc="-1" strike="noStrike">
                <a:solidFill>
                  <a:srgbClr val="333f4c"/>
                </a:solidFill>
                <a:latin typeface="Segoe UI"/>
              </a:rPr>
              <a:t>real</a:t>
            </a:r>
            <a:r>
              <a:rPr b="0" lang="en-US" sz="920" spc="-1" strike="noStrike">
                <a:solidFill>
                  <a:srgbClr val="333f4c"/>
                </a:solidFill>
                <a:latin typeface="Segoe UI"/>
              </a:rPr>
              <a:t> acoplada y recorrido libre. Nunca en vacío.</a:t>
            </a:r>
            <a:endParaRPr b="0" lang="en-US" sz="920" spc="-1" strike="noStrike">
              <a:solidFill>
                <a:srgbClr val="000000"/>
              </a:solidFill>
              <a:latin typeface="Arial"/>
            </a:endParaRPr>
          </a:p>
        </p:txBody>
      </p:sp>
      <p:sp>
        <p:nvSpPr>
          <p:cNvPr id="1753" name="Rectangle 13"/>
          <p:cNvSpPr/>
          <p:nvPr/>
        </p:nvSpPr>
        <p:spPr>
          <a:xfrm>
            <a:off x="567000" y="5139000"/>
            <a:ext cx="11057400" cy="84096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54" name="Rectangle 14"/>
          <p:cNvSpPr/>
          <p:nvPr/>
        </p:nvSpPr>
        <p:spPr>
          <a:xfrm>
            <a:off x="567000" y="5139000"/>
            <a:ext cx="68400" cy="84096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55" name="TextBox 15"/>
          <p:cNvSpPr/>
          <p:nvPr/>
        </p:nvSpPr>
        <p:spPr>
          <a:xfrm>
            <a:off x="841320" y="527616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c0392b"/>
                </a:solidFill>
                <a:latin typeface="Segoe UI Semibold"/>
              </a:rPr>
              <a:t>El autoajuste mueve el eje con vibración deliberada</a:t>
            </a:r>
            <a:endParaRPr b="0" lang="en-US" sz="1200" spc="-1" strike="noStrike">
              <a:solidFill>
                <a:srgbClr val="000000"/>
              </a:solidFill>
              <a:latin typeface="Arial"/>
            </a:endParaRPr>
          </a:p>
        </p:txBody>
      </p:sp>
      <p:sp>
        <p:nvSpPr>
          <p:cNvPr id="1756" name="TextBox 16"/>
          <p:cNvSpPr/>
          <p:nvPr/>
        </p:nvSpPr>
        <p:spPr>
          <a:xfrm>
            <a:off x="841320" y="5550480"/>
            <a:ext cx="10554480" cy="18612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Nunca en un vertical sin freno verificado, ni con gente cerca, ni con recorrido insuficiente. El E-stop tiene que estar a mano.</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57"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58"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759" name="TextBox 3"/>
          <p:cNvSpPr/>
          <p:nvPr/>
        </p:nvSpPr>
        <p:spPr>
          <a:xfrm>
            <a:off x="567000" y="182880"/>
            <a:ext cx="8954280" cy="3344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190" spc="-1" strike="noStrike">
                <a:solidFill>
                  <a:srgbClr val="ffffff"/>
                </a:solidFill>
                <a:latin typeface="Segoe UI Semibold"/>
              </a:rPr>
              <a:t>Análisis mecánico: ver la resonancia en un diagrama de Bode</a:t>
            </a:r>
            <a:endParaRPr b="0" lang="en-US" sz="2190" spc="-1" strike="noStrike">
              <a:solidFill>
                <a:srgbClr val="000000"/>
              </a:solidFill>
              <a:latin typeface="Arial"/>
            </a:endParaRPr>
          </a:p>
        </p:txBody>
      </p:sp>
      <p:sp>
        <p:nvSpPr>
          <p:cNvPr id="1760"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Consolas"/>
              </a:rPr>
              <a:t>Diagnostic</a:t>
            </a:r>
            <a:r>
              <a:rPr b="0" lang="en-US" sz="1250" spc="-1" strike="noStrike">
                <a:solidFill>
                  <a:srgbClr val="a9c6e0"/>
                </a:solidFill>
                <a:latin typeface="Segoe UI"/>
              </a:rPr>
              <a:t> → </a:t>
            </a:r>
            <a:r>
              <a:rPr b="0" lang="en-US" sz="1250" spc="-1" strike="noStrike">
                <a:solidFill>
                  <a:srgbClr val="a9c6e0"/>
                </a:solidFill>
                <a:latin typeface="Consolas"/>
              </a:rPr>
              <a:t>Mechanical Analysis</a:t>
            </a:r>
            <a:r>
              <a:rPr b="0" lang="en-US" sz="1250" spc="-1" strike="noStrike">
                <a:solidFill>
                  <a:srgbClr val="a9c6e0"/>
                </a:solidFill>
                <a:latin typeface="Segoe UI"/>
              </a:rPr>
              <a:t> · de la frecuencia al filtro notch</a:t>
            </a:r>
            <a:endParaRPr b="0" lang="en-US" sz="1250" spc="-1" strike="noStrike">
              <a:solidFill>
                <a:srgbClr val="000000"/>
              </a:solidFill>
              <a:latin typeface="Arial"/>
            </a:endParaRPr>
          </a:p>
        </p:txBody>
      </p:sp>
      <p:sp>
        <p:nvSpPr>
          <p:cNvPr id="1761"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762"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763"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97</a:t>
            </a:r>
            <a:endParaRPr b="0" lang="en-US" sz="900" spc="-1" strike="noStrike">
              <a:solidFill>
                <a:srgbClr val="000000"/>
              </a:solidFill>
              <a:latin typeface="Arial"/>
            </a:endParaRPr>
          </a:p>
        </p:txBody>
      </p:sp>
      <p:sp>
        <p:nvSpPr>
          <p:cNvPr id="1764" name="Rectangle 8"/>
          <p:cNvSpPr/>
          <p:nvPr/>
        </p:nvSpPr>
        <p:spPr>
          <a:xfrm>
            <a:off x="1023120" y="1426320"/>
            <a:ext cx="605376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765" name="Picture 9" descr="sw_analisis.png"/>
          <p:cNvPicPr/>
          <p:nvPr/>
        </p:nvPicPr>
        <p:blipFill>
          <a:blip r:embed="rId1"/>
          <a:stretch/>
        </p:blipFill>
        <p:spPr>
          <a:xfrm>
            <a:off x="1077840" y="1481400"/>
            <a:ext cx="5943960" cy="4498560"/>
          </a:xfrm>
          <a:prstGeom prst="rect">
            <a:avLst/>
          </a:prstGeom>
          <a:ln w="0">
            <a:noFill/>
          </a:ln>
        </p:spPr>
      </p:pic>
      <p:sp>
        <p:nvSpPr>
          <p:cNvPr id="1766"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capturas de SigmaWin+ Ver.7 · apartado 8.17</a:t>
            </a:r>
            <a:endParaRPr b="0" lang="en-US" sz="850" spc="-1" strike="noStrike">
              <a:solidFill>
                <a:srgbClr val="000000"/>
              </a:solidFill>
              <a:latin typeface="Arial"/>
            </a:endParaRPr>
          </a:p>
        </p:txBody>
      </p:sp>
      <p:sp>
        <p:nvSpPr>
          <p:cNvPr id="1767"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68" name="TextBox 12"/>
          <p:cNvSpPr/>
          <p:nvPr/>
        </p:nvSpPr>
        <p:spPr>
          <a:xfrm>
            <a:off x="8027280" y="1664280"/>
            <a:ext cx="3377880" cy="273348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Consolas"/>
              </a:rPr>
              <a:t>START</a:t>
            </a:r>
            <a:r>
              <a:rPr b="1" lang="en-US" sz="1200" spc="-1" strike="noStrike">
                <a:solidFill>
                  <a:srgbClr val="1c2430"/>
                </a:solidFill>
                <a:latin typeface="Segoe UI"/>
              </a:rPr>
              <a:t> excita el eje y traza ganancia (dB) y fase frente a la frecuencia.</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El software marca resonancia y antirresonancia (en el ejemplo: 1320 Hz y 984 Hz).</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Esa frecuencia se copia al filtro notch (</a:t>
            </a:r>
            <a:r>
              <a:rPr b="1" lang="en-US" sz="1200" spc="-1" strike="noStrike">
                <a:solidFill>
                  <a:srgbClr val="1c2430"/>
                </a:solidFill>
                <a:latin typeface="Consolas"/>
              </a:rPr>
              <a:t>Pn409</a:t>
            </a:r>
            <a:r>
              <a:rPr b="1" lang="en-US" sz="1200" spc="-1" strike="noStrike">
                <a:solidFill>
                  <a:srgbClr val="1c2430"/>
                </a:solidFill>
                <a:latin typeface="Segoe UI"/>
              </a:rPr>
              <a:t> / pestaña </a:t>
            </a:r>
            <a:r>
              <a:rPr b="1" lang="en-US" sz="1200" spc="-1" strike="noStrike">
                <a:solidFill>
                  <a:srgbClr val="1c2430"/>
                </a:solidFill>
                <a:latin typeface="Consolas"/>
              </a:rPr>
              <a:t>Notch Filter Setting</a:t>
            </a:r>
            <a:r>
              <a:rPr b="1" lang="en-US" sz="1200" spc="-1" strike="noStrike">
                <a:solidFill>
                  <a:srgbClr val="1c2430"/>
                </a:solidFill>
                <a:latin typeface="Segoe UI"/>
              </a:rPr>
              <a:t>).</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Consolas"/>
              </a:rPr>
              <a:t>EasyFFT</a:t>
            </a:r>
            <a:r>
              <a:rPr b="1" lang="en-US" sz="1200" spc="-1" strike="noStrike">
                <a:solidFill>
                  <a:srgbClr val="1c2430"/>
                </a:solidFill>
                <a:latin typeface="Segoe UI"/>
              </a:rPr>
              <a:t> (</a:t>
            </a:r>
            <a:r>
              <a:rPr b="1" lang="en-US" sz="1200" spc="-1" strike="noStrike">
                <a:solidFill>
                  <a:srgbClr val="1c2430"/>
                </a:solidFill>
                <a:latin typeface="Consolas"/>
              </a:rPr>
              <a:t>Fn206</a:t>
            </a:r>
            <a:r>
              <a:rPr b="1" lang="en-US" sz="1200" spc="-1" strike="noStrike">
                <a:solidFill>
                  <a:srgbClr val="1c2430"/>
                </a:solidFill>
                <a:latin typeface="Segoe UI"/>
              </a:rPr>
              <a:t>) es la versión rápida: detecta el pico y propone el notch.</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050" spc="-1" strike="noStrike">
                <a:solidFill>
                  <a:srgbClr val="333f4c"/>
                </a:solidFill>
                <a:latin typeface="Segoe UI"/>
              </a:rPr>
              <a:t>Úsalo con ganancia baja, al principio del ajuste. A ganancia alta puede vibrar de más.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7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771" name="TextBox 3"/>
          <p:cNvSpPr/>
          <p:nvPr/>
        </p:nvSpPr>
        <p:spPr>
          <a:xfrm>
            <a:off x="567000" y="182880"/>
            <a:ext cx="8954280" cy="3034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990" spc="-1" strike="noStrike">
                <a:solidFill>
                  <a:srgbClr val="ffffff"/>
                </a:solidFill>
                <a:latin typeface="Segoe UI Semibold"/>
              </a:rPr>
              <a:t>Alarmas e historial: el primer sitio al que ir cuando el eje para</a:t>
            </a:r>
            <a:endParaRPr b="0" lang="en-US" sz="1990" spc="-1" strike="noStrike">
              <a:solidFill>
                <a:srgbClr val="000000"/>
              </a:solidFill>
              <a:latin typeface="Arial"/>
            </a:endParaRPr>
          </a:p>
        </p:txBody>
      </p:sp>
      <p:sp>
        <p:nvSpPr>
          <p:cNvPr id="177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Consolas"/>
              </a:rPr>
              <a:t>Troubleshooting</a:t>
            </a:r>
            <a:r>
              <a:rPr b="0" lang="en-US" sz="1250" spc="-1" strike="noStrike">
                <a:solidFill>
                  <a:srgbClr val="a9c6e0"/>
                </a:solidFill>
                <a:latin typeface="Segoe UI"/>
              </a:rPr>
              <a:t> → </a:t>
            </a:r>
            <a:r>
              <a:rPr b="0" lang="en-US" sz="1250" spc="-1" strike="noStrike">
                <a:solidFill>
                  <a:srgbClr val="a9c6e0"/>
                </a:solidFill>
                <a:latin typeface="Consolas"/>
              </a:rPr>
              <a:t>Display Alarm</a:t>
            </a:r>
            <a:r>
              <a:rPr b="0" lang="en-US" sz="1250" spc="-1" strike="noStrike">
                <a:solidFill>
                  <a:srgbClr val="a9c6e0"/>
                </a:solidFill>
                <a:latin typeface="Segoe UI"/>
              </a:rPr>
              <a:t> · código, nombre y cuándo ocurrió</a:t>
            </a:r>
            <a:endParaRPr b="0" lang="en-US" sz="1250" spc="-1" strike="noStrike">
              <a:solidFill>
                <a:srgbClr val="000000"/>
              </a:solidFill>
              <a:latin typeface="Arial"/>
            </a:endParaRPr>
          </a:p>
        </p:txBody>
      </p:sp>
      <p:sp>
        <p:nvSpPr>
          <p:cNvPr id="177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77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77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98</a:t>
            </a:r>
            <a:endParaRPr b="0" lang="en-US" sz="900" spc="-1" strike="noStrike">
              <a:solidFill>
                <a:srgbClr val="000000"/>
              </a:solidFill>
              <a:latin typeface="Arial"/>
            </a:endParaRPr>
          </a:p>
        </p:txBody>
      </p:sp>
      <p:sp>
        <p:nvSpPr>
          <p:cNvPr id="1776" name="Rectangle 8"/>
          <p:cNvSpPr/>
          <p:nvPr/>
        </p:nvSpPr>
        <p:spPr>
          <a:xfrm>
            <a:off x="1674360" y="1426320"/>
            <a:ext cx="475128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777" name="Picture 9" descr="sw_alarmas.png"/>
          <p:cNvPicPr/>
          <p:nvPr/>
        </p:nvPicPr>
        <p:blipFill>
          <a:blip r:embed="rId1"/>
          <a:stretch/>
        </p:blipFill>
        <p:spPr>
          <a:xfrm>
            <a:off x="1729080" y="1481400"/>
            <a:ext cx="4641840" cy="4498560"/>
          </a:xfrm>
          <a:prstGeom prst="rect">
            <a:avLst/>
          </a:prstGeom>
          <a:ln w="0">
            <a:noFill/>
          </a:ln>
        </p:spPr>
      </p:pic>
      <p:sp>
        <p:nvSpPr>
          <p:cNvPr id="1778"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capturas de SigmaWin+ Ver.7 · apartado 13.2</a:t>
            </a:r>
            <a:endParaRPr b="0" lang="en-US" sz="850" spc="-1" strike="noStrike">
              <a:solidFill>
                <a:srgbClr val="000000"/>
              </a:solidFill>
              <a:latin typeface="Arial"/>
            </a:endParaRPr>
          </a:p>
        </p:txBody>
      </p:sp>
      <p:sp>
        <p:nvSpPr>
          <p:cNvPr id="1779"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80" name="TextBox 12"/>
          <p:cNvSpPr/>
          <p:nvPr/>
        </p:nvSpPr>
        <p:spPr>
          <a:xfrm>
            <a:off x="8027280" y="1664280"/>
            <a:ext cx="3377880" cy="304164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Pestaña Alarm diagnosis: alarma activa y guía de causas.</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Pestaña Alarm History: lista persistente (no se borra al resetear ni al apagar).</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Columnas: número, nombre (</a:t>
            </a:r>
            <a:r>
              <a:rPr b="1" lang="en-US" sz="1200" spc="-1" strike="noStrike">
                <a:solidFill>
                  <a:srgbClr val="1c2430"/>
                </a:solidFill>
                <a:latin typeface="Consolas"/>
              </a:rPr>
              <a:t>A.C90</a:t>
            </a:r>
            <a:r>
              <a:rPr b="1" lang="en-US" sz="1200" spc="-1" strike="noStrike">
                <a:solidFill>
                  <a:srgbClr val="1c2430"/>
                </a:solidFill>
                <a:latin typeface="Segoe UI"/>
              </a:rPr>
              <a:t>, </a:t>
            </a:r>
            <a:r>
              <a:rPr b="1" lang="en-US" sz="1200" spc="-1" strike="noStrike">
                <a:solidFill>
                  <a:srgbClr val="1c2430"/>
                </a:solidFill>
                <a:latin typeface="Consolas"/>
              </a:rPr>
              <a:t>A.041</a:t>
            </a:r>
            <a:r>
              <a:rPr b="1" lang="en-US" sz="1200" spc="-1" strike="noStrike">
                <a:solidFill>
                  <a:srgbClr val="1c2430"/>
                </a:solidFill>
                <a:latin typeface="Segoe UI"/>
              </a:rPr>
              <a:t>…) y tiempo acumulado de funcionamiento.</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Consolas"/>
              </a:rPr>
              <a:t>Clear</a:t>
            </a:r>
            <a:r>
              <a:rPr b="1" lang="en-US" sz="1200" spc="-1" strike="noStrike">
                <a:solidFill>
                  <a:srgbClr val="1c2430"/>
                </a:solidFill>
                <a:latin typeface="Segoe UI"/>
              </a:rPr>
              <a:t> borra el historial. Úsalo sólo cuando hayas documentado.</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Desde aquí se puede abrir la traza de alarma si el drive la ha guardado.</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050" spc="-1" strike="noStrike">
                <a:solidFill>
                  <a:srgbClr val="333f4c"/>
                </a:solidFill>
                <a:latin typeface="Segoe UI"/>
              </a:rPr>
              <a:t>Elimina la causa </a:t>
            </a:r>
            <a:r>
              <a:rPr b="1" lang="en-US" sz="1050" spc="-1" strike="noStrike">
                <a:solidFill>
                  <a:srgbClr val="333f4c"/>
                </a:solidFill>
                <a:latin typeface="Segoe UI"/>
              </a:rPr>
              <a:t>antes</a:t>
            </a:r>
            <a:r>
              <a:rPr b="0" lang="en-US" sz="1050" spc="-1" strike="noStrike">
                <a:solidFill>
                  <a:srgbClr val="333f4c"/>
                </a:solidFill>
                <a:latin typeface="Segoe UI"/>
              </a:rPr>
              <a:t> de resetear. Si no, volverá.</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1"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82"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783"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Qué pantalla abrir según lo que necesites</a:t>
            </a:r>
            <a:endParaRPr b="0" lang="en-US" sz="2500" spc="-1" strike="noStrike">
              <a:solidFill>
                <a:srgbClr val="000000"/>
              </a:solidFill>
              <a:latin typeface="Arial"/>
            </a:endParaRPr>
          </a:p>
        </p:txBody>
      </p:sp>
      <p:sp>
        <p:nvSpPr>
          <p:cNvPr id="1784"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No memorices 400 funciones: memoriza estas cuatro preguntas</a:t>
            </a:r>
            <a:endParaRPr b="0" lang="en-US" sz="1250" spc="-1" strike="noStrike">
              <a:solidFill>
                <a:srgbClr val="000000"/>
              </a:solidFill>
              <a:latin typeface="Arial"/>
            </a:endParaRPr>
          </a:p>
        </p:txBody>
      </p:sp>
      <p:sp>
        <p:nvSpPr>
          <p:cNvPr id="1785"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786"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787"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99</a:t>
            </a:r>
            <a:endParaRPr b="0" lang="en-US" sz="900" spc="-1" strike="noStrike">
              <a:solidFill>
                <a:srgbClr val="000000"/>
              </a:solidFill>
              <a:latin typeface="Arial"/>
            </a:endParaRPr>
          </a:p>
        </p:txBody>
      </p:sp>
      <p:sp>
        <p:nvSpPr>
          <p:cNvPr id="1788" name="Rectangle 8"/>
          <p:cNvSpPr/>
          <p:nvPr/>
        </p:nvSpPr>
        <p:spPr>
          <a:xfrm>
            <a:off x="567000" y="1481400"/>
            <a:ext cx="5400720" cy="229464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89" name="Rectangle 9"/>
          <p:cNvSpPr/>
          <p:nvPr/>
        </p:nvSpPr>
        <p:spPr>
          <a:xfrm>
            <a:off x="567000" y="1481400"/>
            <a:ext cx="50040" cy="229464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90" name="TextBox 10"/>
          <p:cNvSpPr/>
          <p:nvPr/>
        </p:nvSpPr>
        <p:spPr>
          <a:xfrm>
            <a:off x="822960" y="1664280"/>
            <a:ext cx="494352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Configurar el eje</a:t>
            </a:r>
            <a:endParaRPr b="0" lang="en-US" sz="1400" spc="-1" strike="noStrike">
              <a:solidFill>
                <a:srgbClr val="000000"/>
              </a:solidFill>
              <a:latin typeface="Arial"/>
            </a:endParaRPr>
          </a:p>
        </p:txBody>
      </p:sp>
      <p:sp>
        <p:nvSpPr>
          <p:cNvPr id="1791" name="TextBox 11"/>
          <p:cNvSpPr/>
          <p:nvPr/>
        </p:nvSpPr>
        <p:spPr>
          <a:xfrm>
            <a:off x="822960" y="2194560"/>
            <a:ext cx="4943520" cy="62676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1" lang="en-US" sz="1200" spc="-1" strike="noStrike">
                <a:solidFill>
                  <a:srgbClr val="2b3644"/>
                </a:solidFill>
                <a:latin typeface="Segoe UI"/>
              </a:rPr>
              <a:t>Set Up Wizard</a:t>
            </a:r>
            <a:r>
              <a:rPr b="0" lang="en-US" sz="1200" spc="-1" strike="noStrike">
                <a:solidFill>
                  <a:srgbClr val="2b3644"/>
                </a:solidFill>
                <a:latin typeface="Segoe UI"/>
              </a:rPr>
              <a:t> para la primera puesta en servicio.</a:t>
            </a:r>
            <a:endParaRPr b="0" lang="en-US" sz="1200" spc="-1" strike="noStrike">
              <a:solidFill>
                <a:srgbClr val="000000"/>
              </a:solidFill>
              <a:latin typeface="Arial"/>
            </a:endParaRPr>
          </a:p>
          <a:p>
            <a:pPr defTabSz="457200">
              <a:lnSpc>
                <a:spcPct val="105000"/>
              </a:lnSpc>
              <a:spcAft>
                <a:spcPts val="400"/>
              </a:spcAft>
            </a:pPr>
            <a:r>
              <a:rPr b="1" lang="en-US" sz="1200" spc="-1" strike="noStrike">
                <a:solidFill>
                  <a:srgbClr val="2b3644"/>
                </a:solidFill>
                <a:latin typeface="Segoe UI"/>
              </a:rPr>
              <a:t>Edit Parameters</a:t>
            </a:r>
            <a:r>
              <a:rPr b="0" lang="en-US" sz="1200" spc="-1" strike="noStrike">
                <a:solidFill>
                  <a:srgbClr val="2b3644"/>
                </a:solidFill>
                <a:latin typeface="Segoe UI"/>
              </a:rPr>
              <a:t> para un cambio puntual o para clonar un eje (</a:t>
            </a:r>
            <a:r>
              <a:rPr b="0" lang="en-US" sz="1200" spc="-1" strike="noStrike">
                <a:solidFill>
                  <a:srgbClr val="2b3644"/>
                </a:solidFill>
                <a:latin typeface="Consolas"/>
              </a:rPr>
              <a:t>Export</a:t>
            </a:r>
            <a:r>
              <a:rPr b="0" lang="en-US" sz="1200" spc="-1" strike="noStrike">
                <a:solidFill>
                  <a:srgbClr val="2b3644"/>
                </a:solidFill>
                <a:latin typeface="Segoe UI"/>
              </a:rPr>
              <a:t> / </a:t>
            </a:r>
            <a:r>
              <a:rPr b="0" lang="en-US" sz="1200" spc="-1" strike="noStrike">
                <a:solidFill>
                  <a:srgbClr val="2b3644"/>
                </a:solidFill>
                <a:latin typeface="Consolas"/>
              </a:rPr>
              <a:t>Import</a:t>
            </a:r>
            <a:r>
              <a:rPr b="0" lang="en-US" sz="1200" spc="-1" strike="noStrike">
                <a:solidFill>
                  <a:srgbClr val="2b3644"/>
                </a:solidFill>
                <a:latin typeface="Segoe UI"/>
              </a:rPr>
              <a:t>).</a:t>
            </a:r>
            <a:endParaRPr b="0" lang="en-US" sz="1200" spc="-1" strike="noStrike">
              <a:solidFill>
                <a:srgbClr val="000000"/>
              </a:solidFill>
              <a:latin typeface="Arial"/>
            </a:endParaRPr>
          </a:p>
        </p:txBody>
      </p:sp>
      <p:sp>
        <p:nvSpPr>
          <p:cNvPr id="1792" name="Rectangle 12"/>
          <p:cNvSpPr/>
          <p:nvPr/>
        </p:nvSpPr>
        <p:spPr>
          <a:xfrm>
            <a:off x="6224040" y="1481400"/>
            <a:ext cx="5400720" cy="2294640"/>
          </a:xfrm>
          <a:prstGeom prst="rect">
            <a:avLst/>
          </a:prstGeom>
          <a:solidFill>
            <a:srgbClr val="e0f5fa"/>
          </a:solidFill>
          <a:ln>
            <a:solidFill>
              <a:srgbClr val="00a9ce"/>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93" name="Rectangle 13"/>
          <p:cNvSpPr/>
          <p:nvPr/>
        </p:nvSpPr>
        <p:spPr>
          <a:xfrm>
            <a:off x="6224040" y="1481400"/>
            <a:ext cx="50040" cy="2294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94" name="TextBox 14"/>
          <p:cNvSpPr/>
          <p:nvPr/>
        </p:nvSpPr>
        <p:spPr>
          <a:xfrm>
            <a:off x="6480000" y="1664280"/>
            <a:ext cx="494352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Mover y comprobar</a:t>
            </a:r>
            <a:endParaRPr b="0" lang="en-US" sz="1400" spc="-1" strike="noStrike">
              <a:solidFill>
                <a:srgbClr val="000000"/>
              </a:solidFill>
              <a:latin typeface="Arial"/>
            </a:endParaRPr>
          </a:p>
        </p:txBody>
      </p:sp>
      <p:sp>
        <p:nvSpPr>
          <p:cNvPr id="1795" name="TextBox 15"/>
          <p:cNvSpPr/>
          <p:nvPr/>
        </p:nvSpPr>
        <p:spPr>
          <a:xfrm>
            <a:off x="6480000" y="2194560"/>
            <a:ext cx="4943520" cy="67752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1" lang="en-US" sz="1200" spc="-1" strike="noStrike">
                <a:solidFill>
                  <a:srgbClr val="2b3644"/>
                </a:solidFill>
                <a:latin typeface="Segoe UI"/>
              </a:rPr>
              <a:t>Jog</a:t>
            </a:r>
            <a:r>
              <a:rPr b="0" lang="en-US" sz="1200" spc="-1" strike="noStrike">
                <a:solidFill>
                  <a:srgbClr val="2b3644"/>
                </a:solidFill>
                <a:latin typeface="Segoe UI"/>
              </a:rPr>
              <a:t>: ¿gira el motor?</a:t>
            </a:r>
            <a:endParaRPr b="0" lang="en-US" sz="1200" spc="-1" strike="noStrike">
              <a:solidFill>
                <a:srgbClr val="000000"/>
              </a:solidFill>
              <a:latin typeface="Arial"/>
            </a:endParaRPr>
          </a:p>
          <a:p>
            <a:pPr defTabSz="457200">
              <a:lnSpc>
                <a:spcPct val="105000"/>
              </a:lnSpc>
              <a:spcAft>
                <a:spcPts val="400"/>
              </a:spcAft>
            </a:pPr>
            <a:r>
              <a:rPr b="1" lang="en-US" sz="1200" spc="-1" strike="noStrike">
                <a:solidFill>
                  <a:srgbClr val="2b3644"/>
                </a:solidFill>
                <a:latin typeface="Segoe UI"/>
              </a:rPr>
              <a:t>Program JOG</a:t>
            </a:r>
            <a:r>
              <a:rPr b="0" lang="en-US" sz="1200" spc="-1" strike="noStrike">
                <a:solidFill>
                  <a:srgbClr val="2b3644"/>
                </a:solidFill>
                <a:latin typeface="Segoe UI"/>
              </a:rPr>
              <a:t>: un ciclo repetido sin PLC.</a:t>
            </a:r>
            <a:endParaRPr b="0" lang="en-US" sz="1200" spc="-1" strike="noStrike">
              <a:solidFill>
                <a:srgbClr val="000000"/>
              </a:solidFill>
              <a:latin typeface="Arial"/>
            </a:endParaRPr>
          </a:p>
          <a:p>
            <a:pPr defTabSz="457200">
              <a:lnSpc>
                <a:spcPct val="105000"/>
              </a:lnSpc>
              <a:spcAft>
                <a:spcPts val="400"/>
              </a:spcAft>
            </a:pPr>
            <a:r>
              <a:rPr b="1" lang="en-US" sz="1200" spc="-1" strike="noStrike">
                <a:solidFill>
                  <a:srgbClr val="2b3644"/>
                </a:solidFill>
                <a:latin typeface="Segoe UI"/>
              </a:rPr>
              <a:t>Wiring Check</a:t>
            </a:r>
            <a:r>
              <a:rPr b="0" lang="en-US" sz="1200" spc="-1" strike="noStrike">
                <a:solidFill>
                  <a:srgbClr val="2b3644"/>
                </a:solidFill>
                <a:latin typeface="Segoe UI"/>
              </a:rPr>
              <a:t> / </a:t>
            </a:r>
            <a:r>
              <a:rPr b="1" lang="en-US" sz="1200" spc="-1" strike="noStrike">
                <a:solidFill>
                  <a:srgbClr val="2b3644"/>
                </a:solidFill>
                <a:latin typeface="Segoe UI"/>
              </a:rPr>
              <a:t>I/O Monitor</a:t>
            </a:r>
            <a:r>
              <a:rPr b="0" lang="en-US" sz="1200" spc="-1" strike="noStrike">
                <a:solidFill>
                  <a:srgbClr val="2b3644"/>
                </a:solidFill>
                <a:latin typeface="Segoe UI"/>
              </a:rPr>
              <a:t>: ¿llegan </a:t>
            </a:r>
            <a:r>
              <a:rPr b="0" lang="en-US" sz="1200" spc="-1" strike="noStrike">
                <a:solidFill>
                  <a:srgbClr val="2b3644"/>
                </a:solidFill>
                <a:latin typeface="Consolas"/>
              </a:rPr>
              <a:t>/S-ON</a:t>
            </a:r>
            <a:r>
              <a:rPr b="0" lang="en-US" sz="1200" spc="-1" strike="noStrike">
                <a:solidFill>
                  <a:srgbClr val="2b3644"/>
                </a:solidFill>
                <a:latin typeface="Segoe UI"/>
              </a:rPr>
              <a:t>, P-OT, N-OT?</a:t>
            </a:r>
            <a:endParaRPr b="0" lang="en-US" sz="1200" spc="-1" strike="noStrike">
              <a:solidFill>
                <a:srgbClr val="000000"/>
              </a:solidFill>
              <a:latin typeface="Arial"/>
            </a:endParaRPr>
          </a:p>
        </p:txBody>
      </p:sp>
      <p:sp>
        <p:nvSpPr>
          <p:cNvPr id="1796" name="Rectangle 16"/>
          <p:cNvSpPr/>
          <p:nvPr/>
        </p:nvSpPr>
        <p:spPr>
          <a:xfrm>
            <a:off x="567000" y="4032360"/>
            <a:ext cx="5400720" cy="2294640"/>
          </a:xfrm>
          <a:prstGeom prst="rect">
            <a:avLst/>
          </a:prstGeom>
          <a:solidFill>
            <a:srgbClr val="e4f2ea"/>
          </a:solidFill>
          <a:ln>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97" name="Rectangle 17"/>
          <p:cNvSpPr/>
          <p:nvPr/>
        </p:nvSpPr>
        <p:spPr>
          <a:xfrm>
            <a:off x="567000" y="4032360"/>
            <a:ext cx="50040" cy="229464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98" name="TextBox 18"/>
          <p:cNvSpPr/>
          <p:nvPr/>
        </p:nvSpPr>
        <p:spPr>
          <a:xfrm>
            <a:off x="822960" y="4215240"/>
            <a:ext cx="494352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Medir y sintonizar</a:t>
            </a:r>
            <a:endParaRPr b="0" lang="en-US" sz="1400" spc="-1" strike="noStrike">
              <a:solidFill>
                <a:srgbClr val="000000"/>
              </a:solidFill>
              <a:latin typeface="Arial"/>
            </a:endParaRPr>
          </a:p>
        </p:txBody>
      </p:sp>
      <p:sp>
        <p:nvSpPr>
          <p:cNvPr id="1799" name="TextBox 19"/>
          <p:cNvSpPr/>
          <p:nvPr/>
        </p:nvSpPr>
        <p:spPr>
          <a:xfrm>
            <a:off x="822960" y="4745880"/>
            <a:ext cx="4943520" cy="92016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1" lang="en-US" sz="1200" spc="-1" strike="noStrike">
                <a:solidFill>
                  <a:srgbClr val="2b3644"/>
                </a:solidFill>
                <a:latin typeface="Segoe UI"/>
              </a:rPr>
              <a:t>Monitor</a:t>
            </a:r>
            <a:r>
              <a:rPr b="0" lang="en-US" sz="1200" spc="-1" strike="noStrike">
                <a:solidFill>
                  <a:srgbClr val="2b3644"/>
                </a:solidFill>
                <a:latin typeface="Segoe UI"/>
              </a:rPr>
              <a:t>: números en vivo.</a:t>
            </a:r>
            <a:endParaRPr b="0" lang="en-US" sz="1200" spc="-1" strike="noStrike">
              <a:solidFill>
                <a:srgbClr val="000000"/>
              </a:solidFill>
              <a:latin typeface="Arial"/>
            </a:endParaRPr>
          </a:p>
          <a:p>
            <a:pPr defTabSz="457200">
              <a:lnSpc>
                <a:spcPct val="105000"/>
              </a:lnSpc>
              <a:spcAft>
                <a:spcPts val="400"/>
              </a:spcAft>
            </a:pPr>
            <a:r>
              <a:rPr b="1" lang="en-US" sz="1200" spc="-1" strike="noStrike">
                <a:solidFill>
                  <a:srgbClr val="2b3644"/>
                </a:solidFill>
                <a:latin typeface="Segoe UI"/>
              </a:rPr>
              <a:t>Trace</a:t>
            </a:r>
            <a:r>
              <a:rPr b="0" lang="en-US" sz="1200" spc="-1" strike="noStrike">
                <a:solidFill>
                  <a:srgbClr val="2b3644"/>
                </a:solidFill>
                <a:latin typeface="Segoe UI"/>
              </a:rPr>
              <a:t>: la forma de onda.</a:t>
            </a:r>
            <a:endParaRPr b="0" lang="en-US" sz="1200" spc="-1" strike="noStrike">
              <a:solidFill>
                <a:srgbClr val="000000"/>
              </a:solidFill>
              <a:latin typeface="Arial"/>
            </a:endParaRPr>
          </a:p>
          <a:p>
            <a:pPr defTabSz="457200">
              <a:lnSpc>
                <a:spcPct val="105000"/>
              </a:lnSpc>
              <a:spcAft>
                <a:spcPts val="400"/>
              </a:spcAft>
            </a:pPr>
            <a:r>
              <a:rPr b="1" lang="en-US" sz="1200" spc="-1" strike="noStrike">
                <a:solidFill>
                  <a:srgbClr val="2b3644"/>
                </a:solidFill>
                <a:latin typeface="Segoe UI"/>
              </a:rPr>
              <a:t>Tuning</a:t>
            </a:r>
            <a:r>
              <a:rPr b="0" lang="en-US" sz="1200" spc="-1" strike="noStrike">
                <a:solidFill>
                  <a:srgbClr val="2b3644"/>
                </a:solidFill>
                <a:latin typeface="Segoe UI"/>
              </a:rPr>
              <a:t>: autoajuste.</a:t>
            </a:r>
            <a:endParaRPr b="0" lang="en-US" sz="1200" spc="-1" strike="noStrike">
              <a:solidFill>
                <a:srgbClr val="000000"/>
              </a:solidFill>
              <a:latin typeface="Arial"/>
            </a:endParaRPr>
          </a:p>
          <a:p>
            <a:pPr defTabSz="457200">
              <a:lnSpc>
                <a:spcPct val="105000"/>
              </a:lnSpc>
              <a:spcAft>
                <a:spcPts val="400"/>
              </a:spcAft>
            </a:pPr>
            <a:r>
              <a:rPr b="1" lang="en-US" sz="1200" spc="-1" strike="noStrike">
                <a:solidFill>
                  <a:srgbClr val="2b3644"/>
                </a:solidFill>
                <a:latin typeface="Segoe UI"/>
              </a:rPr>
              <a:t>Mechanical Analysis / EasyFFT</a:t>
            </a:r>
            <a:r>
              <a:rPr b="0" lang="en-US" sz="1200" spc="-1" strike="noStrike">
                <a:solidFill>
                  <a:srgbClr val="2b3644"/>
                </a:solidFill>
                <a:latin typeface="Segoe UI"/>
              </a:rPr>
              <a:t>: resonancias.</a:t>
            </a:r>
            <a:endParaRPr b="0" lang="en-US" sz="1200" spc="-1" strike="noStrike">
              <a:solidFill>
                <a:srgbClr val="000000"/>
              </a:solidFill>
              <a:latin typeface="Arial"/>
            </a:endParaRPr>
          </a:p>
        </p:txBody>
      </p:sp>
      <p:sp>
        <p:nvSpPr>
          <p:cNvPr id="1800" name="Rectangle 20"/>
          <p:cNvSpPr/>
          <p:nvPr/>
        </p:nvSpPr>
        <p:spPr>
          <a:xfrm>
            <a:off x="6224040" y="4032360"/>
            <a:ext cx="5400720" cy="229464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01" name="Rectangle 21"/>
          <p:cNvSpPr/>
          <p:nvPr/>
        </p:nvSpPr>
        <p:spPr>
          <a:xfrm>
            <a:off x="6224040" y="4032360"/>
            <a:ext cx="50040" cy="229464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02" name="TextBox 22"/>
          <p:cNvSpPr/>
          <p:nvPr/>
        </p:nvSpPr>
        <p:spPr>
          <a:xfrm>
            <a:off x="6480000" y="4215240"/>
            <a:ext cx="494352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Cuando algo va mal</a:t>
            </a:r>
            <a:endParaRPr b="0" lang="en-US" sz="1400" spc="-1" strike="noStrike">
              <a:solidFill>
                <a:srgbClr val="000000"/>
              </a:solidFill>
              <a:latin typeface="Arial"/>
            </a:endParaRPr>
          </a:p>
        </p:txBody>
      </p:sp>
      <p:sp>
        <p:nvSpPr>
          <p:cNvPr id="1803" name="TextBox 23"/>
          <p:cNvSpPr/>
          <p:nvPr/>
        </p:nvSpPr>
        <p:spPr>
          <a:xfrm>
            <a:off x="6480000" y="4745880"/>
            <a:ext cx="4943520" cy="67752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1" lang="en-US" sz="1200" spc="-1" strike="noStrike">
                <a:solidFill>
                  <a:srgbClr val="2b3644"/>
                </a:solidFill>
                <a:latin typeface="Segoe UI"/>
              </a:rPr>
              <a:t>Display Alarm</a:t>
            </a:r>
            <a:r>
              <a:rPr b="0" lang="en-US" sz="1200" spc="-1" strike="noStrike">
                <a:solidFill>
                  <a:srgbClr val="2b3644"/>
                </a:solidFill>
                <a:latin typeface="Segoe UI"/>
              </a:rPr>
              <a:t> e historial.</a:t>
            </a:r>
            <a:endParaRPr b="0" lang="en-US" sz="1200" spc="-1" strike="noStrike">
              <a:solidFill>
                <a:srgbClr val="000000"/>
              </a:solidFill>
              <a:latin typeface="Arial"/>
            </a:endParaRPr>
          </a:p>
          <a:p>
            <a:pPr defTabSz="457200">
              <a:lnSpc>
                <a:spcPct val="105000"/>
              </a:lnSpc>
              <a:spcAft>
                <a:spcPts val="400"/>
              </a:spcAft>
            </a:pPr>
            <a:r>
              <a:rPr b="1" lang="en-US" sz="1200" spc="-1" strike="noStrike">
                <a:solidFill>
                  <a:srgbClr val="2b3644"/>
                </a:solidFill>
                <a:latin typeface="Segoe UI"/>
              </a:rPr>
              <a:t>Alarm Trace</a:t>
            </a:r>
            <a:r>
              <a:rPr b="0" lang="en-US" sz="1200" spc="-1" strike="noStrike">
                <a:solidFill>
                  <a:srgbClr val="2b3644"/>
                </a:solidFill>
                <a:latin typeface="Segoe UI"/>
              </a:rPr>
              <a:t>: qué hacía el eje en el instante del fallo.</a:t>
            </a:r>
            <a:endParaRPr b="0" lang="en-US" sz="1200" spc="-1" strike="noStrike">
              <a:solidFill>
                <a:srgbClr val="000000"/>
              </a:solidFill>
              <a:latin typeface="Arial"/>
            </a:endParaRPr>
          </a:p>
          <a:p>
            <a:pPr defTabSz="457200">
              <a:lnSpc>
                <a:spcPct val="105000"/>
              </a:lnSpc>
              <a:spcAft>
                <a:spcPts val="400"/>
              </a:spcAft>
            </a:pPr>
            <a:r>
              <a:rPr b="0" lang="en-US" sz="1200" spc="-1" strike="noStrike">
                <a:solidFill>
                  <a:srgbClr val="2b3644"/>
                </a:solidFill>
                <a:latin typeface="Segoe UI"/>
              </a:rPr>
              <a:t>LEDs del workspace: HBB, P-OT, N-OT, POWER.</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0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80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Monitor analógico </a:t>
            </a:r>
            <a:r>
              <a:rPr b="1" lang="en-US" sz="2500" spc="-1" strike="noStrike">
                <a:solidFill>
                  <a:srgbClr val="ffffff"/>
                </a:solidFill>
                <a:latin typeface="Consolas"/>
              </a:rPr>
              <a:t>CN5</a:t>
            </a:r>
            <a:endParaRPr b="0" lang="en-US" sz="2500" spc="-1" strike="noStrike">
              <a:solidFill>
                <a:srgbClr val="000000"/>
              </a:solidFill>
              <a:latin typeface="Arial"/>
            </a:endParaRPr>
          </a:p>
        </p:txBody>
      </p:sp>
      <p:sp>
        <p:nvSpPr>
          <p:cNvPr id="180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Salida para osciloscopio: velocidad, par y error en tiempo real</a:t>
            </a:r>
            <a:endParaRPr b="0" lang="en-US" sz="1250" spc="-1" strike="noStrike">
              <a:solidFill>
                <a:srgbClr val="000000"/>
              </a:solidFill>
              <a:latin typeface="Arial"/>
            </a:endParaRPr>
          </a:p>
        </p:txBody>
      </p:sp>
      <p:sp>
        <p:nvSpPr>
          <p:cNvPr id="180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80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81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100</a:t>
            </a:r>
            <a:endParaRPr b="0" lang="en-US" sz="900" spc="-1" strike="noStrike">
              <a:solidFill>
                <a:srgbClr val="000000"/>
              </a:solidFill>
              <a:latin typeface="Arial"/>
            </a:endParaRPr>
          </a:p>
        </p:txBody>
      </p:sp>
      <p:sp>
        <p:nvSpPr>
          <p:cNvPr id="1811" name="Rectangle 8"/>
          <p:cNvSpPr/>
          <p:nvPr/>
        </p:nvSpPr>
        <p:spPr>
          <a:xfrm>
            <a:off x="511920" y="2200680"/>
            <a:ext cx="7075800" cy="305964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1812" name="Picture 9" descr="monitor_analogico.png"/>
          <p:cNvPicPr/>
          <p:nvPr/>
        </p:nvPicPr>
        <p:blipFill>
          <a:blip r:embed="rId1"/>
          <a:stretch/>
        </p:blipFill>
        <p:spPr>
          <a:xfrm>
            <a:off x="567000" y="2255760"/>
            <a:ext cx="6966000" cy="2949840"/>
          </a:xfrm>
          <a:prstGeom prst="rect">
            <a:avLst/>
          </a:prstGeom>
          <a:ln w="0">
            <a:noFill/>
          </a:ln>
        </p:spPr>
      </p:pic>
      <p:sp>
        <p:nvSpPr>
          <p:cNvPr id="1813"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4.10</a:t>
            </a:r>
            <a:endParaRPr b="0" lang="en-US" sz="850" spc="-1" strike="noStrike">
              <a:solidFill>
                <a:srgbClr val="000000"/>
              </a:solidFill>
              <a:latin typeface="Arial"/>
            </a:endParaRPr>
          </a:p>
        </p:txBody>
      </p:sp>
      <p:sp>
        <p:nvSpPr>
          <p:cNvPr id="1814"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15" name="TextBox 12"/>
          <p:cNvSpPr/>
          <p:nvPr/>
        </p:nvSpPr>
        <p:spPr>
          <a:xfrm>
            <a:off x="8027280" y="1664280"/>
            <a:ext cx="3377880" cy="167508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Conecta un instrumento de medida al conector </a:t>
            </a:r>
            <a:r>
              <a:rPr b="1" lang="en-US" sz="1200" spc="-1" strike="noStrike">
                <a:solidFill>
                  <a:srgbClr val="1c2430"/>
                </a:solidFill>
                <a:latin typeface="Consolas"/>
              </a:rPr>
              <a:t>CN5</a:t>
            </a:r>
            <a:r>
              <a:rPr b="1" lang="en-US" sz="1200" spc="-1" strike="noStrike">
                <a:solidFill>
                  <a:srgbClr val="1c2430"/>
                </a:solidFill>
                <a:latin typeface="Segoe UI"/>
              </a:rPr>
              <a:t>.</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Permite ver en un osciloscopio las señales internas del lazo.</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Es especialmente útil en sintonización avanzada (Módulo 09).</a:t>
            </a:r>
            <a:endParaRPr b="0" lang="en-US" sz="12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050" spc="-1" strike="noStrike">
                <a:solidFill>
                  <a:srgbClr val="333f4c"/>
                </a:solidFill>
                <a:latin typeface="Segoe UI"/>
              </a:rPr>
              <a:t>El instrumento no lo suministra YASKAWA.</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1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81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El engranaje electrónico</a:t>
            </a:r>
            <a:endParaRPr b="0" lang="en-US" sz="2500" spc="-1" strike="noStrike">
              <a:solidFill>
                <a:srgbClr val="000000"/>
              </a:solidFill>
              <a:latin typeface="Arial"/>
            </a:endParaRPr>
          </a:p>
        </p:txBody>
      </p:sp>
      <p:sp>
        <p:nvSpPr>
          <p:cNvPr id="181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Convierte 'unidades del programador' en cuentas de encoder</a:t>
            </a:r>
            <a:endParaRPr b="0" lang="en-US" sz="1250" spc="-1" strike="noStrike">
              <a:solidFill>
                <a:srgbClr val="000000"/>
              </a:solidFill>
              <a:latin typeface="Arial"/>
            </a:endParaRPr>
          </a:p>
        </p:txBody>
      </p:sp>
      <p:sp>
        <p:nvSpPr>
          <p:cNvPr id="182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82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82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101</a:t>
            </a:r>
            <a:endParaRPr b="0" lang="en-US" sz="900" spc="-1" strike="noStrike">
              <a:solidFill>
                <a:srgbClr val="000000"/>
              </a:solidFill>
              <a:latin typeface="Arial"/>
            </a:endParaRPr>
          </a:p>
        </p:txBody>
      </p:sp>
      <p:sp>
        <p:nvSpPr>
          <p:cNvPr id="1823" name="Rounded Rectangle 8"/>
          <p:cNvSpPr/>
          <p:nvPr/>
        </p:nvSpPr>
        <p:spPr>
          <a:xfrm>
            <a:off x="567000" y="2103120"/>
            <a:ext cx="2514240" cy="959760"/>
          </a:xfrm>
          <a:prstGeom prst="roundRect">
            <a:avLst>
              <a:gd name="adj" fmla="val 10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100" spc="-1" strike="noStrike">
                <a:solidFill>
                  <a:srgbClr val="ffffff"/>
                </a:solidFill>
                <a:latin typeface="Segoe UI"/>
              </a:rPr>
              <a:t>CONTROLADOR</a:t>
            </a:r>
            <a:endParaRPr b="0" lang="en-US" sz="1100" spc="-1" strike="noStrike">
              <a:solidFill>
                <a:srgbClr val="ffffff"/>
              </a:solidFill>
              <a:latin typeface="Arial"/>
            </a:endParaRPr>
          </a:p>
          <a:p>
            <a:pPr algn="ctr" defTabSz="457200">
              <a:lnSpc>
                <a:spcPct val="100000"/>
              </a:lnSpc>
            </a:pPr>
            <a:r>
              <a:rPr b="1" lang="en-US" sz="1100" spc="-1" strike="noStrike">
                <a:solidFill>
                  <a:srgbClr val="ffffff"/>
                </a:solidFill>
                <a:latin typeface="Segoe UI"/>
              </a:rPr>
              <a:t>piensa en micras</a:t>
            </a:r>
            <a:endParaRPr b="0" lang="en-US" sz="1100" spc="-1" strike="noStrike">
              <a:solidFill>
                <a:srgbClr val="ffffff"/>
              </a:solidFill>
              <a:latin typeface="Arial"/>
            </a:endParaRPr>
          </a:p>
        </p:txBody>
      </p:sp>
      <p:sp>
        <p:nvSpPr>
          <p:cNvPr id="1824" name="Right Arrow 9"/>
          <p:cNvSpPr/>
          <p:nvPr/>
        </p:nvSpPr>
        <p:spPr>
          <a:xfrm>
            <a:off x="3117960" y="2491920"/>
            <a:ext cx="182520" cy="182520"/>
          </a:xfrm>
          <a:prstGeom prst="rightArrow">
            <a:avLst>
              <a:gd name="adj1" fmla="val 50000"/>
              <a:gd name="adj2" fmla="val 50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25" name="Rounded Rectangle 10"/>
          <p:cNvSpPr/>
          <p:nvPr/>
        </p:nvSpPr>
        <p:spPr>
          <a:xfrm>
            <a:off x="3337560" y="2103120"/>
            <a:ext cx="2514240" cy="959760"/>
          </a:xfrm>
          <a:prstGeom prst="roundRect">
            <a:avLst>
              <a:gd name="adj" fmla="val 1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100" spc="-1" strike="noStrike">
                <a:solidFill>
                  <a:srgbClr val="ffffff"/>
                </a:solidFill>
                <a:latin typeface="Segoe UI"/>
              </a:rPr>
              <a:t>ENGRANAJE</a:t>
            </a:r>
            <a:endParaRPr b="0" lang="en-US" sz="1100" spc="-1" strike="noStrike">
              <a:solidFill>
                <a:srgbClr val="000000"/>
              </a:solidFill>
              <a:latin typeface="Arial"/>
            </a:endParaRPr>
          </a:p>
          <a:p>
            <a:pPr algn="ctr" defTabSz="457200">
              <a:lnSpc>
                <a:spcPct val="100000"/>
              </a:lnSpc>
            </a:pPr>
            <a:r>
              <a:rPr b="1" lang="en-US" sz="1100" spc="-1" strike="noStrike">
                <a:solidFill>
                  <a:srgbClr val="ffffff"/>
                </a:solidFill>
                <a:latin typeface="Segoe UI"/>
              </a:rPr>
              <a:t>ELECTRÓNICO</a:t>
            </a:r>
            <a:endParaRPr b="0" lang="en-US" sz="1100" spc="-1" strike="noStrike">
              <a:solidFill>
                <a:srgbClr val="000000"/>
              </a:solidFill>
              <a:latin typeface="Arial"/>
            </a:endParaRPr>
          </a:p>
          <a:p>
            <a:pPr algn="ctr" defTabSz="457200">
              <a:lnSpc>
                <a:spcPct val="100000"/>
              </a:lnSpc>
            </a:pPr>
            <a:r>
              <a:rPr b="1" lang="en-US" sz="1100" spc="-1" strike="noStrike">
                <a:solidFill>
                  <a:srgbClr val="ffffff"/>
                </a:solidFill>
                <a:latin typeface="Consolas"/>
              </a:rPr>
              <a:t>Pn20E</a:t>
            </a:r>
            <a:r>
              <a:rPr b="1" lang="en-US" sz="1100" spc="-1" strike="noStrike">
                <a:solidFill>
                  <a:srgbClr val="ffffff"/>
                </a:solidFill>
                <a:latin typeface="Segoe UI"/>
              </a:rPr>
              <a:t> / </a:t>
            </a:r>
            <a:r>
              <a:rPr b="1" lang="en-US" sz="1100" spc="-1" strike="noStrike">
                <a:solidFill>
                  <a:srgbClr val="ffffff"/>
                </a:solidFill>
                <a:latin typeface="Consolas"/>
              </a:rPr>
              <a:t>Pn210</a:t>
            </a:r>
            <a:endParaRPr b="0" lang="en-US" sz="1100" spc="-1" strike="noStrike">
              <a:solidFill>
                <a:srgbClr val="000000"/>
              </a:solidFill>
              <a:latin typeface="Arial"/>
            </a:endParaRPr>
          </a:p>
        </p:txBody>
      </p:sp>
      <p:sp>
        <p:nvSpPr>
          <p:cNvPr id="1826" name="Right Arrow 11"/>
          <p:cNvSpPr/>
          <p:nvPr/>
        </p:nvSpPr>
        <p:spPr>
          <a:xfrm>
            <a:off x="5888880" y="2491920"/>
            <a:ext cx="182520" cy="182520"/>
          </a:xfrm>
          <a:prstGeom prst="rightArrow">
            <a:avLst>
              <a:gd name="adj1" fmla="val 50000"/>
              <a:gd name="adj2" fmla="val 50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27" name="Rounded Rectangle 12"/>
          <p:cNvSpPr/>
          <p:nvPr/>
        </p:nvSpPr>
        <p:spPr>
          <a:xfrm>
            <a:off x="6108120" y="2103120"/>
            <a:ext cx="2514240" cy="959760"/>
          </a:xfrm>
          <a:prstGeom prst="roundRect">
            <a:avLst>
              <a:gd name="adj" fmla="val 10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100" spc="-1" strike="noStrike">
                <a:solidFill>
                  <a:srgbClr val="ffffff"/>
                </a:solidFill>
                <a:latin typeface="Segoe UI"/>
              </a:rPr>
              <a:t>DRIVE</a:t>
            </a:r>
            <a:endParaRPr b="0" lang="en-US" sz="1100" spc="-1" strike="noStrike">
              <a:solidFill>
                <a:srgbClr val="ffffff"/>
              </a:solidFill>
              <a:latin typeface="Arial"/>
            </a:endParaRPr>
          </a:p>
          <a:p>
            <a:pPr algn="ctr" defTabSz="457200">
              <a:lnSpc>
                <a:spcPct val="100000"/>
              </a:lnSpc>
            </a:pPr>
            <a:r>
              <a:rPr b="1" lang="en-US" sz="1100" spc="-1" strike="noStrike">
                <a:solidFill>
                  <a:srgbClr val="ffffff"/>
                </a:solidFill>
                <a:latin typeface="Segoe UI"/>
              </a:rPr>
              <a:t>piensa en cuentas</a:t>
            </a:r>
            <a:endParaRPr b="0" lang="en-US" sz="1100" spc="-1" strike="noStrike">
              <a:solidFill>
                <a:srgbClr val="ffffff"/>
              </a:solidFill>
              <a:latin typeface="Arial"/>
            </a:endParaRPr>
          </a:p>
          <a:p>
            <a:pPr algn="ctr" defTabSz="457200">
              <a:lnSpc>
                <a:spcPct val="100000"/>
              </a:lnSpc>
            </a:pPr>
            <a:r>
              <a:rPr b="1" lang="en-US" sz="1100" spc="-1" strike="noStrike">
                <a:solidFill>
                  <a:srgbClr val="ffffff"/>
                </a:solidFill>
                <a:latin typeface="Segoe UI"/>
              </a:rPr>
              <a:t>de encoder</a:t>
            </a:r>
            <a:endParaRPr b="0" lang="en-US" sz="1100" spc="-1" strike="noStrike">
              <a:solidFill>
                <a:srgbClr val="ffffff"/>
              </a:solidFill>
              <a:latin typeface="Arial"/>
            </a:endParaRPr>
          </a:p>
        </p:txBody>
      </p:sp>
      <p:sp>
        <p:nvSpPr>
          <p:cNvPr id="1828" name="Right Arrow 13"/>
          <p:cNvSpPr/>
          <p:nvPr/>
        </p:nvSpPr>
        <p:spPr>
          <a:xfrm>
            <a:off x="8659440" y="2491920"/>
            <a:ext cx="182520" cy="182520"/>
          </a:xfrm>
          <a:prstGeom prst="rightArrow">
            <a:avLst>
              <a:gd name="adj1" fmla="val 50000"/>
              <a:gd name="adj2" fmla="val 50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29" name="Rounded Rectangle 14"/>
          <p:cNvSpPr/>
          <p:nvPr/>
        </p:nvSpPr>
        <p:spPr>
          <a:xfrm>
            <a:off x="8878680" y="2103120"/>
            <a:ext cx="2514240" cy="959760"/>
          </a:xfrm>
          <a:prstGeom prst="roundRect">
            <a:avLst>
              <a:gd name="adj" fmla="val 10000"/>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100" spc="-1" strike="noStrike">
                <a:solidFill>
                  <a:srgbClr val="ffffff"/>
                </a:solidFill>
                <a:latin typeface="Segoe UI"/>
              </a:rPr>
              <a:t>MOTOR + HUSILLO</a:t>
            </a:r>
            <a:endParaRPr b="0" lang="en-US" sz="1100" spc="-1" strike="noStrike">
              <a:solidFill>
                <a:srgbClr val="ffffff"/>
              </a:solidFill>
              <a:latin typeface="Arial"/>
            </a:endParaRPr>
          </a:p>
          <a:p>
            <a:pPr algn="ctr" defTabSz="457200">
              <a:lnSpc>
                <a:spcPct val="100000"/>
              </a:lnSpc>
            </a:pPr>
            <a:r>
              <a:rPr b="1" lang="en-US" sz="1100" spc="-1" strike="noStrike">
                <a:solidFill>
                  <a:srgbClr val="ffffff"/>
                </a:solidFill>
                <a:latin typeface="Segoe UI"/>
              </a:rPr>
              <a:t>se mueve en mm</a:t>
            </a:r>
            <a:endParaRPr b="0" lang="en-US" sz="1100" spc="-1" strike="noStrike">
              <a:solidFill>
                <a:srgbClr val="ffffff"/>
              </a:solidFill>
              <a:latin typeface="Arial"/>
            </a:endParaRPr>
          </a:p>
        </p:txBody>
      </p:sp>
      <p:sp>
        <p:nvSpPr>
          <p:cNvPr id="1830" name="Rectangle 15"/>
          <p:cNvSpPr/>
          <p:nvPr/>
        </p:nvSpPr>
        <p:spPr>
          <a:xfrm>
            <a:off x="567000" y="3520440"/>
            <a:ext cx="11063880" cy="105120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31" name="TextBox 16"/>
          <p:cNvSpPr/>
          <p:nvPr/>
        </p:nvSpPr>
        <p:spPr>
          <a:xfrm>
            <a:off x="567000" y="3657600"/>
            <a:ext cx="11063880" cy="2138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400" spc="-1" strike="noStrike">
                <a:solidFill>
                  <a:srgbClr val="0b2545"/>
                </a:solidFill>
                <a:latin typeface="Segoe UI"/>
              </a:rPr>
              <a:t>B / A  =  (resolución del encoder × relación de transmisión)  /  (unidades de referencia por vuelta del eje de carga)</a:t>
            </a:r>
            <a:endParaRPr b="0" lang="en-US" sz="1400" spc="-1" strike="noStrike">
              <a:solidFill>
                <a:srgbClr val="000000"/>
              </a:solidFill>
              <a:latin typeface="Arial"/>
            </a:endParaRPr>
          </a:p>
        </p:txBody>
      </p:sp>
      <p:sp>
        <p:nvSpPr>
          <p:cNvPr id="1832" name="TextBox 17"/>
          <p:cNvSpPr/>
          <p:nvPr/>
        </p:nvSpPr>
        <p:spPr>
          <a:xfrm>
            <a:off x="567000" y="4069080"/>
            <a:ext cx="11063880" cy="1832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0" lang="en-US" sz="1200" spc="-1" strike="noStrike">
                <a:solidFill>
                  <a:srgbClr val="5a6b7b"/>
                </a:solidFill>
                <a:latin typeface="Segoe UI"/>
              </a:rPr>
              <a:t>B = </a:t>
            </a:r>
            <a:r>
              <a:rPr b="0" lang="en-US" sz="1200" spc="-1" strike="noStrike">
                <a:solidFill>
                  <a:srgbClr val="5a6b7b"/>
                </a:solidFill>
                <a:latin typeface="Consolas"/>
              </a:rPr>
              <a:t>Pn20E</a:t>
            </a:r>
            <a:r>
              <a:rPr b="0" lang="en-US" sz="1200" spc="-1" strike="noStrike">
                <a:solidFill>
                  <a:srgbClr val="5a6b7b"/>
                </a:solidFill>
                <a:latin typeface="Segoe UI"/>
              </a:rPr>
              <a:t> (numerador)          A = </a:t>
            </a:r>
            <a:r>
              <a:rPr b="0" lang="en-US" sz="1200" spc="-1" strike="noStrike">
                <a:solidFill>
                  <a:srgbClr val="5a6b7b"/>
                </a:solidFill>
                <a:latin typeface="Consolas"/>
              </a:rPr>
              <a:t>Pn210</a:t>
            </a:r>
            <a:r>
              <a:rPr b="0" lang="en-US" sz="1200" spc="-1" strike="noStrike">
                <a:solidFill>
                  <a:srgbClr val="5a6b7b"/>
                </a:solidFill>
                <a:latin typeface="Segoe UI"/>
              </a:rPr>
              <a:t> (denominador)</a:t>
            </a:r>
            <a:endParaRPr b="0" lang="en-US" sz="1200" spc="-1" strike="noStrike">
              <a:solidFill>
                <a:srgbClr val="000000"/>
              </a:solidFill>
              <a:latin typeface="Arial"/>
            </a:endParaRPr>
          </a:p>
        </p:txBody>
      </p:sp>
      <p:sp>
        <p:nvSpPr>
          <p:cNvPr id="1833" name="Rectangle 18"/>
          <p:cNvSpPr/>
          <p:nvPr/>
        </p:nvSpPr>
        <p:spPr>
          <a:xfrm>
            <a:off x="567000" y="4754880"/>
            <a:ext cx="11063880" cy="157248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34" name="TextBox 19"/>
          <p:cNvSpPr/>
          <p:nvPr/>
        </p:nvSpPr>
        <p:spPr>
          <a:xfrm>
            <a:off x="868680" y="4892040"/>
            <a:ext cx="1042380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50" spc="-1" strike="noStrike">
                <a:solidFill>
                  <a:srgbClr val="0b2545"/>
                </a:solidFill>
                <a:latin typeface="Segoe UI"/>
              </a:rPr>
              <a:t>Ejemplo del curso: husillo de 20 mm de paso, acoplamiento directo, programar en micras</a:t>
            </a:r>
            <a:endParaRPr b="0" lang="en-US" sz="1250" spc="-1" strike="noStrike">
              <a:solidFill>
                <a:srgbClr val="000000"/>
              </a:solidFill>
              <a:latin typeface="Arial"/>
            </a:endParaRPr>
          </a:p>
        </p:txBody>
      </p:sp>
      <p:sp>
        <p:nvSpPr>
          <p:cNvPr id="1835" name="TextBox 20"/>
          <p:cNvSpPr/>
          <p:nvPr/>
        </p:nvSpPr>
        <p:spPr>
          <a:xfrm>
            <a:off x="868680" y="5230440"/>
            <a:ext cx="10423800" cy="605160"/>
          </a:xfrm>
          <a:prstGeom prst="rect">
            <a:avLst/>
          </a:prstGeom>
          <a:noFill/>
          <a:ln w="0">
            <a:noFill/>
          </a:ln>
        </p:spPr>
        <p:style>
          <a:lnRef idx="0"/>
          <a:fillRef idx="0"/>
          <a:effectRef idx="0"/>
          <a:fontRef idx="minor"/>
        </p:style>
        <p:txBody>
          <a:bodyPr lIns="0" rIns="0" tIns="0" bIns="0" anchor="t">
            <a:spAutoFit/>
          </a:bodyPr>
          <a:p>
            <a:pPr defTabSz="457200">
              <a:lnSpc>
                <a:spcPct val="115000"/>
              </a:lnSpc>
            </a:pPr>
            <a:r>
              <a:rPr b="0" lang="en-US" sz="1150" spc="-1" strike="noStrike">
                <a:solidFill>
                  <a:srgbClr val="1c2430"/>
                </a:solidFill>
                <a:latin typeface="Segoe UI"/>
              </a:rPr>
              <a:t>Una vuelta de motor = 20 mm = </a:t>
            </a:r>
            <a:r>
              <a:rPr b="1" lang="en-US" sz="1150" spc="-1" strike="noStrike">
                <a:solidFill>
                  <a:srgbClr val="1c2430"/>
                </a:solidFill>
                <a:latin typeface="Segoe UI"/>
              </a:rPr>
              <a:t>20.000 unidades de referencia</a:t>
            </a:r>
            <a:r>
              <a:rPr b="0" lang="en-US" sz="1150" spc="-1" strike="noStrike">
                <a:solidFill>
                  <a:srgbClr val="1c2430"/>
                </a:solidFill>
                <a:latin typeface="Segoe UI"/>
              </a:rPr>
              <a:t> de 1 µm.</a:t>
            </a:r>
            <a:endParaRPr b="0" lang="en-US" sz="1150" spc="-1" strike="noStrike">
              <a:solidFill>
                <a:srgbClr val="000000"/>
              </a:solidFill>
              <a:latin typeface="Arial"/>
            </a:endParaRPr>
          </a:p>
          <a:p>
            <a:pPr defTabSz="457200">
              <a:lnSpc>
                <a:spcPct val="115000"/>
              </a:lnSpc>
            </a:pPr>
            <a:r>
              <a:rPr b="0" lang="en-US" sz="1150" spc="-1" strike="noStrike">
                <a:solidFill>
                  <a:srgbClr val="1c2430"/>
                </a:solidFill>
                <a:latin typeface="Segoe UI"/>
              </a:rPr>
              <a:t>B / A = 16.777.216 / 20.000  →  se simplifica antes de escribirlo en los parámetros.</a:t>
            </a:r>
            <a:endParaRPr b="0" lang="en-US" sz="1150" spc="-1" strike="noStrike">
              <a:solidFill>
                <a:srgbClr val="000000"/>
              </a:solidFill>
              <a:latin typeface="Arial"/>
            </a:endParaRPr>
          </a:p>
          <a:p>
            <a:pPr defTabSz="457200">
              <a:lnSpc>
                <a:spcPct val="115000"/>
              </a:lnSpc>
            </a:pPr>
            <a:r>
              <a:rPr b="1" lang="en-US" sz="1150" spc="-1" strike="noStrike">
                <a:solidFill>
                  <a:srgbClr val="1c2430"/>
                </a:solidFill>
                <a:latin typeface="Segoe UI"/>
              </a:rPr>
              <a:t>Comprobación obligatoria</a:t>
            </a:r>
            <a:r>
              <a:rPr b="0" lang="en-US" sz="1150" spc="-1" strike="noStrike">
                <a:solidFill>
                  <a:srgbClr val="1c2430"/>
                </a:solidFill>
                <a:latin typeface="Segoe UI"/>
              </a:rPr>
              <a:t>: ordena un desplazamiento de 100 mm y mídelo con un comparador. Si no coincide, el engranaje está mal calculado.</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3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83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Engranaje electrónico: tres ejemplos resueltos</a:t>
            </a:r>
            <a:endParaRPr b="0" lang="en-US" sz="2500" spc="-1" strike="noStrike">
              <a:solidFill>
                <a:srgbClr val="000000"/>
              </a:solidFill>
              <a:latin typeface="Arial"/>
            </a:endParaRPr>
          </a:p>
        </p:txBody>
      </p:sp>
      <p:sp>
        <p:nvSpPr>
          <p:cNvPr id="183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Consolas"/>
              </a:rPr>
              <a:t>Pn20E</a:t>
            </a:r>
            <a:r>
              <a:rPr b="0" lang="en-US" sz="1250" spc="-1" strike="noStrike">
                <a:solidFill>
                  <a:srgbClr val="a9c6e0"/>
                </a:solidFill>
                <a:latin typeface="Segoe UI"/>
              </a:rPr>
              <a:t> (numerador B) y </a:t>
            </a:r>
            <a:r>
              <a:rPr b="0" lang="en-US" sz="1250" spc="-1" strike="noStrike">
                <a:solidFill>
                  <a:srgbClr val="a9c6e0"/>
                </a:solidFill>
                <a:latin typeface="Consolas"/>
              </a:rPr>
              <a:t>Pn210</a:t>
            </a:r>
            <a:r>
              <a:rPr b="0" lang="en-US" sz="1250" spc="-1" strike="noStrike">
                <a:solidFill>
                  <a:srgbClr val="a9c6e0"/>
                </a:solidFill>
                <a:latin typeface="Segoe UI"/>
              </a:rPr>
              <a:t> (denominador A)</a:t>
            </a:r>
            <a:endParaRPr b="0" lang="en-US" sz="1250" spc="-1" strike="noStrike">
              <a:solidFill>
                <a:srgbClr val="000000"/>
              </a:solidFill>
              <a:latin typeface="Arial"/>
            </a:endParaRPr>
          </a:p>
        </p:txBody>
      </p:sp>
      <p:sp>
        <p:nvSpPr>
          <p:cNvPr id="184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84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84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102</a:t>
            </a:r>
            <a:endParaRPr b="0" lang="en-US" sz="900" spc="-1" strike="noStrike">
              <a:solidFill>
                <a:srgbClr val="000000"/>
              </a:solidFill>
              <a:latin typeface="Arial"/>
            </a:endParaRPr>
          </a:p>
        </p:txBody>
      </p:sp>
      <p:graphicFrame>
        <p:nvGraphicFramePr>
          <p:cNvPr id="1843" name="Table 8"/>
          <p:cNvGraphicFramePr/>
          <p:nvPr/>
        </p:nvGraphicFramePr>
        <p:xfrm>
          <a:off x="567000" y="1481400"/>
          <a:ext cx="11057400" cy="4462200"/>
        </p:xfrm>
        <a:graphic>
          <a:graphicData uri="http://schemas.openxmlformats.org/drawingml/2006/table">
            <a:tbl>
              <a:tblPr/>
              <a:tblGrid>
                <a:gridCol w="2696760"/>
                <a:gridCol w="2337120"/>
                <a:gridCol w="3775680"/>
                <a:gridCol w="224748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Aplicación</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Unidad de referencia deseada</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Cálculo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Resultado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1371600">
                <a:tc>
                  <a:txBody>
                    <a:bodyPr lIns="82080" rIns="82080" tIns="27360" bIns="27360" anchor="ctr">
                      <a:noAutofit/>
                    </a:bodyPr>
                    <a:p>
                      <a:pPr defTabSz="457200">
                        <a:lnSpc>
                          <a:spcPct val="100000"/>
                        </a:lnSpc>
                      </a:pPr>
                      <a:r>
                        <a:rPr b="0" lang="en-US" sz="950" spc="-1" strike="noStrike">
                          <a:solidFill>
                            <a:srgbClr val="1c2430"/>
                          </a:solidFill>
                          <a:latin typeface="Segoe UI"/>
                        </a:rPr>
                        <a:t>Husillo de 20 mm de paso, acoplamiento directo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1 unidad = 0,001 mm (1 µm)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Vueltas por 1 mm = 1/20. Unidades por vuelta = 20 mm × 1.000 = 20.000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B/A</a:t>
                      </a:r>
                      <a:r>
                        <a:rPr b="0" lang="en-US" sz="950" spc="-1" strike="noStrike">
                          <a:solidFill>
                            <a:srgbClr val="1c2430"/>
                          </a:solidFill>
                          <a:latin typeface="Segoe UI"/>
                        </a:rPr>
                        <a:t> = 16.777.216 / 20.000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1371600">
                <a:tc>
                  <a:txBody>
                    <a:bodyPr lIns="82080" rIns="82080" tIns="27360" bIns="27360" anchor="ctr">
                      <a:noAutofit/>
                    </a:bodyPr>
                    <a:p>
                      <a:pPr defTabSz="457200">
                        <a:lnSpc>
                          <a:spcPct val="100000"/>
                        </a:lnSpc>
                      </a:pPr>
                      <a:r>
                        <a:rPr b="0" lang="en-US" sz="950" spc="-1" strike="noStrike">
                          <a:solidFill>
                            <a:srgbClr val="1c2430"/>
                          </a:solidFill>
                          <a:latin typeface="Segoe UI"/>
                        </a:rPr>
                        <a:t>Mesa rotativa con reductor 10:1</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1 unidad = 0,001° (360.000 unidades por vuelta de mesa)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Una vuelta de mesa = 10 vueltas de motor = 167.772.160 cuentas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B/A</a:t>
                      </a:r>
                      <a:r>
                        <a:rPr b="0" lang="en-US" sz="950" spc="-1" strike="noStrike">
                          <a:solidFill>
                            <a:srgbClr val="1c2430"/>
                          </a:solidFill>
                          <a:latin typeface="Segoe UI"/>
                        </a:rPr>
                        <a:t> = 167.772.160 / 360.000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1371600">
                <a:tc>
                  <a:txBody>
                    <a:bodyPr lIns="82080" rIns="82080" tIns="27360" bIns="27360" anchor="ctr">
                      <a:noAutofit/>
                    </a:bodyPr>
                    <a:p>
                      <a:pPr defTabSz="457200">
                        <a:lnSpc>
                          <a:spcPct val="100000"/>
                        </a:lnSpc>
                      </a:pPr>
                      <a:r>
                        <a:rPr b="0" lang="en-US" sz="950" spc="-1" strike="noStrike">
                          <a:solidFill>
                            <a:srgbClr val="1c2430"/>
                          </a:solidFill>
                          <a:latin typeface="Segoe UI"/>
                        </a:rPr>
                        <a:t>Cinta con polea de 100 mm de diámetro, reductor 5:1</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1 unidad = 0,01 mm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Perímetro = 314,16 mm por vuelta de polea = 5 vueltas de motor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B/A</a:t>
                      </a:r>
                      <a:r>
                        <a:rPr b="0" lang="en-US" sz="950" spc="-1" strike="noStrike">
                          <a:solidFill>
                            <a:srgbClr val="1c2430"/>
                          </a:solidFill>
                          <a:latin typeface="Segoe UI"/>
                        </a:rPr>
                        <a:t> = (16.777.216 × 5) / 31.416</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844" name="TextBox 9"/>
          <p:cNvSpPr/>
          <p:nvPr/>
        </p:nvSpPr>
        <p:spPr>
          <a:xfrm>
            <a:off x="567000" y="6035040"/>
            <a:ext cx="11057400" cy="304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Simplifica siempre la fracción antes de escribirla y comprueba que numerador y denominador caben en el rango admitido por los parámetros. Si no es exacta, quedará un error de redondeo acumulativo.</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4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847"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Los parámetros que más vas a tocar (1/2)</a:t>
            </a:r>
            <a:endParaRPr b="0" lang="en-US" sz="2500" spc="-1" strike="noStrike">
              <a:solidFill>
                <a:srgbClr val="000000"/>
              </a:solidFill>
              <a:latin typeface="Arial"/>
            </a:endParaRPr>
          </a:p>
        </p:txBody>
      </p:sp>
      <p:sp>
        <p:nvSpPr>
          <p:cNvPr id="184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Configuración básica del eje</a:t>
            </a:r>
            <a:endParaRPr b="0" lang="en-US" sz="1250" spc="-1" strike="noStrike">
              <a:solidFill>
                <a:srgbClr val="000000"/>
              </a:solidFill>
              <a:latin typeface="Arial"/>
            </a:endParaRPr>
          </a:p>
        </p:txBody>
      </p:sp>
      <p:sp>
        <p:nvSpPr>
          <p:cNvPr id="184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85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85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103</a:t>
            </a:r>
            <a:endParaRPr b="0" lang="en-US" sz="900" spc="-1" strike="noStrike">
              <a:solidFill>
                <a:srgbClr val="000000"/>
              </a:solidFill>
              <a:latin typeface="Arial"/>
            </a:endParaRPr>
          </a:p>
        </p:txBody>
      </p:sp>
      <p:graphicFrame>
        <p:nvGraphicFramePr>
          <p:cNvPr id="1852" name="Table 8"/>
          <p:cNvGraphicFramePr/>
          <p:nvPr/>
        </p:nvGraphicFramePr>
        <p:xfrm>
          <a:off x="567000" y="1481400"/>
          <a:ext cx="11057400" cy="4845960"/>
        </p:xfrm>
        <a:graphic>
          <a:graphicData uri="http://schemas.openxmlformats.org/drawingml/2006/table">
            <a:tbl>
              <a:tblPr/>
              <a:tblGrid>
                <a:gridCol w="2303640"/>
                <a:gridCol w="4054320"/>
                <a:gridCol w="469944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Parámetro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Qué hace</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Comentario práctico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Consolas"/>
                        </a:rPr>
                        <a:t>Pn000.0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Sentido de giro (rotación inversa)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Se cambia aquí, </a:t>
                      </a:r>
                      <a:r>
                        <a:rPr b="1" lang="en-US" sz="950" spc="-1" strike="noStrike">
                          <a:solidFill>
                            <a:srgbClr val="1c2430"/>
                          </a:solidFill>
                          <a:latin typeface="Segoe UI"/>
                        </a:rPr>
                        <a:t>no</a:t>
                      </a:r>
                      <a:r>
                        <a:rPr b="0" lang="en-US" sz="950" spc="-1" strike="noStrike">
                          <a:solidFill>
                            <a:srgbClr val="1c2430"/>
                          </a:solidFill>
                          <a:latin typeface="Segoe UI"/>
                        </a:rPr>
                        <a:t> intercambiando fases del motor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Consolas"/>
                        </a:rPr>
                        <a:t>Pn000.1</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Selección del modo de control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Par, velocidad, posición o combinados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Consolas"/>
                        </a:rPr>
                        <a:t>Pn001.0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Método de parada ante alarma o servo OFF</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Freno dinámico, rampa o marcha libre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Consolas"/>
                        </a:rPr>
                        <a:t>Pn20E</a:t>
                      </a:r>
                      <a:r>
                        <a:rPr b="0" lang="en-US" sz="950" spc="-1" strike="noStrike">
                          <a:solidFill>
                            <a:srgbClr val="1c2430"/>
                          </a:solidFill>
                          <a:latin typeface="Segoe UI"/>
                        </a:rPr>
                        <a:t> / </a:t>
                      </a:r>
                      <a:r>
                        <a:rPr b="0" lang="en-US" sz="950" spc="-1" strike="noStrike">
                          <a:solidFill>
                            <a:srgbClr val="1c2430"/>
                          </a:solidFill>
                          <a:latin typeface="Consolas"/>
                        </a:rPr>
                        <a:t>Pn210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Engranaje electrónico (numerador/denominador)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Define la unidad de referencia de todo el eje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Consolas"/>
                        </a:rPr>
                        <a:t>Pn212</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Pulsos de salida del encoder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Sólo si el controlador necesita realimentación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Consolas"/>
                        </a:rPr>
                        <a:t>Pn50A</a:t>
                      </a:r>
                      <a:r>
                        <a:rPr b="0" lang="en-US" sz="950" spc="-1" strike="noStrike">
                          <a:solidFill>
                            <a:srgbClr val="1c2430"/>
                          </a:solidFill>
                          <a:latin typeface="Segoe UI"/>
                        </a:rPr>
                        <a:t> / </a:t>
                      </a:r>
                      <a:r>
                        <a:rPr b="0" lang="en-US" sz="950" spc="-1" strike="noStrike">
                          <a:solidFill>
                            <a:srgbClr val="1c2430"/>
                          </a:solidFill>
                          <a:latin typeface="Consolas"/>
                        </a:rPr>
                        <a:t>Pn50B</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Asignación de entradas digitales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Permite forzar señales sin cablearlas: úsalo con cabeza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Consolas"/>
                        </a:rPr>
                        <a:t>Pn50E</a:t>
                      </a:r>
                      <a:r>
                        <a:rPr b="0" lang="en-US" sz="950" spc="-1" strike="noStrike">
                          <a:solidFill>
                            <a:srgbClr val="1c2430"/>
                          </a:solidFill>
                          <a:latin typeface="Segoe UI"/>
                        </a:rPr>
                        <a:t> / </a:t>
                      </a:r>
                      <a:r>
                        <a:rPr b="0" lang="en-US" sz="950" spc="-1" strike="noStrike">
                          <a:solidFill>
                            <a:srgbClr val="1c2430"/>
                          </a:solidFill>
                          <a:latin typeface="Consolas"/>
                        </a:rPr>
                        <a:t>Pn50F</a:t>
                      </a:r>
                      <a:r>
                        <a:rPr b="0" lang="en-US" sz="950" spc="-1" strike="noStrike">
                          <a:solidFill>
                            <a:srgbClr val="1c2430"/>
                          </a:solidFill>
                          <a:latin typeface="Segoe UI"/>
                        </a:rPr>
                        <a:t> / </a:t>
                      </a:r>
                      <a:r>
                        <a:rPr b="0" lang="en-US" sz="950" spc="-1" strike="noStrike">
                          <a:solidFill>
                            <a:srgbClr val="1c2430"/>
                          </a:solidFill>
                          <a:latin typeface="Consolas"/>
                        </a:rPr>
                        <a:t>Pn510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Asignación de salidas digitales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Aquí se asigna </a:t>
                      </a:r>
                      <a:r>
                        <a:rPr b="0" lang="en-US" sz="950" spc="-1" strike="noStrike">
                          <a:solidFill>
                            <a:srgbClr val="1c2430"/>
                          </a:solidFill>
                          <a:latin typeface="Consolas"/>
                        </a:rPr>
                        <a:t>/BK</a:t>
                      </a:r>
                      <a:r>
                        <a:rPr b="0" lang="en-US" sz="950" spc="-1" strike="noStrike">
                          <a:solidFill>
                            <a:srgbClr val="1c2430"/>
                          </a:solidFill>
                          <a:latin typeface="Segoe UI"/>
                        </a:rPr>
                        <a:t>, </a:t>
                      </a:r>
                      <a:r>
                        <a:rPr b="0" lang="en-US" sz="950" spc="-1" strike="noStrike">
                          <a:solidFill>
                            <a:srgbClr val="1c2430"/>
                          </a:solidFill>
                          <a:latin typeface="Consolas"/>
                        </a:rPr>
                        <a:t>/COIN</a:t>
                      </a:r>
                      <a:r>
                        <a:rPr b="0" lang="en-US" sz="950" spc="-1" strike="noStrike">
                          <a:solidFill>
                            <a:srgbClr val="1c2430"/>
                          </a:solidFill>
                          <a:latin typeface="Segoe UI"/>
                        </a:rPr>
                        <a:t>, </a:t>
                      </a:r>
                      <a:r>
                        <a:rPr b="0" lang="en-US" sz="950" spc="-1" strike="noStrike">
                          <a:solidFill>
                            <a:srgbClr val="1c2430"/>
                          </a:solidFill>
                          <a:latin typeface="Consolas"/>
                        </a:rPr>
                        <a:t>/S-RDY</a:t>
                      </a:r>
                      <a:r>
                        <a:rPr b="0" lang="en-US" sz="950" spc="-1" strike="noStrike">
                          <a:solidFill>
                            <a:srgbClr val="1c2430"/>
                          </a:solidFill>
                          <a:latin typeface="Segoe UI"/>
                        </a:rPr>
                        <a:t>…</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Consolas"/>
                        </a:rPr>
                        <a:t>Pn522</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Ventana de posicionado (</a:t>
                      </a:r>
                      <a:r>
                        <a:rPr b="0" lang="en-US" sz="950" spc="-1" strike="noStrike">
                          <a:solidFill>
                            <a:srgbClr val="1c2430"/>
                          </a:solidFill>
                          <a:latin typeface="Consolas"/>
                        </a:rPr>
                        <a:t>/COIN</a:t>
                      </a:r>
                      <a:r>
                        <a:rPr b="0" lang="en-US" sz="950" spc="-1" strike="noStrike">
                          <a:solidFill>
                            <a:srgbClr val="1c2430"/>
                          </a:solidFill>
                          <a:latin typeface="Segoe UI"/>
                        </a:rPr>
                        <a:t>)</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Determina cuándo el PLC recibe 'posición alcanzada'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Consolas"/>
                        </a:rPr>
                        <a:t>Pn520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Nivel de alarma por exceso de error de posición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Protege la mecánica; si salta, revisa dimensionamiento o ganancias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Consolas"/>
                        </a:rPr>
                        <a:t>Pn506</a:t>
                      </a:r>
                      <a:r>
                        <a:rPr b="0" lang="en-US" sz="950" spc="-1" strike="noStrike">
                          <a:solidFill>
                            <a:srgbClr val="1c2430"/>
                          </a:solidFill>
                          <a:latin typeface="Segoe UI"/>
                        </a:rPr>
                        <a:t> / </a:t>
                      </a:r>
                      <a:r>
                        <a:rPr b="0" lang="en-US" sz="950" spc="-1" strike="noStrike">
                          <a:solidFill>
                            <a:srgbClr val="1c2430"/>
                          </a:solidFill>
                          <a:latin typeface="Consolas"/>
                        </a:rPr>
                        <a:t>Pn507</a:t>
                      </a:r>
                      <a:r>
                        <a:rPr b="0" lang="en-US" sz="950" spc="-1" strike="noStrike">
                          <a:solidFill>
                            <a:srgbClr val="1c2430"/>
                          </a:solidFill>
                          <a:latin typeface="Segoe UI"/>
                        </a:rPr>
                        <a:t> / </a:t>
                      </a:r>
                      <a:r>
                        <a:rPr b="0" lang="en-US" sz="950" spc="-1" strike="noStrike">
                          <a:solidFill>
                            <a:srgbClr val="1c2430"/>
                          </a:solidFill>
                          <a:latin typeface="Consolas"/>
                        </a:rPr>
                        <a:t>Pn508</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Temporización del freno de retención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Críticos en ejes verticales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Tree>
  </p:cSld>
  <mc:AlternateContent>
    <mc:Choice Requires="p14">
      <p:transition spd="slow" p14:dur="2000"/>
    </mc:Choice>
    <mc:Fallback>
      <p:transition spd="slow"/>
    </mc:Fallback>
  </mc:AlternateContent>
</p:sld>
</file>

<file path=ppt/slides/slide10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53"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54"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855"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Los parámetros que más vas a tocar (2/2)</a:t>
            </a:r>
            <a:endParaRPr b="0" lang="en-US" sz="2500" spc="-1" strike="noStrike">
              <a:solidFill>
                <a:srgbClr val="000000"/>
              </a:solidFill>
              <a:latin typeface="Arial"/>
            </a:endParaRPr>
          </a:p>
        </p:txBody>
      </p:sp>
      <p:sp>
        <p:nvSpPr>
          <p:cNvPr id="1856"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Sintonización, filtros y pruebas</a:t>
            </a:r>
            <a:endParaRPr b="0" lang="en-US" sz="1250" spc="-1" strike="noStrike">
              <a:solidFill>
                <a:srgbClr val="000000"/>
              </a:solidFill>
              <a:latin typeface="Arial"/>
            </a:endParaRPr>
          </a:p>
        </p:txBody>
      </p:sp>
      <p:sp>
        <p:nvSpPr>
          <p:cNvPr id="1857"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858"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859"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104</a:t>
            </a:r>
            <a:endParaRPr b="0" lang="en-US" sz="900" spc="-1" strike="noStrike">
              <a:solidFill>
                <a:srgbClr val="000000"/>
              </a:solidFill>
              <a:latin typeface="Arial"/>
            </a:endParaRPr>
          </a:p>
        </p:txBody>
      </p:sp>
      <p:graphicFrame>
        <p:nvGraphicFramePr>
          <p:cNvPr id="1860" name="Table 8"/>
          <p:cNvGraphicFramePr/>
          <p:nvPr/>
        </p:nvGraphicFramePr>
        <p:xfrm>
          <a:off x="567000" y="1481400"/>
          <a:ext cx="11057400" cy="4461840"/>
        </p:xfrm>
        <a:graphic>
          <a:graphicData uri="http://schemas.openxmlformats.org/drawingml/2006/table">
            <a:tbl>
              <a:tblPr/>
              <a:tblGrid>
                <a:gridCol w="2303640"/>
                <a:gridCol w="4054320"/>
                <a:gridCol w="469944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Parámetro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Qué hace</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Comentario práctico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Consolas"/>
                        </a:rPr>
                        <a:t>Pn100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Ganancia del lazo de velocidad [Hz]</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El parámetro central de la sintonización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Consolas"/>
                        </a:rPr>
                        <a:t>Pn101</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Constante de tiempo integral de velocidad [ms]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Se baja para más rigidez; demasiado bajo, oscila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Consolas"/>
                        </a:rPr>
                        <a:t>Pn102</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Ganancia del lazo de posición [1/s]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Determina el error de seguimiento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Consolas"/>
                        </a:rPr>
                        <a:t>Pn103</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Relación de inercias [%]</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Ajústalo primero</a:t>
                      </a:r>
                      <a:r>
                        <a:rPr b="0" lang="en-US" sz="950" spc="-1" strike="noStrike">
                          <a:solidFill>
                            <a:srgbClr val="1c2430"/>
                          </a:solidFill>
                          <a:latin typeface="Segoe UI"/>
                        </a:rPr>
                        <a:t>: el resto de ganancias se escalan con él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Consolas"/>
                        </a:rPr>
                        <a:t>Pn401</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Constante de tiempo del filtro de par [ms]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Suaviza el ruido; demasiado alto, resta rapidez</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Consolas"/>
                        </a:rPr>
                        <a:t>Pn408</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Habilitación de filtros notch y de fricción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Bits de activación de las funciones de filtrado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Consolas"/>
                        </a:rPr>
                        <a:t>Pn409</a:t>
                      </a:r>
                      <a:r>
                        <a:rPr b="0" lang="en-US" sz="950" spc="-1" strike="noStrike">
                          <a:solidFill>
                            <a:srgbClr val="1c2430"/>
                          </a:solidFill>
                          <a:latin typeface="Segoe UI"/>
                        </a:rPr>
                        <a:t> / </a:t>
                      </a:r>
                      <a:r>
                        <a:rPr b="0" lang="en-US" sz="950" spc="-1" strike="noStrike">
                          <a:solidFill>
                            <a:srgbClr val="1c2430"/>
                          </a:solidFill>
                          <a:latin typeface="Consolas"/>
                        </a:rPr>
                        <a:t>Pn40A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Frecuencia y factor Q del 1.er filtro notch</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Contra resonancia mecánica de alta frecuencia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Consolas"/>
                        </a:rPr>
                        <a:t>Pn140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Control por modelo de referencia (MFC)</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Mejora el seguimiento sin sacrificar estabilidad</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Consolas"/>
                        </a:rPr>
                        <a:t>Pn14A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Frecuencia de supresión de vibración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Contra oscilación de baja frecuencia de la estructura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Consolas"/>
                        </a:rPr>
                        <a:t>Pn170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Función de ajuste sin sintonizar (tuning-less)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Activa de fábrica; desactívala al pasar a ajuste manual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Consolas"/>
                        </a:rPr>
                        <a:t>Pn304</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Velocidad de JOG [rpm]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Ponla baja (50-100 rpm) para las primeras pruebas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42720">
                <a:tc>
                  <a:txBody>
                    <a:bodyPr lIns="82080" rIns="82080" tIns="27360" bIns="27360" anchor="ctr">
                      <a:noAutofit/>
                    </a:bodyPr>
                    <a:p>
                      <a:pPr defTabSz="457200">
                        <a:lnSpc>
                          <a:spcPct val="100000"/>
                        </a:lnSpc>
                      </a:pPr>
                      <a:r>
                        <a:rPr b="0" lang="en-US" sz="950" spc="-1" strike="noStrike">
                          <a:solidFill>
                            <a:srgbClr val="1c2430"/>
                          </a:solidFill>
                          <a:latin typeface="Consolas"/>
                        </a:rPr>
                        <a:t>Pn600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Capacidad de la resistencia de regeneración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Declara la resistencia externa si la instalas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
        <p:nvSpPr>
          <p:cNvPr id="1861"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Estos parámetros se explican en detalle en el Módulo 09. Aquí sólo interesa saber que existen y dónde están.</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2"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63"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864"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Monitores </a:t>
            </a:r>
            <a:r>
              <a:rPr b="1" lang="en-US" sz="2500" spc="-1" strike="noStrike">
                <a:solidFill>
                  <a:srgbClr val="ffffff"/>
                </a:solidFill>
                <a:latin typeface="Consolas"/>
              </a:rPr>
              <a:t>Un</a:t>
            </a:r>
            <a:r>
              <a:rPr b="1" lang="en-US" sz="2500" spc="-1" strike="noStrike">
                <a:solidFill>
                  <a:srgbClr val="ffffff"/>
                </a:solidFill>
                <a:latin typeface="Segoe UI Semibold"/>
              </a:rPr>
              <a:t> para diagnóstico rápido</a:t>
            </a:r>
            <a:endParaRPr b="0" lang="en-US" sz="2500" spc="-1" strike="noStrike">
              <a:solidFill>
                <a:srgbClr val="000000"/>
              </a:solidFill>
              <a:latin typeface="Arial"/>
            </a:endParaRPr>
          </a:p>
        </p:txBody>
      </p:sp>
      <p:sp>
        <p:nvSpPr>
          <p:cNvPr id="1865"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Diagnóstico sin PC, directamente en el display</a:t>
            </a:r>
            <a:endParaRPr b="0" lang="en-US" sz="1250" spc="-1" strike="noStrike">
              <a:solidFill>
                <a:srgbClr val="000000"/>
              </a:solidFill>
              <a:latin typeface="Arial"/>
            </a:endParaRPr>
          </a:p>
        </p:txBody>
      </p:sp>
      <p:sp>
        <p:nvSpPr>
          <p:cNvPr id="1866"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867"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868"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105</a:t>
            </a:r>
            <a:endParaRPr b="0" lang="en-US" sz="900" spc="-1" strike="noStrike">
              <a:solidFill>
                <a:srgbClr val="000000"/>
              </a:solidFill>
              <a:latin typeface="Arial"/>
            </a:endParaRPr>
          </a:p>
        </p:txBody>
      </p:sp>
      <p:graphicFrame>
        <p:nvGraphicFramePr>
          <p:cNvPr id="1869" name="Table 8"/>
          <p:cNvGraphicFramePr/>
          <p:nvPr/>
        </p:nvGraphicFramePr>
        <p:xfrm>
          <a:off x="567000" y="1481400"/>
          <a:ext cx="11057400" cy="4462200"/>
        </p:xfrm>
        <a:graphic>
          <a:graphicData uri="http://schemas.openxmlformats.org/drawingml/2006/table">
            <a:tbl>
              <a:tblPr/>
              <a:tblGrid>
                <a:gridCol w="1566360"/>
                <a:gridCol w="3962160"/>
                <a:gridCol w="5528880"/>
              </a:tblGrid>
              <a:tr h="347400">
                <a:tc>
                  <a:txBody>
                    <a:bodyPr lIns="82080" rIns="82080" tIns="27360" bIns="27360" anchor="ctr">
                      <a:noAutofit/>
                    </a:bodyPr>
                    <a:p>
                      <a:pPr defTabSz="457200">
                        <a:lnSpc>
                          <a:spcPct val="100000"/>
                        </a:lnSpc>
                      </a:pPr>
                      <a:r>
                        <a:rPr b="1" lang="en-US" sz="1000" spc="-1" strike="noStrike">
                          <a:solidFill>
                            <a:srgbClr val="ffffff"/>
                          </a:solidFill>
                          <a:latin typeface="Segoe UI"/>
                        </a:rPr>
                        <a:t>Monitor</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Qué muestra</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00" spc="-1" strike="noStrike">
                          <a:solidFill>
                            <a:srgbClr val="ffffff"/>
                          </a:solidFill>
                          <a:latin typeface="Segoe UI"/>
                        </a:rPr>
                        <a:t>Cómo se usa en la práctica</a:t>
                      </a:r>
                      <a:endParaRPr b="0" lang="en-US" sz="10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457200">
                <a:tc>
                  <a:txBody>
                    <a:bodyPr lIns="82080" rIns="82080" tIns="27360" bIns="27360" anchor="ctr">
                      <a:noAutofit/>
                    </a:bodyPr>
                    <a:p>
                      <a:pPr defTabSz="457200">
                        <a:lnSpc>
                          <a:spcPct val="100000"/>
                        </a:lnSpc>
                      </a:pPr>
                      <a:r>
                        <a:rPr b="0" lang="en-US" sz="1000" spc="-1" strike="noStrike">
                          <a:solidFill>
                            <a:srgbClr val="1c2430"/>
                          </a:solidFill>
                          <a:latin typeface="Consolas"/>
                        </a:rPr>
                        <a:t>Un000</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Velocidad real del motor [rpm]</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Comprobar que el eje se mueve a la velocidad esperada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1000" spc="-1" strike="noStrike">
                          <a:solidFill>
                            <a:srgbClr val="1c2430"/>
                          </a:solidFill>
                          <a:latin typeface="Consolas"/>
                        </a:rPr>
                        <a:t>Un001</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Consigna de velocidad [rpm]</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Comparar con </a:t>
                      </a:r>
                      <a:r>
                        <a:rPr b="0" lang="en-US" sz="1000" spc="-1" strike="noStrike">
                          <a:solidFill>
                            <a:srgbClr val="1c2430"/>
                          </a:solidFill>
                          <a:latin typeface="Consolas"/>
                        </a:rPr>
                        <a:t>Un000</a:t>
                      </a:r>
                      <a:r>
                        <a:rPr b="0" lang="en-US" sz="1000" spc="-1" strike="noStrike">
                          <a:solidFill>
                            <a:srgbClr val="1c2430"/>
                          </a:solidFill>
                          <a:latin typeface="Segoe UI"/>
                        </a:rPr>
                        <a:t>: si difieren mucho, el eje no sigue</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1000" spc="-1" strike="noStrike">
                          <a:solidFill>
                            <a:srgbClr val="1c2430"/>
                          </a:solidFill>
                          <a:latin typeface="Consolas"/>
                        </a:rPr>
                        <a:t>Un002</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Par actual [% del nominal]</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1000" spc="-1" strike="noStrike">
                          <a:solidFill>
                            <a:srgbClr val="1c2430"/>
                          </a:solidFill>
                          <a:latin typeface="Segoe UI"/>
                        </a:rPr>
                        <a:t>El monitor más útil</a:t>
                      </a:r>
                      <a:r>
                        <a:rPr b="0" lang="en-US" sz="1000" spc="-1" strike="noStrike">
                          <a:solidFill>
                            <a:srgbClr val="1c2430"/>
                          </a:solidFill>
                          <a:latin typeface="Segoe UI"/>
                        </a:rPr>
                        <a:t>: valida el dimensionamiento en la máquina real</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1000" spc="-1" strike="noStrike">
                          <a:solidFill>
                            <a:srgbClr val="1c2430"/>
                          </a:solidFill>
                          <a:latin typeface="Consolas"/>
                        </a:rPr>
                        <a:t>Un005</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Estado de las entradas digitales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¿Llega el servo ON? ¿Están los finales de carrera cerrados?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1000" spc="-1" strike="noStrike">
                          <a:solidFill>
                            <a:srgbClr val="1c2430"/>
                          </a:solidFill>
                          <a:latin typeface="Consolas"/>
                        </a:rPr>
                        <a:t>Un006</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Estado de las salidas digitales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¿Se está dando la orden de freno? ¿Está activa la alarma?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1000" spc="-1" strike="noStrike">
                          <a:solidFill>
                            <a:srgbClr val="1c2430"/>
                          </a:solidFill>
                          <a:latin typeface="Consolas"/>
                        </a:rPr>
                        <a:t>Un007</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Velocidad de la consigna de pulsos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Verifica que el controlador está enviando pulsos</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1000" spc="-1" strike="noStrike">
                          <a:solidFill>
                            <a:srgbClr val="1c2430"/>
                          </a:solidFill>
                          <a:latin typeface="Consolas"/>
                        </a:rPr>
                        <a:t>Un008</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Error de posición [unidades de referencia]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Mide la calidad del seguimiento; base del ajuste de </a:t>
                      </a:r>
                      <a:r>
                        <a:rPr b="0" lang="en-US" sz="1000" spc="-1" strike="noStrike">
                          <a:solidFill>
                            <a:srgbClr val="1c2430"/>
                          </a:solidFill>
                          <a:latin typeface="Consolas"/>
                        </a:rPr>
                        <a:t>Pn522</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1000" spc="-1" strike="noStrike">
                          <a:solidFill>
                            <a:srgbClr val="1c2430"/>
                          </a:solidFill>
                          <a:latin typeface="Consolas"/>
                        </a:rPr>
                        <a:t>Un00D</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Contador de realimentación de posición</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Comprobar repetibilidad tras un ciclo completo</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1000" spc="-1" strike="noStrike">
                          <a:solidFill>
                            <a:srgbClr val="1c2430"/>
                          </a:solidFill>
                          <a:latin typeface="Consolas"/>
                        </a:rPr>
                        <a:t>Un00B</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Relación de carga / tasa de sobrecarga acumulada</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00" spc="-1" strike="noStrike">
                          <a:solidFill>
                            <a:srgbClr val="1c2430"/>
                          </a:solidFill>
                          <a:latin typeface="Segoe UI"/>
                        </a:rPr>
                        <a:t>Anticipa alarmas </a:t>
                      </a:r>
                      <a:r>
                        <a:rPr b="0" lang="en-US" sz="1000" spc="-1" strike="noStrike">
                          <a:solidFill>
                            <a:srgbClr val="1c2430"/>
                          </a:solidFill>
                          <a:latin typeface="Consolas"/>
                        </a:rPr>
                        <a:t>A.720</a:t>
                      </a:r>
                      <a:r>
                        <a:rPr b="0" lang="en-US" sz="1000" spc="-1" strike="noStrike">
                          <a:solidFill>
                            <a:srgbClr val="1c2430"/>
                          </a:solidFill>
                          <a:latin typeface="Segoe UI"/>
                        </a:rPr>
                        <a:t> antes de que ocurran</a:t>
                      </a:r>
                      <a:endParaRPr b="0" lang="en-US" sz="10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870"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La numeración concreta de algunos monitores varía entre series: consulta la lista del manual de tu equipo.</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1"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72"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873"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Copia de seguridad y gestión de configuraciones</a:t>
            </a:r>
            <a:endParaRPr b="0" lang="en-US" sz="2500" spc="-1" strike="noStrike">
              <a:solidFill>
                <a:srgbClr val="000000"/>
              </a:solidFill>
              <a:latin typeface="Arial"/>
            </a:endParaRPr>
          </a:p>
        </p:txBody>
      </p:sp>
      <p:sp>
        <p:nvSpPr>
          <p:cNvPr id="1874"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copia que no existe es la que siempre hace falta</a:t>
            </a:r>
            <a:endParaRPr b="0" lang="en-US" sz="1250" spc="-1" strike="noStrike">
              <a:solidFill>
                <a:srgbClr val="000000"/>
              </a:solidFill>
              <a:latin typeface="Arial"/>
            </a:endParaRPr>
          </a:p>
        </p:txBody>
      </p:sp>
      <p:sp>
        <p:nvSpPr>
          <p:cNvPr id="1875"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07</a:t>
            </a:r>
            <a:endParaRPr b="0" lang="en-US" sz="1100" spc="-1" strike="noStrike">
              <a:solidFill>
                <a:srgbClr val="000000"/>
              </a:solidFill>
              <a:latin typeface="Arial"/>
            </a:endParaRPr>
          </a:p>
        </p:txBody>
      </p:sp>
      <p:sp>
        <p:nvSpPr>
          <p:cNvPr id="1876"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877"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106</a:t>
            </a:r>
            <a:endParaRPr b="0" lang="en-US" sz="900" spc="-1" strike="noStrike">
              <a:solidFill>
                <a:srgbClr val="000000"/>
              </a:solidFill>
              <a:latin typeface="Arial"/>
            </a:endParaRPr>
          </a:p>
        </p:txBody>
      </p:sp>
      <p:sp>
        <p:nvSpPr>
          <p:cNvPr id="1878" name="Rectangle 8"/>
          <p:cNvSpPr/>
          <p:nvPr/>
        </p:nvSpPr>
        <p:spPr>
          <a:xfrm>
            <a:off x="567000" y="1481400"/>
            <a:ext cx="11057400" cy="6890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79" name="Rectangle 9"/>
          <p:cNvSpPr/>
          <p:nvPr/>
        </p:nvSpPr>
        <p:spPr>
          <a:xfrm>
            <a:off x="567000" y="1481400"/>
            <a:ext cx="658080" cy="6890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80" name="TextBox 10"/>
          <p:cNvSpPr/>
          <p:nvPr/>
        </p:nvSpPr>
        <p:spPr>
          <a:xfrm>
            <a:off x="567000" y="1676880"/>
            <a:ext cx="658080" cy="2980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950" spc="-1" strike="noStrike">
                <a:solidFill>
                  <a:srgbClr val="00a9ce"/>
                </a:solidFill>
                <a:latin typeface="Segoe UI Semibold"/>
              </a:rPr>
              <a:t>1</a:t>
            </a:r>
            <a:endParaRPr b="0" lang="en-US" sz="1950" spc="-1" strike="noStrike">
              <a:solidFill>
                <a:srgbClr val="000000"/>
              </a:solidFill>
              <a:latin typeface="Arial"/>
            </a:endParaRPr>
          </a:p>
        </p:txBody>
      </p:sp>
      <p:sp>
        <p:nvSpPr>
          <p:cNvPr id="1881" name="TextBox 11"/>
          <p:cNvSpPr/>
          <p:nvPr/>
        </p:nvSpPr>
        <p:spPr>
          <a:xfrm>
            <a:off x="1435680" y="1572840"/>
            <a:ext cx="986868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0b2545"/>
                </a:solidFill>
                <a:latin typeface="Segoe UI Semibold"/>
              </a:rPr>
              <a:t>Copia inicial en la puesta en marcha</a:t>
            </a:r>
            <a:endParaRPr b="0" lang="en-US" sz="1350" spc="-1" strike="noStrike">
              <a:solidFill>
                <a:srgbClr val="000000"/>
              </a:solidFill>
              <a:latin typeface="Arial"/>
            </a:endParaRPr>
          </a:p>
        </p:txBody>
      </p:sp>
      <p:sp>
        <p:nvSpPr>
          <p:cNvPr id="1882" name="TextBox 12"/>
          <p:cNvSpPr/>
          <p:nvPr/>
        </p:nvSpPr>
        <p:spPr>
          <a:xfrm>
            <a:off x="1435680" y="1823040"/>
            <a:ext cx="9868680" cy="1843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1150" spc="-1" strike="noStrike">
                <a:solidFill>
                  <a:srgbClr val="3a4654"/>
                </a:solidFill>
                <a:latin typeface="Segoe UI"/>
              </a:rPr>
              <a:t>Antes de tocar nada y después de terminar el ajuste. Dos ficheros: 'como llegó' y 'como quedó'.</a:t>
            </a:r>
            <a:endParaRPr b="0" lang="en-US" sz="1150" spc="-1" strike="noStrike">
              <a:solidFill>
                <a:srgbClr val="000000"/>
              </a:solidFill>
              <a:latin typeface="Arial"/>
            </a:endParaRPr>
          </a:p>
        </p:txBody>
      </p:sp>
      <p:sp>
        <p:nvSpPr>
          <p:cNvPr id="1883" name="Rectangle 13"/>
          <p:cNvSpPr/>
          <p:nvPr/>
        </p:nvSpPr>
        <p:spPr>
          <a:xfrm>
            <a:off x="567000" y="2280600"/>
            <a:ext cx="11057400" cy="6890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84" name="Rectangle 14"/>
          <p:cNvSpPr/>
          <p:nvPr/>
        </p:nvSpPr>
        <p:spPr>
          <a:xfrm>
            <a:off x="567000" y="2280600"/>
            <a:ext cx="658080" cy="6890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85" name="TextBox 15"/>
          <p:cNvSpPr/>
          <p:nvPr/>
        </p:nvSpPr>
        <p:spPr>
          <a:xfrm>
            <a:off x="567000" y="2476080"/>
            <a:ext cx="658080" cy="2980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950" spc="-1" strike="noStrike">
                <a:solidFill>
                  <a:srgbClr val="00a9ce"/>
                </a:solidFill>
                <a:latin typeface="Segoe UI Semibold"/>
              </a:rPr>
              <a:t>2</a:t>
            </a:r>
            <a:endParaRPr b="0" lang="en-US" sz="1950" spc="-1" strike="noStrike">
              <a:solidFill>
                <a:srgbClr val="000000"/>
              </a:solidFill>
              <a:latin typeface="Arial"/>
            </a:endParaRPr>
          </a:p>
        </p:txBody>
      </p:sp>
      <p:sp>
        <p:nvSpPr>
          <p:cNvPr id="1886" name="TextBox 16"/>
          <p:cNvSpPr/>
          <p:nvPr/>
        </p:nvSpPr>
        <p:spPr>
          <a:xfrm>
            <a:off x="1435680" y="2372040"/>
            <a:ext cx="986868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0b2545"/>
                </a:solidFill>
                <a:latin typeface="Segoe UI Semibold"/>
              </a:rPr>
              <a:t>Copia tras cada intervención</a:t>
            </a:r>
            <a:endParaRPr b="0" lang="en-US" sz="1350" spc="-1" strike="noStrike">
              <a:solidFill>
                <a:srgbClr val="000000"/>
              </a:solidFill>
              <a:latin typeface="Arial"/>
            </a:endParaRPr>
          </a:p>
        </p:txBody>
      </p:sp>
      <p:sp>
        <p:nvSpPr>
          <p:cNvPr id="1887" name="TextBox 17"/>
          <p:cNvSpPr/>
          <p:nvPr/>
        </p:nvSpPr>
        <p:spPr>
          <a:xfrm>
            <a:off x="1435680" y="2622240"/>
            <a:ext cx="9868680" cy="1843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1150" spc="-1" strike="noStrike">
                <a:solidFill>
                  <a:srgbClr val="3a4654"/>
                </a:solidFill>
                <a:latin typeface="Segoe UI"/>
              </a:rPr>
              <a:t>Con fecha, autor y motivo del cambio en el nombre del fichero o en un comentario del proyecto.</a:t>
            </a:r>
            <a:endParaRPr b="0" lang="en-US" sz="1150" spc="-1" strike="noStrike">
              <a:solidFill>
                <a:srgbClr val="000000"/>
              </a:solidFill>
              <a:latin typeface="Arial"/>
            </a:endParaRPr>
          </a:p>
        </p:txBody>
      </p:sp>
      <p:sp>
        <p:nvSpPr>
          <p:cNvPr id="1888" name="Rectangle 18"/>
          <p:cNvSpPr/>
          <p:nvPr/>
        </p:nvSpPr>
        <p:spPr>
          <a:xfrm>
            <a:off x="567000" y="3079800"/>
            <a:ext cx="11057400" cy="6890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89" name="Rectangle 19"/>
          <p:cNvSpPr/>
          <p:nvPr/>
        </p:nvSpPr>
        <p:spPr>
          <a:xfrm>
            <a:off x="567000" y="3079800"/>
            <a:ext cx="658080" cy="6890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90" name="TextBox 20"/>
          <p:cNvSpPr/>
          <p:nvPr/>
        </p:nvSpPr>
        <p:spPr>
          <a:xfrm>
            <a:off x="567000" y="3275280"/>
            <a:ext cx="658080" cy="2980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950" spc="-1" strike="noStrike">
                <a:solidFill>
                  <a:srgbClr val="00a9ce"/>
                </a:solidFill>
                <a:latin typeface="Segoe UI Semibold"/>
              </a:rPr>
              <a:t>3</a:t>
            </a:r>
            <a:endParaRPr b="0" lang="en-US" sz="1950" spc="-1" strike="noStrike">
              <a:solidFill>
                <a:srgbClr val="000000"/>
              </a:solidFill>
              <a:latin typeface="Arial"/>
            </a:endParaRPr>
          </a:p>
        </p:txBody>
      </p:sp>
      <p:sp>
        <p:nvSpPr>
          <p:cNvPr id="1891" name="TextBox 21"/>
          <p:cNvSpPr/>
          <p:nvPr/>
        </p:nvSpPr>
        <p:spPr>
          <a:xfrm>
            <a:off x="1435680" y="3171240"/>
            <a:ext cx="986868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0b2545"/>
                </a:solidFill>
                <a:latin typeface="Segoe UI Semibold"/>
              </a:rPr>
              <a:t>Archivo centralizado y accesible</a:t>
            </a:r>
            <a:endParaRPr b="0" lang="en-US" sz="1350" spc="-1" strike="noStrike">
              <a:solidFill>
                <a:srgbClr val="000000"/>
              </a:solidFill>
              <a:latin typeface="Arial"/>
            </a:endParaRPr>
          </a:p>
        </p:txBody>
      </p:sp>
      <p:sp>
        <p:nvSpPr>
          <p:cNvPr id="1892" name="TextBox 22"/>
          <p:cNvSpPr/>
          <p:nvPr/>
        </p:nvSpPr>
        <p:spPr>
          <a:xfrm>
            <a:off x="1435680" y="3421440"/>
            <a:ext cx="9868680" cy="1843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1150" spc="-1" strike="noStrike">
                <a:solidFill>
                  <a:srgbClr val="3a4654"/>
                </a:solidFill>
                <a:latin typeface="Segoe UI"/>
              </a:rPr>
              <a:t>En el servidor de mantenimiento, no en el portátil de una persona. Debe estar disponible a las 3 de la mañana.</a:t>
            </a:r>
            <a:endParaRPr b="0" lang="en-US" sz="1150" spc="-1" strike="noStrike">
              <a:solidFill>
                <a:srgbClr val="000000"/>
              </a:solidFill>
              <a:latin typeface="Arial"/>
            </a:endParaRPr>
          </a:p>
        </p:txBody>
      </p:sp>
      <p:sp>
        <p:nvSpPr>
          <p:cNvPr id="1893" name="Rectangle 23"/>
          <p:cNvSpPr/>
          <p:nvPr/>
        </p:nvSpPr>
        <p:spPr>
          <a:xfrm>
            <a:off x="567000" y="3879000"/>
            <a:ext cx="11057400" cy="6890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94" name="Rectangle 24"/>
          <p:cNvSpPr/>
          <p:nvPr/>
        </p:nvSpPr>
        <p:spPr>
          <a:xfrm>
            <a:off x="567000" y="3879000"/>
            <a:ext cx="658080" cy="6890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95" name="TextBox 25"/>
          <p:cNvSpPr/>
          <p:nvPr/>
        </p:nvSpPr>
        <p:spPr>
          <a:xfrm>
            <a:off x="567000" y="4074480"/>
            <a:ext cx="658080" cy="2980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950" spc="-1" strike="noStrike">
                <a:solidFill>
                  <a:srgbClr val="00a9ce"/>
                </a:solidFill>
                <a:latin typeface="Segoe UI Semibold"/>
              </a:rPr>
              <a:t>4</a:t>
            </a:r>
            <a:endParaRPr b="0" lang="en-US" sz="1950" spc="-1" strike="noStrike">
              <a:solidFill>
                <a:srgbClr val="000000"/>
              </a:solidFill>
              <a:latin typeface="Arial"/>
            </a:endParaRPr>
          </a:p>
        </p:txBody>
      </p:sp>
      <p:sp>
        <p:nvSpPr>
          <p:cNvPr id="1896" name="TextBox 26"/>
          <p:cNvSpPr/>
          <p:nvPr/>
        </p:nvSpPr>
        <p:spPr>
          <a:xfrm>
            <a:off x="1435680" y="3970440"/>
            <a:ext cx="986868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0b2545"/>
                </a:solidFill>
                <a:latin typeface="Segoe UI Semibold"/>
              </a:rPr>
              <a:t>Documento de eje en papel dentro del armario</a:t>
            </a:r>
            <a:endParaRPr b="0" lang="en-US" sz="1350" spc="-1" strike="noStrike">
              <a:solidFill>
                <a:srgbClr val="000000"/>
              </a:solidFill>
              <a:latin typeface="Arial"/>
            </a:endParaRPr>
          </a:p>
        </p:txBody>
      </p:sp>
      <p:sp>
        <p:nvSpPr>
          <p:cNvPr id="1897" name="TextBox 27"/>
          <p:cNvSpPr/>
          <p:nvPr/>
        </p:nvSpPr>
        <p:spPr>
          <a:xfrm>
            <a:off x="1435680" y="4220640"/>
            <a:ext cx="9868680" cy="1843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1150" spc="-1" strike="noStrike">
                <a:solidFill>
                  <a:srgbClr val="3a4654"/>
                </a:solidFill>
                <a:latin typeface="Segoe UI"/>
              </a:rPr>
              <a:t>Modelo de drive y motor, parámetros críticos, valor de origen y fecha de la última sintonización.</a:t>
            </a:r>
            <a:endParaRPr b="0" lang="en-US" sz="1150" spc="-1" strike="noStrike">
              <a:solidFill>
                <a:srgbClr val="000000"/>
              </a:solidFill>
              <a:latin typeface="Arial"/>
            </a:endParaRPr>
          </a:p>
        </p:txBody>
      </p:sp>
      <p:sp>
        <p:nvSpPr>
          <p:cNvPr id="1898" name="Rectangle 28"/>
          <p:cNvSpPr/>
          <p:nvPr/>
        </p:nvSpPr>
        <p:spPr>
          <a:xfrm>
            <a:off x="567000" y="4678200"/>
            <a:ext cx="11057400" cy="6890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99" name="Rectangle 29"/>
          <p:cNvSpPr/>
          <p:nvPr/>
        </p:nvSpPr>
        <p:spPr>
          <a:xfrm>
            <a:off x="567000" y="4678200"/>
            <a:ext cx="658080" cy="6890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00" name="TextBox 30"/>
          <p:cNvSpPr/>
          <p:nvPr/>
        </p:nvSpPr>
        <p:spPr>
          <a:xfrm>
            <a:off x="567000" y="4873680"/>
            <a:ext cx="658080" cy="2980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950" spc="-1" strike="noStrike">
                <a:solidFill>
                  <a:srgbClr val="00a9ce"/>
                </a:solidFill>
                <a:latin typeface="Segoe UI Semibold"/>
              </a:rPr>
              <a:t>5</a:t>
            </a:r>
            <a:endParaRPr b="0" lang="en-US" sz="1950" spc="-1" strike="noStrike">
              <a:solidFill>
                <a:srgbClr val="000000"/>
              </a:solidFill>
              <a:latin typeface="Arial"/>
            </a:endParaRPr>
          </a:p>
        </p:txBody>
      </p:sp>
      <p:sp>
        <p:nvSpPr>
          <p:cNvPr id="1901" name="TextBox 31"/>
          <p:cNvSpPr/>
          <p:nvPr/>
        </p:nvSpPr>
        <p:spPr>
          <a:xfrm>
            <a:off x="1435680" y="4769640"/>
            <a:ext cx="986868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0b2545"/>
                </a:solidFill>
                <a:latin typeface="Segoe UI Semibold"/>
              </a:rPr>
              <a:t>Procedimiento de sustitución probado</a:t>
            </a:r>
            <a:endParaRPr b="0" lang="en-US" sz="1350" spc="-1" strike="noStrike">
              <a:solidFill>
                <a:srgbClr val="000000"/>
              </a:solidFill>
              <a:latin typeface="Arial"/>
            </a:endParaRPr>
          </a:p>
        </p:txBody>
      </p:sp>
      <p:sp>
        <p:nvSpPr>
          <p:cNvPr id="1902" name="TextBox 32"/>
          <p:cNvSpPr/>
          <p:nvPr/>
        </p:nvSpPr>
        <p:spPr>
          <a:xfrm>
            <a:off x="1435680" y="5019840"/>
            <a:ext cx="9868680" cy="1843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1150" spc="-1" strike="noStrike">
                <a:solidFill>
                  <a:srgbClr val="3a4654"/>
                </a:solidFill>
                <a:latin typeface="Segoe UI"/>
              </a:rPr>
              <a:t>Cargar parámetros en el drive nuevo, ejecutar </a:t>
            </a:r>
            <a:r>
              <a:rPr b="0" lang="en-US" sz="1150" spc="-1" strike="noStrike">
                <a:solidFill>
                  <a:srgbClr val="3a4654"/>
                </a:solidFill>
                <a:latin typeface="Consolas"/>
              </a:rPr>
              <a:t>Fn008</a:t>
            </a:r>
            <a:r>
              <a:rPr b="0" lang="en-US" sz="1150" spc="-1" strike="noStrike">
                <a:solidFill>
                  <a:srgbClr val="3a4654"/>
                </a:solidFill>
                <a:latin typeface="Segoe UI"/>
              </a:rPr>
              <a:t> si el encoder es absoluto, rehacer origen y verificar el ciclo.</a:t>
            </a:r>
            <a:endParaRPr b="0" lang="en-US" sz="1150" spc="-1" strike="noStrike">
              <a:solidFill>
                <a:srgbClr val="000000"/>
              </a:solidFill>
              <a:latin typeface="Arial"/>
            </a:endParaRPr>
          </a:p>
        </p:txBody>
      </p:sp>
      <p:sp>
        <p:nvSpPr>
          <p:cNvPr id="1903" name="Rectangle 33"/>
          <p:cNvSpPr/>
          <p:nvPr/>
        </p:nvSpPr>
        <p:spPr>
          <a:xfrm>
            <a:off x="567000" y="5504760"/>
            <a:ext cx="11057400" cy="82260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04" name="Rectangle 34"/>
          <p:cNvSpPr/>
          <p:nvPr/>
        </p:nvSpPr>
        <p:spPr>
          <a:xfrm>
            <a:off x="567000" y="5504760"/>
            <a:ext cx="68400" cy="82260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05" name="TextBox 35"/>
          <p:cNvSpPr/>
          <p:nvPr/>
        </p:nvSpPr>
        <p:spPr>
          <a:xfrm>
            <a:off x="841320" y="564192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Detalle que se olvida siempre</a:t>
            </a:r>
            <a:endParaRPr b="0" lang="en-US" sz="1200" spc="-1" strike="noStrike">
              <a:solidFill>
                <a:srgbClr val="000000"/>
              </a:solidFill>
              <a:latin typeface="Arial"/>
            </a:endParaRPr>
          </a:p>
        </p:txBody>
      </p:sp>
      <p:sp>
        <p:nvSpPr>
          <p:cNvPr id="1906" name="TextBox 36"/>
          <p:cNvSpPr/>
          <p:nvPr/>
        </p:nvSpPr>
        <p:spPr>
          <a:xfrm>
            <a:off x="841320" y="591624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El fichero de parámetros </a:t>
            </a:r>
            <a:r>
              <a:rPr b="1" lang="en-US" sz="1150" spc="-1" strike="noStrike">
                <a:solidFill>
                  <a:srgbClr val="2b3644"/>
                </a:solidFill>
                <a:latin typeface="Segoe UI"/>
              </a:rPr>
              <a:t>no</a:t>
            </a:r>
            <a:r>
              <a:rPr b="0" lang="en-US" sz="1150" spc="-1" strike="noStrike">
                <a:solidFill>
                  <a:srgbClr val="2b3644"/>
                </a:solidFill>
                <a:latin typeface="Segoe UI"/>
              </a:rPr>
              <a:t> contiene el origen de la máquina ni la posición absoluta del encoder. Tras sustituir un drive o un motor, hay que rehacer el origen aunque los parámetros sean idénticos.</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7" name="Rectangle 1"/>
          <p:cNvSpPr/>
          <p:nvPr/>
        </p:nvSpPr>
        <p:spPr>
          <a:xfrm>
            <a:off x="0" y="0"/>
            <a:ext cx="12191400" cy="68576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08" name="Rectangle 2"/>
          <p:cNvSpPr/>
          <p:nvPr/>
        </p:nvSpPr>
        <p:spPr>
          <a:xfrm>
            <a:off x="0" y="0"/>
            <a:ext cx="383760" cy="6857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09" name="TextBox 3"/>
          <p:cNvSpPr/>
          <p:nvPr/>
        </p:nvSpPr>
        <p:spPr>
          <a:xfrm>
            <a:off x="1051560" y="1234440"/>
            <a:ext cx="5486040" cy="8841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5800" spc="-1" strike="noStrike">
                <a:solidFill>
                  <a:srgbClr val="143a63"/>
                </a:solidFill>
                <a:latin typeface="Segoe UI Semibold"/>
              </a:rPr>
              <a:t>MÓDULO 08</a:t>
            </a:r>
            <a:endParaRPr b="0" lang="en-US" sz="5800" spc="-1" strike="noStrike">
              <a:solidFill>
                <a:srgbClr val="000000"/>
              </a:solidFill>
              <a:latin typeface="Arial"/>
            </a:endParaRPr>
          </a:p>
        </p:txBody>
      </p:sp>
      <p:sp>
        <p:nvSpPr>
          <p:cNvPr id="1910" name="TextBox 4"/>
          <p:cNvSpPr/>
          <p:nvPr/>
        </p:nvSpPr>
        <p:spPr>
          <a:xfrm>
            <a:off x="1051560" y="2331720"/>
            <a:ext cx="9875160" cy="54396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1" lang="en-US" sz="3400" spc="-1" strike="noStrike">
                <a:solidFill>
                  <a:srgbClr val="ffffff"/>
                </a:solidFill>
                <a:latin typeface="Segoe UI Semibold"/>
              </a:rPr>
              <a:t>Puesta en marcha paso a paso</a:t>
            </a:r>
            <a:endParaRPr b="0" lang="en-US" sz="3400" spc="-1" strike="noStrike">
              <a:solidFill>
                <a:srgbClr val="000000"/>
              </a:solidFill>
              <a:latin typeface="Arial"/>
            </a:endParaRPr>
          </a:p>
        </p:txBody>
      </p:sp>
      <p:sp>
        <p:nvSpPr>
          <p:cNvPr id="1911" name="Rectangle 5"/>
          <p:cNvSpPr/>
          <p:nvPr/>
        </p:nvSpPr>
        <p:spPr>
          <a:xfrm>
            <a:off x="1051560" y="3703320"/>
            <a:ext cx="1279800" cy="453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1912" name="Rectangle 6"/>
          <p:cNvSpPr/>
          <p:nvPr/>
        </p:nvSpPr>
        <p:spPr>
          <a:xfrm>
            <a:off x="1051560" y="41468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13" name="TextBox 7"/>
          <p:cNvSpPr/>
          <p:nvPr/>
        </p:nvSpPr>
        <p:spPr>
          <a:xfrm>
            <a:off x="1325880" y="40690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La filosofía: avanzar por fases, sin saltarse ninguna</a:t>
            </a:r>
            <a:endParaRPr b="0" lang="en-US" sz="1350" spc="-1" strike="noStrike">
              <a:solidFill>
                <a:srgbClr val="000000"/>
              </a:solidFill>
              <a:latin typeface="Arial"/>
            </a:endParaRPr>
          </a:p>
        </p:txBody>
      </p:sp>
      <p:sp>
        <p:nvSpPr>
          <p:cNvPr id="1914" name="Rectangle 8"/>
          <p:cNvSpPr/>
          <p:nvPr/>
        </p:nvSpPr>
        <p:spPr>
          <a:xfrm>
            <a:off x="1051560" y="451260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15" name="TextBox 9"/>
          <p:cNvSpPr/>
          <p:nvPr/>
        </p:nvSpPr>
        <p:spPr>
          <a:xfrm>
            <a:off x="1325880" y="443484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Primer energizado y verificación del amplificador</a:t>
            </a:r>
            <a:endParaRPr b="0" lang="en-US" sz="1350" spc="-1" strike="noStrike">
              <a:solidFill>
                <a:srgbClr val="000000"/>
              </a:solidFill>
              <a:latin typeface="Arial"/>
            </a:endParaRPr>
          </a:p>
        </p:txBody>
      </p:sp>
      <p:sp>
        <p:nvSpPr>
          <p:cNvPr id="1916" name="Rectangle 10"/>
          <p:cNvSpPr/>
          <p:nvPr/>
        </p:nvSpPr>
        <p:spPr>
          <a:xfrm>
            <a:off x="1051560" y="487836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17" name="TextBox 11"/>
          <p:cNvSpPr/>
          <p:nvPr/>
        </p:nvSpPr>
        <p:spPr>
          <a:xfrm>
            <a:off x="1325880" y="480060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Prueba de JOG sin carga: el momento de la verdad</a:t>
            </a:r>
            <a:endParaRPr b="0" lang="en-US" sz="1350" spc="-1" strike="noStrike">
              <a:solidFill>
                <a:srgbClr val="000000"/>
              </a:solidFill>
              <a:latin typeface="Arial"/>
            </a:endParaRPr>
          </a:p>
        </p:txBody>
      </p:sp>
      <p:sp>
        <p:nvSpPr>
          <p:cNvPr id="1918" name="Rectangle 12"/>
          <p:cNvSpPr/>
          <p:nvPr/>
        </p:nvSpPr>
        <p:spPr>
          <a:xfrm>
            <a:off x="1051560" y="524412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19" name="TextBox 13"/>
          <p:cNvSpPr/>
          <p:nvPr/>
        </p:nvSpPr>
        <p:spPr>
          <a:xfrm>
            <a:off x="1325880" y="516636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Sentido de giro, límites y señales de estado</a:t>
            </a:r>
            <a:endParaRPr b="0" lang="en-US" sz="1350" spc="-1" strike="noStrike">
              <a:solidFill>
                <a:srgbClr val="000000"/>
              </a:solidFill>
              <a:latin typeface="Arial"/>
            </a:endParaRPr>
          </a:p>
        </p:txBody>
      </p:sp>
      <p:sp>
        <p:nvSpPr>
          <p:cNvPr id="1920" name="Rectangle 14"/>
          <p:cNvSpPr/>
          <p:nvPr/>
        </p:nvSpPr>
        <p:spPr>
          <a:xfrm>
            <a:off x="1051560" y="560988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21" name="TextBox 15"/>
          <p:cNvSpPr/>
          <p:nvPr/>
        </p:nvSpPr>
        <p:spPr>
          <a:xfrm>
            <a:off x="1325880" y="553212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Encoder absoluto y establecimiento del origen</a:t>
            </a:r>
            <a:endParaRPr b="0" lang="en-US" sz="1350" spc="-1" strike="noStrike">
              <a:solidFill>
                <a:srgbClr val="000000"/>
              </a:solidFill>
              <a:latin typeface="Arial"/>
            </a:endParaRPr>
          </a:p>
        </p:txBody>
      </p:sp>
      <p:sp>
        <p:nvSpPr>
          <p:cNvPr id="1922" name="Rectangle 16"/>
          <p:cNvSpPr/>
          <p:nvPr/>
        </p:nvSpPr>
        <p:spPr>
          <a:xfrm>
            <a:off x="1051560" y="59756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23" name="TextBox 17"/>
          <p:cNvSpPr/>
          <p:nvPr/>
        </p:nvSpPr>
        <p:spPr>
          <a:xfrm>
            <a:off x="1325880" y="58978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Acoplar la carga, probar el ciclo y documentar</a:t>
            </a:r>
            <a:endParaRPr b="0" lang="en-US" sz="1350" spc="-1" strike="noStrike">
              <a:solidFill>
                <a:srgbClr val="000000"/>
              </a:solidFill>
              <a:latin typeface="Arial"/>
            </a:endParaRPr>
          </a:p>
        </p:txBody>
      </p:sp>
      <p:sp>
        <p:nvSpPr>
          <p:cNvPr id="1924" name="TextBox 18"/>
          <p:cNvSpPr/>
          <p:nvPr/>
        </p:nvSpPr>
        <p:spPr>
          <a:xfrm>
            <a:off x="1051560" y="6172200"/>
            <a:ext cx="73148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e89b1f"/>
                </a:solidFill>
                <a:latin typeface="Segoe UI"/>
              </a:rPr>
              <a:t>Duración orientativa: 5 h (con equipo)</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2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2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927"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El método: seis fases, sin saltos</a:t>
            </a:r>
            <a:endParaRPr b="0" lang="en-US" sz="2500" spc="-1" strike="noStrike">
              <a:solidFill>
                <a:srgbClr val="000000"/>
              </a:solidFill>
              <a:latin typeface="Arial"/>
            </a:endParaRPr>
          </a:p>
        </p:txBody>
      </p:sp>
      <p:sp>
        <p:nvSpPr>
          <p:cNvPr id="192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Cada fase se supera antes de empezar la siguiente</a:t>
            </a:r>
            <a:endParaRPr b="0" lang="en-US" sz="1250" spc="-1" strike="noStrike">
              <a:solidFill>
                <a:srgbClr val="000000"/>
              </a:solidFill>
              <a:latin typeface="Arial"/>
            </a:endParaRPr>
          </a:p>
        </p:txBody>
      </p:sp>
      <p:sp>
        <p:nvSpPr>
          <p:cNvPr id="192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08</a:t>
            </a:r>
            <a:endParaRPr b="0" lang="en-US" sz="1100" spc="-1" strike="noStrike">
              <a:solidFill>
                <a:srgbClr val="000000"/>
              </a:solidFill>
              <a:latin typeface="Arial"/>
            </a:endParaRPr>
          </a:p>
        </p:txBody>
      </p:sp>
      <p:sp>
        <p:nvSpPr>
          <p:cNvPr id="193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93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108</a:t>
            </a:r>
            <a:endParaRPr b="0" lang="en-US" sz="900" spc="-1" strike="noStrike">
              <a:solidFill>
                <a:srgbClr val="000000"/>
              </a:solidFill>
              <a:latin typeface="Arial"/>
            </a:endParaRPr>
          </a:p>
        </p:txBody>
      </p:sp>
      <p:sp>
        <p:nvSpPr>
          <p:cNvPr id="1932" name="Rectangle 8"/>
          <p:cNvSpPr/>
          <p:nvPr/>
        </p:nvSpPr>
        <p:spPr>
          <a:xfrm>
            <a:off x="567000" y="2057400"/>
            <a:ext cx="1691280" cy="1919880"/>
          </a:xfrm>
          <a:prstGeom prst="rect">
            <a:avLst/>
          </a:prstGeom>
          <a:solidFill>
            <a:srgbClr val="f2f5f8"/>
          </a:solidFill>
          <a:ln w="19050">
            <a:solidFill>
              <a:srgbClr val="5a6b7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33" name="Rectangle 9"/>
          <p:cNvSpPr/>
          <p:nvPr/>
        </p:nvSpPr>
        <p:spPr>
          <a:xfrm>
            <a:off x="567000" y="2057400"/>
            <a:ext cx="1691280" cy="475200"/>
          </a:xfrm>
          <a:prstGeom prst="rect">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34" name="TextBox 10"/>
          <p:cNvSpPr/>
          <p:nvPr/>
        </p:nvSpPr>
        <p:spPr>
          <a:xfrm>
            <a:off x="567000" y="2167200"/>
            <a:ext cx="1691280" cy="1681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100" spc="-1" strike="noStrike">
                <a:solidFill>
                  <a:srgbClr val="ffffff"/>
                </a:solidFill>
                <a:latin typeface="Segoe UI"/>
              </a:rPr>
              <a:t>FASE 0</a:t>
            </a:r>
            <a:endParaRPr b="0" lang="en-US" sz="1100" spc="-1" strike="noStrike">
              <a:solidFill>
                <a:srgbClr val="000000"/>
              </a:solidFill>
              <a:latin typeface="Arial"/>
            </a:endParaRPr>
          </a:p>
        </p:txBody>
      </p:sp>
      <p:sp>
        <p:nvSpPr>
          <p:cNvPr id="1935" name="TextBox 11"/>
          <p:cNvSpPr/>
          <p:nvPr/>
        </p:nvSpPr>
        <p:spPr>
          <a:xfrm>
            <a:off x="658440" y="2715840"/>
            <a:ext cx="1508400" cy="1832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200" spc="-1" strike="noStrike">
                <a:solidFill>
                  <a:srgbClr val="5a6b7b"/>
                </a:solidFill>
                <a:latin typeface="Segoe UI"/>
              </a:rPr>
              <a:t>VERIFICAR</a:t>
            </a:r>
            <a:endParaRPr b="0" lang="en-US" sz="1200" spc="-1" strike="noStrike">
              <a:solidFill>
                <a:srgbClr val="000000"/>
              </a:solidFill>
              <a:latin typeface="Arial"/>
            </a:endParaRPr>
          </a:p>
        </p:txBody>
      </p:sp>
      <p:sp>
        <p:nvSpPr>
          <p:cNvPr id="1936" name="TextBox 12"/>
          <p:cNvSpPr/>
          <p:nvPr/>
        </p:nvSpPr>
        <p:spPr>
          <a:xfrm>
            <a:off x="658440" y="3136320"/>
            <a:ext cx="1508400" cy="335880"/>
          </a:xfrm>
          <a:prstGeom prst="rect">
            <a:avLst/>
          </a:prstGeom>
          <a:noFill/>
          <a:ln w="0">
            <a:noFill/>
          </a:ln>
        </p:spPr>
        <p:style>
          <a:lnRef idx="0"/>
          <a:fillRef idx="0"/>
          <a:effectRef idx="0"/>
          <a:fontRef idx="minor"/>
        </p:style>
        <p:txBody>
          <a:bodyPr lIns="0" rIns="0" tIns="0" bIns="0" anchor="t">
            <a:spAutoFit/>
          </a:bodyPr>
          <a:p>
            <a:pPr algn="ctr" defTabSz="457200">
              <a:lnSpc>
                <a:spcPct val="110000"/>
              </a:lnSpc>
            </a:pPr>
            <a:r>
              <a:rPr b="0" lang="en-US" sz="1000" spc="-1" strike="noStrike">
                <a:solidFill>
                  <a:srgbClr val="5a6b7b"/>
                </a:solidFill>
                <a:latin typeface="Segoe UI"/>
              </a:rPr>
              <a:t>Lista de comprobación</a:t>
            </a:r>
            <a:endParaRPr b="0" lang="en-US" sz="1000" spc="-1" strike="noStrike">
              <a:solidFill>
                <a:srgbClr val="000000"/>
              </a:solidFill>
              <a:latin typeface="Arial"/>
            </a:endParaRPr>
          </a:p>
          <a:p>
            <a:pPr algn="ctr" defTabSz="457200">
              <a:lnSpc>
                <a:spcPct val="110000"/>
              </a:lnSpc>
            </a:pPr>
            <a:r>
              <a:rPr b="0" lang="en-US" sz="1000" spc="-1" strike="noStrike">
                <a:solidFill>
                  <a:srgbClr val="5a6b7b"/>
                </a:solidFill>
                <a:latin typeface="Segoe UI"/>
              </a:rPr>
              <a:t>de instalación</a:t>
            </a:r>
            <a:endParaRPr b="0" lang="en-US" sz="1000" spc="-1" strike="noStrike">
              <a:solidFill>
                <a:srgbClr val="000000"/>
              </a:solidFill>
              <a:latin typeface="Arial"/>
            </a:endParaRPr>
          </a:p>
        </p:txBody>
      </p:sp>
      <p:sp>
        <p:nvSpPr>
          <p:cNvPr id="1937" name="Right Arrow 13"/>
          <p:cNvSpPr/>
          <p:nvPr/>
        </p:nvSpPr>
        <p:spPr>
          <a:xfrm>
            <a:off x="2277000" y="2944440"/>
            <a:ext cx="136800" cy="145800"/>
          </a:xfrm>
          <a:prstGeom prst="rightArrow">
            <a:avLst>
              <a:gd name="adj1" fmla="val 50000"/>
              <a:gd name="adj2" fmla="val 50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938" name="Rectangle 14"/>
          <p:cNvSpPr/>
          <p:nvPr/>
        </p:nvSpPr>
        <p:spPr>
          <a:xfrm>
            <a:off x="2432160" y="2057400"/>
            <a:ext cx="1691280" cy="1919880"/>
          </a:xfrm>
          <a:prstGeom prst="rect">
            <a:avLst/>
          </a:prstGeom>
          <a:solidFill>
            <a:srgbClr val="f2f5f8"/>
          </a:solidFill>
          <a:ln w="19050">
            <a:solidFill>
              <a:srgbClr val="0b254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39" name="Rectangle 15"/>
          <p:cNvSpPr/>
          <p:nvPr/>
        </p:nvSpPr>
        <p:spPr>
          <a:xfrm>
            <a:off x="2432160" y="2057400"/>
            <a:ext cx="1691280" cy="4752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40" name="TextBox 16"/>
          <p:cNvSpPr/>
          <p:nvPr/>
        </p:nvSpPr>
        <p:spPr>
          <a:xfrm>
            <a:off x="2432160" y="2167200"/>
            <a:ext cx="1691280" cy="1681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100" spc="-1" strike="noStrike">
                <a:solidFill>
                  <a:srgbClr val="ffffff"/>
                </a:solidFill>
                <a:latin typeface="Segoe UI"/>
              </a:rPr>
              <a:t>FASE 1</a:t>
            </a:r>
            <a:endParaRPr b="0" lang="en-US" sz="1100" spc="-1" strike="noStrike">
              <a:solidFill>
                <a:srgbClr val="000000"/>
              </a:solidFill>
              <a:latin typeface="Arial"/>
            </a:endParaRPr>
          </a:p>
        </p:txBody>
      </p:sp>
      <p:sp>
        <p:nvSpPr>
          <p:cNvPr id="1941" name="TextBox 17"/>
          <p:cNvSpPr/>
          <p:nvPr/>
        </p:nvSpPr>
        <p:spPr>
          <a:xfrm>
            <a:off x="2523600" y="2715840"/>
            <a:ext cx="1508400" cy="1832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200" spc="-1" strike="noStrike">
                <a:solidFill>
                  <a:srgbClr val="0b2545"/>
                </a:solidFill>
                <a:latin typeface="Segoe UI"/>
              </a:rPr>
              <a:t>ENERGIZAR</a:t>
            </a:r>
            <a:endParaRPr b="0" lang="en-US" sz="1200" spc="-1" strike="noStrike">
              <a:solidFill>
                <a:srgbClr val="000000"/>
              </a:solidFill>
              <a:latin typeface="Arial"/>
            </a:endParaRPr>
          </a:p>
        </p:txBody>
      </p:sp>
      <p:sp>
        <p:nvSpPr>
          <p:cNvPr id="1942" name="TextBox 18"/>
          <p:cNvSpPr/>
          <p:nvPr/>
        </p:nvSpPr>
        <p:spPr>
          <a:xfrm>
            <a:off x="2523600" y="3136320"/>
            <a:ext cx="1508400" cy="335880"/>
          </a:xfrm>
          <a:prstGeom prst="rect">
            <a:avLst/>
          </a:prstGeom>
          <a:noFill/>
          <a:ln w="0">
            <a:noFill/>
          </a:ln>
        </p:spPr>
        <p:style>
          <a:lnRef idx="0"/>
          <a:fillRef idx="0"/>
          <a:effectRef idx="0"/>
          <a:fontRef idx="minor"/>
        </p:style>
        <p:txBody>
          <a:bodyPr lIns="0" rIns="0" tIns="0" bIns="0" anchor="t">
            <a:spAutoFit/>
          </a:bodyPr>
          <a:p>
            <a:pPr algn="ctr" defTabSz="457200">
              <a:lnSpc>
                <a:spcPct val="110000"/>
              </a:lnSpc>
            </a:pPr>
            <a:r>
              <a:rPr b="0" lang="en-US" sz="1000" spc="-1" strike="noStrike">
                <a:solidFill>
                  <a:srgbClr val="5a6b7b"/>
                </a:solidFill>
                <a:latin typeface="Segoe UI"/>
              </a:rPr>
              <a:t>Control, potencia</a:t>
            </a:r>
            <a:endParaRPr b="0" lang="en-US" sz="1000" spc="-1" strike="noStrike">
              <a:solidFill>
                <a:srgbClr val="000000"/>
              </a:solidFill>
              <a:latin typeface="Arial"/>
            </a:endParaRPr>
          </a:p>
          <a:p>
            <a:pPr algn="ctr" defTabSz="457200">
              <a:lnSpc>
                <a:spcPct val="110000"/>
              </a:lnSpc>
            </a:pPr>
            <a:r>
              <a:rPr b="0" lang="en-US" sz="1000" spc="-1" strike="noStrike">
                <a:solidFill>
                  <a:srgbClr val="5a6b7b"/>
                </a:solidFill>
                <a:latin typeface="Segoe UI"/>
              </a:rPr>
              <a:t>y estado del drive</a:t>
            </a:r>
            <a:endParaRPr b="0" lang="en-US" sz="1000" spc="-1" strike="noStrike">
              <a:solidFill>
                <a:srgbClr val="000000"/>
              </a:solidFill>
              <a:latin typeface="Arial"/>
            </a:endParaRPr>
          </a:p>
        </p:txBody>
      </p:sp>
      <p:sp>
        <p:nvSpPr>
          <p:cNvPr id="1943" name="Right Arrow 19"/>
          <p:cNvSpPr/>
          <p:nvPr/>
        </p:nvSpPr>
        <p:spPr>
          <a:xfrm>
            <a:off x="4142160" y="2944440"/>
            <a:ext cx="136800" cy="145800"/>
          </a:xfrm>
          <a:prstGeom prst="rightArrow">
            <a:avLst>
              <a:gd name="adj1" fmla="val 50000"/>
              <a:gd name="adj2" fmla="val 50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944" name="Rectangle 20"/>
          <p:cNvSpPr/>
          <p:nvPr/>
        </p:nvSpPr>
        <p:spPr>
          <a:xfrm>
            <a:off x="4297680" y="2057400"/>
            <a:ext cx="1691280" cy="1919880"/>
          </a:xfrm>
          <a:prstGeom prst="rect">
            <a:avLst/>
          </a:prstGeom>
          <a:solidFill>
            <a:srgbClr val="f2f5f8"/>
          </a:solidFill>
          <a:ln w="19050">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45" name="Rectangle 21"/>
          <p:cNvSpPr/>
          <p:nvPr/>
        </p:nvSpPr>
        <p:spPr>
          <a:xfrm>
            <a:off x="4297680" y="2057400"/>
            <a:ext cx="1691280" cy="47520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46" name="TextBox 22"/>
          <p:cNvSpPr/>
          <p:nvPr/>
        </p:nvSpPr>
        <p:spPr>
          <a:xfrm>
            <a:off x="4297680" y="2167200"/>
            <a:ext cx="1691280" cy="1681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100" spc="-1" strike="noStrike">
                <a:solidFill>
                  <a:srgbClr val="ffffff"/>
                </a:solidFill>
                <a:latin typeface="Segoe UI"/>
              </a:rPr>
              <a:t>FASE 2</a:t>
            </a:r>
            <a:endParaRPr b="0" lang="en-US" sz="1100" spc="-1" strike="noStrike">
              <a:solidFill>
                <a:srgbClr val="000000"/>
              </a:solidFill>
              <a:latin typeface="Arial"/>
            </a:endParaRPr>
          </a:p>
        </p:txBody>
      </p:sp>
      <p:sp>
        <p:nvSpPr>
          <p:cNvPr id="1947" name="TextBox 23"/>
          <p:cNvSpPr/>
          <p:nvPr/>
        </p:nvSpPr>
        <p:spPr>
          <a:xfrm>
            <a:off x="4389120" y="2715840"/>
            <a:ext cx="1508400" cy="1832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200" spc="-1" strike="noStrike">
                <a:solidFill>
                  <a:srgbClr val="1b5ea8"/>
                </a:solidFill>
                <a:latin typeface="Segoe UI"/>
              </a:rPr>
              <a:t>JOG SIN CARGA</a:t>
            </a:r>
            <a:endParaRPr b="0" lang="en-US" sz="1200" spc="-1" strike="noStrike">
              <a:solidFill>
                <a:srgbClr val="000000"/>
              </a:solidFill>
              <a:latin typeface="Arial"/>
            </a:endParaRPr>
          </a:p>
        </p:txBody>
      </p:sp>
      <p:sp>
        <p:nvSpPr>
          <p:cNvPr id="1948" name="TextBox 24"/>
          <p:cNvSpPr/>
          <p:nvPr/>
        </p:nvSpPr>
        <p:spPr>
          <a:xfrm>
            <a:off x="4389120" y="3136320"/>
            <a:ext cx="1508400" cy="335880"/>
          </a:xfrm>
          <a:prstGeom prst="rect">
            <a:avLst/>
          </a:prstGeom>
          <a:noFill/>
          <a:ln w="0">
            <a:noFill/>
          </a:ln>
        </p:spPr>
        <p:style>
          <a:lnRef idx="0"/>
          <a:fillRef idx="0"/>
          <a:effectRef idx="0"/>
          <a:fontRef idx="minor"/>
        </p:style>
        <p:txBody>
          <a:bodyPr lIns="0" rIns="0" tIns="0" bIns="0" anchor="t">
            <a:spAutoFit/>
          </a:bodyPr>
          <a:p>
            <a:pPr algn="ctr" defTabSz="457200">
              <a:lnSpc>
                <a:spcPct val="110000"/>
              </a:lnSpc>
            </a:pPr>
            <a:r>
              <a:rPr b="0" lang="en-US" sz="1000" spc="-1" strike="noStrike">
                <a:solidFill>
                  <a:srgbClr val="5a6b7b"/>
                </a:solidFill>
                <a:latin typeface="Segoe UI"/>
              </a:rPr>
              <a:t>El motor gira</a:t>
            </a:r>
            <a:endParaRPr b="0" lang="en-US" sz="1000" spc="-1" strike="noStrike">
              <a:solidFill>
                <a:srgbClr val="000000"/>
              </a:solidFill>
              <a:latin typeface="Arial"/>
            </a:endParaRPr>
          </a:p>
          <a:p>
            <a:pPr algn="ctr" defTabSz="457200">
              <a:lnSpc>
                <a:spcPct val="110000"/>
              </a:lnSpc>
            </a:pPr>
            <a:r>
              <a:rPr b="0" lang="en-US" sz="1000" spc="-1" strike="noStrike">
                <a:solidFill>
                  <a:srgbClr val="5a6b7b"/>
                </a:solidFill>
                <a:latin typeface="Segoe UI"/>
              </a:rPr>
              <a:t>suave y silencioso</a:t>
            </a:r>
            <a:endParaRPr b="0" lang="en-US" sz="1000" spc="-1" strike="noStrike">
              <a:solidFill>
                <a:srgbClr val="000000"/>
              </a:solidFill>
              <a:latin typeface="Arial"/>
            </a:endParaRPr>
          </a:p>
        </p:txBody>
      </p:sp>
      <p:sp>
        <p:nvSpPr>
          <p:cNvPr id="1949" name="Right Arrow 25"/>
          <p:cNvSpPr/>
          <p:nvPr/>
        </p:nvSpPr>
        <p:spPr>
          <a:xfrm>
            <a:off x="6007680" y="2944440"/>
            <a:ext cx="136800" cy="145800"/>
          </a:xfrm>
          <a:prstGeom prst="rightArrow">
            <a:avLst>
              <a:gd name="adj1" fmla="val 50000"/>
              <a:gd name="adj2" fmla="val 50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950" name="Rectangle 26"/>
          <p:cNvSpPr/>
          <p:nvPr/>
        </p:nvSpPr>
        <p:spPr>
          <a:xfrm>
            <a:off x="6163200" y="2057400"/>
            <a:ext cx="1691280" cy="1919880"/>
          </a:xfrm>
          <a:prstGeom prst="rect">
            <a:avLst/>
          </a:prstGeom>
          <a:solidFill>
            <a:srgbClr val="f2f5f8"/>
          </a:solidFill>
          <a:ln w="19050">
            <a:solidFill>
              <a:srgbClr val="00a9ce"/>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51" name="Rectangle 27"/>
          <p:cNvSpPr/>
          <p:nvPr/>
        </p:nvSpPr>
        <p:spPr>
          <a:xfrm>
            <a:off x="6163200" y="2057400"/>
            <a:ext cx="1691280" cy="47520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52" name="TextBox 28"/>
          <p:cNvSpPr/>
          <p:nvPr/>
        </p:nvSpPr>
        <p:spPr>
          <a:xfrm>
            <a:off x="6163200" y="2167200"/>
            <a:ext cx="1691280" cy="1681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100" spc="-1" strike="noStrike">
                <a:solidFill>
                  <a:srgbClr val="ffffff"/>
                </a:solidFill>
                <a:latin typeface="Segoe UI"/>
              </a:rPr>
              <a:t>FASE 3</a:t>
            </a:r>
            <a:endParaRPr b="0" lang="en-US" sz="1100" spc="-1" strike="noStrike">
              <a:solidFill>
                <a:srgbClr val="000000"/>
              </a:solidFill>
              <a:latin typeface="Arial"/>
            </a:endParaRPr>
          </a:p>
        </p:txBody>
      </p:sp>
      <p:sp>
        <p:nvSpPr>
          <p:cNvPr id="1953" name="TextBox 29"/>
          <p:cNvSpPr/>
          <p:nvPr/>
        </p:nvSpPr>
        <p:spPr>
          <a:xfrm>
            <a:off x="6254640" y="2715840"/>
            <a:ext cx="1508400" cy="1832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200" spc="-1" strike="noStrike">
                <a:solidFill>
                  <a:srgbClr val="00a9ce"/>
                </a:solidFill>
                <a:latin typeface="Segoe UI"/>
              </a:rPr>
              <a:t>CONFIGURAR</a:t>
            </a:r>
            <a:endParaRPr b="0" lang="en-US" sz="1200" spc="-1" strike="noStrike">
              <a:solidFill>
                <a:srgbClr val="000000"/>
              </a:solidFill>
              <a:latin typeface="Arial"/>
            </a:endParaRPr>
          </a:p>
        </p:txBody>
      </p:sp>
      <p:sp>
        <p:nvSpPr>
          <p:cNvPr id="1954" name="TextBox 30"/>
          <p:cNvSpPr/>
          <p:nvPr/>
        </p:nvSpPr>
        <p:spPr>
          <a:xfrm>
            <a:off x="6254640" y="3136320"/>
            <a:ext cx="1508400" cy="335880"/>
          </a:xfrm>
          <a:prstGeom prst="rect">
            <a:avLst/>
          </a:prstGeom>
          <a:noFill/>
          <a:ln w="0">
            <a:noFill/>
          </a:ln>
        </p:spPr>
        <p:style>
          <a:lnRef idx="0"/>
          <a:fillRef idx="0"/>
          <a:effectRef idx="0"/>
          <a:fontRef idx="minor"/>
        </p:style>
        <p:txBody>
          <a:bodyPr lIns="0" rIns="0" tIns="0" bIns="0" anchor="t">
            <a:spAutoFit/>
          </a:bodyPr>
          <a:p>
            <a:pPr algn="ctr" defTabSz="457200">
              <a:lnSpc>
                <a:spcPct val="110000"/>
              </a:lnSpc>
            </a:pPr>
            <a:r>
              <a:rPr b="0" lang="en-US" sz="1000" spc="-1" strike="noStrike">
                <a:solidFill>
                  <a:srgbClr val="5a6b7b"/>
                </a:solidFill>
                <a:latin typeface="Segoe UI"/>
              </a:rPr>
              <a:t>Modo, engranaje,</a:t>
            </a:r>
            <a:endParaRPr b="0" lang="en-US" sz="1000" spc="-1" strike="noStrike">
              <a:solidFill>
                <a:srgbClr val="000000"/>
              </a:solidFill>
              <a:latin typeface="Arial"/>
            </a:endParaRPr>
          </a:p>
          <a:p>
            <a:pPr algn="ctr" defTabSz="457200">
              <a:lnSpc>
                <a:spcPct val="110000"/>
              </a:lnSpc>
            </a:pPr>
            <a:r>
              <a:rPr b="0" lang="en-US" sz="1000" spc="-1" strike="noStrike">
                <a:solidFill>
                  <a:srgbClr val="5a6b7b"/>
                </a:solidFill>
                <a:latin typeface="Segoe UI"/>
              </a:rPr>
              <a:t>E/S y límites</a:t>
            </a:r>
            <a:endParaRPr b="0" lang="en-US" sz="1000" spc="-1" strike="noStrike">
              <a:solidFill>
                <a:srgbClr val="000000"/>
              </a:solidFill>
              <a:latin typeface="Arial"/>
            </a:endParaRPr>
          </a:p>
        </p:txBody>
      </p:sp>
      <p:sp>
        <p:nvSpPr>
          <p:cNvPr id="1955" name="Right Arrow 31"/>
          <p:cNvSpPr/>
          <p:nvPr/>
        </p:nvSpPr>
        <p:spPr>
          <a:xfrm>
            <a:off x="7872840" y="2944440"/>
            <a:ext cx="136800" cy="145800"/>
          </a:xfrm>
          <a:prstGeom prst="rightArrow">
            <a:avLst>
              <a:gd name="adj1" fmla="val 50000"/>
              <a:gd name="adj2" fmla="val 50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956" name="Rectangle 32"/>
          <p:cNvSpPr/>
          <p:nvPr/>
        </p:nvSpPr>
        <p:spPr>
          <a:xfrm>
            <a:off x="8028360" y="2057400"/>
            <a:ext cx="1691280" cy="1919880"/>
          </a:xfrm>
          <a:prstGeom prst="rect">
            <a:avLst/>
          </a:prstGeom>
          <a:solidFill>
            <a:srgbClr val="f2f5f8"/>
          </a:solidFill>
          <a:ln w="19050">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57" name="Rectangle 33"/>
          <p:cNvSpPr/>
          <p:nvPr/>
        </p:nvSpPr>
        <p:spPr>
          <a:xfrm>
            <a:off x="8028360" y="2057400"/>
            <a:ext cx="1691280" cy="47520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58" name="TextBox 34"/>
          <p:cNvSpPr/>
          <p:nvPr/>
        </p:nvSpPr>
        <p:spPr>
          <a:xfrm>
            <a:off x="8028360" y="2167200"/>
            <a:ext cx="1691280" cy="1681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100" spc="-1" strike="noStrike">
                <a:solidFill>
                  <a:srgbClr val="ffffff"/>
                </a:solidFill>
                <a:latin typeface="Segoe UI"/>
              </a:rPr>
              <a:t>FASE 4</a:t>
            </a:r>
            <a:endParaRPr b="0" lang="en-US" sz="1100" spc="-1" strike="noStrike">
              <a:solidFill>
                <a:srgbClr val="000000"/>
              </a:solidFill>
              <a:latin typeface="Arial"/>
            </a:endParaRPr>
          </a:p>
        </p:txBody>
      </p:sp>
      <p:sp>
        <p:nvSpPr>
          <p:cNvPr id="1959" name="TextBox 35"/>
          <p:cNvSpPr/>
          <p:nvPr/>
        </p:nvSpPr>
        <p:spPr>
          <a:xfrm>
            <a:off x="8119800" y="2715840"/>
            <a:ext cx="1508400" cy="1832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200" spc="-1" strike="noStrike">
                <a:solidFill>
                  <a:srgbClr val="2e8b57"/>
                </a:solidFill>
                <a:latin typeface="Segoe UI"/>
              </a:rPr>
              <a:t>ORIGEN</a:t>
            </a:r>
            <a:endParaRPr b="0" lang="en-US" sz="1200" spc="-1" strike="noStrike">
              <a:solidFill>
                <a:srgbClr val="000000"/>
              </a:solidFill>
              <a:latin typeface="Arial"/>
            </a:endParaRPr>
          </a:p>
        </p:txBody>
      </p:sp>
      <p:sp>
        <p:nvSpPr>
          <p:cNvPr id="1960" name="TextBox 36"/>
          <p:cNvSpPr/>
          <p:nvPr/>
        </p:nvSpPr>
        <p:spPr>
          <a:xfrm>
            <a:off x="8119800" y="3136320"/>
            <a:ext cx="1508400" cy="335880"/>
          </a:xfrm>
          <a:prstGeom prst="rect">
            <a:avLst/>
          </a:prstGeom>
          <a:noFill/>
          <a:ln w="0">
            <a:noFill/>
          </a:ln>
        </p:spPr>
        <p:style>
          <a:lnRef idx="0"/>
          <a:fillRef idx="0"/>
          <a:effectRef idx="0"/>
          <a:fontRef idx="minor"/>
        </p:style>
        <p:txBody>
          <a:bodyPr lIns="0" rIns="0" tIns="0" bIns="0" anchor="t">
            <a:spAutoFit/>
          </a:bodyPr>
          <a:p>
            <a:pPr algn="ctr" defTabSz="457200">
              <a:lnSpc>
                <a:spcPct val="110000"/>
              </a:lnSpc>
            </a:pPr>
            <a:r>
              <a:rPr b="0" lang="en-US" sz="1000" spc="-1" strike="noStrike">
                <a:solidFill>
                  <a:srgbClr val="5a6b7b"/>
                </a:solidFill>
                <a:latin typeface="Segoe UI"/>
              </a:rPr>
              <a:t>Encoder absoluto</a:t>
            </a:r>
            <a:endParaRPr b="0" lang="en-US" sz="1000" spc="-1" strike="noStrike">
              <a:solidFill>
                <a:srgbClr val="000000"/>
              </a:solidFill>
              <a:latin typeface="Arial"/>
            </a:endParaRPr>
          </a:p>
          <a:p>
            <a:pPr algn="ctr" defTabSz="457200">
              <a:lnSpc>
                <a:spcPct val="110000"/>
              </a:lnSpc>
            </a:pPr>
            <a:r>
              <a:rPr b="0" lang="en-US" sz="1000" spc="-1" strike="noStrike">
                <a:solidFill>
                  <a:srgbClr val="5a6b7b"/>
                </a:solidFill>
                <a:latin typeface="Segoe UI"/>
              </a:rPr>
              <a:t>y cero de máquina</a:t>
            </a:r>
            <a:endParaRPr b="0" lang="en-US" sz="1000" spc="-1" strike="noStrike">
              <a:solidFill>
                <a:srgbClr val="000000"/>
              </a:solidFill>
              <a:latin typeface="Arial"/>
            </a:endParaRPr>
          </a:p>
        </p:txBody>
      </p:sp>
      <p:sp>
        <p:nvSpPr>
          <p:cNvPr id="1961" name="Right Arrow 37"/>
          <p:cNvSpPr/>
          <p:nvPr/>
        </p:nvSpPr>
        <p:spPr>
          <a:xfrm>
            <a:off x="9738360" y="2944440"/>
            <a:ext cx="136800" cy="145800"/>
          </a:xfrm>
          <a:prstGeom prst="rightArrow">
            <a:avLst>
              <a:gd name="adj1" fmla="val 50000"/>
              <a:gd name="adj2" fmla="val 50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962" name="Rectangle 38"/>
          <p:cNvSpPr/>
          <p:nvPr/>
        </p:nvSpPr>
        <p:spPr>
          <a:xfrm>
            <a:off x="9893880" y="2057400"/>
            <a:ext cx="1691280" cy="1919880"/>
          </a:xfrm>
          <a:prstGeom prst="rect">
            <a:avLst/>
          </a:prstGeom>
          <a:solidFill>
            <a:srgbClr val="f2f5f8"/>
          </a:solidFill>
          <a:ln w="19050">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63" name="Rectangle 39"/>
          <p:cNvSpPr/>
          <p:nvPr/>
        </p:nvSpPr>
        <p:spPr>
          <a:xfrm>
            <a:off x="9893880" y="2057400"/>
            <a:ext cx="1691280" cy="47520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64" name="TextBox 40"/>
          <p:cNvSpPr/>
          <p:nvPr/>
        </p:nvSpPr>
        <p:spPr>
          <a:xfrm>
            <a:off x="9893880" y="2167200"/>
            <a:ext cx="1691280" cy="16812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100" spc="-1" strike="noStrike">
                <a:solidFill>
                  <a:srgbClr val="ffffff"/>
                </a:solidFill>
                <a:latin typeface="Segoe UI"/>
              </a:rPr>
              <a:t>FASE 5</a:t>
            </a:r>
            <a:endParaRPr b="0" lang="en-US" sz="1100" spc="-1" strike="noStrike">
              <a:solidFill>
                <a:srgbClr val="000000"/>
              </a:solidFill>
              <a:latin typeface="Arial"/>
            </a:endParaRPr>
          </a:p>
        </p:txBody>
      </p:sp>
      <p:sp>
        <p:nvSpPr>
          <p:cNvPr id="1965" name="TextBox 41"/>
          <p:cNvSpPr/>
          <p:nvPr/>
        </p:nvSpPr>
        <p:spPr>
          <a:xfrm>
            <a:off x="9985320" y="2715840"/>
            <a:ext cx="1508400" cy="1832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200" spc="-1" strike="noStrike">
                <a:solidFill>
                  <a:srgbClr val="e89b1f"/>
                </a:solidFill>
                <a:latin typeface="Segoe UI"/>
              </a:rPr>
              <a:t>CARGA Y CICLO</a:t>
            </a:r>
            <a:endParaRPr b="0" lang="en-US" sz="1200" spc="-1" strike="noStrike">
              <a:solidFill>
                <a:srgbClr val="000000"/>
              </a:solidFill>
              <a:latin typeface="Arial"/>
            </a:endParaRPr>
          </a:p>
        </p:txBody>
      </p:sp>
      <p:sp>
        <p:nvSpPr>
          <p:cNvPr id="1966" name="TextBox 42"/>
          <p:cNvSpPr/>
          <p:nvPr/>
        </p:nvSpPr>
        <p:spPr>
          <a:xfrm>
            <a:off x="9985320" y="3136320"/>
            <a:ext cx="1508400" cy="335880"/>
          </a:xfrm>
          <a:prstGeom prst="rect">
            <a:avLst/>
          </a:prstGeom>
          <a:noFill/>
          <a:ln w="0">
            <a:noFill/>
          </a:ln>
        </p:spPr>
        <p:style>
          <a:lnRef idx="0"/>
          <a:fillRef idx="0"/>
          <a:effectRef idx="0"/>
          <a:fontRef idx="minor"/>
        </p:style>
        <p:txBody>
          <a:bodyPr lIns="0" rIns="0" tIns="0" bIns="0" anchor="t">
            <a:spAutoFit/>
          </a:bodyPr>
          <a:p>
            <a:pPr algn="ctr" defTabSz="457200">
              <a:lnSpc>
                <a:spcPct val="110000"/>
              </a:lnSpc>
            </a:pPr>
            <a:r>
              <a:rPr b="0" lang="en-US" sz="1000" spc="-1" strike="noStrike">
                <a:solidFill>
                  <a:srgbClr val="5a6b7b"/>
                </a:solidFill>
                <a:latin typeface="Segoe UI"/>
              </a:rPr>
              <a:t>Autoajuste y</a:t>
            </a:r>
            <a:endParaRPr b="0" lang="en-US" sz="1000" spc="-1" strike="noStrike">
              <a:solidFill>
                <a:srgbClr val="000000"/>
              </a:solidFill>
              <a:latin typeface="Arial"/>
            </a:endParaRPr>
          </a:p>
          <a:p>
            <a:pPr algn="ctr" defTabSz="457200">
              <a:lnSpc>
                <a:spcPct val="110000"/>
              </a:lnSpc>
            </a:pPr>
            <a:r>
              <a:rPr b="0" lang="en-US" sz="1000" spc="-1" strike="noStrike">
                <a:solidFill>
                  <a:srgbClr val="5a6b7b"/>
                </a:solidFill>
                <a:latin typeface="Segoe UI"/>
              </a:rPr>
              <a:t>producción real</a:t>
            </a:r>
            <a:endParaRPr b="0" lang="en-US" sz="1000" spc="-1" strike="noStrike">
              <a:solidFill>
                <a:srgbClr val="000000"/>
              </a:solidFill>
              <a:latin typeface="Arial"/>
            </a:endParaRPr>
          </a:p>
        </p:txBody>
      </p:sp>
      <p:sp>
        <p:nvSpPr>
          <p:cNvPr id="1967" name="Rectangle 43"/>
          <p:cNvSpPr/>
          <p:nvPr/>
        </p:nvSpPr>
        <p:spPr>
          <a:xfrm>
            <a:off x="567000" y="4316040"/>
            <a:ext cx="11063880" cy="86832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68" name="Rectangle 44"/>
          <p:cNvSpPr/>
          <p:nvPr/>
        </p:nvSpPr>
        <p:spPr>
          <a:xfrm>
            <a:off x="567000" y="4316040"/>
            <a:ext cx="68400" cy="8683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69" name="TextBox 45"/>
          <p:cNvSpPr/>
          <p:nvPr/>
        </p:nvSpPr>
        <p:spPr>
          <a:xfrm>
            <a:off x="841320" y="4453200"/>
            <a:ext cx="1056096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1b5ea8"/>
                </a:solidFill>
                <a:latin typeface="Segoe UI Semibold"/>
              </a:rPr>
              <a:t>La regla que hace que este método funcione</a:t>
            </a:r>
            <a:endParaRPr b="0" lang="en-US" sz="1200" spc="-1" strike="noStrike">
              <a:solidFill>
                <a:srgbClr val="000000"/>
              </a:solidFill>
              <a:latin typeface="Arial"/>
            </a:endParaRPr>
          </a:p>
        </p:txBody>
      </p:sp>
      <p:sp>
        <p:nvSpPr>
          <p:cNvPr id="1970" name="TextBox 46"/>
          <p:cNvSpPr/>
          <p:nvPr/>
        </p:nvSpPr>
        <p:spPr>
          <a:xfrm>
            <a:off x="841320" y="4727520"/>
            <a:ext cx="10560960" cy="18612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Un cambio cada vez. Si modificas tres cosas y el eje empieza a comportarse mal, no sabrás cuál ha sido. Y si el eje mejora, tampoco sabrás por qué.</a:t>
            </a:r>
            <a:endParaRPr b="0" lang="en-US" sz="1150" spc="-1" strike="noStrike">
              <a:solidFill>
                <a:srgbClr val="000000"/>
              </a:solidFill>
              <a:latin typeface="Arial"/>
            </a:endParaRPr>
          </a:p>
        </p:txBody>
      </p:sp>
      <p:sp>
        <p:nvSpPr>
          <p:cNvPr id="1971" name="Rectangle 47"/>
          <p:cNvSpPr/>
          <p:nvPr/>
        </p:nvSpPr>
        <p:spPr>
          <a:xfrm>
            <a:off x="567000" y="5376600"/>
            <a:ext cx="11063880" cy="93240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72" name="Rectangle 48"/>
          <p:cNvSpPr/>
          <p:nvPr/>
        </p:nvSpPr>
        <p:spPr>
          <a:xfrm>
            <a:off x="567000" y="5376600"/>
            <a:ext cx="68400" cy="93240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73" name="TextBox 49"/>
          <p:cNvSpPr/>
          <p:nvPr/>
        </p:nvSpPr>
        <p:spPr>
          <a:xfrm>
            <a:off x="841320" y="5513760"/>
            <a:ext cx="1056096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c0392b"/>
                </a:solidFill>
                <a:latin typeface="Segoe UI Semibold"/>
              </a:rPr>
              <a:t>Condiciones de seguridad durante toda la puesta en marcha</a:t>
            </a:r>
            <a:endParaRPr b="0" lang="en-US" sz="1200" spc="-1" strike="noStrike">
              <a:solidFill>
                <a:srgbClr val="000000"/>
              </a:solidFill>
              <a:latin typeface="Arial"/>
            </a:endParaRPr>
          </a:p>
        </p:txBody>
      </p:sp>
      <p:sp>
        <p:nvSpPr>
          <p:cNvPr id="1974" name="TextBox 50"/>
          <p:cNvSpPr/>
          <p:nvPr/>
        </p:nvSpPr>
        <p:spPr>
          <a:xfrm>
            <a:off x="841320" y="5788080"/>
            <a:ext cx="10560960" cy="37188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Zona despejada y señalizada · Parada de emergencia accesible y probada · Velocidades reducidas hasta validar el comportamiento · Nadie en el recorrido del eje · Chavetas y herramientas retiradas del eje del motor.</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7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1977"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Fase 1 — Primer energizado</a:t>
            </a:r>
            <a:endParaRPr b="0" lang="en-US" sz="2500" spc="-1" strike="noStrike">
              <a:solidFill>
                <a:srgbClr val="000000"/>
              </a:solidFill>
              <a:latin typeface="Arial"/>
            </a:endParaRPr>
          </a:p>
        </p:txBody>
      </p:sp>
      <p:sp>
        <p:nvSpPr>
          <p:cNvPr id="197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Objetivo: comprobar que el amplificador está sano antes de mover nada</a:t>
            </a:r>
            <a:endParaRPr b="0" lang="en-US" sz="1250" spc="-1" strike="noStrike">
              <a:solidFill>
                <a:srgbClr val="000000"/>
              </a:solidFill>
              <a:latin typeface="Arial"/>
            </a:endParaRPr>
          </a:p>
        </p:txBody>
      </p:sp>
      <p:sp>
        <p:nvSpPr>
          <p:cNvPr id="197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08</a:t>
            </a:r>
            <a:endParaRPr b="0" lang="en-US" sz="1100" spc="-1" strike="noStrike">
              <a:solidFill>
                <a:srgbClr val="000000"/>
              </a:solidFill>
              <a:latin typeface="Arial"/>
            </a:endParaRPr>
          </a:p>
        </p:txBody>
      </p:sp>
      <p:sp>
        <p:nvSpPr>
          <p:cNvPr id="198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198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109</a:t>
            </a:r>
            <a:endParaRPr b="0" lang="en-US" sz="900" spc="-1" strike="noStrike">
              <a:solidFill>
                <a:srgbClr val="000000"/>
              </a:solidFill>
              <a:latin typeface="Arial"/>
            </a:endParaRPr>
          </a:p>
        </p:txBody>
      </p:sp>
      <p:sp>
        <p:nvSpPr>
          <p:cNvPr id="1982" name="Rectangle 8"/>
          <p:cNvSpPr/>
          <p:nvPr/>
        </p:nvSpPr>
        <p:spPr>
          <a:xfrm>
            <a:off x="567000" y="1481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83" name="Rectangle 9"/>
          <p:cNvSpPr/>
          <p:nvPr/>
        </p:nvSpPr>
        <p:spPr>
          <a:xfrm>
            <a:off x="567000" y="1481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84" name="TextBox 10"/>
          <p:cNvSpPr/>
          <p:nvPr/>
        </p:nvSpPr>
        <p:spPr>
          <a:xfrm>
            <a:off x="567000" y="1629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1</a:t>
            </a:r>
            <a:endParaRPr b="0" lang="en-US" sz="1700" spc="-1" strike="noStrike">
              <a:solidFill>
                <a:srgbClr val="000000"/>
              </a:solidFill>
              <a:latin typeface="Arial"/>
            </a:endParaRPr>
          </a:p>
        </p:txBody>
      </p:sp>
      <p:sp>
        <p:nvSpPr>
          <p:cNvPr id="1985" name="TextBox 11"/>
          <p:cNvSpPr/>
          <p:nvPr/>
        </p:nvSpPr>
        <p:spPr>
          <a:xfrm>
            <a:off x="1435680" y="1572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Con el motor desacoplado de la máquina</a:t>
            </a:r>
            <a:endParaRPr b="0" lang="en-US" sz="1100" spc="-1" strike="noStrike">
              <a:solidFill>
                <a:srgbClr val="000000"/>
              </a:solidFill>
              <a:latin typeface="Arial"/>
            </a:endParaRPr>
          </a:p>
        </p:txBody>
      </p:sp>
      <p:sp>
        <p:nvSpPr>
          <p:cNvPr id="1986" name="TextBox 12"/>
          <p:cNvSpPr/>
          <p:nvPr/>
        </p:nvSpPr>
        <p:spPr>
          <a:xfrm>
            <a:off x="1435680" y="1781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Si no se puede desacoplar, asegura el eje mecánicamente y despeja la zona. Nunca hagas la primera prueba con la máquina cargada.</a:t>
            </a:r>
            <a:endParaRPr b="0" lang="en-US" sz="900" spc="-1" strike="noStrike">
              <a:solidFill>
                <a:srgbClr val="000000"/>
              </a:solidFill>
              <a:latin typeface="Arial"/>
            </a:endParaRPr>
          </a:p>
        </p:txBody>
      </p:sp>
      <p:sp>
        <p:nvSpPr>
          <p:cNvPr id="1987" name="Rectangle 13"/>
          <p:cNvSpPr/>
          <p:nvPr/>
        </p:nvSpPr>
        <p:spPr>
          <a:xfrm>
            <a:off x="567000" y="2147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88" name="Rectangle 14"/>
          <p:cNvSpPr/>
          <p:nvPr/>
        </p:nvSpPr>
        <p:spPr>
          <a:xfrm>
            <a:off x="567000" y="2147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89" name="TextBox 15"/>
          <p:cNvSpPr/>
          <p:nvPr/>
        </p:nvSpPr>
        <p:spPr>
          <a:xfrm>
            <a:off x="567000" y="2295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2</a:t>
            </a:r>
            <a:endParaRPr b="0" lang="en-US" sz="1700" spc="-1" strike="noStrike">
              <a:solidFill>
                <a:srgbClr val="000000"/>
              </a:solidFill>
              <a:latin typeface="Arial"/>
            </a:endParaRPr>
          </a:p>
        </p:txBody>
      </p:sp>
      <p:sp>
        <p:nvSpPr>
          <p:cNvPr id="1990" name="TextBox 16"/>
          <p:cNvSpPr/>
          <p:nvPr/>
        </p:nvSpPr>
        <p:spPr>
          <a:xfrm>
            <a:off x="1435680" y="2238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Conectar sólo la alimentación de control </a:t>
            </a:r>
            <a:r>
              <a:rPr b="1" lang="en-US" sz="1100" spc="-1" strike="noStrike">
                <a:solidFill>
                  <a:srgbClr val="0b2545"/>
                </a:solidFill>
                <a:latin typeface="Consolas"/>
              </a:rPr>
              <a:t>L1C</a:t>
            </a:r>
            <a:r>
              <a:rPr b="1" lang="en-US" sz="1100" spc="-1" strike="noStrike">
                <a:solidFill>
                  <a:srgbClr val="0b2545"/>
                </a:solidFill>
                <a:latin typeface="Segoe UI Semibold"/>
              </a:rPr>
              <a:t> </a:t>
            </a:r>
            <a:r>
              <a:rPr b="1" lang="en-US" sz="1100" spc="-1" strike="noStrike">
                <a:solidFill>
                  <a:srgbClr val="0b2545"/>
                </a:solidFill>
                <a:latin typeface="Consolas"/>
              </a:rPr>
              <a:t>L2C</a:t>
            </a:r>
            <a:endParaRPr b="0" lang="en-US" sz="1100" spc="-1" strike="noStrike">
              <a:solidFill>
                <a:srgbClr val="000000"/>
              </a:solidFill>
              <a:latin typeface="Arial"/>
            </a:endParaRPr>
          </a:p>
        </p:txBody>
      </p:sp>
      <p:sp>
        <p:nvSpPr>
          <p:cNvPr id="1991" name="TextBox 17"/>
          <p:cNvSpPr/>
          <p:nvPr/>
        </p:nvSpPr>
        <p:spPr>
          <a:xfrm>
            <a:off x="1435680" y="2447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El display se enciende. Comprueba que no aparece ninguna alarma y anota la versión de firmware.</a:t>
            </a:r>
            <a:endParaRPr b="0" lang="en-US" sz="900" spc="-1" strike="noStrike">
              <a:solidFill>
                <a:srgbClr val="000000"/>
              </a:solidFill>
              <a:latin typeface="Arial"/>
            </a:endParaRPr>
          </a:p>
        </p:txBody>
      </p:sp>
      <p:sp>
        <p:nvSpPr>
          <p:cNvPr id="1992" name="Rectangle 18"/>
          <p:cNvSpPr/>
          <p:nvPr/>
        </p:nvSpPr>
        <p:spPr>
          <a:xfrm>
            <a:off x="567000" y="2813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93" name="Rectangle 19"/>
          <p:cNvSpPr/>
          <p:nvPr/>
        </p:nvSpPr>
        <p:spPr>
          <a:xfrm>
            <a:off x="567000" y="2813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94" name="TextBox 20"/>
          <p:cNvSpPr/>
          <p:nvPr/>
        </p:nvSpPr>
        <p:spPr>
          <a:xfrm>
            <a:off x="567000" y="2961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3</a:t>
            </a:r>
            <a:endParaRPr b="0" lang="en-US" sz="1700" spc="-1" strike="noStrike">
              <a:solidFill>
                <a:srgbClr val="000000"/>
              </a:solidFill>
              <a:latin typeface="Arial"/>
            </a:endParaRPr>
          </a:p>
        </p:txBody>
      </p:sp>
      <p:sp>
        <p:nvSpPr>
          <p:cNvPr id="1995" name="TextBox 21"/>
          <p:cNvSpPr/>
          <p:nvPr/>
        </p:nvSpPr>
        <p:spPr>
          <a:xfrm>
            <a:off x="1435680" y="2904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Verificar la identificación del motor</a:t>
            </a:r>
            <a:endParaRPr b="0" lang="en-US" sz="1100" spc="-1" strike="noStrike">
              <a:solidFill>
                <a:srgbClr val="000000"/>
              </a:solidFill>
              <a:latin typeface="Arial"/>
            </a:endParaRPr>
          </a:p>
        </p:txBody>
      </p:sp>
      <p:sp>
        <p:nvSpPr>
          <p:cNvPr id="1996" name="TextBox 22"/>
          <p:cNvSpPr/>
          <p:nvPr/>
        </p:nvSpPr>
        <p:spPr>
          <a:xfrm>
            <a:off x="1435680" y="3113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El drive lee el motor por el encoder. Si la combinación no es válida, aparece una alarma de combinación (familia </a:t>
            </a:r>
            <a:r>
              <a:rPr b="0" lang="en-US" sz="900" spc="-1" strike="noStrike">
                <a:solidFill>
                  <a:srgbClr val="3a4654"/>
                </a:solidFill>
                <a:latin typeface="Consolas"/>
              </a:rPr>
              <a:t>A.05_</a:t>
            </a:r>
            <a:r>
              <a:rPr b="0" lang="en-US" sz="900" spc="-1" strike="noStrike">
                <a:solidFill>
                  <a:srgbClr val="3a4654"/>
                </a:solidFill>
                <a:latin typeface="Segoe UI"/>
              </a:rPr>
              <a:t>).</a:t>
            </a:r>
            <a:endParaRPr b="0" lang="en-US" sz="900" spc="-1" strike="noStrike">
              <a:solidFill>
                <a:srgbClr val="000000"/>
              </a:solidFill>
              <a:latin typeface="Arial"/>
            </a:endParaRPr>
          </a:p>
        </p:txBody>
      </p:sp>
      <p:sp>
        <p:nvSpPr>
          <p:cNvPr id="1997" name="Rectangle 23"/>
          <p:cNvSpPr/>
          <p:nvPr/>
        </p:nvSpPr>
        <p:spPr>
          <a:xfrm>
            <a:off x="567000" y="3479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98" name="Rectangle 24"/>
          <p:cNvSpPr/>
          <p:nvPr/>
        </p:nvSpPr>
        <p:spPr>
          <a:xfrm>
            <a:off x="567000" y="3479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99" name="TextBox 25"/>
          <p:cNvSpPr/>
          <p:nvPr/>
        </p:nvSpPr>
        <p:spPr>
          <a:xfrm>
            <a:off x="567000" y="3627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4</a:t>
            </a:r>
            <a:endParaRPr b="0" lang="en-US" sz="1700" spc="-1" strike="noStrike">
              <a:solidFill>
                <a:srgbClr val="000000"/>
              </a:solidFill>
              <a:latin typeface="Arial"/>
            </a:endParaRPr>
          </a:p>
        </p:txBody>
      </p:sp>
      <p:sp>
        <p:nvSpPr>
          <p:cNvPr id="2000" name="TextBox 26"/>
          <p:cNvSpPr/>
          <p:nvPr/>
        </p:nvSpPr>
        <p:spPr>
          <a:xfrm>
            <a:off x="1435680" y="3570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Conectar la alimentación de potencia </a:t>
            </a:r>
            <a:r>
              <a:rPr b="1" lang="en-US" sz="1100" spc="-1" strike="noStrike">
                <a:solidFill>
                  <a:srgbClr val="0b2545"/>
                </a:solidFill>
                <a:latin typeface="Consolas"/>
              </a:rPr>
              <a:t>L1</a:t>
            </a:r>
            <a:r>
              <a:rPr b="1" lang="en-US" sz="1100" spc="-1" strike="noStrike">
                <a:solidFill>
                  <a:srgbClr val="0b2545"/>
                </a:solidFill>
                <a:latin typeface="Segoe UI Semibold"/>
              </a:rPr>
              <a:t> </a:t>
            </a:r>
            <a:r>
              <a:rPr b="1" lang="en-US" sz="1100" spc="-1" strike="noStrike">
                <a:solidFill>
                  <a:srgbClr val="0b2545"/>
                </a:solidFill>
                <a:latin typeface="Consolas"/>
              </a:rPr>
              <a:t>L2</a:t>
            </a:r>
            <a:r>
              <a:rPr b="1" lang="en-US" sz="1100" spc="-1" strike="noStrike">
                <a:solidFill>
                  <a:srgbClr val="0b2545"/>
                </a:solidFill>
                <a:latin typeface="Segoe UI Semibold"/>
              </a:rPr>
              <a:t> </a:t>
            </a:r>
            <a:r>
              <a:rPr b="1" lang="en-US" sz="1100" spc="-1" strike="noStrike">
                <a:solidFill>
                  <a:srgbClr val="0b2545"/>
                </a:solidFill>
                <a:latin typeface="Consolas"/>
              </a:rPr>
              <a:t>L3</a:t>
            </a:r>
            <a:endParaRPr b="0" lang="en-US" sz="1100" spc="-1" strike="noStrike">
              <a:solidFill>
                <a:srgbClr val="000000"/>
              </a:solidFill>
              <a:latin typeface="Arial"/>
            </a:endParaRPr>
          </a:p>
        </p:txBody>
      </p:sp>
      <p:sp>
        <p:nvSpPr>
          <p:cNvPr id="2001" name="TextBox 27"/>
          <p:cNvSpPr/>
          <p:nvPr/>
        </p:nvSpPr>
        <p:spPr>
          <a:xfrm>
            <a:off x="1435680" y="3779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Comprueba la tensión entre fases antes y verifica que el LED CHARGE se enciende. </a:t>
            </a:r>
            <a:r>
              <a:rPr b="0" lang="en-US" sz="900" spc="-1" strike="noStrike">
                <a:solidFill>
                  <a:srgbClr val="3a4654"/>
                </a:solidFill>
                <a:latin typeface="Consolas"/>
              </a:rPr>
              <a:t>A.F10</a:t>
            </a:r>
            <a:r>
              <a:rPr b="0" lang="en-US" sz="900" spc="-1" strike="noStrike">
                <a:solidFill>
                  <a:srgbClr val="3a4654"/>
                </a:solidFill>
                <a:latin typeface="Segoe UI"/>
              </a:rPr>
              <a:t> indica falta de fase.</a:t>
            </a:r>
            <a:endParaRPr b="0" lang="en-US" sz="900" spc="-1" strike="noStrike">
              <a:solidFill>
                <a:srgbClr val="000000"/>
              </a:solidFill>
              <a:latin typeface="Arial"/>
            </a:endParaRPr>
          </a:p>
        </p:txBody>
      </p:sp>
      <p:sp>
        <p:nvSpPr>
          <p:cNvPr id="2002" name="Rectangle 28"/>
          <p:cNvSpPr/>
          <p:nvPr/>
        </p:nvSpPr>
        <p:spPr>
          <a:xfrm>
            <a:off x="567000" y="4145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03" name="Rectangle 29"/>
          <p:cNvSpPr/>
          <p:nvPr/>
        </p:nvSpPr>
        <p:spPr>
          <a:xfrm>
            <a:off x="567000" y="4145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04" name="TextBox 30"/>
          <p:cNvSpPr/>
          <p:nvPr/>
        </p:nvSpPr>
        <p:spPr>
          <a:xfrm>
            <a:off x="567000" y="4293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5</a:t>
            </a:r>
            <a:endParaRPr b="0" lang="en-US" sz="1700" spc="-1" strike="noStrike">
              <a:solidFill>
                <a:srgbClr val="000000"/>
              </a:solidFill>
              <a:latin typeface="Arial"/>
            </a:endParaRPr>
          </a:p>
        </p:txBody>
      </p:sp>
      <p:sp>
        <p:nvSpPr>
          <p:cNvPr id="2005" name="TextBox 31"/>
          <p:cNvSpPr/>
          <p:nvPr/>
        </p:nvSpPr>
        <p:spPr>
          <a:xfrm>
            <a:off x="1435680" y="4236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Comprobar señales de entrada con </a:t>
            </a:r>
            <a:r>
              <a:rPr b="1" lang="en-US" sz="1100" spc="-1" strike="noStrike">
                <a:solidFill>
                  <a:srgbClr val="0b2545"/>
                </a:solidFill>
                <a:latin typeface="Consolas"/>
              </a:rPr>
              <a:t>Un005</a:t>
            </a:r>
            <a:endParaRPr b="0" lang="en-US" sz="1100" spc="-1" strike="noStrike">
              <a:solidFill>
                <a:srgbClr val="000000"/>
              </a:solidFill>
              <a:latin typeface="Arial"/>
            </a:endParaRPr>
          </a:p>
        </p:txBody>
      </p:sp>
      <p:sp>
        <p:nvSpPr>
          <p:cNvPr id="2006" name="TextBox 32"/>
          <p:cNvSpPr/>
          <p:nvPr/>
        </p:nvSpPr>
        <p:spPr>
          <a:xfrm>
            <a:off x="1435680" y="4445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¿Están cerrados </a:t>
            </a:r>
            <a:r>
              <a:rPr b="0" lang="en-US" sz="900" spc="-1" strike="noStrike">
                <a:solidFill>
                  <a:srgbClr val="3a4654"/>
                </a:solidFill>
                <a:latin typeface="Consolas"/>
              </a:rPr>
              <a:t>P-OT</a:t>
            </a:r>
            <a:r>
              <a:rPr b="0" lang="en-US" sz="900" spc="-1" strike="noStrike">
                <a:solidFill>
                  <a:srgbClr val="3a4654"/>
                </a:solidFill>
                <a:latin typeface="Segoe UI"/>
              </a:rPr>
              <a:t> y </a:t>
            </a:r>
            <a:r>
              <a:rPr b="0" lang="en-US" sz="900" spc="-1" strike="noStrike">
                <a:solidFill>
                  <a:srgbClr val="3a4654"/>
                </a:solidFill>
                <a:latin typeface="Consolas"/>
              </a:rPr>
              <a:t>N-OT</a:t>
            </a:r>
            <a:r>
              <a:rPr b="0" lang="en-US" sz="900" spc="-1" strike="noStrike">
                <a:solidFill>
                  <a:srgbClr val="3a4654"/>
                </a:solidFill>
                <a:latin typeface="Segoe UI"/>
              </a:rPr>
              <a:t>? ¿Llega </a:t>
            </a:r>
            <a:r>
              <a:rPr b="0" lang="en-US" sz="900" spc="-1" strike="noStrike">
                <a:solidFill>
                  <a:srgbClr val="3a4654"/>
                </a:solidFill>
                <a:latin typeface="Consolas"/>
              </a:rPr>
              <a:t>/S-ON</a:t>
            </a:r>
            <a:r>
              <a:rPr b="0" lang="en-US" sz="900" spc="-1" strike="noStrike">
                <a:solidFill>
                  <a:srgbClr val="3a4654"/>
                </a:solidFill>
                <a:latin typeface="Segoe UI"/>
              </a:rPr>
              <a:t> cuando el PLC lo activa? Se ve en el monitor sin necesidad de multímetro.</a:t>
            </a:r>
            <a:endParaRPr b="0" lang="en-US" sz="900" spc="-1" strike="noStrike">
              <a:solidFill>
                <a:srgbClr val="000000"/>
              </a:solidFill>
              <a:latin typeface="Arial"/>
            </a:endParaRPr>
          </a:p>
        </p:txBody>
      </p:sp>
      <p:sp>
        <p:nvSpPr>
          <p:cNvPr id="2007" name="Rectangle 33"/>
          <p:cNvSpPr/>
          <p:nvPr/>
        </p:nvSpPr>
        <p:spPr>
          <a:xfrm>
            <a:off x="567000" y="4811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08" name="Rectangle 34"/>
          <p:cNvSpPr/>
          <p:nvPr/>
        </p:nvSpPr>
        <p:spPr>
          <a:xfrm>
            <a:off x="567000" y="4811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09" name="TextBox 35"/>
          <p:cNvSpPr/>
          <p:nvPr/>
        </p:nvSpPr>
        <p:spPr>
          <a:xfrm>
            <a:off x="567000" y="4959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6</a:t>
            </a:r>
            <a:endParaRPr b="0" lang="en-US" sz="1700" spc="-1" strike="noStrike">
              <a:solidFill>
                <a:srgbClr val="000000"/>
              </a:solidFill>
              <a:latin typeface="Arial"/>
            </a:endParaRPr>
          </a:p>
        </p:txBody>
      </p:sp>
      <p:sp>
        <p:nvSpPr>
          <p:cNvPr id="2010" name="TextBox 36"/>
          <p:cNvSpPr/>
          <p:nvPr/>
        </p:nvSpPr>
        <p:spPr>
          <a:xfrm>
            <a:off x="1435680" y="4902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Verificar que </a:t>
            </a:r>
            <a:r>
              <a:rPr b="1" lang="en-US" sz="1100" spc="-1" strike="noStrike">
                <a:solidFill>
                  <a:srgbClr val="0b2545"/>
                </a:solidFill>
                <a:latin typeface="Consolas"/>
              </a:rPr>
              <a:t>/S-RDY</a:t>
            </a:r>
            <a:r>
              <a:rPr b="1" lang="en-US" sz="1100" spc="-1" strike="noStrike">
                <a:solidFill>
                  <a:srgbClr val="0b2545"/>
                </a:solidFill>
                <a:latin typeface="Segoe UI Semibold"/>
              </a:rPr>
              <a:t> se activa</a:t>
            </a:r>
            <a:endParaRPr b="0" lang="en-US" sz="1100" spc="-1" strike="noStrike">
              <a:solidFill>
                <a:srgbClr val="000000"/>
              </a:solidFill>
              <a:latin typeface="Arial"/>
            </a:endParaRPr>
          </a:p>
        </p:txBody>
      </p:sp>
      <p:sp>
        <p:nvSpPr>
          <p:cNvPr id="2011" name="TextBox 37"/>
          <p:cNvSpPr/>
          <p:nvPr/>
        </p:nvSpPr>
        <p:spPr>
          <a:xfrm>
            <a:off x="1435680" y="5111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Si el drive no está 'listo', no sigas: hay un problema de alimentación, de seguridad (</a:t>
            </a:r>
            <a:r>
              <a:rPr b="0" lang="en-US" sz="900" spc="-1" strike="noStrike">
                <a:solidFill>
                  <a:srgbClr val="3a4654"/>
                </a:solidFill>
                <a:latin typeface="Consolas"/>
              </a:rPr>
              <a:t>CN8</a:t>
            </a:r>
            <a:r>
              <a:rPr b="0" lang="en-US" sz="900" spc="-1" strike="noStrike">
                <a:solidFill>
                  <a:srgbClr val="3a4654"/>
                </a:solidFill>
                <a:latin typeface="Segoe UI"/>
              </a:rPr>
              <a:t>) o de configuración.</a:t>
            </a:r>
            <a:endParaRPr b="0" lang="en-US" sz="900" spc="-1" strike="noStrike">
              <a:solidFill>
                <a:srgbClr val="000000"/>
              </a:solidFill>
              <a:latin typeface="Arial"/>
            </a:endParaRPr>
          </a:p>
        </p:txBody>
      </p:sp>
      <p:sp>
        <p:nvSpPr>
          <p:cNvPr id="2012" name="Rectangle 38"/>
          <p:cNvSpPr/>
          <p:nvPr/>
        </p:nvSpPr>
        <p:spPr>
          <a:xfrm>
            <a:off x="567000" y="5504760"/>
            <a:ext cx="11057400" cy="82260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13" name="Rectangle 39"/>
          <p:cNvSpPr/>
          <p:nvPr/>
        </p:nvSpPr>
        <p:spPr>
          <a:xfrm>
            <a:off x="567000" y="5504760"/>
            <a:ext cx="68400" cy="82260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14" name="TextBox 40"/>
          <p:cNvSpPr/>
          <p:nvPr/>
        </p:nvSpPr>
        <p:spPr>
          <a:xfrm>
            <a:off x="841320" y="564192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c0392b"/>
                </a:solidFill>
                <a:latin typeface="Segoe UI Semibold"/>
              </a:rPr>
              <a:t>Si aparece cualquier alarma en esta fase, párate</a:t>
            </a:r>
            <a:endParaRPr b="0" lang="en-US" sz="1200" spc="-1" strike="noStrike">
              <a:solidFill>
                <a:srgbClr val="000000"/>
              </a:solidFill>
              <a:latin typeface="Arial"/>
            </a:endParaRPr>
          </a:p>
        </p:txBody>
      </p:sp>
      <p:sp>
        <p:nvSpPr>
          <p:cNvPr id="2015" name="TextBox 41"/>
          <p:cNvSpPr/>
          <p:nvPr/>
        </p:nvSpPr>
        <p:spPr>
          <a:xfrm>
            <a:off x="841320" y="5916240"/>
            <a:ext cx="10554480" cy="18612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Resuélvela antes de continuar. Avanzar con una alarma 'que se puede resetear' es la forma más rápida de acabar con una avería mayor.</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1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01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Fase 2 — Prueba de JOG sin carga (</a:t>
            </a:r>
            <a:r>
              <a:rPr b="1" lang="en-US" sz="2500" spc="-1" strike="noStrike">
                <a:solidFill>
                  <a:srgbClr val="ffffff"/>
                </a:solidFill>
                <a:latin typeface="Consolas"/>
              </a:rPr>
              <a:t>Fn002</a:t>
            </a:r>
            <a:r>
              <a:rPr b="1" lang="en-US" sz="2500" spc="-1" strike="noStrike">
                <a:solidFill>
                  <a:srgbClr val="ffffff"/>
                </a:solidFill>
                <a:latin typeface="Segoe UI Semibold"/>
              </a:rPr>
              <a:t>)</a:t>
            </a:r>
            <a:endParaRPr b="0" lang="en-US" sz="2500" spc="-1" strike="noStrike">
              <a:solidFill>
                <a:srgbClr val="000000"/>
              </a:solidFill>
              <a:latin typeface="Arial"/>
            </a:endParaRPr>
          </a:p>
        </p:txBody>
      </p:sp>
      <p:sp>
        <p:nvSpPr>
          <p:cNvPr id="201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Si el motor gira bien aquí, el 60 % del trabajo está hecho</a:t>
            </a:r>
            <a:endParaRPr b="0" lang="en-US" sz="1250" spc="-1" strike="noStrike">
              <a:solidFill>
                <a:srgbClr val="000000"/>
              </a:solidFill>
              <a:latin typeface="Arial"/>
            </a:endParaRPr>
          </a:p>
        </p:txBody>
      </p:sp>
      <p:sp>
        <p:nvSpPr>
          <p:cNvPr id="202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08</a:t>
            </a:r>
            <a:endParaRPr b="0" lang="en-US" sz="1100" spc="-1" strike="noStrike">
              <a:solidFill>
                <a:srgbClr val="000000"/>
              </a:solidFill>
              <a:latin typeface="Arial"/>
            </a:endParaRPr>
          </a:p>
        </p:txBody>
      </p:sp>
      <p:sp>
        <p:nvSpPr>
          <p:cNvPr id="202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02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110</a:t>
            </a:r>
            <a:endParaRPr b="0" lang="en-US" sz="900" spc="-1" strike="noStrike">
              <a:solidFill>
                <a:srgbClr val="000000"/>
              </a:solidFill>
              <a:latin typeface="Arial"/>
            </a:endParaRPr>
          </a:p>
        </p:txBody>
      </p:sp>
      <p:sp>
        <p:nvSpPr>
          <p:cNvPr id="2023" name="Rectangle 8"/>
          <p:cNvSpPr/>
          <p:nvPr/>
        </p:nvSpPr>
        <p:spPr>
          <a:xfrm>
            <a:off x="567000" y="1481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24" name="Rectangle 9"/>
          <p:cNvSpPr/>
          <p:nvPr/>
        </p:nvSpPr>
        <p:spPr>
          <a:xfrm>
            <a:off x="567000" y="1481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25" name="TextBox 10"/>
          <p:cNvSpPr/>
          <p:nvPr/>
        </p:nvSpPr>
        <p:spPr>
          <a:xfrm>
            <a:off x="567000" y="1629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1</a:t>
            </a:r>
            <a:endParaRPr b="0" lang="en-US" sz="1700" spc="-1" strike="noStrike">
              <a:solidFill>
                <a:srgbClr val="000000"/>
              </a:solidFill>
              <a:latin typeface="Arial"/>
            </a:endParaRPr>
          </a:p>
        </p:txBody>
      </p:sp>
      <p:sp>
        <p:nvSpPr>
          <p:cNvPr id="2026" name="TextBox 11"/>
          <p:cNvSpPr/>
          <p:nvPr/>
        </p:nvSpPr>
        <p:spPr>
          <a:xfrm>
            <a:off x="1435680" y="1572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Reducir la velocidad de JOG con </a:t>
            </a:r>
            <a:r>
              <a:rPr b="1" lang="en-US" sz="1100" spc="-1" strike="noStrike">
                <a:solidFill>
                  <a:srgbClr val="0b2545"/>
                </a:solidFill>
                <a:latin typeface="Consolas"/>
              </a:rPr>
              <a:t>Pn304</a:t>
            </a:r>
            <a:endParaRPr b="0" lang="en-US" sz="1100" spc="-1" strike="noStrike">
              <a:solidFill>
                <a:srgbClr val="000000"/>
              </a:solidFill>
              <a:latin typeface="Arial"/>
            </a:endParaRPr>
          </a:p>
        </p:txBody>
      </p:sp>
      <p:sp>
        <p:nvSpPr>
          <p:cNvPr id="2027" name="TextBox 12"/>
          <p:cNvSpPr/>
          <p:nvPr/>
        </p:nvSpPr>
        <p:spPr>
          <a:xfrm>
            <a:off x="1435680" y="1781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Ponla en 50-100 rpm para la primera prueba. La velocidad de fábrica puede ser demasiado alta para un primer arranque.</a:t>
            </a:r>
            <a:endParaRPr b="0" lang="en-US" sz="900" spc="-1" strike="noStrike">
              <a:solidFill>
                <a:srgbClr val="000000"/>
              </a:solidFill>
              <a:latin typeface="Arial"/>
            </a:endParaRPr>
          </a:p>
        </p:txBody>
      </p:sp>
      <p:sp>
        <p:nvSpPr>
          <p:cNvPr id="2028" name="Rectangle 13"/>
          <p:cNvSpPr/>
          <p:nvPr/>
        </p:nvSpPr>
        <p:spPr>
          <a:xfrm>
            <a:off x="567000" y="2147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29" name="Rectangle 14"/>
          <p:cNvSpPr/>
          <p:nvPr/>
        </p:nvSpPr>
        <p:spPr>
          <a:xfrm>
            <a:off x="567000" y="2147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30" name="TextBox 15"/>
          <p:cNvSpPr/>
          <p:nvPr/>
        </p:nvSpPr>
        <p:spPr>
          <a:xfrm>
            <a:off x="567000" y="2295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2</a:t>
            </a:r>
            <a:endParaRPr b="0" lang="en-US" sz="1700" spc="-1" strike="noStrike">
              <a:solidFill>
                <a:srgbClr val="000000"/>
              </a:solidFill>
              <a:latin typeface="Arial"/>
            </a:endParaRPr>
          </a:p>
        </p:txBody>
      </p:sp>
      <p:sp>
        <p:nvSpPr>
          <p:cNvPr id="2031" name="TextBox 16"/>
          <p:cNvSpPr/>
          <p:nvPr/>
        </p:nvSpPr>
        <p:spPr>
          <a:xfrm>
            <a:off x="1435680" y="2238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Entrar en la función </a:t>
            </a:r>
            <a:r>
              <a:rPr b="1" lang="en-US" sz="1100" spc="-1" strike="noStrike">
                <a:solidFill>
                  <a:srgbClr val="0b2545"/>
                </a:solidFill>
                <a:latin typeface="Consolas"/>
              </a:rPr>
              <a:t>Fn002</a:t>
            </a:r>
            <a:r>
              <a:rPr b="1" lang="en-US" sz="1100" spc="-1" strike="noStrike">
                <a:solidFill>
                  <a:srgbClr val="0b2545"/>
                </a:solidFill>
                <a:latin typeface="Segoe UI Semibold"/>
              </a:rPr>
              <a:t> desde el panel o SigmaWin+</a:t>
            </a:r>
            <a:endParaRPr b="0" lang="en-US" sz="1100" spc="-1" strike="noStrike">
              <a:solidFill>
                <a:srgbClr val="000000"/>
              </a:solidFill>
              <a:latin typeface="Arial"/>
            </a:endParaRPr>
          </a:p>
        </p:txBody>
      </p:sp>
      <p:sp>
        <p:nvSpPr>
          <p:cNvPr id="2032" name="TextBox 17"/>
          <p:cNvSpPr/>
          <p:nvPr/>
        </p:nvSpPr>
        <p:spPr>
          <a:xfrm>
            <a:off x="1435680" y="2447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En modo JOG el drive ignora la consigna externa: el movimiento lo controlas tú. Es el modo más seguro para la primera prueba.</a:t>
            </a:r>
            <a:endParaRPr b="0" lang="en-US" sz="900" spc="-1" strike="noStrike">
              <a:solidFill>
                <a:srgbClr val="000000"/>
              </a:solidFill>
              <a:latin typeface="Arial"/>
            </a:endParaRPr>
          </a:p>
        </p:txBody>
      </p:sp>
      <p:sp>
        <p:nvSpPr>
          <p:cNvPr id="2033" name="Rectangle 18"/>
          <p:cNvSpPr/>
          <p:nvPr/>
        </p:nvSpPr>
        <p:spPr>
          <a:xfrm>
            <a:off x="567000" y="2813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34" name="Rectangle 19"/>
          <p:cNvSpPr/>
          <p:nvPr/>
        </p:nvSpPr>
        <p:spPr>
          <a:xfrm>
            <a:off x="567000" y="2813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35" name="TextBox 20"/>
          <p:cNvSpPr/>
          <p:nvPr/>
        </p:nvSpPr>
        <p:spPr>
          <a:xfrm>
            <a:off x="567000" y="2961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3</a:t>
            </a:r>
            <a:endParaRPr b="0" lang="en-US" sz="1700" spc="-1" strike="noStrike">
              <a:solidFill>
                <a:srgbClr val="000000"/>
              </a:solidFill>
              <a:latin typeface="Arial"/>
            </a:endParaRPr>
          </a:p>
        </p:txBody>
      </p:sp>
      <p:sp>
        <p:nvSpPr>
          <p:cNvPr id="2036" name="TextBox 21"/>
          <p:cNvSpPr/>
          <p:nvPr/>
        </p:nvSpPr>
        <p:spPr>
          <a:xfrm>
            <a:off x="1435680" y="2904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Activar el servo y girar en sentido positivo</a:t>
            </a:r>
            <a:endParaRPr b="0" lang="en-US" sz="1100" spc="-1" strike="noStrike">
              <a:solidFill>
                <a:srgbClr val="000000"/>
              </a:solidFill>
              <a:latin typeface="Arial"/>
            </a:endParaRPr>
          </a:p>
        </p:txBody>
      </p:sp>
      <p:sp>
        <p:nvSpPr>
          <p:cNvPr id="2037" name="TextBox 22"/>
          <p:cNvSpPr/>
          <p:nvPr/>
        </p:nvSpPr>
        <p:spPr>
          <a:xfrm>
            <a:off x="1435680" y="3113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El motor debe girar suave, sin ruido anómalo, sin vibración y sin tirones. Observa y </a:t>
            </a:r>
            <a:r>
              <a:rPr b="1" lang="en-US" sz="900" spc="-1" strike="noStrike">
                <a:solidFill>
                  <a:srgbClr val="3a4654"/>
                </a:solidFill>
                <a:latin typeface="Segoe UI"/>
              </a:rPr>
              <a:t>escucha</a:t>
            </a:r>
            <a:r>
              <a:rPr b="0" lang="en-US" sz="900" spc="-1" strike="noStrike">
                <a:solidFill>
                  <a:srgbClr val="3a4654"/>
                </a:solidFill>
                <a:latin typeface="Segoe UI"/>
              </a:rPr>
              <a:t>.</a:t>
            </a:r>
            <a:endParaRPr b="0" lang="en-US" sz="900" spc="-1" strike="noStrike">
              <a:solidFill>
                <a:srgbClr val="000000"/>
              </a:solidFill>
              <a:latin typeface="Arial"/>
            </a:endParaRPr>
          </a:p>
        </p:txBody>
      </p:sp>
      <p:sp>
        <p:nvSpPr>
          <p:cNvPr id="2038" name="Rectangle 23"/>
          <p:cNvSpPr/>
          <p:nvPr/>
        </p:nvSpPr>
        <p:spPr>
          <a:xfrm>
            <a:off x="567000" y="3479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39" name="Rectangle 24"/>
          <p:cNvSpPr/>
          <p:nvPr/>
        </p:nvSpPr>
        <p:spPr>
          <a:xfrm>
            <a:off x="567000" y="3479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40" name="TextBox 25"/>
          <p:cNvSpPr/>
          <p:nvPr/>
        </p:nvSpPr>
        <p:spPr>
          <a:xfrm>
            <a:off x="567000" y="3627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4</a:t>
            </a:r>
            <a:endParaRPr b="0" lang="en-US" sz="1700" spc="-1" strike="noStrike">
              <a:solidFill>
                <a:srgbClr val="000000"/>
              </a:solidFill>
              <a:latin typeface="Arial"/>
            </a:endParaRPr>
          </a:p>
        </p:txBody>
      </p:sp>
      <p:sp>
        <p:nvSpPr>
          <p:cNvPr id="2041" name="TextBox 26"/>
          <p:cNvSpPr/>
          <p:nvPr/>
        </p:nvSpPr>
        <p:spPr>
          <a:xfrm>
            <a:off x="1435680" y="3570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Girar en sentido negativo y comparar</a:t>
            </a:r>
            <a:endParaRPr b="0" lang="en-US" sz="1100" spc="-1" strike="noStrike">
              <a:solidFill>
                <a:srgbClr val="000000"/>
              </a:solidFill>
              <a:latin typeface="Arial"/>
            </a:endParaRPr>
          </a:p>
        </p:txBody>
      </p:sp>
      <p:sp>
        <p:nvSpPr>
          <p:cNvPr id="2042" name="TextBox 27"/>
          <p:cNvSpPr/>
          <p:nvPr/>
        </p:nvSpPr>
        <p:spPr>
          <a:xfrm>
            <a:off x="1435680" y="3779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El comportamiento debe ser simétrico. Una asimetría clara indica problema mecánico o de fase.</a:t>
            </a:r>
            <a:endParaRPr b="0" lang="en-US" sz="900" spc="-1" strike="noStrike">
              <a:solidFill>
                <a:srgbClr val="000000"/>
              </a:solidFill>
              <a:latin typeface="Arial"/>
            </a:endParaRPr>
          </a:p>
        </p:txBody>
      </p:sp>
      <p:sp>
        <p:nvSpPr>
          <p:cNvPr id="2043" name="Rectangle 28"/>
          <p:cNvSpPr/>
          <p:nvPr/>
        </p:nvSpPr>
        <p:spPr>
          <a:xfrm>
            <a:off x="567000" y="4145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44" name="Rectangle 29"/>
          <p:cNvSpPr/>
          <p:nvPr/>
        </p:nvSpPr>
        <p:spPr>
          <a:xfrm>
            <a:off x="567000" y="4145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45" name="TextBox 30"/>
          <p:cNvSpPr/>
          <p:nvPr/>
        </p:nvSpPr>
        <p:spPr>
          <a:xfrm>
            <a:off x="567000" y="4293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5</a:t>
            </a:r>
            <a:endParaRPr b="0" lang="en-US" sz="1700" spc="-1" strike="noStrike">
              <a:solidFill>
                <a:srgbClr val="000000"/>
              </a:solidFill>
              <a:latin typeface="Arial"/>
            </a:endParaRPr>
          </a:p>
        </p:txBody>
      </p:sp>
      <p:sp>
        <p:nvSpPr>
          <p:cNvPr id="2046" name="TextBox 31"/>
          <p:cNvSpPr/>
          <p:nvPr/>
        </p:nvSpPr>
        <p:spPr>
          <a:xfrm>
            <a:off x="1435680" y="4236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Comprobar </a:t>
            </a:r>
            <a:r>
              <a:rPr b="1" lang="en-US" sz="1100" spc="-1" strike="noStrike">
                <a:solidFill>
                  <a:srgbClr val="0b2545"/>
                </a:solidFill>
                <a:latin typeface="Consolas"/>
              </a:rPr>
              <a:t>Un000</a:t>
            </a:r>
            <a:r>
              <a:rPr b="1" lang="en-US" sz="1100" spc="-1" strike="noStrike">
                <a:solidFill>
                  <a:srgbClr val="0b2545"/>
                </a:solidFill>
                <a:latin typeface="Segoe UI Semibold"/>
              </a:rPr>
              <a:t> (velocidad) y </a:t>
            </a:r>
            <a:r>
              <a:rPr b="1" lang="en-US" sz="1100" spc="-1" strike="noStrike">
                <a:solidFill>
                  <a:srgbClr val="0b2545"/>
                </a:solidFill>
                <a:latin typeface="Consolas"/>
              </a:rPr>
              <a:t>Un002</a:t>
            </a:r>
            <a:r>
              <a:rPr b="1" lang="en-US" sz="1100" spc="-1" strike="noStrike">
                <a:solidFill>
                  <a:srgbClr val="0b2545"/>
                </a:solidFill>
                <a:latin typeface="Segoe UI Semibold"/>
              </a:rPr>
              <a:t> (par)</a:t>
            </a:r>
            <a:endParaRPr b="0" lang="en-US" sz="1100" spc="-1" strike="noStrike">
              <a:solidFill>
                <a:srgbClr val="000000"/>
              </a:solidFill>
              <a:latin typeface="Arial"/>
            </a:endParaRPr>
          </a:p>
        </p:txBody>
      </p:sp>
      <p:sp>
        <p:nvSpPr>
          <p:cNvPr id="2047" name="TextBox 32"/>
          <p:cNvSpPr/>
          <p:nvPr/>
        </p:nvSpPr>
        <p:spPr>
          <a:xfrm>
            <a:off x="1435680" y="4445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La velocidad debe coincidir con </a:t>
            </a:r>
            <a:r>
              <a:rPr b="0" lang="en-US" sz="900" spc="-1" strike="noStrike">
                <a:solidFill>
                  <a:srgbClr val="3a4654"/>
                </a:solidFill>
                <a:latin typeface="Consolas"/>
              </a:rPr>
              <a:t>Pn304</a:t>
            </a:r>
            <a:r>
              <a:rPr b="0" lang="en-US" sz="900" spc="-1" strike="noStrike">
                <a:solidFill>
                  <a:srgbClr val="3a4654"/>
                </a:solidFill>
                <a:latin typeface="Segoe UI"/>
              </a:rPr>
              <a:t>. Sin carga, el par debe ser muy bajo (unos pocos por ciento). Un par alto en vacío es señal de alarma.</a:t>
            </a:r>
            <a:endParaRPr b="0" lang="en-US" sz="900" spc="-1" strike="noStrike">
              <a:solidFill>
                <a:srgbClr val="000000"/>
              </a:solidFill>
              <a:latin typeface="Arial"/>
            </a:endParaRPr>
          </a:p>
        </p:txBody>
      </p:sp>
      <p:sp>
        <p:nvSpPr>
          <p:cNvPr id="2048" name="Rectangle 33"/>
          <p:cNvSpPr/>
          <p:nvPr/>
        </p:nvSpPr>
        <p:spPr>
          <a:xfrm>
            <a:off x="567000" y="4811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49" name="Rectangle 34"/>
          <p:cNvSpPr/>
          <p:nvPr/>
        </p:nvSpPr>
        <p:spPr>
          <a:xfrm>
            <a:off x="567000" y="4811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50" name="TextBox 35"/>
          <p:cNvSpPr/>
          <p:nvPr/>
        </p:nvSpPr>
        <p:spPr>
          <a:xfrm>
            <a:off x="567000" y="4959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6</a:t>
            </a:r>
            <a:endParaRPr b="0" lang="en-US" sz="1700" spc="-1" strike="noStrike">
              <a:solidFill>
                <a:srgbClr val="000000"/>
              </a:solidFill>
              <a:latin typeface="Arial"/>
            </a:endParaRPr>
          </a:p>
        </p:txBody>
      </p:sp>
      <p:sp>
        <p:nvSpPr>
          <p:cNvPr id="2051" name="TextBox 36"/>
          <p:cNvSpPr/>
          <p:nvPr/>
        </p:nvSpPr>
        <p:spPr>
          <a:xfrm>
            <a:off x="1435680" y="4902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Verificar el sentido de giro respecto a la máquina</a:t>
            </a:r>
            <a:endParaRPr b="0" lang="en-US" sz="1100" spc="-1" strike="noStrike">
              <a:solidFill>
                <a:srgbClr val="000000"/>
              </a:solidFill>
              <a:latin typeface="Arial"/>
            </a:endParaRPr>
          </a:p>
        </p:txBody>
      </p:sp>
      <p:sp>
        <p:nvSpPr>
          <p:cNvPr id="2052" name="TextBox 37"/>
          <p:cNvSpPr/>
          <p:nvPr/>
        </p:nvSpPr>
        <p:spPr>
          <a:xfrm>
            <a:off x="1435680" y="5111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Si es el contrario del deseado, cámbialo con </a:t>
            </a:r>
            <a:r>
              <a:rPr b="0" lang="en-US" sz="900" spc="-1" strike="noStrike">
                <a:solidFill>
                  <a:srgbClr val="3a4654"/>
                </a:solidFill>
                <a:latin typeface="Consolas"/>
              </a:rPr>
              <a:t>Pn000.0</a:t>
            </a:r>
            <a:r>
              <a:rPr b="0" lang="en-US" sz="900" spc="-1" strike="noStrike">
                <a:solidFill>
                  <a:srgbClr val="3a4654"/>
                </a:solidFill>
                <a:latin typeface="Segoe UI"/>
              </a:rPr>
              <a:t>. </a:t>
            </a:r>
            <a:r>
              <a:rPr b="1" lang="en-US" sz="900" spc="-1" strike="noStrike">
                <a:solidFill>
                  <a:srgbClr val="3a4654"/>
                </a:solidFill>
                <a:latin typeface="Segoe UI"/>
              </a:rPr>
              <a:t>Nunca</a:t>
            </a:r>
            <a:r>
              <a:rPr b="0" lang="en-US" sz="900" spc="-1" strike="noStrike">
                <a:solidFill>
                  <a:srgbClr val="3a4654"/>
                </a:solidFill>
                <a:latin typeface="Segoe UI"/>
              </a:rPr>
              <a:t> intercambiando fases del motor.</a:t>
            </a:r>
            <a:endParaRPr b="0" lang="en-US" sz="900" spc="-1" strike="noStrike">
              <a:solidFill>
                <a:srgbClr val="000000"/>
              </a:solidFill>
              <a:latin typeface="Arial"/>
            </a:endParaRPr>
          </a:p>
        </p:txBody>
      </p:sp>
      <p:sp>
        <p:nvSpPr>
          <p:cNvPr id="2053" name="Rectangle 38"/>
          <p:cNvSpPr/>
          <p:nvPr/>
        </p:nvSpPr>
        <p:spPr>
          <a:xfrm>
            <a:off x="567000" y="5504760"/>
            <a:ext cx="11057400" cy="82260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54" name="Rectangle 39"/>
          <p:cNvSpPr/>
          <p:nvPr/>
        </p:nvSpPr>
        <p:spPr>
          <a:xfrm>
            <a:off x="567000" y="5504760"/>
            <a:ext cx="68400" cy="82260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55" name="TextBox 40"/>
          <p:cNvSpPr/>
          <p:nvPr/>
        </p:nvSpPr>
        <p:spPr>
          <a:xfrm>
            <a:off x="841320" y="564192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Qué observar además de los números</a:t>
            </a:r>
            <a:endParaRPr b="0" lang="en-US" sz="1200" spc="-1" strike="noStrike">
              <a:solidFill>
                <a:srgbClr val="000000"/>
              </a:solidFill>
              <a:latin typeface="Arial"/>
            </a:endParaRPr>
          </a:p>
        </p:txBody>
      </p:sp>
      <p:sp>
        <p:nvSpPr>
          <p:cNvPr id="2056" name="TextBox 41"/>
          <p:cNvSpPr/>
          <p:nvPr/>
        </p:nvSpPr>
        <p:spPr>
          <a:xfrm>
            <a:off x="841320" y="591624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Ruido metálico o zumbido agudo (posible resonancia o ganancia excesiva), vibración a baja velocidad (posible problema de acoplamiento o de encoder) y calentamiento anómalo tras unos minutos.</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7"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58"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059"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Fase 3 — Configuración básica del eje</a:t>
            </a:r>
            <a:endParaRPr b="0" lang="en-US" sz="2500" spc="-1" strike="noStrike">
              <a:solidFill>
                <a:srgbClr val="000000"/>
              </a:solidFill>
              <a:latin typeface="Arial"/>
            </a:endParaRPr>
          </a:p>
        </p:txBody>
      </p:sp>
      <p:sp>
        <p:nvSpPr>
          <p:cNvPr id="2060"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Ahora el drive ya sabe qué máquina tiene delante</a:t>
            </a:r>
            <a:endParaRPr b="0" lang="en-US" sz="1250" spc="-1" strike="noStrike">
              <a:solidFill>
                <a:srgbClr val="000000"/>
              </a:solidFill>
              <a:latin typeface="Arial"/>
            </a:endParaRPr>
          </a:p>
        </p:txBody>
      </p:sp>
      <p:sp>
        <p:nvSpPr>
          <p:cNvPr id="2061"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08</a:t>
            </a:r>
            <a:endParaRPr b="0" lang="en-US" sz="1100" spc="-1" strike="noStrike">
              <a:solidFill>
                <a:srgbClr val="000000"/>
              </a:solidFill>
              <a:latin typeface="Arial"/>
            </a:endParaRPr>
          </a:p>
        </p:txBody>
      </p:sp>
      <p:sp>
        <p:nvSpPr>
          <p:cNvPr id="2062"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063"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111</a:t>
            </a:r>
            <a:endParaRPr b="0" lang="en-US" sz="900" spc="-1" strike="noStrike">
              <a:solidFill>
                <a:srgbClr val="000000"/>
              </a:solidFill>
              <a:latin typeface="Arial"/>
            </a:endParaRPr>
          </a:p>
        </p:txBody>
      </p:sp>
      <p:sp>
        <p:nvSpPr>
          <p:cNvPr id="2064" name="Rectangle 8"/>
          <p:cNvSpPr/>
          <p:nvPr/>
        </p:nvSpPr>
        <p:spPr>
          <a:xfrm>
            <a:off x="567000" y="1481400"/>
            <a:ext cx="11057400" cy="59796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65" name="Rectangle 9"/>
          <p:cNvSpPr/>
          <p:nvPr/>
        </p:nvSpPr>
        <p:spPr>
          <a:xfrm>
            <a:off x="567000" y="1481400"/>
            <a:ext cx="658080" cy="5979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66" name="TextBox 10"/>
          <p:cNvSpPr/>
          <p:nvPr/>
        </p:nvSpPr>
        <p:spPr>
          <a:xfrm>
            <a:off x="567000" y="1638720"/>
            <a:ext cx="658080" cy="282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850" spc="-1" strike="noStrike">
                <a:solidFill>
                  <a:srgbClr val="00a9ce"/>
                </a:solidFill>
                <a:latin typeface="Segoe UI Semibold"/>
              </a:rPr>
              <a:t>1</a:t>
            </a:r>
            <a:endParaRPr b="0" lang="en-US" sz="1850" spc="-1" strike="noStrike">
              <a:solidFill>
                <a:srgbClr val="000000"/>
              </a:solidFill>
              <a:latin typeface="Arial"/>
            </a:endParaRPr>
          </a:p>
        </p:txBody>
      </p:sp>
      <p:sp>
        <p:nvSpPr>
          <p:cNvPr id="2067" name="TextBox 11"/>
          <p:cNvSpPr/>
          <p:nvPr/>
        </p:nvSpPr>
        <p:spPr>
          <a:xfrm>
            <a:off x="1435680" y="1572840"/>
            <a:ext cx="98686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50" spc="-1" strike="noStrike">
                <a:solidFill>
                  <a:srgbClr val="0b2545"/>
                </a:solidFill>
                <a:latin typeface="Segoe UI Semibold"/>
              </a:rPr>
              <a:t>Modo de control (</a:t>
            </a:r>
            <a:r>
              <a:rPr b="1" lang="en-US" sz="1250" spc="-1" strike="noStrike">
                <a:solidFill>
                  <a:srgbClr val="0b2545"/>
                </a:solidFill>
                <a:latin typeface="Consolas"/>
              </a:rPr>
              <a:t>Pn000.1</a:t>
            </a:r>
            <a:r>
              <a:rPr b="1" lang="en-US" sz="1250" spc="-1" strike="noStrike">
                <a:solidFill>
                  <a:srgbClr val="0b2545"/>
                </a:solidFill>
                <a:latin typeface="Segoe UI Semibold"/>
              </a:rPr>
              <a:t>)</a:t>
            </a:r>
            <a:endParaRPr b="0" lang="en-US" sz="1250" spc="-1" strike="noStrike">
              <a:solidFill>
                <a:srgbClr val="000000"/>
              </a:solidFill>
              <a:latin typeface="Arial"/>
            </a:endParaRPr>
          </a:p>
        </p:txBody>
      </p:sp>
      <p:sp>
        <p:nvSpPr>
          <p:cNvPr id="2068" name="TextBox 12"/>
          <p:cNvSpPr/>
          <p:nvPr/>
        </p:nvSpPr>
        <p:spPr>
          <a:xfrm>
            <a:off x="1435680" y="180648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1050" spc="-1" strike="noStrike">
                <a:solidFill>
                  <a:srgbClr val="3a4654"/>
                </a:solidFill>
                <a:latin typeface="Segoe UI"/>
              </a:rPr>
              <a:t>Posición, velocidad o par, según la arquitectura decidida en el Módulo 06.</a:t>
            </a:r>
            <a:endParaRPr b="0" lang="en-US" sz="1050" spc="-1" strike="noStrike">
              <a:solidFill>
                <a:srgbClr val="000000"/>
              </a:solidFill>
              <a:latin typeface="Arial"/>
            </a:endParaRPr>
          </a:p>
        </p:txBody>
      </p:sp>
      <p:sp>
        <p:nvSpPr>
          <p:cNvPr id="2069" name="Rectangle 13"/>
          <p:cNvSpPr/>
          <p:nvPr/>
        </p:nvSpPr>
        <p:spPr>
          <a:xfrm>
            <a:off x="567000" y="2189160"/>
            <a:ext cx="11057400" cy="59796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70" name="Rectangle 14"/>
          <p:cNvSpPr/>
          <p:nvPr/>
        </p:nvSpPr>
        <p:spPr>
          <a:xfrm>
            <a:off x="567000" y="2189160"/>
            <a:ext cx="658080" cy="5979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71" name="TextBox 15"/>
          <p:cNvSpPr/>
          <p:nvPr/>
        </p:nvSpPr>
        <p:spPr>
          <a:xfrm>
            <a:off x="567000" y="2346480"/>
            <a:ext cx="658080" cy="282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850" spc="-1" strike="noStrike">
                <a:solidFill>
                  <a:srgbClr val="00a9ce"/>
                </a:solidFill>
                <a:latin typeface="Segoe UI Semibold"/>
              </a:rPr>
              <a:t>2</a:t>
            </a:r>
            <a:endParaRPr b="0" lang="en-US" sz="1850" spc="-1" strike="noStrike">
              <a:solidFill>
                <a:srgbClr val="000000"/>
              </a:solidFill>
              <a:latin typeface="Arial"/>
            </a:endParaRPr>
          </a:p>
        </p:txBody>
      </p:sp>
      <p:sp>
        <p:nvSpPr>
          <p:cNvPr id="2072" name="TextBox 16"/>
          <p:cNvSpPr/>
          <p:nvPr/>
        </p:nvSpPr>
        <p:spPr>
          <a:xfrm>
            <a:off x="1435680" y="2280600"/>
            <a:ext cx="98686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50" spc="-1" strike="noStrike">
                <a:solidFill>
                  <a:srgbClr val="0b2545"/>
                </a:solidFill>
                <a:latin typeface="Segoe UI Semibold"/>
              </a:rPr>
              <a:t>Engranaje electrónico (</a:t>
            </a:r>
            <a:r>
              <a:rPr b="1" lang="en-US" sz="1250" spc="-1" strike="noStrike">
                <a:solidFill>
                  <a:srgbClr val="0b2545"/>
                </a:solidFill>
                <a:latin typeface="Consolas"/>
              </a:rPr>
              <a:t>Pn20E</a:t>
            </a:r>
            <a:r>
              <a:rPr b="1" lang="en-US" sz="1250" spc="-1" strike="noStrike">
                <a:solidFill>
                  <a:srgbClr val="0b2545"/>
                </a:solidFill>
                <a:latin typeface="Segoe UI Semibold"/>
              </a:rPr>
              <a:t> / </a:t>
            </a:r>
            <a:r>
              <a:rPr b="1" lang="en-US" sz="1250" spc="-1" strike="noStrike">
                <a:solidFill>
                  <a:srgbClr val="0b2545"/>
                </a:solidFill>
                <a:latin typeface="Consolas"/>
              </a:rPr>
              <a:t>Pn210</a:t>
            </a:r>
            <a:r>
              <a:rPr b="1" lang="en-US" sz="1250" spc="-1" strike="noStrike">
                <a:solidFill>
                  <a:srgbClr val="0b2545"/>
                </a:solidFill>
                <a:latin typeface="Segoe UI Semibold"/>
              </a:rPr>
              <a:t>)</a:t>
            </a:r>
            <a:endParaRPr b="0" lang="en-US" sz="1250" spc="-1" strike="noStrike">
              <a:solidFill>
                <a:srgbClr val="000000"/>
              </a:solidFill>
              <a:latin typeface="Arial"/>
            </a:endParaRPr>
          </a:p>
        </p:txBody>
      </p:sp>
      <p:sp>
        <p:nvSpPr>
          <p:cNvPr id="2073" name="TextBox 17"/>
          <p:cNvSpPr/>
          <p:nvPr/>
        </p:nvSpPr>
        <p:spPr>
          <a:xfrm>
            <a:off x="1435680" y="251460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1050" spc="-1" strike="noStrike">
                <a:solidFill>
                  <a:srgbClr val="3a4654"/>
                </a:solidFill>
                <a:latin typeface="Segoe UI"/>
              </a:rPr>
              <a:t>Define la unidad de referencia. Calcúlalo, escríbelo y </a:t>
            </a:r>
            <a:r>
              <a:rPr b="1" lang="en-US" sz="1050" spc="-1" strike="noStrike">
                <a:solidFill>
                  <a:srgbClr val="3a4654"/>
                </a:solidFill>
                <a:latin typeface="Segoe UI"/>
              </a:rPr>
              <a:t>compruébalo midiendo</a:t>
            </a:r>
            <a:r>
              <a:rPr b="0" lang="en-US" sz="1050" spc="-1" strike="noStrike">
                <a:solidFill>
                  <a:srgbClr val="3a4654"/>
                </a:solidFill>
                <a:latin typeface="Segoe UI"/>
              </a:rPr>
              <a:t> un desplazamiento conocido.</a:t>
            </a:r>
            <a:endParaRPr b="0" lang="en-US" sz="1050" spc="-1" strike="noStrike">
              <a:solidFill>
                <a:srgbClr val="000000"/>
              </a:solidFill>
              <a:latin typeface="Arial"/>
            </a:endParaRPr>
          </a:p>
        </p:txBody>
      </p:sp>
      <p:sp>
        <p:nvSpPr>
          <p:cNvPr id="2074" name="Rectangle 18"/>
          <p:cNvSpPr/>
          <p:nvPr/>
        </p:nvSpPr>
        <p:spPr>
          <a:xfrm>
            <a:off x="567000" y="2897280"/>
            <a:ext cx="11057400" cy="59796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75" name="Rectangle 19"/>
          <p:cNvSpPr/>
          <p:nvPr/>
        </p:nvSpPr>
        <p:spPr>
          <a:xfrm>
            <a:off x="567000" y="2897280"/>
            <a:ext cx="658080" cy="5979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76" name="TextBox 20"/>
          <p:cNvSpPr/>
          <p:nvPr/>
        </p:nvSpPr>
        <p:spPr>
          <a:xfrm>
            <a:off x="567000" y="3054600"/>
            <a:ext cx="658080" cy="282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850" spc="-1" strike="noStrike">
                <a:solidFill>
                  <a:srgbClr val="00a9ce"/>
                </a:solidFill>
                <a:latin typeface="Segoe UI Semibold"/>
              </a:rPr>
              <a:t>3</a:t>
            </a:r>
            <a:endParaRPr b="0" lang="en-US" sz="1850" spc="-1" strike="noStrike">
              <a:solidFill>
                <a:srgbClr val="000000"/>
              </a:solidFill>
              <a:latin typeface="Arial"/>
            </a:endParaRPr>
          </a:p>
        </p:txBody>
      </p:sp>
      <p:sp>
        <p:nvSpPr>
          <p:cNvPr id="2077" name="TextBox 21"/>
          <p:cNvSpPr/>
          <p:nvPr/>
        </p:nvSpPr>
        <p:spPr>
          <a:xfrm>
            <a:off x="1435680" y="2988720"/>
            <a:ext cx="98686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50" spc="-1" strike="noStrike">
                <a:solidFill>
                  <a:srgbClr val="0b2545"/>
                </a:solidFill>
                <a:latin typeface="Segoe UI Semibold"/>
              </a:rPr>
              <a:t>Formato de la consigna (</a:t>
            </a:r>
            <a:r>
              <a:rPr b="1" lang="en-US" sz="1250" spc="-1" strike="noStrike">
                <a:solidFill>
                  <a:srgbClr val="0b2545"/>
                </a:solidFill>
                <a:latin typeface="Consolas"/>
              </a:rPr>
              <a:t>Pn200.0</a:t>
            </a:r>
            <a:r>
              <a:rPr b="1" lang="en-US" sz="1250" spc="-1" strike="noStrike">
                <a:solidFill>
                  <a:srgbClr val="0b2545"/>
                </a:solidFill>
                <a:latin typeface="Segoe UI Semibold"/>
              </a:rPr>
              <a:t> si es tren de pulsos)</a:t>
            </a:r>
            <a:endParaRPr b="0" lang="en-US" sz="1250" spc="-1" strike="noStrike">
              <a:solidFill>
                <a:srgbClr val="000000"/>
              </a:solidFill>
              <a:latin typeface="Arial"/>
            </a:endParaRPr>
          </a:p>
        </p:txBody>
      </p:sp>
      <p:sp>
        <p:nvSpPr>
          <p:cNvPr id="2078" name="TextBox 22"/>
          <p:cNvSpPr/>
          <p:nvPr/>
        </p:nvSpPr>
        <p:spPr>
          <a:xfrm>
            <a:off x="1435680" y="322272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1050" spc="-1" strike="noStrike">
                <a:solidFill>
                  <a:srgbClr val="3a4654"/>
                </a:solidFill>
                <a:latin typeface="Segoe UI"/>
              </a:rPr>
              <a:t>Debe coincidir exactamente con lo que emite el controlador.</a:t>
            </a:r>
            <a:endParaRPr b="0" lang="en-US" sz="1050" spc="-1" strike="noStrike">
              <a:solidFill>
                <a:srgbClr val="000000"/>
              </a:solidFill>
              <a:latin typeface="Arial"/>
            </a:endParaRPr>
          </a:p>
        </p:txBody>
      </p:sp>
      <p:sp>
        <p:nvSpPr>
          <p:cNvPr id="2079" name="Rectangle 23"/>
          <p:cNvSpPr/>
          <p:nvPr/>
        </p:nvSpPr>
        <p:spPr>
          <a:xfrm>
            <a:off x="567000" y="3605400"/>
            <a:ext cx="11057400" cy="59796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80" name="Rectangle 24"/>
          <p:cNvSpPr/>
          <p:nvPr/>
        </p:nvSpPr>
        <p:spPr>
          <a:xfrm>
            <a:off x="567000" y="3605400"/>
            <a:ext cx="658080" cy="5979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81" name="TextBox 25"/>
          <p:cNvSpPr/>
          <p:nvPr/>
        </p:nvSpPr>
        <p:spPr>
          <a:xfrm>
            <a:off x="567000" y="3762720"/>
            <a:ext cx="658080" cy="282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850" spc="-1" strike="noStrike">
                <a:solidFill>
                  <a:srgbClr val="00a9ce"/>
                </a:solidFill>
                <a:latin typeface="Segoe UI Semibold"/>
              </a:rPr>
              <a:t>4</a:t>
            </a:r>
            <a:endParaRPr b="0" lang="en-US" sz="1850" spc="-1" strike="noStrike">
              <a:solidFill>
                <a:srgbClr val="000000"/>
              </a:solidFill>
              <a:latin typeface="Arial"/>
            </a:endParaRPr>
          </a:p>
        </p:txBody>
      </p:sp>
      <p:sp>
        <p:nvSpPr>
          <p:cNvPr id="2082" name="TextBox 26"/>
          <p:cNvSpPr/>
          <p:nvPr/>
        </p:nvSpPr>
        <p:spPr>
          <a:xfrm>
            <a:off x="1435680" y="3696840"/>
            <a:ext cx="98686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50" spc="-1" strike="noStrike">
                <a:solidFill>
                  <a:srgbClr val="0b2545"/>
                </a:solidFill>
                <a:latin typeface="Segoe UI Semibold"/>
              </a:rPr>
              <a:t>Asignación de entradas y salidas (</a:t>
            </a:r>
            <a:r>
              <a:rPr b="1" lang="en-US" sz="1250" spc="-1" strike="noStrike">
                <a:solidFill>
                  <a:srgbClr val="0b2545"/>
                </a:solidFill>
                <a:latin typeface="Consolas"/>
              </a:rPr>
              <a:t>Pn50A</a:t>
            </a:r>
            <a:r>
              <a:rPr b="1" lang="en-US" sz="1250" spc="-1" strike="noStrike">
                <a:solidFill>
                  <a:srgbClr val="0b2545"/>
                </a:solidFill>
                <a:latin typeface="Segoe UI Semibold"/>
              </a:rPr>
              <a:t>…</a:t>
            </a:r>
            <a:r>
              <a:rPr b="1" lang="en-US" sz="1250" spc="-1" strike="noStrike">
                <a:solidFill>
                  <a:srgbClr val="0b2545"/>
                </a:solidFill>
                <a:latin typeface="Consolas"/>
              </a:rPr>
              <a:t>Pn510</a:t>
            </a:r>
            <a:r>
              <a:rPr b="1" lang="en-US" sz="1250" spc="-1" strike="noStrike">
                <a:solidFill>
                  <a:srgbClr val="0b2545"/>
                </a:solidFill>
                <a:latin typeface="Segoe UI Semibold"/>
              </a:rPr>
              <a:t>)</a:t>
            </a:r>
            <a:endParaRPr b="0" lang="en-US" sz="1250" spc="-1" strike="noStrike">
              <a:solidFill>
                <a:srgbClr val="000000"/>
              </a:solidFill>
              <a:latin typeface="Arial"/>
            </a:endParaRPr>
          </a:p>
        </p:txBody>
      </p:sp>
      <p:sp>
        <p:nvSpPr>
          <p:cNvPr id="2083" name="TextBox 27"/>
          <p:cNvSpPr/>
          <p:nvPr/>
        </p:nvSpPr>
        <p:spPr>
          <a:xfrm>
            <a:off x="1435680" y="393048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1050" spc="-1" strike="noStrike">
                <a:solidFill>
                  <a:srgbClr val="3a4654"/>
                </a:solidFill>
                <a:latin typeface="Segoe UI"/>
              </a:rPr>
              <a:t>Servo ON, finales de carrera, reset, </a:t>
            </a:r>
            <a:r>
              <a:rPr b="0" lang="en-US" sz="1050" spc="-1" strike="noStrike">
                <a:solidFill>
                  <a:srgbClr val="3a4654"/>
                </a:solidFill>
                <a:latin typeface="Consolas"/>
              </a:rPr>
              <a:t>/COIN</a:t>
            </a:r>
            <a:r>
              <a:rPr b="0" lang="en-US" sz="1050" spc="-1" strike="noStrike">
                <a:solidFill>
                  <a:srgbClr val="3a4654"/>
                </a:solidFill>
                <a:latin typeface="Segoe UI"/>
              </a:rPr>
              <a:t>, </a:t>
            </a:r>
            <a:r>
              <a:rPr b="0" lang="en-US" sz="1050" spc="-1" strike="noStrike">
                <a:solidFill>
                  <a:srgbClr val="3a4654"/>
                </a:solidFill>
                <a:latin typeface="Consolas"/>
              </a:rPr>
              <a:t>ALM</a:t>
            </a:r>
            <a:r>
              <a:rPr b="0" lang="en-US" sz="1050" spc="-1" strike="noStrike">
                <a:solidFill>
                  <a:srgbClr val="3a4654"/>
                </a:solidFill>
                <a:latin typeface="Segoe UI"/>
              </a:rPr>
              <a:t>, </a:t>
            </a:r>
            <a:r>
              <a:rPr b="0" lang="en-US" sz="1050" spc="-1" strike="noStrike">
                <a:solidFill>
                  <a:srgbClr val="3a4654"/>
                </a:solidFill>
                <a:latin typeface="Consolas"/>
              </a:rPr>
              <a:t>/BK</a:t>
            </a:r>
            <a:r>
              <a:rPr b="0" lang="en-US" sz="1050" spc="-1" strike="noStrike">
                <a:solidFill>
                  <a:srgbClr val="3a4654"/>
                </a:solidFill>
                <a:latin typeface="Segoe UI"/>
              </a:rPr>
              <a:t>. Documenta cada asignación en el esquema eléctrico.</a:t>
            </a:r>
            <a:endParaRPr b="0" lang="en-US" sz="1050" spc="-1" strike="noStrike">
              <a:solidFill>
                <a:srgbClr val="000000"/>
              </a:solidFill>
              <a:latin typeface="Arial"/>
            </a:endParaRPr>
          </a:p>
        </p:txBody>
      </p:sp>
      <p:sp>
        <p:nvSpPr>
          <p:cNvPr id="2084" name="Rectangle 28"/>
          <p:cNvSpPr/>
          <p:nvPr/>
        </p:nvSpPr>
        <p:spPr>
          <a:xfrm>
            <a:off x="567000" y="4313520"/>
            <a:ext cx="11057400" cy="59796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85" name="Rectangle 29"/>
          <p:cNvSpPr/>
          <p:nvPr/>
        </p:nvSpPr>
        <p:spPr>
          <a:xfrm>
            <a:off x="567000" y="4313520"/>
            <a:ext cx="658080" cy="5979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86" name="TextBox 30"/>
          <p:cNvSpPr/>
          <p:nvPr/>
        </p:nvSpPr>
        <p:spPr>
          <a:xfrm>
            <a:off x="567000" y="4470840"/>
            <a:ext cx="658080" cy="282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850" spc="-1" strike="noStrike">
                <a:solidFill>
                  <a:srgbClr val="00a9ce"/>
                </a:solidFill>
                <a:latin typeface="Segoe UI Semibold"/>
              </a:rPr>
              <a:t>5</a:t>
            </a:r>
            <a:endParaRPr b="0" lang="en-US" sz="1850" spc="-1" strike="noStrike">
              <a:solidFill>
                <a:srgbClr val="000000"/>
              </a:solidFill>
              <a:latin typeface="Arial"/>
            </a:endParaRPr>
          </a:p>
        </p:txBody>
      </p:sp>
      <p:sp>
        <p:nvSpPr>
          <p:cNvPr id="2087" name="TextBox 31"/>
          <p:cNvSpPr/>
          <p:nvPr/>
        </p:nvSpPr>
        <p:spPr>
          <a:xfrm>
            <a:off x="1435680" y="4404960"/>
            <a:ext cx="98686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50" spc="-1" strike="noStrike">
                <a:solidFill>
                  <a:srgbClr val="0b2545"/>
                </a:solidFill>
                <a:latin typeface="Segoe UI Semibold"/>
              </a:rPr>
              <a:t>Límites de protección (</a:t>
            </a:r>
            <a:r>
              <a:rPr b="1" lang="en-US" sz="1250" spc="-1" strike="noStrike">
                <a:solidFill>
                  <a:srgbClr val="0b2545"/>
                </a:solidFill>
                <a:latin typeface="Consolas"/>
              </a:rPr>
              <a:t>Pn520</a:t>
            </a:r>
            <a:r>
              <a:rPr b="1" lang="en-US" sz="1250" spc="-1" strike="noStrike">
                <a:solidFill>
                  <a:srgbClr val="0b2545"/>
                </a:solidFill>
                <a:latin typeface="Segoe UI Semibold"/>
              </a:rPr>
              <a:t>, </a:t>
            </a:r>
            <a:r>
              <a:rPr b="1" lang="en-US" sz="1250" spc="-1" strike="noStrike">
                <a:solidFill>
                  <a:srgbClr val="0b2545"/>
                </a:solidFill>
                <a:latin typeface="Consolas"/>
              </a:rPr>
              <a:t>Pn522</a:t>
            </a:r>
            <a:r>
              <a:rPr b="1" lang="en-US" sz="1250" spc="-1" strike="noStrike">
                <a:solidFill>
                  <a:srgbClr val="0b2545"/>
                </a:solidFill>
                <a:latin typeface="Segoe UI Semibold"/>
              </a:rPr>
              <a:t>)</a:t>
            </a:r>
            <a:endParaRPr b="0" lang="en-US" sz="1250" spc="-1" strike="noStrike">
              <a:solidFill>
                <a:srgbClr val="000000"/>
              </a:solidFill>
              <a:latin typeface="Arial"/>
            </a:endParaRPr>
          </a:p>
        </p:txBody>
      </p:sp>
      <p:sp>
        <p:nvSpPr>
          <p:cNvPr id="2088" name="TextBox 32"/>
          <p:cNvSpPr/>
          <p:nvPr/>
        </p:nvSpPr>
        <p:spPr>
          <a:xfrm>
            <a:off x="1435680" y="463860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1050" spc="-1" strike="noStrike">
                <a:solidFill>
                  <a:srgbClr val="3a4654"/>
                </a:solidFill>
                <a:latin typeface="Segoe UI"/>
              </a:rPr>
              <a:t>Error de posición admisible y ventana de posicionado, coherentes con la tolerancia mecánica de la aplicación.</a:t>
            </a:r>
            <a:endParaRPr b="0" lang="en-US" sz="1050" spc="-1" strike="noStrike">
              <a:solidFill>
                <a:srgbClr val="000000"/>
              </a:solidFill>
              <a:latin typeface="Arial"/>
            </a:endParaRPr>
          </a:p>
        </p:txBody>
      </p:sp>
      <p:sp>
        <p:nvSpPr>
          <p:cNvPr id="2089" name="Rectangle 33"/>
          <p:cNvSpPr/>
          <p:nvPr/>
        </p:nvSpPr>
        <p:spPr>
          <a:xfrm>
            <a:off x="567000" y="5021280"/>
            <a:ext cx="11057400" cy="59796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90" name="Rectangle 34"/>
          <p:cNvSpPr/>
          <p:nvPr/>
        </p:nvSpPr>
        <p:spPr>
          <a:xfrm>
            <a:off x="567000" y="5021280"/>
            <a:ext cx="658080" cy="5979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91" name="TextBox 35"/>
          <p:cNvSpPr/>
          <p:nvPr/>
        </p:nvSpPr>
        <p:spPr>
          <a:xfrm>
            <a:off x="567000" y="5178600"/>
            <a:ext cx="658080" cy="282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850" spc="-1" strike="noStrike">
                <a:solidFill>
                  <a:srgbClr val="00a9ce"/>
                </a:solidFill>
                <a:latin typeface="Segoe UI Semibold"/>
              </a:rPr>
              <a:t>6</a:t>
            </a:r>
            <a:endParaRPr b="0" lang="en-US" sz="1850" spc="-1" strike="noStrike">
              <a:solidFill>
                <a:srgbClr val="000000"/>
              </a:solidFill>
              <a:latin typeface="Arial"/>
            </a:endParaRPr>
          </a:p>
        </p:txBody>
      </p:sp>
      <p:sp>
        <p:nvSpPr>
          <p:cNvPr id="2092" name="TextBox 36"/>
          <p:cNvSpPr/>
          <p:nvPr/>
        </p:nvSpPr>
        <p:spPr>
          <a:xfrm>
            <a:off x="1435680" y="5112720"/>
            <a:ext cx="98686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50" spc="-1" strike="noStrike">
                <a:solidFill>
                  <a:srgbClr val="0b2545"/>
                </a:solidFill>
                <a:latin typeface="Segoe UI Semibold"/>
              </a:rPr>
              <a:t>Freno de retención (</a:t>
            </a:r>
            <a:r>
              <a:rPr b="1" lang="en-US" sz="1250" spc="-1" strike="noStrike">
                <a:solidFill>
                  <a:srgbClr val="0b2545"/>
                </a:solidFill>
                <a:latin typeface="Consolas"/>
              </a:rPr>
              <a:t>Pn506</a:t>
            </a:r>
            <a:r>
              <a:rPr b="1" lang="en-US" sz="1250" spc="-1" strike="noStrike">
                <a:solidFill>
                  <a:srgbClr val="0b2545"/>
                </a:solidFill>
                <a:latin typeface="Segoe UI Semibold"/>
              </a:rPr>
              <a:t> / </a:t>
            </a:r>
            <a:r>
              <a:rPr b="1" lang="en-US" sz="1250" spc="-1" strike="noStrike">
                <a:solidFill>
                  <a:srgbClr val="0b2545"/>
                </a:solidFill>
                <a:latin typeface="Consolas"/>
              </a:rPr>
              <a:t>Pn507</a:t>
            </a:r>
            <a:r>
              <a:rPr b="1" lang="en-US" sz="1250" spc="-1" strike="noStrike">
                <a:solidFill>
                  <a:srgbClr val="0b2545"/>
                </a:solidFill>
                <a:latin typeface="Segoe UI Semibold"/>
              </a:rPr>
              <a:t> / </a:t>
            </a:r>
            <a:r>
              <a:rPr b="1" lang="en-US" sz="1250" spc="-1" strike="noStrike">
                <a:solidFill>
                  <a:srgbClr val="0b2545"/>
                </a:solidFill>
                <a:latin typeface="Consolas"/>
              </a:rPr>
              <a:t>Pn508</a:t>
            </a:r>
            <a:r>
              <a:rPr b="1" lang="en-US" sz="1250" spc="-1" strike="noStrike">
                <a:solidFill>
                  <a:srgbClr val="0b2545"/>
                </a:solidFill>
                <a:latin typeface="Segoe UI Semibold"/>
              </a:rPr>
              <a:t>)</a:t>
            </a:r>
            <a:endParaRPr b="0" lang="en-US" sz="1250" spc="-1" strike="noStrike">
              <a:solidFill>
                <a:srgbClr val="000000"/>
              </a:solidFill>
              <a:latin typeface="Arial"/>
            </a:endParaRPr>
          </a:p>
        </p:txBody>
      </p:sp>
      <p:sp>
        <p:nvSpPr>
          <p:cNvPr id="2093" name="TextBox 37"/>
          <p:cNvSpPr/>
          <p:nvPr/>
        </p:nvSpPr>
        <p:spPr>
          <a:xfrm>
            <a:off x="1435680" y="534672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1050" spc="-1" strike="noStrike">
                <a:solidFill>
                  <a:srgbClr val="3a4654"/>
                </a:solidFill>
                <a:latin typeface="Segoe UI"/>
              </a:rPr>
              <a:t>Sólo si el motor lo lleva. Verifica la secuencia con el eje asegurado antes de confiar en ella.</a:t>
            </a:r>
            <a:endParaRPr b="0" lang="en-US" sz="1050" spc="-1" strike="noStrike">
              <a:solidFill>
                <a:srgbClr val="000000"/>
              </a:solidFill>
              <a:latin typeface="Arial"/>
            </a:endParaRPr>
          </a:p>
        </p:txBody>
      </p:sp>
      <p:sp>
        <p:nvSpPr>
          <p:cNvPr id="2094" name="Rectangle 38"/>
          <p:cNvSpPr/>
          <p:nvPr/>
        </p:nvSpPr>
        <p:spPr>
          <a:xfrm>
            <a:off x="567000" y="5729400"/>
            <a:ext cx="11057400" cy="59796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95" name="Rectangle 39"/>
          <p:cNvSpPr/>
          <p:nvPr/>
        </p:nvSpPr>
        <p:spPr>
          <a:xfrm>
            <a:off x="567000" y="5729400"/>
            <a:ext cx="658080" cy="5979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96" name="TextBox 40"/>
          <p:cNvSpPr/>
          <p:nvPr/>
        </p:nvSpPr>
        <p:spPr>
          <a:xfrm>
            <a:off x="567000" y="5886720"/>
            <a:ext cx="658080" cy="28296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850" spc="-1" strike="noStrike">
                <a:solidFill>
                  <a:srgbClr val="00a9ce"/>
                </a:solidFill>
                <a:latin typeface="Segoe UI Semibold"/>
              </a:rPr>
              <a:t>7</a:t>
            </a:r>
            <a:endParaRPr b="0" lang="en-US" sz="1850" spc="-1" strike="noStrike">
              <a:solidFill>
                <a:srgbClr val="000000"/>
              </a:solidFill>
              <a:latin typeface="Arial"/>
            </a:endParaRPr>
          </a:p>
        </p:txBody>
      </p:sp>
      <p:sp>
        <p:nvSpPr>
          <p:cNvPr id="2097" name="TextBox 41"/>
          <p:cNvSpPr/>
          <p:nvPr/>
        </p:nvSpPr>
        <p:spPr>
          <a:xfrm>
            <a:off x="1435680" y="5820840"/>
            <a:ext cx="98686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50" spc="-1" strike="noStrike">
                <a:solidFill>
                  <a:srgbClr val="0b2545"/>
                </a:solidFill>
                <a:latin typeface="Segoe UI Semibold"/>
              </a:rPr>
              <a:t>Guardar la configuración</a:t>
            </a:r>
            <a:endParaRPr b="0" lang="en-US" sz="1250" spc="-1" strike="noStrike">
              <a:solidFill>
                <a:srgbClr val="000000"/>
              </a:solidFill>
              <a:latin typeface="Arial"/>
            </a:endParaRPr>
          </a:p>
        </p:txBody>
      </p:sp>
      <p:sp>
        <p:nvSpPr>
          <p:cNvPr id="2098" name="TextBox 42"/>
          <p:cNvSpPr/>
          <p:nvPr/>
        </p:nvSpPr>
        <p:spPr>
          <a:xfrm>
            <a:off x="1435680" y="605448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1050" spc="-1" strike="noStrike">
                <a:solidFill>
                  <a:srgbClr val="3a4654"/>
                </a:solidFill>
                <a:latin typeface="Segoe UI"/>
              </a:rPr>
              <a:t>Exporta el fichero antes de continuar: es tu punto de retorno.</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0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101"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Fase 4 — Encoder absoluto y origen de máquina</a:t>
            </a:r>
            <a:endParaRPr b="0" lang="en-US" sz="2500" spc="-1" strike="noStrike">
              <a:solidFill>
                <a:srgbClr val="000000"/>
              </a:solidFill>
              <a:latin typeface="Arial"/>
            </a:endParaRPr>
          </a:p>
        </p:txBody>
      </p:sp>
      <p:sp>
        <p:nvSpPr>
          <p:cNvPr id="210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El paso que elimina el homing… y que hay que documentar</a:t>
            </a:r>
            <a:endParaRPr b="0" lang="en-US" sz="1250" spc="-1" strike="noStrike">
              <a:solidFill>
                <a:srgbClr val="000000"/>
              </a:solidFill>
              <a:latin typeface="Arial"/>
            </a:endParaRPr>
          </a:p>
        </p:txBody>
      </p:sp>
      <p:sp>
        <p:nvSpPr>
          <p:cNvPr id="210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08</a:t>
            </a:r>
            <a:endParaRPr b="0" lang="en-US" sz="1100" spc="-1" strike="noStrike">
              <a:solidFill>
                <a:srgbClr val="000000"/>
              </a:solidFill>
              <a:latin typeface="Arial"/>
            </a:endParaRPr>
          </a:p>
        </p:txBody>
      </p:sp>
      <p:sp>
        <p:nvSpPr>
          <p:cNvPr id="210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10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112</a:t>
            </a:r>
            <a:endParaRPr b="0" lang="en-US" sz="900" spc="-1" strike="noStrike">
              <a:solidFill>
                <a:srgbClr val="000000"/>
              </a:solidFill>
              <a:latin typeface="Arial"/>
            </a:endParaRPr>
          </a:p>
        </p:txBody>
      </p:sp>
      <p:sp>
        <p:nvSpPr>
          <p:cNvPr id="2106" name="Rectangle 8"/>
          <p:cNvSpPr/>
          <p:nvPr/>
        </p:nvSpPr>
        <p:spPr>
          <a:xfrm>
            <a:off x="567000" y="1481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07" name="Rectangle 9"/>
          <p:cNvSpPr/>
          <p:nvPr/>
        </p:nvSpPr>
        <p:spPr>
          <a:xfrm>
            <a:off x="567000" y="1481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08" name="TextBox 10"/>
          <p:cNvSpPr/>
          <p:nvPr/>
        </p:nvSpPr>
        <p:spPr>
          <a:xfrm>
            <a:off x="567000" y="1629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1</a:t>
            </a:r>
            <a:endParaRPr b="0" lang="en-US" sz="1700" spc="-1" strike="noStrike">
              <a:solidFill>
                <a:srgbClr val="000000"/>
              </a:solidFill>
              <a:latin typeface="Arial"/>
            </a:endParaRPr>
          </a:p>
        </p:txBody>
      </p:sp>
      <p:sp>
        <p:nvSpPr>
          <p:cNvPr id="2109" name="TextBox 11"/>
          <p:cNvSpPr/>
          <p:nvPr/>
        </p:nvSpPr>
        <p:spPr>
          <a:xfrm>
            <a:off x="1435680" y="1572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Verificar que la batería está instalada y en buen estado</a:t>
            </a:r>
            <a:endParaRPr b="0" lang="en-US" sz="1100" spc="-1" strike="noStrike">
              <a:solidFill>
                <a:srgbClr val="000000"/>
              </a:solidFill>
              <a:latin typeface="Arial"/>
            </a:endParaRPr>
          </a:p>
        </p:txBody>
      </p:sp>
      <p:sp>
        <p:nvSpPr>
          <p:cNvPr id="2110" name="TextBox 12"/>
          <p:cNvSpPr/>
          <p:nvPr/>
        </p:nvSpPr>
        <p:spPr>
          <a:xfrm>
            <a:off x="1435680" y="1781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Sin batería, el encoder absoluto pierde el contaje multivuelta al cortar la alimentación.</a:t>
            </a:r>
            <a:endParaRPr b="0" lang="en-US" sz="900" spc="-1" strike="noStrike">
              <a:solidFill>
                <a:srgbClr val="000000"/>
              </a:solidFill>
              <a:latin typeface="Arial"/>
            </a:endParaRPr>
          </a:p>
        </p:txBody>
      </p:sp>
      <p:sp>
        <p:nvSpPr>
          <p:cNvPr id="2111" name="Rectangle 13"/>
          <p:cNvSpPr/>
          <p:nvPr/>
        </p:nvSpPr>
        <p:spPr>
          <a:xfrm>
            <a:off x="567000" y="2147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12" name="Rectangle 14"/>
          <p:cNvSpPr/>
          <p:nvPr/>
        </p:nvSpPr>
        <p:spPr>
          <a:xfrm>
            <a:off x="567000" y="2147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13" name="TextBox 15"/>
          <p:cNvSpPr/>
          <p:nvPr/>
        </p:nvSpPr>
        <p:spPr>
          <a:xfrm>
            <a:off x="567000" y="2295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2</a:t>
            </a:r>
            <a:endParaRPr b="0" lang="en-US" sz="1700" spc="-1" strike="noStrike">
              <a:solidFill>
                <a:srgbClr val="000000"/>
              </a:solidFill>
              <a:latin typeface="Arial"/>
            </a:endParaRPr>
          </a:p>
        </p:txBody>
      </p:sp>
      <p:sp>
        <p:nvSpPr>
          <p:cNvPr id="2114" name="TextBox 16"/>
          <p:cNvSpPr/>
          <p:nvPr/>
        </p:nvSpPr>
        <p:spPr>
          <a:xfrm>
            <a:off x="1435680" y="2238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Ejecutar el setup del encoder absoluto (</a:t>
            </a:r>
            <a:r>
              <a:rPr b="1" lang="en-US" sz="1100" spc="-1" strike="noStrike">
                <a:solidFill>
                  <a:srgbClr val="0b2545"/>
                </a:solidFill>
                <a:latin typeface="Consolas"/>
              </a:rPr>
              <a:t>Fn008</a:t>
            </a:r>
            <a:r>
              <a:rPr b="1" lang="en-US" sz="1100" spc="-1" strike="noStrike">
                <a:solidFill>
                  <a:srgbClr val="0b2545"/>
                </a:solidFill>
                <a:latin typeface="Segoe UI Semibold"/>
              </a:rPr>
              <a:t>)</a:t>
            </a:r>
            <a:endParaRPr b="0" lang="en-US" sz="1100" spc="-1" strike="noStrike">
              <a:solidFill>
                <a:srgbClr val="000000"/>
              </a:solidFill>
              <a:latin typeface="Arial"/>
            </a:endParaRPr>
          </a:p>
        </p:txBody>
      </p:sp>
      <p:sp>
        <p:nvSpPr>
          <p:cNvPr id="2115" name="TextBox 17"/>
          <p:cNvSpPr/>
          <p:nvPr/>
        </p:nvSpPr>
        <p:spPr>
          <a:xfrm>
            <a:off x="1435680" y="2447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Se hace una única vez en la instalación, o tras un fallo de respaldo (</a:t>
            </a:r>
            <a:r>
              <a:rPr b="0" lang="en-US" sz="900" spc="-1" strike="noStrike">
                <a:solidFill>
                  <a:srgbClr val="3a4654"/>
                </a:solidFill>
                <a:latin typeface="Consolas"/>
              </a:rPr>
              <a:t>A.810</a:t>
            </a:r>
            <a:r>
              <a:rPr b="0" lang="en-US" sz="900" spc="-1" strike="noStrike">
                <a:solidFill>
                  <a:srgbClr val="3a4654"/>
                </a:solidFill>
                <a:latin typeface="Segoe UI"/>
              </a:rPr>
              <a:t>) o un cambio de motor. Requiere confirmación explícita.</a:t>
            </a:r>
            <a:endParaRPr b="0" lang="en-US" sz="900" spc="-1" strike="noStrike">
              <a:solidFill>
                <a:srgbClr val="000000"/>
              </a:solidFill>
              <a:latin typeface="Arial"/>
            </a:endParaRPr>
          </a:p>
        </p:txBody>
      </p:sp>
      <p:sp>
        <p:nvSpPr>
          <p:cNvPr id="2116" name="Rectangle 18"/>
          <p:cNvSpPr/>
          <p:nvPr/>
        </p:nvSpPr>
        <p:spPr>
          <a:xfrm>
            <a:off x="567000" y="2813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17" name="Rectangle 19"/>
          <p:cNvSpPr/>
          <p:nvPr/>
        </p:nvSpPr>
        <p:spPr>
          <a:xfrm>
            <a:off x="567000" y="2813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18" name="TextBox 20"/>
          <p:cNvSpPr/>
          <p:nvPr/>
        </p:nvSpPr>
        <p:spPr>
          <a:xfrm>
            <a:off x="567000" y="2961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3</a:t>
            </a:r>
            <a:endParaRPr b="0" lang="en-US" sz="1700" spc="-1" strike="noStrike">
              <a:solidFill>
                <a:srgbClr val="000000"/>
              </a:solidFill>
              <a:latin typeface="Arial"/>
            </a:endParaRPr>
          </a:p>
        </p:txBody>
      </p:sp>
      <p:sp>
        <p:nvSpPr>
          <p:cNvPr id="2119" name="TextBox 21"/>
          <p:cNvSpPr/>
          <p:nvPr/>
        </p:nvSpPr>
        <p:spPr>
          <a:xfrm>
            <a:off x="1435680" y="2904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Configurar el límite multivuelta (</a:t>
            </a:r>
            <a:r>
              <a:rPr b="1" lang="en-US" sz="1100" spc="-1" strike="noStrike">
                <a:solidFill>
                  <a:srgbClr val="0b2545"/>
                </a:solidFill>
                <a:latin typeface="Consolas"/>
              </a:rPr>
              <a:t>Pn205</a:t>
            </a:r>
            <a:r>
              <a:rPr b="1" lang="en-US" sz="1100" spc="-1" strike="noStrike">
                <a:solidFill>
                  <a:srgbClr val="0b2545"/>
                </a:solidFill>
                <a:latin typeface="Segoe UI Semibold"/>
              </a:rPr>
              <a:t>) si procede</a:t>
            </a:r>
            <a:endParaRPr b="0" lang="en-US" sz="1100" spc="-1" strike="noStrike">
              <a:solidFill>
                <a:srgbClr val="000000"/>
              </a:solidFill>
              <a:latin typeface="Arial"/>
            </a:endParaRPr>
          </a:p>
        </p:txBody>
      </p:sp>
      <p:sp>
        <p:nvSpPr>
          <p:cNvPr id="2120" name="TextBox 22"/>
          <p:cNvSpPr/>
          <p:nvPr/>
        </p:nvSpPr>
        <p:spPr>
          <a:xfrm>
            <a:off x="1435680" y="3113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Sólo en ejes rotativos infinitos. Debe ser coherente con la relación de transmisión para que no haya salto al desbordar.</a:t>
            </a:r>
            <a:endParaRPr b="0" lang="en-US" sz="900" spc="-1" strike="noStrike">
              <a:solidFill>
                <a:srgbClr val="000000"/>
              </a:solidFill>
              <a:latin typeface="Arial"/>
            </a:endParaRPr>
          </a:p>
        </p:txBody>
      </p:sp>
      <p:sp>
        <p:nvSpPr>
          <p:cNvPr id="2121" name="Rectangle 23"/>
          <p:cNvSpPr/>
          <p:nvPr/>
        </p:nvSpPr>
        <p:spPr>
          <a:xfrm>
            <a:off x="567000" y="3479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22" name="Rectangle 24"/>
          <p:cNvSpPr/>
          <p:nvPr/>
        </p:nvSpPr>
        <p:spPr>
          <a:xfrm>
            <a:off x="567000" y="3479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23" name="TextBox 25"/>
          <p:cNvSpPr/>
          <p:nvPr/>
        </p:nvSpPr>
        <p:spPr>
          <a:xfrm>
            <a:off x="567000" y="3627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4</a:t>
            </a:r>
            <a:endParaRPr b="0" lang="en-US" sz="1700" spc="-1" strike="noStrike">
              <a:solidFill>
                <a:srgbClr val="000000"/>
              </a:solidFill>
              <a:latin typeface="Arial"/>
            </a:endParaRPr>
          </a:p>
        </p:txBody>
      </p:sp>
      <p:sp>
        <p:nvSpPr>
          <p:cNvPr id="2124" name="TextBox 26"/>
          <p:cNvSpPr/>
          <p:nvPr/>
        </p:nvSpPr>
        <p:spPr>
          <a:xfrm>
            <a:off x="1435680" y="3570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Llevar el eje a la posición de origen mecánico</a:t>
            </a:r>
            <a:endParaRPr b="0" lang="en-US" sz="1100" spc="-1" strike="noStrike">
              <a:solidFill>
                <a:srgbClr val="000000"/>
              </a:solidFill>
              <a:latin typeface="Arial"/>
            </a:endParaRPr>
          </a:p>
        </p:txBody>
      </p:sp>
      <p:sp>
        <p:nvSpPr>
          <p:cNvPr id="2125" name="TextBox 27"/>
          <p:cNvSpPr/>
          <p:nvPr/>
        </p:nvSpPr>
        <p:spPr>
          <a:xfrm>
            <a:off x="1435680" y="3779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Con JOG a baja velocidad, contra el tope o el detector de referencia de la máquina.</a:t>
            </a:r>
            <a:endParaRPr b="0" lang="en-US" sz="900" spc="-1" strike="noStrike">
              <a:solidFill>
                <a:srgbClr val="000000"/>
              </a:solidFill>
              <a:latin typeface="Arial"/>
            </a:endParaRPr>
          </a:p>
        </p:txBody>
      </p:sp>
      <p:sp>
        <p:nvSpPr>
          <p:cNvPr id="2126" name="Rectangle 28"/>
          <p:cNvSpPr/>
          <p:nvPr/>
        </p:nvSpPr>
        <p:spPr>
          <a:xfrm>
            <a:off x="567000" y="4145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27" name="Rectangle 29"/>
          <p:cNvSpPr/>
          <p:nvPr/>
        </p:nvSpPr>
        <p:spPr>
          <a:xfrm>
            <a:off x="567000" y="4145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28" name="TextBox 30"/>
          <p:cNvSpPr/>
          <p:nvPr/>
        </p:nvSpPr>
        <p:spPr>
          <a:xfrm>
            <a:off x="567000" y="4293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5</a:t>
            </a:r>
            <a:endParaRPr b="0" lang="en-US" sz="1700" spc="-1" strike="noStrike">
              <a:solidFill>
                <a:srgbClr val="000000"/>
              </a:solidFill>
              <a:latin typeface="Arial"/>
            </a:endParaRPr>
          </a:p>
        </p:txBody>
      </p:sp>
      <p:sp>
        <p:nvSpPr>
          <p:cNvPr id="2129" name="TextBox 31"/>
          <p:cNvSpPr/>
          <p:nvPr/>
        </p:nvSpPr>
        <p:spPr>
          <a:xfrm>
            <a:off x="1435680" y="4236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Registrar el desplazamiento de origen en el controlador</a:t>
            </a:r>
            <a:endParaRPr b="0" lang="en-US" sz="1100" spc="-1" strike="noStrike">
              <a:solidFill>
                <a:srgbClr val="000000"/>
              </a:solidFill>
              <a:latin typeface="Arial"/>
            </a:endParaRPr>
          </a:p>
        </p:txBody>
      </p:sp>
      <p:sp>
        <p:nvSpPr>
          <p:cNvPr id="2130" name="TextBox 32"/>
          <p:cNvSpPr/>
          <p:nvPr/>
        </p:nvSpPr>
        <p:spPr>
          <a:xfrm>
            <a:off x="1435680" y="4445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El drive da posición absoluta; el offset entre esa posición y el cero de la máquina lo guarda el PLC o el CNC.</a:t>
            </a:r>
            <a:endParaRPr b="0" lang="en-US" sz="900" spc="-1" strike="noStrike">
              <a:solidFill>
                <a:srgbClr val="000000"/>
              </a:solidFill>
              <a:latin typeface="Arial"/>
            </a:endParaRPr>
          </a:p>
        </p:txBody>
      </p:sp>
      <p:sp>
        <p:nvSpPr>
          <p:cNvPr id="2131" name="Rectangle 33"/>
          <p:cNvSpPr/>
          <p:nvPr/>
        </p:nvSpPr>
        <p:spPr>
          <a:xfrm>
            <a:off x="567000" y="4811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32" name="Rectangle 34"/>
          <p:cNvSpPr/>
          <p:nvPr/>
        </p:nvSpPr>
        <p:spPr>
          <a:xfrm>
            <a:off x="567000" y="4811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33" name="TextBox 35"/>
          <p:cNvSpPr/>
          <p:nvPr/>
        </p:nvSpPr>
        <p:spPr>
          <a:xfrm>
            <a:off x="567000" y="4959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6</a:t>
            </a:r>
            <a:endParaRPr b="0" lang="en-US" sz="1700" spc="-1" strike="noStrike">
              <a:solidFill>
                <a:srgbClr val="000000"/>
              </a:solidFill>
              <a:latin typeface="Arial"/>
            </a:endParaRPr>
          </a:p>
        </p:txBody>
      </p:sp>
      <p:sp>
        <p:nvSpPr>
          <p:cNvPr id="2134" name="TextBox 36"/>
          <p:cNvSpPr/>
          <p:nvPr/>
        </p:nvSpPr>
        <p:spPr>
          <a:xfrm>
            <a:off x="1435680" y="4902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Documentar el valor de origen</a:t>
            </a:r>
            <a:endParaRPr b="0" lang="en-US" sz="1100" spc="-1" strike="noStrike">
              <a:solidFill>
                <a:srgbClr val="000000"/>
              </a:solidFill>
              <a:latin typeface="Arial"/>
            </a:endParaRPr>
          </a:p>
        </p:txBody>
      </p:sp>
      <p:sp>
        <p:nvSpPr>
          <p:cNvPr id="2135" name="TextBox 37"/>
          <p:cNvSpPr/>
          <p:nvPr/>
        </p:nvSpPr>
        <p:spPr>
          <a:xfrm>
            <a:off x="1435680" y="5111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Anótalo en el documento del eje y en el archivo de la máquina. Este número no está en el fichero de parámetros del drive.</a:t>
            </a:r>
            <a:endParaRPr b="0" lang="en-US" sz="900" spc="-1" strike="noStrike">
              <a:solidFill>
                <a:srgbClr val="000000"/>
              </a:solidFill>
              <a:latin typeface="Arial"/>
            </a:endParaRPr>
          </a:p>
        </p:txBody>
      </p:sp>
      <p:sp>
        <p:nvSpPr>
          <p:cNvPr id="2136" name="Rectangle 38"/>
          <p:cNvSpPr/>
          <p:nvPr/>
        </p:nvSpPr>
        <p:spPr>
          <a:xfrm>
            <a:off x="567000" y="5504760"/>
            <a:ext cx="11057400" cy="82260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37" name="Rectangle 39"/>
          <p:cNvSpPr/>
          <p:nvPr/>
        </p:nvSpPr>
        <p:spPr>
          <a:xfrm>
            <a:off x="567000" y="5504760"/>
            <a:ext cx="68400" cy="82260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38" name="TextBox 40"/>
          <p:cNvSpPr/>
          <p:nvPr/>
        </p:nvSpPr>
        <p:spPr>
          <a:xfrm>
            <a:off x="841320" y="564192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El detalle que arruina una sustitución de equipo</a:t>
            </a:r>
            <a:endParaRPr b="0" lang="en-US" sz="1200" spc="-1" strike="noStrike">
              <a:solidFill>
                <a:srgbClr val="000000"/>
              </a:solidFill>
              <a:latin typeface="Arial"/>
            </a:endParaRPr>
          </a:p>
        </p:txBody>
      </p:sp>
      <p:sp>
        <p:nvSpPr>
          <p:cNvPr id="2139" name="TextBox 41"/>
          <p:cNvSpPr/>
          <p:nvPr/>
        </p:nvSpPr>
        <p:spPr>
          <a:xfrm>
            <a:off x="841320" y="591624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El fichero de parámetros </a:t>
            </a:r>
            <a:r>
              <a:rPr b="1" lang="en-US" sz="1150" spc="-1" strike="noStrike">
                <a:solidFill>
                  <a:srgbClr val="2b3644"/>
                </a:solidFill>
                <a:latin typeface="Segoe UI"/>
              </a:rPr>
              <a:t>no</a:t>
            </a:r>
            <a:r>
              <a:rPr b="0" lang="en-US" sz="1150" spc="-1" strike="noStrike">
                <a:solidFill>
                  <a:srgbClr val="2b3644"/>
                </a:solidFill>
                <a:latin typeface="Segoe UI"/>
              </a:rPr>
              <a:t> guarda el origen de la máquina. Si sustituyes drive o motor sin haber anotado el offset de origen, tendrás que rehacer la referencia mecánica del eje con la máquina parada.</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0"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41"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142"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Fase 5 — Acoplar la carga y probar el ciclo</a:t>
            </a:r>
            <a:endParaRPr b="0" lang="en-US" sz="2500" spc="-1" strike="noStrike">
              <a:solidFill>
                <a:srgbClr val="000000"/>
              </a:solidFill>
              <a:latin typeface="Arial"/>
            </a:endParaRPr>
          </a:p>
        </p:txBody>
      </p:sp>
      <p:sp>
        <p:nvSpPr>
          <p:cNvPr id="2143"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De la prueba a la producción, sin saltos</a:t>
            </a:r>
            <a:endParaRPr b="0" lang="en-US" sz="1250" spc="-1" strike="noStrike">
              <a:solidFill>
                <a:srgbClr val="000000"/>
              </a:solidFill>
              <a:latin typeface="Arial"/>
            </a:endParaRPr>
          </a:p>
        </p:txBody>
      </p:sp>
      <p:sp>
        <p:nvSpPr>
          <p:cNvPr id="2144"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08</a:t>
            </a:r>
            <a:endParaRPr b="0" lang="en-US" sz="1100" spc="-1" strike="noStrike">
              <a:solidFill>
                <a:srgbClr val="000000"/>
              </a:solidFill>
              <a:latin typeface="Arial"/>
            </a:endParaRPr>
          </a:p>
        </p:txBody>
      </p:sp>
      <p:sp>
        <p:nvSpPr>
          <p:cNvPr id="2145"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146"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113</a:t>
            </a:r>
            <a:endParaRPr b="0" lang="en-US" sz="900" spc="-1" strike="noStrike">
              <a:solidFill>
                <a:srgbClr val="000000"/>
              </a:solidFill>
              <a:latin typeface="Arial"/>
            </a:endParaRPr>
          </a:p>
        </p:txBody>
      </p:sp>
      <p:sp>
        <p:nvSpPr>
          <p:cNvPr id="2147" name="Rectangle 8"/>
          <p:cNvSpPr/>
          <p:nvPr/>
        </p:nvSpPr>
        <p:spPr>
          <a:xfrm>
            <a:off x="567000" y="148140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48" name="Rectangle 9"/>
          <p:cNvSpPr/>
          <p:nvPr/>
        </p:nvSpPr>
        <p:spPr>
          <a:xfrm>
            <a:off x="567000" y="148140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49" name="TextBox 10"/>
          <p:cNvSpPr/>
          <p:nvPr/>
        </p:nvSpPr>
        <p:spPr>
          <a:xfrm>
            <a:off x="567000" y="159336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1</a:t>
            </a:r>
            <a:endParaRPr b="0" lang="en-US" sz="1550" spc="-1" strike="noStrike">
              <a:solidFill>
                <a:srgbClr val="000000"/>
              </a:solidFill>
              <a:latin typeface="Arial"/>
            </a:endParaRPr>
          </a:p>
        </p:txBody>
      </p:sp>
      <p:sp>
        <p:nvSpPr>
          <p:cNvPr id="2150" name="TextBox 11"/>
          <p:cNvSpPr/>
          <p:nvPr/>
        </p:nvSpPr>
        <p:spPr>
          <a:xfrm>
            <a:off x="1435680" y="157284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Acoplar la carga con el eje sin tensión</a:t>
            </a:r>
            <a:endParaRPr b="0" lang="en-US" sz="950" spc="-1" strike="noStrike">
              <a:solidFill>
                <a:srgbClr val="000000"/>
              </a:solidFill>
              <a:latin typeface="Arial"/>
            </a:endParaRPr>
          </a:p>
        </p:txBody>
      </p:sp>
      <p:sp>
        <p:nvSpPr>
          <p:cNvPr id="2151" name="TextBox 12"/>
          <p:cNvSpPr/>
          <p:nvPr/>
        </p:nvSpPr>
        <p:spPr>
          <a:xfrm>
            <a:off x="1435680" y="175716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Verifica la alineación y el apriete del acoplamiento antes de energizar.</a:t>
            </a:r>
            <a:endParaRPr b="0" lang="en-US" sz="750" spc="-1" strike="noStrike">
              <a:solidFill>
                <a:srgbClr val="000000"/>
              </a:solidFill>
              <a:latin typeface="Arial"/>
            </a:endParaRPr>
          </a:p>
        </p:txBody>
      </p:sp>
      <p:sp>
        <p:nvSpPr>
          <p:cNvPr id="2152" name="Rectangle 13"/>
          <p:cNvSpPr/>
          <p:nvPr/>
        </p:nvSpPr>
        <p:spPr>
          <a:xfrm>
            <a:off x="567000" y="205200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53" name="Rectangle 14"/>
          <p:cNvSpPr/>
          <p:nvPr/>
        </p:nvSpPr>
        <p:spPr>
          <a:xfrm>
            <a:off x="567000" y="205200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54" name="TextBox 15"/>
          <p:cNvSpPr/>
          <p:nvPr/>
        </p:nvSpPr>
        <p:spPr>
          <a:xfrm>
            <a:off x="567000" y="216396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2</a:t>
            </a:r>
            <a:endParaRPr b="0" lang="en-US" sz="1550" spc="-1" strike="noStrike">
              <a:solidFill>
                <a:srgbClr val="000000"/>
              </a:solidFill>
              <a:latin typeface="Arial"/>
            </a:endParaRPr>
          </a:p>
        </p:txBody>
      </p:sp>
      <p:sp>
        <p:nvSpPr>
          <p:cNvPr id="2155" name="TextBox 16"/>
          <p:cNvSpPr/>
          <p:nvPr/>
        </p:nvSpPr>
        <p:spPr>
          <a:xfrm>
            <a:off x="1435680" y="214344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Repetir el JOG, ahora con carga y a baja velocidad</a:t>
            </a:r>
            <a:endParaRPr b="0" lang="en-US" sz="950" spc="-1" strike="noStrike">
              <a:solidFill>
                <a:srgbClr val="000000"/>
              </a:solidFill>
              <a:latin typeface="Arial"/>
            </a:endParaRPr>
          </a:p>
        </p:txBody>
      </p:sp>
      <p:sp>
        <p:nvSpPr>
          <p:cNvPr id="2156" name="TextBox 17"/>
          <p:cNvSpPr/>
          <p:nvPr/>
        </p:nvSpPr>
        <p:spPr>
          <a:xfrm>
            <a:off x="1435680" y="232776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Compara </a:t>
            </a:r>
            <a:r>
              <a:rPr b="0" lang="en-US" sz="750" spc="-1" strike="noStrike">
                <a:solidFill>
                  <a:srgbClr val="3a4654"/>
                </a:solidFill>
                <a:latin typeface="Consolas"/>
              </a:rPr>
              <a:t>Un002</a:t>
            </a:r>
            <a:r>
              <a:rPr b="0" lang="en-US" sz="750" spc="-1" strike="noStrike">
                <a:solidFill>
                  <a:srgbClr val="3a4654"/>
                </a:solidFill>
                <a:latin typeface="Segoe UI"/>
              </a:rPr>
              <a:t> (par) con el valor calculado en el dimensionamiento. Una desviación grande indica fricción o desalineación.</a:t>
            </a:r>
            <a:endParaRPr b="0" lang="en-US" sz="750" spc="-1" strike="noStrike">
              <a:solidFill>
                <a:srgbClr val="000000"/>
              </a:solidFill>
              <a:latin typeface="Arial"/>
            </a:endParaRPr>
          </a:p>
        </p:txBody>
      </p:sp>
      <p:sp>
        <p:nvSpPr>
          <p:cNvPr id="2157" name="Rectangle 18"/>
          <p:cNvSpPr/>
          <p:nvPr/>
        </p:nvSpPr>
        <p:spPr>
          <a:xfrm>
            <a:off x="567000" y="262296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58" name="Rectangle 19"/>
          <p:cNvSpPr/>
          <p:nvPr/>
        </p:nvSpPr>
        <p:spPr>
          <a:xfrm>
            <a:off x="567000" y="262296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59" name="TextBox 20"/>
          <p:cNvSpPr/>
          <p:nvPr/>
        </p:nvSpPr>
        <p:spPr>
          <a:xfrm>
            <a:off x="567000" y="273492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3</a:t>
            </a:r>
            <a:endParaRPr b="0" lang="en-US" sz="1550" spc="-1" strike="noStrike">
              <a:solidFill>
                <a:srgbClr val="000000"/>
              </a:solidFill>
              <a:latin typeface="Arial"/>
            </a:endParaRPr>
          </a:p>
        </p:txBody>
      </p:sp>
      <p:sp>
        <p:nvSpPr>
          <p:cNvPr id="2160" name="TextBox 21"/>
          <p:cNvSpPr/>
          <p:nvPr/>
        </p:nvSpPr>
        <p:spPr>
          <a:xfrm>
            <a:off x="1435680" y="271440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Recorrer todo el rango de movimiento a baja velocidad</a:t>
            </a:r>
            <a:endParaRPr b="0" lang="en-US" sz="950" spc="-1" strike="noStrike">
              <a:solidFill>
                <a:srgbClr val="000000"/>
              </a:solidFill>
              <a:latin typeface="Arial"/>
            </a:endParaRPr>
          </a:p>
        </p:txBody>
      </p:sp>
      <p:sp>
        <p:nvSpPr>
          <p:cNvPr id="2161" name="TextBox 22"/>
          <p:cNvSpPr/>
          <p:nvPr/>
        </p:nvSpPr>
        <p:spPr>
          <a:xfrm>
            <a:off x="1435680" y="289872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Comprueba que el par es uniforme en todo el recorrido: un aumento local delata un punto duro mecánico.</a:t>
            </a:r>
            <a:endParaRPr b="0" lang="en-US" sz="750" spc="-1" strike="noStrike">
              <a:solidFill>
                <a:srgbClr val="000000"/>
              </a:solidFill>
              <a:latin typeface="Arial"/>
            </a:endParaRPr>
          </a:p>
        </p:txBody>
      </p:sp>
      <p:sp>
        <p:nvSpPr>
          <p:cNvPr id="2162" name="Rectangle 23"/>
          <p:cNvSpPr/>
          <p:nvPr/>
        </p:nvSpPr>
        <p:spPr>
          <a:xfrm>
            <a:off x="567000" y="319392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63" name="Rectangle 24"/>
          <p:cNvSpPr/>
          <p:nvPr/>
        </p:nvSpPr>
        <p:spPr>
          <a:xfrm>
            <a:off x="567000" y="319392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64" name="TextBox 25"/>
          <p:cNvSpPr/>
          <p:nvPr/>
        </p:nvSpPr>
        <p:spPr>
          <a:xfrm>
            <a:off x="567000" y="330588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4</a:t>
            </a:r>
            <a:endParaRPr b="0" lang="en-US" sz="1550" spc="-1" strike="noStrike">
              <a:solidFill>
                <a:srgbClr val="000000"/>
              </a:solidFill>
              <a:latin typeface="Arial"/>
            </a:endParaRPr>
          </a:p>
        </p:txBody>
      </p:sp>
      <p:sp>
        <p:nvSpPr>
          <p:cNvPr id="2165" name="TextBox 26"/>
          <p:cNvSpPr/>
          <p:nvPr/>
        </p:nvSpPr>
        <p:spPr>
          <a:xfrm>
            <a:off x="1435680" y="328536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Probar físicamente los finales de carrera</a:t>
            </a:r>
            <a:endParaRPr b="0" lang="en-US" sz="950" spc="-1" strike="noStrike">
              <a:solidFill>
                <a:srgbClr val="000000"/>
              </a:solidFill>
              <a:latin typeface="Arial"/>
            </a:endParaRPr>
          </a:p>
        </p:txBody>
      </p:sp>
      <p:sp>
        <p:nvSpPr>
          <p:cNvPr id="2166" name="TextBox 27"/>
          <p:cNvSpPr/>
          <p:nvPr/>
        </p:nvSpPr>
        <p:spPr>
          <a:xfrm>
            <a:off x="1435680" y="346968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Acciónalos a mano y comprueba que el eje se detiene y que puede retirarse en sentido contrario.</a:t>
            </a:r>
            <a:endParaRPr b="0" lang="en-US" sz="750" spc="-1" strike="noStrike">
              <a:solidFill>
                <a:srgbClr val="000000"/>
              </a:solidFill>
              <a:latin typeface="Arial"/>
            </a:endParaRPr>
          </a:p>
        </p:txBody>
      </p:sp>
      <p:sp>
        <p:nvSpPr>
          <p:cNvPr id="2167" name="Rectangle 28"/>
          <p:cNvSpPr/>
          <p:nvPr/>
        </p:nvSpPr>
        <p:spPr>
          <a:xfrm>
            <a:off x="567000" y="376488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68" name="Rectangle 29"/>
          <p:cNvSpPr/>
          <p:nvPr/>
        </p:nvSpPr>
        <p:spPr>
          <a:xfrm>
            <a:off x="567000" y="376488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69" name="TextBox 30"/>
          <p:cNvSpPr/>
          <p:nvPr/>
        </p:nvSpPr>
        <p:spPr>
          <a:xfrm>
            <a:off x="567000" y="387684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5</a:t>
            </a:r>
            <a:endParaRPr b="0" lang="en-US" sz="1550" spc="-1" strike="noStrike">
              <a:solidFill>
                <a:srgbClr val="000000"/>
              </a:solidFill>
              <a:latin typeface="Arial"/>
            </a:endParaRPr>
          </a:p>
        </p:txBody>
      </p:sp>
      <p:sp>
        <p:nvSpPr>
          <p:cNvPr id="2170" name="TextBox 31"/>
          <p:cNvSpPr/>
          <p:nvPr/>
        </p:nvSpPr>
        <p:spPr>
          <a:xfrm>
            <a:off x="1435680" y="385632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Ejecutar el autoajuste (Módulo 09)</a:t>
            </a:r>
            <a:endParaRPr b="0" lang="en-US" sz="950" spc="-1" strike="noStrike">
              <a:solidFill>
                <a:srgbClr val="000000"/>
              </a:solidFill>
              <a:latin typeface="Arial"/>
            </a:endParaRPr>
          </a:p>
        </p:txBody>
      </p:sp>
      <p:sp>
        <p:nvSpPr>
          <p:cNvPr id="2171" name="TextBox 32"/>
          <p:cNvSpPr/>
          <p:nvPr/>
        </p:nvSpPr>
        <p:spPr>
          <a:xfrm>
            <a:off x="1435680" y="404028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Con la carga real acoplada; nunca en vacío, porque la inercia medida no sería la de trabajo.</a:t>
            </a:r>
            <a:endParaRPr b="0" lang="en-US" sz="750" spc="-1" strike="noStrike">
              <a:solidFill>
                <a:srgbClr val="000000"/>
              </a:solidFill>
              <a:latin typeface="Arial"/>
            </a:endParaRPr>
          </a:p>
        </p:txBody>
      </p:sp>
      <p:sp>
        <p:nvSpPr>
          <p:cNvPr id="2172" name="Rectangle 33"/>
          <p:cNvSpPr/>
          <p:nvPr/>
        </p:nvSpPr>
        <p:spPr>
          <a:xfrm>
            <a:off x="567000" y="433548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73" name="Rectangle 34"/>
          <p:cNvSpPr/>
          <p:nvPr/>
        </p:nvSpPr>
        <p:spPr>
          <a:xfrm>
            <a:off x="567000" y="433548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74" name="TextBox 35"/>
          <p:cNvSpPr/>
          <p:nvPr/>
        </p:nvSpPr>
        <p:spPr>
          <a:xfrm>
            <a:off x="567000" y="444744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6</a:t>
            </a:r>
            <a:endParaRPr b="0" lang="en-US" sz="1550" spc="-1" strike="noStrike">
              <a:solidFill>
                <a:srgbClr val="000000"/>
              </a:solidFill>
              <a:latin typeface="Arial"/>
            </a:endParaRPr>
          </a:p>
        </p:txBody>
      </p:sp>
      <p:sp>
        <p:nvSpPr>
          <p:cNvPr id="2175" name="TextBox 36"/>
          <p:cNvSpPr/>
          <p:nvPr/>
        </p:nvSpPr>
        <p:spPr>
          <a:xfrm>
            <a:off x="1435680" y="442692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Subir progresivamente hasta la velocidad y aceleración del ciclo</a:t>
            </a:r>
            <a:endParaRPr b="0" lang="en-US" sz="950" spc="-1" strike="noStrike">
              <a:solidFill>
                <a:srgbClr val="000000"/>
              </a:solidFill>
              <a:latin typeface="Arial"/>
            </a:endParaRPr>
          </a:p>
        </p:txBody>
      </p:sp>
      <p:sp>
        <p:nvSpPr>
          <p:cNvPr id="2176" name="TextBox 37"/>
          <p:cNvSpPr/>
          <p:nvPr/>
        </p:nvSpPr>
        <p:spPr>
          <a:xfrm>
            <a:off x="1435680" y="461124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Por escalones, observando par, error de seguimiento y ruido en cada escalón.</a:t>
            </a:r>
            <a:endParaRPr b="0" lang="en-US" sz="750" spc="-1" strike="noStrike">
              <a:solidFill>
                <a:srgbClr val="000000"/>
              </a:solidFill>
              <a:latin typeface="Arial"/>
            </a:endParaRPr>
          </a:p>
        </p:txBody>
      </p:sp>
      <p:sp>
        <p:nvSpPr>
          <p:cNvPr id="2177" name="Rectangle 38"/>
          <p:cNvSpPr/>
          <p:nvPr/>
        </p:nvSpPr>
        <p:spPr>
          <a:xfrm>
            <a:off x="567000" y="490644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78" name="Rectangle 39"/>
          <p:cNvSpPr/>
          <p:nvPr/>
        </p:nvSpPr>
        <p:spPr>
          <a:xfrm>
            <a:off x="567000" y="490644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79" name="TextBox 40"/>
          <p:cNvSpPr/>
          <p:nvPr/>
        </p:nvSpPr>
        <p:spPr>
          <a:xfrm>
            <a:off x="567000" y="501840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7</a:t>
            </a:r>
            <a:endParaRPr b="0" lang="en-US" sz="1550" spc="-1" strike="noStrike">
              <a:solidFill>
                <a:srgbClr val="000000"/>
              </a:solidFill>
              <a:latin typeface="Arial"/>
            </a:endParaRPr>
          </a:p>
        </p:txBody>
      </p:sp>
      <p:sp>
        <p:nvSpPr>
          <p:cNvPr id="2180" name="TextBox 41"/>
          <p:cNvSpPr/>
          <p:nvPr/>
        </p:nvSpPr>
        <p:spPr>
          <a:xfrm>
            <a:off x="1435680" y="499788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Ejecutar el ciclo real durante un tiempo prolongado</a:t>
            </a:r>
            <a:endParaRPr b="0" lang="en-US" sz="950" spc="-1" strike="noStrike">
              <a:solidFill>
                <a:srgbClr val="000000"/>
              </a:solidFill>
              <a:latin typeface="Arial"/>
            </a:endParaRPr>
          </a:p>
        </p:txBody>
      </p:sp>
      <p:sp>
        <p:nvSpPr>
          <p:cNvPr id="2181" name="TextBox 42"/>
          <p:cNvSpPr/>
          <p:nvPr/>
        </p:nvSpPr>
        <p:spPr>
          <a:xfrm>
            <a:off x="1435680" y="518220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Vigila la temperatura del motor y del amplificador, y la tasa de sobrecarga acumulada.</a:t>
            </a:r>
            <a:endParaRPr b="0" lang="en-US" sz="750" spc="-1" strike="noStrike">
              <a:solidFill>
                <a:srgbClr val="000000"/>
              </a:solidFill>
              <a:latin typeface="Arial"/>
            </a:endParaRPr>
          </a:p>
        </p:txBody>
      </p:sp>
      <p:sp>
        <p:nvSpPr>
          <p:cNvPr id="2182" name="Rectangle 43"/>
          <p:cNvSpPr/>
          <p:nvPr/>
        </p:nvSpPr>
        <p:spPr>
          <a:xfrm>
            <a:off x="567000" y="5504760"/>
            <a:ext cx="11057400" cy="822600"/>
          </a:xfrm>
          <a:prstGeom prst="rect">
            <a:avLst/>
          </a:prstGeom>
          <a:solidFill>
            <a:srgbClr val="e4f2ea"/>
          </a:solidFill>
          <a:ln>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83" name="Rectangle 44"/>
          <p:cNvSpPr/>
          <p:nvPr/>
        </p:nvSpPr>
        <p:spPr>
          <a:xfrm>
            <a:off x="567000" y="5504760"/>
            <a:ext cx="68400" cy="82260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84" name="TextBox 45"/>
          <p:cNvSpPr/>
          <p:nvPr/>
        </p:nvSpPr>
        <p:spPr>
          <a:xfrm>
            <a:off x="841320" y="564192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2e8b57"/>
                </a:solidFill>
                <a:latin typeface="Segoe UI Semibold"/>
              </a:rPr>
              <a:t>La comprobación que valida todo el diseño</a:t>
            </a:r>
            <a:endParaRPr b="0" lang="en-US" sz="1200" spc="-1" strike="noStrike">
              <a:solidFill>
                <a:srgbClr val="000000"/>
              </a:solidFill>
              <a:latin typeface="Arial"/>
            </a:endParaRPr>
          </a:p>
        </p:txBody>
      </p:sp>
      <p:sp>
        <p:nvSpPr>
          <p:cNvPr id="2185" name="TextBox 46"/>
          <p:cNvSpPr/>
          <p:nvPr/>
        </p:nvSpPr>
        <p:spPr>
          <a:xfrm>
            <a:off x="841320" y="591624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Comparar el par medido en la máquina real con el par calculado en el Módulo 04. Si coinciden razonablemente, el dimensionamiento era correcto y el eje tiene el margen previsto.</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8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18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Acta de puesta en marcha del eje</a:t>
            </a:r>
            <a:endParaRPr b="0" lang="en-US" sz="2500" spc="-1" strike="noStrike">
              <a:solidFill>
                <a:srgbClr val="000000"/>
              </a:solidFill>
              <a:latin typeface="Arial"/>
            </a:endParaRPr>
          </a:p>
        </p:txBody>
      </p:sp>
      <p:sp>
        <p:nvSpPr>
          <p:cNvPr id="218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Documenta o repetirás el trabajo dentro de seis meses</a:t>
            </a:r>
            <a:endParaRPr b="0" lang="en-US" sz="1250" spc="-1" strike="noStrike">
              <a:solidFill>
                <a:srgbClr val="000000"/>
              </a:solidFill>
              <a:latin typeface="Arial"/>
            </a:endParaRPr>
          </a:p>
        </p:txBody>
      </p:sp>
      <p:sp>
        <p:nvSpPr>
          <p:cNvPr id="219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08</a:t>
            </a:r>
            <a:endParaRPr b="0" lang="en-US" sz="1100" spc="-1" strike="noStrike">
              <a:solidFill>
                <a:srgbClr val="000000"/>
              </a:solidFill>
              <a:latin typeface="Arial"/>
            </a:endParaRPr>
          </a:p>
        </p:txBody>
      </p:sp>
      <p:sp>
        <p:nvSpPr>
          <p:cNvPr id="219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19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114</a:t>
            </a:r>
            <a:endParaRPr b="0" lang="en-US" sz="900" spc="-1" strike="noStrike">
              <a:solidFill>
                <a:srgbClr val="000000"/>
              </a:solidFill>
              <a:latin typeface="Arial"/>
            </a:endParaRPr>
          </a:p>
        </p:txBody>
      </p:sp>
      <p:graphicFrame>
        <p:nvGraphicFramePr>
          <p:cNvPr id="2193" name="Table 8"/>
          <p:cNvGraphicFramePr/>
          <p:nvPr/>
        </p:nvGraphicFramePr>
        <p:xfrm>
          <a:off x="567000" y="1481400"/>
          <a:ext cx="11057400" cy="4461840"/>
        </p:xfrm>
        <a:graphic>
          <a:graphicData uri="http://schemas.openxmlformats.org/drawingml/2006/table">
            <a:tbl>
              <a:tblPr/>
              <a:tblGrid>
                <a:gridCol w="2376000"/>
                <a:gridCol w="8681760"/>
              </a:tblGrid>
              <a:tr h="347400">
                <a:tc>
                  <a:txBody>
                    <a:bodyPr lIns="82080" rIns="82080" tIns="27360" bIns="27360" anchor="ctr">
                      <a:noAutofit/>
                    </a:bodyPr>
                    <a:p>
                      <a:pPr defTabSz="457200">
                        <a:lnSpc>
                          <a:spcPct val="100000"/>
                        </a:lnSpc>
                      </a:pPr>
                      <a:r>
                        <a:rPr b="1" lang="en-US" sz="1050" spc="-1" strike="noStrike">
                          <a:solidFill>
                            <a:srgbClr val="ffffff"/>
                          </a:solidFill>
                          <a:latin typeface="Segoe UI"/>
                        </a:rPr>
                        <a:t>Apartado</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50" spc="-1" strike="noStrike">
                          <a:solidFill>
                            <a:srgbClr val="ffffff"/>
                          </a:solidFill>
                          <a:latin typeface="Segoe UI"/>
                        </a:rPr>
                        <a:t>Qué se registra</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514080">
                <a:tc>
                  <a:txBody>
                    <a:bodyPr lIns="82080" rIns="82080" tIns="27360" bIns="27360" anchor="ctr">
                      <a:noAutofit/>
                    </a:bodyPr>
                    <a:p>
                      <a:pPr defTabSz="457200">
                        <a:lnSpc>
                          <a:spcPct val="100000"/>
                        </a:lnSpc>
                      </a:pPr>
                      <a:r>
                        <a:rPr b="0" lang="en-US" sz="1050" spc="-1" strike="noStrike">
                          <a:solidFill>
                            <a:srgbClr val="1c2430"/>
                          </a:solidFill>
                          <a:latin typeface="Segoe UI"/>
                        </a:rPr>
                        <a:t>Identificación</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Máquina, eje, modelo de SERVOPACK y de motor, números de serie, versión de firmware</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1050" spc="-1" strike="noStrike">
                          <a:solidFill>
                            <a:srgbClr val="1c2430"/>
                          </a:solidFill>
                          <a:latin typeface="Segoe UI"/>
                        </a:rPr>
                        <a:t>Instalación</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Fecha, responsable, lista de verificación de instalación firmada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14080">
                <a:tc>
                  <a:txBody>
                    <a:bodyPr lIns="82080" rIns="82080" tIns="27360" bIns="27360" anchor="ctr">
                      <a:noAutofit/>
                    </a:bodyPr>
                    <a:p>
                      <a:pPr defTabSz="457200">
                        <a:lnSpc>
                          <a:spcPct val="100000"/>
                        </a:lnSpc>
                      </a:pPr>
                      <a:r>
                        <a:rPr b="0" lang="en-US" sz="1050" spc="-1" strike="noStrike">
                          <a:solidFill>
                            <a:srgbClr val="1c2430"/>
                          </a:solidFill>
                          <a:latin typeface="Segoe UI"/>
                        </a:rPr>
                        <a:t>Configuración</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Modo de control, engranaje electrónico, asignación de E/S, ficheros de parámetros (nombre y ubicación)</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1050" spc="-1" strike="noStrike">
                          <a:solidFill>
                            <a:srgbClr val="1c2430"/>
                          </a:solidFill>
                          <a:latin typeface="Segoe UI"/>
                        </a:rPr>
                        <a:t>Encoder absoluto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Fecha de ejecución de </a:t>
                      </a:r>
                      <a:r>
                        <a:rPr b="0" lang="en-US" sz="1050" spc="-1" strike="noStrike">
                          <a:solidFill>
                            <a:srgbClr val="1c2430"/>
                          </a:solidFill>
                          <a:latin typeface="Consolas"/>
                        </a:rPr>
                        <a:t>Fn008</a:t>
                      </a:r>
                      <a:r>
                        <a:rPr b="0" lang="en-US" sz="1050" spc="-1" strike="noStrike">
                          <a:solidFill>
                            <a:srgbClr val="1c2430"/>
                          </a:solidFill>
                          <a:latin typeface="Segoe UI"/>
                        </a:rPr>
                        <a:t>, valor de origen, fecha de instalación de la batería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14080">
                <a:tc>
                  <a:txBody>
                    <a:bodyPr lIns="82080" rIns="82080" tIns="27360" bIns="27360" anchor="ctr">
                      <a:noAutofit/>
                    </a:bodyPr>
                    <a:p>
                      <a:pPr defTabSz="457200">
                        <a:lnSpc>
                          <a:spcPct val="100000"/>
                        </a:lnSpc>
                      </a:pPr>
                      <a:r>
                        <a:rPr b="0" lang="en-US" sz="1050" spc="-1" strike="noStrike">
                          <a:solidFill>
                            <a:srgbClr val="1c2430"/>
                          </a:solidFill>
                          <a:latin typeface="Segoe UI"/>
                        </a:rPr>
                        <a:t>Sintonización</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Método empleado, </a:t>
                      </a:r>
                      <a:r>
                        <a:rPr b="0" lang="en-US" sz="1050" spc="-1" strike="noStrike">
                          <a:solidFill>
                            <a:srgbClr val="1c2430"/>
                          </a:solidFill>
                          <a:latin typeface="Consolas"/>
                        </a:rPr>
                        <a:t>Pn103</a:t>
                      </a:r>
                      <a:r>
                        <a:rPr b="0" lang="en-US" sz="1050" spc="-1" strike="noStrike">
                          <a:solidFill>
                            <a:srgbClr val="1c2430"/>
                          </a:solidFill>
                          <a:latin typeface="Segoe UI"/>
                        </a:rPr>
                        <a:t>, </a:t>
                      </a:r>
                      <a:r>
                        <a:rPr b="0" lang="en-US" sz="1050" spc="-1" strike="noStrike">
                          <a:solidFill>
                            <a:srgbClr val="1c2430"/>
                          </a:solidFill>
                          <a:latin typeface="Consolas"/>
                        </a:rPr>
                        <a:t>Pn100</a:t>
                      </a:r>
                      <a:r>
                        <a:rPr b="0" lang="en-US" sz="1050" spc="-1" strike="noStrike">
                          <a:solidFill>
                            <a:srgbClr val="1c2430"/>
                          </a:solidFill>
                          <a:latin typeface="Segoe UI"/>
                        </a:rPr>
                        <a:t>, </a:t>
                      </a:r>
                      <a:r>
                        <a:rPr b="0" lang="en-US" sz="1050" spc="-1" strike="noStrike">
                          <a:solidFill>
                            <a:srgbClr val="1c2430"/>
                          </a:solidFill>
                          <a:latin typeface="Consolas"/>
                        </a:rPr>
                        <a:t>Pn101</a:t>
                      </a:r>
                      <a:r>
                        <a:rPr b="0" lang="en-US" sz="1050" spc="-1" strike="noStrike">
                          <a:solidFill>
                            <a:srgbClr val="1c2430"/>
                          </a:solidFill>
                          <a:latin typeface="Segoe UI"/>
                        </a:rPr>
                        <a:t>, </a:t>
                      </a:r>
                      <a:r>
                        <a:rPr b="0" lang="en-US" sz="1050" spc="-1" strike="noStrike">
                          <a:solidFill>
                            <a:srgbClr val="1c2430"/>
                          </a:solidFill>
                          <a:latin typeface="Consolas"/>
                        </a:rPr>
                        <a:t>Pn102</a:t>
                      </a:r>
                      <a:r>
                        <a:rPr b="0" lang="en-US" sz="1050" spc="-1" strike="noStrike">
                          <a:solidFill>
                            <a:srgbClr val="1c2430"/>
                          </a:solidFill>
                          <a:latin typeface="Segoe UI"/>
                        </a:rPr>
                        <a:t>, filtros activos y capturas de la traza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1050" spc="-1" strike="noStrike">
                          <a:solidFill>
                            <a:srgbClr val="1c2430"/>
                          </a:solidFill>
                          <a:latin typeface="Segoe UI"/>
                        </a:rPr>
                        <a:t>Verificación de prestaciones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Tiempo de ciclo alcanzado, par RMS medido, par pico medido, error de seguimiento máximo, temperaturas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14080">
                <a:tc>
                  <a:txBody>
                    <a:bodyPr lIns="82080" rIns="82080" tIns="27360" bIns="27360" anchor="ctr">
                      <a:noAutofit/>
                    </a:bodyPr>
                    <a:p>
                      <a:pPr defTabSz="457200">
                        <a:lnSpc>
                          <a:spcPct val="100000"/>
                        </a:lnSpc>
                      </a:pPr>
                      <a:r>
                        <a:rPr b="0" lang="en-US" sz="1050" spc="-1" strike="noStrike">
                          <a:solidFill>
                            <a:srgbClr val="1c2430"/>
                          </a:solidFill>
                          <a:latin typeface="Segoe UI"/>
                        </a:rPr>
                        <a:t>Seguridad</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Prueba de finales de carrera, prueba de HWBB/STO, prueba del freno de retención</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1050" spc="-1" strike="noStrike">
                          <a:solidFill>
                            <a:srgbClr val="1c2430"/>
                          </a:solidFill>
                          <a:latin typeface="Segoe UI"/>
                        </a:rPr>
                        <a:t>Observaciones y pendientes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Todo lo que quedó por hacer o por revisar, con responsable y fecha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
        <p:nvSpPr>
          <p:cNvPr id="2194"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Este documento es lo que permite que otra persona (o tú mismo dentro de un año) entienda la instalación sin tener que reconstruirla.</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9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197"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Los diez errores más frecuentes en puesta en marcha</a:t>
            </a:r>
            <a:endParaRPr b="0" lang="en-US" sz="2500" spc="-1" strike="noStrike">
              <a:solidFill>
                <a:srgbClr val="000000"/>
              </a:solidFill>
              <a:latin typeface="Arial"/>
            </a:endParaRPr>
          </a:p>
        </p:txBody>
      </p:sp>
      <p:sp>
        <p:nvSpPr>
          <p:cNvPr id="219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Aprende de los errores ajenos: salen más baratos</a:t>
            </a:r>
            <a:endParaRPr b="0" lang="en-US" sz="1250" spc="-1" strike="noStrike">
              <a:solidFill>
                <a:srgbClr val="000000"/>
              </a:solidFill>
              <a:latin typeface="Arial"/>
            </a:endParaRPr>
          </a:p>
        </p:txBody>
      </p:sp>
      <p:sp>
        <p:nvSpPr>
          <p:cNvPr id="219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08</a:t>
            </a:r>
            <a:endParaRPr b="0" lang="en-US" sz="1100" spc="-1" strike="noStrike">
              <a:solidFill>
                <a:srgbClr val="000000"/>
              </a:solidFill>
              <a:latin typeface="Arial"/>
            </a:endParaRPr>
          </a:p>
        </p:txBody>
      </p:sp>
      <p:sp>
        <p:nvSpPr>
          <p:cNvPr id="220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20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115</a:t>
            </a:r>
            <a:endParaRPr b="0" lang="en-US" sz="900" spc="-1" strike="noStrike">
              <a:solidFill>
                <a:srgbClr val="000000"/>
              </a:solidFill>
              <a:latin typeface="Arial"/>
            </a:endParaRPr>
          </a:p>
        </p:txBody>
      </p:sp>
      <p:graphicFrame>
        <p:nvGraphicFramePr>
          <p:cNvPr id="2202" name="Table 8"/>
          <p:cNvGraphicFramePr/>
          <p:nvPr/>
        </p:nvGraphicFramePr>
        <p:xfrm>
          <a:off x="567000" y="1481400"/>
          <a:ext cx="11057400" cy="4845960"/>
        </p:xfrm>
        <a:graphic>
          <a:graphicData uri="http://schemas.openxmlformats.org/drawingml/2006/table">
            <a:tbl>
              <a:tblPr/>
              <a:tblGrid>
                <a:gridCol w="511920"/>
                <a:gridCol w="4505040"/>
                <a:gridCol w="6040800"/>
              </a:tblGrid>
              <a:tr h="347400">
                <a:tc>
                  <a:txBody>
                    <a:bodyPr lIns="82080" rIns="82080" tIns="27360" bIns="27360" anchor="ctr">
                      <a:noAutofit/>
                    </a:bodyPr>
                    <a:p>
                      <a:pPr algn="ctr" defTabSz="457200">
                        <a:lnSpc>
                          <a:spcPct val="100000"/>
                        </a:lnSpc>
                      </a:pPr>
                      <a:r>
                        <a:rPr b="1" lang="en-US" sz="950" spc="-1" strike="noStrike">
                          <a:solidFill>
                            <a:srgbClr val="ffffff"/>
                          </a:solidFill>
                          <a:latin typeface="Segoe UI"/>
                        </a:rPr>
                        <a:t>#</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Error</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Consecuencia y cómo evitarlo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1</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Probar con la carga acoplada desde el primer arranque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Colisión o rotura. Desacopla siempre en la primera prueba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2</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No verificar </a:t>
                      </a:r>
                      <a:r>
                        <a:rPr b="0" lang="en-US" sz="950" spc="-1" strike="noStrike">
                          <a:solidFill>
                            <a:srgbClr val="1c2430"/>
                          </a:solidFill>
                          <a:latin typeface="Consolas"/>
                        </a:rPr>
                        <a:t>CN8</a:t>
                      </a:r>
                      <a:r>
                        <a:rPr b="0" lang="en-US" sz="950" spc="-1" strike="noStrike">
                          <a:solidFill>
                            <a:srgbClr val="1c2430"/>
                          </a:solidFill>
                          <a:latin typeface="Segoe UI"/>
                        </a:rPr>
                        <a:t> (puente o circuito de seguridad)</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El eje no da par y parece averiado. Compruébalo antes de nada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3</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Invertir el sentido de giro cambiando fases del motor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Realimentación invertida: embalamiento o alarma. Usa </a:t>
                      </a:r>
                      <a:r>
                        <a:rPr b="0" lang="en-US" sz="950" spc="-1" strike="noStrike">
                          <a:solidFill>
                            <a:srgbClr val="1c2430"/>
                          </a:solidFill>
                          <a:latin typeface="Consolas"/>
                        </a:rPr>
                        <a:t>Pn000.0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4</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No comprobar el engranaje electrónico midiendo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El eje se mueve el doble o la mitad. Mide 100 mm reales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5</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Ejecutar el autoajuste sin la carga real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La inercia estimada no es la de trabajo y el ajuste no sirve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6</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Dejar </a:t>
                      </a:r>
                      <a:r>
                        <a:rPr b="0" lang="en-US" sz="950" spc="-1" strike="noStrike">
                          <a:solidFill>
                            <a:srgbClr val="1c2430"/>
                          </a:solidFill>
                          <a:latin typeface="Consolas"/>
                        </a:rPr>
                        <a:t>P-OT</a:t>
                      </a:r>
                      <a:r>
                        <a:rPr b="0" lang="en-US" sz="950" spc="-1" strike="noStrike">
                          <a:solidFill>
                            <a:srgbClr val="1c2430"/>
                          </a:solidFill>
                          <a:latin typeface="Segoe UI"/>
                        </a:rPr>
                        <a:t>/</a:t>
                      </a:r>
                      <a:r>
                        <a:rPr b="0" lang="en-US" sz="950" spc="-1" strike="noStrike">
                          <a:solidFill>
                            <a:srgbClr val="1c2430"/>
                          </a:solidFill>
                          <a:latin typeface="Consolas"/>
                        </a:rPr>
                        <a:t>N-OT</a:t>
                      </a:r>
                      <a:r>
                        <a:rPr b="0" lang="en-US" sz="950" spc="-1" strike="noStrike">
                          <a:solidFill>
                            <a:srgbClr val="1c2430"/>
                          </a:solidFill>
                          <a:latin typeface="Segoe UI"/>
                        </a:rPr>
                        <a:t> deshabilitados tras las pruebas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Colisión contra tope a velocidad plena. Documenta y revierte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7</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No guardar el fichero de parámetros original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Imposible volver atrás. Guarda antes de tocar nada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8</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Olvidar </a:t>
                      </a:r>
                      <a:r>
                        <a:rPr b="0" lang="en-US" sz="950" spc="-1" strike="noStrike">
                          <a:solidFill>
                            <a:srgbClr val="1c2430"/>
                          </a:solidFill>
                          <a:latin typeface="Consolas"/>
                        </a:rPr>
                        <a:t>Fn008</a:t>
                      </a:r>
                      <a:r>
                        <a:rPr b="0" lang="en-US" sz="950" spc="-1" strike="noStrike">
                          <a:solidFill>
                            <a:srgbClr val="1c2430"/>
                          </a:solidFill>
                          <a:latin typeface="Segoe UI"/>
                        </a:rPr>
                        <a:t> tras cambiar motor o batería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Alarma </a:t>
                      </a:r>
                      <a:r>
                        <a:rPr b="0" lang="en-US" sz="950" spc="-1" strike="noStrike">
                          <a:solidFill>
                            <a:srgbClr val="1c2430"/>
                          </a:solidFill>
                          <a:latin typeface="Consolas"/>
                        </a:rPr>
                        <a:t>A.810</a:t>
                      </a:r>
                      <a:r>
                        <a:rPr b="0" lang="en-US" sz="950" spc="-1" strike="noStrike">
                          <a:solidFill>
                            <a:srgbClr val="1c2430"/>
                          </a:solidFill>
                          <a:latin typeface="Segoe UI"/>
                        </a:rPr>
                        <a:t> y posición absoluta perdida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9</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No probar el ciclo de forma prolongada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A.720</a:t>
                      </a:r>
                      <a:r>
                        <a:rPr b="0" lang="en-US" sz="950" spc="-1" strike="noStrike">
                          <a:solidFill>
                            <a:srgbClr val="1c2430"/>
                          </a:solidFill>
                          <a:latin typeface="Segoe UI"/>
                        </a:rPr>
                        <a:t> en producción. Prueba al menos media hora a ritmo real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10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No anotar el valor de origen de la máquina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Sustitución de equipo convertida en un día de parada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Tree>
  </p:cSld>
  <mc:AlternateContent>
    <mc:Choice Requires="p14">
      <p:transition spd="slow" p14:dur="2000"/>
    </mc:Choice>
    <mc:Fallback>
      <p:transition spd="slow"/>
    </mc:Fallback>
  </mc:AlternateContent>
</p:sld>
</file>

<file path=ppt/slides/slide1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3" name="Rectangle 1"/>
          <p:cNvSpPr/>
          <p:nvPr/>
        </p:nvSpPr>
        <p:spPr>
          <a:xfrm>
            <a:off x="0" y="0"/>
            <a:ext cx="12191400" cy="68576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04" name="Rectangle 2"/>
          <p:cNvSpPr/>
          <p:nvPr/>
        </p:nvSpPr>
        <p:spPr>
          <a:xfrm>
            <a:off x="0" y="0"/>
            <a:ext cx="383760" cy="6857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05" name="TextBox 3"/>
          <p:cNvSpPr/>
          <p:nvPr/>
        </p:nvSpPr>
        <p:spPr>
          <a:xfrm>
            <a:off x="1051560" y="1234440"/>
            <a:ext cx="5486040" cy="8841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5800" spc="-1" strike="noStrike">
                <a:solidFill>
                  <a:srgbClr val="143a63"/>
                </a:solidFill>
                <a:latin typeface="Segoe UI Semibold"/>
              </a:rPr>
              <a:t>MÓDULO 09</a:t>
            </a:r>
            <a:endParaRPr b="0" lang="en-US" sz="5800" spc="-1" strike="noStrike">
              <a:solidFill>
                <a:srgbClr val="000000"/>
              </a:solidFill>
              <a:latin typeface="Arial"/>
            </a:endParaRPr>
          </a:p>
        </p:txBody>
      </p:sp>
      <p:sp>
        <p:nvSpPr>
          <p:cNvPr id="2206" name="TextBox 4"/>
          <p:cNvSpPr/>
          <p:nvPr/>
        </p:nvSpPr>
        <p:spPr>
          <a:xfrm>
            <a:off x="1051560" y="2331720"/>
            <a:ext cx="9875160" cy="54396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1" lang="en-US" sz="3400" spc="-1" strike="noStrike">
                <a:solidFill>
                  <a:srgbClr val="ffffff"/>
                </a:solidFill>
                <a:latin typeface="Segoe UI Semibold"/>
              </a:rPr>
              <a:t>Sintonización del lazo de control</a:t>
            </a:r>
            <a:endParaRPr b="0" lang="en-US" sz="3400" spc="-1" strike="noStrike">
              <a:solidFill>
                <a:srgbClr val="000000"/>
              </a:solidFill>
              <a:latin typeface="Arial"/>
            </a:endParaRPr>
          </a:p>
        </p:txBody>
      </p:sp>
      <p:sp>
        <p:nvSpPr>
          <p:cNvPr id="2207" name="Rectangle 5"/>
          <p:cNvSpPr/>
          <p:nvPr/>
        </p:nvSpPr>
        <p:spPr>
          <a:xfrm>
            <a:off x="1051560" y="3703320"/>
            <a:ext cx="1279800" cy="453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2208" name="Rectangle 6"/>
          <p:cNvSpPr/>
          <p:nvPr/>
        </p:nvSpPr>
        <p:spPr>
          <a:xfrm>
            <a:off x="1051560" y="41468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09" name="TextBox 7"/>
          <p:cNvSpPr/>
          <p:nvPr/>
        </p:nvSpPr>
        <p:spPr>
          <a:xfrm>
            <a:off x="1325880" y="40690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Qué significa 'estar bien sintonizado' y cómo se mide</a:t>
            </a:r>
            <a:endParaRPr b="0" lang="en-US" sz="1350" spc="-1" strike="noStrike">
              <a:solidFill>
                <a:srgbClr val="000000"/>
              </a:solidFill>
              <a:latin typeface="Arial"/>
            </a:endParaRPr>
          </a:p>
        </p:txBody>
      </p:sp>
      <p:sp>
        <p:nvSpPr>
          <p:cNvPr id="2210" name="Rectangle 8"/>
          <p:cNvSpPr/>
          <p:nvPr/>
        </p:nvSpPr>
        <p:spPr>
          <a:xfrm>
            <a:off x="1051560" y="451260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11" name="TextBox 9"/>
          <p:cNvSpPr/>
          <p:nvPr/>
        </p:nvSpPr>
        <p:spPr>
          <a:xfrm>
            <a:off x="1325880" y="443484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Las herramientas de ajuste de la Σ-X y cuándo usar cada una</a:t>
            </a:r>
            <a:endParaRPr b="0" lang="en-US" sz="1350" spc="-1" strike="noStrike">
              <a:solidFill>
                <a:srgbClr val="000000"/>
              </a:solidFill>
              <a:latin typeface="Arial"/>
            </a:endParaRPr>
          </a:p>
        </p:txBody>
      </p:sp>
      <p:sp>
        <p:nvSpPr>
          <p:cNvPr id="2212" name="Rectangle 10"/>
          <p:cNvSpPr/>
          <p:nvPr/>
        </p:nvSpPr>
        <p:spPr>
          <a:xfrm>
            <a:off x="1051560" y="487836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13" name="TextBox 11"/>
          <p:cNvSpPr/>
          <p:nvPr/>
        </p:nvSpPr>
        <p:spPr>
          <a:xfrm>
            <a:off x="1325880" y="480060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Autoajuste: sin parámetros, avanzado y con referencia</a:t>
            </a:r>
            <a:endParaRPr b="0" lang="en-US" sz="1350" spc="-1" strike="noStrike">
              <a:solidFill>
                <a:srgbClr val="000000"/>
              </a:solidFill>
              <a:latin typeface="Arial"/>
            </a:endParaRPr>
          </a:p>
        </p:txBody>
      </p:sp>
      <p:sp>
        <p:nvSpPr>
          <p:cNvPr id="2214" name="Rectangle 12"/>
          <p:cNvSpPr/>
          <p:nvPr/>
        </p:nvSpPr>
        <p:spPr>
          <a:xfrm>
            <a:off x="1051560" y="524412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15" name="TextBox 13"/>
          <p:cNvSpPr/>
          <p:nvPr/>
        </p:nvSpPr>
        <p:spPr>
          <a:xfrm>
            <a:off x="1325880" y="516636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Ajuste manual: el orden correcto de las ganancias</a:t>
            </a:r>
            <a:endParaRPr b="0" lang="en-US" sz="1350" spc="-1" strike="noStrike">
              <a:solidFill>
                <a:srgbClr val="000000"/>
              </a:solidFill>
              <a:latin typeface="Arial"/>
            </a:endParaRPr>
          </a:p>
        </p:txBody>
      </p:sp>
      <p:sp>
        <p:nvSpPr>
          <p:cNvPr id="2216" name="Rectangle 14"/>
          <p:cNvSpPr/>
          <p:nvPr/>
        </p:nvSpPr>
        <p:spPr>
          <a:xfrm>
            <a:off x="1051560" y="560988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17" name="TextBox 15"/>
          <p:cNvSpPr/>
          <p:nvPr/>
        </p:nvSpPr>
        <p:spPr>
          <a:xfrm>
            <a:off x="1325880" y="553212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Resonancia mecánica: filtros notch y análisis en frecuencia</a:t>
            </a:r>
            <a:endParaRPr b="0" lang="en-US" sz="1350" spc="-1" strike="noStrike">
              <a:solidFill>
                <a:srgbClr val="000000"/>
              </a:solidFill>
              <a:latin typeface="Arial"/>
            </a:endParaRPr>
          </a:p>
        </p:txBody>
      </p:sp>
      <p:sp>
        <p:nvSpPr>
          <p:cNvPr id="2218" name="Rectangle 16"/>
          <p:cNvSpPr/>
          <p:nvPr/>
        </p:nvSpPr>
        <p:spPr>
          <a:xfrm>
            <a:off x="1051560" y="59756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19" name="TextBox 17"/>
          <p:cNvSpPr/>
          <p:nvPr/>
        </p:nvSpPr>
        <p:spPr>
          <a:xfrm>
            <a:off x="1325880" y="58978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Vibración de baja frecuencia y control por modelo</a:t>
            </a:r>
            <a:endParaRPr b="0" lang="en-US" sz="1350" spc="-1" strike="noStrike">
              <a:solidFill>
                <a:srgbClr val="000000"/>
              </a:solidFill>
              <a:latin typeface="Arial"/>
            </a:endParaRPr>
          </a:p>
        </p:txBody>
      </p:sp>
      <p:sp>
        <p:nvSpPr>
          <p:cNvPr id="2220" name="Rectangle 18"/>
          <p:cNvSpPr/>
          <p:nvPr/>
        </p:nvSpPr>
        <p:spPr>
          <a:xfrm>
            <a:off x="1051560" y="634140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21" name="TextBox 19"/>
          <p:cNvSpPr/>
          <p:nvPr/>
        </p:nvSpPr>
        <p:spPr>
          <a:xfrm>
            <a:off x="1325880" y="626364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Diagnóstico por síntomas: qué tocar en cada caso</a:t>
            </a:r>
            <a:endParaRPr b="0" lang="en-US" sz="1350" spc="-1" strike="noStrike">
              <a:solidFill>
                <a:srgbClr val="000000"/>
              </a:solidFill>
              <a:latin typeface="Arial"/>
            </a:endParaRPr>
          </a:p>
        </p:txBody>
      </p:sp>
      <p:sp>
        <p:nvSpPr>
          <p:cNvPr id="2222" name="TextBox 20"/>
          <p:cNvSpPr/>
          <p:nvPr/>
        </p:nvSpPr>
        <p:spPr>
          <a:xfrm>
            <a:off x="1051560" y="6172200"/>
            <a:ext cx="73148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e89b1f"/>
                </a:solidFill>
                <a:latin typeface="Segoe UI"/>
              </a:rPr>
              <a:t>Duración orientativa: 6 h</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3"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24"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225"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Cómo se ve una sintonización buena y una mala</a:t>
            </a:r>
            <a:endParaRPr b="0" lang="en-US" sz="2500" spc="-1" strike="noStrike">
              <a:solidFill>
                <a:srgbClr val="000000"/>
              </a:solidFill>
              <a:latin typeface="Arial"/>
            </a:endParaRPr>
          </a:p>
        </p:txBody>
      </p:sp>
      <p:sp>
        <p:nvSpPr>
          <p:cNvPr id="2226"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Respuesta del eje ante un escalón de consigna</a:t>
            </a:r>
            <a:endParaRPr b="0" lang="en-US" sz="1250" spc="-1" strike="noStrike">
              <a:solidFill>
                <a:srgbClr val="000000"/>
              </a:solidFill>
              <a:latin typeface="Arial"/>
            </a:endParaRPr>
          </a:p>
        </p:txBody>
      </p:sp>
      <p:sp>
        <p:nvSpPr>
          <p:cNvPr id="2227"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09</a:t>
            </a:r>
            <a:endParaRPr b="0" lang="en-US" sz="1100" spc="-1" strike="noStrike">
              <a:solidFill>
                <a:srgbClr val="000000"/>
              </a:solidFill>
              <a:latin typeface="Arial"/>
            </a:endParaRPr>
          </a:p>
        </p:txBody>
      </p:sp>
      <p:sp>
        <p:nvSpPr>
          <p:cNvPr id="2228"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229"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117</a:t>
            </a:r>
            <a:endParaRPr b="0" lang="en-US" sz="900" spc="-1" strike="noStrike">
              <a:solidFill>
                <a:srgbClr val="000000"/>
              </a:solidFill>
              <a:latin typeface="Arial"/>
            </a:endParaRPr>
          </a:p>
        </p:txBody>
      </p:sp>
      <p:sp>
        <p:nvSpPr>
          <p:cNvPr id="2230" name="Rectangle 8"/>
          <p:cNvSpPr/>
          <p:nvPr/>
        </p:nvSpPr>
        <p:spPr>
          <a:xfrm>
            <a:off x="594360" y="1645920"/>
            <a:ext cx="3520080" cy="356580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31" name="Rectangle 9"/>
          <p:cNvSpPr/>
          <p:nvPr/>
        </p:nvSpPr>
        <p:spPr>
          <a:xfrm>
            <a:off x="594360" y="1645920"/>
            <a:ext cx="3520080" cy="402120"/>
          </a:xfrm>
          <a:prstGeom prst="rect">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32" name="TextBox 10"/>
          <p:cNvSpPr/>
          <p:nvPr/>
        </p:nvSpPr>
        <p:spPr>
          <a:xfrm>
            <a:off x="594360" y="1737360"/>
            <a:ext cx="3520080" cy="1832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200" spc="-1" strike="noStrike">
                <a:solidFill>
                  <a:srgbClr val="ffffff"/>
                </a:solidFill>
                <a:latin typeface="Segoe UI"/>
              </a:rPr>
              <a:t>SOBREAMORTIGUADO</a:t>
            </a:r>
            <a:endParaRPr b="0" lang="en-US" sz="1200" spc="-1" strike="noStrike">
              <a:solidFill>
                <a:srgbClr val="000000"/>
              </a:solidFill>
              <a:latin typeface="Arial"/>
            </a:endParaRPr>
          </a:p>
        </p:txBody>
      </p:sp>
      <p:sp>
        <p:nvSpPr>
          <p:cNvPr id="2233" name="TextBox 11"/>
          <p:cNvSpPr/>
          <p:nvPr/>
        </p:nvSpPr>
        <p:spPr>
          <a:xfrm>
            <a:off x="594360" y="2121480"/>
            <a:ext cx="3520080" cy="1602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5a6b7b"/>
                </a:solidFill>
                <a:latin typeface="Segoe UI"/>
              </a:rPr>
              <a:t>Ganancia baja</a:t>
            </a:r>
            <a:endParaRPr b="0" lang="en-US" sz="1050" spc="-1" strike="noStrike">
              <a:solidFill>
                <a:srgbClr val="000000"/>
              </a:solidFill>
              <a:latin typeface="Arial"/>
            </a:endParaRPr>
          </a:p>
        </p:txBody>
      </p:sp>
      <p:cxnSp>
        <p:nvCxnSpPr>
          <p:cNvPr id="2234" name="Connector 12"/>
          <p:cNvCxnSpPr/>
          <p:nvPr/>
        </p:nvCxnSpPr>
        <p:spPr>
          <a:xfrm>
            <a:off x="1005840" y="4955760"/>
            <a:ext cx="2835000" cy="360"/>
          </a:xfrm>
          <a:prstGeom prst="straightConnector1">
            <a:avLst/>
          </a:prstGeom>
          <a:ln w="13970">
            <a:solidFill>
              <a:srgbClr val="1c2430"/>
            </a:solidFill>
            <a:round/>
          </a:ln>
        </p:spPr>
      </p:cxnSp>
      <p:cxnSp>
        <p:nvCxnSpPr>
          <p:cNvPr id="2235" name="Connector 13"/>
          <p:cNvCxnSpPr/>
          <p:nvPr/>
        </p:nvCxnSpPr>
        <p:spPr>
          <a:xfrm flipV="1">
            <a:off x="1005840" y="3126960"/>
            <a:ext cx="360" cy="1829160"/>
          </a:xfrm>
          <a:prstGeom prst="straightConnector1">
            <a:avLst/>
          </a:prstGeom>
          <a:ln w="13970">
            <a:solidFill>
              <a:srgbClr val="1c2430"/>
            </a:solidFill>
            <a:round/>
          </a:ln>
        </p:spPr>
      </p:cxnSp>
      <p:cxnSp>
        <p:nvCxnSpPr>
          <p:cNvPr id="2236" name="Connector 14"/>
          <p:cNvCxnSpPr/>
          <p:nvPr/>
        </p:nvCxnSpPr>
        <p:spPr>
          <a:xfrm>
            <a:off x="1005840" y="3737880"/>
            <a:ext cx="2835000" cy="360"/>
          </a:xfrm>
          <a:prstGeom prst="straightConnector1">
            <a:avLst/>
          </a:prstGeom>
          <a:ln w="12700">
            <a:solidFill>
              <a:srgbClr val="5a6b7b"/>
            </a:solidFill>
            <a:prstDash val="dash"/>
            <a:round/>
          </a:ln>
        </p:spPr>
      </p:cxnSp>
      <p:sp>
        <p:nvSpPr>
          <p:cNvPr id="2237" name="TextBox 15"/>
          <p:cNvSpPr/>
          <p:nvPr/>
        </p:nvSpPr>
        <p:spPr>
          <a:xfrm>
            <a:off x="2971800" y="3500280"/>
            <a:ext cx="868320" cy="12204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800" spc="-1" strike="noStrike">
                <a:solidFill>
                  <a:srgbClr val="5a6b7b"/>
                </a:solidFill>
                <a:latin typeface="Segoe UI"/>
              </a:rPr>
              <a:t>consigna</a:t>
            </a:r>
            <a:endParaRPr b="0" lang="en-US" sz="800" spc="-1" strike="noStrike">
              <a:solidFill>
                <a:srgbClr val="000000"/>
              </a:solidFill>
              <a:latin typeface="Arial"/>
            </a:endParaRPr>
          </a:p>
        </p:txBody>
      </p:sp>
      <p:cxnSp>
        <p:nvCxnSpPr>
          <p:cNvPr id="2238" name="Connector 16"/>
          <p:cNvCxnSpPr/>
          <p:nvPr/>
        </p:nvCxnSpPr>
        <p:spPr>
          <a:xfrm flipV="1">
            <a:off x="1005840" y="4736520"/>
            <a:ext cx="283680" cy="219600"/>
          </a:xfrm>
          <a:prstGeom prst="straightConnector1">
            <a:avLst/>
          </a:prstGeom>
          <a:ln>
            <a:solidFill>
              <a:srgbClr val="5a6b7b"/>
            </a:solidFill>
            <a:round/>
          </a:ln>
        </p:spPr>
      </p:cxnSp>
      <p:cxnSp>
        <p:nvCxnSpPr>
          <p:cNvPr id="2239" name="Connector 17"/>
          <p:cNvCxnSpPr/>
          <p:nvPr/>
        </p:nvCxnSpPr>
        <p:spPr>
          <a:xfrm flipV="1">
            <a:off x="1289160" y="4444200"/>
            <a:ext cx="283680" cy="292680"/>
          </a:xfrm>
          <a:prstGeom prst="straightConnector1">
            <a:avLst/>
          </a:prstGeom>
          <a:ln>
            <a:solidFill>
              <a:srgbClr val="5a6b7b"/>
            </a:solidFill>
            <a:round/>
          </a:ln>
        </p:spPr>
      </p:cxnSp>
      <p:cxnSp>
        <p:nvCxnSpPr>
          <p:cNvPr id="2240" name="Connector 18"/>
          <p:cNvCxnSpPr/>
          <p:nvPr/>
        </p:nvCxnSpPr>
        <p:spPr>
          <a:xfrm flipV="1">
            <a:off x="1572480" y="4200840"/>
            <a:ext cx="284040" cy="243720"/>
          </a:xfrm>
          <a:prstGeom prst="straightConnector1">
            <a:avLst/>
          </a:prstGeom>
          <a:ln>
            <a:solidFill>
              <a:srgbClr val="5a6b7b"/>
            </a:solidFill>
            <a:round/>
          </a:ln>
        </p:spPr>
      </p:cxnSp>
      <p:cxnSp>
        <p:nvCxnSpPr>
          <p:cNvPr id="2241" name="Connector 19"/>
          <p:cNvCxnSpPr/>
          <p:nvPr/>
        </p:nvCxnSpPr>
        <p:spPr>
          <a:xfrm flipV="1">
            <a:off x="1856160" y="4030200"/>
            <a:ext cx="283680" cy="171000"/>
          </a:xfrm>
          <a:prstGeom prst="straightConnector1">
            <a:avLst/>
          </a:prstGeom>
          <a:ln>
            <a:solidFill>
              <a:srgbClr val="5a6b7b"/>
            </a:solidFill>
            <a:round/>
          </a:ln>
        </p:spPr>
      </p:cxnSp>
      <p:cxnSp>
        <p:nvCxnSpPr>
          <p:cNvPr id="2242" name="Connector 20"/>
          <p:cNvCxnSpPr/>
          <p:nvPr/>
        </p:nvCxnSpPr>
        <p:spPr>
          <a:xfrm flipV="1">
            <a:off x="2139480" y="3920760"/>
            <a:ext cx="284040" cy="109800"/>
          </a:xfrm>
          <a:prstGeom prst="straightConnector1">
            <a:avLst/>
          </a:prstGeom>
          <a:ln>
            <a:solidFill>
              <a:srgbClr val="5a6b7b"/>
            </a:solidFill>
            <a:round/>
          </a:ln>
        </p:spPr>
      </p:cxnSp>
      <p:cxnSp>
        <p:nvCxnSpPr>
          <p:cNvPr id="2243" name="Connector 21"/>
          <p:cNvCxnSpPr/>
          <p:nvPr/>
        </p:nvCxnSpPr>
        <p:spPr>
          <a:xfrm flipV="1">
            <a:off x="2423160" y="3847680"/>
            <a:ext cx="283680" cy="73440"/>
          </a:xfrm>
          <a:prstGeom prst="straightConnector1">
            <a:avLst/>
          </a:prstGeom>
          <a:ln>
            <a:solidFill>
              <a:srgbClr val="5a6b7b"/>
            </a:solidFill>
            <a:round/>
          </a:ln>
        </p:spPr>
      </p:cxnSp>
      <p:cxnSp>
        <p:nvCxnSpPr>
          <p:cNvPr id="2244" name="Connector 22"/>
          <p:cNvCxnSpPr/>
          <p:nvPr/>
        </p:nvCxnSpPr>
        <p:spPr>
          <a:xfrm flipV="1">
            <a:off x="2706480" y="3798720"/>
            <a:ext cx="283680" cy="49320"/>
          </a:xfrm>
          <a:prstGeom prst="straightConnector1">
            <a:avLst/>
          </a:prstGeom>
          <a:ln>
            <a:solidFill>
              <a:srgbClr val="5a6b7b"/>
            </a:solidFill>
            <a:round/>
          </a:ln>
        </p:spPr>
      </p:cxnSp>
      <p:cxnSp>
        <p:nvCxnSpPr>
          <p:cNvPr id="2245" name="Connector 23"/>
          <p:cNvCxnSpPr/>
          <p:nvPr/>
        </p:nvCxnSpPr>
        <p:spPr>
          <a:xfrm flipV="1">
            <a:off x="2989800" y="3774600"/>
            <a:ext cx="284040" cy="24480"/>
          </a:xfrm>
          <a:prstGeom prst="straightConnector1">
            <a:avLst/>
          </a:prstGeom>
          <a:ln>
            <a:solidFill>
              <a:srgbClr val="5a6b7b"/>
            </a:solidFill>
            <a:round/>
          </a:ln>
        </p:spPr>
      </p:cxnSp>
      <p:cxnSp>
        <p:nvCxnSpPr>
          <p:cNvPr id="2246" name="Connector 24"/>
          <p:cNvCxnSpPr/>
          <p:nvPr/>
        </p:nvCxnSpPr>
        <p:spPr>
          <a:xfrm flipV="1">
            <a:off x="3273480" y="3750120"/>
            <a:ext cx="283680" cy="24840"/>
          </a:xfrm>
          <a:prstGeom prst="straightConnector1">
            <a:avLst/>
          </a:prstGeom>
          <a:ln>
            <a:solidFill>
              <a:srgbClr val="5a6b7b"/>
            </a:solidFill>
            <a:round/>
          </a:ln>
        </p:spPr>
      </p:cxnSp>
      <p:cxnSp>
        <p:nvCxnSpPr>
          <p:cNvPr id="2247" name="Connector 25"/>
          <p:cNvCxnSpPr/>
          <p:nvPr/>
        </p:nvCxnSpPr>
        <p:spPr>
          <a:xfrm flipV="1">
            <a:off x="3556800" y="3737880"/>
            <a:ext cx="284040" cy="12600"/>
          </a:xfrm>
          <a:prstGeom prst="straightConnector1">
            <a:avLst/>
          </a:prstGeom>
          <a:ln>
            <a:solidFill>
              <a:srgbClr val="5a6b7b"/>
            </a:solidFill>
            <a:round/>
          </a:ln>
        </p:spPr>
      </p:cxnSp>
      <p:sp>
        <p:nvSpPr>
          <p:cNvPr id="2248" name="TextBox 26"/>
          <p:cNvSpPr/>
          <p:nvPr/>
        </p:nvSpPr>
        <p:spPr>
          <a:xfrm>
            <a:off x="868680" y="2487240"/>
            <a:ext cx="2971440" cy="367560"/>
          </a:xfrm>
          <a:prstGeom prst="rect">
            <a:avLst/>
          </a:prstGeom>
          <a:noFill/>
          <a:ln w="0">
            <a:noFill/>
          </a:ln>
        </p:spPr>
        <p:style>
          <a:lnRef idx="0"/>
          <a:fillRef idx="0"/>
          <a:effectRef idx="0"/>
          <a:fontRef idx="minor"/>
        </p:style>
        <p:txBody>
          <a:bodyPr lIns="0" rIns="0" tIns="0" bIns="0" anchor="t">
            <a:spAutoFit/>
          </a:bodyPr>
          <a:p>
            <a:pPr algn="ctr" defTabSz="457200">
              <a:lnSpc>
                <a:spcPct val="115000"/>
              </a:lnSpc>
            </a:pPr>
            <a:r>
              <a:rPr b="0" lang="en-US" sz="1050" spc="-1" strike="noStrike">
                <a:solidFill>
                  <a:srgbClr val="5a6b7b"/>
                </a:solidFill>
                <a:latin typeface="Segoe UI"/>
              </a:rPr>
              <a:t>Llega tarde, sin pasarse.</a:t>
            </a:r>
            <a:endParaRPr b="0" lang="en-US" sz="1050" spc="-1" strike="noStrike">
              <a:solidFill>
                <a:srgbClr val="000000"/>
              </a:solidFill>
              <a:latin typeface="Arial"/>
            </a:endParaRPr>
          </a:p>
          <a:p>
            <a:pPr algn="ctr" defTabSz="457200">
              <a:lnSpc>
                <a:spcPct val="115000"/>
              </a:lnSpc>
            </a:pPr>
            <a:r>
              <a:rPr b="0" lang="en-US" sz="1050" spc="-1" strike="noStrike">
                <a:solidFill>
                  <a:srgbClr val="5a6b7b"/>
                </a:solidFill>
                <a:latin typeface="Segoe UI"/>
              </a:rPr>
              <a:t>Seguro pero lento.</a:t>
            </a:r>
            <a:endParaRPr b="0" lang="en-US" sz="1050" spc="-1" strike="noStrike">
              <a:solidFill>
                <a:srgbClr val="000000"/>
              </a:solidFill>
              <a:latin typeface="Arial"/>
            </a:endParaRPr>
          </a:p>
        </p:txBody>
      </p:sp>
      <p:sp>
        <p:nvSpPr>
          <p:cNvPr id="2249" name="Rectangle 27"/>
          <p:cNvSpPr/>
          <p:nvPr/>
        </p:nvSpPr>
        <p:spPr>
          <a:xfrm>
            <a:off x="4389120" y="1645920"/>
            <a:ext cx="3520080" cy="356580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50" name="Rectangle 28"/>
          <p:cNvSpPr/>
          <p:nvPr/>
        </p:nvSpPr>
        <p:spPr>
          <a:xfrm>
            <a:off x="4389120" y="1645920"/>
            <a:ext cx="3520080" cy="40212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51" name="TextBox 29"/>
          <p:cNvSpPr/>
          <p:nvPr/>
        </p:nvSpPr>
        <p:spPr>
          <a:xfrm>
            <a:off x="4389120" y="1737360"/>
            <a:ext cx="3520080" cy="1832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200" spc="-1" strike="noStrike">
                <a:solidFill>
                  <a:srgbClr val="ffffff"/>
                </a:solidFill>
                <a:latin typeface="Segoe UI"/>
              </a:rPr>
              <a:t>ÓPTIMO</a:t>
            </a:r>
            <a:endParaRPr b="0" lang="en-US" sz="1200" spc="-1" strike="noStrike">
              <a:solidFill>
                <a:srgbClr val="000000"/>
              </a:solidFill>
              <a:latin typeface="Arial"/>
            </a:endParaRPr>
          </a:p>
        </p:txBody>
      </p:sp>
      <p:sp>
        <p:nvSpPr>
          <p:cNvPr id="2252" name="TextBox 30"/>
          <p:cNvSpPr/>
          <p:nvPr/>
        </p:nvSpPr>
        <p:spPr>
          <a:xfrm>
            <a:off x="4389120" y="2121480"/>
            <a:ext cx="3520080" cy="1602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2e8b57"/>
                </a:solidFill>
                <a:latin typeface="Segoe UI"/>
              </a:rPr>
              <a:t>Ganancia adecuada</a:t>
            </a:r>
            <a:endParaRPr b="0" lang="en-US" sz="1050" spc="-1" strike="noStrike">
              <a:solidFill>
                <a:srgbClr val="000000"/>
              </a:solidFill>
              <a:latin typeface="Arial"/>
            </a:endParaRPr>
          </a:p>
        </p:txBody>
      </p:sp>
      <p:cxnSp>
        <p:nvCxnSpPr>
          <p:cNvPr id="2253" name="Connector 31"/>
          <p:cNvCxnSpPr/>
          <p:nvPr/>
        </p:nvCxnSpPr>
        <p:spPr>
          <a:xfrm>
            <a:off x="4800600" y="4955760"/>
            <a:ext cx="2835000" cy="360"/>
          </a:xfrm>
          <a:prstGeom prst="straightConnector1">
            <a:avLst/>
          </a:prstGeom>
          <a:ln w="13970">
            <a:solidFill>
              <a:srgbClr val="1c2430"/>
            </a:solidFill>
            <a:round/>
          </a:ln>
        </p:spPr>
      </p:cxnSp>
      <p:cxnSp>
        <p:nvCxnSpPr>
          <p:cNvPr id="2254" name="Connector 32"/>
          <p:cNvCxnSpPr/>
          <p:nvPr/>
        </p:nvCxnSpPr>
        <p:spPr>
          <a:xfrm flipV="1">
            <a:off x="4800600" y="3126960"/>
            <a:ext cx="360" cy="1829160"/>
          </a:xfrm>
          <a:prstGeom prst="straightConnector1">
            <a:avLst/>
          </a:prstGeom>
          <a:ln w="13970">
            <a:solidFill>
              <a:srgbClr val="1c2430"/>
            </a:solidFill>
            <a:round/>
          </a:ln>
        </p:spPr>
      </p:cxnSp>
      <p:cxnSp>
        <p:nvCxnSpPr>
          <p:cNvPr id="2255" name="Connector 33"/>
          <p:cNvCxnSpPr/>
          <p:nvPr/>
        </p:nvCxnSpPr>
        <p:spPr>
          <a:xfrm>
            <a:off x="4800600" y="3737880"/>
            <a:ext cx="2835000" cy="360"/>
          </a:xfrm>
          <a:prstGeom prst="straightConnector1">
            <a:avLst/>
          </a:prstGeom>
          <a:ln w="12700">
            <a:solidFill>
              <a:srgbClr val="5a6b7b"/>
            </a:solidFill>
            <a:prstDash val="dash"/>
            <a:round/>
          </a:ln>
        </p:spPr>
      </p:cxnSp>
      <p:sp>
        <p:nvSpPr>
          <p:cNvPr id="2256" name="TextBox 34"/>
          <p:cNvSpPr/>
          <p:nvPr/>
        </p:nvSpPr>
        <p:spPr>
          <a:xfrm>
            <a:off x="6766560" y="3500280"/>
            <a:ext cx="868320" cy="12204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800" spc="-1" strike="noStrike">
                <a:solidFill>
                  <a:srgbClr val="5a6b7b"/>
                </a:solidFill>
                <a:latin typeface="Segoe UI"/>
              </a:rPr>
              <a:t>consigna</a:t>
            </a:r>
            <a:endParaRPr b="0" lang="en-US" sz="800" spc="-1" strike="noStrike">
              <a:solidFill>
                <a:srgbClr val="000000"/>
              </a:solidFill>
              <a:latin typeface="Arial"/>
            </a:endParaRPr>
          </a:p>
        </p:txBody>
      </p:sp>
      <p:cxnSp>
        <p:nvCxnSpPr>
          <p:cNvPr id="2257" name="Connector 35"/>
          <p:cNvCxnSpPr/>
          <p:nvPr/>
        </p:nvCxnSpPr>
        <p:spPr>
          <a:xfrm flipV="1">
            <a:off x="4800600" y="4444200"/>
            <a:ext cx="283680" cy="511920"/>
          </a:xfrm>
          <a:prstGeom prst="straightConnector1">
            <a:avLst/>
          </a:prstGeom>
          <a:ln>
            <a:solidFill>
              <a:srgbClr val="2e8b57"/>
            </a:solidFill>
            <a:round/>
          </a:ln>
        </p:spPr>
      </p:cxnSp>
      <p:cxnSp>
        <p:nvCxnSpPr>
          <p:cNvPr id="2258" name="Connector 36"/>
          <p:cNvCxnSpPr/>
          <p:nvPr/>
        </p:nvCxnSpPr>
        <p:spPr>
          <a:xfrm flipV="1">
            <a:off x="5083920" y="4005720"/>
            <a:ext cx="283680" cy="438840"/>
          </a:xfrm>
          <a:prstGeom prst="straightConnector1">
            <a:avLst/>
          </a:prstGeom>
          <a:ln>
            <a:solidFill>
              <a:srgbClr val="2e8b57"/>
            </a:solidFill>
            <a:round/>
          </a:ln>
        </p:spPr>
      </p:cxnSp>
      <p:cxnSp>
        <p:nvCxnSpPr>
          <p:cNvPr id="2259" name="Connector 37"/>
          <p:cNvCxnSpPr/>
          <p:nvPr/>
        </p:nvCxnSpPr>
        <p:spPr>
          <a:xfrm flipV="1">
            <a:off x="5367240" y="3786480"/>
            <a:ext cx="284040" cy="219600"/>
          </a:xfrm>
          <a:prstGeom prst="straightConnector1">
            <a:avLst/>
          </a:prstGeom>
          <a:ln>
            <a:solidFill>
              <a:srgbClr val="2e8b57"/>
            </a:solidFill>
            <a:round/>
          </a:ln>
        </p:spPr>
      </p:cxnSp>
      <p:cxnSp>
        <p:nvCxnSpPr>
          <p:cNvPr id="2260" name="Connector 38"/>
          <p:cNvCxnSpPr/>
          <p:nvPr/>
        </p:nvCxnSpPr>
        <p:spPr>
          <a:xfrm flipV="1">
            <a:off x="5650920" y="3713400"/>
            <a:ext cx="283680" cy="73440"/>
          </a:xfrm>
          <a:prstGeom prst="straightConnector1">
            <a:avLst/>
          </a:prstGeom>
          <a:ln>
            <a:solidFill>
              <a:srgbClr val="2e8b57"/>
            </a:solidFill>
            <a:round/>
          </a:ln>
        </p:spPr>
      </p:cxnSp>
      <p:cxnSp>
        <p:nvCxnSpPr>
          <p:cNvPr id="2261" name="Connector 39"/>
          <p:cNvCxnSpPr/>
          <p:nvPr/>
        </p:nvCxnSpPr>
        <p:spPr>
          <a:xfrm>
            <a:off x="5934240" y="3713400"/>
            <a:ext cx="284040" cy="12600"/>
          </a:xfrm>
          <a:prstGeom prst="straightConnector1">
            <a:avLst/>
          </a:prstGeom>
          <a:ln>
            <a:solidFill>
              <a:srgbClr val="2e8b57"/>
            </a:solidFill>
            <a:round/>
          </a:ln>
        </p:spPr>
      </p:cxnSp>
      <p:cxnSp>
        <p:nvCxnSpPr>
          <p:cNvPr id="2262" name="Connector 40"/>
          <p:cNvCxnSpPr/>
          <p:nvPr/>
        </p:nvCxnSpPr>
        <p:spPr>
          <a:xfrm>
            <a:off x="6217920" y="3725640"/>
            <a:ext cx="283680" cy="12600"/>
          </a:xfrm>
          <a:prstGeom prst="straightConnector1">
            <a:avLst/>
          </a:prstGeom>
          <a:ln>
            <a:solidFill>
              <a:srgbClr val="2e8b57"/>
            </a:solidFill>
            <a:round/>
          </a:ln>
        </p:spPr>
      </p:cxnSp>
      <p:cxnSp>
        <p:nvCxnSpPr>
          <p:cNvPr id="2263" name="Connector 41"/>
          <p:cNvCxnSpPr/>
          <p:nvPr/>
        </p:nvCxnSpPr>
        <p:spPr>
          <a:xfrm>
            <a:off x="6501240" y="3737880"/>
            <a:ext cx="283680" cy="360"/>
          </a:xfrm>
          <a:prstGeom prst="straightConnector1">
            <a:avLst/>
          </a:prstGeom>
          <a:ln>
            <a:solidFill>
              <a:srgbClr val="2e8b57"/>
            </a:solidFill>
            <a:round/>
          </a:ln>
        </p:spPr>
      </p:cxnSp>
      <p:cxnSp>
        <p:nvCxnSpPr>
          <p:cNvPr id="2264" name="Connector 42"/>
          <p:cNvCxnSpPr/>
          <p:nvPr/>
        </p:nvCxnSpPr>
        <p:spPr>
          <a:xfrm>
            <a:off x="6784560" y="3737880"/>
            <a:ext cx="284040" cy="360"/>
          </a:xfrm>
          <a:prstGeom prst="straightConnector1">
            <a:avLst/>
          </a:prstGeom>
          <a:ln>
            <a:solidFill>
              <a:srgbClr val="2e8b57"/>
            </a:solidFill>
            <a:round/>
          </a:ln>
        </p:spPr>
      </p:cxnSp>
      <p:cxnSp>
        <p:nvCxnSpPr>
          <p:cNvPr id="2265" name="Connector 43"/>
          <p:cNvCxnSpPr/>
          <p:nvPr/>
        </p:nvCxnSpPr>
        <p:spPr>
          <a:xfrm>
            <a:off x="7068240" y="3737880"/>
            <a:ext cx="283680" cy="360"/>
          </a:xfrm>
          <a:prstGeom prst="straightConnector1">
            <a:avLst/>
          </a:prstGeom>
          <a:ln>
            <a:solidFill>
              <a:srgbClr val="2e8b57"/>
            </a:solidFill>
            <a:round/>
          </a:ln>
        </p:spPr>
      </p:cxnSp>
      <p:cxnSp>
        <p:nvCxnSpPr>
          <p:cNvPr id="2266" name="Connector 44"/>
          <p:cNvCxnSpPr/>
          <p:nvPr/>
        </p:nvCxnSpPr>
        <p:spPr>
          <a:xfrm>
            <a:off x="7351560" y="3737880"/>
            <a:ext cx="284040" cy="360"/>
          </a:xfrm>
          <a:prstGeom prst="straightConnector1">
            <a:avLst/>
          </a:prstGeom>
          <a:ln>
            <a:solidFill>
              <a:srgbClr val="2e8b57"/>
            </a:solidFill>
            <a:round/>
          </a:ln>
        </p:spPr>
      </p:cxnSp>
      <p:sp>
        <p:nvSpPr>
          <p:cNvPr id="2267" name="TextBox 45"/>
          <p:cNvSpPr/>
          <p:nvPr/>
        </p:nvSpPr>
        <p:spPr>
          <a:xfrm>
            <a:off x="4663440" y="2487240"/>
            <a:ext cx="2971440" cy="367560"/>
          </a:xfrm>
          <a:prstGeom prst="rect">
            <a:avLst/>
          </a:prstGeom>
          <a:noFill/>
          <a:ln w="0">
            <a:noFill/>
          </a:ln>
        </p:spPr>
        <p:style>
          <a:lnRef idx="0"/>
          <a:fillRef idx="0"/>
          <a:effectRef idx="0"/>
          <a:fontRef idx="minor"/>
        </p:style>
        <p:txBody>
          <a:bodyPr lIns="0" rIns="0" tIns="0" bIns="0" anchor="t">
            <a:spAutoFit/>
          </a:bodyPr>
          <a:p>
            <a:pPr algn="ctr" defTabSz="457200">
              <a:lnSpc>
                <a:spcPct val="115000"/>
              </a:lnSpc>
            </a:pPr>
            <a:r>
              <a:rPr b="0" lang="en-US" sz="1050" spc="-1" strike="noStrike">
                <a:solidFill>
                  <a:srgbClr val="5a6b7b"/>
                </a:solidFill>
                <a:latin typeface="Segoe UI"/>
              </a:rPr>
              <a:t>Rápido, sin apenas</a:t>
            </a:r>
            <a:endParaRPr b="0" lang="en-US" sz="1050" spc="-1" strike="noStrike">
              <a:solidFill>
                <a:srgbClr val="000000"/>
              </a:solidFill>
              <a:latin typeface="Arial"/>
            </a:endParaRPr>
          </a:p>
          <a:p>
            <a:pPr algn="ctr" defTabSz="457200">
              <a:lnSpc>
                <a:spcPct val="115000"/>
              </a:lnSpc>
            </a:pPr>
            <a:r>
              <a:rPr b="0" lang="en-US" sz="1050" spc="-1" strike="noStrike">
                <a:solidFill>
                  <a:srgbClr val="5a6b7b"/>
                </a:solidFill>
                <a:latin typeface="Segoe UI"/>
              </a:rPr>
              <a:t>sobrepasamiento.</a:t>
            </a:r>
            <a:endParaRPr b="0" lang="en-US" sz="1050" spc="-1" strike="noStrike">
              <a:solidFill>
                <a:srgbClr val="000000"/>
              </a:solidFill>
              <a:latin typeface="Arial"/>
            </a:endParaRPr>
          </a:p>
        </p:txBody>
      </p:sp>
      <p:sp>
        <p:nvSpPr>
          <p:cNvPr id="2268" name="Rectangle 46"/>
          <p:cNvSpPr/>
          <p:nvPr/>
        </p:nvSpPr>
        <p:spPr>
          <a:xfrm>
            <a:off x="8183880" y="1645920"/>
            <a:ext cx="3520080" cy="356580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69" name="Rectangle 47"/>
          <p:cNvSpPr/>
          <p:nvPr/>
        </p:nvSpPr>
        <p:spPr>
          <a:xfrm>
            <a:off x="8183880" y="1645920"/>
            <a:ext cx="3520080" cy="40212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70" name="TextBox 48"/>
          <p:cNvSpPr/>
          <p:nvPr/>
        </p:nvSpPr>
        <p:spPr>
          <a:xfrm>
            <a:off x="8183880" y="1737360"/>
            <a:ext cx="3520080" cy="18324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200" spc="-1" strike="noStrike">
                <a:solidFill>
                  <a:srgbClr val="ffffff"/>
                </a:solidFill>
                <a:latin typeface="Segoe UI"/>
              </a:rPr>
              <a:t>SUBAMORTIGUADO</a:t>
            </a:r>
            <a:endParaRPr b="0" lang="en-US" sz="1200" spc="-1" strike="noStrike">
              <a:solidFill>
                <a:srgbClr val="000000"/>
              </a:solidFill>
              <a:latin typeface="Arial"/>
            </a:endParaRPr>
          </a:p>
        </p:txBody>
      </p:sp>
      <p:sp>
        <p:nvSpPr>
          <p:cNvPr id="2271" name="TextBox 49"/>
          <p:cNvSpPr/>
          <p:nvPr/>
        </p:nvSpPr>
        <p:spPr>
          <a:xfrm>
            <a:off x="8183880" y="2121480"/>
            <a:ext cx="3520080" cy="1602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c0392b"/>
                </a:solidFill>
                <a:latin typeface="Segoe UI"/>
              </a:rPr>
              <a:t>Ganancia excesiva</a:t>
            </a:r>
            <a:endParaRPr b="0" lang="en-US" sz="1050" spc="-1" strike="noStrike">
              <a:solidFill>
                <a:srgbClr val="000000"/>
              </a:solidFill>
              <a:latin typeface="Arial"/>
            </a:endParaRPr>
          </a:p>
        </p:txBody>
      </p:sp>
      <p:cxnSp>
        <p:nvCxnSpPr>
          <p:cNvPr id="2272" name="Connector 50"/>
          <p:cNvCxnSpPr/>
          <p:nvPr/>
        </p:nvCxnSpPr>
        <p:spPr>
          <a:xfrm>
            <a:off x="8595360" y="4955760"/>
            <a:ext cx="2835000" cy="360"/>
          </a:xfrm>
          <a:prstGeom prst="straightConnector1">
            <a:avLst/>
          </a:prstGeom>
          <a:ln w="13970">
            <a:solidFill>
              <a:srgbClr val="1c2430"/>
            </a:solidFill>
            <a:round/>
          </a:ln>
        </p:spPr>
      </p:cxnSp>
      <p:cxnSp>
        <p:nvCxnSpPr>
          <p:cNvPr id="2273" name="Connector 51"/>
          <p:cNvCxnSpPr/>
          <p:nvPr/>
        </p:nvCxnSpPr>
        <p:spPr>
          <a:xfrm flipV="1">
            <a:off x="8595360" y="3126960"/>
            <a:ext cx="360" cy="1829160"/>
          </a:xfrm>
          <a:prstGeom prst="straightConnector1">
            <a:avLst/>
          </a:prstGeom>
          <a:ln w="13970">
            <a:solidFill>
              <a:srgbClr val="1c2430"/>
            </a:solidFill>
            <a:round/>
          </a:ln>
        </p:spPr>
      </p:cxnSp>
      <p:cxnSp>
        <p:nvCxnSpPr>
          <p:cNvPr id="2274" name="Connector 52"/>
          <p:cNvCxnSpPr/>
          <p:nvPr/>
        </p:nvCxnSpPr>
        <p:spPr>
          <a:xfrm>
            <a:off x="8595360" y="3737880"/>
            <a:ext cx="2835000" cy="360"/>
          </a:xfrm>
          <a:prstGeom prst="straightConnector1">
            <a:avLst/>
          </a:prstGeom>
          <a:ln w="12700">
            <a:solidFill>
              <a:srgbClr val="5a6b7b"/>
            </a:solidFill>
            <a:prstDash val="dash"/>
            <a:round/>
          </a:ln>
        </p:spPr>
      </p:cxnSp>
      <p:sp>
        <p:nvSpPr>
          <p:cNvPr id="2275" name="TextBox 53"/>
          <p:cNvSpPr/>
          <p:nvPr/>
        </p:nvSpPr>
        <p:spPr>
          <a:xfrm>
            <a:off x="10561320" y="3500280"/>
            <a:ext cx="868320" cy="12204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800" spc="-1" strike="noStrike">
                <a:solidFill>
                  <a:srgbClr val="5a6b7b"/>
                </a:solidFill>
                <a:latin typeface="Segoe UI"/>
              </a:rPr>
              <a:t>consigna</a:t>
            </a:r>
            <a:endParaRPr b="0" lang="en-US" sz="800" spc="-1" strike="noStrike">
              <a:solidFill>
                <a:srgbClr val="000000"/>
              </a:solidFill>
              <a:latin typeface="Arial"/>
            </a:endParaRPr>
          </a:p>
        </p:txBody>
      </p:sp>
      <p:cxnSp>
        <p:nvCxnSpPr>
          <p:cNvPr id="2276" name="Connector 54"/>
          <p:cNvCxnSpPr/>
          <p:nvPr/>
        </p:nvCxnSpPr>
        <p:spPr>
          <a:xfrm flipV="1">
            <a:off x="8595360" y="4200840"/>
            <a:ext cx="283680" cy="755280"/>
          </a:xfrm>
          <a:prstGeom prst="straightConnector1">
            <a:avLst/>
          </a:prstGeom>
          <a:ln>
            <a:solidFill>
              <a:srgbClr val="c0392b"/>
            </a:solidFill>
            <a:round/>
          </a:ln>
        </p:spPr>
      </p:cxnSp>
      <p:cxnSp>
        <p:nvCxnSpPr>
          <p:cNvPr id="2277" name="Connector 55"/>
          <p:cNvCxnSpPr/>
          <p:nvPr/>
        </p:nvCxnSpPr>
        <p:spPr>
          <a:xfrm flipV="1">
            <a:off x="8878680" y="3555360"/>
            <a:ext cx="283680" cy="645840"/>
          </a:xfrm>
          <a:prstGeom prst="straightConnector1">
            <a:avLst/>
          </a:prstGeom>
          <a:ln>
            <a:solidFill>
              <a:srgbClr val="c0392b"/>
            </a:solidFill>
            <a:round/>
          </a:ln>
        </p:spPr>
      </p:cxnSp>
      <p:cxnSp>
        <p:nvCxnSpPr>
          <p:cNvPr id="2278" name="Connector 56"/>
          <p:cNvCxnSpPr/>
          <p:nvPr/>
        </p:nvCxnSpPr>
        <p:spPr>
          <a:xfrm flipV="1">
            <a:off x="9162000" y="3396960"/>
            <a:ext cx="284040" cy="158760"/>
          </a:xfrm>
          <a:prstGeom prst="straightConnector1">
            <a:avLst/>
          </a:prstGeom>
          <a:ln>
            <a:solidFill>
              <a:srgbClr val="c0392b"/>
            </a:solidFill>
            <a:round/>
          </a:ln>
        </p:spPr>
      </p:cxnSp>
      <p:cxnSp>
        <p:nvCxnSpPr>
          <p:cNvPr id="2279" name="Connector 57"/>
          <p:cNvCxnSpPr/>
          <p:nvPr/>
        </p:nvCxnSpPr>
        <p:spPr>
          <a:xfrm>
            <a:off x="9445680" y="3396960"/>
            <a:ext cx="283680" cy="280440"/>
          </a:xfrm>
          <a:prstGeom prst="straightConnector1">
            <a:avLst/>
          </a:prstGeom>
          <a:ln>
            <a:solidFill>
              <a:srgbClr val="c0392b"/>
            </a:solidFill>
            <a:round/>
          </a:ln>
        </p:spPr>
      </p:cxnSp>
      <p:cxnSp>
        <p:nvCxnSpPr>
          <p:cNvPr id="2280" name="Connector 58"/>
          <p:cNvCxnSpPr/>
          <p:nvPr/>
        </p:nvCxnSpPr>
        <p:spPr>
          <a:xfrm>
            <a:off x="9729000" y="3677040"/>
            <a:ext cx="284040" cy="231840"/>
          </a:xfrm>
          <a:prstGeom prst="straightConnector1">
            <a:avLst/>
          </a:prstGeom>
          <a:ln>
            <a:solidFill>
              <a:srgbClr val="c0392b"/>
            </a:solidFill>
            <a:round/>
          </a:ln>
        </p:spPr>
      </p:cxnSp>
      <p:cxnSp>
        <p:nvCxnSpPr>
          <p:cNvPr id="2281" name="Connector 59"/>
          <p:cNvCxnSpPr/>
          <p:nvPr/>
        </p:nvCxnSpPr>
        <p:spPr>
          <a:xfrm flipV="1">
            <a:off x="10012680" y="3798720"/>
            <a:ext cx="283680" cy="110160"/>
          </a:xfrm>
          <a:prstGeom prst="straightConnector1">
            <a:avLst/>
          </a:prstGeom>
          <a:ln>
            <a:solidFill>
              <a:srgbClr val="c0392b"/>
            </a:solidFill>
            <a:round/>
          </a:ln>
        </p:spPr>
      </p:cxnSp>
      <p:cxnSp>
        <p:nvCxnSpPr>
          <p:cNvPr id="2282" name="Connector 60"/>
          <p:cNvCxnSpPr/>
          <p:nvPr/>
        </p:nvCxnSpPr>
        <p:spPr>
          <a:xfrm flipV="1">
            <a:off x="10296000" y="3664800"/>
            <a:ext cx="283680" cy="134280"/>
          </a:xfrm>
          <a:prstGeom prst="straightConnector1">
            <a:avLst/>
          </a:prstGeom>
          <a:ln>
            <a:solidFill>
              <a:srgbClr val="c0392b"/>
            </a:solidFill>
            <a:round/>
          </a:ln>
        </p:spPr>
      </p:cxnSp>
      <p:cxnSp>
        <p:nvCxnSpPr>
          <p:cNvPr id="2283" name="Connector 61"/>
          <p:cNvCxnSpPr/>
          <p:nvPr/>
        </p:nvCxnSpPr>
        <p:spPr>
          <a:xfrm>
            <a:off x="10579320" y="3664800"/>
            <a:ext cx="284040" cy="48960"/>
          </a:xfrm>
          <a:prstGeom prst="straightConnector1">
            <a:avLst/>
          </a:prstGeom>
          <a:ln>
            <a:solidFill>
              <a:srgbClr val="c0392b"/>
            </a:solidFill>
            <a:round/>
          </a:ln>
        </p:spPr>
      </p:cxnSp>
      <p:cxnSp>
        <p:nvCxnSpPr>
          <p:cNvPr id="2284" name="Connector 62"/>
          <p:cNvCxnSpPr/>
          <p:nvPr/>
        </p:nvCxnSpPr>
        <p:spPr>
          <a:xfrm>
            <a:off x="10863000" y="3713400"/>
            <a:ext cx="283680" cy="49320"/>
          </a:xfrm>
          <a:prstGeom prst="straightConnector1">
            <a:avLst/>
          </a:prstGeom>
          <a:ln>
            <a:solidFill>
              <a:srgbClr val="c0392b"/>
            </a:solidFill>
            <a:round/>
          </a:ln>
        </p:spPr>
      </p:cxnSp>
      <p:cxnSp>
        <p:nvCxnSpPr>
          <p:cNvPr id="2285" name="Connector 63"/>
          <p:cNvCxnSpPr/>
          <p:nvPr/>
        </p:nvCxnSpPr>
        <p:spPr>
          <a:xfrm flipV="1">
            <a:off x="11146320" y="3737880"/>
            <a:ext cx="284040" cy="24840"/>
          </a:xfrm>
          <a:prstGeom prst="straightConnector1">
            <a:avLst/>
          </a:prstGeom>
          <a:ln>
            <a:solidFill>
              <a:srgbClr val="c0392b"/>
            </a:solidFill>
            <a:round/>
          </a:ln>
        </p:spPr>
      </p:cxnSp>
      <p:sp>
        <p:nvSpPr>
          <p:cNvPr id="2286" name="TextBox 64"/>
          <p:cNvSpPr/>
          <p:nvPr/>
        </p:nvSpPr>
        <p:spPr>
          <a:xfrm>
            <a:off x="8458200" y="2487240"/>
            <a:ext cx="2971440" cy="367560"/>
          </a:xfrm>
          <a:prstGeom prst="rect">
            <a:avLst/>
          </a:prstGeom>
          <a:noFill/>
          <a:ln w="0">
            <a:noFill/>
          </a:ln>
        </p:spPr>
        <p:style>
          <a:lnRef idx="0"/>
          <a:fillRef idx="0"/>
          <a:effectRef idx="0"/>
          <a:fontRef idx="minor"/>
        </p:style>
        <p:txBody>
          <a:bodyPr lIns="0" rIns="0" tIns="0" bIns="0" anchor="t">
            <a:spAutoFit/>
          </a:bodyPr>
          <a:p>
            <a:pPr algn="ctr" defTabSz="457200">
              <a:lnSpc>
                <a:spcPct val="115000"/>
              </a:lnSpc>
            </a:pPr>
            <a:r>
              <a:rPr b="0" lang="en-US" sz="1050" spc="-1" strike="noStrike">
                <a:solidFill>
                  <a:srgbClr val="5a6b7b"/>
                </a:solidFill>
                <a:latin typeface="Segoe UI"/>
              </a:rPr>
              <a:t>Se pasa y oscila.</a:t>
            </a:r>
            <a:endParaRPr b="0" lang="en-US" sz="1050" spc="-1" strike="noStrike">
              <a:solidFill>
                <a:srgbClr val="000000"/>
              </a:solidFill>
              <a:latin typeface="Arial"/>
            </a:endParaRPr>
          </a:p>
          <a:p>
            <a:pPr algn="ctr" defTabSz="457200">
              <a:lnSpc>
                <a:spcPct val="115000"/>
              </a:lnSpc>
            </a:pPr>
            <a:r>
              <a:rPr b="0" lang="en-US" sz="1050" spc="-1" strike="noStrike">
                <a:solidFill>
                  <a:srgbClr val="5a6b7b"/>
                </a:solidFill>
                <a:latin typeface="Segoe UI"/>
              </a:rPr>
              <a:t>Ruidoso y más lento.</a:t>
            </a:r>
            <a:endParaRPr b="0" lang="en-US" sz="1050" spc="-1" strike="noStrike">
              <a:solidFill>
                <a:srgbClr val="000000"/>
              </a:solidFill>
              <a:latin typeface="Arial"/>
            </a:endParaRPr>
          </a:p>
        </p:txBody>
      </p:sp>
      <p:sp>
        <p:nvSpPr>
          <p:cNvPr id="2287" name="Rectangle 65"/>
          <p:cNvSpPr/>
          <p:nvPr/>
        </p:nvSpPr>
        <p:spPr>
          <a:xfrm>
            <a:off x="594360" y="5779080"/>
            <a:ext cx="11018160" cy="54828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88" name="Rectangle 66"/>
          <p:cNvSpPr/>
          <p:nvPr/>
        </p:nvSpPr>
        <p:spPr>
          <a:xfrm>
            <a:off x="594360" y="5779080"/>
            <a:ext cx="68400" cy="54828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89" name="TextBox 67"/>
          <p:cNvSpPr/>
          <p:nvPr/>
        </p:nvSpPr>
        <p:spPr>
          <a:xfrm>
            <a:off x="868680" y="5916240"/>
            <a:ext cx="1051524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Lo que hay que retener: pasarse de ganancia no acelera la máquina, la ralentiza.</a:t>
            </a:r>
            <a:endParaRPr b="0" lang="en-US" sz="1200" spc="-1" strike="noStrike">
              <a:solidFill>
                <a:srgbClr val="000000"/>
              </a:solidFill>
              <a:latin typeface="Arial"/>
            </a:endParaRPr>
          </a:p>
        </p:txBody>
      </p:sp>
      <p:sp>
        <p:nvSpPr>
          <p:cNvPr id="2290" name="TextBox 68"/>
          <p:cNvSpPr/>
          <p:nvPr/>
        </p:nvSpPr>
        <p:spPr>
          <a:xfrm>
            <a:off x="868680" y="6190560"/>
            <a:ext cx="10515240" cy="453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endParaRPr b="0" lang="en-US" sz="1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1"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92"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293"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Los criterios: qué es un eje bien sintonizado</a:t>
            </a:r>
            <a:endParaRPr b="0" lang="en-US" sz="2500" spc="-1" strike="noStrike">
              <a:solidFill>
                <a:srgbClr val="000000"/>
              </a:solidFill>
              <a:latin typeface="Arial"/>
            </a:endParaRPr>
          </a:p>
        </p:txBody>
      </p:sp>
      <p:sp>
        <p:nvSpPr>
          <p:cNvPr id="2294"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Sin criterio de medida no hay ajuste, sólo opinión</a:t>
            </a:r>
            <a:endParaRPr b="0" lang="en-US" sz="1250" spc="-1" strike="noStrike">
              <a:solidFill>
                <a:srgbClr val="000000"/>
              </a:solidFill>
              <a:latin typeface="Arial"/>
            </a:endParaRPr>
          </a:p>
        </p:txBody>
      </p:sp>
      <p:sp>
        <p:nvSpPr>
          <p:cNvPr id="2295"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09</a:t>
            </a:r>
            <a:endParaRPr b="0" lang="en-US" sz="1100" spc="-1" strike="noStrike">
              <a:solidFill>
                <a:srgbClr val="000000"/>
              </a:solidFill>
              <a:latin typeface="Arial"/>
            </a:endParaRPr>
          </a:p>
        </p:txBody>
      </p:sp>
      <p:sp>
        <p:nvSpPr>
          <p:cNvPr id="2296"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297"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118</a:t>
            </a:r>
            <a:endParaRPr b="0" lang="en-US" sz="900" spc="-1" strike="noStrike">
              <a:solidFill>
                <a:srgbClr val="000000"/>
              </a:solidFill>
              <a:latin typeface="Arial"/>
            </a:endParaRPr>
          </a:p>
        </p:txBody>
      </p:sp>
      <p:sp>
        <p:nvSpPr>
          <p:cNvPr id="2298" name="TextBox 8"/>
          <p:cNvSpPr/>
          <p:nvPr/>
        </p:nvSpPr>
        <p:spPr>
          <a:xfrm>
            <a:off x="567000" y="1481400"/>
            <a:ext cx="11057400" cy="370008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950" spc="-1" strike="noStrike">
                <a:solidFill>
                  <a:srgbClr val="1b5ea8"/>
                </a:solidFill>
                <a:latin typeface="Segoe UI Semibold"/>
              </a:rPr>
              <a:t>Los cuatro indicadores objetivos</a:t>
            </a:r>
            <a:endParaRPr b="0" lang="en-US" sz="9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00" spc="-1" strike="noStrike">
                <a:solidFill>
                  <a:srgbClr val="1c2430"/>
                </a:solidFill>
                <a:latin typeface="Segoe UI"/>
              </a:rPr>
              <a:t>Error de seguimiento durante el movimiento (</a:t>
            </a:r>
            <a:r>
              <a:rPr b="1" lang="en-US" sz="1000" spc="-1" strike="noStrike">
                <a:solidFill>
                  <a:srgbClr val="1c2430"/>
                </a:solidFill>
                <a:latin typeface="Consolas"/>
              </a:rPr>
              <a:t>Un008</a:t>
            </a:r>
            <a:r>
              <a:rPr b="1" lang="en-US" sz="1000" spc="-1" strike="noStrike">
                <a:solidFill>
                  <a:srgbClr val="1c2430"/>
                </a:solidFill>
                <a:latin typeface="Segoe UI"/>
              </a:rPr>
              <a:t>): cuánto se retrasa la posición real respecto a la consigna. Depende sobre todo de </a:t>
            </a:r>
            <a:r>
              <a:rPr b="1" lang="en-US" sz="1000" spc="-1" strike="noStrike">
                <a:solidFill>
                  <a:srgbClr val="1c2430"/>
                </a:solidFill>
                <a:latin typeface="Consolas"/>
              </a:rPr>
              <a:t>Pn102</a:t>
            </a:r>
            <a:r>
              <a:rPr b="1" lang="en-US" sz="1000" spc="-1" strike="noStrike">
                <a:solidFill>
                  <a:srgbClr val="1c2430"/>
                </a:solidFill>
                <a:latin typeface="Segoe UI"/>
              </a:rPr>
              <a:t> y de la prealimentación.</a:t>
            </a:r>
            <a:endParaRPr b="0" lang="en-US" sz="10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00" spc="-1" strike="noStrike">
                <a:solidFill>
                  <a:srgbClr val="1c2430"/>
                </a:solidFill>
                <a:latin typeface="Segoe UI"/>
              </a:rPr>
              <a:t>Tiempo de estabilización: cuánto tarda el eje en entrar en la ventana de posicionado y quedarse dentro.</a:t>
            </a:r>
            <a:endParaRPr b="0" lang="en-US" sz="10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00" spc="-1" strike="noStrike">
                <a:solidFill>
                  <a:srgbClr val="1c2430"/>
                </a:solidFill>
                <a:latin typeface="Segoe UI"/>
              </a:rPr>
              <a:t>Sobrepasamiento (overshoot): cuánto se pasa del destino antes de volver. En muchas aplicaciones debe ser prácticamente nulo.</a:t>
            </a:r>
            <a:endParaRPr b="0" lang="en-US" sz="10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00" spc="-1" strike="noStrike">
                <a:solidFill>
                  <a:srgbClr val="1c2430"/>
                </a:solidFill>
                <a:latin typeface="Segoe UI"/>
              </a:rPr>
              <a:t>Rigidez en parado: cuánto se desvía el eje al aplicarle una perturbación externa, y cuánto tarda en recuperar.</a:t>
            </a:r>
            <a:endParaRPr b="0" lang="en-US" sz="100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950" spc="-1" strike="noStrike">
                <a:solidFill>
                  <a:srgbClr val="1b5ea8"/>
                </a:solidFill>
                <a:latin typeface="Segoe UI Semibold"/>
              </a:rPr>
              <a:t>El compromiso que hay que negociar</a:t>
            </a:r>
            <a:endParaRPr b="0" lang="en-US" sz="9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00" spc="-1" strike="noStrike">
                <a:solidFill>
                  <a:srgbClr val="1c2430"/>
                </a:solidFill>
                <a:latin typeface="Segoe UI"/>
              </a:rPr>
              <a:t>Subir ganancias → más rapidez y más rigidez, pero menos margen de estabilidad: ruido audible, vibración y, en el límite, oscilación.</a:t>
            </a:r>
            <a:endParaRPr b="0" lang="en-US" sz="10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00" spc="-1" strike="noStrike">
                <a:solidFill>
                  <a:srgbClr val="1c2430"/>
                </a:solidFill>
                <a:latin typeface="Segoe UI"/>
              </a:rPr>
              <a:t>Bajar ganancias → más suavidad y silencio, pero más error de seguimiento y ciclos más lentos.</a:t>
            </a:r>
            <a:endParaRPr b="0" lang="en-US" sz="10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850" spc="-1" strike="noStrike">
                <a:solidFill>
                  <a:srgbClr val="333f4c"/>
                </a:solidFill>
                <a:latin typeface="Segoe UI"/>
              </a:rPr>
              <a:t>No existe un ajuste 'correcto' universal: una rectificadora y una paletizadora piden cosas opuestas.</a:t>
            </a:r>
            <a:endParaRPr b="0" lang="en-US" sz="85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950" spc="-1" strike="noStrike">
                <a:solidFill>
                  <a:srgbClr val="1b5ea8"/>
                </a:solidFill>
                <a:latin typeface="Segoe UI Semibold"/>
              </a:rPr>
              <a:t>Cómo se mide en la práctica</a:t>
            </a:r>
            <a:endParaRPr b="0" lang="en-US" sz="9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00" spc="-1" strike="noStrike">
                <a:solidFill>
                  <a:srgbClr val="1c2430"/>
                </a:solidFill>
                <a:latin typeface="Segoe UI"/>
              </a:rPr>
              <a:t>Con la traza de SigmaWin+: consigna, posición real, error, velocidad y par en la misma captura y con la misma base de tiempos.</a:t>
            </a:r>
            <a:endParaRPr b="0" lang="en-US" sz="10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850" spc="-1" strike="noStrike">
                <a:solidFill>
                  <a:srgbClr val="333f4c"/>
                </a:solidFill>
                <a:latin typeface="Segoe UI"/>
              </a:rPr>
              <a:t>Guarda las capturas de antes y después: son la prueba objetiva de la mejora y la referencia para el futuro.</a:t>
            </a:r>
            <a:endParaRPr b="0" lang="en-US" sz="850" spc="-1" strike="noStrike">
              <a:solidFill>
                <a:srgbClr val="000000"/>
              </a:solidFill>
              <a:latin typeface="Arial"/>
            </a:endParaRPr>
          </a:p>
        </p:txBody>
      </p:sp>
      <p:sp>
        <p:nvSpPr>
          <p:cNvPr id="2299" name="Rectangle 9"/>
          <p:cNvSpPr/>
          <p:nvPr/>
        </p:nvSpPr>
        <p:spPr>
          <a:xfrm>
            <a:off x="567000" y="5459040"/>
            <a:ext cx="11057400" cy="86832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00" name="Rectangle 10"/>
          <p:cNvSpPr/>
          <p:nvPr/>
        </p:nvSpPr>
        <p:spPr>
          <a:xfrm>
            <a:off x="567000" y="5459040"/>
            <a:ext cx="68400" cy="8683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01" name="TextBox 11"/>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1b5ea8"/>
                </a:solidFill>
                <a:latin typeface="Segoe UI Semibold"/>
              </a:rPr>
              <a:t>Pregunta que hay que hacerse antes de empezar</a:t>
            </a:r>
            <a:endParaRPr b="0" lang="en-US" sz="1200" spc="-1" strike="noStrike">
              <a:solidFill>
                <a:srgbClr val="000000"/>
              </a:solidFill>
              <a:latin typeface="Arial"/>
            </a:endParaRPr>
          </a:p>
        </p:txBody>
      </p:sp>
      <p:sp>
        <p:nvSpPr>
          <p:cNvPr id="2302" name="TextBox 12"/>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¿Qué necesita esta máquina: precisión final, velocidad de ciclo o suavidad? El ajuste óptimo es distinto en cada caso, y conviene acordarlo con el responsable del proceso antes de tocar nada.</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3"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04"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305"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Las herramientas de ajuste de la Σ-X</a:t>
            </a:r>
            <a:endParaRPr b="0" lang="en-US" sz="2500" spc="-1" strike="noStrike">
              <a:solidFill>
                <a:srgbClr val="000000"/>
              </a:solidFill>
              <a:latin typeface="Arial"/>
            </a:endParaRPr>
          </a:p>
        </p:txBody>
      </p:sp>
      <p:sp>
        <p:nvSpPr>
          <p:cNvPr id="2306"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Seis niveles, del automático total al control absoluto</a:t>
            </a:r>
            <a:endParaRPr b="0" lang="en-US" sz="1250" spc="-1" strike="noStrike">
              <a:solidFill>
                <a:srgbClr val="000000"/>
              </a:solidFill>
              <a:latin typeface="Arial"/>
            </a:endParaRPr>
          </a:p>
        </p:txBody>
      </p:sp>
      <p:sp>
        <p:nvSpPr>
          <p:cNvPr id="2307"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09</a:t>
            </a:r>
            <a:endParaRPr b="0" lang="en-US" sz="1100" spc="-1" strike="noStrike">
              <a:solidFill>
                <a:srgbClr val="000000"/>
              </a:solidFill>
              <a:latin typeface="Arial"/>
            </a:endParaRPr>
          </a:p>
        </p:txBody>
      </p:sp>
      <p:sp>
        <p:nvSpPr>
          <p:cNvPr id="2308"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309"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119</a:t>
            </a:r>
            <a:endParaRPr b="0" lang="en-US" sz="900" spc="-1" strike="noStrike">
              <a:solidFill>
                <a:srgbClr val="000000"/>
              </a:solidFill>
              <a:latin typeface="Arial"/>
            </a:endParaRPr>
          </a:p>
        </p:txBody>
      </p:sp>
      <p:sp>
        <p:nvSpPr>
          <p:cNvPr id="2310" name="Rectangle 8"/>
          <p:cNvSpPr/>
          <p:nvPr/>
        </p:nvSpPr>
        <p:spPr>
          <a:xfrm>
            <a:off x="567000" y="1481400"/>
            <a:ext cx="3515040" cy="2294640"/>
          </a:xfrm>
          <a:prstGeom prst="rect">
            <a:avLst/>
          </a:prstGeom>
          <a:solidFill>
            <a:srgbClr val="e4f2ea"/>
          </a:solidFill>
          <a:ln>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11" name="Rectangle 9"/>
          <p:cNvSpPr/>
          <p:nvPr/>
        </p:nvSpPr>
        <p:spPr>
          <a:xfrm>
            <a:off x="567000" y="1481400"/>
            <a:ext cx="50040" cy="229464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12" name="TextBox 10"/>
          <p:cNvSpPr/>
          <p:nvPr/>
        </p:nvSpPr>
        <p:spPr>
          <a:xfrm>
            <a:off x="822960" y="166428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Ajuste sin sintonizar (tuning-less)</a:t>
            </a:r>
            <a:endParaRPr b="0" lang="en-US" sz="1400" spc="-1" strike="noStrike">
              <a:solidFill>
                <a:srgbClr val="000000"/>
              </a:solidFill>
              <a:latin typeface="Arial"/>
            </a:endParaRPr>
          </a:p>
        </p:txBody>
      </p:sp>
      <p:sp>
        <p:nvSpPr>
          <p:cNvPr id="2313" name="TextBox 11"/>
          <p:cNvSpPr/>
          <p:nvPr/>
        </p:nvSpPr>
        <p:spPr>
          <a:xfrm>
            <a:off x="822960" y="2194560"/>
            <a:ext cx="3057840" cy="149400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050" spc="-1" strike="noStrike">
                <a:solidFill>
                  <a:srgbClr val="2b3644"/>
                </a:solidFill>
                <a:latin typeface="Consolas"/>
              </a:rPr>
              <a:t>Pn170</a:t>
            </a:r>
            <a:r>
              <a:rPr b="0" lang="en-US" sz="1050" spc="-1" strike="noStrike">
                <a:solidFill>
                  <a:srgbClr val="2b3644"/>
                </a:solidFill>
                <a:latin typeface="Segoe UI"/>
              </a:rPr>
              <a:t>. Activo de fábrica.</a:t>
            </a:r>
            <a:endParaRPr b="0" lang="en-US" sz="1050" spc="-1" strike="noStrike">
              <a:solidFill>
                <a:srgbClr val="000000"/>
              </a:solidFill>
              <a:latin typeface="Arial"/>
            </a:endParaRPr>
          </a:p>
          <a:p>
            <a:pPr defTabSz="457200">
              <a:lnSpc>
                <a:spcPct val="105000"/>
              </a:lnSpc>
              <a:spcAft>
                <a:spcPts val="400"/>
              </a:spcAft>
            </a:pPr>
            <a:r>
              <a:rPr b="0" lang="en-US" sz="1050" spc="-1" strike="noStrike">
                <a:solidFill>
                  <a:srgbClr val="2b3644"/>
                </a:solidFill>
                <a:latin typeface="Segoe UI"/>
              </a:rPr>
              <a:t>El drive se adapta solo a la carga sin necesidad de conocer la inercia.</a:t>
            </a:r>
            <a:endParaRPr b="0" lang="en-US" sz="1050" spc="-1" strike="noStrike">
              <a:solidFill>
                <a:srgbClr val="000000"/>
              </a:solidFill>
              <a:latin typeface="Arial"/>
            </a:endParaRPr>
          </a:p>
          <a:p>
            <a:pPr defTabSz="457200">
              <a:lnSpc>
                <a:spcPct val="105000"/>
              </a:lnSpc>
              <a:spcAft>
                <a:spcPts val="400"/>
              </a:spcAft>
            </a:pPr>
            <a:r>
              <a:rPr b="1" lang="en-US" sz="1050" spc="-1" strike="noStrike">
                <a:solidFill>
                  <a:srgbClr val="2b3644"/>
                </a:solidFill>
                <a:latin typeface="Segoe UI"/>
              </a:rPr>
              <a:t>Ventaja</a:t>
            </a:r>
            <a:r>
              <a:rPr b="0" lang="en-US" sz="1050" spc="-1" strike="noStrike">
                <a:solidFill>
                  <a:srgbClr val="2b3644"/>
                </a:solidFill>
                <a:latin typeface="Segoe UI"/>
              </a:rPr>
              <a:t>: el eje funciona razonablemente nada más arrancar.</a:t>
            </a:r>
            <a:endParaRPr b="0" lang="en-US" sz="1050" spc="-1" strike="noStrike">
              <a:solidFill>
                <a:srgbClr val="000000"/>
              </a:solidFill>
              <a:latin typeface="Arial"/>
            </a:endParaRPr>
          </a:p>
          <a:p>
            <a:pPr defTabSz="457200">
              <a:lnSpc>
                <a:spcPct val="105000"/>
              </a:lnSpc>
              <a:spcAft>
                <a:spcPts val="400"/>
              </a:spcAft>
            </a:pPr>
            <a:r>
              <a:rPr b="1" lang="en-US" sz="1050" spc="-1" strike="noStrike">
                <a:solidFill>
                  <a:srgbClr val="2b3644"/>
                </a:solidFill>
                <a:latin typeface="Segoe UI"/>
              </a:rPr>
              <a:t>Límite</a:t>
            </a:r>
            <a:r>
              <a:rPr b="0" lang="en-US" sz="1050" spc="-1" strike="noStrike">
                <a:solidFill>
                  <a:srgbClr val="2b3644"/>
                </a:solidFill>
                <a:latin typeface="Segoe UI"/>
              </a:rPr>
              <a:t>: no alcanza las prestaciones de un ajuste específico. Hay que desactivarlo al pasar a ajuste manual.</a:t>
            </a:r>
            <a:endParaRPr b="0" lang="en-US" sz="1050" spc="-1" strike="noStrike">
              <a:solidFill>
                <a:srgbClr val="000000"/>
              </a:solidFill>
              <a:latin typeface="Arial"/>
            </a:endParaRPr>
          </a:p>
        </p:txBody>
      </p:sp>
      <p:sp>
        <p:nvSpPr>
          <p:cNvPr id="2314" name="Rectangle 12"/>
          <p:cNvSpPr/>
          <p:nvPr/>
        </p:nvSpPr>
        <p:spPr>
          <a:xfrm>
            <a:off x="4338360" y="1481400"/>
            <a:ext cx="3515040" cy="229464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15" name="Rectangle 13"/>
          <p:cNvSpPr/>
          <p:nvPr/>
        </p:nvSpPr>
        <p:spPr>
          <a:xfrm>
            <a:off x="4338360" y="1481400"/>
            <a:ext cx="50040" cy="229464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16" name="TextBox 14"/>
          <p:cNvSpPr/>
          <p:nvPr/>
        </p:nvSpPr>
        <p:spPr>
          <a:xfrm>
            <a:off x="4594320" y="166428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Autoajuste avanzado (</a:t>
            </a:r>
            <a:r>
              <a:rPr b="1" lang="en-US" sz="1400" spc="-1" strike="noStrike">
                <a:solidFill>
                  <a:srgbClr val="0b2545"/>
                </a:solidFill>
                <a:latin typeface="Consolas"/>
              </a:rPr>
              <a:t>Fn201</a:t>
            </a:r>
            <a:r>
              <a:rPr b="1" lang="en-US" sz="1400" spc="-1" strike="noStrike">
                <a:solidFill>
                  <a:srgbClr val="0b2545"/>
                </a:solidFill>
                <a:latin typeface="Segoe UI Semibold"/>
              </a:rPr>
              <a:t>)</a:t>
            </a:r>
            <a:endParaRPr b="0" lang="en-US" sz="1400" spc="-1" strike="noStrike">
              <a:solidFill>
                <a:srgbClr val="000000"/>
              </a:solidFill>
              <a:latin typeface="Arial"/>
            </a:endParaRPr>
          </a:p>
        </p:txBody>
      </p:sp>
      <p:sp>
        <p:nvSpPr>
          <p:cNvPr id="2317" name="TextBox 15"/>
          <p:cNvSpPr/>
          <p:nvPr/>
        </p:nvSpPr>
        <p:spPr>
          <a:xfrm>
            <a:off x="4594320" y="2194560"/>
            <a:ext cx="3057840" cy="110844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050" spc="-1" strike="noStrike">
                <a:solidFill>
                  <a:srgbClr val="2b3644"/>
                </a:solidFill>
                <a:latin typeface="Segoe UI"/>
              </a:rPr>
              <a:t>El drive mueve el eje él mismo con un patrón interno, mide la inercia y calcula ganancias y filtros.</a:t>
            </a:r>
            <a:endParaRPr b="0" lang="en-US" sz="1050" spc="-1" strike="noStrike">
              <a:solidFill>
                <a:srgbClr val="000000"/>
              </a:solidFill>
              <a:latin typeface="Arial"/>
            </a:endParaRPr>
          </a:p>
          <a:p>
            <a:pPr defTabSz="457200">
              <a:lnSpc>
                <a:spcPct val="105000"/>
              </a:lnSpc>
              <a:spcAft>
                <a:spcPts val="400"/>
              </a:spcAft>
            </a:pPr>
            <a:r>
              <a:rPr b="1" lang="en-US" sz="1050" spc="-1" strike="noStrike">
                <a:solidFill>
                  <a:srgbClr val="2b3644"/>
                </a:solidFill>
                <a:latin typeface="Segoe UI"/>
              </a:rPr>
              <a:t>Ventaja</a:t>
            </a:r>
            <a:r>
              <a:rPr b="0" lang="en-US" sz="1050" spc="-1" strike="noStrike">
                <a:solidFill>
                  <a:srgbClr val="2b3644"/>
                </a:solidFill>
                <a:latin typeface="Segoe UI"/>
              </a:rPr>
              <a:t>: rápido y sorprendentemente bueno.</a:t>
            </a:r>
            <a:endParaRPr b="0" lang="en-US" sz="1050" spc="-1" strike="noStrike">
              <a:solidFill>
                <a:srgbClr val="000000"/>
              </a:solidFill>
              <a:latin typeface="Arial"/>
            </a:endParaRPr>
          </a:p>
          <a:p>
            <a:pPr defTabSz="457200">
              <a:lnSpc>
                <a:spcPct val="105000"/>
              </a:lnSpc>
              <a:spcAft>
                <a:spcPts val="400"/>
              </a:spcAft>
            </a:pPr>
            <a:r>
              <a:rPr b="1" lang="en-US" sz="1050" spc="-1" strike="noStrike">
                <a:solidFill>
                  <a:srgbClr val="2b3644"/>
                </a:solidFill>
                <a:latin typeface="Segoe UI"/>
              </a:rPr>
              <a:t>Requisito</a:t>
            </a:r>
            <a:r>
              <a:rPr b="0" lang="en-US" sz="1050" spc="-1" strike="noStrike">
                <a:solidFill>
                  <a:srgbClr val="2b3644"/>
                </a:solidFill>
                <a:latin typeface="Segoe UI"/>
              </a:rPr>
              <a:t>: espacio de movimiento libre y carga real acoplada.</a:t>
            </a:r>
            <a:endParaRPr b="0" lang="en-US" sz="1050" spc="-1" strike="noStrike">
              <a:solidFill>
                <a:srgbClr val="000000"/>
              </a:solidFill>
              <a:latin typeface="Arial"/>
            </a:endParaRPr>
          </a:p>
        </p:txBody>
      </p:sp>
      <p:sp>
        <p:nvSpPr>
          <p:cNvPr id="2318" name="Rectangle 16"/>
          <p:cNvSpPr/>
          <p:nvPr/>
        </p:nvSpPr>
        <p:spPr>
          <a:xfrm>
            <a:off x="8109360" y="1481400"/>
            <a:ext cx="3515040" cy="2294640"/>
          </a:xfrm>
          <a:prstGeom prst="rect">
            <a:avLst/>
          </a:prstGeom>
          <a:solidFill>
            <a:srgbClr val="e0f5fa"/>
          </a:solidFill>
          <a:ln>
            <a:solidFill>
              <a:srgbClr val="00a9ce"/>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19" name="Rectangle 17"/>
          <p:cNvSpPr/>
          <p:nvPr/>
        </p:nvSpPr>
        <p:spPr>
          <a:xfrm>
            <a:off x="8109360" y="1481400"/>
            <a:ext cx="50040" cy="2294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20" name="TextBox 18"/>
          <p:cNvSpPr/>
          <p:nvPr/>
        </p:nvSpPr>
        <p:spPr>
          <a:xfrm>
            <a:off x="8365680" y="166428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Autoajuste con referencia (</a:t>
            </a:r>
            <a:r>
              <a:rPr b="1" lang="en-US" sz="1400" spc="-1" strike="noStrike">
                <a:solidFill>
                  <a:srgbClr val="0b2545"/>
                </a:solidFill>
                <a:latin typeface="Consolas"/>
              </a:rPr>
              <a:t>Fn202</a:t>
            </a:r>
            <a:r>
              <a:rPr b="1" lang="en-US" sz="1400" spc="-1" strike="noStrike">
                <a:solidFill>
                  <a:srgbClr val="0b2545"/>
                </a:solidFill>
                <a:latin typeface="Segoe UI Semibold"/>
              </a:rPr>
              <a:t>)</a:t>
            </a:r>
            <a:endParaRPr b="0" lang="en-US" sz="1400" spc="-1" strike="noStrike">
              <a:solidFill>
                <a:srgbClr val="000000"/>
              </a:solidFill>
              <a:latin typeface="Arial"/>
            </a:endParaRPr>
          </a:p>
        </p:txBody>
      </p:sp>
      <p:sp>
        <p:nvSpPr>
          <p:cNvPr id="2321" name="TextBox 19"/>
          <p:cNvSpPr/>
          <p:nvPr/>
        </p:nvSpPr>
        <p:spPr>
          <a:xfrm>
            <a:off x="8365680" y="2194560"/>
            <a:ext cx="3057840" cy="110844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050" spc="-1" strike="noStrike">
                <a:solidFill>
                  <a:srgbClr val="2b3644"/>
                </a:solidFill>
                <a:latin typeface="Segoe UI"/>
              </a:rPr>
              <a:t>Igual que el anterior, pero usando el </a:t>
            </a:r>
            <a:r>
              <a:rPr b="1" lang="en-US" sz="1050" spc="-1" strike="noStrike">
                <a:solidFill>
                  <a:srgbClr val="2b3644"/>
                </a:solidFill>
                <a:latin typeface="Segoe UI"/>
              </a:rPr>
              <a:t>movimiento real</a:t>
            </a:r>
            <a:r>
              <a:rPr b="0" lang="en-US" sz="1050" spc="-1" strike="noStrike">
                <a:solidFill>
                  <a:srgbClr val="2b3644"/>
                </a:solidFill>
                <a:latin typeface="Segoe UI"/>
              </a:rPr>
              <a:t> que envía el controlador.</a:t>
            </a:r>
            <a:endParaRPr b="0" lang="en-US" sz="1050" spc="-1" strike="noStrike">
              <a:solidFill>
                <a:srgbClr val="000000"/>
              </a:solidFill>
              <a:latin typeface="Arial"/>
            </a:endParaRPr>
          </a:p>
          <a:p>
            <a:pPr defTabSz="457200">
              <a:lnSpc>
                <a:spcPct val="105000"/>
              </a:lnSpc>
              <a:spcAft>
                <a:spcPts val="400"/>
              </a:spcAft>
            </a:pPr>
            <a:r>
              <a:rPr b="1" lang="en-US" sz="1050" spc="-1" strike="noStrike">
                <a:solidFill>
                  <a:srgbClr val="2b3644"/>
                </a:solidFill>
                <a:latin typeface="Segoe UI"/>
              </a:rPr>
              <a:t>Ventaja</a:t>
            </a:r>
            <a:r>
              <a:rPr b="0" lang="en-US" sz="1050" spc="-1" strike="noStrike">
                <a:solidFill>
                  <a:srgbClr val="2b3644"/>
                </a:solidFill>
                <a:latin typeface="Segoe UI"/>
              </a:rPr>
              <a:t>: ajusta para el ciclo que la máquina hace de verdad.</a:t>
            </a:r>
            <a:endParaRPr b="0" lang="en-US" sz="1050" spc="-1" strike="noStrike">
              <a:solidFill>
                <a:srgbClr val="000000"/>
              </a:solidFill>
              <a:latin typeface="Arial"/>
            </a:endParaRPr>
          </a:p>
          <a:p>
            <a:pPr defTabSz="457200">
              <a:lnSpc>
                <a:spcPct val="105000"/>
              </a:lnSpc>
              <a:spcAft>
                <a:spcPts val="400"/>
              </a:spcAft>
            </a:pPr>
            <a:r>
              <a:rPr b="1" lang="en-US" sz="1050" spc="-1" strike="noStrike">
                <a:solidFill>
                  <a:srgbClr val="2b3644"/>
                </a:solidFill>
                <a:latin typeface="Segoe UI"/>
              </a:rPr>
              <a:t>Uso</a:t>
            </a:r>
            <a:r>
              <a:rPr b="0" lang="en-US" sz="1050" spc="-1" strike="noStrike">
                <a:solidFill>
                  <a:srgbClr val="2b3644"/>
                </a:solidFill>
                <a:latin typeface="Segoe UI"/>
              </a:rPr>
              <a:t>: cuando no hay recorrido libre para el patrón interno.</a:t>
            </a:r>
            <a:endParaRPr b="0" lang="en-US" sz="1050" spc="-1" strike="noStrike">
              <a:solidFill>
                <a:srgbClr val="000000"/>
              </a:solidFill>
              <a:latin typeface="Arial"/>
            </a:endParaRPr>
          </a:p>
        </p:txBody>
      </p:sp>
      <p:sp>
        <p:nvSpPr>
          <p:cNvPr id="2322" name="Rectangle 20"/>
          <p:cNvSpPr/>
          <p:nvPr/>
        </p:nvSpPr>
        <p:spPr>
          <a:xfrm>
            <a:off x="567000" y="4032360"/>
            <a:ext cx="3515040" cy="229464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23" name="Rectangle 21"/>
          <p:cNvSpPr/>
          <p:nvPr/>
        </p:nvSpPr>
        <p:spPr>
          <a:xfrm>
            <a:off x="567000" y="4032360"/>
            <a:ext cx="50040" cy="229464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24" name="TextBox 22"/>
          <p:cNvSpPr/>
          <p:nvPr/>
        </p:nvSpPr>
        <p:spPr>
          <a:xfrm>
            <a:off x="822960" y="421524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Ajuste de un parámetro (</a:t>
            </a:r>
            <a:r>
              <a:rPr b="1" lang="en-US" sz="1400" spc="-1" strike="noStrike">
                <a:solidFill>
                  <a:srgbClr val="0b2545"/>
                </a:solidFill>
                <a:latin typeface="Consolas"/>
              </a:rPr>
              <a:t>Fn203</a:t>
            </a:r>
            <a:r>
              <a:rPr b="1" lang="en-US" sz="1400" spc="-1" strike="noStrike">
                <a:solidFill>
                  <a:srgbClr val="0b2545"/>
                </a:solidFill>
                <a:latin typeface="Segoe UI Semibold"/>
              </a:rPr>
              <a:t>)</a:t>
            </a:r>
            <a:endParaRPr b="0" lang="en-US" sz="1400" spc="-1" strike="noStrike">
              <a:solidFill>
                <a:srgbClr val="000000"/>
              </a:solidFill>
              <a:latin typeface="Arial"/>
            </a:endParaRPr>
          </a:p>
        </p:txBody>
      </p:sp>
      <p:sp>
        <p:nvSpPr>
          <p:cNvPr id="2325" name="TextBox 23"/>
          <p:cNvSpPr/>
          <p:nvPr/>
        </p:nvSpPr>
        <p:spPr>
          <a:xfrm>
            <a:off x="822960" y="4745880"/>
            <a:ext cx="3057840" cy="110844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050" spc="-1" strike="noStrike">
                <a:solidFill>
                  <a:srgbClr val="2b3644"/>
                </a:solidFill>
                <a:latin typeface="Segoe UI"/>
              </a:rPr>
              <a:t>Un único mando de 'rigidez' que escala todas las ganancias de forma coordinada.</a:t>
            </a:r>
            <a:endParaRPr b="0" lang="en-US" sz="1050" spc="-1" strike="noStrike">
              <a:solidFill>
                <a:srgbClr val="000000"/>
              </a:solidFill>
              <a:latin typeface="Arial"/>
            </a:endParaRPr>
          </a:p>
          <a:p>
            <a:pPr defTabSz="457200">
              <a:lnSpc>
                <a:spcPct val="105000"/>
              </a:lnSpc>
              <a:spcAft>
                <a:spcPts val="400"/>
              </a:spcAft>
            </a:pPr>
            <a:r>
              <a:rPr b="1" lang="en-US" sz="1050" spc="-1" strike="noStrike">
                <a:solidFill>
                  <a:srgbClr val="2b3644"/>
                </a:solidFill>
                <a:latin typeface="Segoe UI"/>
              </a:rPr>
              <a:t>Ventaja</a:t>
            </a:r>
            <a:r>
              <a:rPr b="0" lang="en-US" sz="1050" spc="-1" strike="noStrike">
                <a:solidFill>
                  <a:srgbClr val="2b3644"/>
                </a:solidFill>
                <a:latin typeface="Segoe UI"/>
              </a:rPr>
              <a:t>: muy intuitivo para afinar después del autoajuste.</a:t>
            </a:r>
            <a:endParaRPr b="0" lang="en-US" sz="1050" spc="-1" strike="noStrike">
              <a:solidFill>
                <a:srgbClr val="000000"/>
              </a:solidFill>
              <a:latin typeface="Arial"/>
            </a:endParaRPr>
          </a:p>
          <a:p>
            <a:pPr defTabSz="457200">
              <a:lnSpc>
                <a:spcPct val="105000"/>
              </a:lnSpc>
              <a:spcAft>
                <a:spcPts val="400"/>
              </a:spcAft>
            </a:pPr>
            <a:r>
              <a:rPr b="1" lang="en-US" sz="1050" spc="-1" strike="noStrike">
                <a:solidFill>
                  <a:srgbClr val="2b3644"/>
                </a:solidFill>
                <a:latin typeface="Segoe UI"/>
              </a:rPr>
              <a:t>Uso típico</a:t>
            </a:r>
            <a:r>
              <a:rPr b="0" lang="en-US" sz="1050" spc="-1" strike="noStrike">
                <a:solidFill>
                  <a:srgbClr val="2b3644"/>
                </a:solidFill>
                <a:latin typeface="Segoe UI"/>
              </a:rPr>
              <a:t>: subir rigidez hasta que aparece ruido y retroceder un escalón.</a:t>
            </a:r>
            <a:endParaRPr b="0" lang="en-US" sz="1050" spc="-1" strike="noStrike">
              <a:solidFill>
                <a:srgbClr val="000000"/>
              </a:solidFill>
              <a:latin typeface="Arial"/>
            </a:endParaRPr>
          </a:p>
        </p:txBody>
      </p:sp>
      <p:sp>
        <p:nvSpPr>
          <p:cNvPr id="2326" name="Rectangle 24"/>
          <p:cNvSpPr/>
          <p:nvPr/>
        </p:nvSpPr>
        <p:spPr>
          <a:xfrm>
            <a:off x="4338360" y="4032360"/>
            <a:ext cx="3515040" cy="2294640"/>
          </a:xfrm>
          <a:prstGeom prst="rect">
            <a:avLst/>
          </a:prstGeom>
          <a:solidFill>
            <a:srgbClr val="f2f5f8"/>
          </a:solidFill>
          <a:ln>
            <a:solidFill>
              <a:srgbClr val="5a6b7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27" name="Rectangle 25"/>
          <p:cNvSpPr/>
          <p:nvPr/>
        </p:nvSpPr>
        <p:spPr>
          <a:xfrm>
            <a:off x="4338360" y="4032360"/>
            <a:ext cx="50040" cy="2294640"/>
          </a:xfrm>
          <a:prstGeom prst="rect">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28" name="TextBox 26"/>
          <p:cNvSpPr/>
          <p:nvPr/>
        </p:nvSpPr>
        <p:spPr>
          <a:xfrm>
            <a:off x="4594320" y="421524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Ajuste manual</a:t>
            </a:r>
            <a:endParaRPr b="0" lang="en-US" sz="1400" spc="-1" strike="noStrike">
              <a:solidFill>
                <a:srgbClr val="000000"/>
              </a:solidFill>
              <a:latin typeface="Arial"/>
            </a:endParaRPr>
          </a:p>
        </p:txBody>
      </p:sp>
      <p:sp>
        <p:nvSpPr>
          <p:cNvPr id="2329" name="TextBox 27"/>
          <p:cNvSpPr/>
          <p:nvPr/>
        </p:nvSpPr>
        <p:spPr>
          <a:xfrm>
            <a:off x="4594320" y="4745880"/>
            <a:ext cx="3057840" cy="110844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050" spc="-1" strike="noStrike">
                <a:solidFill>
                  <a:srgbClr val="2b3644"/>
                </a:solidFill>
                <a:latin typeface="Segoe UI"/>
              </a:rPr>
              <a:t>Control total sobre </a:t>
            </a:r>
            <a:r>
              <a:rPr b="0" lang="en-US" sz="1050" spc="-1" strike="noStrike">
                <a:solidFill>
                  <a:srgbClr val="2b3644"/>
                </a:solidFill>
                <a:latin typeface="Consolas"/>
              </a:rPr>
              <a:t>Pn103</a:t>
            </a:r>
            <a:r>
              <a:rPr b="0" lang="en-US" sz="1050" spc="-1" strike="noStrike">
                <a:solidFill>
                  <a:srgbClr val="2b3644"/>
                </a:solidFill>
                <a:latin typeface="Segoe UI"/>
              </a:rPr>
              <a:t>, </a:t>
            </a:r>
            <a:r>
              <a:rPr b="0" lang="en-US" sz="1050" spc="-1" strike="noStrike">
                <a:solidFill>
                  <a:srgbClr val="2b3644"/>
                </a:solidFill>
                <a:latin typeface="Consolas"/>
              </a:rPr>
              <a:t>Pn100</a:t>
            </a:r>
            <a:r>
              <a:rPr b="0" lang="en-US" sz="1050" spc="-1" strike="noStrike">
                <a:solidFill>
                  <a:srgbClr val="2b3644"/>
                </a:solidFill>
                <a:latin typeface="Segoe UI"/>
              </a:rPr>
              <a:t>, </a:t>
            </a:r>
            <a:r>
              <a:rPr b="0" lang="en-US" sz="1050" spc="-1" strike="noStrike">
                <a:solidFill>
                  <a:srgbClr val="2b3644"/>
                </a:solidFill>
                <a:latin typeface="Consolas"/>
              </a:rPr>
              <a:t>Pn101</a:t>
            </a:r>
            <a:r>
              <a:rPr b="0" lang="en-US" sz="1050" spc="-1" strike="noStrike">
                <a:solidFill>
                  <a:srgbClr val="2b3644"/>
                </a:solidFill>
                <a:latin typeface="Segoe UI"/>
              </a:rPr>
              <a:t>, </a:t>
            </a:r>
            <a:r>
              <a:rPr b="0" lang="en-US" sz="1050" spc="-1" strike="noStrike">
                <a:solidFill>
                  <a:srgbClr val="2b3644"/>
                </a:solidFill>
                <a:latin typeface="Consolas"/>
              </a:rPr>
              <a:t>Pn102</a:t>
            </a:r>
            <a:r>
              <a:rPr b="0" lang="en-US" sz="1050" spc="-1" strike="noStrike">
                <a:solidFill>
                  <a:srgbClr val="2b3644"/>
                </a:solidFill>
                <a:latin typeface="Segoe UI"/>
              </a:rPr>
              <a:t> y </a:t>
            </a:r>
            <a:r>
              <a:rPr b="0" lang="en-US" sz="1050" spc="-1" strike="noStrike">
                <a:solidFill>
                  <a:srgbClr val="2b3644"/>
                </a:solidFill>
                <a:latin typeface="Consolas"/>
              </a:rPr>
              <a:t>Pn401</a:t>
            </a:r>
            <a:r>
              <a:rPr b="0" lang="en-US" sz="1050" spc="-1" strike="noStrike">
                <a:solidFill>
                  <a:srgbClr val="2b3644"/>
                </a:solidFill>
                <a:latin typeface="Segoe UI"/>
              </a:rPr>
              <a:t>.</a:t>
            </a:r>
            <a:endParaRPr b="0" lang="en-US" sz="1050" spc="-1" strike="noStrike">
              <a:solidFill>
                <a:srgbClr val="000000"/>
              </a:solidFill>
              <a:latin typeface="Arial"/>
            </a:endParaRPr>
          </a:p>
          <a:p>
            <a:pPr defTabSz="457200">
              <a:lnSpc>
                <a:spcPct val="105000"/>
              </a:lnSpc>
              <a:spcAft>
                <a:spcPts val="400"/>
              </a:spcAft>
            </a:pPr>
            <a:r>
              <a:rPr b="1" lang="en-US" sz="1050" spc="-1" strike="noStrike">
                <a:solidFill>
                  <a:srgbClr val="2b3644"/>
                </a:solidFill>
                <a:latin typeface="Segoe UI"/>
              </a:rPr>
              <a:t>Ventaja</a:t>
            </a:r>
            <a:r>
              <a:rPr b="0" lang="en-US" sz="1050" spc="-1" strike="noStrike">
                <a:solidFill>
                  <a:srgbClr val="2b3644"/>
                </a:solidFill>
                <a:latin typeface="Segoe UI"/>
              </a:rPr>
              <a:t>: es la única vía para exprimir un eje difícil.</a:t>
            </a:r>
            <a:endParaRPr b="0" lang="en-US" sz="1050" spc="-1" strike="noStrike">
              <a:solidFill>
                <a:srgbClr val="000000"/>
              </a:solidFill>
              <a:latin typeface="Arial"/>
            </a:endParaRPr>
          </a:p>
          <a:p>
            <a:pPr defTabSz="457200">
              <a:lnSpc>
                <a:spcPct val="105000"/>
              </a:lnSpc>
              <a:spcAft>
                <a:spcPts val="400"/>
              </a:spcAft>
            </a:pPr>
            <a:r>
              <a:rPr b="1" lang="en-US" sz="1050" spc="-1" strike="noStrike">
                <a:solidFill>
                  <a:srgbClr val="2b3644"/>
                </a:solidFill>
                <a:latin typeface="Segoe UI"/>
              </a:rPr>
              <a:t>Requisito</a:t>
            </a:r>
            <a:r>
              <a:rPr b="0" lang="en-US" sz="1050" spc="-1" strike="noStrike">
                <a:solidFill>
                  <a:srgbClr val="2b3644"/>
                </a:solidFill>
                <a:latin typeface="Segoe UI"/>
              </a:rPr>
              <a:t>: entender el orden de ajuste y disponer de traza para medir.</a:t>
            </a:r>
            <a:endParaRPr b="0" lang="en-US" sz="1050" spc="-1" strike="noStrike">
              <a:solidFill>
                <a:srgbClr val="000000"/>
              </a:solidFill>
              <a:latin typeface="Arial"/>
            </a:endParaRPr>
          </a:p>
        </p:txBody>
      </p:sp>
      <p:sp>
        <p:nvSpPr>
          <p:cNvPr id="2330" name="Rectangle 28"/>
          <p:cNvSpPr/>
          <p:nvPr/>
        </p:nvSpPr>
        <p:spPr>
          <a:xfrm>
            <a:off x="8109360" y="4032360"/>
            <a:ext cx="3515040" cy="229464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31" name="Rectangle 29"/>
          <p:cNvSpPr/>
          <p:nvPr/>
        </p:nvSpPr>
        <p:spPr>
          <a:xfrm>
            <a:off x="8109360" y="4032360"/>
            <a:ext cx="50040" cy="229464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32" name="TextBox 30"/>
          <p:cNvSpPr/>
          <p:nvPr/>
        </p:nvSpPr>
        <p:spPr>
          <a:xfrm>
            <a:off x="8365680" y="4215240"/>
            <a:ext cx="3057840" cy="217800"/>
          </a:xfrm>
          <a:prstGeom prst="rect">
            <a:avLst/>
          </a:prstGeom>
          <a:noFill/>
          <a:ln w="0">
            <a:noFill/>
          </a:ln>
        </p:spPr>
        <p:style>
          <a:lnRef idx="0"/>
          <a:fillRef idx="0"/>
          <a:effectRef idx="0"/>
          <a:fontRef idx="minor"/>
        </p:style>
        <p:txBody>
          <a:bodyPr lIns="0" rIns="0" tIns="0" bIns="0" anchor="t">
            <a:spAutoFit/>
          </a:bodyPr>
          <a:p>
            <a:pPr defTabSz="457200">
              <a:lnSpc>
                <a:spcPct val="102000"/>
              </a:lnSpc>
            </a:pPr>
            <a:r>
              <a:rPr b="1" lang="en-US" sz="1400" spc="-1" strike="noStrike">
                <a:solidFill>
                  <a:srgbClr val="0b2545"/>
                </a:solidFill>
                <a:latin typeface="Segoe UI Semibold"/>
              </a:rPr>
              <a:t>Herramientas complementarias</a:t>
            </a:r>
            <a:endParaRPr b="0" lang="en-US" sz="1400" spc="-1" strike="noStrike">
              <a:solidFill>
                <a:srgbClr val="000000"/>
              </a:solidFill>
              <a:latin typeface="Arial"/>
            </a:endParaRPr>
          </a:p>
        </p:txBody>
      </p:sp>
      <p:sp>
        <p:nvSpPr>
          <p:cNvPr id="2333" name="TextBox 31"/>
          <p:cNvSpPr/>
          <p:nvPr/>
        </p:nvSpPr>
        <p:spPr>
          <a:xfrm>
            <a:off x="8365680" y="4745880"/>
            <a:ext cx="3057840" cy="1326960"/>
          </a:xfrm>
          <a:prstGeom prst="rect">
            <a:avLst/>
          </a:prstGeom>
          <a:noFill/>
          <a:ln w="0">
            <a:noFill/>
          </a:ln>
        </p:spPr>
        <p:style>
          <a:lnRef idx="0"/>
          <a:fillRef idx="0"/>
          <a:effectRef idx="0"/>
          <a:fontRef idx="minor"/>
        </p:style>
        <p:txBody>
          <a:bodyPr lIns="0" rIns="0" tIns="0" bIns="0" anchor="t">
            <a:spAutoFit/>
          </a:bodyPr>
          <a:p>
            <a:pPr defTabSz="457200">
              <a:lnSpc>
                <a:spcPct val="105000"/>
              </a:lnSpc>
              <a:spcAft>
                <a:spcPts val="400"/>
              </a:spcAft>
            </a:pPr>
            <a:r>
              <a:rPr b="0" lang="en-US" sz="1050" spc="-1" strike="noStrike">
                <a:solidFill>
                  <a:srgbClr val="2b3644"/>
                </a:solidFill>
                <a:latin typeface="Segoe UI"/>
              </a:rPr>
              <a:t>· </a:t>
            </a:r>
            <a:r>
              <a:rPr b="0" lang="en-US" sz="1050" spc="-1" strike="noStrike">
                <a:solidFill>
                  <a:srgbClr val="2b3644"/>
                </a:solidFill>
                <a:latin typeface="Consolas"/>
              </a:rPr>
              <a:t>Fn206</a:t>
            </a:r>
            <a:r>
              <a:rPr b="0" lang="en-US" sz="1050" spc="-1" strike="noStrike">
                <a:solidFill>
                  <a:srgbClr val="2b3644"/>
                </a:solidFill>
                <a:latin typeface="Segoe UI"/>
              </a:rPr>
              <a:t> análisis en frecuencia para localizar resonancias.</a:t>
            </a:r>
            <a:endParaRPr b="0" lang="en-US" sz="1050" spc="-1" strike="noStrike">
              <a:solidFill>
                <a:srgbClr val="000000"/>
              </a:solidFill>
              <a:latin typeface="Arial"/>
            </a:endParaRPr>
          </a:p>
          <a:p>
            <a:pPr defTabSz="457200">
              <a:lnSpc>
                <a:spcPct val="105000"/>
              </a:lnSpc>
              <a:spcAft>
                <a:spcPts val="400"/>
              </a:spcAft>
            </a:pPr>
            <a:r>
              <a:rPr b="0" lang="en-US" sz="1050" spc="-1" strike="noStrike">
                <a:solidFill>
                  <a:srgbClr val="2b3644"/>
                </a:solidFill>
                <a:latin typeface="Segoe UI"/>
              </a:rPr>
              <a:t>· </a:t>
            </a:r>
            <a:r>
              <a:rPr b="0" lang="en-US" sz="1050" spc="-1" strike="noStrike">
                <a:solidFill>
                  <a:srgbClr val="2b3644"/>
                </a:solidFill>
                <a:latin typeface="Consolas"/>
              </a:rPr>
              <a:t>Fn205</a:t>
            </a:r>
            <a:r>
              <a:rPr b="0" lang="en-US" sz="1050" spc="-1" strike="noStrike">
                <a:solidFill>
                  <a:srgbClr val="2b3644"/>
                </a:solidFill>
                <a:latin typeface="Segoe UI"/>
              </a:rPr>
              <a:t> supresión de vibración de baja frecuencia.</a:t>
            </a:r>
            <a:endParaRPr b="0" lang="en-US" sz="1050" spc="-1" strike="noStrike">
              <a:solidFill>
                <a:srgbClr val="000000"/>
              </a:solidFill>
              <a:latin typeface="Arial"/>
            </a:endParaRPr>
          </a:p>
          <a:p>
            <a:pPr defTabSz="457200">
              <a:lnSpc>
                <a:spcPct val="105000"/>
              </a:lnSpc>
              <a:spcAft>
                <a:spcPts val="400"/>
              </a:spcAft>
            </a:pPr>
            <a:r>
              <a:rPr b="0" lang="en-US" sz="1050" spc="-1" strike="noStrike">
                <a:solidFill>
                  <a:srgbClr val="2b3644"/>
                </a:solidFill>
                <a:latin typeface="Segoe UI"/>
              </a:rPr>
              <a:t>· </a:t>
            </a:r>
            <a:r>
              <a:rPr b="0" lang="en-US" sz="1050" spc="-1" strike="noStrike">
                <a:solidFill>
                  <a:srgbClr val="2b3644"/>
                </a:solidFill>
                <a:latin typeface="Consolas"/>
              </a:rPr>
              <a:t>Fn204</a:t>
            </a:r>
            <a:r>
              <a:rPr b="0" lang="en-US" sz="1050" spc="-1" strike="noStrike">
                <a:solidFill>
                  <a:srgbClr val="2b3644"/>
                </a:solidFill>
                <a:latin typeface="Segoe UI"/>
              </a:rPr>
              <a:t> ajuste de antirresonancia.</a:t>
            </a:r>
            <a:endParaRPr b="0" lang="en-US" sz="1050" spc="-1" strike="noStrike">
              <a:solidFill>
                <a:srgbClr val="000000"/>
              </a:solidFill>
              <a:latin typeface="Arial"/>
            </a:endParaRPr>
          </a:p>
          <a:p>
            <a:pPr defTabSz="457200">
              <a:lnSpc>
                <a:spcPct val="105000"/>
              </a:lnSpc>
              <a:spcAft>
                <a:spcPts val="400"/>
              </a:spcAft>
            </a:pPr>
            <a:r>
              <a:rPr b="0" lang="en-US" sz="1050" spc="-1" strike="noStrike">
                <a:solidFill>
                  <a:srgbClr val="2b3644"/>
                </a:solidFill>
                <a:latin typeface="Segoe UI"/>
              </a:rPr>
              <a:t>· Filtros notch (</a:t>
            </a:r>
            <a:r>
              <a:rPr b="0" lang="en-US" sz="1050" spc="-1" strike="noStrike">
                <a:solidFill>
                  <a:srgbClr val="2b3644"/>
                </a:solidFill>
                <a:latin typeface="Consolas"/>
              </a:rPr>
              <a:t>Pn409</a:t>
            </a:r>
            <a:r>
              <a:rPr b="0" lang="en-US" sz="1050" spc="-1" strike="noStrike">
                <a:solidFill>
                  <a:srgbClr val="2b3644"/>
                </a:solidFill>
                <a:latin typeface="Segoe UI"/>
              </a:rPr>
              <a:t>) y control por modelo (</a:t>
            </a:r>
            <a:r>
              <a:rPr b="0" lang="en-US" sz="1050" spc="-1" strike="noStrike">
                <a:solidFill>
                  <a:srgbClr val="2b3644"/>
                </a:solidFill>
                <a:latin typeface="Consolas"/>
              </a:rPr>
              <a:t>Pn140</a:t>
            </a:r>
            <a:r>
              <a:rPr b="0" lang="en-US" sz="1050" spc="-1" strike="noStrike">
                <a:solidFill>
                  <a:srgbClr val="2b3644"/>
                </a:solidFill>
                <a:latin typeface="Segoe UI"/>
              </a:rPr>
              <a:t>).</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3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33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Procedimiento de autoajuste avanzado (</a:t>
            </a:r>
            <a:r>
              <a:rPr b="1" lang="en-US" sz="2500" spc="-1" strike="noStrike">
                <a:solidFill>
                  <a:srgbClr val="ffffff"/>
                </a:solidFill>
                <a:latin typeface="Consolas"/>
              </a:rPr>
              <a:t>Fn201</a:t>
            </a:r>
            <a:r>
              <a:rPr b="1" lang="en-US" sz="2500" spc="-1" strike="noStrike">
                <a:solidFill>
                  <a:srgbClr val="ffffff"/>
                </a:solidFill>
                <a:latin typeface="Segoe UI Semibold"/>
              </a:rPr>
              <a:t>)</a:t>
            </a:r>
            <a:endParaRPr b="0" lang="en-US" sz="2500" spc="-1" strike="noStrike">
              <a:solidFill>
                <a:srgbClr val="000000"/>
              </a:solidFill>
              <a:latin typeface="Arial"/>
            </a:endParaRPr>
          </a:p>
        </p:txBody>
      </p:sp>
      <p:sp>
        <p:nvSpPr>
          <p:cNvPr id="233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Diez minutos que suelen dar el 90 % del resultado</a:t>
            </a:r>
            <a:endParaRPr b="0" lang="en-US" sz="1250" spc="-1" strike="noStrike">
              <a:solidFill>
                <a:srgbClr val="000000"/>
              </a:solidFill>
              <a:latin typeface="Arial"/>
            </a:endParaRPr>
          </a:p>
        </p:txBody>
      </p:sp>
      <p:sp>
        <p:nvSpPr>
          <p:cNvPr id="233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09</a:t>
            </a:r>
            <a:endParaRPr b="0" lang="en-US" sz="1100" spc="-1" strike="noStrike">
              <a:solidFill>
                <a:srgbClr val="000000"/>
              </a:solidFill>
              <a:latin typeface="Arial"/>
            </a:endParaRPr>
          </a:p>
        </p:txBody>
      </p:sp>
      <p:sp>
        <p:nvSpPr>
          <p:cNvPr id="233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34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120</a:t>
            </a:r>
            <a:endParaRPr b="0" lang="en-US" sz="900" spc="-1" strike="noStrike">
              <a:solidFill>
                <a:srgbClr val="000000"/>
              </a:solidFill>
              <a:latin typeface="Arial"/>
            </a:endParaRPr>
          </a:p>
        </p:txBody>
      </p:sp>
      <p:sp>
        <p:nvSpPr>
          <p:cNvPr id="2341" name="Rectangle 8"/>
          <p:cNvSpPr/>
          <p:nvPr/>
        </p:nvSpPr>
        <p:spPr>
          <a:xfrm>
            <a:off x="567000" y="148140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42" name="Rectangle 9"/>
          <p:cNvSpPr/>
          <p:nvPr/>
        </p:nvSpPr>
        <p:spPr>
          <a:xfrm>
            <a:off x="567000" y="148140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43" name="TextBox 10"/>
          <p:cNvSpPr/>
          <p:nvPr/>
        </p:nvSpPr>
        <p:spPr>
          <a:xfrm>
            <a:off x="567000" y="159336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1</a:t>
            </a:r>
            <a:endParaRPr b="0" lang="en-US" sz="1550" spc="-1" strike="noStrike">
              <a:solidFill>
                <a:srgbClr val="000000"/>
              </a:solidFill>
              <a:latin typeface="Arial"/>
            </a:endParaRPr>
          </a:p>
        </p:txBody>
      </p:sp>
      <p:sp>
        <p:nvSpPr>
          <p:cNvPr id="2344" name="TextBox 11"/>
          <p:cNvSpPr/>
          <p:nvPr/>
        </p:nvSpPr>
        <p:spPr>
          <a:xfrm>
            <a:off x="1435680" y="157284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Preparar el eje</a:t>
            </a:r>
            <a:endParaRPr b="0" lang="en-US" sz="950" spc="-1" strike="noStrike">
              <a:solidFill>
                <a:srgbClr val="000000"/>
              </a:solidFill>
              <a:latin typeface="Arial"/>
            </a:endParaRPr>
          </a:p>
        </p:txBody>
      </p:sp>
      <p:sp>
        <p:nvSpPr>
          <p:cNvPr id="2345" name="TextBox 12"/>
          <p:cNvSpPr/>
          <p:nvPr/>
        </p:nvSpPr>
        <p:spPr>
          <a:xfrm>
            <a:off x="1435680" y="175716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Carga real acoplada, recorrido libre y suficiente, finales de carrera operativos y zona despejada. Guarda antes el fichero de parámetros.</a:t>
            </a:r>
            <a:endParaRPr b="0" lang="en-US" sz="750" spc="-1" strike="noStrike">
              <a:solidFill>
                <a:srgbClr val="000000"/>
              </a:solidFill>
              <a:latin typeface="Arial"/>
            </a:endParaRPr>
          </a:p>
        </p:txBody>
      </p:sp>
      <p:sp>
        <p:nvSpPr>
          <p:cNvPr id="2346" name="Rectangle 13"/>
          <p:cNvSpPr/>
          <p:nvPr/>
        </p:nvSpPr>
        <p:spPr>
          <a:xfrm>
            <a:off x="567000" y="205200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47" name="Rectangle 14"/>
          <p:cNvSpPr/>
          <p:nvPr/>
        </p:nvSpPr>
        <p:spPr>
          <a:xfrm>
            <a:off x="567000" y="205200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48" name="TextBox 15"/>
          <p:cNvSpPr/>
          <p:nvPr/>
        </p:nvSpPr>
        <p:spPr>
          <a:xfrm>
            <a:off x="567000" y="216396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2</a:t>
            </a:r>
            <a:endParaRPr b="0" lang="en-US" sz="1550" spc="-1" strike="noStrike">
              <a:solidFill>
                <a:srgbClr val="000000"/>
              </a:solidFill>
              <a:latin typeface="Arial"/>
            </a:endParaRPr>
          </a:p>
        </p:txBody>
      </p:sp>
      <p:sp>
        <p:nvSpPr>
          <p:cNvPr id="2349" name="TextBox 16"/>
          <p:cNvSpPr/>
          <p:nvPr/>
        </p:nvSpPr>
        <p:spPr>
          <a:xfrm>
            <a:off x="1435680" y="214344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Elegir el modo de ajuste</a:t>
            </a:r>
            <a:endParaRPr b="0" lang="en-US" sz="950" spc="-1" strike="noStrike">
              <a:solidFill>
                <a:srgbClr val="000000"/>
              </a:solidFill>
              <a:latin typeface="Arial"/>
            </a:endParaRPr>
          </a:p>
        </p:txBody>
      </p:sp>
      <p:sp>
        <p:nvSpPr>
          <p:cNvPr id="2350" name="TextBox 17"/>
          <p:cNvSpPr/>
          <p:nvPr/>
        </p:nvSpPr>
        <p:spPr>
          <a:xfrm>
            <a:off x="1435680" y="232776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El asistente pregunta si se quiere ajustar sólo la ganancia, también los filtros de resonancia o además la supresión de vibración.</a:t>
            </a:r>
            <a:endParaRPr b="0" lang="en-US" sz="750" spc="-1" strike="noStrike">
              <a:solidFill>
                <a:srgbClr val="000000"/>
              </a:solidFill>
              <a:latin typeface="Arial"/>
            </a:endParaRPr>
          </a:p>
        </p:txBody>
      </p:sp>
      <p:sp>
        <p:nvSpPr>
          <p:cNvPr id="2351" name="Rectangle 18"/>
          <p:cNvSpPr/>
          <p:nvPr/>
        </p:nvSpPr>
        <p:spPr>
          <a:xfrm>
            <a:off x="567000" y="262296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52" name="Rectangle 19"/>
          <p:cNvSpPr/>
          <p:nvPr/>
        </p:nvSpPr>
        <p:spPr>
          <a:xfrm>
            <a:off x="567000" y="262296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53" name="TextBox 20"/>
          <p:cNvSpPr/>
          <p:nvPr/>
        </p:nvSpPr>
        <p:spPr>
          <a:xfrm>
            <a:off x="567000" y="273492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3</a:t>
            </a:r>
            <a:endParaRPr b="0" lang="en-US" sz="1550" spc="-1" strike="noStrike">
              <a:solidFill>
                <a:srgbClr val="000000"/>
              </a:solidFill>
              <a:latin typeface="Arial"/>
            </a:endParaRPr>
          </a:p>
        </p:txBody>
      </p:sp>
      <p:sp>
        <p:nvSpPr>
          <p:cNvPr id="2354" name="TextBox 21"/>
          <p:cNvSpPr/>
          <p:nvPr/>
        </p:nvSpPr>
        <p:spPr>
          <a:xfrm>
            <a:off x="1435680" y="271440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Indicar el tipo de mecánica</a:t>
            </a:r>
            <a:endParaRPr b="0" lang="en-US" sz="950" spc="-1" strike="noStrike">
              <a:solidFill>
                <a:srgbClr val="000000"/>
              </a:solidFill>
              <a:latin typeface="Arial"/>
            </a:endParaRPr>
          </a:p>
        </p:txBody>
      </p:sp>
      <p:sp>
        <p:nvSpPr>
          <p:cNvPr id="2355" name="TextBox 22"/>
          <p:cNvSpPr/>
          <p:nvPr/>
        </p:nvSpPr>
        <p:spPr>
          <a:xfrm>
            <a:off x="1435680" y="289872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Correa, husillo o accionamiento directo. El drive usa este dato para elegir un punto de partida razonable.</a:t>
            </a:r>
            <a:endParaRPr b="0" lang="en-US" sz="750" spc="-1" strike="noStrike">
              <a:solidFill>
                <a:srgbClr val="000000"/>
              </a:solidFill>
              <a:latin typeface="Arial"/>
            </a:endParaRPr>
          </a:p>
        </p:txBody>
      </p:sp>
      <p:sp>
        <p:nvSpPr>
          <p:cNvPr id="2356" name="Rectangle 23"/>
          <p:cNvSpPr/>
          <p:nvPr/>
        </p:nvSpPr>
        <p:spPr>
          <a:xfrm>
            <a:off x="567000" y="319392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57" name="Rectangle 24"/>
          <p:cNvSpPr/>
          <p:nvPr/>
        </p:nvSpPr>
        <p:spPr>
          <a:xfrm>
            <a:off x="567000" y="319392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58" name="TextBox 25"/>
          <p:cNvSpPr/>
          <p:nvPr/>
        </p:nvSpPr>
        <p:spPr>
          <a:xfrm>
            <a:off x="567000" y="330588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4</a:t>
            </a:r>
            <a:endParaRPr b="0" lang="en-US" sz="1550" spc="-1" strike="noStrike">
              <a:solidFill>
                <a:srgbClr val="000000"/>
              </a:solidFill>
              <a:latin typeface="Arial"/>
            </a:endParaRPr>
          </a:p>
        </p:txBody>
      </p:sp>
      <p:sp>
        <p:nvSpPr>
          <p:cNvPr id="2359" name="TextBox 26"/>
          <p:cNvSpPr/>
          <p:nvPr/>
        </p:nvSpPr>
        <p:spPr>
          <a:xfrm>
            <a:off x="1435680" y="328536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Definir la amplitud del movimiento de prueba</a:t>
            </a:r>
            <a:endParaRPr b="0" lang="en-US" sz="950" spc="-1" strike="noStrike">
              <a:solidFill>
                <a:srgbClr val="000000"/>
              </a:solidFill>
              <a:latin typeface="Arial"/>
            </a:endParaRPr>
          </a:p>
        </p:txBody>
      </p:sp>
      <p:sp>
        <p:nvSpPr>
          <p:cNvPr id="2360" name="TextBox 27"/>
          <p:cNvSpPr/>
          <p:nvPr/>
        </p:nvSpPr>
        <p:spPr>
          <a:xfrm>
            <a:off x="1435680" y="346968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El drive moverá el eje varias vueltas en ambos sentidos. Comprueba que cabe en el recorrido disponible.</a:t>
            </a:r>
            <a:endParaRPr b="0" lang="en-US" sz="750" spc="-1" strike="noStrike">
              <a:solidFill>
                <a:srgbClr val="000000"/>
              </a:solidFill>
              <a:latin typeface="Arial"/>
            </a:endParaRPr>
          </a:p>
        </p:txBody>
      </p:sp>
      <p:sp>
        <p:nvSpPr>
          <p:cNvPr id="2361" name="Rectangle 28"/>
          <p:cNvSpPr/>
          <p:nvPr/>
        </p:nvSpPr>
        <p:spPr>
          <a:xfrm>
            <a:off x="567000" y="376488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62" name="Rectangle 29"/>
          <p:cNvSpPr/>
          <p:nvPr/>
        </p:nvSpPr>
        <p:spPr>
          <a:xfrm>
            <a:off x="567000" y="376488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63" name="TextBox 30"/>
          <p:cNvSpPr/>
          <p:nvPr/>
        </p:nvSpPr>
        <p:spPr>
          <a:xfrm>
            <a:off x="567000" y="387684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5</a:t>
            </a:r>
            <a:endParaRPr b="0" lang="en-US" sz="1550" spc="-1" strike="noStrike">
              <a:solidFill>
                <a:srgbClr val="000000"/>
              </a:solidFill>
              <a:latin typeface="Arial"/>
            </a:endParaRPr>
          </a:p>
        </p:txBody>
      </p:sp>
      <p:sp>
        <p:nvSpPr>
          <p:cNvPr id="2364" name="TextBox 31"/>
          <p:cNvSpPr/>
          <p:nvPr/>
        </p:nvSpPr>
        <p:spPr>
          <a:xfrm>
            <a:off x="1435680" y="385632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Ejecutar y observar</a:t>
            </a:r>
            <a:endParaRPr b="0" lang="en-US" sz="950" spc="-1" strike="noStrike">
              <a:solidFill>
                <a:srgbClr val="000000"/>
              </a:solidFill>
              <a:latin typeface="Arial"/>
            </a:endParaRPr>
          </a:p>
        </p:txBody>
      </p:sp>
      <p:sp>
        <p:nvSpPr>
          <p:cNvPr id="2365" name="TextBox 32"/>
          <p:cNvSpPr/>
          <p:nvPr/>
        </p:nvSpPr>
        <p:spPr>
          <a:xfrm>
            <a:off x="1435680" y="404028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El eje se mueve solo, con ruido y vibración perceptibles: es normal, el drive está explorando el límite de estabilidad.</a:t>
            </a:r>
            <a:endParaRPr b="0" lang="en-US" sz="750" spc="-1" strike="noStrike">
              <a:solidFill>
                <a:srgbClr val="000000"/>
              </a:solidFill>
              <a:latin typeface="Arial"/>
            </a:endParaRPr>
          </a:p>
        </p:txBody>
      </p:sp>
      <p:sp>
        <p:nvSpPr>
          <p:cNvPr id="2366" name="Rectangle 33"/>
          <p:cNvSpPr/>
          <p:nvPr/>
        </p:nvSpPr>
        <p:spPr>
          <a:xfrm>
            <a:off x="567000" y="433548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67" name="Rectangle 34"/>
          <p:cNvSpPr/>
          <p:nvPr/>
        </p:nvSpPr>
        <p:spPr>
          <a:xfrm>
            <a:off x="567000" y="433548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68" name="TextBox 35"/>
          <p:cNvSpPr/>
          <p:nvPr/>
        </p:nvSpPr>
        <p:spPr>
          <a:xfrm>
            <a:off x="567000" y="444744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6</a:t>
            </a:r>
            <a:endParaRPr b="0" lang="en-US" sz="1550" spc="-1" strike="noStrike">
              <a:solidFill>
                <a:srgbClr val="000000"/>
              </a:solidFill>
              <a:latin typeface="Arial"/>
            </a:endParaRPr>
          </a:p>
        </p:txBody>
      </p:sp>
      <p:sp>
        <p:nvSpPr>
          <p:cNvPr id="2369" name="TextBox 36"/>
          <p:cNvSpPr/>
          <p:nvPr/>
        </p:nvSpPr>
        <p:spPr>
          <a:xfrm>
            <a:off x="1435680" y="442692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Revisar los resultados</a:t>
            </a:r>
            <a:endParaRPr b="0" lang="en-US" sz="950" spc="-1" strike="noStrike">
              <a:solidFill>
                <a:srgbClr val="000000"/>
              </a:solidFill>
              <a:latin typeface="Arial"/>
            </a:endParaRPr>
          </a:p>
        </p:txBody>
      </p:sp>
      <p:sp>
        <p:nvSpPr>
          <p:cNvPr id="2370" name="TextBox 37"/>
          <p:cNvSpPr/>
          <p:nvPr/>
        </p:nvSpPr>
        <p:spPr>
          <a:xfrm>
            <a:off x="1435680" y="461124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El asistente propone </a:t>
            </a:r>
            <a:r>
              <a:rPr b="0" lang="en-US" sz="750" spc="-1" strike="noStrike">
                <a:solidFill>
                  <a:srgbClr val="3a4654"/>
                </a:solidFill>
                <a:latin typeface="Consolas"/>
              </a:rPr>
              <a:t>Pn103</a:t>
            </a:r>
            <a:r>
              <a:rPr b="0" lang="en-US" sz="750" spc="-1" strike="noStrike">
                <a:solidFill>
                  <a:srgbClr val="3a4654"/>
                </a:solidFill>
                <a:latin typeface="Segoe UI"/>
              </a:rPr>
              <a:t> (inercia medida), ganancias y filtros. Anota especialmente la relación de inercias: valida tu cálculo.</a:t>
            </a:r>
            <a:endParaRPr b="0" lang="en-US" sz="750" spc="-1" strike="noStrike">
              <a:solidFill>
                <a:srgbClr val="000000"/>
              </a:solidFill>
              <a:latin typeface="Arial"/>
            </a:endParaRPr>
          </a:p>
        </p:txBody>
      </p:sp>
      <p:sp>
        <p:nvSpPr>
          <p:cNvPr id="2371" name="Rectangle 38"/>
          <p:cNvSpPr/>
          <p:nvPr/>
        </p:nvSpPr>
        <p:spPr>
          <a:xfrm>
            <a:off x="567000" y="490644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72" name="Rectangle 39"/>
          <p:cNvSpPr/>
          <p:nvPr/>
        </p:nvSpPr>
        <p:spPr>
          <a:xfrm>
            <a:off x="567000" y="490644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73" name="TextBox 40"/>
          <p:cNvSpPr/>
          <p:nvPr/>
        </p:nvSpPr>
        <p:spPr>
          <a:xfrm>
            <a:off x="567000" y="501840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7</a:t>
            </a:r>
            <a:endParaRPr b="0" lang="en-US" sz="1550" spc="-1" strike="noStrike">
              <a:solidFill>
                <a:srgbClr val="000000"/>
              </a:solidFill>
              <a:latin typeface="Arial"/>
            </a:endParaRPr>
          </a:p>
        </p:txBody>
      </p:sp>
      <p:sp>
        <p:nvSpPr>
          <p:cNvPr id="2374" name="TextBox 41"/>
          <p:cNvSpPr/>
          <p:nvPr/>
        </p:nvSpPr>
        <p:spPr>
          <a:xfrm>
            <a:off x="1435680" y="499788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Aceptar, guardar y verificar con el ciclo real</a:t>
            </a:r>
            <a:endParaRPr b="0" lang="en-US" sz="950" spc="-1" strike="noStrike">
              <a:solidFill>
                <a:srgbClr val="000000"/>
              </a:solidFill>
              <a:latin typeface="Arial"/>
            </a:endParaRPr>
          </a:p>
        </p:txBody>
      </p:sp>
      <p:sp>
        <p:nvSpPr>
          <p:cNvPr id="2375" name="TextBox 42"/>
          <p:cNvSpPr/>
          <p:nvPr/>
        </p:nvSpPr>
        <p:spPr>
          <a:xfrm>
            <a:off x="1435680" y="518220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Ejecuta el ciclo de producción y captura la traza. Compara con la situación anterior.</a:t>
            </a:r>
            <a:endParaRPr b="0" lang="en-US" sz="750" spc="-1" strike="noStrike">
              <a:solidFill>
                <a:srgbClr val="000000"/>
              </a:solidFill>
              <a:latin typeface="Arial"/>
            </a:endParaRPr>
          </a:p>
        </p:txBody>
      </p:sp>
      <p:sp>
        <p:nvSpPr>
          <p:cNvPr id="2376" name="Rectangle 43"/>
          <p:cNvSpPr/>
          <p:nvPr/>
        </p:nvSpPr>
        <p:spPr>
          <a:xfrm>
            <a:off x="567000" y="5504760"/>
            <a:ext cx="11057400" cy="82260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77" name="Rectangle 44"/>
          <p:cNvSpPr/>
          <p:nvPr/>
        </p:nvSpPr>
        <p:spPr>
          <a:xfrm>
            <a:off x="567000" y="5504760"/>
            <a:ext cx="68400" cy="82260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78" name="TextBox 45"/>
          <p:cNvSpPr/>
          <p:nvPr/>
        </p:nvSpPr>
        <p:spPr>
          <a:xfrm>
            <a:off x="841320" y="564192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c0392b"/>
                </a:solidFill>
                <a:latin typeface="Segoe UI Semibold"/>
              </a:rPr>
              <a:t>Precauciones antes de lanzar un autoajuste</a:t>
            </a:r>
            <a:endParaRPr b="0" lang="en-US" sz="1200" spc="-1" strike="noStrike">
              <a:solidFill>
                <a:srgbClr val="000000"/>
              </a:solidFill>
              <a:latin typeface="Arial"/>
            </a:endParaRPr>
          </a:p>
        </p:txBody>
      </p:sp>
      <p:sp>
        <p:nvSpPr>
          <p:cNvPr id="2379" name="TextBox 46"/>
          <p:cNvSpPr/>
          <p:nvPr/>
        </p:nvSpPr>
        <p:spPr>
          <a:xfrm>
            <a:off x="841320" y="591624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El eje se moverá de forma autónoma y con vibración deliberada. Nunca lo ejecutes en un eje vertical sin freno verificado, ni en una máquina con personas cerca, ni con recorrido insuficiente.</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0"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81"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382"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Ajuste manual: el orden es innegociable</a:t>
            </a:r>
            <a:endParaRPr b="0" lang="en-US" sz="2500" spc="-1" strike="noStrike">
              <a:solidFill>
                <a:srgbClr val="000000"/>
              </a:solidFill>
              <a:latin typeface="Arial"/>
            </a:endParaRPr>
          </a:p>
        </p:txBody>
      </p:sp>
      <p:sp>
        <p:nvSpPr>
          <p:cNvPr id="2383"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De dentro hacia fuera: inercia → velocidad → posición → filtros</a:t>
            </a:r>
            <a:endParaRPr b="0" lang="en-US" sz="1250" spc="-1" strike="noStrike">
              <a:solidFill>
                <a:srgbClr val="000000"/>
              </a:solidFill>
              <a:latin typeface="Arial"/>
            </a:endParaRPr>
          </a:p>
        </p:txBody>
      </p:sp>
      <p:sp>
        <p:nvSpPr>
          <p:cNvPr id="2384"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09</a:t>
            </a:r>
            <a:endParaRPr b="0" lang="en-US" sz="1100" spc="-1" strike="noStrike">
              <a:solidFill>
                <a:srgbClr val="000000"/>
              </a:solidFill>
              <a:latin typeface="Arial"/>
            </a:endParaRPr>
          </a:p>
        </p:txBody>
      </p:sp>
      <p:sp>
        <p:nvSpPr>
          <p:cNvPr id="2385"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386"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121</a:t>
            </a:r>
            <a:endParaRPr b="0" lang="en-US" sz="900" spc="-1" strike="noStrike">
              <a:solidFill>
                <a:srgbClr val="000000"/>
              </a:solidFill>
              <a:latin typeface="Arial"/>
            </a:endParaRPr>
          </a:p>
        </p:txBody>
      </p:sp>
      <p:sp>
        <p:nvSpPr>
          <p:cNvPr id="2387" name="Rectangle 8"/>
          <p:cNvSpPr/>
          <p:nvPr/>
        </p:nvSpPr>
        <p:spPr>
          <a:xfrm>
            <a:off x="567000" y="148140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88" name="Rectangle 9"/>
          <p:cNvSpPr/>
          <p:nvPr/>
        </p:nvSpPr>
        <p:spPr>
          <a:xfrm>
            <a:off x="567000" y="148140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89" name="TextBox 10"/>
          <p:cNvSpPr/>
          <p:nvPr/>
        </p:nvSpPr>
        <p:spPr>
          <a:xfrm>
            <a:off x="567000" y="159336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1</a:t>
            </a:r>
            <a:endParaRPr b="0" lang="en-US" sz="1550" spc="-1" strike="noStrike">
              <a:solidFill>
                <a:srgbClr val="000000"/>
              </a:solidFill>
              <a:latin typeface="Arial"/>
            </a:endParaRPr>
          </a:p>
        </p:txBody>
      </p:sp>
      <p:sp>
        <p:nvSpPr>
          <p:cNvPr id="2390" name="TextBox 11"/>
          <p:cNvSpPr/>
          <p:nvPr/>
        </p:nvSpPr>
        <p:spPr>
          <a:xfrm>
            <a:off x="1435680" y="157284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Desactivar el ajuste automático</a:t>
            </a:r>
            <a:endParaRPr b="0" lang="en-US" sz="950" spc="-1" strike="noStrike">
              <a:solidFill>
                <a:srgbClr val="000000"/>
              </a:solidFill>
              <a:latin typeface="Arial"/>
            </a:endParaRPr>
          </a:p>
        </p:txBody>
      </p:sp>
      <p:sp>
        <p:nvSpPr>
          <p:cNvPr id="2391" name="TextBox 12"/>
          <p:cNvSpPr/>
          <p:nvPr/>
        </p:nvSpPr>
        <p:spPr>
          <a:xfrm>
            <a:off x="1435680" y="175716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Consolas"/>
              </a:rPr>
              <a:t>Pn170</a:t>
            </a:r>
            <a:r>
              <a:rPr b="0" lang="en-US" sz="750" spc="-1" strike="noStrike">
                <a:solidFill>
                  <a:srgbClr val="3a4654"/>
                </a:solidFill>
                <a:latin typeface="Segoe UI"/>
              </a:rPr>
              <a:t> (tuning-less) debe estar desactivado; si no, tus cambios quedarán enmascarados por la adaptación automática.</a:t>
            </a:r>
            <a:endParaRPr b="0" lang="en-US" sz="750" spc="-1" strike="noStrike">
              <a:solidFill>
                <a:srgbClr val="000000"/>
              </a:solidFill>
              <a:latin typeface="Arial"/>
            </a:endParaRPr>
          </a:p>
        </p:txBody>
      </p:sp>
      <p:sp>
        <p:nvSpPr>
          <p:cNvPr id="2392" name="Rectangle 13"/>
          <p:cNvSpPr/>
          <p:nvPr/>
        </p:nvSpPr>
        <p:spPr>
          <a:xfrm>
            <a:off x="567000" y="205200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93" name="Rectangle 14"/>
          <p:cNvSpPr/>
          <p:nvPr/>
        </p:nvSpPr>
        <p:spPr>
          <a:xfrm>
            <a:off x="567000" y="205200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94" name="TextBox 15"/>
          <p:cNvSpPr/>
          <p:nvPr/>
        </p:nvSpPr>
        <p:spPr>
          <a:xfrm>
            <a:off x="567000" y="216396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2</a:t>
            </a:r>
            <a:endParaRPr b="0" lang="en-US" sz="1550" spc="-1" strike="noStrike">
              <a:solidFill>
                <a:srgbClr val="000000"/>
              </a:solidFill>
              <a:latin typeface="Arial"/>
            </a:endParaRPr>
          </a:p>
        </p:txBody>
      </p:sp>
      <p:sp>
        <p:nvSpPr>
          <p:cNvPr id="2395" name="TextBox 16"/>
          <p:cNvSpPr/>
          <p:nvPr/>
        </p:nvSpPr>
        <p:spPr>
          <a:xfrm>
            <a:off x="1435680" y="214344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Fijar la relación de inercias </a:t>
            </a:r>
            <a:r>
              <a:rPr b="1" lang="en-US" sz="950" spc="-1" strike="noStrike">
                <a:solidFill>
                  <a:srgbClr val="0b2545"/>
                </a:solidFill>
                <a:latin typeface="Consolas"/>
              </a:rPr>
              <a:t>Pn103</a:t>
            </a:r>
            <a:endParaRPr b="0" lang="en-US" sz="950" spc="-1" strike="noStrike">
              <a:solidFill>
                <a:srgbClr val="000000"/>
              </a:solidFill>
              <a:latin typeface="Arial"/>
            </a:endParaRPr>
          </a:p>
        </p:txBody>
      </p:sp>
      <p:sp>
        <p:nvSpPr>
          <p:cNvPr id="2396" name="TextBox 17"/>
          <p:cNvSpPr/>
          <p:nvPr/>
        </p:nvSpPr>
        <p:spPr>
          <a:xfrm>
            <a:off x="1435680" y="232776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Con el valor medido por el autoajuste o el calculado. </a:t>
            </a:r>
            <a:r>
              <a:rPr b="1" lang="en-US" sz="750" spc="-1" strike="noStrike">
                <a:solidFill>
                  <a:srgbClr val="3a4654"/>
                </a:solidFill>
                <a:latin typeface="Segoe UI"/>
              </a:rPr>
              <a:t>Todo lo demás se escala con este número</a:t>
            </a:r>
            <a:r>
              <a:rPr b="0" lang="en-US" sz="750" spc="-1" strike="noStrike">
                <a:solidFill>
                  <a:srgbClr val="3a4654"/>
                </a:solidFill>
                <a:latin typeface="Segoe UI"/>
              </a:rPr>
              <a:t>: si está mal, nada funcionará bien.</a:t>
            </a:r>
            <a:endParaRPr b="0" lang="en-US" sz="750" spc="-1" strike="noStrike">
              <a:solidFill>
                <a:srgbClr val="000000"/>
              </a:solidFill>
              <a:latin typeface="Arial"/>
            </a:endParaRPr>
          </a:p>
        </p:txBody>
      </p:sp>
      <p:sp>
        <p:nvSpPr>
          <p:cNvPr id="2397" name="Rectangle 18"/>
          <p:cNvSpPr/>
          <p:nvPr/>
        </p:nvSpPr>
        <p:spPr>
          <a:xfrm>
            <a:off x="567000" y="262296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98" name="Rectangle 19"/>
          <p:cNvSpPr/>
          <p:nvPr/>
        </p:nvSpPr>
        <p:spPr>
          <a:xfrm>
            <a:off x="567000" y="262296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99" name="TextBox 20"/>
          <p:cNvSpPr/>
          <p:nvPr/>
        </p:nvSpPr>
        <p:spPr>
          <a:xfrm>
            <a:off x="567000" y="273492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3</a:t>
            </a:r>
            <a:endParaRPr b="0" lang="en-US" sz="1550" spc="-1" strike="noStrike">
              <a:solidFill>
                <a:srgbClr val="000000"/>
              </a:solidFill>
              <a:latin typeface="Arial"/>
            </a:endParaRPr>
          </a:p>
        </p:txBody>
      </p:sp>
      <p:sp>
        <p:nvSpPr>
          <p:cNvPr id="2400" name="TextBox 21"/>
          <p:cNvSpPr/>
          <p:nvPr/>
        </p:nvSpPr>
        <p:spPr>
          <a:xfrm>
            <a:off x="1435680" y="271440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Ajustar la ganancia del lazo de velocidad </a:t>
            </a:r>
            <a:r>
              <a:rPr b="1" lang="en-US" sz="950" spc="-1" strike="noStrike">
                <a:solidFill>
                  <a:srgbClr val="0b2545"/>
                </a:solidFill>
                <a:latin typeface="Consolas"/>
              </a:rPr>
              <a:t>Pn100</a:t>
            </a:r>
            <a:endParaRPr b="0" lang="en-US" sz="950" spc="-1" strike="noStrike">
              <a:solidFill>
                <a:srgbClr val="000000"/>
              </a:solidFill>
              <a:latin typeface="Arial"/>
            </a:endParaRPr>
          </a:p>
        </p:txBody>
      </p:sp>
      <p:sp>
        <p:nvSpPr>
          <p:cNvPr id="2401" name="TextBox 22"/>
          <p:cNvSpPr/>
          <p:nvPr/>
        </p:nvSpPr>
        <p:spPr>
          <a:xfrm>
            <a:off x="1435680" y="289872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Súbela progresivamente hasta que aparezca ruido o vibración; después retrocede entre un 10 y un 20 %.</a:t>
            </a:r>
            <a:endParaRPr b="0" lang="en-US" sz="750" spc="-1" strike="noStrike">
              <a:solidFill>
                <a:srgbClr val="000000"/>
              </a:solidFill>
              <a:latin typeface="Arial"/>
            </a:endParaRPr>
          </a:p>
        </p:txBody>
      </p:sp>
      <p:sp>
        <p:nvSpPr>
          <p:cNvPr id="2402" name="Rectangle 23"/>
          <p:cNvSpPr/>
          <p:nvPr/>
        </p:nvSpPr>
        <p:spPr>
          <a:xfrm>
            <a:off x="567000" y="319392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03" name="Rectangle 24"/>
          <p:cNvSpPr/>
          <p:nvPr/>
        </p:nvSpPr>
        <p:spPr>
          <a:xfrm>
            <a:off x="567000" y="319392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04" name="TextBox 25"/>
          <p:cNvSpPr/>
          <p:nvPr/>
        </p:nvSpPr>
        <p:spPr>
          <a:xfrm>
            <a:off x="567000" y="330588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4</a:t>
            </a:r>
            <a:endParaRPr b="0" lang="en-US" sz="1550" spc="-1" strike="noStrike">
              <a:solidFill>
                <a:srgbClr val="000000"/>
              </a:solidFill>
              <a:latin typeface="Arial"/>
            </a:endParaRPr>
          </a:p>
        </p:txBody>
      </p:sp>
      <p:sp>
        <p:nvSpPr>
          <p:cNvPr id="2405" name="TextBox 26"/>
          <p:cNvSpPr/>
          <p:nvPr/>
        </p:nvSpPr>
        <p:spPr>
          <a:xfrm>
            <a:off x="1435680" y="328536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Ajustar la integral de velocidad </a:t>
            </a:r>
            <a:r>
              <a:rPr b="1" lang="en-US" sz="950" spc="-1" strike="noStrike">
                <a:solidFill>
                  <a:srgbClr val="0b2545"/>
                </a:solidFill>
                <a:latin typeface="Consolas"/>
              </a:rPr>
              <a:t>Pn101</a:t>
            </a:r>
            <a:endParaRPr b="0" lang="en-US" sz="950" spc="-1" strike="noStrike">
              <a:solidFill>
                <a:srgbClr val="000000"/>
              </a:solidFill>
              <a:latin typeface="Arial"/>
            </a:endParaRPr>
          </a:p>
        </p:txBody>
      </p:sp>
      <p:sp>
        <p:nvSpPr>
          <p:cNvPr id="2406" name="TextBox 27"/>
          <p:cNvSpPr/>
          <p:nvPr/>
        </p:nvSpPr>
        <p:spPr>
          <a:xfrm>
            <a:off x="1435680" y="346968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Bájala para eliminar el error en régimen y ganar rigidez. Demasiado baja produce oscilación lenta y sobrepasamiento.</a:t>
            </a:r>
            <a:endParaRPr b="0" lang="en-US" sz="750" spc="-1" strike="noStrike">
              <a:solidFill>
                <a:srgbClr val="000000"/>
              </a:solidFill>
              <a:latin typeface="Arial"/>
            </a:endParaRPr>
          </a:p>
        </p:txBody>
      </p:sp>
      <p:sp>
        <p:nvSpPr>
          <p:cNvPr id="2407" name="Rectangle 28"/>
          <p:cNvSpPr/>
          <p:nvPr/>
        </p:nvSpPr>
        <p:spPr>
          <a:xfrm>
            <a:off x="567000" y="376488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08" name="Rectangle 29"/>
          <p:cNvSpPr/>
          <p:nvPr/>
        </p:nvSpPr>
        <p:spPr>
          <a:xfrm>
            <a:off x="567000" y="376488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09" name="TextBox 30"/>
          <p:cNvSpPr/>
          <p:nvPr/>
        </p:nvSpPr>
        <p:spPr>
          <a:xfrm>
            <a:off x="567000" y="387684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5</a:t>
            </a:r>
            <a:endParaRPr b="0" lang="en-US" sz="1550" spc="-1" strike="noStrike">
              <a:solidFill>
                <a:srgbClr val="000000"/>
              </a:solidFill>
              <a:latin typeface="Arial"/>
            </a:endParaRPr>
          </a:p>
        </p:txBody>
      </p:sp>
      <p:sp>
        <p:nvSpPr>
          <p:cNvPr id="2410" name="TextBox 31"/>
          <p:cNvSpPr/>
          <p:nvPr/>
        </p:nvSpPr>
        <p:spPr>
          <a:xfrm>
            <a:off x="1435680" y="385632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Ajustar la ganancia de posición </a:t>
            </a:r>
            <a:r>
              <a:rPr b="1" lang="en-US" sz="950" spc="-1" strike="noStrike">
                <a:solidFill>
                  <a:srgbClr val="0b2545"/>
                </a:solidFill>
                <a:latin typeface="Consolas"/>
              </a:rPr>
              <a:t>Pn102</a:t>
            </a:r>
            <a:endParaRPr b="0" lang="en-US" sz="950" spc="-1" strike="noStrike">
              <a:solidFill>
                <a:srgbClr val="000000"/>
              </a:solidFill>
              <a:latin typeface="Arial"/>
            </a:endParaRPr>
          </a:p>
        </p:txBody>
      </p:sp>
      <p:sp>
        <p:nvSpPr>
          <p:cNvPr id="2411" name="TextBox 32"/>
          <p:cNvSpPr/>
          <p:nvPr/>
        </p:nvSpPr>
        <p:spPr>
          <a:xfrm>
            <a:off x="1435680" y="404028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Súbela hasta reducir el error de seguimiento a lo necesario. Regla práctica: debe quedar claramente por debajo de la del lazo de velocidad.</a:t>
            </a:r>
            <a:endParaRPr b="0" lang="en-US" sz="750" spc="-1" strike="noStrike">
              <a:solidFill>
                <a:srgbClr val="000000"/>
              </a:solidFill>
              <a:latin typeface="Arial"/>
            </a:endParaRPr>
          </a:p>
        </p:txBody>
      </p:sp>
      <p:sp>
        <p:nvSpPr>
          <p:cNvPr id="2412" name="Rectangle 33"/>
          <p:cNvSpPr/>
          <p:nvPr/>
        </p:nvSpPr>
        <p:spPr>
          <a:xfrm>
            <a:off x="567000" y="433548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13" name="Rectangle 34"/>
          <p:cNvSpPr/>
          <p:nvPr/>
        </p:nvSpPr>
        <p:spPr>
          <a:xfrm>
            <a:off x="567000" y="433548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14" name="TextBox 35"/>
          <p:cNvSpPr/>
          <p:nvPr/>
        </p:nvSpPr>
        <p:spPr>
          <a:xfrm>
            <a:off x="567000" y="444744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6</a:t>
            </a:r>
            <a:endParaRPr b="0" lang="en-US" sz="1550" spc="-1" strike="noStrike">
              <a:solidFill>
                <a:srgbClr val="000000"/>
              </a:solidFill>
              <a:latin typeface="Arial"/>
            </a:endParaRPr>
          </a:p>
        </p:txBody>
      </p:sp>
      <p:sp>
        <p:nvSpPr>
          <p:cNvPr id="2415" name="TextBox 36"/>
          <p:cNvSpPr/>
          <p:nvPr/>
        </p:nvSpPr>
        <p:spPr>
          <a:xfrm>
            <a:off x="1435680" y="442692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Ajustar el filtro de par </a:t>
            </a:r>
            <a:r>
              <a:rPr b="1" lang="en-US" sz="950" spc="-1" strike="noStrike">
                <a:solidFill>
                  <a:srgbClr val="0b2545"/>
                </a:solidFill>
                <a:latin typeface="Consolas"/>
              </a:rPr>
              <a:t>Pn401</a:t>
            </a:r>
            <a:endParaRPr b="0" lang="en-US" sz="950" spc="-1" strike="noStrike">
              <a:solidFill>
                <a:srgbClr val="000000"/>
              </a:solidFill>
              <a:latin typeface="Arial"/>
            </a:endParaRPr>
          </a:p>
        </p:txBody>
      </p:sp>
      <p:sp>
        <p:nvSpPr>
          <p:cNvPr id="2416" name="TextBox 37"/>
          <p:cNvSpPr/>
          <p:nvPr/>
        </p:nvSpPr>
        <p:spPr>
          <a:xfrm>
            <a:off x="1435680" y="461124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Súbelo un poco si hay ruido de alta frecuencia; pero cada milisegundo de filtro resta rapidez al lazo.</a:t>
            </a:r>
            <a:endParaRPr b="0" lang="en-US" sz="750" spc="-1" strike="noStrike">
              <a:solidFill>
                <a:srgbClr val="000000"/>
              </a:solidFill>
              <a:latin typeface="Arial"/>
            </a:endParaRPr>
          </a:p>
        </p:txBody>
      </p:sp>
      <p:sp>
        <p:nvSpPr>
          <p:cNvPr id="2417" name="Rectangle 38"/>
          <p:cNvSpPr/>
          <p:nvPr/>
        </p:nvSpPr>
        <p:spPr>
          <a:xfrm>
            <a:off x="567000" y="490644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18" name="Rectangle 39"/>
          <p:cNvSpPr/>
          <p:nvPr/>
        </p:nvSpPr>
        <p:spPr>
          <a:xfrm>
            <a:off x="567000" y="490644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19" name="TextBox 40"/>
          <p:cNvSpPr/>
          <p:nvPr/>
        </p:nvSpPr>
        <p:spPr>
          <a:xfrm>
            <a:off x="567000" y="501840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7</a:t>
            </a:r>
            <a:endParaRPr b="0" lang="en-US" sz="1550" spc="-1" strike="noStrike">
              <a:solidFill>
                <a:srgbClr val="000000"/>
              </a:solidFill>
              <a:latin typeface="Arial"/>
            </a:endParaRPr>
          </a:p>
        </p:txBody>
      </p:sp>
      <p:sp>
        <p:nvSpPr>
          <p:cNvPr id="2420" name="TextBox 41"/>
          <p:cNvSpPr/>
          <p:nvPr/>
        </p:nvSpPr>
        <p:spPr>
          <a:xfrm>
            <a:off x="1435680" y="499788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Verificar con la traza y guardar</a:t>
            </a:r>
            <a:endParaRPr b="0" lang="en-US" sz="950" spc="-1" strike="noStrike">
              <a:solidFill>
                <a:srgbClr val="000000"/>
              </a:solidFill>
              <a:latin typeface="Arial"/>
            </a:endParaRPr>
          </a:p>
        </p:txBody>
      </p:sp>
      <p:sp>
        <p:nvSpPr>
          <p:cNvPr id="2421" name="TextBox 42"/>
          <p:cNvSpPr/>
          <p:nvPr/>
        </p:nvSpPr>
        <p:spPr>
          <a:xfrm>
            <a:off x="1435680" y="518220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Captura el ciclo real, comprueba error y sobrepasamiento, y guarda la configuración con fecha.</a:t>
            </a:r>
            <a:endParaRPr b="0" lang="en-US" sz="750" spc="-1" strike="noStrike">
              <a:solidFill>
                <a:srgbClr val="000000"/>
              </a:solidFill>
              <a:latin typeface="Arial"/>
            </a:endParaRPr>
          </a:p>
        </p:txBody>
      </p:sp>
      <p:sp>
        <p:nvSpPr>
          <p:cNvPr id="2422" name="Rectangle 43"/>
          <p:cNvSpPr/>
          <p:nvPr/>
        </p:nvSpPr>
        <p:spPr>
          <a:xfrm>
            <a:off x="567000" y="5504760"/>
            <a:ext cx="11057400" cy="82260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23" name="Rectangle 44"/>
          <p:cNvSpPr/>
          <p:nvPr/>
        </p:nvSpPr>
        <p:spPr>
          <a:xfrm>
            <a:off x="567000" y="5504760"/>
            <a:ext cx="68400" cy="82260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24" name="TextBox 45"/>
          <p:cNvSpPr/>
          <p:nvPr/>
        </p:nvSpPr>
        <p:spPr>
          <a:xfrm>
            <a:off x="841320" y="564192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Por qué el orden importa tanto</a:t>
            </a:r>
            <a:endParaRPr b="0" lang="en-US" sz="1200" spc="-1" strike="noStrike">
              <a:solidFill>
                <a:srgbClr val="000000"/>
              </a:solidFill>
              <a:latin typeface="Arial"/>
            </a:endParaRPr>
          </a:p>
        </p:txBody>
      </p:sp>
      <p:sp>
        <p:nvSpPr>
          <p:cNvPr id="2425" name="TextBox 46"/>
          <p:cNvSpPr/>
          <p:nvPr/>
        </p:nvSpPr>
        <p:spPr>
          <a:xfrm>
            <a:off x="841320" y="591624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El lazo de posición se apoya en el de velocidad. Subir </a:t>
            </a:r>
            <a:r>
              <a:rPr b="0" lang="en-US" sz="1150" spc="-1" strike="noStrike">
                <a:solidFill>
                  <a:srgbClr val="2b3644"/>
                </a:solidFill>
                <a:latin typeface="Consolas"/>
              </a:rPr>
              <a:t>Pn102</a:t>
            </a:r>
            <a:r>
              <a:rPr b="0" lang="en-US" sz="1150" spc="-1" strike="noStrike">
                <a:solidFill>
                  <a:srgbClr val="2b3644"/>
                </a:solidFill>
                <a:latin typeface="Segoe UI"/>
              </a:rPr>
              <a:t> con un lazo de velocidad mal ajustado sólo produce inestabilidad, y llevará a la conclusión equivocada de que 'el eje no da más'.</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2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42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Resonancia mecánica y filtros notch</a:t>
            </a:r>
            <a:endParaRPr b="0" lang="en-US" sz="2500" spc="-1" strike="noStrike">
              <a:solidFill>
                <a:srgbClr val="000000"/>
              </a:solidFill>
              <a:latin typeface="Arial"/>
            </a:endParaRPr>
          </a:p>
        </p:txBody>
      </p:sp>
      <p:sp>
        <p:nvSpPr>
          <p:cNvPr id="242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Cuando el problema no está en las ganancias sino en la mecánica</a:t>
            </a:r>
            <a:endParaRPr b="0" lang="en-US" sz="1250" spc="-1" strike="noStrike">
              <a:solidFill>
                <a:srgbClr val="000000"/>
              </a:solidFill>
              <a:latin typeface="Arial"/>
            </a:endParaRPr>
          </a:p>
        </p:txBody>
      </p:sp>
      <p:sp>
        <p:nvSpPr>
          <p:cNvPr id="243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09</a:t>
            </a:r>
            <a:endParaRPr b="0" lang="en-US" sz="1100" spc="-1" strike="noStrike">
              <a:solidFill>
                <a:srgbClr val="000000"/>
              </a:solidFill>
              <a:latin typeface="Arial"/>
            </a:endParaRPr>
          </a:p>
        </p:txBody>
      </p:sp>
      <p:sp>
        <p:nvSpPr>
          <p:cNvPr id="243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43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122</a:t>
            </a:r>
            <a:endParaRPr b="0" lang="en-US" sz="900" spc="-1" strike="noStrike">
              <a:solidFill>
                <a:srgbClr val="000000"/>
              </a:solidFill>
              <a:latin typeface="Arial"/>
            </a:endParaRPr>
          </a:p>
        </p:txBody>
      </p:sp>
      <p:cxnSp>
        <p:nvCxnSpPr>
          <p:cNvPr id="2433" name="Connector 8"/>
          <p:cNvCxnSpPr/>
          <p:nvPr/>
        </p:nvCxnSpPr>
        <p:spPr>
          <a:xfrm>
            <a:off x="1234440" y="4617720"/>
            <a:ext cx="5669640" cy="360"/>
          </a:xfrm>
          <a:prstGeom prst="straightConnector1">
            <a:avLst/>
          </a:prstGeom>
          <a:ln w="17145">
            <a:solidFill>
              <a:srgbClr val="1c2430"/>
            </a:solidFill>
            <a:round/>
          </a:ln>
        </p:spPr>
      </p:cxnSp>
      <p:cxnSp>
        <p:nvCxnSpPr>
          <p:cNvPr id="2434" name="Connector 9"/>
          <p:cNvCxnSpPr/>
          <p:nvPr/>
        </p:nvCxnSpPr>
        <p:spPr>
          <a:xfrm flipV="1">
            <a:off x="1234440" y="1828800"/>
            <a:ext cx="360" cy="2789280"/>
          </a:xfrm>
          <a:prstGeom prst="straightConnector1">
            <a:avLst/>
          </a:prstGeom>
          <a:ln w="17145">
            <a:solidFill>
              <a:srgbClr val="1c2430"/>
            </a:solidFill>
            <a:round/>
          </a:ln>
        </p:spPr>
      </p:cxnSp>
      <p:sp>
        <p:nvSpPr>
          <p:cNvPr id="2435" name="TextBox 10"/>
          <p:cNvSpPr/>
          <p:nvPr/>
        </p:nvSpPr>
        <p:spPr>
          <a:xfrm>
            <a:off x="1234440" y="4745880"/>
            <a:ext cx="5668920" cy="16020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050" spc="-1" strike="noStrike">
                <a:solidFill>
                  <a:srgbClr val="1c2430"/>
                </a:solidFill>
                <a:latin typeface="Segoe UI"/>
              </a:rPr>
              <a:t>Frecuencia  [Hz]  →</a:t>
            </a:r>
            <a:endParaRPr b="0" lang="en-US" sz="1050" spc="-1" strike="noStrike">
              <a:solidFill>
                <a:srgbClr val="000000"/>
              </a:solidFill>
              <a:latin typeface="Arial"/>
            </a:endParaRPr>
          </a:p>
        </p:txBody>
      </p:sp>
      <p:sp>
        <p:nvSpPr>
          <p:cNvPr id="2436" name="TextBox 11"/>
          <p:cNvSpPr/>
          <p:nvPr/>
        </p:nvSpPr>
        <p:spPr>
          <a:xfrm>
            <a:off x="182880" y="1536120"/>
            <a:ext cx="2559960" cy="1602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050" spc="-1" strike="noStrike">
                <a:solidFill>
                  <a:srgbClr val="1c2430"/>
                </a:solidFill>
                <a:latin typeface="Segoe UI"/>
              </a:rPr>
              <a:t>Ganancia  ↑</a:t>
            </a:r>
            <a:endParaRPr b="0" lang="en-US" sz="1050" spc="-1" strike="noStrike">
              <a:solidFill>
                <a:srgbClr val="000000"/>
              </a:solidFill>
              <a:latin typeface="Arial"/>
            </a:endParaRPr>
          </a:p>
        </p:txBody>
      </p:sp>
      <p:cxnSp>
        <p:nvCxnSpPr>
          <p:cNvPr id="2437" name="Connector 12"/>
          <p:cNvCxnSpPr/>
          <p:nvPr/>
        </p:nvCxnSpPr>
        <p:spPr>
          <a:xfrm>
            <a:off x="1234440" y="3835800"/>
            <a:ext cx="472680" cy="360"/>
          </a:xfrm>
          <a:prstGeom prst="straightConnector1">
            <a:avLst/>
          </a:prstGeom>
          <a:ln w="28575">
            <a:solidFill>
              <a:srgbClr val="c0392b"/>
            </a:solidFill>
            <a:round/>
          </a:ln>
        </p:spPr>
      </p:cxnSp>
      <p:cxnSp>
        <p:nvCxnSpPr>
          <p:cNvPr id="2438" name="Connector 13"/>
          <p:cNvCxnSpPr/>
          <p:nvPr/>
        </p:nvCxnSpPr>
        <p:spPr>
          <a:xfrm flipV="1">
            <a:off x="1706760" y="3809520"/>
            <a:ext cx="472680" cy="26640"/>
          </a:xfrm>
          <a:prstGeom prst="straightConnector1">
            <a:avLst/>
          </a:prstGeom>
          <a:ln w="28575">
            <a:solidFill>
              <a:srgbClr val="c0392b"/>
            </a:solidFill>
            <a:round/>
          </a:ln>
        </p:spPr>
      </p:cxnSp>
      <p:cxnSp>
        <p:nvCxnSpPr>
          <p:cNvPr id="2439" name="Connector 14"/>
          <p:cNvCxnSpPr/>
          <p:nvPr/>
        </p:nvCxnSpPr>
        <p:spPr>
          <a:xfrm flipV="1">
            <a:off x="2179080" y="3757680"/>
            <a:ext cx="473040" cy="52200"/>
          </a:xfrm>
          <a:prstGeom prst="straightConnector1">
            <a:avLst/>
          </a:prstGeom>
          <a:ln w="28575">
            <a:solidFill>
              <a:srgbClr val="c0392b"/>
            </a:solidFill>
            <a:round/>
          </a:ln>
        </p:spPr>
      </p:cxnSp>
      <p:cxnSp>
        <p:nvCxnSpPr>
          <p:cNvPr id="2440" name="Connector 15"/>
          <p:cNvCxnSpPr/>
          <p:nvPr/>
        </p:nvCxnSpPr>
        <p:spPr>
          <a:xfrm flipV="1">
            <a:off x="2651760" y="3627360"/>
            <a:ext cx="472680" cy="130680"/>
          </a:xfrm>
          <a:prstGeom prst="straightConnector1">
            <a:avLst/>
          </a:prstGeom>
          <a:ln w="28575">
            <a:solidFill>
              <a:srgbClr val="c0392b"/>
            </a:solidFill>
            <a:round/>
          </a:ln>
        </p:spPr>
      </p:cxnSp>
      <p:cxnSp>
        <p:nvCxnSpPr>
          <p:cNvPr id="2441" name="Connector 16"/>
          <p:cNvCxnSpPr/>
          <p:nvPr/>
        </p:nvCxnSpPr>
        <p:spPr>
          <a:xfrm flipV="1">
            <a:off x="3124080" y="3184200"/>
            <a:ext cx="472680" cy="443520"/>
          </a:xfrm>
          <a:prstGeom prst="straightConnector1">
            <a:avLst/>
          </a:prstGeom>
          <a:ln w="28575">
            <a:solidFill>
              <a:srgbClr val="c0392b"/>
            </a:solidFill>
            <a:round/>
          </a:ln>
        </p:spPr>
      </p:cxnSp>
      <p:cxnSp>
        <p:nvCxnSpPr>
          <p:cNvPr id="2442" name="Connector 17"/>
          <p:cNvCxnSpPr/>
          <p:nvPr/>
        </p:nvCxnSpPr>
        <p:spPr>
          <a:xfrm flipV="1">
            <a:off x="3596400" y="2220120"/>
            <a:ext cx="473040" cy="964440"/>
          </a:xfrm>
          <a:prstGeom prst="straightConnector1">
            <a:avLst/>
          </a:prstGeom>
          <a:ln w="28575">
            <a:solidFill>
              <a:srgbClr val="c0392b"/>
            </a:solidFill>
            <a:round/>
          </a:ln>
        </p:spPr>
      </p:cxnSp>
      <p:cxnSp>
        <p:nvCxnSpPr>
          <p:cNvPr id="2443" name="Connector 18"/>
          <p:cNvCxnSpPr/>
          <p:nvPr/>
        </p:nvCxnSpPr>
        <p:spPr>
          <a:xfrm>
            <a:off x="4069080" y="2220120"/>
            <a:ext cx="472680" cy="964440"/>
          </a:xfrm>
          <a:prstGeom prst="straightConnector1">
            <a:avLst/>
          </a:prstGeom>
          <a:ln w="28575">
            <a:solidFill>
              <a:srgbClr val="c0392b"/>
            </a:solidFill>
            <a:round/>
          </a:ln>
        </p:spPr>
      </p:cxnSp>
      <p:cxnSp>
        <p:nvCxnSpPr>
          <p:cNvPr id="2444" name="Connector 19"/>
          <p:cNvCxnSpPr/>
          <p:nvPr/>
        </p:nvCxnSpPr>
        <p:spPr>
          <a:xfrm>
            <a:off x="4541400" y="3184200"/>
            <a:ext cx="472680" cy="495360"/>
          </a:xfrm>
          <a:prstGeom prst="straightConnector1">
            <a:avLst/>
          </a:prstGeom>
          <a:ln w="28575">
            <a:solidFill>
              <a:srgbClr val="c0392b"/>
            </a:solidFill>
            <a:round/>
          </a:ln>
        </p:spPr>
      </p:cxnSp>
      <p:cxnSp>
        <p:nvCxnSpPr>
          <p:cNvPr id="2445" name="Connector 20"/>
          <p:cNvCxnSpPr/>
          <p:nvPr/>
        </p:nvCxnSpPr>
        <p:spPr>
          <a:xfrm>
            <a:off x="5013720" y="3679200"/>
            <a:ext cx="473040" cy="156960"/>
          </a:xfrm>
          <a:prstGeom prst="straightConnector1">
            <a:avLst/>
          </a:prstGeom>
          <a:ln w="28575">
            <a:solidFill>
              <a:srgbClr val="c0392b"/>
            </a:solidFill>
            <a:round/>
          </a:ln>
        </p:spPr>
      </p:cxnSp>
      <p:cxnSp>
        <p:nvCxnSpPr>
          <p:cNvPr id="2446" name="Connector 21"/>
          <p:cNvCxnSpPr/>
          <p:nvPr/>
        </p:nvCxnSpPr>
        <p:spPr>
          <a:xfrm>
            <a:off x="5486400" y="3835800"/>
            <a:ext cx="472680" cy="104400"/>
          </a:xfrm>
          <a:prstGeom prst="straightConnector1">
            <a:avLst/>
          </a:prstGeom>
          <a:ln w="28575">
            <a:solidFill>
              <a:srgbClr val="c0392b"/>
            </a:solidFill>
            <a:round/>
          </a:ln>
        </p:spPr>
      </p:cxnSp>
      <p:cxnSp>
        <p:nvCxnSpPr>
          <p:cNvPr id="2447" name="Connector 22"/>
          <p:cNvCxnSpPr/>
          <p:nvPr/>
        </p:nvCxnSpPr>
        <p:spPr>
          <a:xfrm>
            <a:off x="5958720" y="3939840"/>
            <a:ext cx="472680" cy="104760"/>
          </a:xfrm>
          <a:prstGeom prst="straightConnector1">
            <a:avLst/>
          </a:prstGeom>
          <a:ln w="28575">
            <a:solidFill>
              <a:srgbClr val="c0392b"/>
            </a:solidFill>
            <a:round/>
          </a:ln>
        </p:spPr>
      </p:cxnSp>
      <p:cxnSp>
        <p:nvCxnSpPr>
          <p:cNvPr id="2448" name="Connector 23"/>
          <p:cNvCxnSpPr/>
          <p:nvPr/>
        </p:nvCxnSpPr>
        <p:spPr>
          <a:xfrm>
            <a:off x="6431040" y="4044240"/>
            <a:ext cx="473040" cy="104400"/>
          </a:xfrm>
          <a:prstGeom prst="straightConnector1">
            <a:avLst/>
          </a:prstGeom>
          <a:ln w="28575">
            <a:solidFill>
              <a:srgbClr val="c0392b"/>
            </a:solidFill>
            <a:round/>
          </a:ln>
        </p:spPr>
      </p:cxnSp>
      <p:sp>
        <p:nvSpPr>
          <p:cNvPr id="2449" name="TextBox 24"/>
          <p:cNvSpPr/>
          <p:nvPr/>
        </p:nvSpPr>
        <p:spPr>
          <a:xfrm>
            <a:off x="2971800" y="1909440"/>
            <a:ext cx="2194200" cy="1450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950" spc="-1" strike="noStrike">
                <a:solidFill>
                  <a:srgbClr val="c0392b"/>
                </a:solidFill>
                <a:latin typeface="Segoe UI"/>
              </a:rPr>
              <a:t>pico de resonancia</a:t>
            </a:r>
            <a:endParaRPr b="0" lang="en-US" sz="950" spc="-1" strike="noStrike">
              <a:solidFill>
                <a:srgbClr val="000000"/>
              </a:solidFill>
              <a:latin typeface="Arial"/>
            </a:endParaRPr>
          </a:p>
        </p:txBody>
      </p:sp>
      <p:cxnSp>
        <p:nvCxnSpPr>
          <p:cNvPr id="2450" name="Connector 25"/>
          <p:cNvCxnSpPr/>
          <p:nvPr/>
        </p:nvCxnSpPr>
        <p:spPr>
          <a:xfrm>
            <a:off x="1234440" y="3835800"/>
            <a:ext cx="472680" cy="360"/>
          </a:xfrm>
          <a:prstGeom prst="straightConnector1">
            <a:avLst/>
          </a:prstGeom>
          <a:ln w="28575">
            <a:solidFill>
              <a:srgbClr val="2e8b57"/>
            </a:solidFill>
            <a:prstDash val="dash"/>
            <a:round/>
          </a:ln>
        </p:spPr>
      </p:cxnSp>
      <p:cxnSp>
        <p:nvCxnSpPr>
          <p:cNvPr id="2451" name="Connector 26"/>
          <p:cNvCxnSpPr/>
          <p:nvPr/>
        </p:nvCxnSpPr>
        <p:spPr>
          <a:xfrm flipV="1">
            <a:off x="1706760" y="3809520"/>
            <a:ext cx="472680" cy="26640"/>
          </a:xfrm>
          <a:prstGeom prst="straightConnector1">
            <a:avLst/>
          </a:prstGeom>
          <a:ln w="28575">
            <a:solidFill>
              <a:srgbClr val="2e8b57"/>
            </a:solidFill>
            <a:prstDash val="dash"/>
            <a:round/>
          </a:ln>
        </p:spPr>
      </p:cxnSp>
      <p:cxnSp>
        <p:nvCxnSpPr>
          <p:cNvPr id="2452" name="Connector 27"/>
          <p:cNvCxnSpPr/>
          <p:nvPr/>
        </p:nvCxnSpPr>
        <p:spPr>
          <a:xfrm flipV="1">
            <a:off x="2179080" y="3757680"/>
            <a:ext cx="473040" cy="52200"/>
          </a:xfrm>
          <a:prstGeom prst="straightConnector1">
            <a:avLst/>
          </a:prstGeom>
          <a:ln w="28575">
            <a:solidFill>
              <a:srgbClr val="2e8b57"/>
            </a:solidFill>
            <a:prstDash val="dash"/>
            <a:round/>
          </a:ln>
        </p:spPr>
      </p:cxnSp>
      <p:cxnSp>
        <p:nvCxnSpPr>
          <p:cNvPr id="2453" name="Connector 28"/>
          <p:cNvCxnSpPr/>
          <p:nvPr/>
        </p:nvCxnSpPr>
        <p:spPr>
          <a:xfrm flipV="1">
            <a:off x="2651760" y="3679200"/>
            <a:ext cx="472680" cy="78840"/>
          </a:xfrm>
          <a:prstGeom prst="straightConnector1">
            <a:avLst/>
          </a:prstGeom>
          <a:ln w="28575">
            <a:solidFill>
              <a:srgbClr val="2e8b57"/>
            </a:solidFill>
            <a:prstDash val="dash"/>
            <a:round/>
          </a:ln>
        </p:spPr>
      </p:cxnSp>
      <p:cxnSp>
        <p:nvCxnSpPr>
          <p:cNvPr id="2454" name="Connector 29"/>
          <p:cNvCxnSpPr/>
          <p:nvPr/>
        </p:nvCxnSpPr>
        <p:spPr>
          <a:xfrm>
            <a:off x="3124080" y="3679200"/>
            <a:ext cx="472680" cy="52560"/>
          </a:xfrm>
          <a:prstGeom prst="straightConnector1">
            <a:avLst/>
          </a:prstGeom>
          <a:ln w="28575">
            <a:solidFill>
              <a:srgbClr val="2e8b57"/>
            </a:solidFill>
            <a:prstDash val="dash"/>
            <a:round/>
          </a:ln>
        </p:spPr>
      </p:cxnSp>
      <p:cxnSp>
        <p:nvCxnSpPr>
          <p:cNvPr id="2455" name="Connector 30"/>
          <p:cNvCxnSpPr/>
          <p:nvPr/>
        </p:nvCxnSpPr>
        <p:spPr>
          <a:xfrm>
            <a:off x="3596400" y="3731400"/>
            <a:ext cx="473040" cy="573840"/>
          </a:xfrm>
          <a:prstGeom prst="straightConnector1">
            <a:avLst/>
          </a:prstGeom>
          <a:ln w="28575">
            <a:solidFill>
              <a:srgbClr val="2e8b57"/>
            </a:solidFill>
            <a:prstDash val="dash"/>
            <a:round/>
          </a:ln>
        </p:spPr>
      </p:cxnSp>
      <p:cxnSp>
        <p:nvCxnSpPr>
          <p:cNvPr id="2456" name="Connector 31"/>
          <p:cNvCxnSpPr/>
          <p:nvPr/>
        </p:nvCxnSpPr>
        <p:spPr>
          <a:xfrm flipV="1">
            <a:off x="4069080" y="3731400"/>
            <a:ext cx="472680" cy="573840"/>
          </a:xfrm>
          <a:prstGeom prst="straightConnector1">
            <a:avLst/>
          </a:prstGeom>
          <a:ln w="28575">
            <a:solidFill>
              <a:srgbClr val="2e8b57"/>
            </a:solidFill>
            <a:prstDash val="dash"/>
            <a:round/>
          </a:ln>
        </p:spPr>
      </p:cxnSp>
      <p:cxnSp>
        <p:nvCxnSpPr>
          <p:cNvPr id="2457" name="Connector 32"/>
          <p:cNvCxnSpPr/>
          <p:nvPr/>
        </p:nvCxnSpPr>
        <p:spPr>
          <a:xfrm>
            <a:off x="4541400" y="3731400"/>
            <a:ext cx="472680" cy="360"/>
          </a:xfrm>
          <a:prstGeom prst="straightConnector1">
            <a:avLst/>
          </a:prstGeom>
          <a:ln w="28575">
            <a:solidFill>
              <a:srgbClr val="2e8b57"/>
            </a:solidFill>
            <a:prstDash val="dash"/>
            <a:round/>
          </a:ln>
        </p:spPr>
      </p:cxnSp>
      <p:cxnSp>
        <p:nvCxnSpPr>
          <p:cNvPr id="2458" name="Connector 33"/>
          <p:cNvCxnSpPr/>
          <p:nvPr/>
        </p:nvCxnSpPr>
        <p:spPr>
          <a:xfrm>
            <a:off x="5013720" y="3731400"/>
            <a:ext cx="473040" cy="104760"/>
          </a:xfrm>
          <a:prstGeom prst="straightConnector1">
            <a:avLst/>
          </a:prstGeom>
          <a:ln w="28575">
            <a:solidFill>
              <a:srgbClr val="2e8b57"/>
            </a:solidFill>
            <a:prstDash val="dash"/>
            <a:round/>
          </a:ln>
        </p:spPr>
      </p:cxnSp>
      <p:cxnSp>
        <p:nvCxnSpPr>
          <p:cNvPr id="2459" name="Connector 34"/>
          <p:cNvCxnSpPr/>
          <p:nvPr/>
        </p:nvCxnSpPr>
        <p:spPr>
          <a:xfrm>
            <a:off x="5486400" y="3835800"/>
            <a:ext cx="472680" cy="104400"/>
          </a:xfrm>
          <a:prstGeom prst="straightConnector1">
            <a:avLst/>
          </a:prstGeom>
          <a:ln w="28575">
            <a:solidFill>
              <a:srgbClr val="2e8b57"/>
            </a:solidFill>
            <a:prstDash val="dash"/>
            <a:round/>
          </a:ln>
        </p:spPr>
      </p:cxnSp>
      <p:cxnSp>
        <p:nvCxnSpPr>
          <p:cNvPr id="2460" name="Connector 35"/>
          <p:cNvCxnSpPr/>
          <p:nvPr/>
        </p:nvCxnSpPr>
        <p:spPr>
          <a:xfrm>
            <a:off x="5958720" y="3939840"/>
            <a:ext cx="472680" cy="104760"/>
          </a:xfrm>
          <a:prstGeom prst="straightConnector1">
            <a:avLst/>
          </a:prstGeom>
          <a:ln w="28575">
            <a:solidFill>
              <a:srgbClr val="2e8b57"/>
            </a:solidFill>
            <a:prstDash val="dash"/>
            <a:round/>
          </a:ln>
        </p:spPr>
      </p:cxnSp>
      <p:cxnSp>
        <p:nvCxnSpPr>
          <p:cNvPr id="2461" name="Connector 36"/>
          <p:cNvCxnSpPr/>
          <p:nvPr/>
        </p:nvCxnSpPr>
        <p:spPr>
          <a:xfrm>
            <a:off x="6431040" y="4044240"/>
            <a:ext cx="473040" cy="104400"/>
          </a:xfrm>
          <a:prstGeom prst="straightConnector1">
            <a:avLst/>
          </a:prstGeom>
          <a:ln w="28575">
            <a:solidFill>
              <a:srgbClr val="2e8b57"/>
            </a:solidFill>
            <a:prstDash val="dash"/>
            <a:round/>
          </a:ln>
        </p:spPr>
      </p:cxnSp>
      <p:sp>
        <p:nvSpPr>
          <p:cNvPr id="2462" name="TextBox 37"/>
          <p:cNvSpPr/>
          <p:nvPr/>
        </p:nvSpPr>
        <p:spPr>
          <a:xfrm>
            <a:off x="3886200" y="4323240"/>
            <a:ext cx="23770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2e8b57"/>
                </a:solidFill>
                <a:latin typeface="Segoe UI"/>
              </a:rPr>
              <a:t>con filtro notch</a:t>
            </a:r>
            <a:endParaRPr b="0" lang="en-US" sz="950" spc="-1" strike="noStrike">
              <a:solidFill>
                <a:srgbClr val="000000"/>
              </a:solidFill>
              <a:latin typeface="Arial"/>
            </a:endParaRPr>
          </a:p>
        </p:txBody>
      </p:sp>
      <p:sp>
        <p:nvSpPr>
          <p:cNvPr id="2463" name="Rectangle 38"/>
          <p:cNvSpPr/>
          <p:nvPr/>
        </p:nvSpPr>
        <p:spPr>
          <a:xfrm>
            <a:off x="7452360" y="1627560"/>
            <a:ext cx="4160160" cy="411444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64" name="TextBox 39"/>
          <p:cNvSpPr/>
          <p:nvPr/>
        </p:nvSpPr>
        <p:spPr>
          <a:xfrm>
            <a:off x="7708320" y="1792080"/>
            <a:ext cx="365724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400" spc="-1" strike="noStrike">
                <a:solidFill>
                  <a:srgbClr val="0b2545"/>
                </a:solidFill>
                <a:latin typeface="Segoe UI"/>
              </a:rPr>
              <a:t>Procedimiento</a:t>
            </a:r>
            <a:endParaRPr b="0" lang="en-US" sz="1400" spc="-1" strike="noStrike">
              <a:solidFill>
                <a:srgbClr val="000000"/>
              </a:solidFill>
              <a:latin typeface="Arial"/>
            </a:endParaRPr>
          </a:p>
        </p:txBody>
      </p:sp>
      <p:sp>
        <p:nvSpPr>
          <p:cNvPr id="2465" name="TextBox 40"/>
          <p:cNvSpPr/>
          <p:nvPr/>
        </p:nvSpPr>
        <p:spPr>
          <a:xfrm>
            <a:off x="7708320" y="2212920"/>
            <a:ext cx="3657240" cy="2854800"/>
          </a:xfrm>
          <a:prstGeom prst="rect">
            <a:avLst/>
          </a:prstGeom>
          <a:noFill/>
          <a:ln w="0">
            <a:noFill/>
          </a:ln>
        </p:spPr>
        <p:style>
          <a:lnRef idx="0"/>
          <a:fillRef idx="0"/>
          <a:effectRef idx="0"/>
          <a:fontRef idx="minor"/>
        </p:style>
        <p:txBody>
          <a:bodyPr lIns="90000" rIns="90000" tIns="45000" bIns="45000" anchor="t">
            <a:spAutoFit/>
          </a:bodyPr>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Detectar: ruido agudo constante, normalmente entre cientos de hercios y algunos kilohercios.</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Medir: análisis en frecuencia (</a:t>
            </a:r>
            <a:r>
              <a:rPr b="1" lang="en-US" sz="1100" spc="-1" strike="noStrike">
                <a:solidFill>
                  <a:srgbClr val="1c2430"/>
                </a:solidFill>
                <a:latin typeface="Consolas"/>
              </a:rPr>
              <a:t>Fn206</a:t>
            </a:r>
            <a:r>
              <a:rPr b="1" lang="en-US" sz="1100" spc="-1" strike="noStrike">
                <a:solidFill>
                  <a:srgbClr val="1c2430"/>
                </a:solidFill>
                <a:latin typeface="Segoe UI"/>
              </a:rPr>
              <a:t> o análisis mecánico de SigmaWin+) para localizar el pico.</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Filtrar: introducir la frecuencia en </a:t>
            </a:r>
            <a:r>
              <a:rPr b="1" lang="en-US" sz="1100" spc="-1" strike="noStrike">
                <a:solidFill>
                  <a:srgbClr val="1c2430"/>
                </a:solidFill>
                <a:latin typeface="Consolas"/>
              </a:rPr>
              <a:t>Pn409</a:t>
            </a:r>
            <a:r>
              <a:rPr b="1" lang="en-US" sz="1100" spc="-1" strike="noStrike">
                <a:solidFill>
                  <a:srgbClr val="1c2430"/>
                </a:solidFill>
                <a:latin typeface="Segoe UI"/>
              </a:rPr>
              <a:t> y habilitar el filtro con </a:t>
            </a:r>
            <a:r>
              <a:rPr b="1" lang="en-US" sz="1100" spc="-1" strike="noStrike">
                <a:solidFill>
                  <a:srgbClr val="1c2430"/>
                </a:solidFill>
                <a:latin typeface="Consolas"/>
              </a:rPr>
              <a:t>Pn408</a:t>
            </a:r>
            <a:r>
              <a:rPr b="1" lang="en-US" sz="1100" spc="-1" strike="noStrike">
                <a:solidFill>
                  <a:srgbClr val="1c2430"/>
                </a:solidFill>
                <a:latin typeface="Segoe UI"/>
              </a:rPr>
              <a:t>.</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Afinar: factor Q (</a:t>
            </a:r>
            <a:r>
              <a:rPr b="1" lang="en-US" sz="1100" spc="-1" strike="noStrike">
                <a:solidFill>
                  <a:srgbClr val="1c2430"/>
                </a:solidFill>
                <a:latin typeface="Consolas"/>
              </a:rPr>
              <a:t>Pn40A</a:t>
            </a:r>
            <a:r>
              <a:rPr b="1" lang="en-US" sz="1100" spc="-1" strike="noStrike">
                <a:solidFill>
                  <a:srgbClr val="1c2430"/>
                </a:solidFill>
                <a:latin typeface="Segoe UI"/>
              </a:rPr>
              <a:t>) y profundidad (</a:t>
            </a:r>
            <a:r>
              <a:rPr b="1" lang="en-US" sz="1100" spc="-1" strike="noStrike">
                <a:solidFill>
                  <a:srgbClr val="1c2430"/>
                </a:solidFill>
                <a:latin typeface="Consolas"/>
              </a:rPr>
              <a:t>Pn40B</a:t>
            </a:r>
            <a:r>
              <a:rPr b="1" lang="en-US" sz="1100" spc="-1" strike="noStrike">
                <a:solidFill>
                  <a:srgbClr val="1c2430"/>
                </a:solidFill>
                <a:latin typeface="Segoe UI"/>
              </a:rPr>
              <a:t>). Hay un segundo filtro disponible para otra resonancia.</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00" spc="-1" strike="noStrike">
                <a:solidFill>
                  <a:srgbClr val="1c2430"/>
                </a:solidFill>
                <a:latin typeface="Segoe UI"/>
              </a:rPr>
              <a:t>Verificar: volver a subir la ganancia y comprobar que el ruido no reaparece.</a:t>
            </a:r>
            <a:endParaRPr b="0" lang="en-US" sz="1100" spc="-1" strike="noStrike">
              <a:solidFill>
                <a:srgbClr val="000000"/>
              </a:solidFill>
              <a:latin typeface="Arial"/>
            </a:endParaRPr>
          </a:p>
        </p:txBody>
      </p:sp>
      <p:sp>
        <p:nvSpPr>
          <p:cNvPr id="2466" name="Rectangle 41"/>
          <p:cNvSpPr/>
          <p:nvPr/>
        </p:nvSpPr>
        <p:spPr>
          <a:xfrm>
            <a:off x="567000" y="5760720"/>
            <a:ext cx="11063880" cy="56664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67" name="Rectangle 42"/>
          <p:cNvSpPr/>
          <p:nvPr/>
        </p:nvSpPr>
        <p:spPr>
          <a:xfrm>
            <a:off x="567000" y="5760720"/>
            <a:ext cx="68400" cy="56664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68" name="TextBox 43"/>
          <p:cNvSpPr/>
          <p:nvPr/>
        </p:nvSpPr>
        <p:spPr>
          <a:xfrm>
            <a:off x="841320" y="5897880"/>
            <a:ext cx="1056096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c0392b"/>
                </a:solidFill>
                <a:latin typeface="Segoe UI Semibold"/>
              </a:rPr>
              <a:t>El filtro notch no repara la mecánica: enmascara el síntoma. Si la resonancia procede de un acoplamiento flojo, arréglalo.</a:t>
            </a:r>
            <a:endParaRPr b="0" lang="en-US" sz="1200" spc="-1" strike="noStrike">
              <a:solidFill>
                <a:srgbClr val="000000"/>
              </a:solidFill>
              <a:latin typeface="Arial"/>
            </a:endParaRPr>
          </a:p>
        </p:txBody>
      </p:sp>
      <p:sp>
        <p:nvSpPr>
          <p:cNvPr id="2469" name="TextBox 44"/>
          <p:cNvSpPr/>
          <p:nvPr/>
        </p:nvSpPr>
        <p:spPr>
          <a:xfrm>
            <a:off x="841320" y="6172200"/>
            <a:ext cx="10560960" cy="63720"/>
          </a:xfrm>
          <a:prstGeom prst="rect">
            <a:avLst/>
          </a:prstGeom>
          <a:noFill/>
          <a:ln w="0">
            <a:noFill/>
          </a:ln>
        </p:spPr>
        <p:style>
          <a:lnRef idx="0"/>
          <a:fillRef idx="0"/>
          <a:effectRef idx="0"/>
          <a:fontRef idx="minor"/>
        </p:style>
        <p:txBody>
          <a:bodyPr lIns="0" rIns="0" tIns="0" bIns="0" anchor="t">
            <a:spAutoFit/>
          </a:bodyPr>
          <a:p>
            <a:pPr defTabSz="457200">
              <a:lnSpc>
                <a:spcPct val="106000"/>
              </a:lnSpc>
            </a:pPr>
            <a:endParaRPr b="0" lang="en-US" sz="1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0"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71"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472"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Vibración de baja frecuencia y control por modelo</a:t>
            </a:r>
            <a:endParaRPr b="0" lang="en-US" sz="2500" spc="-1" strike="noStrike">
              <a:solidFill>
                <a:srgbClr val="000000"/>
              </a:solidFill>
              <a:latin typeface="Arial"/>
            </a:endParaRPr>
          </a:p>
        </p:txBody>
      </p:sp>
      <p:sp>
        <p:nvSpPr>
          <p:cNvPr id="2473"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Dos herramientas que resuelven problemas que las ganancias no pueden</a:t>
            </a:r>
            <a:endParaRPr b="0" lang="en-US" sz="1250" spc="-1" strike="noStrike">
              <a:solidFill>
                <a:srgbClr val="000000"/>
              </a:solidFill>
              <a:latin typeface="Arial"/>
            </a:endParaRPr>
          </a:p>
        </p:txBody>
      </p:sp>
      <p:sp>
        <p:nvSpPr>
          <p:cNvPr id="2474"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09</a:t>
            </a:r>
            <a:endParaRPr b="0" lang="en-US" sz="1100" spc="-1" strike="noStrike">
              <a:solidFill>
                <a:srgbClr val="000000"/>
              </a:solidFill>
              <a:latin typeface="Arial"/>
            </a:endParaRPr>
          </a:p>
        </p:txBody>
      </p:sp>
      <p:sp>
        <p:nvSpPr>
          <p:cNvPr id="2475"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476"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123</a:t>
            </a:r>
            <a:endParaRPr b="0" lang="en-US" sz="900" spc="-1" strike="noStrike">
              <a:solidFill>
                <a:srgbClr val="000000"/>
              </a:solidFill>
              <a:latin typeface="Arial"/>
            </a:endParaRPr>
          </a:p>
        </p:txBody>
      </p:sp>
      <p:sp>
        <p:nvSpPr>
          <p:cNvPr id="2477" name="Rectangle 8"/>
          <p:cNvSpPr/>
          <p:nvPr/>
        </p:nvSpPr>
        <p:spPr>
          <a:xfrm>
            <a:off x="5670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78" name="Rectangle 9"/>
          <p:cNvSpPr/>
          <p:nvPr/>
        </p:nvSpPr>
        <p:spPr>
          <a:xfrm>
            <a:off x="567000" y="1481400"/>
            <a:ext cx="5373000" cy="42012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79"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Vibración de baja frecuencia (estructura)</a:t>
            </a:r>
            <a:endParaRPr b="0" lang="en-US" sz="1350" spc="-1" strike="noStrike">
              <a:solidFill>
                <a:srgbClr val="000000"/>
              </a:solidFill>
              <a:latin typeface="Arial"/>
            </a:endParaRPr>
          </a:p>
        </p:txBody>
      </p:sp>
      <p:sp>
        <p:nvSpPr>
          <p:cNvPr id="2480" name="TextBox 11"/>
          <p:cNvSpPr/>
          <p:nvPr/>
        </p:nvSpPr>
        <p:spPr>
          <a:xfrm>
            <a:off x="768240" y="2048400"/>
            <a:ext cx="4970880" cy="297396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Síntoma: el eje llega al destino y la máquina entera oscila durante unas décimas de segundo antes de quedarse quieta.</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Causa: la estructura (pórtico, brazo, torre) tiene una frecuencia propia baja, típicamente entre 1 y 100 Hz, que el movimiento excita.</a:t>
            </a:r>
            <a:endParaRPr b="0" lang="en-US" sz="1200" spc="-1" strike="noStrike">
              <a:solidFill>
                <a:srgbClr val="000000"/>
              </a:solidFill>
              <a:latin typeface="Arial"/>
            </a:endParaRPr>
          </a:p>
          <a:p>
            <a:pPr defTabSz="457200">
              <a:lnSpc>
                <a:spcPct val="106000"/>
              </a:lnSpc>
              <a:spcBef>
                <a:spcPts val="799"/>
              </a:spcBef>
              <a:spcAft>
                <a:spcPts val="901"/>
              </a:spcAft>
              <a:tabLst>
                <a:tab algn="l" pos="0"/>
              </a:tabLst>
            </a:pPr>
            <a:r>
              <a:rPr b="1" lang="en-US" sz="1150" spc="-1" strike="noStrike">
                <a:solidFill>
                  <a:srgbClr val="1b5ea8"/>
                </a:solidFill>
                <a:latin typeface="Segoe UI Semibold"/>
              </a:rPr>
              <a:t>Solución en el drive</a:t>
            </a:r>
            <a:endParaRPr b="0" lang="en-US" sz="11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Función de supresión de vibración (</a:t>
            </a:r>
            <a:r>
              <a:rPr b="0" lang="en-US" sz="1050" spc="-1" strike="noStrike">
                <a:solidFill>
                  <a:srgbClr val="333f4c"/>
                </a:solidFill>
                <a:latin typeface="Consolas"/>
              </a:rPr>
              <a:t>Fn205</a:t>
            </a:r>
            <a:r>
              <a:rPr b="0" lang="en-US" sz="1050" spc="-1" strike="noStrike">
                <a:solidFill>
                  <a:srgbClr val="333f4c"/>
                </a:solidFill>
                <a:latin typeface="Segoe UI"/>
              </a:rPr>
              <a:t>) y parámetro de frecuencia </a:t>
            </a:r>
            <a:r>
              <a:rPr b="0" lang="en-US" sz="1050" spc="-1" strike="noStrike">
                <a:solidFill>
                  <a:srgbClr val="333f4c"/>
                </a:solidFill>
                <a:latin typeface="Consolas"/>
              </a:rPr>
              <a:t>Pn14A</a:t>
            </a:r>
            <a:r>
              <a:rPr b="0" lang="en-US" sz="1050" spc="-1" strike="noStrike">
                <a:solidFill>
                  <a:srgbClr val="333f4c"/>
                </a:solidFill>
                <a:latin typeface="Segoe UI"/>
              </a:rPr>
              <a:t>.</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El drive conforma la consigna para no excitar esa frecuencia.</a:t>
            </a:r>
            <a:endParaRPr b="0" lang="en-US" sz="1050" spc="-1" strike="noStrike">
              <a:solidFill>
                <a:srgbClr val="000000"/>
              </a:solidFill>
              <a:latin typeface="Arial"/>
            </a:endParaRPr>
          </a:p>
          <a:p>
            <a:pPr defTabSz="457200">
              <a:lnSpc>
                <a:spcPct val="106000"/>
              </a:lnSpc>
              <a:spcBef>
                <a:spcPts val="799"/>
              </a:spcBef>
              <a:spcAft>
                <a:spcPts val="901"/>
              </a:spcAft>
              <a:tabLst>
                <a:tab algn="l" pos="0"/>
              </a:tabLst>
            </a:pPr>
            <a:r>
              <a:rPr b="1" lang="en-US" sz="1150" spc="-1" strike="noStrike">
                <a:solidFill>
                  <a:srgbClr val="1b5ea8"/>
                </a:solidFill>
                <a:latin typeface="Segoe UI Semibold"/>
              </a:rPr>
              <a:t>Solución mecánica</a:t>
            </a:r>
            <a:endParaRPr b="0" lang="en-US" sz="11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Rigidizar la estructura o usar perfiles de movimiento en S que limiten el 'jerk'.</a:t>
            </a:r>
            <a:endParaRPr b="0" lang="en-US" sz="1050" spc="-1" strike="noStrike">
              <a:solidFill>
                <a:srgbClr val="000000"/>
              </a:solidFill>
              <a:latin typeface="Arial"/>
            </a:endParaRPr>
          </a:p>
        </p:txBody>
      </p:sp>
      <p:sp>
        <p:nvSpPr>
          <p:cNvPr id="2481" name="Rectangle 12"/>
          <p:cNvSpPr/>
          <p:nvPr/>
        </p:nvSpPr>
        <p:spPr>
          <a:xfrm>
            <a:off x="62514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82" name="Rectangle 13"/>
          <p:cNvSpPr/>
          <p:nvPr/>
        </p:nvSpPr>
        <p:spPr>
          <a:xfrm>
            <a:off x="6251400" y="1481400"/>
            <a:ext cx="5373000" cy="4201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83"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Control por modelo de referencia (</a:t>
            </a:r>
            <a:r>
              <a:rPr b="1" lang="en-US" sz="1350" spc="-1" strike="noStrike">
                <a:solidFill>
                  <a:srgbClr val="ffffff"/>
                </a:solidFill>
                <a:latin typeface="Consolas"/>
              </a:rPr>
              <a:t>Pn140</a:t>
            </a:r>
            <a:r>
              <a:rPr b="1" lang="en-US" sz="1350" spc="-1" strike="noStrike">
                <a:solidFill>
                  <a:srgbClr val="ffffff"/>
                </a:solidFill>
                <a:latin typeface="Segoe UI Semibold"/>
              </a:rPr>
              <a:t>)</a:t>
            </a:r>
            <a:endParaRPr b="0" lang="en-US" sz="1350" spc="-1" strike="noStrike">
              <a:solidFill>
                <a:srgbClr val="000000"/>
              </a:solidFill>
              <a:latin typeface="Arial"/>
            </a:endParaRPr>
          </a:p>
        </p:txBody>
      </p:sp>
      <p:sp>
        <p:nvSpPr>
          <p:cNvPr id="2484" name="TextBox 15"/>
          <p:cNvSpPr/>
          <p:nvPr/>
        </p:nvSpPr>
        <p:spPr>
          <a:xfrm>
            <a:off x="6452640" y="2048400"/>
            <a:ext cx="4970880" cy="291456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El drive calcula internamente cómo debería moverse el eje ideal y usa ese modelo para anticipar el mando.</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Permite reducir mucho el error de seguimiento sin subir las ganancias del lazo de realimentación, que son las que provocan inestabilidad.</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Es la razón principal de que un eje Σ-X bien configurado posicione más rápido que uno de generación anterior con las mismas ganancias.</a:t>
            </a:r>
            <a:endParaRPr b="0" lang="en-US" sz="1220" spc="-1" strike="noStrike">
              <a:solidFill>
                <a:srgbClr val="000000"/>
              </a:solidFill>
              <a:latin typeface="Arial"/>
            </a:endParaRPr>
          </a:p>
          <a:p>
            <a:pPr defTabSz="457200">
              <a:lnSpc>
                <a:spcPct val="106000"/>
              </a:lnSpc>
              <a:spcBef>
                <a:spcPts val="799"/>
              </a:spcBef>
              <a:spcAft>
                <a:spcPts val="901"/>
              </a:spcAft>
              <a:tabLst>
                <a:tab algn="l" pos="0"/>
              </a:tabLst>
            </a:pPr>
            <a:r>
              <a:rPr b="1" lang="en-US" sz="1180" spc="-1" strike="noStrike">
                <a:solidFill>
                  <a:srgbClr val="1b5ea8"/>
                </a:solidFill>
                <a:latin typeface="Segoe UI Semibold"/>
              </a:rPr>
              <a:t>Cuándo usarlo</a:t>
            </a:r>
            <a:endParaRPr b="0" lang="en-US" sz="118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70" spc="-1" strike="noStrike">
                <a:solidFill>
                  <a:srgbClr val="333f4c"/>
                </a:solidFill>
                <a:latin typeface="Segoe UI"/>
              </a:rPr>
              <a:t>En posicionado punto a punto: muy recomendable.</a:t>
            </a:r>
            <a:endParaRPr b="0" lang="en-US" sz="10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70" spc="-1" strike="noStrike">
                <a:solidFill>
                  <a:srgbClr val="333f4c"/>
                </a:solidFill>
                <a:latin typeface="Segoe UI"/>
              </a:rPr>
              <a:t>En interpolación con varios ejes: hay que verificar que </a:t>
            </a:r>
            <a:r>
              <a:rPr b="1" lang="en-US" sz="1070" spc="-1" strike="noStrike">
                <a:solidFill>
                  <a:srgbClr val="333f4c"/>
                </a:solidFill>
                <a:latin typeface="Segoe UI"/>
              </a:rPr>
              <a:t>todos</a:t>
            </a:r>
            <a:r>
              <a:rPr b="0" lang="en-US" sz="1070" spc="-1" strike="noStrike">
                <a:solidFill>
                  <a:srgbClr val="333f4c"/>
                </a:solidFill>
                <a:latin typeface="Segoe UI"/>
              </a:rPr>
              <a:t> los ejes se comportan igual, o aparecerán errores de contorno.</a:t>
            </a:r>
            <a:endParaRPr b="0" lang="en-US" sz="1070" spc="-1" strike="noStrike">
              <a:solidFill>
                <a:srgbClr val="000000"/>
              </a:solidFill>
              <a:latin typeface="Arial"/>
            </a:endParaRPr>
          </a:p>
        </p:txBody>
      </p:sp>
      <p:sp>
        <p:nvSpPr>
          <p:cNvPr id="2485" name="Rectangle 16"/>
          <p:cNvSpPr/>
          <p:nvPr/>
        </p:nvSpPr>
        <p:spPr>
          <a:xfrm>
            <a:off x="567000" y="5459040"/>
            <a:ext cx="11057400" cy="868320"/>
          </a:xfrm>
          <a:prstGeom prst="rect">
            <a:avLst/>
          </a:prstGeom>
          <a:solidFill>
            <a:srgbClr val="e4f2ea"/>
          </a:solidFill>
          <a:ln>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86" name="Rectangle 17"/>
          <p:cNvSpPr/>
          <p:nvPr/>
        </p:nvSpPr>
        <p:spPr>
          <a:xfrm>
            <a:off x="567000" y="5459040"/>
            <a:ext cx="68400" cy="86832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87" name="TextBox 18"/>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2e8b57"/>
                </a:solidFill>
                <a:latin typeface="Segoe UI Semibold"/>
              </a:rPr>
              <a:t>Cómo identificar la frecuencia de la vibración</a:t>
            </a:r>
            <a:endParaRPr b="0" lang="en-US" sz="1200" spc="-1" strike="noStrike">
              <a:solidFill>
                <a:srgbClr val="000000"/>
              </a:solidFill>
              <a:latin typeface="Arial"/>
            </a:endParaRPr>
          </a:p>
        </p:txBody>
      </p:sp>
      <p:sp>
        <p:nvSpPr>
          <p:cNvPr id="2488" name="TextBox 19"/>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Con la traza de SigmaWin+: captura la señal de par o de velocidad al final del posicionado, mide el periodo de la oscilación y calcula su inversa. Ese es el número que hay que introducir.</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9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491"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Diagnóstico por síntomas: qué tocar en cada caso</a:t>
            </a:r>
            <a:endParaRPr b="0" lang="en-US" sz="2500" spc="-1" strike="noStrike">
              <a:solidFill>
                <a:srgbClr val="000000"/>
              </a:solidFill>
              <a:latin typeface="Arial"/>
            </a:endParaRPr>
          </a:p>
        </p:txBody>
      </p:sp>
      <p:sp>
        <p:nvSpPr>
          <p:cNvPr id="249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tabla que hay que llevar encima al ajustar un eje</a:t>
            </a:r>
            <a:endParaRPr b="0" lang="en-US" sz="1250" spc="-1" strike="noStrike">
              <a:solidFill>
                <a:srgbClr val="000000"/>
              </a:solidFill>
              <a:latin typeface="Arial"/>
            </a:endParaRPr>
          </a:p>
        </p:txBody>
      </p:sp>
      <p:sp>
        <p:nvSpPr>
          <p:cNvPr id="249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09</a:t>
            </a:r>
            <a:endParaRPr b="0" lang="en-US" sz="1100" spc="-1" strike="noStrike">
              <a:solidFill>
                <a:srgbClr val="000000"/>
              </a:solidFill>
              <a:latin typeface="Arial"/>
            </a:endParaRPr>
          </a:p>
        </p:txBody>
      </p:sp>
      <p:sp>
        <p:nvSpPr>
          <p:cNvPr id="249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49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124</a:t>
            </a:r>
            <a:endParaRPr b="0" lang="en-US" sz="900" spc="-1" strike="noStrike">
              <a:solidFill>
                <a:srgbClr val="000000"/>
              </a:solidFill>
              <a:latin typeface="Arial"/>
            </a:endParaRPr>
          </a:p>
        </p:txBody>
      </p:sp>
      <p:graphicFrame>
        <p:nvGraphicFramePr>
          <p:cNvPr id="2496" name="Table 8"/>
          <p:cNvGraphicFramePr/>
          <p:nvPr/>
        </p:nvGraphicFramePr>
        <p:xfrm>
          <a:off x="567000" y="1481400"/>
          <a:ext cx="11057400" cy="4845960"/>
        </p:xfrm>
        <a:graphic>
          <a:graphicData uri="http://schemas.openxmlformats.org/drawingml/2006/table">
            <a:tbl>
              <a:tblPr/>
              <a:tblGrid>
                <a:gridCol w="3198240"/>
                <a:gridCol w="3564000"/>
                <a:gridCol w="429516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Síntoma observado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Causa más probable</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Qué hacer</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499680">
                <a:tc>
                  <a:txBody>
                    <a:bodyPr lIns="82080" rIns="82080" tIns="27360" bIns="27360" anchor="ctr">
                      <a:noAutofit/>
                    </a:bodyPr>
                    <a:p>
                      <a:pPr defTabSz="457200">
                        <a:lnSpc>
                          <a:spcPct val="100000"/>
                        </a:lnSpc>
                      </a:pPr>
                      <a:r>
                        <a:rPr b="0" lang="en-US" sz="950" spc="-1" strike="noStrike">
                          <a:solidFill>
                            <a:srgbClr val="1c2430"/>
                          </a:solidFill>
                          <a:latin typeface="Segoe UI"/>
                        </a:rPr>
                        <a:t>Zumbido agudo continuo con el eje parado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Ganancia de velocidad demasiado alta o resonancia mecánica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Bajar </a:t>
                      </a:r>
                      <a:r>
                        <a:rPr b="0" lang="en-US" sz="950" spc="-1" strike="noStrike">
                          <a:solidFill>
                            <a:srgbClr val="1c2430"/>
                          </a:solidFill>
                          <a:latin typeface="Consolas"/>
                        </a:rPr>
                        <a:t>Pn100</a:t>
                      </a:r>
                      <a:r>
                        <a:rPr b="0" lang="en-US" sz="950" spc="-1" strike="noStrike">
                          <a:solidFill>
                            <a:srgbClr val="1c2430"/>
                          </a:solidFill>
                          <a:latin typeface="Segoe UI"/>
                        </a:rPr>
                        <a:t>; si persiste, buscar la frecuencia con </a:t>
                      </a:r>
                      <a:r>
                        <a:rPr b="0" lang="en-US" sz="950" spc="-1" strike="noStrike">
                          <a:solidFill>
                            <a:srgbClr val="1c2430"/>
                          </a:solidFill>
                          <a:latin typeface="Consolas"/>
                        </a:rPr>
                        <a:t>Fn206</a:t>
                      </a:r>
                      <a:r>
                        <a:rPr b="0" lang="en-US" sz="950" spc="-1" strike="noStrike">
                          <a:solidFill>
                            <a:srgbClr val="1c2430"/>
                          </a:solidFill>
                          <a:latin typeface="Segoe UI"/>
                        </a:rPr>
                        <a:t> y poner notch</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99680">
                <a:tc>
                  <a:txBody>
                    <a:bodyPr lIns="82080" rIns="82080" tIns="27360" bIns="27360" anchor="ctr">
                      <a:noAutofit/>
                    </a:bodyPr>
                    <a:p>
                      <a:pPr defTabSz="457200">
                        <a:lnSpc>
                          <a:spcPct val="100000"/>
                        </a:lnSpc>
                      </a:pPr>
                      <a:r>
                        <a:rPr b="0" lang="en-US" sz="950" spc="-1" strike="noStrike">
                          <a:solidFill>
                            <a:srgbClr val="1c2430"/>
                          </a:solidFill>
                          <a:latin typeface="Segoe UI"/>
                        </a:rPr>
                        <a:t>El eje oscila lentamente al llegar al destino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Integral demasiado agresiva o relación de inercias mal ajustada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Revisar </a:t>
                      </a:r>
                      <a:r>
                        <a:rPr b="0" lang="en-US" sz="950" spc="-1" strike="noStrike">
                          <a:solidFill>
                            <a:srgbClr val="1c2430"/>
                          </a:solidFill>
                          <a:latin typeface="Consolas"/>
                        </a:rPr>
                        <a:t>Pn103</a:t>
                      </a:r>
                      <a:r>
                        <a:rPr b="0" lang="en-US" sz="950" spc="-1" strike="noStrike">
                          <a:solidFill>
                            <a:srgbClr val="1c2430"/>
                          </a:solidFill>
                          <a:latin typeface="Segoe UI"/>
                        </a:rPr>
                        <a:t>; subir </a:t>
                      </a:r>
                      <a:r>
                        <a:rPr b="0" lang="en-US" sz="950" spc="-1" strike="noStrike">
                          <a:solidFill>
                            <a:srgbClr val="1c2430"/>
                          </a:solidFill>
                          <a:latin typeface="Consolas"/>
                        </a:rPr>
                        <a:t>Pn101</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99680">
                <a:tc>
                  <a:txBody>
                    <a:bodyPr lIns="82080" rIns="82080" tIns="27360" bIns="27360" anchor="ctr">
                      <a:noAutofit/>
                    </a:bodyPr>
                    <a:p>
                      <a:pPr defTabSz="457200">
                        <a:lnSpc>
                          <a:spcPct val="100000"/>
                        </a:lnSpc>
                      </a:pPr>
                      <a:r>
                        <a:rPr b="0" lang="en-US" sz="950" spc="-1" strike="noStrike">
                          <a:solidFill>
                            <a:srgbClr val="1c2430"/>
                          </a:solidFill>
                          <a:latin typeface="Segoe UI"/>
                        </a:rPr>
                        <a:t>Sobrepasamiento del destino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Ganancia de posición alta respecto a la de velocidad</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Bajar </a:t>
                      </a:r>
                      <a:r>
                        <a:rPr b="0" lang="en-US" sz="950" spc="-1" strike="noStrike">
                          <a:solidFill>
                            <a:srgbClr val="1c2430"/>
                          </a:solidFill>
                          <a:latin typeface="Consolas"/>
                        </a:rPr>
                        <a:t>Pn102</a:t>
                      </a:r>
                      <a:r>
                        <a:rPr b="0" lang="en-US" sz="950" spc="-1" strike="noStrike">
                          <a:solidFill>
                            <a:srgbClr val="1c2430"/>
                          </a:solidFill>
                          <a:latin typeface="Segoe UI"/>
                        </a:rPr>
                        <a:t> o subir </a:t>
                      </a:r>
                      <a:r>
                        <a:rPr b="0" lang="en-US" sz="950" spc="-1" strike="noStrike">
                          <a:solidFill>
                            <a:srgbClr val="1c2430"/>
                          </a:solidFill>
                          <a:latin typeface="Consolas"/>
                        </a:rPr>
                        <a:t>Pn100</a:t>
                      </a:r>
                      <a:r>
                        <a:rPr b="0" lang="en-US" sz="950" spc="-1" strike="noStrike">
                          <a:solidFill>
                            <a:srgbClr val="1c2430"/>
                          </a:solidFill>
                          <a:latin typeface="Segoe UI"/>
                        </a:rPr>
                        <a:t>; activar control por modelo </a:t>
                      </a:r>
                      <a:r>
                        <a:rPr b="0" lang="en-US" sz="950" spc="-1" strike="noStrike">
                          <a:solidFill>
                            <a:srgbClr val="1c2430"/>
                          </a:solidFill>
                          <a:latin typeface="Consolas"/>
                        </a:rPr>
                        <a:t>Pn140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99680">
                <a:tc>
                  <a:txBody>
                    <a:bodyPr lIns="82080" rIns="82080" tIns="27360" bIns="27360" anchor="ctr">
                      <a:noAutofit/>
                    </a:bodyPr>
                    <a:p>
                      <a:pPr defTabSz="457200">
                        <a:lnSpc>
                          <a:spcPct val="100000"/>
                        </a:lnSpc>
                      </a:pPr>
                      <a:r>
                        <a:rPr b="0" lang="en-US" sz="950" spc="-1" strike="noStrike">
                          <a:solidFill>
                            <a:srgbClr val="1c2430"/>
                          </a:solidFill>
                          <a:latin typeface="Segoe UI"/>
                        </a:rPr>
                        <a:t>Error de seguimiento grande durante el movimiento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Ganancia de posición baja o falta de prealimentación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Subir </a:t>
                      </a:r>
                      <a:r>
                        <a:rPr b="0" lang="en-US" sz="950" spc="-1" strike="noStrike">
                          <a:solidFill>
                            <a:srgbClr val="1c2430"/>
                          </a:solidFill>
                          <a:latin typeface="Consolas"/>
                        </a:rPr>
                        <a:t>Pn102</a:t>
                      </a:r>
                      <a:r>
                        <a:rPr b="0" lang="en-US" sz="950" spc="-1" strike="noStrike">
                          <a:solidFill>
                            <a:srgbClr val="1c2430"/>
                          </a:solidFill>
                          <a:latin typeface="Segoe UI"/>
                        </a:rPr>
                        <a:t>; activar </a:t>
                      </a:r>
                      <a:r>
                        <a:rPr b="0" lang="en-US" sz="950" spc="-1" strike="noStrike">
                          <a:solidFill>
                            <a:srgbClr val="1c2430"/>
                          </a:solidFill>
                          <a:latin typeface="Consolas"/>
                        </a:rPr>
                        <a:t>Pn140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99680">
                <a:tc>
                  <a:txBody>
                    <a:bodyPr lIns="82080" rIns="82080" tIns="27360" bIns="27360" anchor="ctr">
                      <a:noAutofit/>
                    </a:bodyPr>
                    <a:p>
                      <a:pPr defTabSz="457200">
                        <a:lnSpc>
                          <a:spcPct val="100000"/>
                        </a:lnSpc>
                      </a:pPr>
                      <a:r>
                        <a:rPr b="0" lang="en-US" sz="950" spc="-1" strike="noStrike">
                          <a:solidFill>
                            <a:srgbClr val="1c2430"/>
                          </a:solidFill>
                          <a:latin typeface="Segoe UI"/>
                        </a:rPr>
                        <a:t>El eje 'tiembla' a muy baja velocidad</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Fricción de arranque (stick-slip) o ganancia insuficiente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Compensación de fricción; revisar mecánica y lubricación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99680">
                <a:tc>
                  <a:txBody>
                    <a:bodyPr lIns="82080" rIns="82080" tIns="27360" bIns="27360" anchor="ctr">
                      <a:noAutofit/>
                    </a:bodyPr>
                    <a:p>
                      <a:pPr defTabSz="457200">
                        <a:lnSpc>
                          <a:spcPct val="100000"/>
                        </a:lnSpc>
                      </a:pPr>
                      <a:r>
                        <a:rPr b="0" lang="en-US" sz="950" spc="-1" strike="noStrike">
                          <a:solidFill>
                            <a:srgbClr val="1c2430"/>
                          </a:solidFill>
                          <a:latin typeface="Segoe UI"/>
                        </a:rPr>
                        <a:t>Toda la máquina oscila tras el posicionado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Vibración de baja frecuencia de la estructura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Fn205</a:t>
                      </a:r>
                      <a:r>
                        <a:rPr b="0" lang="en-US" sz="950" spc="-1" strike="noStrike">
                          <a:solidFill>
                            <a:srgbClr val="1c2430"/>
                          </a:solidFill>
                          <a:latin typeface="Segoe UI"/>
                        </a:rPr>
                        <a:t> / </a:t>
                      </a:r>
                      <a:r>
                        <a:rPr b="0" lang="en-US" sz="950" spc="-1" strike="noStrike">
                          <a:solidFill>
                            <a:srgbClr val="1c2430"/>
                          </a:solidFill>
                          <a:latin typeface="Consolas"/>
                        </a:rPr>
                        <a:t>Pn14A</a:t>
                      </a:r>
                      <a:r>
                        <a:rPr b="0" lang="en-US" sz="950" spc="-1" strike="noStrike">
                          <a:solidFill>
                            <a:srgbClr val="1c2430"/>
                          </a:solidFill>
                          <a:latin typeface="Segoe UI"/>
                        </a:rPr>
                        <a:t>; considerar perfil en 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99680">
                <a:tc>
                  <a:txBody>
                    <a:bodyPr lIns="82080" rIns="82080" tIns="27360" bIns="27360" anchor="ctr">
                      <a:noAutofit/>
                    </a:bodyPr>
                    <a:p>
                      <a:pPr defTabSz="457200">
                        <a:lnSpc>
                          <a:spcPct val="100000"/>
                        </a:lnSpc>
                      </a:pPr>
                      <a:r>
                        <a:rPr b="0" lang="en-US" sz="950" spc="-1" strike="noStrike">
                          <a:solidFill>
                            <a:srgbClr val="1c2430"/>
                          </a:solidFill>
                          <a:latin typeface="Segoe UI"/>
                        </a:rPr>
                        <a:t>Ruido que aparece sólo con carga acoplada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Resonancia del conjunto acoplamiento-carga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Filtro notch; valorar acoplamiento más rígido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99680">
                <a:tc>
                  <a:txBody>
                    <a:bodyPr lIns="82080" rIns="82080" tIns="27360" bIns="27360" anchor="ctr">
                      <a:noAutofit/>
                    </a:bodyPr>
                    <a:p>
                      <a:pPr defTabSz="457200">
                        <a:lnSpc>
                          <a:spcPct val="100000"/>
                        </a:lnSpc>
                      </a:pPr>
                      <a:r>
                        <a:rPr b="0" lang="en-US" sz="950" spc="-1" strike="noStrike">
                          <a:solidFill>
                            <a:srgbClr val="1c2430"/>
                          </a:solidFill>
                          <a:latin typeface="Segoe UI"/>
                        </a:rPr>
                        <a:t>El comportamiento cambia según la posición del eje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Rigidez variable del conjunto mecánico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Conmutación de ganancias; ajustar para el caso más desfavorable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99680">
                <a:tc>
                  <a:txBody>
                    <a:bodyPr lIns="82080" rIns="82080" tIns="27360" bIns="27360" anchor="ctr">
                      <a:noAutofit/>
                    </a:bodyPr>
                    <a:p>
                      <a:pPr defTabSz="457200">
                        <a:lnSpc>
                          <a:spcPct val="100000"/>
                        </a:lnSpc>
                      </a:pPr>
                      <a:r>
                        <a:rPr b="0" lang="en-US" sz="950" spc="-1" strike="noStrike">
                          <a:solidFill>
                            <a:srgbClr val="1c2430"/>
                          </a:solidFill>
                          <a:latin typeface="Segoe UI"/>
                        </a:rPr>
                        <a:t>El eje empeora con los meses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Desgaste, holgura o lubricación deficiente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Revisión mecánica </a:t>
                      </a:r>
                      <a:r>
                        <a:rPr b="1" lang="en-US" sz="950" spc="-1" strike="noStrike">
                          <a:solidFill>
                            <a:srgbClr val="1c2430"/>
                          </a:solidFill>
                          <a:latin typeface="Segoe UI"/>
                        </a:rPr>
                        <a:t>antes</a:t>
                      </a:r>
                      <a:r>
                        <a:rPr b="0" lang="en-US" sz="950" spc="-1" strike="noStrike">
                          <a:solidFill>
                            <a:srgbClr val="1c2430"/>
                          </a:solidFill>
                          <a:latin typeface="Segoe UI"/>
                        </a:rPr>
                        <a:t> de retocar ganancias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1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97"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498"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499"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Errores frecuentes al sintonizar</a:t>
            </a:r>
            <a:endParaRPr b="0" lang="en-US" sz="2500" spc="-1" strike="noStrike">
              <a:solidFill>
                <a:srgbClr val="000000"/>
              </a:solidFill>
              <a:latin typeface="Arial"/>
            </a:endParaRPr>
          </a:p>
        </p:txBody>
      </p:sp>
      <p:sp>
        <p:nvSpPr>
          <p:cNvPr id="2500"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Lo que separa un ajuste que dura de uno que dura una semana</a:t>
            </a:r>
            <a:endParaRPr b="0" lang="en-US" sz="1250" spc="-1" strike="noStrike">
              <a:solidFill>
                <a:srgbClr val="000000"/>
              </a:solidFill>
              <a:latin typeface="Arial"/>
            </a:endParaRPr>
          </a:p>
        </p:txBody>
      </p:sp>
      <p:sp>
        <p:nvSpPr>
          <p:cNvPr id="2501"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09</a:t>
            </a:r>
            <a:endParaRPr b="0" lang="en-US" sz="1100" spc="-1" strike="noStrike">
              <a:solidFill>
                <a:srgbClr val="000000"/>
              </a:solidFill>
              <a:latin typeface="Arial"/>
            </a:endParaRPr>
          </a:p>
        </p:txBody>
      </p:sp>
      <p:sp>
        <p:nvSpPr>
          <p:cNvPr id="2502"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503"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125</a:t>
            </a:r>
            <a:endParaRPr b="0" lang="en-US" sz="900" spc="-1" strike="noStrike">
              <a:solidFill>
                <a:srgbClr val="000000"/>
              </a:solidFill>
              <a:latin typeface="Arial"/>
            </a:endParaRPr>
          </a:p>
        </p:txBody>
      </p:sp>
      <p:sp>
        <p:nvSpPr>
          <p:cNvPr id="2504" name="TextBox 8"/>
          <p:cNvSpPr/>
          <p:nvPr/>
        </p:nvSpPr>
        <p:spPr>
          <a:xfrm>
            <a:off x="567000" y="1481400"/>
            <a:ext cx="11057400" cy="384084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850" spc="-1" strike="noStrike">
                <a:solidFill>
                  <a:srgbClr val="1b5ea8"/>
                </a:solidFill>
                <a:latin typeface="Segoe UI Semibold"/>
              </a:rPr>
              <a:t>De método</a:t>
            </a:r>
            <a:endParaRPr b="0" lang="en-US" sz="8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00" spc="-1" strike="noStrike">
                <a:solidFill>
                  <a:srgbClr val="1c2430"/>
                </a:solidFill>
                <a:latin typeface="Segoe UI"/>
              </a:rPr>
              <a:t>Cambiar varios parámetros a la vez: imposible saber qué ha funcionado.</a:t>
            </a:r>
            <a:endParaRPr b="0" lang="en-US" sz="9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00" spc="-1" strike="noStrike">
                <a:solidFill>
                  <a:srgbClr val="1c2430"/>
                </a:solidFill>
                <a:latin typeface="Segoe UI"/>
              </a:rPr>
              <a:t>Ajustar sin medir: sin traza sólo hay impresiones subjetivas.</a:t>
            </a:r>
            <a:endParaRPr b="0" lang="en-US" sz="9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00" spc="-1" strike="noStrike">
                <a:solidFill>
                  <a:srgbClr val="1c2430"/>
                </a:solidFill>
                <a:latin typeface="Segoe UI"/>
              </a:rPr>
              <a:t>Ajustar en vacío y suponer que valdrá con carga.</a:t>
            </a:r>
            <a:endParaRPr b="0" lang="en-US" sz="9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00" spc="-1" strike="noStrike">
                <a:solidFill>
                  <a:srgbClr val="1c2430"/>
                </a:solidFill>
                <a:latin typeface="Segoe UI"/>
              </a:rPr>
              <a:t>No guardar el punto de partida: quedarse sin marcha atrás.</a:t>
            </a:r>
            <a:endParaRPr b="0" lang="en-US" sz="90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850" spc="-1" strike="noStrike">
                <a:solidFill>
                  <a:srgbClr val="1b5ea8"/>
                </a:solidFill>
                <a:latin typeface="Segoe UI Semibold"/>
              </a:rPr>
              <a:t>De concepto</a:t>
            </a:r>
            <a:endParaRPr b="0" lang="en-US" sz="8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00" spc="-1" strike="noStrike">
                <a:solidFill>
                  <a:srgbClr val="1c2430"/>
                </a:solidFill>
                <a:latin typeface="Segoe UI"/>
              </a:rPr>
              <a:t>Empezar por el lazo de posición en lugar de por el de velocidad.</a:t>
            </a:r>
            <a:endParaRPr b="0" lang="en-US" sz="9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00" spc="-1" strike="noStrike">
                <a:solidFill>
                  <a:srgbClr val="1c2430"/>
                </a:solidFill>
                <a:latin typeface="Segoe UI"/>
              </a:rPr>
              <a:t>Olvidar </a:t>
            </a:r>
            <a:r>
              <a:rPr b="1" lang="en-US" sz="900" spc="-1" strike="noStrike">
                <a:solidFill>
                  <a:srgbClr val="1c2430"/>
                </a:solidFill>
                <a:latin typeface="Consolas"/>
              </a:rPr>
              <a:t>Pn103</a:t>
            </a:r>
            <a:r>
              <a:rPr b="1" lang="en-US" sz="900" spc="-1" strike="noStrike">
                <a:solidFill>
                  <a:srgbClr val="1c2430"/>
                </a:solidFill>
                <a:latin typeface="Segoe UI"/>
              </a:rPr>
              <a:t>: con la relación de inercias mal puesta, ningún ajuste posterior es coherente.</a:t>
            </a:r>
            <a:endParaRPr b="0" lang="en-US" sz="9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00" spc="-1" strike="noStrike">
                <a:solidFill>
                  <a:srgbClr val="1c2430"/>
                </a:solidFill>
                <a:latin typeface="Segoe UI"/>
              </a:rPr>
              <a:t>Dejar activo el tuning-less mientras se ajusta a mano.</a:t>
            </a:r>
            <a:endParaRPr b="0" lang="en-US" sz="9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00" spc="-1" strike="noStrike">
                <a:solidFill>
                  <a:srgbClr val="1c2430"/>
                </a:solidFill>
                <a:latin typeface="Segoe UI"/>
              </a:rPr>
              <a:t>Subir ganancias para tapar un problema mecánico: el ruido desaparece un tiempo y el desgaste se acelera.</a:t>
            </a:r>
            <a:endParaRPr b="0" lang="en-US" sz="900" spc="-1" strike="noStrike">
              <a:solidFill>
                <a:srgbClr val="000000"/>
              </a:solidFill>
              <a:latin typeface="Arial"/>
            </a:endParaRPr>
          </a:p>
          <a:p>
            <a:pPr defTabSz="457200">
              <a:lnSpc>
                <a:spcPct val="106000"/>
              </a:lnSpc>
              <a:spcAft>
                <a:spcPts val="901"/>
              </a:spcAft>
              <a:tabLst>
                <a:tab algn="l" pos="0"/>
              </a:tabLst>
            </a:pPr>
            <a:r>
              <a:rPr b="0" lang="en-US" sz="600" spc="-1" strike="noStrike">
                <a:solidFill>
                  <a:srgbClr val="1c2430"/>
                </a:solidFill>
                <a:latin typeface="Segoe UI"/>
              </a:rPr>
              <a:t> </a:t>
            </a:r>
            <a:endParaRPr b="0" lang="en-US" sz="600" spc="-1" strike="noStrike">
              <a:solidFill>
                <a:srgbClr val="000000"/>
              </a:solidFill>
              <a:latin typeface="Arial"/>
            </a:endParaRPr>
          </a:p>
          <a:p>
            <a:pPr defTabSz="457200">
              <a:lnSpc>
                <a:spcPct val="106000"/>
              </a:lnSpc>
              <a:spcBef>
                <a:spcPts val="799"/>
              </a:spcBef>
              <a:spcAft>
                <a:spcPts val="901"/>
              </a:spcAft>
              <a:tabLst>
                <a:tab algn="l" pos="0"/>
              </a:tabLst>
            </a:pPr>
            <a:r>
              <a:rPr b="1" lang="en-US" sz="850" spc="-1" strike="noStrike">
                <a:solidFill>
                  <a:srgbClr val="1b5ea8"/>
                </a:solidFill>
                <a:latin typeface="Segoe UI Semibold"/>
              </a:rPr>
              <a:t>De criterio</a:t>
            </a:r>
            <a:endParaRPr b="0" lang="en-US" sz="8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900" spc="-1" strike="noStrike">
                <a:solidFill>
                  <a:srgbClr val="1c2430"/>
                </a:solidFill>
                <a:latin typeface="Segoe UI"/>
              </a:rPr>
              <a:t>Buscar el máximo de ganancia en lugar del ajuste adecuado a la aplicación. Un eje al límite de estabilidad hoy será inestable cuando cambien la temperatura, la lubricación o la carga.</a:t>
            </a:r>
            <a:endParaRPr b="0" lang="en-US" sz="9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750" spc="-1" strike="noStrike">
                <a:solidFill>
                  <a:srgbClr val="333f4c"/>
                </a:solidFill>
                <a:latin typeface="Segoe UI"/>
              </a:rPr>
              <a:t>Deja siempre un </a:t>
            </a:r>
            <a:r>
              <a:rPr b="1" lang="en-US" sz="750" spc="-1" strike="noStrike">
                <a:solidFill>
                  <a:srgbClr val="333f4c"/>
                </a:solidFill>
                <a:latin typeface="Segoe UI"/>
              </a:rPr>
              <a:t>margen de estabilidad</a:t>
            </a:r>
            <a:r>
              <a:rPr b="0" lang="en-US" sz="750" spc="-1" strike="noStrike">
                <a:solidFill>
                  <a:srgbClr val="333f4c"/>
                </a:solidFill>
                <a:latin typeface="Segoe UI"/>
              </a:rPr>
              <a:t> razonable: la máquina tiene que funcionar en agosto y en enero, nueva y con dos años de uso.</a:t>
            </a:r>
            <a:endParaRPr b="0" lang="en-US" sz="750" spc="-1" strike="noStrike">
              <a:solidFill>
                <a:srgbClr val="000000"/>
              </a:solidFill>
              <a:latin typeface="Arial"/>
            </a:endParaRPr>
          </a:p>
        </p:txBody>
      </p:sp>
      <p:sp>
        <p:nvSpPr>
          <p:cNvPr id="2505" name="Rectangle 9"/>
          <p:cNvSpPr/>
          <p:nvPr/>
        </p:nvSpPr>
        <p:spPr>
          <a:xfrm>
            <a:off x="567000" y="5459040"/>
            <a:ext cx="11057400" cy="86832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06" name="Rectangle 10"/>
          <p:cNvSpPr/>
          <p:nvPr/>
        </p:nvSpPr>
        <p:spPr>
          <a:xfrm>
            <a:off x="567000" y="5459040"/>
            <a:ext cx="68400" cy="8683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07" name="TextBox 11"/>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1b5ea8"/>
                </a:solidFill>
                <a:latin typeface="Segoe UI Semibold"/>
              </a:rPr>
              <a:t>El criterio del profesional</a:t>
            </a:r>
            <a:endParaRPr b="0" lang="en-US" sz="1200" spc="-1" strike="noStrike">
              <a:solidFill>
                <a:srgbClr val="000000"/>
              </a:solidFill>
              <a:latin typeface="Arial"/>
            </a:endParaRPr>
          </a:p>
        </p:txBody>
      </p:sp>
      <p:sp>
        <p:nvSpPr>
          <p:cNvPr id="2508" name="TextBox 12"/>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Un eje bien sintonizado no es el más rápido posible: es el que cumple el ciclo con margen, sin ruido, sin desgaste anómalo y sin volver a dar problemas en dos años.</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9" name="Rectangle 1"/>
          <p:cNvSpPr/>
          <p:nvPr/>
        </p:nvSpPr>
        <p:spPr>
          <a:xfrm>
            <a:off x="0" y="0"/>
            <a:ext cx="12191400" cy="68576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10" name="Rectangle 2"/>
          <p:cNvSpPr/>
          <p:nvPr/>
        </p:nvSpPr>
        <p:spPr>
          <a:xfrm>
            <a:off x="0" y="0"/>
            <a:ext cx="383760" cy="6857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11" name="TextBox 3"/>
          <p:cNvSpPr/>
          <p:nvPr/>
        </p:nvSpPr>
        <p:spPr>
          <a:xfrm>
            <a:off x="1051560" y="1234440"/>
            <a:ext cx="5486040" cy="8841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5800" spc="-1" strike="noStrike">
                <a:solidFill>
                  <a:srgbClr val="143a63"/>
                </a:solidFill>
                <a:latin typeface="Segoe UI Semibold"/>
              </a:rPr>
              <a:t>MÓDULO 10</a:t>
            </a:r>
            <a:endParaRPr b="0" lang="en-US" sz="5800" spc="-1" strike="noStrike">
              <a:solidFill>
                <a:srgbClr val="000000"/>
              </a:solidFill>
              <a:latin typeface="Arial"/>
            </a:endParaRPr>
          </a:p>
        </p:txBody>
      </p:sp>
      <p:sp>
        <p:nvSpPr>
          <p:cNvPr id="2512" name="TextBox 4"/>
          <p:cNvSpPr/>
          <p:nvPr/>
        </p:nvSpPr>
        <p:spPr>
          <a:xfrm>
            <a:off x="1051560" y="2331720"/>
            <a:ext cx="9875160" cy="54396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1" lang="en-US" sz="3400" spc="-1" strike="noStrike">
                <a:solidFill>
                  <a:srgbClr val="ffffff"/>
                </a:solidFill>
                <a:latin typeface="Segoe UI Semibold"/>
              </a:rPr>
              <a:t>Seguridad funcional: STO / HWBB</a:t>
            </a:r>
            <a:endParaRPr b="0" lang="en-US" sz="3400" spc="-1" strike="noStrike">
              <a:solidFill>
                <a:srgbClr val="000000"/>
              </a:solidFill>
              <a:latin typeface="Arial"/>
            </a:endParaRPr>
          </a:p>
        </p:txBody>
      </p:sp>
      <p:sp>
        <p:nvSpPr>
          <p:cNvPr id="2513" name="Rectangle 5"/>
          <p:cNvSpPr/>
          <p:nvPr/>
        </p:nvSpPr>
        <p:spPr>
          <a:xfrm>
            <a:off x="1051560" y="3703320"/>
            <a:ext cx="1279800" cy="453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2514" name="Rectangle 6"/>
          <p:cNvSpPr/>
          <p:nvPr/>
        </p:nvSpPr>
        <p:spPr>
          <a:xfrm>
            <a:off x="1051560" y="41468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15" name="TextBox 7"/>
          <p:cNvSpPr/>
          <p:nvPr/>
        </p:nvSpPr>
        <p:spPr>
          <a:xfrm>
            <a:off x="1325880" y="40690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El marco normativo en dos diapositivas</a:t>
            </a:r>
            <a:endParaRPr b="0" lang="en-US" sz="1350" spc="-1" strike="noStrike">
              <a:solidFill>
                <a:srgbClr val="000000"/>
              </a:solidFill>
              <a:latin typeface="Arial"/>
            </a:endParaRPr>
          </a:p>
        </p:txBody>
      </p:sp>
      <p:sp>
        <p:nvSpPr>
          <p:cNvPr id="2516" name="Rectangle 8"/>
          <p:cNvSpPr/>
          <p:nvPr/>
        </p:nvSpPr>
        <p:spPr>
          <a:xfrm>
            <a:off x="1051560" y="451260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17" name="TextBox 9"/>
          <p:cNvSpPr/>
          <p:nvPr/>
        </p:nvSpPr>
        <p:spPr>
          <a:xfrm>
            <a:off x="1325880" y="443484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Qué es realmente la función HWBB del SERVOPACK</a:t>
            </a:r>
            <a:endParaRPr b="0" lang="en-US" sz="1350" spc="-1" strike="noStrike">
              <a:solidFill>
                <a:srgbClr val="000000"/>
              </a:solidFill>
              <a:latin typeface="Arial"/>
            </a:endParaRPr>
          </a:p>
        </p:txBody>
      </p:sp>
      <p:sp>
        <p:nvSpPr>
          <p:cNvPr id="2518" name="Rectangle 10"/>
          <p:cNvSpPr/>
          <p:nvPr/>
        </p:nvSpPr>
        <p:spPr>
          <a:xfrm>
            <a:off x="1051560" y="487836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19" name="TextBox 11"/>
          <p:cNvSpPr/>
          <p:nvPr/>
        </p:nvSpPr>
        <p:spPr>
          <a:xfrm>
            <a:off x="1325880" y="480060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Cableado de </a:t>
            </a:r>
            <a:r>
              <a:rPr b="0" lang="en-US" sz="1350" spc="-1" strike="noStrike">
                <a:solidFill>
                  <a:srgbClr val="c9dcee"/>
                </a:solidFill>
                <a:latin typeface="Consolas"/>
              </a:rPr>
              <a:t>CN8</a:t>
            </a:r>
            <a:r>
              <a:rPr b="0" lang="en-US" sz="1350" spc="-1" strike="noStrike">
                <a:solidFill>
                  <a:srgbClr val="c9dcee"/>
                </a:solidFill>
                <a:latin typeface="Segoe UI"/>
              </a:rPr>
              <a:t> y señal de vigilancia EDM</a:t>
            </a:r>
            <a:endParaRPr b="0" lang="en-US" sz="1350" spc="-1" strike="noStrike">
              <a:solidFill>
                <a:srgbClr val="000000"/>
              </a:solidFill>
              <a:latin typeface="Arial"/>
            </a:endParaRPr>
          </a:p>
        </p:txBody>
      </p:sp>
      <p:sp>
        <p:nvSpPr>
          <p:cNvPr id="2520" name="Rectangle 12"/>
          <p:cNvSpPr/>
          <p:nvPr/>
        </p:nvSpPr>
        <p:spPr>
          <a:xfrm>
            <a:off x="1051560" y="524412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21" name="TextBox 13"/>
          <p:cNvSpPr/>
          <p:nvPr/>
        </p:nvSpPr>
        <p:spPr>
          <a:xfrm>
            <a:off x="1325880" y="516636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STO no es parada de emergencia: diferencias y límites</a:t>
            </a:r>
            <a:endParaRPr b="0" lang="en-US" sz="1350" spc="-1" strike="noStrike">
              <a:solidFill>
                <a:srgbClr val="000000"/>
              </a:solidFill>
              <a:latin typeface="Arial"/>
            </a:endParaRPr>
          </a:p>
        </p:txBody>
      </p:sp>
      <p:sp>
        <p:nvSpPr>
          <p:cNvPr id="2522" name="Rectangle 14"/>
          <p:cNvSpPr/>
          <p:nvPr/>
        </p:nvSpPr>
        <p:spPr>
          <a:xfrm>
            <a:off x="1051560" y="560988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23" name="TextBox 15"/>
          <p:cNvSpPr/>
          <p:nvPr/>
        </p:nvSpPr>
        <p:spPr>
          <a:xfrm>
            <a:off x="1325880" y="553212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Validación, documentación y pruebas periódicas</a:t>
            </a:r>
            <a:endParaRPr b="0" lang="en-US" sz="1350" spc="-1" strike="noStrike">
              <a:solidFill>
                <a:srgbClr val="000000"/>
              </a:solidFill>
              <a:latin typeface="Arial"/>
            </a:endParaRPr>
          </a:p>
        </p:txBody>
      </p:sp>
      <p:sp>
        <p:nvSpPr>
          <p:cNvPr id="2524" name="TextBox 16"/>
          <p:cNvSpPr/>
          <p:nvPr/>
        </p:nvSpPr>
        <p:spPr>
          <a:xfrm>
            <a:off x="1051560" y="6172200"/>
            <a:ext cx="73148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e89b1f"/>
                </a:solidFill>
                <a:latin typeface="Segoe UI"/>
              </a:rPr>
              <a:t>Duración orientativa: 2,5 h</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2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527"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El marco normativo, en lo que afecta al servo</a:t>
            </a:r>
            <a:endParaRPr b="0" lang="en-US" sz="2500" spc="-1" strike="noStrike">
              <a:solidFill>
                <a:srgbClr val="000000"/>
              </a:solidFill>
              <a:latin typeface="Arial"/>
            </a:endParaRPr>
          </a:p>
        </p:txBody>
      </p:sp>
      <p:sp>
        <p:nvSpPr>
          <p:cNvPr id="252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Dos familias de normas, un objetivo común</a:t>
            </a:r>
            <a:endParaRPr b="0" lang="en-US" sz="1250" spc="-1" strike="noStrike">
              <a:solidFill>
                <a:srgbClr val="000000"/>
              </a:solidFill>
              <a:latin typeface="Arial"/>
            </a:endParaRPr>
          </a:p>
        </p:txBody>
      </p:sp>
      <p:sp>
        <p:nvSpPr>
          <p:cNvPr id="252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10</a:t>
            </a:r>
            <a:endParaRPr b="0" lang="en-US" sz="1100" spc="-1" strike="noStrike">
              <a:solidFill>
                <a:srgbClr val="000000"/>
              </a:solidFill>
              <a:latin typeface="Arial"/>
            </a:endParaRPr>
          </a:p>
        </p:txBody>
      </p:sp>
      <p:sp>
        <p:nvSpPr>
          <p:cNvPr id="253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53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127</a:t>
            </a:r>
            <a:endParaRPr b="0" lang="en-US" sz="900" spc="-1" strike="noStrike">
              <a:solidFill>
                <a:srgbClr val="000000"/>
              </a:solidFill>
              <a:latin typeface="Arial"/>
            </a:endParaRPr>
          </a:p>
        </p:txBody>
      </p:sp>
      <p:sp>
        <p:nvSpPr>
          <p:cNvPr id="2532" name="Rectangle 8"/>
          <p:cNvSpPr/>
          <p:nvPr/>
        </p:nvSpPr>
        <p:spPr>
          <a:xfrm>
            <a:off x="5670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33" name="Rectangle 9"/>
          <p:cNvSpPr/>
          <p:nvPr/>
        </p:nvSpPr>
        <p:spPr>
          <a:xfrm>
            <a:off x="567000" y="1481400"/>
            <a:ext cx="5373000" cy="4201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34"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Las normas que vas a oír nombrar</a:t>
            </a:r>
            <a:endParaRPr b="0" lang="en-US" sz="1350" spc="-1" strike="noStrike">
              <a:solidFill>
                <a:srgbClr val="000000"/>
              </a:solidFill>
              <a:latin typeface="Arial"/>
            </a:endParaRPr>
          </a:p>
        </p:txBody>
      </p:sp>
      <p:sp>
        <p:nvSpPr>
          <p:cNvPr id="2535" name="TextBox 11"/>
          <p:cNvSpPr/>
          <p:nvPr/>
        </p:nvSpPr>
        <p:spPr>
          <a:xfrm>
            <a:off x="768240" y="2048400"/>
            <a:ext cx="4970880" cy="295740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EN ISO 12100 — Principios generales para el diseño y la evaluación de riesgos de las máquinas.</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EN ISO 13849-1 — Partes de los sistemas de mando relativas a la seguridad. Habla de niveles de prestaciones (PL a … PL e) y de categorías de arquitectura.</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IEC 61508 / IEC 62061 — Enfoque de seguridad funcional electrónica. Habla de niveles de integridad (SIL 1 … SIL 3).</a:t>
            </a:r>
            <a:endParaRPr b="0" lang="en-US" sz="13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50" spc="-1" strike="noStrike">
                <a:solidFill>
                  <a:srgbClr val="1c2430"/>
                </a:solidFill>
                <a:latin typeface="Segoe UI"/>
              </a:rPr>
              <a:t>IEC 61800-5-2 — Define las funciones de seguridad específicas de los accionamientos: STO, SS1, SS2, SLS, SOS…</a:t>
            </a:r>
            <a:endParaRPr b="0" lang="en-US" sz="1350" spc="-1" strike="noStrike">
              <a:solidFill>
                <a:srgbClr val="000000"/>
              </a:solidFill>
              <a:latin typeface="Arial"/>
            </a:endParaRPr>
          </a:p>
        </p:txBody>
      </p:sp>
      <p:sp>
        <p:nvSpPr>
          <p:cNvPr id="2536" name="Rectangle 12"/>
          <p:cNvSpPr/>
          <p:nvPr/>
        </p:nvSpPr>
        <p:spPr>
          <a:xfrm>
            <a:off x="62514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37" name="Rectangle 13"/>
          <p:cNvSpPr/>
          <p:nvPr/>
        </p:nvSpPr>
        <p:spPr>
          <a:xfrm>
            <a:off x="6251400" y="1481400"/>
            <a:ext cx="5373000" cy="42012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38"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Lo que aporta el SERVOPACK</a:t>
            </a:r>
            <a:endParaRPr b="0" lang="en-US" sz="1350" spc="-1" strike="noStrike">
              <a:solidFill>
                <a:srgbClr val="000000"/>
              </a:solidFill>
              <a:latin typeface="Arial"/>
            </a:endParaRPr>
          </a:p>
        </p:txBody>
      </p:sp>
      <p:sp>
        <p:nvSpPr>
          <p:cNvPr id="2539" name="TextBox 15"/>
          <p:cNvSpPr/>
          <p:nvPr/>
        </p:nvSpPr>
        <p:spPr>
          <a:xfrm>
            <a:off x="6452640" y="2048400"/>
            <a:ext cx="4970880" cy="278028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La función STO (Safe Torque Off), implementada en la Σ-X como HWBB (Hard Wire Baseblock).</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Capacidad típica declarada de SIL 3 (IEC 61508) y PL e / categoría 3 (ISO 13849-1) cuando se cablea correctamente.</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Dos canales independientes de desactivación y una salida de vigilancia (EDM) para que el módulo de seguridad compruebe que el drive ha respondido.</a:t>
            </a:r>
            <a:endParaRPr b="0" lang="en-US" sz="1220" spc="-1" strike="noStrike">
              <a:solidFill>
                <a:srgbClr val="000000"/>
              </a:solidFill>
              <a:latin typeface="Arial"/>
            </a:endParaRPr>
          </a:p>
          <a:p>
            <a:pPr defTabSz="457200">
              <a:lnSpc>
                <a:spcPct val="106000"/>
              </a:lnSpc>
              <a:spcBef>
                <a:spcPts val="799"/>
              </a:spcBef>
              <a:spcAft>
                <a:spcPts val="901"/>
              </a:spcAft>
              <a:tabLst>
                <a:tab algn="l" pos="0"/>
              </a:tabLst>
            </a:pPr>
            <a:r>
              <a:rPr b="1" lang="en-US" sz="1180" spc="-1" strike="noStrike">
                <a:solidFill>
                  <a:srgbClr val="1b5ea8"/>
                </a:solidFill>
                <a:latin typeface="Segoe UI Semibold"/>
              </a:rPr>
              <a:t>Qué NO aporta</a:t>
            </a:r>
            <a:endParaRPr b="0" lang="en-US" sz="118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70" spc="-1" strike="noStrike">
                <a:solidFill>
                  <a:srgbClr val="333f4c"/>
                </a:solidFill>
                <a:latin typeface="Segoe UI"/>
              </a:rPr>
              <a:t>No es una parada de emergencia por sí sola.</a:t>
            </a:r>
            <a:endParaRPr b="0" lang="en-US" sz="10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70" spc="-1" strike="noStrike">
                <a:solidFill>
                  <a:srgbClr val="333f4c"/>
                </a:solidFill>
                <a:latin typeface="Segoe UI"/>
              </a:rPr>
              <a:t>No mantiene la carga en un eje vertical.</a:t>
            </a:r>
            <a:endParaRPr b="0" lang="en-US" sz="10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70" spc="-1" strike="noStrike">
                <a:solidFill>
                  <a:srgbClr val="333f4c"/>
                </a:solidFill>
                <a:latin typeface="Segoe UI"/>
              </a:rPr>
              <a:t>No garantiza que el eje esté parado: garantiza que </a:t>
            </a:r>
            <a:r>
              <a:rPr b="1" lang="en-US" sz="1070" spc="-1" strike="noStrike">
                <a:solidFill>
                  <a:srgbClr val="333f4c"/>
                </a:solidFill>
                <a:latin typeface="Segoe UI"/>
              </a:rPr>
              <a:t>no habrá par</a:t>
            </a:r>
            <a:r>
              <a:rPr b="0" lang="en-US" sz="1070" spc="-1" strike="noStrike">
                <a:solidFill>
                  <a:srgbClr val="333f4c"/>
                </a:solidFill>
                <a:latin typeface="Segoe UI"/>
              </a:rPr>
              <a:t>.</a:t>
            </a:r>
            <a:endParaRPr b="0" lang="en-US" sz="1070" spc="-1" strike="noStrike">
              <a:solidFill>
                <a:srgbClr val="000000"/>
              </a:solidFill>
              <a:latin typeface="Arial"/>
            </a:endParaRPr>
          </a:p>
        </p:txBody>
      </p:sp>
      <p:sp>
        <p:nvSpPr>
          <p:cNvPr id="2540" name="Rectangle 16"/>
          <p:cNvSpPr/>
          <p:nvPr/>
        </p:nvSpPr>
        <p:spPr>
          <a:xfrm>
            <a:off x="567000" y="5459040"/>
            <a:ext cx="11057400" cy="86832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41" name="Rectangle 17"/>
          <p:cNvSpPr/>
          <p:nvPr/>
        </p:nvSpPr>
        <p:spPr>
          <a:xfrm>
            <a:off x="567000" y="5459040"/>
            <a:ext cx="68400" cy="86832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42" name="TextBox 18"/>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El nivel de seguridad es del sistema, no del componente</a:t>
            </a:r>
            <a:endParaRPr b="0" lang="en-US" sz="1200" spc="-1" strike="noStrike">
              <a:solidFill>
                <a:srgbClr val="000000"/>
              </a:solidFill>
              <a:latin typeface="Arial"/>
            </a:endParaRPr>
          </a:p>
        </p:txBody>
      </p:sp>
      <p:sp>
        <p:nvSpPr>
          <p:cNvPr id="2543" name="TextBox 19"/>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Que el drive sea apto para SIL 3 / PL e no significa que tu máquina lo sea. El nivel resultante depende de toda la cadena: sensor, lógica de seguridad, cableado y actuador, y de su diagnóstico.</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4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4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54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La función HWBB y el conector </a:t>
            </a:r>
            <a:r>
              <a:rPr b="1" lang="en-US" sz="2500" spc="-1" strike="noStrike">
                <a:solidFill>
                  <a:srgbClr val="ffffff"/>
                </a:solidFill>
                <a:latin typeface="Consolas"/>
              </a:rPr>
              <a:t>CN8</a:t>
            </a:r>
            <a:endParaRPr b="0" lang="en-US" sz="2500" spc="-1" strike="noStrike">
              <a:solidFill>
                <a:srgbClr val="000000"/>
              </a:solidFill>
              <a:latin typeface="Arial"/>
            </a:endParaRPr>
          </a:p>
        </p:txBody>
      </p:sp>
      <p:sp>
        <p:nvSpPr>
          <p:cNvPr id="254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Dos canales de desactivación y una señal de vigilancia</a:t>
            </a:r>
            <a:endParaRPr b="0" lang="en-US" sz="1250" spc="-1" strike="noStrike">
              <a:solidFill>
                <a:srgbClr val="000000"/>
              </a:solidFill>
              <a:latin typeface="Arial"/>
            </a:endParaRPr>
          </a:p>
        </p:txBody>
      </p:sp>
      <p:sp>
        <p:nvSpPr>
          <p:cNvPr id="254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10</a:t>
            </a:r>
            <a:endParaRPr b="0" lang="en-US" sz="1100" spc="-1" strike="noStrike">
              <a:solidFill>
                <a:srgbClr val="000000"/>
              </a:solidFill>
              <a:latin typeface="Arial"/>
            </a:endParaRPr>
          </a:p>
        </p:txBody>
      </p:sp>
      <p:sp>
        <p:nvSpPr>
          <p:cNvPr id="254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55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128</a:t>
            </a:r>
            <a:endParaRPr b="0" lang="en-US" sz="900" spc="-1" strike="noStrike">
              <a:solidFill>
                <a:srgbClr val="000000"/>
              </a:solidFill>
              <a:latin typeface="Arial"/>
            </a:endParaRPr>
          </a:p>
        </p:txBody>
      </p:sp>
      <p:sp>
        <p:nvSpPr>
          <p:cNvPr id="2551" name="Rounded Rectangle 8"/>
          <p:cNvSpPr/>
          <p:nvPr/>
        </p:nvSpPr>
        <p:spPr>
          <a:xfrm>
            <a:off x="567000" y="2011680"/>
            <a:ext cx="2377080" cy="959760"/>
          </a:xfrm>
          <a:prstGeom prst="roundRect">
            <a:avLst>
              <a:gd name="adj" fmla="val 10000"/>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Segoe UI"/>
              </a:rPr>
              <a:t>DISPOSITIVO</a:t>
            </a:r>
            <a:endParaRPr b="0" lang="en-US" sz="1050" spc="-1" strike="noStrike">
              <a:solidFill>
                <a:srgbClr val="ffffff"/>
              </a:solidFill>
              <a:latin typeface="Arial"/>
            </a:endParaRPr>
          </a:p>
          <a:p>
            <a:pPr algn="ctr" defTabSz="457200">
              <a:lnSpc>
                <a:spcPct val="100000"/>
              </a:lnSpc>
            </a:pPr>
            <a:r>
              <a:rPr b="1" lang="en-US" sz="1050" spc="-1" strike="noStrike">
                <a:solidFill>
                  <a:srgbClr val="ffffff"/>
                </a:solidFill>
                <a:latin typeface="Segoe UI"/>
              </a:rPr>
              <a:t>DE SEGURIDAD</a:t>
            </a:r>
            <a:endParaRPr b="0" lang="en-US" sz="1050" spc="-1" strike="noStrike">
              <a:solidFill>
                <a:srgbClr val="ffffff"/>
              </a:solidFill>
              <a:latin typeface="Arial"/>
            </a:endParaRPr>
          </a:p>
          <a:p>
            <a:pPr algn="ctr" defTabSz="457200">
              <a:lnSpc>
                <a:spcPct val="100000"/>
              </a:lnSpc>
            </a:pPr>
            <a:r>
              <a:rPr b="1" lang="en-US" sz="1050" spc="-1" strike="noStrike">
                <a:solidFill>
                  <a:srgbClr val="ffffff"/>
                </a:solidFill>
                <a:latin typeface="Segoe UI"/>
              </a:rPr>
              <a:t>seta, barrera, puerta</a:t>
            </a:r>
            <a:endParaRPr b="0" lang="en-US" sz="1050" spc="-1" strike="noStrike">
              <a:solidFill>
                <a:srgbClr val="ffffff"/>
              </a:solidFill>
              <a:latin typeface="Arial"/>
            </a:endParaRPr>
          </a:p>
        </p:txBody>
      </p:sp>
      <p:sp>
        <p:nvSpPr>
          <p:cNvPr id="2552" name="Right Arrow 9"/>
          <p:cNvSpPr/>
          <p:nvPr/>
        </p:nvSpPr>
        <p:spPr>
          <a:xfrm>
            <a:off x="2990160" y="2409480"/>
            <a:ext cx="228240" cy="16416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7080" bIns="37080" anchor="ctr">
            <a:noAutofit/>
          </a:bodyPr>
          <a:p>
            <a:pPr algn="ctr" defTabSz="457200">
              <a:lnSpc>
                <a:spcPct val="100000"/>
              </a:lnSpc>
            </a:pPr>
            <a:endParaRPr b="0" lang="en-US" sz="1800" spc="-1" strike="noStrike">
              <a:solidFill>
                <a:schemeClr val="lt1"/>
              </a:solidFill>
              <a:latin typeface="Calibri"/>
            </a:endParaRPr>
          </a:p>
        </p:txBody>
      </p:sp>
      <p:sp>
        <p:nvSpPr>
          <p:cNvPr id="2553" name="Rounded Rectangle 10"/>
          <p:cNvSpPr/>
          <p:nvPr/>
        </p:nvSpPr>
        <p:spPr>
          <a:xfrm>
            <a:off x="3264480" y="2011680"/>
            <a:ext cx="2377080" cy="959760"/>
          </a:xfrm>
          <a:prstGeom prst="roundRect">
            <a:avLst>
              <a:gd name="adj" fmla="val 10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Segoe UI"/>
              </a:rPr>
              <a:t>MÓDULO O PLC</a:t>
            </a:r>
            <a:endParaRPr b="0" lang="en-US" sz="1050" spc="-1" strike="noStrike">
              <a:solidFill>
                <a:srgbClr val="ffffff"/>
              </a:solidFill>
              <a:latin typeface="Arial"/>
            </a:endParaRPr>
          </a:p>
          <a:p>
            <a:pPr algn="ctr" defTabSz="457200">
              <a:lnSpc>
                <a:spcPct val="100000"/>
              </a:lnSpc>
            </a:pPr>
            <a:r>
              <a:rPr b="1" lang="en-US" sz="1050" spc="-1" strike="noStrike">
                <a:solidFill>
                  <a:srgbClr val="ffffff"/>
                </a:solidFill>
                <a:latin typeface="Segoe UI"/>
              </a:rPr>
              <a:t>DE SEGURIDAD</a:t>
            </a:r>
            <a:endParaRPr b="0" lang="en-US" sz="1050" spc="-1" strike="noStrike">
              <a:solidFill>
                <a:srgbClr val="ffffff"/>
              </a:solidFill>
              <a:latin typeface="Arial"/>
            </a:endParaRPr>
          </a:p>
          <a:p>
            <a:pPr algn="ctr" defTabSz="457200">
              <a:lnSpc>
                <a:spcPct val="100000"/>
              </a:lnSpc>
            </a:pPr>
            <a:r>
              <a:rPr b="1" lang="en-US" sz="1050" spc="-1" strike="noStrike">
                <a:solidFill>
                  <a:srgbClr val="ffffff"/>
                </a:solidFill>
                <a:latin typeface="Segoe UI"/>
              </a:rPr>
              <a:t>dos canales</a:t>
            </a:r>
            <a:endParaRPr b="0" lang="en-US" sz="1050" spc="-1" strike="noStrike">
              <a:solidFill>
                <a:srgbClr val="ffffff"/>
              </a:solidFill>
              <a:latin typeface="Arial"/>
            </a:endParaRPr>
          </a:p>
        </p:txBody>
      </p:sp>
      <p:sp>
        <p:nvSpPr>
          <p:cNvPr id="2554" name="Right Arrow 11"/>
          <p:cNvSpPr/>
          <p:nvPr/>
        </p:nvSpPr>
        <p:spPr>
          <a:xfrm>
            <a:off x="5687640" y="2409480"/>
            <a:ext cx="228240" cy="16416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7080" bIns="37080" anchor="ctr">
            <a:noAutofit/>
          </a:bodyPr>
          <a:p>
            <a:pPr algn="ctr" defTabSz="457200">
              <a:lnSpc>
                <a:spcPct val="100000"/>
              </a:lnSpc>
            </a:pPr>
            <a:endParaRPr b="0" lang="en-US" sz="1800" spc="-1" strike="noStrike">
              <a:solidFill>
                <a:schemeClr val="lt1"/>
              </a:solidFill>
              <a:latin typeface="Calibri"/>
            </a:endParaRPr>
          </a:p>
        </p:txBody>
      </p:sp>
      <p:sp>
        <p:nvSpPr>
          <p:cNvPr id="2555" name="Rounded Rectangle 12"/>
          <p:cNvSpPr/>
          <p:nvPr/>
        </p:nvSpPr>
        <p:spPr>
          <a:xfrm>
            <a:off x="5961960" y="2011680"/>
            <a:ext cx="2651400" cy="959760"/>
          </a:xfrm>
          <a:prstGeom prst="roundRect">
            <a:avLst>
              <a:gd name="adj" fmla="val 10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Consolas"/>
              </a:rPr>
              <a:t>CN8</a:t>
            </a:r>
            <a:r>
              <a:rPr b="1" lang="en-US" sz="1050" spc="-1" strike="noStrike">
                <a:solidFill>
                  <a:srgbClr val="ffffff"/>
                </a:solidFill>
                <a:latin typeface="Segoe UI"/>
              </a:rPr>
              <a:t> del SERVOPACK</a:t>
            </a:r>
            <a:endParaRPr b="0" lang="en-US" sz="1050" spc="-1" strike="noStrike">
              <a:solidFill>
                <a:srgbClr val="ffffff"/>
              </a:solidFill>
              <a:latin typeface="Arial"/>
            </a:endParaRPr>
          </a:p>
          <a:p>
            <a:pPr algn="ctr" defTabSz="457200">
              <a:lnSpc>
                <a:spcPct val="100000"/>
              </a:lnSpc>
            </a:pPr>
            <a:r>
              <a:rPr b="1" lang="en-US" sz="1050" spc="-1" strike="noStrike">
                <a:solidFill>
                  <a:srgbClr val="ffffff"/>
                </a:solidFill>
                <a:latin typeface="Segoe UI"/>
              </a:rPr>
              <a:t>entradas HWBB 1 y 2</a:t>
            </a:r>
            <a:endParaRPr b="0" lang="en-US" sz="1050" spc="-1" strike="noStrike">
              <a:solidFill>
                <a:srgbClr val="ffffff"/>
              </a:solidFill>
              <a:latin typeface="Arial"/>
            </a:endParaRPr>
          </a:p>
        </p:txBody>
      </p:sp>
      <p:sp>
        <p:nvSpPr>
          <p:cNvPr id="2556" name="Right Arrow 13"/>
          <p:cNvSpPr/>
          <p:nvPr/>
        </p:nvSpPr>
        <p:spPr>
          <a:xfrm>
            <a:off x="8659440" y="2409480"/>
            <a:ext cx="228240" cy="164160"/>
          </a:xfrm>
          <a:prstGeom prst="rightArrow">
            <a:avLst>
              <a:gd name="adj1" fmla="val 50000"/>
              <a:gd name="adj2" fmla="val 50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7080" bIns="37080" anchor="ctr">
            <a:noAutofit/>
          </a:bodyPr>
          <a:p>
            <a:pPr algn="ctr" defTabSz="457200">
              <a:lnSpc>
                <a:spcPct val="100000"/>
              </a:lnSpc>
            </a:pPr>
            <a:endParaRPr b="0" lang="en-US" sz="1800" spc="-1" strike="noStrike">
              <a:solidFill>
                <a:schemeClr val="lt1"/>
              </a:solidFill>
              <a:latin typeface="Calibri"/>
            </a:endParaRPr>
          </a:p>
        </p:txBody>
      </p:sp>
      <p:sp>
        <p:nvSpPr>
          <p:cNvPr id="2557" name="Rounded Rectangle 14"/>
          <p:cNvSpPr/>
          <p:nvPr/>
        </p:nvSpPr>
        <p:spPr>
          <a:xfrm>
            <a:off x="8933760" y="2011680"/>
            <a:ext cx="2651400" cy="959760"/>
          </a:xfrm>
          <a:prstGeom prst="roundRect">
            <a:avLst>
              <a:gd name="adj" fmla="val 10000"/>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Segoe UI"/>
              </a:rPr>
              <a:t>ETAPA DE POTENCIA</a:t>
            </a:r>
            <a:endParaRPr b="0" lang="en-US" sz="1050" spc="-1" strike="noStrike">
              <a:solidFill>
                <a:srgbClr val="ffffff"/>
              </a:solidFill>
              <a:latin typeface="Arial"/>
            </a:endParaRPr>
          </a:p>
          <a:p>
            <a:pPr algn="ctr" defTabSz="457200">
              <a:lnSpc>
                <a:spcPct val="100000"/>
              </a:lnSpc>
            </a:pPr>
            <a:r>
              <a:rPr b="1" lang="en-US" sz="1050" spc="-1" strike="noStrike">
                <a:solidFill>
                  <a:srgbClr val="ffffff"/>
                </a:solidFill>
                <a:latin typeface="Segoe UI"/>
              </a:rPr>
              <a:t>bloqueada: par cero</a:t>
            </a:r>
            <a:endParaRPr b="0" lang="en-US" sz="1050" spc="-1" strike="noStrike">
              <a:solidFill>
                <a:srgbClr val="ffffff"/>
              </a:solidFill>
              <a:latin typeface="Arial"/>
            </a:endParaRPr>
          </a:p>
        </p:txBody>
      </p:sp>
      <p:cxnSp>
        <p:nvCxnSpPr>
          <p:cNvPr id="2558" name="Connector 15"/>
          <p:cNvCxnSpPr/>
          <p:nvPr/>
        </p:nvCxnSpPr>
        <p:spPr>
          <a:xfrm>
            <a:off x="7287480" y="2971800"/>
            <a:ext cx="360" cy="640440"/>
          </a:xfrm>
          <a:prstGeom prst="straightConnector1">
            <a:avLst/>
          </a:prstGeom>
          <a:ln w="22225">
            <a:solidFill>
              <a:srgbClr val="2e8b57"/>
            </a:solidFill>
            <a:round/>
          </a:ln>
        </p:spPr>
      </p:cxnSp>
      <p:cxnSp>
        <p:nvCxnSpPr>
          <p:cNvPr id="2559" name="Connector 16"/>
          <p:cNvCxnSpPr/>
          <p:nvPr/>
        </p:nvCxnSpPr>
        <p:spPr>
          <a:xfrm flipH="1">
            <a:off x="4452840" y="3611880"/>
            <a:ext cx="2835000" cy="360"/>
          </a:xfrm>
          <a:prstGeom prst="straightConnector1">
            <a:avLst/>
          </a:prstGeom>
          <a:ln w="22225">
            <a:solidFill>
              <a:srgbClr val="2e8b57"/>
            </a:solidFill>
            <a:round/>
          </a:ln>
        </p:spPr>
      </p:cxnSp>
      <p:sp>
        <p:nvSpPr>
          <p:cNvPr id="2560" name="Up Arrow 17"/>
          <p:cNvSpPr/>
          <p:nvPr/>
        </p:nvSpPr>
        <p:spPr>
          <a:xfrm>
            <a:off x="4352400" y="3108960"/>
            <a:ext cx="200880" cy="502560"/>
          </a:xfrm>
          <a:prstGeom prst="upArrow">
            <a:avLst>
              <a:gd name="adj1" fmla="val 50000"/>
              <a:gd name="adj2" fmla="val 50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61" name="Rounded Rectangle 18"/>
          <p:cNvSpPr/>
          <p:nvPr/>
        </p:nvSpPr>
        <p:spPr>
          <a:xfrm>
            <a:off x="5916240" y="3410640"/>
            <a:ext cx="2742840" cy="402120"/>
          </a:xfrm>
          <a:prstGeom prst="roundRect">
            <a:avLst>
              <a:gd name="adj" fmla="val 12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00" spc="-1" strike="noStrike">
                <a:solidFill>
                  <a:srgbClr val="ffffff"/>
                </a:solidFill>
                <a:latin typeface="Consolas"/>
              </a:rPr>
              <a:t>EDM1</a:t>
            </a:r>
            <a:r>
              <a:rPr b="1" lang="en-US" sz="1000" spc="-1" strike="noStrike">
                <a:solidFill>
                  <a:srgbClr val="ffffff"/>
                </a:solidFill>
                <a:latin typeface="Segoe UI"/>
              </a:rPr>
              <a:t> — confirmación de estado seguro</a:t>
            </a:r>
            <a:endParaRPr b="0" lang="en-US" sz="1000" spc="-1" strike="noStrike">
              <a:solidFill>
                <a:srgbClr val="ffffff"/>
              </a:solidFill>
              <a:latin typeface="Arial"/>
            </a:endParaRPr>
          </a:p>
        </p:txBody>
      </p:sp>
      <p:sp>
        <p:nvSpPr>
          <p:cNvPr id="2562" name="Rectangle 19"/>
          <p:cNvSpPr/>
          <p:nvPr/>
        </p:nvSpPr>
        <p:spPr>
          <a:xfrm>
            <a:off x="567000" y="4206240"/>
            <a:ext cx="5394600" cy="159984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63" name="TextBox 20"/>
          <p:cNvSpPr/>
          <p:nvPr/>
        </p:nvSpPr>
        <p:spPr>
          <a:xfrm>
            <a:off x="822960" y="4343400"/>
            <a:ext cx="484596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50" spc="-1" strike="noStrike">
                <a:solidFill>
                  <a:srgbClr val="0b2545"/>
                </a:solidFill>
                <a:latin typeface="Segoe UI"/>
              </a:rPr>
              <a:t>Señales del conector </a:t>
            </a:r>
            <a:r>
              <a:rPr b="1" lang="en-US" sz="1250" spc="-1" strike="noStrike">
                <a:solidFill>
                  <a:srgbClr val="0b2545"/>
                </a:solidFill>
                <a:latin typeface="Consolas"/>
              </a:rPr>
              <a:t>CN8</a:t>
            </a:r>
            <a:endParaRPr b="0" lang="en-US" sz="1250" spc="-1" strike="noStrike">
              <a:solidFill>
                <a:srgbClr val="000000"/>
              </a:solidFill>
              <a:latin typeface="Arial"/>
            </a:endParaRPr>
          </a:p>
        </p:txBody>
      </p:sp>
      <p:sp>
        <p:nvSpPr>
          <p:cNvPr id="2564" name="TextBox 21"/>
          <p:cNvSpPr/>
          <p:nvPr/>
        </p:nvSpPr>
        <p:spPr>
          <a:xfrm>
            <a:off x="822960" y="4663440"/>
            <a:ext cx="4845960" cy="995400"/>
          </a:xfrm>
          <a:prstGeom prst="rect">
            <a:avLst/>
          </a:prstGeom>
          <a:noFill/>
          <a:ln w="0">
            <a:noFill/>
          </a:ln>
        </p:spPr>
        <p:style>
          <a:lnRef idx="0"/>
          <a:fillRef idx="0"/>
          <a:effectRef idx="0"/>
          <a:fontRef idx="minor"/>
        </p:style>
        <p:txBody>
          <a:bodyPr lIns="90000" rIns="90000" tIns="45000" bIns="45000" anchor="t">
            <a:spAutoFit/>
          </a:bodyPr>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Canal 1 y canal 2: entradas independientes de desactivación del par.</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EDM: salida de vigilancia hacia el módulo de seguridad.</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Consulta la asignación exacta de pines en el manual de tu modelo.</a:t>
            </a:r>
            <a:endParaRPr b="0" lang="en-US" sz="1050" spc="-1" strike="noStrike">
              <a:solidFill>
                <a:srgbClr val="000000"/>
              </a:solidFill>
              <a:latin typeface="Arial"/>
            </a:endParaRPr>
          </a:p>
        </p:txBody>
      </p:sp>
      <p:sp>
        <p:nvSpPr>
          <p:cNvPr id="2565" name="Rectangle 22"/>
          <p:cNvSpPr/>
          <p:nvPr/>
        </p:nvSpPr>
        <p:spPr>
          <a:xfrm>
            <a:off x="6236280" y="4206240"/>
            <a:ext cx="5394600" cy="159984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66" name="TextBox 23"/>
          <p:cNvSpPr/>
          <p:nvPr/>
        </p:nvSpPr>
        <p:spPr>
          <a:xfrm>
            <a:off x="6492240" y="4343400"/>
            <a:ext cx="484596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50" spc="-1" strike="noStrike">
                <a:solidFill>
                  <a:srgbClr val="0b2545"/>
                </a:solidFill>
                <a:latin typeface="Segoe UI"/>
              </a:rPr>
              <a:t>Reglas de cableado</a:t>
            </a:r>
            <a:endParaRPr b="0" lang="en-US" sz="1250" spc="-1" strike="noStrike">
              <a:solidFill>
                <a:srgbClr val="000000"/>
              </a:solidFill>
              <a:latin typeface="Arial"/>
            </a:endParaRPr>
          </a:p>
        </p:txBody>
      </p:sp>
      <p:sp>
        <p:nvSpPr>
          <p:cNvPr id="2567" name="TextBox 24"/>
          <p:cNvSpPr/>
          <p:nvPr/>
        </p:nvSpPr>
        <p:spPr>
          <a:xfrm>
            <a:off x="6492240" y="4663440"/>
            <a:ext cx="4845960" cy="1164600"/>
          </a:xfrm>
          <a:prstGeom prst="rect">
            <a:avLst/>
          </a:prstGeom>
          <a:noFill/>
          <a:ln w="0">
            <a:noFill/>
          </a:ln>
        </p:spPr>
        <p:style>
          <a:lnRef idx="0"/>
          <a:fillRef idx="0"/>
          <a:effectRef idx="0"/>
          <a:fontRef idx="minor"/>
        </p:style>
        <p:txBody>
          <a:bodyPr lIns="90000" rIns="90000" tIns="45000" bIns="45000" anchor="t">
            <a:spAutoFit/>
          </a:bodyPr>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Los dos canales, físicamente independientes: distinto conductor y, si es posible, distinta canalización.</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Nunca puentear un canal 'para probar'.</a:t>
            </a:r>
            <a:endParaRPr b="0" lang="en-US" sz="10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050" spc="-1" strike="noStrike">
                <a:solidFill>
                  <a:srgbClr val="1c2430"/>
                </a:solidFill>
                <a:latin typeface="Segoe UI"/>
              </a:rPr>
              <a:t>EDM conectado y vigilado: sin él se pierde el diagnóstico y el nivel de prestaciones.</a:t>
            </a:r>
            <a:endParaRPr b="0" lang="en-US" sz="1050" spc="-1" strike="noStrike">
              <a:solidFill>
                <a:srgbClr val="000000"/>
              </a:solidFill>
              <a:latin typeface="Arial"/>
            </a:endParaRPr>
          </a:p>
        </p:txBody>
      </p:sp>
      <p:sp>
        <p:nvSpPr>
          <p:cNvPr id="2568" name="Rectangle 25"/>
          <p:cNvSpPr/>
          <p:nvPr/>
        </p:nvSpPr>
        <p:spPr>
          <a:xfrm>
            <a:off x="567000" y="5897880"/>
            <a:ext cx="11063880" cy="42012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69" name="Rectangle 26"/>
          <p:cNvSpPr/>
          <p:nvPr/>
        </p:nvSpPr>
        <p:spPr>
          <a:xfrm>
            <a:off x="567000" y="5897880"/>
            <a:ext cx="68400" cy="42012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70" name="TextBox 27"/>
          <p:cNvSpPr/>
          <p:nvPr/>
        </p:nvSpPr>
        <p:spPr>
          <a:xfrm>
            <a:off x="841320" y="6035040"/>
            <a:ext cx="1056096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c0392b"/>
                </a:solidFill>
                <a:latin typeface="Consolas"/>
              </a:rPr>
              <a:t>CN8</a:t>
            </a:r>
            <a:r>
              <a:rPr b="1" lang="en-US" sz="1200" spc="-1" strike="noStrike">
                <a:solidFill>
                  <a:srgbClr val="c0392b"/>
                </a:solidFill>
                <a:latin typeface="Segoe UI Semibold"/>
              </a:rPr>
              <a:t> sale de fábrica con puente. Si lo retiras sin cablear la seguridad, el eje no dará par y no habrá alarma que lo explique.</a:t>
            </a:r>
            <a:endParaRPr b="0" lang="en-US" sz="1200" spc="-1" strike="noStrike">
              <a:solidFill>
                <a:srgbClr val="000000"/>
              </a:solidFill>
              <a:latin typeface="Arial"/>
            </a:endParaRPr>
          </a:p>
        </p:txBody>
      </p:sp>
      <p:sp>
        <p:nvSpPr>
          <p:cNvPr id="2571" name="TextBox 28"/>
          <p:cNvSpPr/>
          <p:nvPr/>
        </p:nvSpPr>
        <p:spPr>
          <a:xfrm>
            <a:off x="841320" y="6227280"/>
            <a:ext cx="10560960" cy="82080"/>
          </a:xfrm>
          <a:prstGeom prst="rect">
            <a:avLst/>
          </a:prstGeom>
          <a:noFill/>
          <a:ln w="0">
            <a:noFill/>
          </a:ln>
        </p:spPr>
        <p:style>
          <a:lnRef idx="0"/>
          <a:fillRef idx="0"/>
          <a:effectRef idx="0"/>
          <a:fontRef idx="minor"/>
        </p:style>
        <p:txBody>
          <a:bodyPr lIns="0" rIns="0" tIns="0" bIns="0" anchor="t">
            <a:spAutoFit/>
          </a:bodyPr>
          <a:p>
            <a:pPr defTabSz="457200">
              <a:lnSpc>
                <a:spcPct val="106000"/>
              </a:lnSpc>
            </a:pPr>
            <a:endParaRPr b="0" lang="en-US" sz="1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2"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73"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574"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Pines del conector de seguridad </a:t>
            </a:r>
            <a:r>
              <a:rPr b="1" lang="en-US" sz="2500" spc="-1" strike="noStrike">
                <a:solidFill>
                  <a:srgbClr val="ffffff"/>
                </a:solidFill>
                <a:latin typeface="Consolas"/>
              </a:rPr>
              <a:t>CN8</a:t>
            </a:r>
            <a:endParaRPr b="0" lang="en-US" sz="2500" spc="-1" strike="noStrike">
              <a:solidFill>
                <a:srgbClr val="000000"/>
              </a:solidFill>
              <a:latin typeface="Arial"/>
            </a:endParaRPr>
          </a:p>
        </p:txBody>
      </p:sp>
      <p:sp>
        <p:nvSpPr>
          <p:cNvPr id="2575"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Asignación oficial de las señales HWBB y EDM1</a:t>
            </a:r>
            <a:endParaRPr b="0" lang="en-US" sz="1250" spc="-1" strike="noStrike">
              <a:solidFill>
                <a:srgbClr val="000000"/>
              </a:solidFill>
              <a:latin typeface="Arial"/>
            </a:endParaRPr>
          </a:p>
        </p:txBody>
      </p:sp>
      <p:sp>
        <p:nvSpPr>
          <p:cNvPr id="2576"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10</a:t>
            </a:r>
            <a:endParaRPr b="0" lang="en-US" sz="1100" spc="-1" strike="noStrike">
              <a:solidFill>
                <a:srgbClr val="000000"/>
              </a:solidFill>
              <a:latin typeface="Arial"/>
            </a:endParaRPr>
          </a:p>
        </p:txBody>
      </p:sp>
      <p:sp>
        <p:nvSpPr>
          <p:cNvPr id="2577"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578"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129</a:t>
            </a:r>
            <a:endParaRPr b="0" lang="en-US" sz="900" spc="-1" strike="noStrike">
              <a:solidFill>
                <a:srgbClr val="000000"/>
              </a:solidFill>
              <a:latin typeface="Arial"/>
            </a:endParaRPr>
          </a:p>
        </p:txBody>
      </p:sp>
      <p:sp>
        <p:nvSpPr>
          <p:cNvPr id="2579" name="Rectangle 8"/>
          <p:cNvSpPr/>
          <p:nvPr/>
        </p:nvSpPr>
        <p:spPr>
          <a:xfrm>
            <a:off x="511920" y="2216160"/>
            <a:ext cx="7075800" cy="302868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2580" name="Picture 9" descr="cn8_seguridad.png"/>
          <p:cNvPicPr/>
          <p:nvPr/>
        </p:nvPicPr>
        <p:blipFill>
          <a:blip r:embed="rId1"/>
          <a:stretch/>
        </p:blipFill>
        <p:spPr>
          <a:xfrm>
            <a:off x="567000" y="2271240"/>
            <a:ext cx="6966000" cy="2918880"/>
          </a:xfrm>
          <a:prstGeom prst="rect">
            <a:avLst/>
          </a:prstGeom>
          <a:ln w="0">
            <a:noFill/>
          </a:ln>
        </p:spPr>
      </p:pic>
      <p:sp>
        <p:nvSpPr>
          <p:cNvPr id="2581"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4.6.1</a:t>
            </a:r>
            <a:endParaRPr b="0" lang="en-US" sz="850" spc="-1" strike="noStrike">
              <a:solidFill>
                <a:srgbClr val="000000"/>
              </a:solidFill>
              <a:latin typeface="Arial"/>
            </a:endParaRPr>
          </a:p>
        </p:txBody>
      </p:sp>
      <p:sp>
        <p:nvSpPr>
          <p:cNvPr id="2582"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83" name="TextBox 12"/>
          <p:cNvSpPr/>
          <p:nvPr/>
        </p:nvSpPr>
        <p:spPr>
          <a:xfrm>
            <a:off x="8027280" y="1664280"/>
            <a:ext cx="3377880" cy="360252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980" spc="-1" strike="noStrike">
                <a:solidFill>
                  <a:srgbClr val="1b5ea8"/>
                </a:solidFill>
                <a:latin typeface="Segoe UI Semibold"/>
              </a:rPr>
              <a:t>Lo que hay que leer en la tabla</a:t>
            </a:r>
            <a:endParaRPr b="0" lang="en-US" sz="9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30" spc="-1" strike="noStrike">
                <a:solidFill>
                  <a:srgbClr val="1c2430"/>
                </a:solidFill>
                <a:latin typeface="Segoe UI"/>
              </a:rPr>
              <a:t>Pines 1 y 2: no se usan, están conectados a circuitos internos. No conectes nada.</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30" spc="-1" strike="noStrike">
                <a:solidFill>
                  <a:srgbClr val="1c2430"/>
                </a:solidFill>
                <a:latin typeface="Segoe UI"/>
              </a:rPr>
              <a:t>Pines 3 y 4: </a:t>
            </a:r>
            <a:r>
              <a:rPr b="1" lang="en-US" sz="1030" spc="-1" strike="noStrike">
                <a:solidFill>
                  <a:srgbClr val="1c2430"/>
                </a:solidFill>
                <a:latin typeface="Consolas"/>
              </a:rPr>
              <a:t>/HWBB1−</a:t>
            </a:r>
            <a:r>
              <a:rPr b="1" lang="en-US" sz="1030" spc="-1" strike="noStrike">
                <a:solidFill>
                  <a:srgbClr val="1c2430"/>
                </a:solidFill>
                <a:latin typeface="Segoe UI"/>
              </a:rPr>
              <a:t> y </a:t>
            </a:r>
            <a:r>
              <a:rPr b="1" lang="en-US" sz="1030" spc="-1" strike="noStrike">
                <a:solidFill>
                  <a:srgbClr val="1c2430"/>
                </a:solidFill>
                <a:latin typeface="Consolas"/>
              </a:rPr>
              <a:t>/HWBB1+</a:t>
            </a:r>
            <a:r>
              <a:rPr b="1" lang="en-US" sz="1030" spc="-1" strike="noStrike">
                <a:solidFill>
                  <a:srgbClr val="1c2430"/>
                </a:solidFill>
                <a:latin typeface="Segoe UI"/>
              </a:rPr>
              <a:t>, primera entrada de bloqueo.</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30" spc="-1" strike="noStrike">
                <a:solidFill>
                  <a:srgbClr val="1c2430"/>
                </a:solidFill>
                <a:latin typeface="Segoe UI"/>
              </a:rPr>
              <a:t>Pines 5 y 6: </a:t>
            </a:r>
            <a:r>
              <a:rPr b="1" lang="en-US" sz="1030" spc="-1" strike="noStrike">
                <a:solidFill>
                  <a:srgbClr val="1c2430"/>
                </a:solidFill>
                <a:latin typeface="Consolas"/>
              </a:rPr>
              <a:t>/HWBB2−</a:t>
            </a:r>
            <a:r>
              <a:rPr b="1" lang="en-US" sz="1030" spc="-1" strike="noStrike">
                <a:solidFill>
                  <a:srgbClr val="1c2430"/>
                </a:solidFill>
                <a:latin typeface="Segoe UI"/>
              </a:rPr>
              <a:t> y </a:t>
            </a:r>
            <a:r>
              <a:rPr b="1" lang="en-US" sz="1030" spc="-1" strike="noStrike">
                <a:solidFill>
                  <a:srgbClr val="1c2430"/>
                </a:solidFill>
                <a:latin typeface="Consolas"/>
              </a:rPr>
              <a:t>/HWBB2+</a:t>
            </a:r>
            <a:r>
              <a:rPr b="1" lang="en-US" sz="1030" spc="-1" strike="noStrike">
                <a:solidFill>
                  <a:srgbClr val="1c2430"/>
                </a:solidFill>
                <a:latin typeface="Segoe UI"/>
              </a:rPr>
              <a:t>, segunda entrada de bloqueo.</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30" spc="-1" strike="noStrike">
                <a:solidFill>
                  <a:srgbClr val="1c2430"/>
                </a:solidFill>
                <a:latin typeface="Segoe UI"/>
              </a:rPr>
              <a:t>Pines 7 y 8: </a:t>
            </a:r>
            <a:r>
              <a:rPr b="1" lang="en-US" sz="1030" spc="-1" strike="noStrike">
                <a:solidFill>
                  <a:srgbClr val="1c2430"/>
                </a:solidFill>
                <a:latin typeface="Consolas"/>
              </a:rPr>
              <a:t>EDM1−</a:t>
            </a:r>
            <a:r>
              <a:rPr b="1" lang="en-US" sz="1030" spc="-1" strike="noStrike">
                <a:solidFill>
                  <a:srgbClr val="1c2430"/>
                </a:solidFill>
                <a:latin typeface="Segoe UI"/>
              </a:rPr>
              <a:t> y </a:t>
            </a:r>
            <a:r>
              <a:rPr b="1" lang="en-US" sz="1030" spc="-1" strike="noStrike">
                <a:solidFill>
                  <a:srgbClr val="1c2430"/>
                </a:solidFill>
                <a:latin typeface="Consolas"/>
              </a:rPr>
              <a:t>EDM1+</a:t>
            </a:r>
            <a:r>
              <a:rPr b="1" lang="en-US" sz="1030" spc="-1" strike="noStrike">
                <a:solidFill>
                  <a:srgbClr val="1c2430"/>
                </a:solidFill>
                <a:latin typeface="Segoe UI"/>
              </a:rPr>
              <a:t>, salida de vigilancia.</a:t>
            </a:r>
            <a:endParaRPr b="0" lang="en-US" sz="1030" spc="-1" strike="noStrike">
              <a:solidFill>
                <a:srgbClr val="000000"/>
              </a:solidFill>
              <a:latin typeface="Arial"/>
            </a:endParaRPr>
          </a:p>
          <a:p>
            <a:pPr defTabSz="457200">
              <a:lnSpc>
                <a:spcPct val="106000"/>
              </a:lnSpc>
              <a:spcBef>
                <a:spcPts val="799"/>
              </a:spcBef>
              <a:spcAft>
                <a:spcPts val="901"/>
              </a:spcAft>
              <a:tabLst>
                <a:tab algn="l" pos="0"/>
              </a:tabLst>
            </a:pPr>
            <a:r>
              <a:rPr b="1" lang="en-US" sz="980" spc="-1" strike="noStrike">
                <a:solidFill>
                  <a:srgbClr val="1b5ea8"/>
                </a:solidFill>
                <a:latin typeface="Segoe UI Semibold"/>
              </a:rPr>
              <a:t>Lógica de las señales</a:t>
            </a:r>
            <a:endParaRPr b="0" lang="en-US" sz="9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30" spc="-1" strike="noStrike">
                <a:solidFill>
                  <a:srgbClr val="1c2430"/>
                </a:solidFill>
                <a:latin typeface="Segoe UI"/>
              </a:rPr>
              <a:t>El bloqueo actúa cuando la señal está OFF (contacto abierto): un cable roto lleva al estado seguro.</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30" spc="-1" strike="noStrike">
                <a:solidFill>
                  <a:srgbClr val="1c2430"/>
                </a:solidFill>
                <a:latin typeface="Consolas"/>
              </a:rPr>
              <a:t>EDM1</a:t>
            </a:r>
            <a:r>
              <a:rPr b="1" lang="en-US" sz="1030" spc="-1" strike="noStrike">
                <a:solidFill>
                  <a:srgbClr val="1c2430"/>
                </a:solidFill>
                <a:latin typeface="Segoe UI"/>
              </a:rPr>
              <a:t> se activa cuando ambas entradas están en estado de bloqueo.</a:t>
            </a:r>
            <a:endParaRPr b="0" lang="en-US" sz="103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880" spc="-1" strike="noStrike">
                <a:solidFill>
                  <a:srgbClr val="333f4c"/>
                </a:solidFill>
                <a:latin typeface="Segoe UI"/>
              </a:rPr>
              <a:t>Usar o no </a:t>
            </a:r>
            <a:r>
              <a:rPr b="0" lang="en-US" sz="880" spc="-1" strike="noStrike">
                <a:solidFill>
                  <a:srgbClr val="333f4c"/>
                </a:solidFill>
                <a:latin typeface="Consolas"/>
              </a:rPr>
              <a:t>EDM1</a:t>
            </a:r>
            <a:r>
              <a:rPr b="0" lang="en-US" sz="880" spc="-1" strike="noStrike">
                <a:solidFill>
                  <a:srgbClr val="333f4c"/>
                </a:solidFill>
                <a:latin typeface="Segoe UI"/>
              </a:rPr>
              <a:t> no cambia el nivel de prestaciones alcanzable, pero sí el diagnóstico del sistema.</a:t>
            </a:r>
            <a:endParaRPr b="0" lang="en-US" sz="88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8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8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58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Ejemplo oficial de conexión de la seguridad</a:t>
            </a:r>
            <a:endParaRPr b="0" lang="en-US" sz="2500" spc="-1" strike="noStrike">
              <a:solidFill>
                <a:srgbClr val="000000"/>
              </a:solidFill>
              <a:latin typeface="Arial"/>
            </a:endParaRPr>
          </a:p>
        </p:txBody>
      </p:sp>
      <p:sp>
        <p:nvSpPr>
          <p:cNvPr id="258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Circuito de entrada con doble canal y común a 0 V</a:t>
            </a:r>
            <a:endParaRPr b="0" lang="en-US" sz="1250" spc="-1" strike="noStrike">
              <a:solidFill>
                <a:srgbClr val="000000"/>
              </a:solidFill>
              <a:latin typeface="Arial"/>
            </a:endParaRPr>
          </a:p>
        </p:txBody>
      </p:sp>
      <p:sp>
        <p:nvSpPr>
          <p:cNvPr id="258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10</a:t>
            </a:r>
            <a:endParaRPr b="0" lang="en-US" sz="1100" spc="-1" strike="noStrike">
              <a:solidFill>
                <a:srgbClr val="000000"/>
              </a:solidFill>
              <a:latin typeface="Arial"/>
            </a:endParaRPr>
          </a:p>
        </p:txBody>
      </p:sp>
      <p:sp>
        <p:nvSpPr>
          <p:cNvPr id="258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59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130</a:t>
            </a:r>
            <a:endParaRPr b="0" lang="en-US" sz="900" spc="-1" strike="noStrike">
              <a:solidFill>
                <a:srgbClr val="000000"/>
              </a:solidFill>
              <a:latin typeface="Arial"/>
            </a:endParaRPr>
          </a:p>
        </p:txBody>
      </p:sp>
      <p:sp>
        <p:nvSpPr>
          <p:cNvPr id="2591" name="Rectangle 8"/>
          <p:cNvSpPr/>
          <p:nvPr/>
        </p:nvSpPr>
        <p:spPr>
          <a:xfrm>
            <a:off x="1381320" y="1426320"/>
            <a:ext cx="5337000" cy="4608360"/>
          </a:xfrm>
          <a:prstGeom prst="rect">
            <a:avLst/>
          </a:prstGeom>
          <a:solidFill>
            <a:srgbClr val="ffffff"/>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2592" name="Picture 9" descr="cn8_ejemplo.png"/>
          <p:cNvPicPr/>
          <p:nvPr/>
        </p:nvPicPr>
        <p:blipFill>
          <a:blip r:embed="rId1"/>
          <a:stretch/>
        </p:blipFill>
        <p:spPr>
          <a:xfrm>
            <a:off x="1436400" y="1481400"/>
            <a:ext cx="5227560" cy="4498560"/>
          </a:xfrm>
          <a:prstGeom prst="rect">
            <a:avLst/>
          </a:prstGeom>
          <a:ln w="0">
            <a:noFill/>
          </a:ln>
        </p:spPr>
      </p:pic>
      <p:sp>
        <p:nvSpPr>
          <p:cNvPr id="2593" name="TextBox 10"/>
          <p:cNvSpPr/>
          <p:nvPr/>
        </p:nvSpPr>
        <p:spPr>
          <a:xfrm>
            <a:off x="567000" y="6126480"/>
            <a:ext cx="11057400" cy="1299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850" spc="-1" strike="noStrike">
                <a:solidFill>
                  <a:srgbClr val="5a6b7b"/>
                </a:solidFill>
                <a:latin typeface="Segoe UI"/>
              </a:rPr>
              <a:t>Fuente: YASKAWA · Σ-XS SERVOPACK with Analog Voltage/Pulse Train References Product Manual · SIEP C710812 03I · apartado 4.6.2</a:t>
            </a:r>
            <a:endParaRPr b="0" lang="en-US" sz="850" spc="-1" strike="noStrike">
              <a:solidFill>
                <a:srgbClr val="000000"/>
              </a:solidFill>
              <a:latin typeface="Arial"/>
            </a:endParaRPr>
          </a:p>
        </p:txBody>
      </p:sp>
      <p:sp>
        <p:nvSpPr>
          <p:cNvPr id="2594" name="Rectangle 11"/>
          <p:cNvSpPr/>
          <p:nvPr/>
        </p:nvSpPr>
        <p:spPr>
          <a:xfrm>
            <a:off x="7807680" y="1481400"/>
            <a:ext cx="3816720" cy="44985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95" name="TextBox 12"/>
          <p:cNvSpPr/>
          <p:nvPr/>
        </p:nvSpPr>
        <p:spPr>
          <a:xfrm>
            <a:off x="8027280" y="1664280"/>
            <a:ext cx="3377880" cy="366372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030" spc="-1" strike="noStrike">
                <a:solidFill>
                  <a:srgbClr val="1b5ea8"/>
                </a:solidFill>
                <a:latin typeface="Segoe UI Semibold"/>
              </a:rPr>
              <a:t>Lo que muestra el esquema</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70" spc="-1" strike="noStrike">
                <a:solidFill>
                  <a:srgbClr val="1c2430"/>
                </a:solidFill>
                <a:latin typeface="Segoe UI"/>
              </a:rPr>
              <a:t>Fuente de 24 V con fusible de protección.</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70" spc="-1" strike="noStrike">
                <a:solidFill>
                  <a:srgbClr val="1c2430"/>
                </a:solidFill>
                <a:latin typeface="Segoe UI"/>
              </a:rPr>
              <a:t>Un interruptor de contactos de muy baja corriente que abre simultáneamente los dos canales.</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70" spc="-1" strike="noStrike">
                <a:solidFill>
                  <a:srgbClr val="1c2430"/>
                </a:solidFill>
                <a:latin typeface="Segoe UI"/>
              </a:rPr>
              <a:t>Resistencias internas de 5,1 kΩ en cada entrada.</a:t>
            </a:r>
            <a:endParaRPr b="0" lang="en-US" sz="1070" spc="-1" strike="noStrike">
              <a:solidFill>
                <a:srgbClr val="000000"/>
              </a:solidFill>
              <a:latin typeface="Arial"/>
            </a:endParaRPr>
          </a:p>
          <a:p>
            <a:pPr defTabSz="457200">
              <a:lnSpc>
                <a:spcPct val="106000"/>
              </a:lnSpc>
              <a:spcBef>
                <a:spcPts val="799"/>
              </a:spcBef>
              <a:spcAft>
                <a:spcPts val="901"/>
              </a:spcAft>
              <a:tabLst>
                <a:tab algn="l" pos="0"/>
              </a:tabLst>
            </a:pPr>
            <a:r>
              <a:rPr b="1" lang="en-US" sz="1030" spc="-1" strike="noStrike">
                <a:solidFill>
                  <a:srgbClr val="1b5ea8"/>
                </a:solidFill>
                <a:latin typeface="Segoe UI Semibold"/>
              </a:rPr>
              <a:t>Reglas que impone el manual</a:t>
            </a:r>
            <a:endParaRPr b="0" lang="en-US" sz="10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70" spc="-1" strike="noStrike">
                <a:solidFill>
                  <a:srgbClr val="1c2430"/>
                </a:solidFill>
                <a:latin typeface="Segoe UI"/>
              </a:rPr>
              <a:t>Las señales de seguridad usan común a 0 V: es al revés que el resto de entradas de </a:t>
            </a:r>
            <a:r>
              <a:rPr b="1" lang="en-US" sz="1070" spc="-1" strike="noStrike">
                <a:solidFill>
                  <a:srgbClr val="1c2430"/>
                </a:solidFill>
                <a:latin typeface="Consolas"/>
              </a:rPr>
              <a:t>CN1</a:t>
            </a:r>
            <a:r>
              <a:rPr b="1" lang="en-US" sz="1070" spc="-1" strike="noStrike">
                <a:solidFill>
                  <a:srgbClr val="1c2430"/>
                </a:solidFill>
                <a:latin typeface="Segoe UI"/>
              </a:rPr>
              <a:t>.</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70" spc="-1" strike="noStrike">
                <a:solidFill>
                  <a:srgbClr val="1c2430"/>
                </a:solidFill>
                <a:latin typeface="Segoe UI"/>
              </a:rPr>
              <a:t>Hay que conectar entradas redundantes: los dos canales, siempre.</a:t>
            </a:r>
            <a:endParaRPr b="0" lang="en-US" sz="107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070" spc="-1" strike="noStrike">
                <a:solidFill>
                  <a:srgbClr val="1c2430"/>
                </a:solidFill>
                <a:latin typeface="Segoe UI"/>
              </a:rPr>
              <a:t>El contacto debe ser de baja corriente, porque la corriente de las entradas es muy pequeña y un contacto de potencia puede no conducir de forma fiable.</a:t>
            </a:r>
            <a:endParaRPr b="0" lang="en-US" sz="107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9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59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STO no es parada de emergencia</a:t>
            </a:r>
            <a:endParaRPr b="0" lang="en-US" sz="2500" spc="-1" strike="noStrike">
              <a:solidFill>
                <a:srgbClr val="000000"/>
              </a:solidFill>
              <a:latin typeface="Arial"/>
            </a:endParaRPr>
          </a:p>
        </p:txBody>
      </p:sp>
      <p:sp>
        <p:nvSpPr>
          <p:cNvPr id="259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confusión más peligrosa del módulo</a:t>
            </a:r>
            <a:endParaRPr b="0" lang="en-US" sz="1250" spc="-1" strike="noStrike">
              <a:solidFill>
                <a:srgbClr val="000000"/>
              </a:solidFill>
              <a:latin typeface="Arial"/>
            </a:endParaRPr>
          </a:p>
        </p:txBody>
      </p:sp>
      <p:sp>
        <p:nvSpPr>
          <p:cNvPr id="260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10</a:t>
            </a:r>
            <a:endParaRPr b="0" lang="en-US" sz="1100" spc="-1" strike="noStrike">
              <a:solidFill>
                <a:srgbClr val="000000"/>
              </a:solidFill>
              <a:latin typeface="Arial"/>
            </a:endParaRPr>
          </a:p>
        </p:txBody>
      </p:sp>
      <p:sp>
        <p:nvSpPr>
          <p:cNvPr id="260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60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131</a:t>
            </a:r>
            <a:endParaRPr b="0" lang="en-US" sz="900" spc="-1" strike="noStrike">
              <a:solidFill>
                <a:srgbClr val="000000"/>
              </a:solidFill>
              <a:latin typeface="Arial"/>
            </a:endParaRPr>
          </a:p>
        </p:txBody>
      </p:sp>
      <p:sp>
        <p:nvSpPr>
          <p:cNvPr id="2603" name="Rectangle 8"/>
          <p:cNvSpPr/>
          <p:nvPr/>
        </p:nvSpPr>
        <p:spPr>
          <a:xfrm>
            <a:off x="5670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04" name="Rectangle 9"/>
          <p:cNvSpPr/>
          <p:nvPr/>
        </p:nvSpPr>
        <p:spPr>
          <a:xfrm>
            <a:off x="567000" y="1481400"/>
            <a:ext cx="5373000" cy="42012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05"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Qué hace exactamente STO / HWBB</a:t>
            </a:r>
            <a:endParaRPr b="0" lang="en-US" sz="1350" spc="-1" strike="noStrike">
              <a:solidFill>
                <a:srgbClr val="000000"/>
              </a:solidFill>
              <a:latin typeface="Arial"/>
            </a:endParaRPr>
          </a:p>
        </p:txBody>
      </p:sp>
      <p:sp>
        <p:nvSpPr>
          <p:cNvPr id="2606" name="TextBox 11"/>
          <p:cNvSpPr/>
          <p:nvPr/>
        </p:nvSpPr>
        <p:spPr>
          <a:xfrm>
            <a:off x="768240" y="2048400"/>
            <a:ext cx="4970880" cy="275904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320" spc="-1" strike="noStrike">
                <a:solidFill>
                  <a:srgbClr val="1c2430"/>
                </a:solidFill>
                <a:latin typeface="Segoe UI"/>
              </a:rPr>
              <a:t>Corta por hardware las señales de disparo de los transistores de potencia: el motor deja de recibir par de forma segura.</a:t>
            </a:r>
            <a:endParaRPr b="0" lang="en-US" sz="13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20" spc="-1" strike="noStrike">
                <a:solidFill>
                  <a:srgbClr val="1c2430"/>
                </a:solidFill>
                <a:latin typeface="Segoe UI"/>
              </a:rPr>
              <a:t>Actúa por dos canales independientes, de modo que un fallo en uno no impide la función.</a:t>
            </a:r>
            <a:endParaRPr b="0" lang="en-US" sz="13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20" spc="-1" strike="noStrike">
                <a:solidFill>
                  <a:srgbClr val="1c2430"/>
                </a:solidFill>
                <a:latin typeface="Segoe UI"/>
              </a:rPr>
              <a:t>El eje queda libre: se detendrá por su propia inercia y rozamiento, o por el freno dinámico si está configurado.</a:t>
            </a:r>
            <a:endParaRPr b="0" lang="en-US" sz="13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320" spc="-1" strike="noStrike">
                <a:solidFill>
                  <a:srgbClr val="1c2430"/>
                </a:solidFill>
                <a:latin typeface="Segoe UI"/>
              </a:rPr>
              <a:t>Es una función de par cero, no de posición ni de velocidad.</a:t>
            </a:r>
            <a:endParaRPr b="0" lang="en-US" sz="132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180" spc="-1" strike="noStrike">
                <a:solidFill>
                  <a:srgbClr val="333f4c"/>
                </a:solidFill>
                <a:latin typeface="Segoe UI"/>
              </a:rPr>
              <a:t>Tiempo de respuesta muy corto, sin depender del software del drive.</a:t>
            </a:r>
            <a:endParaRPr b="0" lang="en-US" sz="1180" spc="-1" strike="noStrike">
              <a:solidFill>
                <a:srgbClr val="000000"/>
              </a:solidFill>
              <a:latin typeface="Arial"/>
            </a:endParaRPr>
          </a:p>
        </p:txBody>
      </p:sp>
      <p:sp>
        <p:nvSpPr>
          <p:cNvPr id="2607" name="Rectangle 12"/>
          <p:cNvSpPr/>
          <p:nvPr/>
        </p:nvSpPr>
        <p:spPr>
          <a:xfrm>
            <a:off x="62514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08" name="Rectangle 13"/>
          <p:cNvSpPr/>
          <p:nvPr/>
        </p:nvSpPr>
        <p:spPr>
          <a:xfrm>
            <a:off x="6251400" y="1481400"/>
            <a:ext cx="5373000" cy="42012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09"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Qué NO hace y qué debes prever</a:t>
            </a:r>
            <a:endParaRPr b="0" lang="en-US" sz="1350" spc="-1" strike="noStrike">
              <a:solidFill>
                <a:srgbClr val="000000"/>
              </a:solidFill>
              <a:latin typeface="Arial"/>
            </a:endParaRPr>
          </a:p>
        </p:txBody>
      </p:sp>
      <p:sp>
        <p:nvSpPr>
          <p:cNvPr id="2610" name="TextBox 15"/>
          <p:cNvSpPr/>
          <p:nvPr/>
        </p:nvSpPr>
        <p:spPr>
          <a:xfrm>
            <a:off x="6452640" y="2048400"/>
            <a:ext cx="4970880" cy="298980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No frena el eje: en una máquina con gran inercia, el movimiento puede continuar durante segundos.</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No sostiene la carga: en un eje vertical, la carga cae. Hay que combinarlo con freno y con un análisis específico.</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No corta la tensión del bus de continua: sigue habiendo energía peligrosa dentro del equipo.</a:t>
            </a:r>
            <a:endParaRPr b="0" lang="en-US" sz="122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20" spc="-1" strike="noStrike">
                <a:solidFill>
                  <a:srgbClr val="1c2430"/>
                </a:solidFill>
                <a:latin typeface="Segoe UI"/>
              </a:rPr>
              <a:t>No sustituye al seccionamiento para trabajos de mantenimiento: para intervenir hay que consignar la instalación.</a:t>
            </a:r>
            <a:endParaRPr b="0" lang="en-US" sz="1220" spc="-1" strike="noStrike">
              <a:solidFill>
                <a:srgbClr val="000000"/>
              </a:solidFill>
              <a:latin typeface="Arial"/>
            </a:endParaRPr>
          </a:p>
          <a:p>
            <a:pPr defTabSz="457200">
              <a:lnSpc>
                <a:spcPct val="106000"/>
              </a:lnSpc>
              <a:spcBef>
                <a:spcPts val="799"/>
              </a:spcBef>
              <a:spcAft>
                <a:spcPts val="901"/>
              </a:spcAft>
              <a:tabLst>
                <a:tab algn="l" pos="0"/>
              </a:tabLst>
            </a:pPr>
            <a:r>
              <a:rPr b="1" lang="en-US" sz="1180" spc="-1" strike="noStrike">
                <a:solidFill>
                  <a:srgbClr val="1b5ea8"/>
                </a:solidFill>
                <a:latin typeface="Segoe UI Semibold"/>
              </a:rPr>
              <a:t>Cuando hace falta parada controlada</a:t>
            </a:r>
            <a:endParaRPr b="0" lang="en-US" sz="118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70" spc="-1" strike="noStrike">
                <a:solidFill>
                  <a:srgbClr val="333f4c"/>
                </a:solidFill>
                <a:latin typeface="Segoe UI"/>
              </a:rPr>
              <a:t>Combinar con un módulo de seguridad temporizado: parada controlada por el drive y, transcurrido el tiempo, STO.</a:t>
            </a:r>
            <a:endParaRPr b="0" lang="en-US" sz="1070" spc="-1" strike="noStrike">
              <a:solidFill>
                <a:srgbClr val="000000"/>
              </a:solidFill>
              <a:latin typeface="Arial"/>
            </a:endParaRPr>
          </a:p>
        </p:txBody>
      </p:sp>
      <p:sp>
        <p:nvSpPr>
          <p:cNvPr id="2611" name="Rectangle 16"/>
          <p:cNvSpPr/>
          <p:nvPr/>
        </p:nvSpPr>
        <p:spPr>
          <a:xfrm>
            <a:off x="567000" y="5459040"/>
            <a:ext cx="11057400" cy="868320"/>
          </a:xfrm>
          <a:prstGeom prst="rect">
            <a:avLst/>
          </a:prstGeom>
          <a:solidFill>
            <a:srgbClr val="fae6e3"/>
          </a:solidFill>
          <a:ln>
            <a:solidFill>
              <a:srgbClr val="c0392b"/>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12" name="Rectangle 17"/>
          <p:cNvSpPr/>
          <p:nvPr/>
        </p:nvSpPr>
        <p:spPr>
          <a:xfrm>
            <a:off x="567000" y="5459040"/>
            <a:ext cx="68400" cy="86832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13" name="TextBox 18"/>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c0392b"/>
                </a:solidFill>
                <a:latin typeface="Segoe UI Semibold"/>
              </a:rPr>
              <a:t>Escenario que hay que evitar</a:t>
            </a:r>
            <a:endParaRPr b="0" lang="en-US" sz="1200" spc="-1" strike="noStrike">
              <a:solidFill>
                <a:srgbClr val="000000"/>
              </a:solidFill>
              <a:latin typeface="Arial"/>
            </a:endParaRPr>
          </a:p>
        </p:txBody>
      </p:sp>
      <p:sp>
        <p:nvSpPr>
          <p:cNvPr id="2614" name="TextBox 19"/>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Un eje vertical de 3 kW con carga suspendida y sólo STO como medida de seguridad. Al activarse, el motor deja de dar par y la carga cae. La protección de una zona bajo carga suspendida exige medidas adicionales (freno con vigilancia, bloqueo mecánico) definidas en el análisis de riesgos.</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1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617" name="TextBox 3"/>
          <p:cNvSpPr/>
          <p:nvPr/>
        </p:nvSpPr>
        <p:spPr>
          <a:xfrm>
            <a:off x="567000" y="182880"/>
            <a:ext cx="8954280" cy="372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440" spc="-1" strike="noStrike">
                <a:solidFill>
                  <a:srgbClr val="ffffff"/>
                </a:solidFill>
                <a:latin typeface="Segoe UI Semibold"/>
              </a:rPr>
              <a:t>Validación y mantenimiento de la función de seguridad</a:t>
            </a:r>
            <a:endParaRPr b="0" lang="en-US" sz="2440" spc="-1" strike="noStrike">
              <a:solidFill>
                <a:srgbClr val="000000"/>
              </a:solidFill>
              <a:latin typeface="Arial"/>
            </a:endParaRPr>
          </a:p>
        </p:txBody>
      </p:sp>
      <p:sp>
        <p:nvSpPr>
          <p:cNvPr id="261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Una función de seguridad que no se prueba no es una función de seguridad</a:t>
            </a:r>
            <a:endParaRPr b="0" lang="en-US" sz="1250" spc="-1" strike="noStrike">
              <a:solidFill>
                <a:srgbClr val="000000"/>
              </a:solidFill>
              <a:latin typeface="Arial"/>
            </a:endParaRPr>
          </a:p>
        </p:txBody>
      </p:sp>
      <p:sp>
        <p:nvSpPr>
          <p:cNvPr id="261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10</a:t>
            </a:r>
            <a:endParaRPr b="0" lang="en-US" sz="1100" spc="-1" strike="noStrike">
              <a:solidFill>
                <a:srgbClr val="000000"/>
              </a:solidFill>
              <a:latin typeface="Arial"/>
            </a:endParaRPr>
          </a:p>
        </p:txBody>
      </p:sp>
      <p:sp>
        <p:nvSpPr>
          <p:cNvPr id="262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62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132</a:t>
            </a:r>
            <a:endParaRPr b="0" lang="en-US" sz="900" spc="-1" strike="noStrike">
              <a:solidFill>
                <a:srgbClr val="000000"/>
              </a:solidFill>
              <a:latin typeface="Arial"/>
            </a:endParaRPr>
          </a:p>
        </p:txBody>
      </p:sp>
      <p:sp>
        <p:nvSpPr>
          <p:cNvPr id="2622" name="Rectangle 8"/>
          <p:cNvSpPr/>
          <p:nvPr/>
        </p:nvSpPr>
        <p:spPr>
          <a:xfrm>
            <a:off x="567000" y="1481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23" name="Rectangle 9"/>
          <p:cNvSpPr/>
          <p:nvPr/>
        </p:nvSpPr>
        <p:spPr>
          <a:xfrm>
            <a:off x="567000" y="1481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24" name="TextBox 10"/>
          <p:cNvSpPr/>
          <p:nvPr/>
        </p:nvSpPr>
        <p:spPr>
          <a:xfrm>
            <a:off x="567000" y="1629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1</a:t>
            </a:r>
            <a:endParaRPr b="0" lang="en-US" sz="1700" spc="-1" strike="noStrike">
              <a:solidFill>
                <a:srgbClr val="000000"/>
              </a:solidFill>
              <a:latin typeface="Arial"/>
            </a:endParaRPr>
          </a:p>
        </p:txBody>
      </p:sp>
      <p:sp>
        <p:nvSpPr>
          <p:cNvPr id="2625" name="TextBox 11"/>
          <p:cNvSpPr/>
          <p:nvPr/>
        </p:nvSpPr>
        <p:spPr>
          <a:xfrm>
            <a:off x="1435680" y="1572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Verificar el cableado antes de la primera puesta en servicio</a:t>
            </a:r>
            <a:endParaRPr b="0" lang="en-US" sz="1100" spc="-1" strike="noStrike">
              <a:solidFill>
                <a:srgbClr val="000000"/>
              </a:solidFill>
              <a:latin typeface="Arial"/>
            </a:endParaRPr>
          </a:p>
        </p:txBody>
      </p:sp>
      <p:sp>
        <p:nvSpPr>
          <p:cNvPr id="2626" name="TextBox 12"/>
          <p:cNvSpPr/>
          <p:nvPr/>
        </p:nvSpPr>
        <p:spPr>
          <a:xfrm>
            <a:off x="1435680" y="1781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Los dos canales cableados de forma independiente, sin puentes, con la salida EDM conectada al módulo de seguridad.</a:t>
            </a:r>
            <a:endParaRPr b="0" lang="en-US" sz="900" spc="-1" strike="noStrike">
              <a:solidFill>
                <a:srgbClr val="000000"/>
              </a:solidFill>
              <a:latin typeface="Arial"/>
            </a:endParaRPr>
          </a:p>
        </p:txBody>
      </p:sp>
      <p:sp>
        <p:nvSpPr>
          <p:cNvPr id="2627" name="Rectangle 13"/>
          <p:cNvSpPr/>
          <p:nvPr/>
        </p:nvSpPr>
        <p:spPr>
          <a:xfrm>
            <a:off x="567000" y="2147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28" name="Rectangle 14"/>
          <p:cNvSpPr/>
          <p:nvPr/>
        </p:nvSpPr>
        <p:spPr>
          <a:xfrm>
            <a:off x="567000" y="2147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29" name="TextBox 15"/>
          <p:cNvSpPr/>
          <p:nvPr/>
        </p:nvSpPr>
        <p:spPr>
          <a:xfrm>
            <a:off x="567000" y="2295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2</a:t>
            </a:r>
            <a:endParaRPr b="0" lang="en-US" sz="1700" spc="-1" strike="noStrike">
              <a:solidFill>
                <a:srgbClr val="000000"/>
              </a:solidFill>
              <a:latin typeface="Arial"/>
            </a:endParaRPr>
          </a:p>
        </p:txBody>
      </p:sp>
      <p:sp>
        <p:nvSpPr>
          <p:cNvPr id="2630" name="TextBox 16"/>
          <p:cNvSpPr/>
          <p:nvPr/>
        </p:nvSpPr>
        <p:spPr>
          <a:xfrm>
            <a:off x="1435680" y="2238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Probar la activación de la función</a:t>
            </a:r>
            <a:endParaRPr b="0" lang="en-US" sz="1100" spc="-1" strike="noStrike">
              <a:solidFill>
                <a:srgbClr val="000000"/>
              </a:solidFill>
              <a:latin typeface="Arial"/>
            </a:endParaRPr>
          </a:p>
        </p:txBody>
      </p:sp>
      <p:sp>
        <p:nvSpPr>
          <p:cNvPr id="2631" name="TextBox 17"/>
          <p:cNvSpPr/>
          <p:nvPr/>
        </p:nvSpPr>
        <p:spPr>
          <a:xfrm>
            <a:off x="1435680" y="2447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Con el motor girando en condiciones controladas, activar la seguridad y comprobar que el par desaparece de inmediato.</a:t>
            </a:r>
            <a:endParaRPr b="0" lang="en-US" sz="900" spc="-1" strike="noStrike">
              <a:solidFill>
                <a:srgbClr val="000000"/>
              </a:solidFill>
              <a:latin typeface="Arial"/>
            </a:endParaRPr>
          </a:p>
        </p:txBody>
      </p:sp>
      <p:sp>
        <p:nvSpPr>
          <p:cNvPr id="2632" name="Rectangle 18"/>
          <p:cNvSpPr/>
          <p:nvPr/>
        </p:nvSpPr>
        <p:spPr>
          <a:xfrm>
            <a:off x="567000" y="2813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33" name="Rectangle 19"/>
          <p:cNvSpPr/>
          <p:nvPr/>
        </p:nvSpPr>
        <p:spPr>
          <a:xfrm>
            <a:off x="567000" y="2813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34" name="TextBox 20"/>
          <p:cNvSpPr/>
          <p:nvPr/>
        </p:nvSpPr>
        <p:spPr>
          <a:xfrm>
            <a:off x="567000" y="2961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3</a:t>
            </a:r>
            <a:endParaRPr b="0" lang="en-US" sz="1700" spc="-1" strike="noStrike">
              <a:solidFill>
                <a:srgbClr val="000000"/>
              </a:solidFill>
              <a:latin typeface="Arial"/>
            </a:endParaRPr>
          </a:p>
        </p:txBody>
      </p:sp>
      <p:sp>
        <p:nvSpPr>
          <p:cNvPr id="2635" name="TextBox 21"/>
          <p:cNvSpPr/>
          <p:nvPr/>
        </p:nvSpPr>
        <p:spPr>
          <a:xfrm>
            <a:off x="1435680" y="2904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Probar el fallo de un solo canal</a:t>
            </a:r>
            <a:endParaRPr b="0" lang="en-US" sz="1100" spc="-1" strike="noStrike">
              <a:solidFill>
                <a:srgbClr val="000000"/>
              </a:solidFill>
              <a:latin typeface="Arial"/>
            </a:endParaRPr>
          </a:p>
        </p:txBody>
      </p:sp>
      <p:sp>
        <p:nvSpPr>
          <p:cNvPr id="2636" name="TextBox 22"/>
          <p:cNvSpPr/>
          <p:nvPr/>
        </p:nvSpPr>
        <p:spPr>
          <a:xfrm>
            <a:off x="1435680" y="3113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Interrumpir un solo canal: el módulo de seguridad debe detectar la discrepancia mediante EDM y pasar a estado seguro.</a:t>
            </a:r>
            <a:endParaRPr b="0" lang="en-US" sz="900" spc="-1" strike="noStrike">
              <a:solidFill>
                <a:srgbClr val="000000"/>
              </a:solidFill>
              <a:latin typeface="Arial"/>
            </a:endParaRPr>
          </a:p>
        </p:txBody>
      </p:sp>
      <p:sp>
        <p:nvSpPr>
          <p:cNvPr id="2637" name="Rectangle 23"/>
          <p:cNvSpPr/>
          <p:nvPr/>
        </p:nvSpPr>
        <p:spPr>
          <a:xfrm>
            <a:off x="567000" y="3479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38" name="Rectangle 24"/>
          <p:cNvSpPr/>
          <p:nvPr/>
        </p:nvSpPr>
        <p:spPr>
          <a:xfrm>
            <a:off x="567000" y="3479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39" name="TextBox 25"/>
          <p:cNvSpPr/>
          <p:nvPr/>
        </p:nvSpPr>
        <p:spPr>
          <a:xfrm>
            <a:off x="567000" y="3627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4</a:t>
            </a:r>
            <a:endParaRPr b="0" lang="en-US" sz="1700" spc="-1" strike="noStrike">
              <a:solidFill>
                <a:srgbClr val="000000"/>
              </a:solidFill>
              <a:latin typeface="Arial"/>
            </a:endParaRPr>
          </a:p>
        </p:txBody>
      </p:sp>
      <p:sp>
        <p:nvSpPr>
          <p:cNvPr id="2640" name="TextBox 26"/>
          <p:cNvSpPr/>
          <p:nvPr/>
        </p:nvSpPr>
        <p:spPr>
          <a:xfrm>
            <a:off x="1435680" y="3570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Verificar el tiempo de parada real de la máquina</a:t>
            </a:r>
            <a:endParaRPr b="0" lang="en-US" sz="1100" spc="-1" strike="noStrike">
              <a:solidFill>
                <a:srgbClr val="000000"/>
              </a:solidFill>
              <a:latin typeface="Arial"/>
            </a:endParaRPr>
          </a:p>
        </p:txBody>
      </p:sp>
      <p:sp>
        <p:nvSpPr>
          <p:cNvPr id="2641" name="TextBox 27"/>
          <p:cNvSpPr/>
          <p:nvPr/>
        </p:nvSpPr>
        <p:spPr>
          <a:xfrm>
            <a:off x="1435680" y="3779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Medirlo, no estimarlo. Es el dato que determina las distancias de seguridad de resguardos y barreras.</a:t>
            </a:r>
            <a:endParaRPr b="0" lang="en-US" sz="900" spc="-1" strike="noStrike">
              <a:solidFill>
                <a:srgbClr val="000000"/>
              </a:solidFill>
              <a:latin typeface="Arial"/>
            </a:endParaRPr>
          </a:p>
        </p:txBody>
      </p:sp>
      <p:sp>
        <p:nvSpPr>
          <p:cNvPr id="2642" name="Rectangle 28"/>
          <p:cNvSpPr/>
          <p:nvPr/>
        </p:nvSpPr>
        <p:spPr>
          <a:xfrm>
            <a:off x="567000" y="4145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43" name="Rectangle 29"/>
          <p:cNvSpPr/>
          <p:nvPr/>
        </p:nvSpPr>
        <p:spPr>
          <a:xfrm>
            <a:off x="567000" y="4145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44" name="TextBox 30"/>
          <p:cNvSpPr/>
          <p:nvPr/>
        </p:nvSpPr>
        <p:spPr>
          <a:xfrm>
            <a:off x="567000" y="4293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5</a:t>
            </a:r>
            <a:endParaRPr b="0" lang="en-US" sz="1700" spc="-1" strike="noStrike">
              <a:solidFill>
                <a:srgbClr val="000000"/>
              </a:solidFill>
              <a:latin typeface="Arial"/>
            </a:endParaRPr>
          </a:p>
        </p:txBody>
      </p:sp>
      <p:sp>
        <p:nvSpPr>
          <p:cNvPr id="2645" name="TextBox 31"/>
          <p:cNvSpPr/>
          <p:nvPr/>
        </p:nvSpPr>
        <p:spPr>
          <a:xfrm>
            <a:off x="1435680" y="4236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Documentar la prueba</a:t>
            </a:r>
            <a:endParaRPr b="0" lang="en-US" sz="1100" spc="-1" strike="noStrike">
              <a:solidFill>
                <a:srgbClr val="000000"/>
              </a:solidFill>
              <a:latin typeface="Arial"/>
            </a:endParaRPr>
          </a:p>
        </p:txBody>
      </p:sp>
      <p:sp>
        <p:nvSpPr>
          <p:cNvPr id="2646" name="TextBox 32"/>
          <p:cNvSpPr/>
          <p:nvPr/>
        </p:nvSpPr>
        <p:spPr>
          <a:xfrm>
            <a:off x="1435680" y="4445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Fecha, responsable, resultado y condiciones. Forma parte del expediente técnico de la máquina.</a:t>
            </a:r>
            <a:endParaRPr b="0" lang="en-US" sz="900" spc="-1" strike="noStrike">
              <a:solidFill>
                <a:srgbClr val="000000"/>
              </a:solidFill>
              <a:latin typeface="Arial"/>
            </a:endParaRPr>
          </a:p>
        </p:txBody>
      </p:sp>
      <p:sp>
        <p:nvSpPr>
          <p:cNvPr id="2647" name="Rectangle 33"/>
          <p:cNvSpPr/>
          <p:nvPr/>
        </p:nvSpPr>
        <p:spPr>
          <a:xfrm>
            <a:off x="567000" y="4811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48" name="Rectangle 34"/>
          <p:cNvSpPr/>
          <p:nvPr/>
        </p:nvSpPr>
        <p:spPr>
          <a:xfrm>
            <a:off x="567000" y="4811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49" name="TextBox 35"/>
          <p:cNvSpPr/>
          <p:nvPr/>
        </p:nvSpPr>
        <p:spPr>
          <a:xfrm>
            <a:off x="567000" y="4959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6</a:t>
            </a:r>
            <a:endParaRPr b="0" lang="en-US" sz="1700" spc="-1" strike="noStrike">
              <a:solidFill>
                <a:srgbClr val="000000"/>
              </a:solidFill>
              <a:latin typeface="Arial"/>
            </a:endParaRPr>
          </a:p>
        </p:txBody>
      </p:sp>
      <p:sp>
        <p:nvSpPr>
          <p:cNvPr id="2650" name="TextBox 36"/>
          <p:cNvSpPr/>
          <p:nvPr/>
        </p:nvSpPr>
        <p:spPr>
          <a:xfrm>
            <a:off x="1435680" y="4902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Repetir periódicamente</a:t>
            </a:r>
            <a:endParaRPr b="0" lang="en-US" sz="1100" spc="-1" strike="noStrike">
              <a:solidFill>
                <a:srgbClr val="000000"/>
              </a:solidFill>
              <a:latin typeface="Arial"/>
            </a:endParaRPr>
          </a:p>
        </p:txBody>
      </p:sp>
      <p:sp>
        <p:nvSpPr>
          <p:cNvPr id="2651" name="TextBox 37"/>
          <p:cNvSpPr/>
          <p:nvPr/>
        </p:nvSpPr>
        <p:spPr>
          <a:xfrm>
            <a:off x="1435680" y="5111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La frecuencia la determina el análisis de riesgos; en muchos casos, al menos una vez al año y tras cualquier intervención.</a:t>
            </a:r>
            <a:endParaRPr b="0" lang="en-US" sz="900" spc="-1" strike="noStrike">
              <a:solidFill>
                <a:srgbClr val="000000"/>
              </a:solidFill>
              <a:latin typeface="Arial"/>
            </a:endParaRPr>
          </a:p>
        </p:txBody>
      </p:sp>
      <p:sp>
        <p:nvSpPr>
          <p:cNvPr id="2652" name="Rectangle 38"/>
          <p:cNvSpPr/>
          <p:nvPr/>
        </p:nvSpPr>
        <p:spPr>
          <a:xfrm>
            <a:off x="567000" y="5504760"/>
            <a:ext cx="11057400" cy="82260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53" name="Rectangle 39"/>
          <p:cNvSpPr/>
          <p:nvPr/>
        </p:nvSpPr>
        <p:spPr>
          <a:xfrm>
            <a:off x="567000" y="5504760"/>
            <a:ext cx="68400" cy="82260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54" name="TextBox 40"/>
          <p:cNvSpPr/>
          <p:nvPr/>
        </p:nvSpPr>
        <p:spPr>
          <a:xfrm>
            <a:off x="841320" y="564192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1b5ea8"/>
                </a:solidFill>
                <a:latin typeface="Segoe UI Semibold"/>
              </a:rPr>
              <a:t>El error de instalación más frecuente</a:t>
            </a:r>
            <a:endParaRPr b="0" lang="en-US" sz="1200" spc="-1" strike="noStrike">
              <a:solidFill>
                <a:srgbClr val="000000"/>
              </a:solidFill>
              <a:latin typeface="Arial"/>
            </a:endParaRPr>
          </a:p>
        </p:txBody>
      </p:sp>
      <p:sp>
        <p:nvSpPr>
          <p:cNvPr id="2655" name="TextBox 41"/>
          <p:cNvSpPr/>
          <p:nvPr/>
        </p:nvSpPr>
        <p:spPr>
          <a:xfrm>
            <a:off x="841320" y="591624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Dejar el puente de fábrica de </a:t>
            </a:r>
            <a:r>
              <a:rPr b="0" lang="en-US" sz="1150" spc="-1" strike="noStrike">
                <a:solidFill>
                  <a:srgbClr val="2b3644"/>
                </a:solidFill>
                <a:latin typeface="Consolas"/>
              </a:rPr>
              <a:t>CN8</a:t>
            </a:r>
            <a:r>
              <a:rPr b="0" lang="en-US" sz="1150" spc="-1" strike="noStrike">
                <a:solidFill>
                  <a:srgbClr val="2b3644"/>
                </a:solidFill>
                <a:latin typeface="Segoe UI"/>
              </a:rPr>
              <a:t> y creer que la máquina tiene STO. El hardware está preparado, pero la función no está en servicio: el circuito de seguridad debe cablearse de verdad.</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6" name="Rectangle 1"/>
          <p:cNvSpPr/>
          <p:nvPr/>
        </p:nvSpPr>
        <p:spPr>
          <a:xfrm>
            <a:off x="0" y="0"/>
            <a:ext cx="12191400" cy="68576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57" name="Rectangle 2"/>
          <p:cNvSpPr/>
          <p:nvPr/>
        </p:nvSpPr>
        <p:spPr>
          <a:xfrm>
            <a:off x="0" y="0"/>
            <a:ext cx="383760" cy="6857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58" name="TextBox 3"/>
          <p:cNvSpPr/>
          <p:nvPr/>
        </p:nvSpPr>
        <p:spPr>
          <a:xfrm>
            <a:off x="1051560" y="1234440"/>
            <a:ext cx="5486040" cy="8841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5800" spc="-1" strike="noStrike">
                <a:solidFill>
                  <a:srgbClr val="143a63"/>
                </a:solidFill>
                <a:latin typeface="Segoe UI Semibold"/>
              </a:rPr>
              <a:t>MÓDULO 11</a:t>
            </a:r>
            <a:endParaRPr b="0" lang="en-US" sz="5800" spc="-1" strike="noStrike">
              <a:solidFill>
                <a:srgbClr val="000000"/>
              </a:solidFill>
              <a:latin typeface="Arial"/>
            </a:endParaRPr>
          </a:p>
        </p:txBody>
      </p:sp>
      <p:sp>
        <p:nvSpPr>
          <p:cNvPr id="2659" name="TextBox 4"/>
          <p:cNvSpPr/>
          <p:nvPr/>
        </p:nvSpPr>
        <p:spPr>
          <a:xfrm>
            <a:off x="1051560" y="2331720"/>
            <a:ext cx="9875160" cy="54396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1" lang="en-US" sz="3400" spc="-1" strike="noStrike">
                <a:solidFill>
                  <a:srgbClr val="ffffff"/>
                </a:solidFill>
                <a:latin typeface="Segoe UI Semibold"/>
              </a:rPr>
              <a:t>Diagnóstico, alarmas y mantenimiento</a:t>
            </a:r>
            <a:endParaRPr b="0" lang="en-US" sz="3400" spc="-1" strike="noStrike">
              <a:solidFill>
                <a:srgbClr val="000000"/>
              </a:solidFill>
              <a:latin typeface="Arial"/>
            </a:endParaRPr>
          </a:p>
        </p:txBody>
      </p:sp>
      <p:sp>
        <p:nvSpPr>
          <p:cNvPr id="2660" name="Rectangle 5"/>
          <p:cNvSpPr/>
          <p:nvPr/>
        </p:nvSpPr>
        <p:spPr>
          <a:xfrm>
            <a:off x="1051560" y="3703320"/>
            <a:ext cx="1279800" cy="453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2661" name="Rectangle 6"/>
          <p:cNvSpPr/>
          <p:nvPr/>
        </p:nvSpPr>
        <p:spPr>
          <a:xfrm>
            <a:off x="1051560" y="41468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62" name="TextBox 7"/>
          <p:cNvSpPr/>
          <p:nvPr/>
        </p:nvSpPr>
        <p:spPr>
          <a:xfrm>
            <a:off x="1325880" y="40690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Un método de diagnóstico que funciona siempre</a:t>
            </a:r>
            <a:endParaRPr b="0" lang="en-US" sz="1350" spc="-1" strike="noStrike">
              <a:solidFill>
                <a:srgbClr val="000000"/>
              </a:solidFill>
              <a:latin typeface="Arial"/>
            </a:endParaRPr>
          </a:p>
        </p:txBody>
      </p:sp>
      <p:sp>
        <p:nvSpPr>
          <p:cNvPr id="2663" name="Rectangle 8"/>
          <p:cNvSpPr/>
          <p:nvPr/>
        </p:nvSpPr>
        <p:spPr>
          <a:xfrm>
            <a:off x="1051560" y="451260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64" name="TextBox 9"/>
          <p:cNvSpPr/>
          <p:nvPr/>
        </p:nvSpPr>
        <p:spPr>
          <a:xfrm>
            <a:off x="1325880" y="443484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Alarmas y avisos: cómo leerlos, cómo reiniciarlos</a:t>
            </a:r>
            <a:endParaRPr b="0" lang="en-US" sz="1350" spc="-1" strike="noStrike">
              <a:solidFill>
                <a:srgbClr val="000000"/>
              </a:solidFill>
              <a:latin typeface="Arial"/>
            </a:endParaRPr>
          </a:p>
        </p:txBody>
      </p:sp>
      <p:sp>
        <p:nvSpPr>
          <p:cNvPr id="2665" name="Rectangle 10"/>
          <p:cNvSpPr/>
          <p:nvPr/>
        </p:nvSpPr>
        <p:spPr>
          <a:xfrm>
            <a:off x="1051560" y="487836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66" name="TextBox 11"/>
          <p:cNvSpPr/>
          <p:nvPr/>
        </p:nvSpPr>
        <p:spPr>
          <a:xfrm>
            <a:off x="1325880" y="480060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Las alarmas que verás de verdad, ordenadas por familia</a:t>
            </a:r>
            <a:endParaRPr b="0" lang="en-US" sz="1350" spc="-1" strike="noStrike">
              <a:solidFill>
                <a:srgbClr val="000000"/>
              </a:solidFill>
              <a:latin typeface="Arial"/>
            </a:endParaRPr>
          </a:p>
        </p:txBody>
      </p:sp>
      <p:sp>
        <p:nvSpPr>
          <p:cNvPr id="2667" name="Rectangle 12"/>
          <p:cNvSpPr/>
          <p:nvPr/>
        </p:nvSpPr>
        <p:spPr>
          <a:xfrm>
            <a:off x="1051560" y="524412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68" name="TextBox 13"/>
          <p:cNvSpPr/>
          <p:nvPr/>
        </p:nvSpPr>
        <p:spPr>
          <a:xfrm>
            <a:off x="1325880" y="516636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Árboles de decisión para los tres fallos más frecuentes</a:t>
            </a:r>
            <a:endParaRPr b="0" lang="en-US" sz="1350" spc="-1" strike="noStrike">
              <a:solidFill>
                <a:srgbClr val="000000"/>
              </a:solidFill>
              <a:latin typeface="Arial"/>
            </a:endParaRPr>
          </a:p>
        </p:txBody>
      </p:sp>
      <p:sp>
        <p:nvSpPr>
          <p:cNvPr id="2669" name="Rectangle 14"/>
          <p:cNvSpPr/>
          <p:nvPr/>
        </p:nvSpPr>
        <p:spPr>
          <a:xfrm>
            <a:off x="1051560" y="560988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70" name="TextBox 15"/>
          <p:cNvSpPr/>
          <p:nvPr/>
        </p:nvSpPr>
        <p:spPr>
          <a:xfrm>
            <a:off x="1325880" y="553212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Mantenimiento preventivo y vida útil de los componentes</a:t>
            </a:r>
            <a:endParaRPr b="0" lang="en-US" sz="1350" spc="-1" strike="noStrike">
              <a:solidFill>
                <a:srgbClr val="000000"/>
              </a:solidFill>
              <a:latin typeface="Arial"/>
            </a:endParaRPr>
          </a:p>
        </p:txBody>
      </p:sp>
      <p:sp>
        <p:nvSpPr>
          <p:cNvPr id="2671" name="Rectangle 16"/>
          <p:cNvSpPr/>
          <p:nvPr/>
        </p:nvSpPr>
        <p:spPr>
          <a:xfrm>
            <a:off x="1051560" y="59756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72" name="TextBox 17"/>
          <p:cNvSpPr/>
          <p:nvPr/>
        </p:nvSpPr>
        <p:spPr>
          <a:xfrm>
            <a:off x="1325880" y="58978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Sustitución de equipo sin perder un día de producción</a:t>
            </a:r>
            <a:endParaRPr b="0" lang="en-US" sz="1350" spc="-1" strike="noStrike">
              <a:solidFill>
                <a:srgbClr val="000000"/>
              </a:solidFill>
              <a:latin typeface="Arial"/>
            </a:endParaRPr>
          </a:p>
        </p:txBody>
      </p:sp>
      <p:sp>
        <p:nvSpPr>
          <p:cNvPr id="2673" name="TextBox 18"/>
          <p:cNvSpPr/>
          <p:nvPr/>
        </p:nvSpPr>
        <p:spPr>
          <a:xfrm>
            <a:off x="1051560" y="6172200"/>
            <a:ext cx="73148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e89b1f"/>
                </a:solidFill>
                <a:latin typeface="Segoe UI"/>
              </a:rPr>
              <a:t>Duración orientativa: 4 h</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7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7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67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Un método de diagnóstico que funciona siempre</a:t>
            </a:r>
            <a:endParaRPr b="0" lang="en-US" sz="2500" spc="-1" strike="noStrike">
              <a:solidFill>
                <a:srgbClr val="000000"/>
              </a:solidFill>
              <a:latin typeface="Arial"/>
            </a:endParaRPr>
          </a:p>
        </p:txBody>
      </p:sp>
      <p:sp>
        <p:nvSpPr>
          <p:cNvPr id="267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Del síntoma a la causa en pasos verificables</a:t>
            </a:r>
            <a:endParaRPr b="0" lang="en-US" sz="1250" spc="-1" strike="noStrike">
              <a:solidFill>
                <a:srgbClr val="000000"/>
              </a:solidFill>
              <a:latin typeface="Arial"/>
            </a:endParaRPr>
          </a:p>
        </p:txBody>
      </p:sp>
      <p:sp>
        <p:nvSpPr>
          <p:cNvPr id="267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11</a:t>
            </a:r>
            <a:endParaRPr b="0" lang="en-US" sz="1100" spc="-1" strike="noStrike">
              <a:solidFill>
                <a:srgbClr val="000000"/>
              </a:solidFill>
              <a:latin typeface="Arial"/>
            </a:endParaRPr>
          </a:p>
        </p:txBody>
      </p:sp>
      <p:sp>
        <p:nvSpPr>
          <p:cNvPr id="267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68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134</a:t>
            </a:r>
            <a:endParaRPr b="0" lang="en-US" sz="900" spc="-1" strike="noStrike">
              <a:solidFill>
                <a:srgbClr val="000000"/>
              </a:solidFill>
              <a:latin typeface="Arial"/>
            </a:endParaRPr>
          </a:p>
        </p:txBody>
      </p:sp>
      <p:sp>
        <p:nvSpPr>
          <p:cNvPr id="2681" name="Rectangle 8"/>
          <p:cNvSpPr/>
          <p:nvPr/>
        </p:nvSpPr>
        <p:spPr>
          <a:xfrm>
            <a:off x="567000" y="1627560"/>
            <a:ext cx="11063880" cy="65808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82" name="Rectangle 9"/>
          <p:cNvSpPr/>
          <p:nvPr/>
        </p:nvSpPr>
        <p:spPr>
          <a:xfrm>
            <a:off x="567000" y="1627560"/>
            <a:ext cx="566640" cy="65808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83" name="TextBox 10"/>
          <p:cNvSpPr/>
          <p:nvPr/>
        </p:nvSpPr>
        <p:spPr>
          <a:xfrm>
            <a:off x="567000" y="1783080"/>
            <a:ext cx="566640" cy="2746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800" spc="-1" strike="noStrike">
                <a:solidFill>
                  <a:srgbClr val="ffffff"/>
                </a:solidFill>
                <a:latin typeface="Segoe UI"/>
              </a:rPr>
              <a:t>1</a:t>
            </a:r>
            <a:endParaRPr b="0" lang="en-US" sz="1800" spc="-1" strike="noStrike">
              <a:solidFill>
                <a:srgbClr val="000000"/>
              </a:solidFill>
              <a:latin typeface="Arial"/>
            </a:endParaRPr>
          </a:p>
        </p:txBody>
      </p:sp>
      <p:sp>
        <p:nvSpPr>
          <p:cNvPr id="2684" name="TextBox 11"/>
          <p:cNvSpPr/>
          <p:nvPr/>
        </p:nvSpPr>
        <p:spPr>
          <a:xfrm>
            <a:off x="1298520" y="1682640"/>
            <a:ext cx="28342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0b2545"/>
                </a:solidFill>
                <a:latin typeface="Segoe UI"/>
              </a:rPr>
              <a:t>OBSERVAR</a:t>
            </a:r>
            <a:endParaRPr b="0" lang="en-US" sz="1200" spc="-1" strike="noStrike">
              <a:solidFill>
                <a:srgbClr val="000000"/>
              </a:solidFill>
              <a:latin typeface="Arial"/>
            </a:endParaRPr>
          </a:p>
        </p:txBody>
      </p:sp>
      <p:sp>
        <p:nvSpPr>
          <p:cNvPr id="2685" name="TextBox 12"/>
          <p:cNvSpPr/>
          <p:nvPr/>
        </p:nvSpPr>
        <p:spPr>
          <a:xfrm>
            <a:off x="4206240" y="1691640"/>
            <a:ext cx="7223400" cy="329400"/>
          </a:xfrm>
          <a:prstGeom prst="rect">
            <a:avLst/>
          </a:prstGeom>
          <a:noFill/>
          <a:ln w="0">
            <a:noFill/>
          </a:ln>
        </p:spPr>
        <p:style>
          <a:lnRef idx="0"/>
          <a:fillRef idx="0"/>
          <a:effectRef idx="0"/>
          <a:fontRef idx="minor"/>
        </p:style>
        <p:txBody>
          <a:bodyPr lIns="0" rIns="0" tIns="0" bIns="0" anchor="t">
            <a:spAutoFit/>
          </a:bodyPr>
          <a:p>
            <a:pPr defTabSz="457200">
              <a:lnSpc>
                <a:spcPct val="108000"/>
              </a:lnSpc>
            </a:pPr>
            <a:r>
              <a:rPr b="0" lang="en-US" sz="1000" spc="-1" strike="noStrike">
                <a:solidFill>
                  <a:srgbClr val="1c2430"/>
                </a:solidFill>
                <a:latin typeface="Segoe UI"/>
              </a:rPr>
              <a:t>¿Qué muestra el display? ¿Alarma, aviso o nada?</a:t>
            </a:r>
            <a:endParaRPr b="0" lang="en-US" sz="1000" spc="-1" strike="noStrike">
              <a:solidFill>
                <a:srgbClr val="000000"/>
              </a:solidFill>
              <a:latin typeface="Arial"/>
            </a:endParaRPr>
          </a:p>
          <a:p>
            <a:pPr defTabSz="457200">
              <a:lnSpc>
                <a:spcPct val="108000"/>
              </a:lnSpc>
            </a:pPr>
            <a:r>
              <a:rPr b="0" lang="en-US" sz="1000" spc="-1" strike="noStrike">
                <a:solidFill>
                  <a:srgbClr val="1c2430"/>
                </a:solidFill>
                <a:latin typeface="Segoe UI"/>
              </a:rPr>
              <a:t>¿Qué estaba haciendo la máquina cuando falló?</a:t>
            </a:r>
            <a:endParaRPr b="0" lang="en-US" sz="1000" spc="-1" strike="noStrike">
              <a:solidFill>
                <a:srgbClr val="000000"/>
              </a:solidFill>
              <a:latin typeface="Arial"/>
            </a:endParaRPr>
          </a:p>
        </p:txBody>
      </p:sp>
      <p:sp>
        <p:nvSpPr>
          <p:cNvPr id="2686" name="Rectangle 13"/>
          <p:cNvSpPr/>
          <p:nvPr/>
        </p:nvSpPr>
        <p:spPr>
          <a:xfrm>
            <a:off x="567000" y="2336400"/>
            <a:ext cx="11063880" cy="65808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87" name="Rectangle 14"/>
          <p:cNvSpPr/>
          <p:nvPr/>
        </p:nvSpPr>
        <p:spPr>
          <a:xfrm>
            <a:off x="567000" y="2336400"/>
            <a:ext cx="566640" cy="65808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88" name="TextBox 15"/>
          <p:cNvSpPr/>
          <p:nvPr/>
        </p:nvSpPr>
        <p:spPr>
          <a:xfrm>
            <a:off x="567000" y="2491920"/>
            <a:ext cx="566640" cy="2746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800" spc="-1" strike="noStrike">
                <a:solidFill>
                  <a:srgbClr val="ffffff"/>
                </a:solidFill>
                <a:latin typeface="Segoe UI"/>
              </a:rPr>
              <a:t>2</a:t>
            </a:r>
            <a:endParaRPr b="0" lang="en-US" sz="1800" spc="-1" strike="noStrike">
              <a:solidFill>
                <a:srgbClr val="000000"/>
              </a:solidFill>
              <a:latin typeface="Arial"/>
            </a:endParaRPr>
          </a:p>
        </p:txBody>
      </p:sp>
      <p:sp>
        <p:nvSpPr>
          <p:cNvPr id="2689" name="TextBox 16"/>
          <p:cNvSpPr/>
          <p:nvPr/>
        </p:nvSpPr>
        <p:spPr>
          <a:xfrm>
            <a:off x="1298520" y="2391120"/>
            <a:ext cx="28342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1b5ea8"/>
                </a:solidFill>
                <a:latin typeface="Segoe UI"/>
              </a:rPr>
              <a:t>CONSULTAR EL HISTORIAL</a:t>
            </a:r>
            <a:endParaRPr b="0" lang="en-US" sz="1200" spc="-1" strike="noStrike">
              <a:solidFill>
                <a:srgbClr val="000000"/>
              </a:solidFill>
              <a:latin typeface="Arial"/>
            </a:endParaRPr>
          </a:p>
        </p:txBody>
      </p:sp>
      <p:sp>
        <p:nvSpPr>
          <p:cNvPr id="2690" name="TextBox 17"/>
          <p:cNvSpPr/>
          <p:nvPr/>
        </p:nvSpPr>
        <p:spPr>
          <a:xfrm>
            <a:off x="4206240" y="2400480"/>
            <a:ext cx="7223400" cy="329400"/>
          </a:xfrm>
          <a:prstGeom prst="rect">
            <a:avLst/>
          </a:prstGeom>
          <a:noFill/>
          <a:ln w="0">
            <a:noFill/>
          </a:ln>
        </p:spPr>
        <p:style>
          <a:lnRef idx="0"/>
          <a:fillRef idx="0"/>
          <a:effectRef idx="0"/>
          <a:fontRef idx="minor"/>
        </p:style>
        <p:txBody>
          <a:bodyPr lIns="0" rIns="0" tIns="0" bIns="0" anchor="t">
            <a:spAutoFit/>
          </a:bodyPr>
          <a:p>
            <a:pPr defTabSz="457200">
              <a:lnSpc>
                <a:spcPct val="108000"/>
              </a:lnSpc>
            </a:pPr>
            <a:r>
              <a:rPr b="0" lang="en-US" sz="1000" spc="-1" strike="noStrike">
                <a:solidFill>
                  <a:srgbClr val="1c2430"/>
                </a:solidFill>
                <a:latin typeface="Consolas"/>
              </a:rPr>
              <a:t>Fn000</a:t>
            </a:r>
            <a:r>
              <a:rPr b="0" lang="en-US" sz="1000" spc="-1" strike="noStrike">
                <a:solidFill>
                  <a:srgbClr val="1c2430"/>
                </a:solidFill>
                <a:latin typeface="Segoe UI"/>
              </a:rPr>
              <a:t> o SigmaWin+: ¿hay alarmas previas?</a:t>
            </a:r>
            <a:endParaRPr b="0" lang="en-US" sz="1000" spc="-1" strike="noStrike">
              <a:solidFill>
                <a:srgbClr val="000000"/>
              </a:solidFill>
              <a:latin typeface="Arial"/>
            </a:endParaRPr>
          </a:p>
          <a:p>
            <a:pPr defTabSz="457200">
              <a:lnSpc>
                <a:spcPct val="108000"/>
              </a:lnSpc>
            </a:pPr>
            <a:r>
              <a:rPr b="0" lang="en-US" sz="1000" spc="-1" strike="noStrike">
                <a:solidFill>
                  <a:srgbClr val="1c2430"/>
                </a:solidFill>
                <a:latin typeface="Segoe UI"/>
              </a:rPr>
              <a:t>¿Es la primera vez o se repite con un patrón?</a:t>
            </a:r>
            <a:endParaRPr b="0" lang="en-US" sz="1000" spc="-1" strike="noStrike">
              <a:solidFill>
                <a:srgbClr val="000000"/>
              </a:solidFill>
              <a:latin typeface="Arial"/>
            </a:endParaRPr>
          </a:p>
        </p:txBody>
      </p:sp>
      <p:sp>
        <p:nvSpPr>
          <p:cNvPr id="2691" name="Rectangle 18"/>
          <p:cNvSpPr/>
          <p:nvPr/>
        </p:nvSpPr>
        <p:spPr>
          <a:xfrm>
            <a:off x="567000" y="3044880"/>
            <a:ext cx="11063880" cy="65808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92" name="Rectangle 19"/>
          <p:cNvSpPr/>
          <p:nvPr/>
        </p:nvSpPr>
        <p:spPr>
          <a:xfrm>
            <a:off x="567000" y="3044880"/>
            <a:ext cx="566640" cy="658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93" name="TextBox 20"/>
          <p:cNvSpPr/>
          <p:nvPr/>
        </p:nvSpPr>
        <p:spPr>
          <a:xfrm>
            <a:off x="567000" y="3200400"/>
            <a:ext cx="566640" cy="2746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800" spc="-1" strike="noStrike">
                <a:solidFill>
                  <a:srgbClr val="ffffff"/>
                </a:solidFill>
                <a:latin typeface="Segoe UI"/>
              </a:rPr>
              <a:t>3</a:t>
            </a:r>
            <a:endParaRPr b="0" lang="en-US" sz="1800" spc="-1" strike="noStrike">
              <a:solidFill>
                <a:srgbClr val="000000"/>
              </a:solidFill>
              <a:latin typeface="Arial"/>
            </a:endParaRPr>
          </a:p>
        </p:txBody>
      </p:sp>
      <p:sp>
        <p:nvSpPr>
          <p:cNvPr id="2694" name="TextBox 21"/>
          <p:cNvSpPr/>
          <p:nvPr/>
        </p:nvSpPr>
        <p:spPr>
          <a:xfrm>
            <a:off x="1298520" y="3099960"/>
            <a:ext cx="28342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00a9ce"/>
                </a:solidFill>
                <a:latin typeface="Segoe UI"/>
              </a:rPr>
              <a:t>MEDIR</a:t>
            </a:r>
            <a:endParaRPr b="0" lang="en-US" sz="1200" spc="-1" strike="noStrike">
              <a:solidFill>
                <a:srgbClr val="000000"/>
              </a:solidFill>
              <a:latin typeface="Arial"/>
            </a:endParaRPr>
          </a:p>
        </p:txBody>
      </p:sp>
      <p:sp>
        <p:nvSpPr>
          <p:cNvPr id="2695" name="TextBox 22"/>
          <p:cNvSpPr/>
          <p:nvPr/>
        </p:nvSpPr>
        <p:spPr>
          <a:xfrm>
            <a:off x="4206240" y="3108960"/>
            <a:ext cx="7223400" cy="329400"/>
          </a:xfrm>
          <a:prstGeom prst="rect">
            <a:avLst/>
          </a:prstGeom>
          <a:noFill/>
          <a:ln w="0">
            <a:noFill/>
          </a:ln>
        </p:spPr>
        <p:style>
          <a:lnRef idx="0"/>
          <a:fillRef idx="0"/>
          <a:effectRef idx="0"/>
          <a:fontRef idx="minor"/>
        </p:style>
        <p:txBody>
          <a:bodyPr lIns="0" rIns="0" tIns="0" bIns="0" anchor="t">
            <a:spAutoFit/>
          </a:bodyPr>
          <a:p>
            <a:pPr defTabSz="457200">
              <a:lnSpc>
                <a:spcPct val="108000"/>
              </a:lnSpc>
            </a:pPr>
            <a:r>
              <a:rPr b="0" lang="en-US" sz="1000" spc="-1" strike="noStrike">
                <a:solidFill>
                  <a:srgbClr val="1c2430"/>
                </a:solidFill>
                <a:latin typeface="Segoe UI"/>
              </a:rPr>
              <a:t>Monitores </a:t>
            </a:r>
            <a:r>
              <a:rPr b="0" lang="en-US" sz="1000" spc="-1" strike="noStrike">
                <a:solidFill>
                  <a:srgbClr val="1c2430"/>
                </a:solidFill>
                <a:latin typeface="Consolas"/>
              </a:rPr>
              <a:t>Un</a:t>
            </a:r>
            <a:r>
              <a:rPr b="0" lang="en-US" sz="1000" spc="-1" strike="noStrike">
                <a:solidFill>
                  <a:srgbClr val="1c2430"/>
                </a:solidFill>
                <a:latin typeface="Segoe UI"/>
              </a:rPr>
              <a:t>: entradas, salidas, par, error de posición.</a:t>
            </a:r>
            <a:endParaRPr b="0" lang="en-US" sz="1000" spc="-1" strike="noStrike">
              <a:solidFill>
                <a:srgbClr val="000000"/>
              </a:solidFill>
              <a:latin typeface="Arial"/>
            </a:endParaRPr>
          </a:p>
          <a:p>
            <a:pPr defTabSz="457200">
              <a:lnSpc>
                <a:spcPct val="108000"/>
              </a:lnSpc>
            </a:pPr>
            <a:r>
              <a:rPr b="0" lang="en-US" sz="1000" spc="-1" strike="noStrike">
                <a:solidFill>
                  <a:srgbClr val="1c2430"/>
                </a:solidFill>
                <a:latin typeface="Segoe UI"/>
              </a:rPr>
              <a:t>Tensión de red, continuidad, aislamiento.</a:t>
            </a:r>
            <a:endParaRPr b="0" lang="en-US" sz="1000" spc="-1" strike="noStrike">
              <a:solidFill>
                <a:srgbClr val="000000"/>
              </a:solidFill>
              <a:latin typeface="Arial"/>
            </a:endParaRPr>
          </a:p>
        </p:txBody>
      </p:sp>
      <p:sp>
        <p:nvSpPr>
          <p:cNvPr id="2696" name="Rectangle 23"/>
          <p:cNvSpPr/>
          <p:nvPr/>
        </p:nvSpPr>
        <p:spPr>
          <a:xfrm>
            <a:off x="567000" y="3753720"/>
            <a:ext cx="11063880" cy="65808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97" name="Rectangle 24"/>
          <p:cNvSpPr/>
          <p:nvPr/>
        </p:nvSpPr>
        <p:spPr>
          <a:xfrm>
            <a:off x="567000" y="3753720"/>
            <a:ext cx="566640" cy="65808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698" name="TextBox 25"/>
          <p:cNvSpPr/>
          <p:nvPr/>
        </p:nvSpPr>
        <p:spPr>
          <a:xfrm>
            <a:off x="567000" y="3909240"/>
            <a:ext cx="566640" cy="2746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800" spc="-1" strike="noStrike">
                <a:solidFill>
                  <a:srgbClr val="ffffff"/>
                </a:solidFill>
                <a:latin typeface="Segoe UI"/>
              </a:rPr>
              <a:t>4</a:t>
            </a:r>
            <a:endParaRPr b="0" lang="en-US" sz="1800" spc="-1" strike="noStrike">
              <a:solidFill>
                <a:srgbClr val="000000"/>
              </a:solidFill>
              <a:latin typeface="Arial"/>
            </a:endParaRPr>
          </a:p>
        </p:txBody>
      </p:sp>
      <p:sp>
        <p:nvSpPr>
          <p:cNvPr id="2699" name="TextBox 26"/>
          <p:cNvSpPr/>
          <p:nvPr/>
        </p:nvSpPr>
        <p:spPr>
          <a:xfrm>
            <a:off x="1298520" y="3808440"/>
            <a:ext cx="28342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2e8b57"/>
                </a:solidFill>
                <a:latin typeface="Segoe UI"/>
              </a:rPr>
              <a:t>DIVIDIR EL SISTEMA</a:t>
            </a:r>
            <a:endParaRPr b="0" lang="en-US" sz="1200" spc="-1" strike="noStrike">
              <a:solidFill>
                <a:srgbClr val="000000"/>
              </a:solidFill>
              <a:latin typeface="Arial"/>
            </a:endParaRPr>
          </a:p>
        </p:txBody>
      </p:sp>
      <p:sp>
        <p:nvSpPr>
          <p:cNvPr id="2700" name="TextBox 27"/>
          <p:cNvSpPr/>
          <p:nvPr/>
        </p:nvSpPr>
        <p:spPr>
          <a:xfrm>
            <a:off x="4206240" y="3817800"/>
            <a:ext cx="7223400" cy="329400"/>
          </a:xfrm>
          <a:prstGeom prst="rect">
            <a:avLst/>
          </a:prstGeom>
          <a:noFill/>
          <a:ln w="0">
            <a:noFill/>
          </a:ln>
        </p:spPr>
        <p:style>
          <a:lnRef idx="0"/>
          <a:fillRef idx="0"/>
          <a:effectRef idx="0"/>
          <a:fontRef idx="minor"/>
        </p:style>
        <p:txBody>
          <a:bodyPr lIns="0" rIns="0" tIns="0" bIns="0" anchor="t">
            <a:spAutoFit/>
          </a:bodyPr>
          <a:p>
            <a:pPr defTabSz="457200">
              <a:lnSpc>
                <a:spcPct val="108000"/>
              </a:lnSpc>
            </a:pPr>
            <a:r>
              <a:rPr b="0" lang="en-US" sz="1000" spc="-1" strike="noStrike">
                <a:solidFill>
                  <a:srgbClr val="1c2430"/>
                </a:solidFill>
                <a:latin typeface="Segoe UI"/>
              </a:rPr>
              <a:t>JOG desde el panel: descarta controlador y cableado de mando.</a:t>
            </a:r>
            <a:endParaRPr b="0" lang="en-US" sz="1000" spc="-1" strike="noStrike">
              <a:solidFill>
                <a:srgbClr val="000000"/>
              </a:solidFill>
              <a:latin typeface="Arial"/>
            </a:endParaRPr>
          </a:p>
          <a:p>
            <a:pPr defTabSz="457200">
              <a:lnSpc>
                <a:spcPct val="108000"/>
              </a:lnSpc>
            </a:pPr>
            <a:r>
              <a:rPr b="0" lang="en-US" sz="1000" spc="-1" strike="noStrike">
                <a:solidFill>
                  <a:srgbClr val="1c2430"/>
                </a:solidFill>
                <a:latin typeface="Segoe UI"/>
              </a:rPr>
              <a:t>Desacoplar la carga: separa drive+motor de la mecánica.</a:t>
            </a:r>
            <a:endParaRPr b="0" lang="en-US" sz="1000" spc="-1" strike="noStrike">
              <a:solidFill>
                <a:srgbClr val="000000"/>
              </a:solidFill>
              <a:latin typeface="Arial"/>
            </a:endParaRPr>
          </a:p>
        </p:txBody>
      </p:sp>
      <p:sp>
        <p:nvSpPr>
          <p:cNvPr id="2701" name="Rectangle 28"/>
          <p:cNvSpPr/>
          <p:nvPr/>
        </p:nvSpPr>
        <p:spPr>
          <a:xfrm>
            <a:off x="567000" y="4462200"/>
            <a:ext cx="11063880" cy="65808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02" name="Rectangle 29"/>
          <p:cNvSpPr/>
          <p:nvPr/>
        </p:nvSpPr>
        <p:spPr>
          <a:xfrm>
            <a:off x="567000" y="4462200"/>
            <a:ext cx="566640" cy="65808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03" name="TextBox 30"/>
          <p:cNvSpPr/>
          <p:nvPr/>
        </p:nvSpPr>
        <p:spPr>
          <a:xfrm>
            <a:off x="567000" y="4617720"/>
            <a:ext cx="566640" cy="2746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800" spc="-1" strike="noStrike">
                <a:solidFill>
                  <a:srgbClr val="ffffff"/>
                </a:solidFill>
                <a:latin typeface="Segoe UI"/>
              </a:rPr>
              <a:t>5</a:t>
            </a:r>
            <a:endParaRPr b="0" lang="en-US" sz="1800" spc="-1" strike="noStrike">
              <a:solidFill>
                <a:srgbClr val="000000"/>
              </a:solidFill>
              <a:latin typeface="Arial"/>
            </a:endParaRPr>
          </a:p>
        </p:txBody>
      </p:sp>
      <p:sp>
        <p:nvSpPr>
          <p:cNvPr id="2704" name="TextBox 31"/>
          <p:cNvSpPr/>
          <p:nvPr/>
        </p:nvSpPr>
        <p:spPr>
          <a:xfrm>
            <a:off x="1298520" y="4517280"/>
            <a:ext cx="28342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a:rPr>
              <a:t>ACTUAR SOBRE UNA SOLA VARIABLE</a:t>
            </a:r>
            <a:endParaRPr b="0" lang="en-US" sz="1200" spc="-1" strike="noStrike">
              <a:solidFill>
                <a:srgbClr val="000000"/>
              </a:solidFill>
              <a:latin typeface="Arial"/>
            </a:endParaRPr>
          </a:p>
        </p:txBody>
      </p:sp>
      <p:sp>
        <p:nvSpPr>
          <p:cNvPr id="2705" name="TextBox 32"/>
          <p:cNvSpPr/>
          <p:nvPr/>
        </p:nvSpPr>
        <p:spPr>
          <a:xfrm>
            <a:off x="4206240" y="4526280"/>
            <a:ext cx="7223400" cy="164880"/>
          </a:xfrm>
          <a:prstGeom prst="rect">
            <a:avLst/>
          </a:prstGeom>
          <a:noFill/>
          <a:ln w="0">
            <a:noFill/>
          </a:ln>
        </p:spPr>
        <p:style>
          <a:lnRef idx="0"/>
          <a:fillRef idx="0"/>
          <a:effectRef idx="0"/>
          <a:fontRef idx="minor"/>
        </p:style>
        <p:txBody>
          <a:bodyPr lIns="0" rIns="0" tIns="0" bIns="0" anchor="t">
            <a:spAutoFit/>
          </a:bodyPr>
          <a:p>
            <a:pPr defTabSz="457200">
              <a:lnSpc>
                <a:spcPct val="108000"/>
              </a:lnSpc>
            </a:pPr>
            <a:r>
              <a:rPr b="0" lang="en-US" sz="1000" spc="-1" strike="noStrike">
                <a:solidFill>
                  <a:srgbClr val="1c2430"/>
                </a:solidFill>
                <a:latin typeface="Segoe UI"/>
              </a:rPr>
              <a:t>Un cambio cada vez, verificando el efecto antes del siguiente.</a:t>
            </a:r>
            <a:endParaRPr b="0" lang="en-US" sz="1000" spc="-1" strike="noStrike">
              <a:solidFill>
                <a:srgbClr val="000000"/>
              </a:solidFill>
              <a:latin typeface="Arial"/>
            </a:endParaRPr>
          </a:p>
        </p:txBody>
      </p:sp>
      <p:sp>
        <p:nvSpPr>
          <p:cNvPr id="2706" name="Rectangle 33"/>
          <p:cNvSpPr/>
          <p:nvPr/>
        </p:nvSpPr>
        <p:spPr>
          <a:xfrm>
            <a:off x="567000" y="5171040"/>
            <a:ext cx="11063880" cy="65808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07" name="Rectangle 34"/>
          <p:cNvSpPr/>
          <p:nvPr/>
        </p:nvSpPr>
        <p:spPr>
          <a:xfrm>
            <a:off x="567000" y="5171040"/>
            <a:ext cx="566640" cy="658080"/>
          </a:xfrm>
          <a:prstGeom prst="rect">
            <a:avLst/>
          </a:prstGeom>
          <a:solidFill>
            <a:srgbClr val="5a6b7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08" name="TextBox 35"/>
          <p:cNvSpPr/>
          <p:nvPr/>
        </p:nvSpPr>
        <p:spPr>
          <a:xfrm>
            <a:off x="567000" y="5326560"/>
            <a:ext cx="566640" cy="274680"/>
          </a:xfrm>
          <a:prstGeom prst="rect">
            <a:avLst/>
          </a:prstGeom>
          <a:noFill/>
          <a:ln w="0">
            <a:noFill/>
          </a:ln>
        </p:spPr>
        <p:style>
          <a:lnRef idx="0"/>
          <a:fillRef idx="0"/>
          <a:effectRef idx="0"/>
          <a:fontRef idx="minor"/>
        </p:style>
        <p:txBody>
          <a:bodyPr lIns="0" rIns="0" tIns="0" bIns="0" anchor="t">
            <a:spAutoFit/>
          </a:bodyPr>
          <a:p>
            <a:pPr algn="ctr" defTabSz="457200">
              <a:lnSpc>
                <a:spcPct val="100000"/>
              </a:lnSpc>
            </a:pPr>
            <a:r>
              <a:rPr b="1" lang="en-US" sz="1800" spc="-1" strike="noStrike">
                <a:solidFill>
                  <a:srgbClr val="ffffff"/>
                </a:solidFill>
                <a:latin typeface="Segoe UI"/>
              </a:rPr>
              <a:t>6</a:t>
            </a:r>
            <a:endParaRPr b="0" lang="en-US" sz="1800" spc="-1" strike="noStrike">
              <a:solidFill>
                <a:srgbClr val="000000"/>
              </a:solidFill>
              <a:latin typeface="Arial"/>
            </a:endParaRPr>
          </a:p>
        </p:txBody>
      </p:sp>
      <p:sp>
        <p:nvSpPr>
          <p:cNvPr id="2709" name="TextBox 36"/>
          <p:cNvSpPr/>
          <p:nvPr/>
        </p:nvSpPr>
        <p:spPr>
          <a:xfrm>
            <a:off x="1298520" y="5225760"/>
            <a:ext cx="28342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5a6b7b"/>
                </a:solidFill>
                <a:latin typeface="Segoe UI"/>
              </a:rPr>
              <a:t>DOCUMENTAR</a:t>
            </a:r>
            <a:endParaRPr b="0" lang="en-US" sz="1200" spc="-1" strike="noStrike">
              <a:solidFill>
                <a:srgbClr val="000000"/>
              </a:solidFill>
              <a:latin typeface="Arial"/>
            </a:endParaRPr>
          </a:p>
        </p:txBody>
      </p:sp>
      <p:sp>
        <p:nvSpPr>
          <p:cNvPr id="2710" name="TextBox 37"/>
          <p:cNvSpPr/>
          <p:nvPr/>
        </p:nvSpPr>
        <p:spPr>
          <a:xfrm>
            <a:off x="4206240" y="5235120"/>
            <a:ext cx="7223400" cy="329400"/>
          </a:xfrm>
          <a:prstGeom prst="rect">
            <a:avLst/>
          </a:prstGeom>
          <a:noFill/>
          <a:ln w="0">
            <a:noFill/>
          </a:ln>
        </p:spPr>
        <p:style>
          <a:lnRef idx="0"/>
          <a:fillRef idx="0"/>
          <a:effectRef idx="0"/>
          <a:fontRef idx="minor"/>
        </p:style>
        <p:txBody>
          <a:bodyPr lIns="0" rIns="0" tIns="0" bIns="0" anchor="t">
            <a:spAutoFit/>
          </a:bodyPr>
          <a:p>
            <a:pPr defTabSz="457200">
              <a:lnSpc>
                <a:spcPct val="108000"/>
              </a:lnSpc>
            </a:pPr>
            <a:r>
              <a:rPr b="0" lang="en-US" sz="1000" spc="-1" strike="noStrike">
                <a:solidFill>
                  <a:srgbClr val="1c2430"/>
                </a:solidFill>
                <a:latin typeface="Segoe UI"/>
              </a:rPr>
              <a:t>Causa, solución y medida preventiva.</a:t>
            </a:r>
            <a:endParaRPr b="0" lang="en-US" sz="1000" spc="-1" strike="noStrike">
              <a:solidFill>
                <a:srgbClr val="000000"/>
              </a:solidFill>
              <a:latin typeface="Arial"/>
            </a:endParaRPr>
          </a:p>
          <a:p>
            <a:pPr defTabSz="457200">
              <a:lnSpc>
                <a:spcPct val="108000"/>
              </a:lnSpc>
            </a:pPr>
            <a:r>
              <a:rPr b="0" lang="en-US" sz="1000" spc="-1" strike="noStrike">
                <a:solidFill>
                  <a:srgbClr val="1c2430"/>
                </a:solidFill>
                <a:latin typeface="Segoe UI"/>
              </a:rPr>
              <a:t>La próxima vez, la avería durará diez minutos.</a:t>
            </a:r>
            <a:endParaRPr b="0" lang="en-US" sz="1000" spc="-1" strike="noStrike">
              <a:solidFill>
                <a:srgbClr val="000000"/>
              </a:solidFill>
              <a:latin typeface="Arial"/>
            </a:endParaRPr>
          </a:p>
        </p:txBody>
      </p:sp>
      <p:sp>
        <p:nvSpPr>
          <p:cNvPr id="2711" name="Rectangle 38"/>
          <p:cNvSpPr/>
          <p:nvPr/>
        </p:nvSpPr>
        <p:spPr>
          <a:xfrm>
            <a:off x="567000" y="5870520"/>
            <a:ext cx="11063880" cy="43848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12" name="Rectangle 39"/>
          <p:cNvSpPr/>
          <p:nvPr/>
        </p:nvSpPr>
        <p:spPr>
          <a:xfrm>
            <a:off x="567000" y="5870520"/>
            <a:ext cx="68400" cy="43848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13" name="TextBox 40"/>
          <p:cNvSpPr/>
          <p:nvPr/>
        </p:nvSpPr>
        <p:spPr>
          <a:xfrm>
            <a:off x="841320" y="6007680"/>
            <a:ext cx="1056096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1b5ea8"/>
                </a:solidFill>
                <a:latin typeface="Segoe UI Semibold"/>
              </a:rPr>
              <a:t>Regla de oro: nunca sustituyas una pieza sin una hipótesis que explique el síntoma.</a:t>
            </a:r>
            <a:endParaRPr b="0" lang="en-US" sz="1200" spc="-1" strike="noStrike">
              <a:solidFill>
                <a:srgbClr val="000000"/>
              </a:solidFill>
              <a:latin typeface="Arial"/>
            </a:endParaRPr>
          </a:p>
        </p:txBody>
      </p:sp>
      <p:sp>
        <p:nvSpPr>
          <p:cNvPr id="2714" name="TextBox 41"/>
          <p:cNvSpPr/>
          <p:nvPr/>
        </p:nvSpPr>
        <p:spPr>
          <a:xfrm>
            <a:off x="841320" y="6217920"/>
            <a:ext cx="10560960" cy="63720"/>
          </a:xfrm>
          <a:prstGeom prst="rect">
            <a:avLst/>
          </a:prstGeom>
          <a:noFill/>
          <a:ln w="0">
            <a:noFill/>
          </a:ln>
        </p:spPr>
        <p:style>
          <a:lnRef idx="0"/>
          <a:fillRef idx="0"/>
          <a:effectRef idx="0"/>
          <a:fontRef idx="minor"/>
        </p:style>
        <p:txBody>
          <a:bodyPr lIns="0" rIns="0" tIns="0" bIns="0" anchor="t">
            <a:spAutoFit/>
          </a:bodyPr>
          <a:p>
            <a:pPr defTabSz="457200">
              <a:lnSpc>
                <a:spcPct val="106000"/>
              </a:lnSpc>
            </a:pPr>
            <a:endParaRPr b="0" lang="en-US" sz="1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1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717"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Alarmas y avisos: cómo se comportan</a:t>
            </a:r>
            <a:endParaRPr b="0" lang="en-US" sz="2500" spc="-1" strike="noStrike">
              <a:solidFill>
                <a:srgbClr val="000000"/>
              </a:solidFill>
              <a:latin typeface="Arial"/>
            </a:endParaRPr>
          </a:p>
        </p:txBody>
      </p:sp>
      <p:sp>
        <p:nvSpPr>
          <p:cNvPr id="271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diferencia entre reaccionar y anticiparse</a:t>
            </a:r>
            <a:endParaRPr b="0" lang="en-US" sz="1250" spc="-1" strike="noStrike">
              <a:solidFill>
                <a:srgbClr val="000000"/>
              </a:solidFill>
              <a:latin typeface="Arial"/>
            </a:endParaRPr>
          </a:p>
        </p:txBody>
      </p:sp>
      <p:sp>
        <p:nvSpPr>
          <p:cNvPr id="271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11</a:t>
            </a:r>
            <a:endParaRPr b="0" lang="en-US" sz="1100" spc="-1" strike="noStrike">
              <a:solidFill>
                <a:srgbClr val="000000"/>
              </a:solidFill>
              <a:latin typeface="Arial"/>
            </a:endParaRPr>
          </a:p>
        </p:txBody>
      </p:sp>
      <p:sp>
        <p:nvSpPr>
          <p:cNvPr id="272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72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135</a:t>
            </a:r>
            <a:endParaRPr b="0" lang="en-US" sz="900" spc="-1" strike="noStrike">
              <a:solidFill>
                <a:srgbClr val="000000"/>
              </a:solidFill>
              <a:latin typeface="Arial"/>
            </a:endParaRPr>
          </a:p>
        </p:txBody>
      </p:sp>
      <p:sp>
        <p:nvSpPr>
          <p:cNvPr id="2722" name="Rectangle 8"/>
          <p:cNvSpPr/>
          <p:nvPr/>
        </p:nvSpPr>
        <p:spPr>
          <a:xfrm>
            <a:off x="5670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23" name="Rectangle 9"/>
          <p:cNvSpPr/>
          <p:nvPr/>
        </p:nvSpPr>
        <p:spPr>
          <a:xfrm>
            <a:off x="567000" y="1481400"/>
            <a:ext cx="5373000" cy="420120"/>
          </a:xfrm>
          <a:prstGeom prst="rect">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24"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Alarma (</a:t>
            </a:r>
            <a:r>
              <a:rPr b="1" lang="en-US" sz="1350" spc="-1" strike="noStrike">
                <a:solidFill>
                  <a:srgbClr val="ffffff"/>
                </a:solidFill>
                <a:latin typeface="Consolas"/>
              </a:rPr>
              <a:t>A.___</a:t>
            </a:r>
            <a:r>
              <a:rPr b="1" lang="en-US" sz="1350" spc="-1" strike="noStrike">
                <a:solidFill>
                  <a:srgbClr val="ffffff"/>
                </a:solidFill>
                <a:latin typeface="Segoe UI Semibold"/>
              </a:rPr>
              <a:t>)</a:t>
            </a:r>
            <a:endParaRPr b="0" lang="en-US" sz="1350" spc="-1" strike="noStrike">
              <a:solidFill>
                <a:srgbClr val="000000"/>
              </a:solidFill>
              <a:latin typeface="Arial"/>
            </a:endParaRPr>
          </a:p>
        </p:txBody>
      </p:sp>
      <p:sp>
        <p:nvSpPr>
          <p:cNvPr id="2725" name="TextBox 11"/>
          <p:cNvSpPr/>
          <p:nvPr/>
        </p:nvSpPr>
        <p:spPr>
          <a:xfrm>
            <a:off x="768240" y="2048400"/>
            <a:ext cx="4970880" cy="299988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180" spc="-1" strike="noStrike">
                <a:solidFill>
                  <a:srgbClr val="1c2430"/>
                </a:solidFill>
                <a:latin typeface="Segoe UI"/>
              </a:rPr>
              <a:t>El drive desactiva el par y detiene el eje según el método configurado en </a:t>
            </a:r>
            <a:r>
              <a:rPr b="1" lang="en-US" sz="1180" spc="-1" strike="noStrike">
                <a:solidFill>
                  <a:srgbClr val="1c2430"/>
                </a:solidFill>
                <a:latin typeface="Consolas"/>
              </a:rPr>
              <a:t>Pn001</a:t>
            </a:r>
            <a:r>
              <a:rPr b="1" lang="en-US" sz="1180" spc="-1" strike="noStrike">
                <a:solidFill>
                  <a:srgbClr val="1c2430"/>
                </a:solidFill>
                <a:latin typeface="Segoe UI"/>
              </a:rPr>
              <a:t>.</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80" spc="-1" strike="noStrike">
                <a:solidFill>
                  <a:srgbClr val="1c2430"/>
                </a:solidFill>
                <a:latin typeface="Segoe UI"/>
              </a:rPr>
              <a:t>Se activa la salida </a:t>
            </a:r>
            <a:r>
              <a:rPr b="1" lang="en-US" sz="1180" spc="-1" strike="noStrike">
                <a:solidFill>
                  <a:srgbClr val="1c2430"/>
                </a:solidFill>
                <a:latin typeface="Consolas"/>
              </a:rPr>
              <a:t>ALM</a:t>
            </a:r>
            <a:r>
              <a:rPr b="1" lang="en-US" sz="1180" spc="-1" strike="noStrike">
                <a:solidFill>
                  <a:srgbClr val="1c2430"/>
                </a:solidFill>
                <a:latin typeface="Segoe UI"/>
              </a:rPr>
              <a:t>, que normalmente corta el contactor y avisa al PLC.</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80" spc="-1" strike="noStrike">
                <a:solidFill>
                  <a:srgbClr val="1c2430"/>
                </a:solidFill>
                <a:latin typeface="Segoe UI"/>
              </a:rPr>
              <a:t>Queda registrada en el historial de alarmas (</a:t>
            </a:r>
            <a:r>
              <a:rPr b="1" lang="en-US" sz="1180" spc="-1" strike="noStrike">
                <a:solidFill>
                  <a:srgbClr val="1c2430"/>
                </a:solidFill>
                <a:latin typeface="Consolas"/>
              </a:rPr>
              <a:t>Fn000</a:t>
            </a:r>
            <a:r>
              <a:rPr b="1" lang="en-US" sz="1180" spc="-1" strike="noStrike">
                <a:solidFill>
                  <a:srgbClr val="1c2430"/>
                </a:solidFill>
                <a:latin typeface="Segoe UI"/>
              </a:rPr>
              <a:t>), con las últimas ocurrencias.</a:t>
            </a:r>
            <a:endParaRPr b="0" lang="en-US" sz="1180" spc="-1" strike="noStrike">
              <a:solidFill>
                <a:srgbClr val="000000"/>
              </a:solidFill>
              <a:latin typeface="Arial"/>
            </a:endParaRPr>
          </a:p>
          <a:p>
            <a:pPr defTabSz="457200">
              <a:lnSpc>
                <a:spcPct val="106000"/>
              </a:lnSpc>
              <a:spcBef>
                <a:spcPts val="799"/>
              </a:spcBef>
              <a:spcAft>
                <a:spcPts val="901"/>
              </a:spcAft>
              <a:tabLst>
                <a:tab algn="l" pos="0"/>
              </a:tabLst>
            </a:pPr>
            <a:r>
              <a:rPr b="1" lang="en-US" sz="1130" spc="-1" strike="noStrike">
                <a:solidFill>
                  <a:srgbClr val="1b5ea8"/>
                </a:solidFill>
                <a:latin typeface="Segoe UI Semibold"/>
              </a:rPr>
              <a:t>Cómo se reinicia</a:t>
            </a:r>
            <a:endParaRPr b="0" lang="en-US" sz="113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30" spc="-1" strike="noStrike">
                <a:solidFill>
                  <a:srgbClr val="333f4c"/>
                </a:solidFill>
                <a:latin typeface="Segoe UI"/>
              </a:rPr>
              <a:t>Con </a:t>
            </a:r>
            <a:r>
              <a:rPr b="0" lang="en-US" sz="1030" spc="-1" strike="noStrike">
                <a:solidFill>
                  <a:srgbClr val="333f4c"/>
                </a:solidFill>
                <a:latin typeface="Consolas"/>
              </a:rPr>
              <a:t>/ALM-RST</a:t>
            </a:r>
            <a:r>
              <a:rPr b="0" lang="en-US" sz="1030" spc="-1" strike="noStrike">
                <a:solidFill>
                  <a:srgbClr val="333f4c"/>
                </a:solidFill>
                <a:latin typeface="Segoe UI"/>
              </a:rPr>
              <a:t> o desde el panel/SigmaWin+, </a:t>
            </a:r>
            <a:r>
              <a:rPr b="1" lang="en-US" sz="1030" spc="-1" strike="noStrike">
                <a:solidFill>
                  <a:srgbClr val="333f4c"/>
                </a:solidFill>
                <a:latin typeface="Segoe UI"/>
              </a:rPr>
              <a:t>después</a:t>
            </a:r>
            <a:r>
              <a:rPr b="0" lang="en-US" sz="1030" spc="-1" strike="noStrike">
                <a:solidFill>
                  <a:srgbClr val="333f4c"/>
                </a:solidFill>
                <a:latin typeface="Segoe UI"/>
              </a:rPr>
              <a:t> de eliminar la causa.</a:t>
            </a:r>
            <a:endParaRPr b="0" lang="en-US" sz="103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30" spc="-1" strike="noStrike">
                <a:solidFill>
                  <a:srgbClr val="333f4c"/>
                </a:solidFill>
                <a:latin typeface="Segoe UI"/>
              </a:rPr>
              <a:t>Algunas alarmas graves exigen </a:t>
            </a:r>
            <a:r>
              <a:rPr b="1" lang="en-US" sz="1030" spc="-1" strike="noStrike">
                <a:solidFill>
                  <a:srgbClr val="333f4c"/>
                </a:solidFill>
                <a:latin typeface="Segoe UI"/>
              </a:rPr>
              <a:t>ciclo completo de alimentación</a:t>
            </a:r>
            <a:r>
              <a:rPr b="0" lang="en-US" sz="1030" spc="-1" strike="noStrike">
                <a:solidFill>
                  <a:srgbClr val="333f4c"/>
                </a:solidFill>
                <a:latin typeface="Segoe UI"/>
              </a:rPr>
              <a:t> (no basta el reset).</a:t>
            </a:r>
            <a:endParaRPr b="0" lang="en-US" sz="103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30" spc="-1" strike="noStrike">
                <a:solidFill>
                  <a:srgbClr val="333f4c"/>
                </a:solidFill>
                <a:latin typeface="Segoe UI"/>
              </a:rPr>
              <a:t>Si la alarma vuelve inmediatamente, la causa sigue presente: no insistas con el reset.</a:t>
            </a:r>
            <a:endParaRPr b="0" lang="en-US" sz="1030" spc="-1" strike="noStrike">
              <a:solidFill>
                <a:srgbClr val="000000"/>
              </a:solidFill>
              <a:latin typeface="Arial"/>
            </a:endParaRPr>
          </a:p>
        </p:txBody>
      </p:sp>
      <p:sp>
        <p:nvSpPr>
          <p:cNvPr id="2726" name="Rectangle 12"/>
          <p:cNvSpPr/>
          <p:nvPr/>
        </p:nvSpPr>
        <p:spPr>
          <a:xfrm>
            <a:off x="62514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27" name="Rectangle 13"/>
          <p:cNvSpPr/>
          <p:nvPr/>
        </p:nvSpPr>
        <p:spPr>
          <a:xfrm>
            <a:off x="6251400" y="1481400"/>
            <a:ext cx="5373000" cy="42012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28"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Aviso (</a:t>
            </a:r>
            <a:r>
              <a:rPr b="1" lang="en-US" sz="1350" spc="-1" strike="noStrike">
                <a:solidFill>
                  <a:srgbClr val="ffffff"/>
                </a:solidFill>
                <a:latin typeface="Consolas"/>
              </a:rPr>
              <a:t>A.9__</a:t>
            </a:r>
            <a:r>
              <a:rPr b="1" lang="en-US" sz="1350" spc="-1" strike="noStrike">
                <a:solidFill>
                  <a:srgbClr val="ffffff"/>
                </a:solidFill>
                <a:latin typeface="Segoe UI Semibold"/>
              </a:rPr>
              <a:t>)</a:t>
            </a:r>
            <a:endParaRPr b="0" lang="en-US" sz="1350" spc="-1" strike="noStrike">
              <a:solidFill>
                <a:srgbClr val="000000"/>
              </a:solidFill>
              <a:latin typeface="Arial"/>
            </a:endParaRPr>
          </a:p>
        </p:txBody>
      </p:sp>
      <p:sp>
        <p:nvSpPr>
          <p:cNvPr id="2729" name="TextBox 15"/>
          <p:cNvSpPr/>
          <p:nvPr/>
        </p:nvSpPr>
        <p:spPr>
          <a:xfrm>
            <a:off x="6452640" y="2048400"/>
            <a:ext cx="4970880" cy="293148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El eje sigue funcionando: es una advertencia anticipada.</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Se puede señalizar con la salida </a:t>
            </a:r>
            <a:r>
              <a:rPr b="1" lang="en-US" sz="1200" spc="-1" strike="noStrike">
                <a:solidFill>
                  <a:srgbClr val="1c2430"/>
                </a:solidFill>
                <a:latin typeface="Consolas"/>
              </a:rPr>
              <a:t>/WARN</a:t>
            </a:r>
            <a:r>
              <a:rPr b="1" lang="en-US" sz="1200" spc="-1" strike="noStrike">
                <a:solidFill>
                  <a:srgbClr val="1c2430"/>
                </a:solidFill>
                <a:latin typeface="Segoe UI"/>
              </a:rPr>
              <a:t> hacia el PLC.</a:t>
            </a:r>
            <a:endParaRPr b="0" lang="en-US" sz="1200" spc="-1" strike="noStrike">
              <a:solidFill>
                <a:srgbClr val="000000"/>
              </a:solidFill>
              <a:latin typeface="Arial"/>
            </a:endParaRPr>
          </a:p>
          <a:p>
            <a:pPr defTabSz="457200">
              <a:lnSpc>
                <a:spcPct val="106000"/>
              </a:lnSpc>
              <a:spcBef>
                <a:spcPts val="799"/>
              </a:spcBef>
              <a:spcAft>
                <a:spcPts val="901"/>
              </a:spcAft>
              <a:tabLst>
                <a:tab algn="l" pos="0"/>
              </a:tabLst>
            </a:pPr>
            <a:r>
              <a:rPr b="1" lang="en-US" sz="1150" spc="-1" strike="noStrike">
                <a:solidFill>
                  <a:srgbClr val="1b5ea8"/>
                </a:solidFill>
                <a:latin typeface="Segoe UI Semibold"/>
              </a:rPr>
              <a:t>Ejemplos típicos</a:t>
            </a:r>
            <a:endParaRPr b="0" lang="en-US" sz="11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Aviso de sobrecarga: el modelo térmico se acerca al límite.</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Aviso de batería del encoder: quedan semanas de margen.</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Aviso de regeneración: la resistencia se está calentando.</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Aviso de cambio de parámetro pendiente de reinicio.</a:t>
            </a:r>
            <a:endParaRPr b="0" lang="en-US" sz="1050" spc="-1" strike="noStrike">
              <a:solidFill>
                <a:srgbClr val="000000"/>
              </a:solidFill>
              <a:latin typeface="Arial"/>
            </a:endParaRPr>
          </a:p>
          <a:p>
            <a:pPr defTabSz="457200">
              <a:lnSpc>
                <a:spcPct val="106000"/>
              </a:lnSpc>
              <a:spcBef>
                <a:spcPts val="799"/>
              </a:spcBef>
              <a:spcAft>
                <a:spcPts val="901"/>
              </a:spcAft>
              <a:tabLst>
                <a:tab algn="l" pos="0"/>
              </a:tabLst>
            </a:pPr>
            <a:r>
              <a:rPr b="1" lang="en-US" sz="1150" spc="-1" strike="noStrike">
                <a:solidFill>
                  <a:srgbClr val="1b5ea8"/>
                </a:solidFill>
                <a:latin typeface="Segoe UI Semibold"/>
              </a:rPr>
              <a:t>Por qué importan</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200" spc="-1" strike="noStrike">
                <a:solidFill>
                  <a:srgbClr val="1c2430"/>
                </a:solidFill>
                <a:latin typeface="Segoe UI"/>
              </a:rPr>
              <a:t>Un aviso es una oportunidad de intervenir con la máquina parada por producción en lugar de sufrir una parada no planificada.</a:t>
            </a:r>
            <a:endParaRPr b="0" lang="en-US" sz="1200" spc="-1" strike="noStrike">
              <a:solidFill>
                <a:srgbClr val="000000"/>
              </a:solidFill>
              <a:latin typeface="Arial"/>
            </a:endParaRPr>
          </a:p>
        </p:txBody>
      </p:sp>
      <p:sp>
        <p:nvSpPr>
          <p:cNvPr id="2730" name="Rectangle 16"/>
          <p:cNvSpPr/>
          <p:nvPr/>
        </p:nvSpPr>
        <p:spPr>
          <a:xfrm>
            <a:off x="567000" y="5459040"/>
            <a:ext cx="11057400" cy="868320"/>
          </a:xfrm>
          <a:prstGeom prst="rect">
            <a:avLst/>
          </a:prstGeom>
          <a:solidFill>
            <a:srgbClr val="e4f2ea"/>
          </a:solidFill>
          <a:ln>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31" name="Rectangle 17"/>
          <p:cNvSpPr/>
          <p:nvPr/>
        </p:nvSpPr>
        <p:spPr>
          <a:xfrm>
            <a:off x="567000" y="5459040"/>
            <a:ext cx="68400" cy="86832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32" name="TextBox 18"/>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2e8b57"/>
                </a:solidFill>
                <a:latin typeface="Segoe UI Semibold"/>
              </a:rPr>
              <a:t>Recomendación de integración</a:t>
            </a:r>
            <a:endParaRPr b="0" lang="en-US" sz="1200" spc="-1" strike="noStrike">
              <a:solidFill>
                <a:srgbClr val="000000"/>
              </a:solidFill>
              <a:latin typeface="Arial"/>
            </a:endParaRPr>
          </a:p>
        </p:txBody>
      </p:sp>
      <p:sp>
        <p:nvSpPr>
          <p:cNvPr id="2733" name="TextBox 19"/>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Cablea o mapea la señal de aviso (</a:t>
            </a:r>
            <a:r>
              <a:rPr b="0" lang="en-US" sz="1150" spc="-1" strike="noStrike">
                <a:solidFill>
                  <a:srgbClr val="2b3644"/>
                </a:solidFill>
                <a:latin typeface="Consolas"/>
              </a:rPr>
              <a:t>/WARN</a:t>
            </a:r>
            <a:r>
              <a:rPr b="0" lang="en-US" sz="1150" spc="-1" strike="noStrike">
                <a:solidFill>
                  <a:srgbClr val="2b3644"/>
                </a:solidFill>
                <a:latin typeface="Segoe UI"/>
              </a:rPr>
              <a:t>) hacia el PLC y muéstrala en el HMI. La mayoría de las instalaciones ignoran los avisos, y son exactamente la información que evita las paradas.</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3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736" name="TextBox 3"/>
          <p:cNvSpPr/>
          <p:nvPr/>
        </p:nvSpPr>
        <p:spPr>
          <a:xfrm>
            <a:off x="567000" y="182880"/>
            <a:ext cx="8954280" cy="3344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190" spc="-1" strike="noStrike">
                <a:solidFill>
                  <a:srgbClr val="ffffff"/>
                </a:solidFill>
                <a:latin typeface="Segoe UI Semibold"/>
              </a:rPr>
              <a:t>Alarmas frecuentes (1/2): potencia, sobrecarga y movimiento</a:t>
            </a:r>
            <a:endParaRPr b="0" lang="en-US" sz="2190" spc="-1" strike="noStrike">
              <a:solidFill>
                <a:srgbClr val="000000"/>
              </a:solidFill>
              <a:latin typeface="Arial"/>
            </a:endParaRPr>
          </a:p>
        </p:txBody>
      </p:sp>
      <p:sp>
        <p:nvSpPr>
          <p:cNvPr id="273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Los prefijos indican la familia: identifícala antes de buscar el código exacto</a:t>
            </a:r>
            <a:endParaRPr b="0" lang="en-US" sz="1250" spc="-1" strike="noStrike">
              <a:solidFill>
                <a:srgbClr val="000000"/>
              </a:solidFill>
              <a:latin typeface="Arial"/>
            </a:endParaRPr>
          </a:p>
        </p:txBody>
      </p:sp>
      <p:sp>
        <p:nvSpPr>
          <p:cNvPr id="273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11</a:t>
            </a:r>
            <a:endParaRPr b="0" lang="en-US" sz="1100" spc="-1" strike="noStrike">
              <a:solidFill>
                <a:srgbClr val="000000"/>
              </a:solidFill>
              <a:latin typeface="Arial"/>
            </a:endParaRPr>
          </a:p>
        </p:txBody>
      </p:sp>
      <p:sp>
        <p:nvSpPr>
          <p:cNvPr id="273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74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136</a:t>
            </a:r>
            <a:endParaRPr b="0" lang="en-US" sz="900" spc="-1" strike="noStrike">
              <a:solidFill>
                <a:srgbClr val="000000"/>
              </a:solidFill>
              <a:latin typeface="Arial"/>
            </a:endParaRPr>
          </a:p>
        </p:txBody>
      </p:sp>
      <p:graphicFrame>
        <p:nvGraphicFramePr>
          <p:cNvPr id="2741" name="Table 8"/>
          <p:cNvGraphicFramePr/>
          <p:nvPr/>
        </p:nvGraphicFramePr>
        <p:xfrm>
          <a:off x="567000" y="1481400"/>
          <a:ext cx="11057400" cy="4461840"/>
        </p:xfrm>
        <a:graphic>
          <a:graphicData uri="http://schemas.openxmlformats.org/drawingml/2006/table">
            <a:tbl>
              <a:tblPr/>
              <a:tblGrid>
                <a:gridCol w="1096560"/>
                <a:gridCol w="2649960"/>
                <a:gridCol w="3837960"/>
                <a:gridCol w="3472560"/>
              </a:tblGrid>
              <a:tr h="347400">
                <a:tc>
                  <a:txBody>
                    <a:bodyPr lIns="82080" rIns="82080" tIns="27360" bIns="27360" anchor="ctr">
                      <a:noAutofit/>
                    </a:bodyPr>
                    <a:p>
                      <a:pPr defTabSz="457200">
                        <a:lnSpc>
                          <a:spcPct val="100000"/>
                        </a:lnSpc>
                      </a:pPr>
                      <a:r>
                        <a:rPr b="1" lang="en-US" sz="900" spc="-1" strike="noStrike">
                          <a:solidFill>
                            <a:srgbClr val="ffffff"/>
                          </a:solidFill>
                          <a:latin typeface="Segoe UI"/>
                        </a:rPr>
                        <a:t>Familia</a:t>
                      </a:r>
                      <a:endParaRPr b="0" lang="en-US" sz="9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00" spc="-1" strike="noStrike">
                          <a:solidFill>
                            <a:srgbClr val="ffffff"/>
                          </a:solidFill>
                          <a:latin typeface="Segoe UI"/>
                        </a:rPr>
                        <a:t>Significado</a:t>
                      </a:r>
                      <a:endParaRPr b="0" lang="en-US" sz="9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00" spc="-1" strike="noStrike">
                          <a:solidFill>
                            <a:srgbClr val="ffffff"/>
                          </a:solidFill>
                          <a:latin typeface="Segoe UI"/>
                        </a:rPr>
                        <a:t>Causas habituales</a:t>
                      </a:r>
                      <a:endParaRPr b="0" lang="en-US" sz="9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00" spc="-1" strike="noStrike">
                          <a:solidFill>
                            <a:srgbClr val="ffffff"/>
                          </a:solidFill>
                          <a:latin typeface="Segoe UI"/>
                        </a:rPr>
                        <a:t>Primeras comprobaciones</a:t>
                      </a:r>
                      <a:endParaRPr b="0" lang="en-US" sz="9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A.1__</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Sobrecorriente / fallo de la etapa de potencia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Cortocircuito en el cable o en el motor, fases mal conectadas, amplificador dañado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Medir aislamiento y continuidad del motor con el cable desconectado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A.3__</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Fallo de regeneración</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Resistencia desconectada, puente </a:t>
                      </a:r>
                      <a:r>
                        <a:rPr b="0" lang="en-US" sz="900" spc="-1" strike="noStrike">
                          <a:solidFill>
                            <a:srgbClr val="1c2430"/>
                          </a:solidFill>
                          <a:latin typeface="Consolas"/>
                        </a:rPr>
                        <a:t>B2</a:t>
                      </a:r>
                      <a:r>
                        <a:rPr b="0" lang="en-US" sz="900" spc="-1" strike="noStrike">
                          <a:solidFill>
                            <a:srgbClr val="1c2430"/>
                          </a:solidFill>
                          <a:latin typeface="Segoe UI"/>
                        </a:rPr>
                        <a:t>-</a:t>
                      </a:r>
                      <a:r>
                        <a:rPr b="0" lang="en-US" sz="900" spc="-1" strike="noStrike">
                          <a:solidFill>
                            <a:srgbClr val="1c2430"/>
                          </a:solidFill>
                          <a:latin typeface="Consolas"/>
                        </a:rPr>
                        <a:t>B3</a:t>
                      </a:r>
                      <a:r>
                        <a:rPr b="0" lang="en-US" sz="900" spc="-1" strike="noStrike">
                          <a:solidFill>
                            <a:srgbClr val="1c2430"/>
                          </a:solidFill>
                          <a:latin typeface="Segoe UI"/>
                        </a:rPr>
                        <a:t> retirado por error, </a:t>
                      </a:r>
                      <a:r>
                        <a:rPr b="0" lang="en-US" sz="900" spc="-1" strike="noStrike">
                          <a:solidFill>
                            <a:srgbClr val="1c2430"/>
                          </a:solidFill>
                          <a:latin typeface="Consolas"/>
                        </a:rPr>
                        <a:t>Pn600</a:t>
                      </a:r>
                      <a:r>
                        <a:rPr b="0" lang="en-US" sz="900" spc="-1" strike="noStrike">
                          <a:solidFill>
                            <a:srgbClr val="1c2430"/>
                          </a:solidFill>
                          <a:latin typeface="Segoe UI"/>
                        </a:rPr>
                        <a:t> mal declarado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Verificar el cableado de </a:t>
                      </a:r>
                      <a:r>
                        <a:rPr b="0" lang="en-US" sz="900" spc="-1" strike="noStrike">
                          <a:solidFill>
                            <a:srgbClr val="1c2430"/>
                          </a:solidFill>
                          <a:latin typeface="Consolas"/>
                        </a:rPr>
                        <a:t>B1</a:t>
                      </a:r>
                      <a:r>
                        <a:rPr b="0" lang="en-US" sz="900" spc="-1" strike="noStrike">
                          <a:solidFill>
                            <a:srgbClr val="1c2430"/>
                          </a:solidFill>
                          <a:latin typeface="Segoe UI"/>
                        </a:rPr>
                        <a:t>/</a:t>
                      </a:r>
                      <a:r>
                        <a:rPr b="0" lang="en-US" sz="900" spc="-1" strike="noStrike">
                          <a:solidFill>
                            <a:srgbClr val="1c2430"/>
                          </a:solidFill>
                          <a:latin typeface="Consolas"/>
                        </a:rPr>
                        <a:t>B2</a:t>
                      </a:r>
                      <a:r>
                        <a:rPr b="0" lang="en-US" sz="900" spc="-1" strike="noStrike">
                          <a:solidFill>
                            <a:srgbClr val="1c2430"/>
                          </a:solidFill>
                          <a:latin typeface="Segoe UI"/>
                        </a:rPr>
                        <a:t>/</a:t>
                      </a:r>
                      <a:r>
                        <a:rPr b="0" lang="en-US" sz="900" spc="-1" strike="noStrike">
                          <a:solidFill>
                            <a:srgbClr val="1c2430"/>
                          </a:solidFill>
                          <a:latin typeface="Consolas"/>
                        </a:rPr>
                        <a:t>B3</a:t>
                      </a:r>
                      <a:r>
                        <a:rPr b="0" lang="en-US" sz="900" spc="-1" strike="noStrike">
                          <a:solidFill>
                            <a:srgbClr val="1c2430"/>
                          </a:solidFill>
                          <a:latin typeface="Segoe UI"/>
                        </a:rPr>
                        <a:t> y el valor de </a:t>
                      </a:r>
                      <a:r>
                        <a:rPr b="0" lang="en-US" sz="900" spc="-1" strike="noStrike">
                          <a:solidFill>
                            <a:srgbClr val="1c2430"/>
                          </a:solidFill>
                          <a:latin typeface="Consolas"/>
                        </a:rPr>
                        <a:t>Pn600</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A.400</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Sobretensión del bus de continua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Frenado demasiado enérgico, regeneración insuficiente, tensión de red alta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Medir la red; revisar el cálculo de regeneración</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A.410</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Subtensión del bus de continua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Caída de red, falta de fase, servo ON demasiado pronto tras energizar</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Medir tensión entre fases; revisar la secuencia de arranque</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A.51_</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Sobrevelocidad</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Fases del motor intercambiadas, consigna errónea, engranaje electrónico mal calculado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Comprobar </a:t>
                      </a:r>
                      <a:r>
                        <a:rPr b="0" lang="en-US" sz="900" spc="-1" strike="noStrike">
                          <a:solidFill>
                            <a:srgbClr val="1c2430"/>
                          </a:solidFill>
                          <a:latin typeface="Consolas"/>
                        </a:rPr>
                        <a:t>U</a:t>
                      </a:r>
                      <a:r>
                        <a:rPr b="0" lang="en-US" sz="900" spc="-1" strike="noStrike">
                          <a:solidFill>
                            <a:srgbClr val="1c2430"/>
                          </a:solidFill>
                          <a:latin typeface="Segoe UI"/>
                        </a:rPr>
                        <a:t> </a:t>
                      </a:r>
                      <a:r>
                        <a:rPr b="0" lang="en-US" sz="900" spc="-1" strike="noStrike">
                          <a:solidFill>
                            <a:srgbClr val="1c2430"/>
                          </a:solidFill>
                          <a:latin typeface="Consolas"/>
                        </a:rPr>
                        <a:t>V</a:t>
                      </a:r>
                      <a:r>
                        <a:rPr b="0" lang="en-US" sz="900" spc="-1" strike="noStrike">
                          <a:solidFill>
                            <a:srgbClr val="1c2430"/>
                          </a:solidFill>
                          <a:latin typeface="Segoe UI"/>
                        </a:rPr>
                        <a:t> </a:t>
                      </a:r>
                      <a:r>
                        <a:rPr b="0" lang="en-US" sz="900" spc="-1" strike="noStrike">
                          <a:solidFill>
                            <a:srgbClr val="1c2430"/>
                          </a:solidFill>
                          <a:latin typeface="Consolas"/>
                        </a:rPr>
                        <a:t>W</a:t>
                      </a:r>
                      <a:r>
                        <a:rPr b="0" lang="en-US" sz="900" spc="-1" strike="noStrike">
                          <a:solidFill>
                            <a:srgbClr val="1c2430"/>
                          </a:solidFill>
                          <a:latin typeface="Segoe UI"/>
                        </a:rPr>
                        <a:t> y el engranaje</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A.7__</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Sobrecarga (instantánea o continua)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Dimensionamiento insuficiente, fricción excesiva, freno sin liberar, colisión</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Medir el par real con </a:t>
                      </a:r>
                      <a:r>
                        <a:rPr b="0" lang="en-US" sz="900" spc="-1" strike="noStrike">
                          <a:solidFill>
                            <a:srgbClr val="1c2430"/>
                          </a:solidFill>
                          <a:latin typeface="Consolas"/>
                        </a:rPr>
                        <a:t>Un002</a:t>
                      </a:r>
                      <a:r>
                        <a:rPr b="0" lang="en-US" sz="900" spc="-1" strike="noStrike">
                          <a:solidFill>
                            <a:srgbClr val="1c2430"/>
                          </a:solidFill>
                          <a:latin typeface="Segoe UI"/>
                        </a:rPr>
                        <a:t> y comparar con el cálculo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A.7A_</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Sobretemperatura del disipador</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Ventilador parado, filtros del armario obstruidos, temperatura ambiente alta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Comprobar ventilador y ventilación del armario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A.d__</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Exceso de error de posición</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El eje no puede seguir la consigna: atasco, ganancia insuficiente o aceleración excesiva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Revisar mecánica primero; después sintonización</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
        <p:nvSpPr>
          <p:cNvPr id="2742"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Los códigos concretos y su comportamiento están en el capítulo de resolución de problemas del manual: tenlo siempre a mano en el portátil o en el móvil.</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3"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44"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745" name="TextBox 3"/>
          <p:cNvSpPr/>
          <p:nvPr/>
        </p:nvSpPr>
        <p:spPr>
          <a:xfrm>
            <a:off x="567000" y="182880"/>
            <a:ext cx="8954280" cy="3286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150" spc="-1" strike="noStrike">
                <a:solidFill>
                  <a:srgbClr val="ffffff"/>
                </a:solidFill>
                <a:latin typeface="Segoe UI Semibold"/>
              </a:rPr>
              <a:t>Alarmas frecuentes (2/2): encoder, parámetros y comunicación</a:t>
            </a:r>
            <a:endParaRPr b="0" lang="en-US" sz="2150" spc="-1" strike="noStrike">
              <a:solidFill>
                <a:srgbClr val="000000"/>
              </a:solidFill>
              <a:latin typeface="Arial"/>
            </a:endParaRPr>
          </a:p>
        </p:txBody>
      </p:sp>
      <p:sp>
        <p:nvSpPr>
          <p:cNvPr id="2746"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La familia del encoder concentra las averías intermitentes más difíciles</a:t>
            </a:r>
            <a:endParaRPr b="0" lang="en-US" sz="1250" spc="-1" strike="noStrike">
              <a:solidFill>
                <a:srgbClr val="000000"/>
              </a:solidFill>
              <a:latin typeface="Arial"/>
            </a:endParaRPr>
          </a:p>
        </p:txBody>
      </p:sp>
      <p:sp>
        <p:nvSpPr>
          <p:cNvPr id="2747"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11</a:t>
            </a:r>
            <a:endParaRPr b="0" lang="en-US" sz="1100" spc="-1" strike="noStrike">
              <a:solidFill>
                <a:srgbClr val="000000"/>
              </a:solidFill>
              <a:latin typeface="Arial"/>
            </a:endParaRPr>
          </a:p>
        </p:txBody>
      </p:sp>
      <p:sp>
        <p:nvSpPr>
          <p:cNvPr id="2748"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749"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137</a:t>
            </a:r>
            <a:endParaRPr b="0" lang="en-US" sz="900" spc="-1" strike="noStrike">
              <a:solidFill>
                <a:srgbClr val="000000"/>
              </a:solidFill>
              <a:latin typeface="Arial"/>
            </a:endParaRPr>
          </a:p>
        </p:txBody>
      </p:sp>
      <p:graphicFrame>
        <p:nvGraphicFramePr>
          <p:cNvPr id="2750" name="Table 8"/>
          <p:cNvGraphicFramePr/>
          <p:nvPr/>
        </p:nvGraphicFramePr>
        <p:xfrm>
          <a:off x="567000" y="1481400"/>
          <a:ext cx="11057400" cy="4461840"/>
        </p:xfrm>
        <a:graphic>
          <a:graphicData uri="http://schemas.openxmlformats.org/drawingml/2006/table">
            <a:tbl>
              <a:tblPr/>
              <a:tblGrid>
                <a:gridCol w="1279080"/>
                <a:gridCol w="2649960"/>
                <a:gridCol w="3655440"/>
                <a:gridCol w="3472560"/>
              </a:tblGrid>
              <a:tr h="347400">
                <a:tc>
                  <a:txBody>
                    <a:bodyPr lIns="82080" rIns="82080" tIns="27360" bIns="27360" anchor="ctr">
                      <a:noAutofit/>
                    </a:bodyPr>
                    <a:p>
                      <a:pPr defTabSz="457200">
                        <a:lnSpc>
                          <a:spcPct val="100000"/>
                        </a:lnSpc>
                      </a:pPr>
                      <a:r>
                        <a:rPr b="1" lang="en-US" sz="900" spc="-1" strike="noStrike">
                          <a:solidFill>
                            <a:srgbClr val="ffffff"/>
                          </a:solidFill>
                          <a:latin typeface="Segoe UI"/>
                        </a:rPr>
                        <a:t>Familia</a:t>
                      </a:r>
                      <a:endParaRPr b="0" lang="en-US" sz="9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00" spc="-1" strike="noStrike">
                          <a:solidFill>
                            <a:srgbClr val="ffffff"/>
                          </a:solidFill>
                          <a:latin typeface="Segoe UI"/>
                        </a:rPr>
                        <a:t>Significado</a:t>
                      </a:r>
                      <a:endParaRPr b="0" lang="en-US" sz="9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00" spc="-1" strike="noStrike">
                          <a:solidFill>
                            <a:srgbClr val="ffffff"/>
                          </a:solidFill>
                          <a:latin typeface="Segoe UI"/>
                        </a:rPr>
                        <a:t>Causas habituales</a:t>
                      </a:r>
                      <a:endParaRPr b="0" lang="en-US" sz="9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00" spc="-1" strike="noStrike">
                          <a:solidFill>
                            <a:srgbClr val="ffffff"/>
                          </a:solidFill>
                          <a:latin typeface="Segoe UI"/>
                        </a:rPr>
                        <a:t>Primeras comprobaciones</a:t>
                      </a:r>
                      <a:endParaRPr b="0" lang="en-US" sz="9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A.0__</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Error de parámetros o de memoria interna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Escritura interrumpida, memoria degradada, combinación no válida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Recargar la copia de parámetros; si persiste, el equipo puede estar dañado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A.05_</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Combinación motor-amplificador no admitida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Motor de capacidad o tipo incompatible con el amplificador</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Verificar códigos completos de ambos equipos</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A.81_</a:t>
                      </a:r>
                      <a:r>
                        <a:rPr b="0" lang="en-US" sz="900" spc="-1" strike="noStrike">
                          <a:solidFill>
                            <a:srgbClr val="1c2430"/>
                          </a:solidFill>
                          <a:latin typeface="Segoe UI"/>
                        </a:rPr>
                        <a:t> / </a:t>
                      </a:r>
                      <a:r>
                        <a:rPr b="0" lang="en-US" sz="900" spc="-1" strike="noStrike">
                          <a:solidFill>
                            <a:srgbClr val="1c2430"/>
                          </a:solidFill>
                          <a:latin typeface="Consolas"/>
                        </a:rPr>
                        <a:t>A.82_</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Fallo de respaldo o de suma de verificación del encoder absoluto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Batería agotada con el equipo sin tensión, cable de encoder desconectado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Sustituir batería, ejecutar </a:t>
                      </a:r>
                      <a:r>
                        <a:rPr b="0" lang="en-US" sz="900" spc="-1" strike="noStrike">
                          <a:solidFill>
                            <a:srgbClr val="1c2430"/>
                          </a:solidFill>
                          <a:latin typeface="Consolas"/>
                        </a:rPr>
                        <a:t>Fn008</a:t>
                      </a:r>
                      <a:r>
                        <a:rPr b="0" lang="en-US" sz="900" spc="-1" strike="noStrike">
                          <a:solidFill>
                            <a:srgbClr val="1c2430"/>
                          </a:solidFill>
                          <a:latin typeface="Segoe UI"/>
                        </a:rPr>
                        <a:t> y </a:t>
                      </a:r>
                      <a:r>
                        <a:rPr b="1" lang="en-US" sz="900" spc="-1" strike="noStrike">
                          <a:solidFill>
                            <a:srgbClr val="1c2430"/>
                          </a:solidFill>
                          <a:latin typeface="Segoe UI"/>
                        </a:rPr>
                        <a:t>rehacer el origen</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A.83_</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Aviso o alarma de batería del encoder</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Batería próxima al final de su vida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Sustituir </a:t>
                      </a:r>
                      <a:r>
                        <a:rPr b="1" lang="en-US" sz="900" spc="-1" strike="noStrike">
                          <a:solidFill>
                            <a:srgbClr val="1c2430"/>
                          </a:solidFill>
                          <a:latin typeface="Segoe UI"/>
                        </a:rPr>
                        <a:t>con la alimentación de control conectada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A.84_</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Datos del encoder erróneos</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Ruido eléctrico, cable dañado, apantallamiento deficiente</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Revisar apantallamiento, separación de cables y estado del conector</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A.C__</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Error de comunicación con el encoder</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Cable de encoder defectuoso, conector flojo, interferencias</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Sustituir el cable por uno original y revisar tierras</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A.E__</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Error de comunicación de bus (MECHATROLINK / EtherCAT)</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Cable de red, configuración del maestro, ciclo mal ajustado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Contadores de error por puerto; sustituir latiguillo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14080">
                <a:tc>
                  <a:txBody>
                    <a:bodyPr lIns="82080" rIns="82080" tIns="27360" bIns="27360" anchor="ctr">
                      <a:noAutofit/>
                    </a:bodyPr>
                    <a:p>
                      <a:pPr defTabSz="457200">
                        <a:lnSpc>
                          <a:spcPct val="100000"/>
                        </a:lnSpc>
                      </a:pPr>
                      <a:r>
                        <a:rPr b="0" lang="en-US" sz="900" spc="-1" strike="noStrike">
                          <a:solidFill>
                            <a:srgbClr val="1c2430"/>
                          </a:solidFill>
                          <a:latin typeface="Consolas"/>
                        </a:rPr>
                        <a:t>A.F__</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Falta de fase en la alimentación principal</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Fusible fundido, contactor con un polo pegado, cable suelto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Medir las tres fases en los bornes del drive</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
        <p:nvSpPr>
          <p:cNvPr id="2751"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Las alarmas intermitentes del encoder casi siempre son un problema de cable, de conector o de apantallamiento, no del encoder en sí.</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2"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53"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754"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Árbol de decisión: «el eje no se mueve»</a:t>
            </a:r>
            <a:endParaRPr b="0" lang="en-US" sz="2500" spc="-1" strike="noStrike">
              <a:solidFill>
                <a:srgbClr val="000000"/>
              </a:solidFill>
              <a:latin typeface="Arial"/>
            </a:endParaRPr>
          </a:p>
        </p:txBody>
      </p:sp>
      <p:sp>
        <p:nvSpPr>
          <p:cNvPr id="2755"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El fallo más reportado y el más rápido de acotar</a:t>
            </a:r>
            <a:endParaRPr b="0" lang="en-US" sz="1250" spc="-1" strike="noStrike">
              <a:solidFill>
                <a:srgbClr val="000000"/>
              </a:solidFill>
              <a:latin typeface="Arial"/>
            </a:endParaRPr>
          </a:p>
        </p:txBody>
      </p:sp>
      <p:sp>
        <p:nvSpPr>
          <p:cNvPr id="2756"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11</a:t>
            </a:r>
            <a:endParaRPr b="0" lang="en-US" sz="1100" spc="-1" strike="noStrike">
              <a:solidFill>
                <a:srgbClr val="000000"/>
              </a:solidFill>
              <a:latin typeface="Arial"/>
            </a:endParaRPr>
          </a:p>
        </p:txBody>
      </p:sp>
      <p:sp>
        <p:nvSpPr>
          <p:cNvPr id="2757"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758"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138</a:t>
            </a:r>
            <a:endParaRPr b="0" lang="en-US" sz="900" spc="-1" strike="noStrike">
              <a:solidFill>
                <a:srgbClr val="000000"/>
              </a:solidFill>
              <a:latin typeface="Arial"/>
            </a:endParaRPr>
          </a:p>
        </p:txBody>
      </p:sp>
      <p:sp>
        <p:nvSpPr>
          <p:cNvPr id="2759" name="Rounded Rectangle 8"/>
          <p:cNvSpPr/>
          <p:nvPr/>
        </p:nvSpPr>
        <p:spPr>
          <a:xfrm>
            <a:off x="567000" y="3063240"/>
            <a:ext cx="1919880" cy="868320"/>
          </a:xfrm>
          <a:prstGeom prst="roundRect">
            <a:avLst>
              <a:gd name="adj" fmla="val 10000"/>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200" spc="-1" strike="noStrike">
                <a:solidFill>
                  <a:srgbClr val="ffffff"/>
                </a:solidFill>
                <a:latin typeface="Segoe UI"/>
              </a:rPr>
              <a:t>EL EJE NO</a:t>
            </a:r>
            <a:endParaRPr b="0" lang="en-US" sz="1200" spc="-1" strike="noStrike">
              <a:solidFill>
                <a:srgbClr val="ffffff"/>
              </a:solidFill>
              <a:latin typeface="Arial"/>
            </a:endParaRPr>
          </a:p>
          <a:p>
            <a:pPr algn="ctr" defTabSz="457200">
              <a:lnSpc>
                <a:spcPct val="100000"/>
              </a:lnSpc>
            </a:pPr>
            <a:r>
              <a:rPr b="1" lang="en-US" sz="1200" spc="-1" strike="noStrike">
                <a:solidFill>
                  <a:srgbClr val="ffffff"/>
                </a:solidFill>
                <a:latin typeface="Segoe UI"/>
              </a:rPr>
              <a:t>SE MUEVE</a:t>
            </a:r>
            <a:endParaRPr b="0" lang="en-US" sz="1200" spc="-1" strike="noStrike">
              <a:solidFill>
                <a:srgbClr val="ffffff"/>
              </a:solidFill>
              <a:latin typeface="Arial"/>
            </a:endParaRPr>
          </a:p>
        </p:txBody>
      </p:sp>
      <p:cxnSp>
        <p:nvCxnSpPr>
          <p:cNvPr id="2760" name="Connector 9"/>
          <p:cNvCxnSpPr/>
          <p:nvPr/>
        </p:nvCxnSpPr>
        <p:spPr>
          <a:xfrm>
            <a:off x="1526760" y="3492720"/>
            <a:ext cx="1262520" cy="360"/>
          </a:xfrm>
          <a:prstGeom prst="straightConnector1">
            <a:avLst/>
          </a:prstGeom>
          <a:ln w="12700">
            <a:solidFill>
              <a:srgbClr val="5a6b7b"/>
            </a:solidFill>
            <a:round/>
          </a:ln>
        </p:spPr>
      </p:cxnSp>
      <p:cxnSp>
        <p:nvCxnSpPr>
          <p:cNvPr id="2761" name="Connector 10"/>
          <p:cNvCxnSpPr/>
          <p:nvPr/>
        </p:nvCxnSpPr>
        <p:spPr>
          <a:xfrm flipV="1">
            <a:off x="2788920" y="1965960"/>
            <a:ext cx="360" cy="1527120"/>
          </a:xfrm>
          <a:prstGeom prst="straightConnector1">
            <a:avLst/>
          </a:prstGeom>
          <a:ln w="12700">
            <a:solidFill>
              <a:srgbClr val="5a6b7b"/>
            </a:solidFill>
            <a:round/>
          </a:ln>
        </p:spPr>
      </p:cxnSp>
      <p:cxnSp>
        <p:nvCxnSpPr>
          <p:cNvPr id="2762" name="Connector 11"/>
          <p:cNvCxnSpPr/>
          <p:nvPr/>
        </p:nvCxnSpPr>
        <p:spPr>
          <a:xfrm>
            <a:off x="2788920" y="1965960"/>
            <a:ext cx="274680" cy="360"/>
          </a:xfrm>
          <a:prstGeom prst="straightConnector1">
            <a:avLst/>
          </a:prstGeom>
          <a:ln w="12700">
            <a:solidFill>
              <a:srgbClr val="5a6b7b"/>
            </a:solidFill>
            <a:round/>
          </a:ln>
        </p:spPr>
      </p:cxnSp>
      <p:sp>
        <p:nvSpPr>
          <p:cNvPr id="2763" name="Rounded Rectangle 12"/>
          <p:cNvSpPr/>
          <p:nvPr/>
        </p:nvSpPr>
        <p:spPr>
          <a:xfrm>
            <a:off x="3063240" y="1645920"/>
            <a:ext cx="3245760" cy="658080"/>
          </a:xfrm>
          <a:prstGeom prst="roundRect">
            <a:avLst>
              <a:gd name="adj" fmla="val 12000"/>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Segoe UI"/>
              </a:rPr>
              <a:t>¿Hay ALARMA en el display?</a:t>
            </a:r>
            <a:endParaRPr b="0" lang="en-US" sz="1050" spc="-1" strike="noStrike">
              <a:solidFill>
                <a:srgbClr val="ffffff"/>
              </a:solidFill>
              <a:latin typeface="Arial"/>
            </a:endParaRPr>
          </a:p>
        </p:txBody>
      </p:sp>
      <p:sp>
        <p:nvSpPr>
          <p:cNvPr id="2764" name="Rectangle 13"/>
          <p:cNvSpPr/>
          <p:nvPr/>
        </p:nvSpPr>
        <p:spPr>
          <a:xfrm>
            <a:off x="6537960" y="1645920"/>
            <a:ext cx="5092920" cy="65808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65" name="TextBox 14"/>
          <p:cNvSpPr/>
          <p:nvPr/>
        </p:nvSpPr>
        <p:spPr>
          <a:xfrm>
            <a:off x="6720840" y="1728360"/>
            <a:ext cx="4754520" cy="335880"/>
          </a:xfrm>
          <a:prstGeom prst="rect">
            <a:avLst/>
          </a:prstGeom>
          <a:noFill/>
          <a:ln w="0">
            <a:noFill/>
          </a:ln>
        </p:spPr>
        <p:style>
          <a:lnRef idx="0"/>
          <a:fillRef idx="0"/>
          <a:effectRef idx="0"/>
          <a:fontRef idx="minor"/>
        </p:style>
        <p:txBody>
          <a:bodyPr lIns="0" rIns="0" tIns="0" bIns="0" anchor="t">
            <a:spAutoFit/>
          </a:bodyPr>
          <a:p>
            <a:pPr defTabSz="457200">
              <a:lnSpc>
                <a:spcPct val="110000"/>
              </a:lnSpc>
            </a:pPr>
            <a:r>
              <a:rPr b="1" lang="en-US" sz="1000" spc="-1" strike="noStrike">
                <a:solidFill>
                  <a:srgbClr val="1c2430"/>
                </a:solidFill>
                <a:latin typeface="Segoe UI"/>
              </a:rPr>
              <a:t>Sí</a:t>
            </a:r>
            <a:r>
              <a:rPr b="0" lang="en-US" sz="1000" spc="-1" strike="noStrike">
                <a:solidFill>
                  <a:srgbClr val="1c2430"/>
                </a:solidFill>
                <a:latin typeface="Segoe UI"/>
              </a:rPr>
              <a:t> → identifica la familia y aplica la tabla de alarmas. El drive ya ha diagnosticado por ti.</a:t>
            </a:r>
            <a:endParaRPr b="0" lang="en-US" sz="1000" spc="-1" strike="noStrike">
              <a:solidFill>
                <a:srgbClr val="000000"/>
              </a:solidFill>
              <a:latin typeface="Arial"/>
            </a:endParaRPr>
          </a:p>
        </p:txBody>
      </p:sp>
      <p:cxnSp>
        <p:nvCxnSpPr>
          <p:cNvPr id="2766" name="Connector 15"/>
          <p:cNvCxnSpPr/>
          <p:nvPr/>
        </p:nvCxnSpPr>
        <p:spPr>
          <a:xfrm>
            <a:off x="1526760" y="3492720"/>
            <a:ext cx="1262520" cy="360"/>
          </a:xfrm>
          <a:prstGeom prst="straightConnector1">
            <a:avLst/>
          </a:prstGeom>
          <a:ln w="12700">
            <a:solidFill>
              <a:srgbClr val="5a6b7b"/>
            </a:solidFill>
            <a:round/>
          </a:ln>
        </p:spPr>
      </p:cxnSp>
      <p:cxnSp>
        <p:nvCxnSpPr>
          <p:cNvPr id="2767" name="Connector 16"/>
          <p:cNvCxnSpPr/>
          <p:nvPr/>
        </p:nvCxnSpPr>
        <p:spPr>
          <a:xfrm flipV="1">
            <a:off x="2788920" y="3154680"/>
            <a:ext cx="360" cy="338400"/>
          </a:xfrm>
          <a:prstGeom prst="straightConnector1">
            <a:avLst/>
          </a:prstGeom>
          <a:ln w="12700">
            <a:solidFill>
              <a:srgbClr val="5a6b7b"/>
            </a:solidFill>
            <a:round/>
          </a:ln>
        </p:spPr>
      </p:cxnSp>
      <p:cxnSp>
        <p:nvCxnSpPr>
          <p:cNvPr id="2768" name="Connector 17"/>
          <p:cNvCxnSpPr/>
          <p:nvPr/>
        </p:nvCxnSpPr>
        <p:spPr>
          <a:xfrm>
            <a:off x="2788920" y="3154680"/>
            <a:ext cx="274680" cy="360"/>
          </a:xfrm>
          <a:prstGeom prst="straightConnector1">
            <a:avLst/>
          </a:prstGeom>
          <a:ln w="12700">
            <a:solidFill>
              <a:srgbClr val="5a6b7b"/>
            </a:solidFill>
            <a:round/>
          </a:ln>
        </p:spPr>
      </p:cxnSp>
      <p:sp>
        <p:nvSpPr>
          <p:cNvPr id="2769" name="Rounded Rectangle 18"/>
          <p:cNvSpPr/>
          <p:nvPr/>
        </p:nvSpPr>
        <p:spPr>
          <a:xfrm>
            <a:off x="3063240" y="2834640"/>
            <a:ext cx="3245760" cy="658080"/>
          </a:xfrm>
          <a:prstGeom prst="roundRect">
            <a:avLst>
              <a:gd name="adj" fmla="val 12000"/>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Segoe UI"/>
              </a:rPr>
              <a:t>¿El motor tiene par (el eje está 'duro')?</a:t>
            </a:r>
            <a:endParaRPr b="0" lang="en-US" sz="1050" spc="-1" strike="noStrike">
              <a:solidFill>
                <a:srgbClr val="000000"/>
              </a:solidFill>
              <a:latin typeface="Arial"/>
            </a:endParaRPr>
          </a:p>
        </p:txBody>
      </p:sp>
      <p:sp>
        <p:nvSpPr>
          <p:cNvPr id="2770" name="Rectangle 19"/>
          <p:cNvSpPr/>
          <p:nvPr/>
        </p:nvSpPr>
        <p:spPr>
          <a:xfrm>
            <a:off x="6537960" y="2834640"/>
            <a:ext cx="5092920" cy="65808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71" name="TextBox 20"/>
          <p:cNvSpPr/>
          <p:nvPr/>
        </p:nvSpPr>
        <p:spPr>
          <a:xfrm>
            <a:off x="6720840" y="2917080"/>
            <a:ext cx="4754520" cy="335880"/>
          </a:xfrm>
          <a:prstGeom prst="rect">
            <a:avLst/>
          </a:prstGeom>
          <a:noFill/>
          <a:ln w="0">
            <a:noFill/>
          </a:ln>
        </p:spPr>
        <p:style>
          <a:lnRef idx="0"/>
          <a:fillRef idx="0"/>
          <a:effectRef idx="0"/>
          <a:fontRef idx="minor"/>
        </p:style>
        <p:txBody>
          <a:bodyPr lIns="0" rIns="0" tIns="0" bIns="0" anchor="t">
            <a:spAutoFit/>
          </a:bodyPr>
          <a:p>
            <a:pPr defTabSz="457200">
              <a:lnSpc>
                <a:spcPct val="110000"/>
              </a:lnSpc>
            </a:pPr>
            <a:r>
              <a:rPr b="1" lang="en-US" sz="1000" spc="-1" strike="noStrike">
                <a:solidFill>
                  <a:srgbClr val="1c2430"/>
                </a:solidFill>
                <a:latin typeface="Segoe UI"/>
              </a:rPr>
              <a:t>No</a:t>
            </a:r>
            <a:r>
              <a:rPr b="0" lang="en-US" sz="1000" spc="-1" strike="noStrike">
                <a:solidFill>
                  <a:srgbClr val="1c2430"/>
                </a:solidFill>
                <a:latin typeface="Segoe UI"/>
              </a:rPr>
              <a:t> → revisa </a:t>
            </a:r>
            <a:r>
              <a:rPr b="0" lang="en-US" sz="1000" spc="-1" strike="noStrike">
                <a:solidFill>
                  <a:srgbClr val="1c2430"/>
                </a:solidFill>
                <a:latin typeface="Consolas"/>
              </a:rPr>
              <a:t>/S-ON</a:t>
            </a:r>
            <a:r>
              <a:rPr b="0" lang="en-US" sz="1000" spc="-1" strike="noStrike">
                <a:solidFill>
                  <a:srgbClr val="1c2430"/>
                </a:solidFill>
                <a:latin typeface="Segoe UI"/>
              </a:rPr>
              <a:t> en </a:t>
            </a:r>
            <a:r>
              <a:rPr b="0" lang="en-US" sz="1000" spc="-1" strike="noStrike">
                <a:solidFill>
                  <a:srgbClr val="1c2430"/>
                </a:solidFill>
                <a:latin typeface="Consolas"/>
              </a:rPr>
              <a:t>Un005</a:t>
            </a:r>
            <a:r>
              <a:rPr b="0" lang="en-US" sz="1000" spc="-1" strike="noStrike">
                <a:solidFill>
                  <a:srgbClr val="1c2430"/>
                </a:solidFill>
                <a:latin typeface="Segoe UI"/>
              </a:rPr>
              <a:t>, el conector </a:t>
            </a:r>
            <a:r>
              <a:rPr b="0" lang="en-US" sz="1000" spc="-1" strike="noStrike">
                <a:solidFill>
                  <a:srgbClr val="1c2430"/>
                </a:solidFill>
                <a:latin typeface="Consolas"/>
              </a:rPr>
              <a:t>CN8</a:t>
            </a:r>
            <a:r>
              <a:rPr b="0" lang="en-US" sz="1000" spc="-1" strike="noStrike">
                <a:solidFill>
                  <a:srgbClr val="1c2430"/>
                </a:solidFill>
                <a:latin typeface="Segoe UI"/>
              </a:rPr>
              <a:t> de seguridad y la alimentación </a:t>
            </a:r>
            <a:r>
              <a:rPr b="0" lang="en-US" sz="1000" spc="-1" strike="noStrike">
                <a:solidFill>
                  <a:srgbClr val="1c2430"/>
                </a:solidFill>
                <a:latin typeface="Consolas"/>
              </a:rPr>
              <a:t>+24VIN</a:t>
            </a:r>
            <a:r>
              <a:rPr b="0" lang="en-US" sz="1000" spc="-1" strike="noStrike">
                <a:solidFill>
                  <a:srgbClr val="1c2430"/>
                </a:solidFill>
                <a:latin typeface="Segoe UI"/>
              </a:rPr>
              <a:t> de las entradas.</a:t>
            </a:r>
            <a:endParaRPr b="0" lang="en-US" sz="1000" spc="-1" strike="noStrike">
              <a:solidFill>
                <a:srgbClr val="000000"/>
              </a:solidFill>
              <a:latin typeface="Arial"/>
            </a:endParaRPr>
          </a:p>
        </p:txBody>
      </p:sp>
      <p:cxnSp>
        <p:nvCxnSpPr>
          <p:cNvPr id="2772" name="Connector 21"/>
          <p:cNvCxnSpPr/>
          <p:nvPr/>
        </p:nvCxnSpPr>
        <p:spPr>
          <a:xfrm>
            <a:off x="1526760" y="3492720"/>
            <a:ext cx="1262520" cy="360"/>
          </a:xfrm>
          <a:prstGeom prst="straightConnector1">
            <a:avLst/>
          </a:prstGeom>
          <a:ln w="12700">
            <a:solidFill>
              <a:srgbClr val="5a6b7b"/>
            </a:solidFill>
            <a:round/>
          </a:ln>
        </p:spPr>
      </p:cxnSp>
      <p:cxnSp>
        <p:nvCxnSpPr>
          <p:cNvPr id="2773" name="Connector 22"/>
          <p:cNvCxnSpPr/>
          <p:nvPr/>
        </p:nvCxnSpPr>
        <p:spPr>
          <a:xfrm>
            <a:off x="2788920" y="3492720"/>
            <a:ext cx="360" cy="851040"/>
          </a:xfrm>
          <a:prstGeom prst="straightConnector1">
            <a:avLst/>
          </a:prstGeom>
          <a:ln w="12700">
            <a:solidFill>
              <a:srgbClr val="5a6b7b"/>
            </a:solidFill>
            <a:round/>
          </a:ln>
        </p:spPr>
      </p:cxnSp>
      <p:cxnSp>
        <p:nvCxnSpPr>
          <p:cNvPr id="2774" name="Connector 23"/>
          <p:cNvCxnSpPr/>
          <p:nvPr/>
        </p:nvCxnSpPr>
        <p:spPr>
          <a:xfrm>
            <a:off x="2788920" y="4343400"/>
            <a:ext cx="274680" cy="360"/>
          </a:xfrm>
          <a:prstGeom prst="straightConnector1">
            <a:avLst/>
          </a:prstGeom>
          <a:ln w="12700">
            <a:solidFill>
              <a:srgbClr val="5a6b7b"/>
            </a:solidFill>
            <a:round/>
          </a:ln>
        </p:spPr>
      </p:cxnSp>
      <p:sp>
        <p:nvSpPr>
          <p:cNvPr id="2775" name="Rounded Rectangle 24"/>
          <p:cNvSpPr/>
          <p:nvPr/>
        </p:nvSpPr>
        <p:spPr>
          <a:xfrm>
            <a:off x="3063240" y="4023360"/>
            <a:ext cx="3245760" cy="658080"/>
          </a:xfrm>
          <a:prstGeom prst="roundRect">
            <a:avLst>
              <a:gd name="adj" fmla="val 12000"/>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Segoe UI"/>
              </a:rPr>
              <a:t>¿Llega consigna del controlador?</a:t>
            </a:r>
            <a:endParaRPr b="0" lang="en-US" sz="1050" spc="-1" strike="noStrike">
              <a:solidFill>
                <a:srgbClr val="ffffff"/>
              </a:solidFill>
              <a:latin typeface="Arial"/>
            </a:endParaRPr>
          </a:p>
        </p:txBody>
      </p:sp>
      <p:sp>
        <p:nvSpPr>
          <p:cNvPr id="2776" name="Rectangle 25"/>
          <p:cNvSpPr/>
          <p:nvPr/>
        </p:nvSpPr>
        <p:spPr>
          <a:xfrm>
            <a:off x="6537960" y="4023360"/>
            <a:ext cx="5092920" cy="65808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77" name="TextBox 26"/>
          <p:cNvSpPr/>
          <p:nvPr/>
        </p:nvSpPr>
        <p:spPr>
          <a:xfrm>
            <a:off x="6720840" y="4105800"/>
            <a:ext cx="4754520" cy="335880"/>
          </a:xfrm>
          <a:prstGeom prst="rect">
            <a:avLst/>
          </a:prstGeom>
          <a:noFill/>
          <a:ln w="0">
            <a:noFill/>
          </a:ln>
        </p:spPr>
        <p:style>
          <a:lnRef idx="0"/>
          <a:fillRef idx="0"/>
          <a:effectRef idx="0"/>
          <a:fontRef idx="minor"/>
        </p:style>
        <p:txBody>
          <a:bodyPr lIns="0" rIns="0" tIns="0" bIns="0" anchor="t">
            <a:spAutoFit/>
          </a:bodyPr>
          <a:p>
            <a:pPr defTabSz="457200">
              <a:lnSpc>
                <a:spcPct val="110000"/>
              </a:lnSpc>
            </a:pPr>
            <a:r>
              <a:rPr b="1" lang="en-US" sz="1000" spc="-1" strike="noStrike">
                <a:solidFill>
                  <a:srgbClr val="1c2430"/>
                </a:solidFill>
                <a:latin typeface="Segoe UI"/>
              </a:rPr>
              <a:t>No</a:t>
            </a:r>
            <a:r>
              <a:rPr b="0" lang="en-US" sz="1000" spc="-1" strike="noStrike">
                <a:solidFill>
                  <a:srgbClr val="1c2430"/>
                </a:solidFill>
                <a:latin typeface="Segoe UI"/>
              </a:rPr>
              <a:t> → comprueba </a:t>
            </a:r>
            <a:r>
              <a:rPr b="0" lang="en-US" sz="1000" spc="-1" strike="noStrike">
                <a:solidFill>
                  <a:srgbClr val="1c2430"/>
                </a:solidFill>
                <a:latin typeface="Consolas"/>
              </a:rPr>
              <a:t>Un007</a:t>
            </a:r>
            <a:r>
              <a:rPr b="0" lang="en-US" sz="1000" spc="-1" strike="noStrike">
                <a:solidFill>
                  <a:srgbClr val="1c2430"/>
                </a:solidFill>
                <a:latin typeface="Segoe UI"/>
              </a:rPr>
              <a:t> (pulsos) o el estado del bus. Revisa el programa del PLC y el modo de control </a:t>
            </a:r>
            <a:r>
              <a:rPr b="0" lang="en-US" sz="1000" spc="-1" strike="noStrike">
                <a:solidFill>
                  <a:srgbClr val="1c2430"/>
                </a:solidFill>
                <a:latin typeface="Consolas"/>
              </a:rPr>
              <a:t>Pn000.1</a:t>
            </a:r>
            <a:r>
              <a:rPr b="0" lang="en-US" sz="1000" spc="-1" strike="noStrike">
                <a:solidFill>
                  <a:srgbClr val="1c2430"/>
                </a:solidFill>
                <a:latin typeface="Segoe UI"/>
              </a:rPr>
              <a:t>.</a:t>
            </a:r>
            <a:endParaRPr b="0" lang="en-US" sz="1000" spc="-1" strike="noStrike">
              <a:solidFill>
                <a:srgbClr val="000000"/>
              </a:solidFill>
              <a:latin typeface="Arial"/>
            </a:endParaRPr>
          </a:p>
        </p:txBody>
      </p:sp>
      <p:cxnSp>
        <p:nvCxnSpPr>
          <p:cNvPr id="2778" name="Connector 27"/>
          <p:cNvCxnSpPr/>
          <p:nvPr/>
        </p:nvCxnSpPr>
        <p:spPr>
          <a:xfrm>
            <a:off x="1526760" y="3492720"/>
            <a:ext cx="1262520" cy="360"/>
          </a:xfrm>
          <a:prstGeom prst="straightConnector1">
            <a:avLst/>
          </a:prstGeom>
          <a:ln w="12700">
            <a:solidFill>
              <a:srgbClr val="5a6b7b"/>
            </a:solidFill>
            <a:round/>
          </a:ln>
        </p:spPr>
      </p:cxnSp>
      <p:cxnSp>
        <p:nvCxnSpPr>
          <p:cNvPr id="2779" name="Connector 28"/>
          <p:cNvCxnSpPr/>
          <p:nvPr/>
        </p:nvCxnSpPr>
        <p:spPr>
          <a:xfrm>
            <a:off x="2788920" y="3492720"/>
            <a:ext cx="360" cy="2039760"/>
          </a:xfrm>
          <a:prstGeom prst="straightConnector1">
            <a:avLst/>
          </a:prstGeom>
          <a:ln w="12700">
            <a:solidFill>
              <a:srgbClr val="5a6b7b"/>
            </a:solidFill>
            <a:round/>
          </a:ln>
        </p:spPr>
      </p:cxnSp>
      <p:cxnSp>
        <p:nvCxnSpPr>
          <p:cNvPr id="2780" name="Connector 29"/>
          <p:cNvCxnSpPr/>
          <p:nvPr/>
        </p:nvCxnSpPr>
        <p:spPr>
          <a:xfrm>
            <a:off x="2788920" y="5532120"/>
            <a:ext cx="274680" cy="360"/>
          </a:xfrm>
          <a:prstGeom prst="straightConnector1">
            <a:avLst/>
          </a:prstGeom>
          <a:ln w="12700">
            <a:solidFill>
              <a:srgbClr val="5a6b7b"/>
            </a:solidFill>
            <a:round/>
          </a:ln>
        </p:spPr>
      </p:cxnSp>
      <p:sp>
        <p:nvSpPr>
          <p:cNvPr id="2781" name="Rounded Rectangle 30"/>
          <p:cNvSpPr/>
          <p:nvPr/>
        </p:nvSpPr>
        <p:spPr>
          <a:xfrm>
            <a:off x="3063240" y="5212080"/>
            <a:ext cx="3245760" cy="658080"/>
          </a:xfrm>
          <a:prstGeom prst="roundRect">
            <a:avLst>
              <a:gd name="adj" fmla="val 12000"/>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54720" bIns="54720" anchor="ctr">
            <a:noAutofit/>
          </a:bodyPr>
          <a:p>
            <a:pPr algn="ctr" defTabSz="457200">
              <a:lnSpc>
                <a:spcPct val="100000"/>
              </a:lnSpc>
            </a:pPr>
            <a:r>
              <a:rPr b="1" lang="en-US" sz="1050" spc="-1" strike="noStrike">
                <a:solidFill>
                  <a:srgbClr val="ffffff"/>
                </a:solidFill>
                <a:latin typeface="Segoe UI"/>
              </a:rPr>
              <a:t>¿Están activos los finales de carrera?</a:t>
            </a:r>
            <a:endParaRPr b="0" lang="en-US" sz="1050" spc="-1" strike="noStrike">
              <a:solidFill>
                <a:srgbClr val="ffffff"/>
              </a:solidFill>
              <a:latin typeface="Arial"/>
            </a:endParaRPr>
          </a:p>
        </p:txBody>
      </p:sp>
      <p:sp>
        <p:nvSpPr>
          <p:cNvPr id="2782" name="Rectangle 31"/>
          <p:cNvSpPr/>
          <p:nvPr/>
        </p:nvSpPr>
        <p:spPr>
          <a:xfrm>
            <a:off x="6537960" y="5212080"/>
            <a:ext cx="5092920" cy="65808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83" name="TextBox 32"/>
          <p:cNvSpPr/>
          <p:nvPr/>
        </p:nvSpPr>
        <p:spPr>
          <a:xfrm>
            <a:off x="6720840" y="5294520"/>
            <a:ext cx="4754520" cy="335880"/>
          </a:xfrm>
          <a:prstGeom prst="rect">
            <a:avLst/>
          </a:prstGeom>
          <a:noFill/>
          <a:ln w="0">
            <a:noFill/>
          </a:ln>
        </p:spPr>
        <p:style>
          <a:lnRef idx="0"/>
          <a:fillRef idx="0"/>
          <a:effectRef idx="0"/>
          <a:fontRef idx="minor"/>
        </p:style>
        <p:txBody>
          <a:bodyPr lIns="0" rIns="0" tIns="0" bIns="0" anchor="t">
            <a:spAutoFit/>
          </a:bodyPr>
          <a:p>
            <a:pPr defTabSz="457200">
              <a:lnSpc>
                <a:spcPct val="110000"/>
              </a:lnSpc>
            </a:pPr>
            <a:r>
              <a:rPr b="1" lang="en-US" sz="1000" spc="-1" strike="noStrike">
                <a:solidFill>
                  <a:srgbClr val="1c2430"/>
                </a:solidFill>
                <a:latin typeface="Segoe UI"/>
              </a:rPr>
              <a:t>Sí</a:t>
            </a:r>
            <a:r>
              <a:rPr b="0" lang="en-US" sz="1000" spc="-1" strike="noStrike">
                <a:solidFill>
                  <a:srgbClr val="1c2430"/>
                </a:solidFill>
                <a:latin typeface="Segoe UI"/>
              </a:rPr>
              <a:t> → </a:t>
            </a:r>
            <a:r>
              <a:rPr b="0" lang="en-US" sz="1000" spc="-1" strike="noStrike">
                <a:solidFill>
                  <a:srgbClr val="1c2430"/>
                </a:solidFill>
                <a:latin typeface="Consolas"/>
              </a:rPr>
              <a:t>P-OT</a:t>
            </a:r>
            <a:r>
              <a:rPr b="0" lang="en-US" sz="1000" spc="-1" strike="noStrike">
                <a:solidFill>
                  <a:srgbClr val="1c2430"/>
                </a:solidFill>
                <a:latin typeface="Segoe UI"/>
              </a:rPr>
              <a:t>/</a:t>
            </a:r>
            <a:r>
              <a:rPr b="0" lang="en-US" sz="1000" spc="-1" strike="noStrike">
                <a:solidFill>
                  <a:srgbClr val="1c2430"/>
                </a:solidFill>
                <a:latin typeface="Consolas"/>
              </a:rPr>
              <a:t>N-OT</a:t>
            </a:r>
            <a:r>
              <a:rPr b="0" lang="en-US" sz="1000" spc="-1" strike="noStrike">
                <a:solidFill>
                  <a:srgbClr val="1c2430"/>
                </a:solidFill>
                <a:latin typeface="Segoe UI"/>
              </a:rPr>
              <a:t> abiertos detienen el eje en ese sentido. Míralo en </a:t>
            </a:r>
            <a:r>
              <a:rPr b="0" lang="en-US" sz="1000" spc="-1" strike="noStrike">
                <a:solidFill>
                  <a:srgbClr val="1c2430"/>
                </a:solidFill>
                <a:latin typeface="Consolas"/>
              </a:rPr>
              <a:t>Un005</a:t>
            </a:r>
            <a:r>
              <a:rPr b="0" lang="en-US" sz="1000" spc="-1" strike="noStrike">
                <a:solidFill>
                  <a:srgbClr val="1c2430"/>
                </a:solidFill>
                <a:latin typeface="Segoe UI"/>
              </a:rPr>
              <a:t> y retira el eje en sentido contrario.</a:t>
            </a:r>
            <a:endParaRPr b="0" lang="en-US" sz="1000" spc="-1" strike="noStrike">
              <a:solidFill>
                <a:srgbClr val="000000"/>
              </a:solidFill>
              <a:latin typeface="Arial"/>
            </a:endParaRPr>
          </a:p>
        </p:txBody>
      </p:sp>
      <p:sp>
        <p:nvSpPr>
          <p:cNvPr id="2784" name="Rectangle 33"/>
          <p:cNvSpPr/>
          <p:nvPr/>
        </p:nvSpPr>
        <p:spPr>
          <a:xfrm>
            <a:off x="567000" y="5989320"/>
            <a:ext cx="11063880" cy="38376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85" name="Rectangle 34"/>
          <p:cNvSpPr/>
          <p:nvPr/>
        </p:nvSpPr>
        <p:spPr>
          <a:xfrm>
            <a:off x="567000" y="5989320"/>
            <a:ext cx="68400" cy="3837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86" name="TextBox 35"/>
          <p:cNvSpPr/>
          <p:nvPr/>
        </p:nvSpPr>
        <p:spPr>
          <a:xfrm>
            <a:off x="841320" y="6126480"/>
            <a:ext cx="1056096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Si el par sube al máximo y el eje sigue sin moverse: bloqueo mecánico o freno sin liberar. Corta y comprueba a mano.</a:t>
            </a:r>
            <a:endParaRPr b="0" lang="en-US" sz="1200" spc="-1" strike="noStrike">
              <a:solidFill>
                <a:srgbClr val="000000"/>
              </a:solidFill>
              <a:latin typeface="Arial"/>
            </a:endParaRPr>
          </a:p>
        </p:txBody>
      </p:sp>
      <p:sp>
        <p:nvSpPr>
          <p:cNvPr id="2787" name="TextBox 36"/>
          <p:cNvSpPr/>
          <p:nvPr/>
        </p:nvSpPr>
        <p:spPr>
          <a:xfrm>
            <a:off x="841320" y="6282000"/>
            <a:ext cx="10560960" cy="118440"/>
          </a:xfrm>
          <a:prstGeom prst="rect">
            <a:avLst/>
          </a:prstGeom>
          <a:noFill/>
          <a:ln w="0">
            <a:noFill/>
          </a:ln>
        </p:spPr>
        <p:style>
          <a:lnRef idx="0"/>
          <a:fillRef idx="0"/>
          <a:effectRef idx="0"/>
          <a:fontRef idx="minor"/>
        </p:style>
        <p:txBody>
          <a:bodyPr lIns="0" rIns="0" tIns="0" bIns="0" anchor="t">
            <a:spAutoFit/>
          </a:bodyPr>
          <a:p>
            <a:pPr defTabSz="457200">
              <a:lnSpc>
                <a:spcPct val="106000"/>
              </a:lnSpc>
            </a:pPr>
            <a:endParaRPr b="0" lang="en-US" sz="1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1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8"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89"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790"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Mantenimiento preventivo del conjunto</a:t>
            </a:r>
            <a:endParaRPr b="0" lang="en-US" sz="2500" spc="-1" strike="noStrike">
              <a:solidFill>
                <a:srgbClr val="000000"/>
              </a:solidFill>
              <a:latin typeface="Arial"/>
            </a:endParaRPr>
          </a:p>
        </p:txBody>
      </p:sp>
      <p:sp>
        <p:nvSpPr>
          <p:cNvPr id="2791"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Un plan simple que evita la mayoría de las paradas no planificadas</a:t>
            </a:r>
            <a:endParaRPr b="0" lang="en-US" sz="1250" spc="-1" strike="noStrike">
              <a:solidFill>
                <a:srgbClr val="000000"/>
              </a:solidFill>
              <a:latin typeface="Arial"/>
            </a:endParaRPr>
          </a:p>
        </p:txBody>
      </p:sp>
      <p:sp>
        <p:nvSpPr>
          <p:cNvPr id="2792"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11</a:t>
            </a:r>
            <a:endParaRPr b="0" lang="en-US" sz="1100" spc="-1" strike="noStrike">
              <a:solidFill>
                <a:srgbClr val="000000"/>
              </a:solidFill>
              <a:latin typeface="Arial"/>
            </a:endParaRPr>
          </a:p>
        </p:txBody>
      </p:sp>
      <p:sp>
        <p:nvSpPr>
          <p:cNvPr id="2793"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794"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139</a:t>
            </a:r>
            <a:endParaRPr b="0" lang="en-US" sz="900" spc="-1" strike="noStrike">
              <a:solidFill>
                <a:srgbClr val="000000"/>
              </a:solidFill>
              <a:latin typeface="Arial"/>
            </a:endParaRPr>
          </a:p>
        </p:txBody>
      </p:sp>
      <p:graphicFrame>
        <p:nvGraphicFramePr>
          <p:cNvPr id="2795" name="Table 8"/>
          <p:cNvGraphicFramePr/>
          <p:nvPr/>
        </p:nvGraphicFramePr>
        <p:xfrm>
          <a:off x="567000" y="1481400"/>
          <a:ext cx="11057400" cy="4462200"/>
        </p:xfrm>
        <a:graphic>
          <a:graphicData uri="http://schemas.openxmlformats.org/drawingml/2006/table">
            <a:tbl>
              <a:tblPr/>
              <a:tblGrid>
                <a:gridCol w="2101680"/>
                <a:gridCol w="3015720"/>
                <a:gridCol w="2649960"/>
                <a:gridCol w="3289680"/>
              </a:tblGrid>
              <a:tr h="347400">
                <a:tc>
                  <a:txBody>
                    <a:bodyPr lIns="82080" rIns="82080" tIns="27360" bIns="27360" anchor="ctr">
                      <a:noAutofit/>
                    </a:bodyPr>
                    <a:p>
                      <a:pPr defTabSz="457200">
                        <a:lnSpc>
                          <a:spcPct val="100000"/>
                        </a:lnSpc>
                      </a:pPr>
                      <a:r>
                        <a:rPr b="1" lang="en-US" sz="900" spc="-1" strike="noStrike">
                          <a:solidFill>
                            <a:srgbClr val="ffffff"/>
                          </a:solidFill>
                          <a:latin typeface="Segoe UI"/>
                        </a:rPr>
                        <a:t>Elemento</a:t>
                      </a:r>
                      <a:endParaRPr b="0" lang="en-US" sz="9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00" spc="-1" strike="noStrike">
                          <a:solidFill>
                            <a:srgbClr val="ffffff"/>
                          </a:solidFill>
                          <a:latin typeface="Segoe UI"/>
                        </a:rPr>
                        <a:t>Qué le pasa con el tiempo</a:t>
                      </a:r>
                      <a:endParaRPr b="0" lang="en-US" sz="9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00" spc="-1" strike="noStrike">
                          <a:solidFill>
                            <a:srgbClr val="ffffff"/>
                          </a:solidFill>
                          <a:latin typeface="Segoe UI"/>
                        </a:rPr>
                        <a:t>Periodicidad orientativa</a:t>
                      </a:r>
                      <a:endParaRPr b="0" lang="en-US" sz="9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00" spc="-1" strike="noStrike">
                          <a:solidFill>
                            <a:srgbClr val="ffffff"/>
                          </a:solidFill>
                          <a:latin typeface="Segoe UI"/>
                        </a:rPr>
                        <a:t>Acción</a:t>
                      </a:r>
                      <a:endParaRPr b="0" lang="en-US" sz="90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457200">
                <a:tc>
                  <a:txBody>
                    <a:bodyPr lIns="82080" rIns="82080" tIns="27360" bIns="27360" anchor="ctr">
                      <a:noAutofit/>
                    </a:bodyPr>
                    <a:p>
                      <a:pPr defTabSz="457200">
                        <a:lnSpc>
                          <a:spcPct val="100000"/>
                        </a:lnSpc>
                      </a:pPr>
                      <a:r>
                        <a:rPr b="0" lang="en-US" sz="900" spc="-1" strike="noStrike">
                          <a:solidFill>
                            <a:srgbClr val="1c2430"/>
                          </a:solidFill>
                          <a:latin typeface="Segoe UI"/>
                        </a:rPr>
                        <a:t>Ventilador del amplificador</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Rodamientos gastados, ruido, caudal insuficiente</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Revisar anualmente; sustituir según horas de servicio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Sustitución preventiva antes de que provoque </a:t>
                      </a:r>
                      <a:r>
                        <a:rPr b="0" lang="en-US" sz="900" spc="-1" strike="noStrike">
                          <a:solidFill>
                            <a:srgbClr val="1c2430"/>
                          </a:solidFill>
                          <a:latin typeface="Consolas"/>
                        </a:rPr>
                        <a:t>A.7A_</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900" spc="-1" strike="noStrike">
                          <a:solidFill>
                            <a:srgbClr val="1c2430"/>
                          </a:solidFill>
                          <a:latin typeface="Segoe UI"/>
                        </a:rPr>
                        <a:t>Condensadores del bus</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Envejecimiento por temperatura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Vigilar a partir de varios años de servicio continuo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Sustitución del equipo o revisión por el servicio técnico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900" spc="-1" strike="noStrike">
                          <a:solidFill>
                            <a:srgbClr val="1c2430"/>
                          </a:solidFill>
                          <a:latin typeface="Segoe UI"/>
                        </a:rPr>
                        <a:t>Batería del encoder</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Descarga natural</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Cada 2 años (preventivo)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Cambio </a:t>
                      </a:r>
                      <a:r>
                        <a:rPr b="1" lang="en-US" sz="900" spc="-1" strike="noStrike">
                          <a:solidFill>
                            <a:srgbClr val="1c2430"/>
                          </a:solidFill>
                          <a:latin typeface="Segoe UI"/>
                        </a:rPr>
                        <a:t>con la alimentación de control conectada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900" spc="-1" strike="noStrike">
                          <a:solidFill>
                            <a:srgbClr val="1c2430"/>
                          </a:solidFill>
                          <a:latin typeface="Segoe UI"/>
                        </a:rPr>
                        <a:t>Filtros y ventilación del armario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Obstrucción por polvo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Trimestral o según el entorno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Limpieza y sustitución de filtros</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900" spc="-1" strike="noStrike">
                          <a:solidFill>
                            <a:srgbClr val="1c2430"/>
                          </a:solidFill>
                          <a:latin typeface="Segoe UI"/>
                        </a:rPr>
                        <a:t>Cables de motor y encoder</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Fatiga en cadena portacables, roce</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Inspección semestral</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Sustitución preventiva en ejes móviles de alto ciclo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900" spc="-1" strike="noStrike">
                          <a:solidFill>
                            <a:srgbClr val="1c2430"/>
                          </a:solidFill>
                          <a:latin typeface="Segoe UI"/>
                        </a:rPr>
                        <a:t>Acoplamiento</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Desgaste del elemento elástico, holgura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Inspección semestral</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Sustitución del elastómero; verificar alineación</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900" spc="-1" strike="noStrike">
                          <a:solidFill>
                            <a:srgbClr val="1c2430"/>
                          </a:solidFill>
                          <a:latin typeface="Segoe UI"/>
                        </a:rPr>
                        <a:t>Freno de retención</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Desgaste del forro, pérdida de par de retención</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Prueba anual</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Verificar par de retención según especificación</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57200">
                <a:tc>
                  <a:txBody>
                    <a:bodyPr lIns="82080" rIns="82080" tIns="27360" bIns="27360" anchor="ctr">
                      <a:noAutofit/>
                    </a:bodyPr>
                    <a:p>
                      <a:pPr defTabSz="457200">
                        <a:lnSpc>
                          <a:spcPct val="100000"/>
                        </a:lnSpc>
                      </a:pPr>
                      <a:r>
                        <a:rPr b="0" lang="en-US" sz="900" spc="-1" strike="noStrike">
                          <a:solidFill>
                            <a:srgbClr val="1c2430"/>
                          </a:solidFill>
                          <a:latin typeface="Segoe UI"/>
                        </a:rPr>
                        <a:t>Resistencia de regeneración</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Envejecimiento térmico, aflojamiento de bornes</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Inspección anual</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Verificar resistencia y estado de los terminales</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57200">
                <a:tc>
                  <a:txBody>
                    <a:bodyPr lIns="82080" rIns="82080" tIns="27360" bIns="27360" anchor="ctr">
                      <a:noAutofit/>
                    </a:bodyPr>
                    <a:p>
                      <a:pPr defTabSz="457200">
                        <a:lnSpc>
                          <a:spcPct val="100000"/>
                        </a:lnSpc>
                      </a:pPr>
                      <a:r>
                        <a:rPr b="0" lang="en-US" sz="900" spc="-1" strike="noStrike">
                          <a:solidFill>
                            <a:srgbClr val="1c2430"/>
                          </a:solidFill>
                          <a:latin typeface="Segoe UI"/>
                        </a:rPr>
                        <a:t>Aprietes de bornes de potencia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Aflojamiento por ciclos térmicos</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Anual</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00" spc="-1" strike="noStrike">
                          <a:solidFill>
                            <a:srgbClr val="1c2430"/>
                          </a:solidFill>
                          <a:latin typeface="Segoe UI"/>
                        </a:rPr>
                        <a:t>Reapriete al par indicado con la instalación consignada</a:t>
                      </a:r>
                      <a:endParaRPr b="0" lang="en-US" sz="90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796"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Las periodicidades son orientativas: ajústalas al entorno real (temperatura, polvo, horas de servicio) y a las indicaciones del manual.</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97"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798"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799"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Sustitución de un SERVOPACK o de un motor</a:t>
            </a:r>
            <a:endParaRPr b="0" lang="en-US" sz="2500" spc="-1" strike="noStrike">
              <a:solidFill>
                <a:srgbClr val="000000"/>
              </a:solidFill>
              <a:latin typeface="Arial"/>
            </a:endParaRPr>
          </a:p>
        </p:txBody>
      </p:sp>
      <p:sp>
        <p:nvSpPr>
          <p:cNvPr id="2800"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Con preparación, una hora; sin preparación, un día</a:t>
            </a:r>
            <a:endParaRPr b="0" lang="en-US" sz="1250" spc="-1" strike="noStrike">
              <a:solidFill>
                <a:srgbClr val="000000"/>
              </a:solidFill>
              <a:latin typeface="Arial"/>
            </a:endParaRPr>
          </a:p>
        </p:txBody>
      </p:sp>
      <p:sp>
        <p:nvSpPr>
          <p:cNvPr id="2801"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11</a:t>
            </a:r>
            <a:endParaRPr b="0" lang="en-US" sz="1100" spc="-1" strike="noStrike">
              <a:solidFill>
                <a:srgbClr val="000000"/>
              </a:solidFill>
              <a:latin typeface="Arial"/>
            </a:endParaRPr>
          </a:p>
        </p:txBody>
      </p:sp>
      <p:sp>
        <p:nvSpPr>
          <p:cNvPr id="2802"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803"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140</a:t>
            </a:r>
            <a:endParaRPr b="0" lang="en-US" sz="900" spc="-1" strike="noStrike">
              <a:solidFill>
                <a:srgbClr val="000000"/>
              </a:solidFill>
              <a:latin typeface="Arial"/>
            </a:endParaRPr>
          </a:p>
        </p:txBody>
      </p:sp>
      <p:sp>
        <p:nvSpPr>
          <p:cNvPr id="2804" name="Rectangle 8"/>
          <p:cNvSpPr/>
          <p:nvPr/>
        </p:nvSpPr>
        <p:spPr>
          <a:xfrm>
            <a:off x="567000" y="148140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05" name="Rectangle 9"/>
          <p:cNvSpPr/>
          <p:nvPr/>
        </p:nvSpPr>
        <p:spPr>
          <a:xfrm>
            <a:off x="567000" y="148140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06" name="TextBox 10"/>
          <p:cNvSpPr/>
          <p:nvPr/>
        </p:nvSpPr>
        <p:spPr>
          <a:xfrm>
            <a:off x="567000" y="159336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1</a:t>
            </a:r>
            <a:endParaRPr b="0" lang="en-US" sz="1550" spc="-1" strike="noStrike">
              <a:solidFill>
                <a:srgbClr val="000000"/>
              </a:solidFill>
              <a:latin typeface="Arial"/>
            </a:endParaRPr>
          </a:p>
        </p:txBody>
      </p:sp>
      <p:sp>
        <p:nvSpPr>
          <p:cNvPr id="2807" name="TextBox 11"/>
          <p:cNvSpPr/>
          <p:nvPr/>
        </p:nvSpPr>
        <p:spPr>
          <a:xfrm>
            <a:off x="1435680" y="157284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Consignar la instalación y esperar la descarga del bus</a:t>
            </a:r>
            <a:endParaRPr b="0" lang="en-US" sz="950" spc="-1" strike="noStrike">
              <a:solidFill>
                <a:srgbClr val="000000"/>
              </a:solidFill>
              <a:latin typeface="Arial"/>
            </a:endParaRPr>
          </a:p>
        </p:txBody>
      </p:sp>
      <p:sp>
        <p:nvSpPr>
          <p:cNvPr id="2808" name="TextBox 12"/>
          <p:cNvSpPr/>
          <p:nvPr/>
        </p:nvSpPr>
        <p:spPr>
          <a:xfrm>
            <a:off x="1435680" y="175716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LOTO, espera de al menos 5 minutos y verificación de ausencia de tensión. El LED CHARGE apagado no es suficiente.</a:t>
            </a:r>
            <a:endParaRPr b="0" lang="en-US" sz="750" spc="-1" strike="noStrike">
              <a:solidFill>
                <a:srgbClr val="000000"/>
              </a:solidFill>
              <a:latin typeface="Arial"/>
            </a:endParaRPr>
          </a:p>
        </p:txBody>
      </p:sp>
      <p:sp>
        <p:nvSpPr>
          <p:cNvPr id="2809" name="Rectangle 13"/>
          <p:cNvSpPr/>
          <p:nvPr/>
        </p:nvSpPr>
        <p:spPr>
          <a:xfrm>
            <a:off x="567000" y="205200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10" name="Rectangle 14"/>
          <p:cNvSpPr/>
          <p:nvPr/>
        </p:nvSpPr>
        <p:spPr>
          <a:xfrm>
            <a:off x="567000" y="205200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11" name="TextBox 15"/>
          <p:cNvSpPr/>
          <p:nvPr/>
        </p:nvSpPr>
        <p:spPr>
          <a:xfrm>
            <a:off x="567000" y="216396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2</a:t>
            </a:r>
            <a:endParaRPr b="0" lang="en-US" sz="1550" spc="-1" strike="noStrike">
              <a:solidFill>
                <a:srgbClr val="000000"/>
              </a:solidFill>
              <a:latin typeface="Arial"/>
            </a:endParaRPr>
          </a:p>
        </p:txBody>
      </p:sp>
      <p:sp>
        <p:nvSpPr>
          <p:cNvPr id="2812" name="TextBox 16"/>
          <p:cNvSpPr/>
          <p:nvPr/>
        </p:nvSpPr>
        <p:spPr>
          <a:xfrm>
            <a:off x="1435680" y="214344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Anotar y fotografiar todo antes de desmontar</a:t>
            </a:r>
            <a:endParaRPr b="0" lang="en-US" sz="950" spc="-1" strike="noStrike">
              <a:solidFill>
                <a:srgbClr val="000000"/>
              </a:solidFill>
              <a:latin typeface="Arial"/>
            </a:endParaRPr>
          </a:p>
        </p:txBody>
      </p:sp>
      <p:sp>
        <p:nvSpPr>
          <p:cNvPr id="2813" name="TextBox 17"/>
          <p:cNvSpPr/>
          <p:nvPr/>
        </p:nvSpPr>
        <p:spPr>
          <a:xfrm>
            <a:off x="1435680" y="232776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Etiquetas de los dos equipos, conexiones, posición de los cables y estado de los puentes (</a:t>
            </a:r>
            <a:r>
              <a:rPr b="0" lang="en-US" sz="750" spc="-1" strike="noStrike">
                <a:solidFill>
                  <a:srgbClr val="3a4654"/>
                </a:solidFill>
                <a:latin typeface="Consolas"/>
              </a:rPr>
              <a:t>B2</a:t>
            </a:r>
            <a:r>
              <a:rPr b="0" lang="en-US" sz="750" spc="-1" strike="noStrike">
                <a:solidFill>
                  <a:srgbClr val="3a4654"/>
                </a:solidFill>
                <a:latin typeface="Segoe UI"/>
              </a:rPr>
              <a:t>-</a:t>
            </a:r>
            <a:r>
              <a:rPr b="0" lang="en-US" sz="750" spc="-1" strike="noStrike">
                <a:solidFill>
                  <a:srgbClr val="3a4654"/>
                </a:solidFill>
                <a:latin typeface="Consolas"/>
              </a:rPr>
              <a:t>B3</a:t>
            </a:r>
            <a:r>
              <a:rPr b="0" lang="en-US" sz="750" spc="-1" strike="noStrike">
                <a:solidFill>
                  <a:srgbClr val="3a4654"/>
                </a:solidFill>
                <a:latin typeface="Segoe UI"/>
              </a:rPr>
              <a:t>, </a:t>
            </a:r>
            <a:r>
              <a:rPr b="0" lang="en-US" sz="750" spc="-1" strike="noStrike">
                <a:solidFill>
                  <a:srgbClr val="3a4654"/>
                </a:solidFill>
                <a:latin typeface="Consolas"/>
              </a:rPr>
              <a:t>CN8</a:t>
            </a:r>
            <a:r>
              <a:rPr b="0" lang="en-US" sz="750" spc="-1" strike="noStrike">
                <a:solidFill>
                  <a:srgbClr val="3a4654"/>
                </a:solidFill>
                <a:latin typeface="Segoe UI"/>
              </a:rPr>
              <a:t>).</a:t>
            </a:r>
            <a:endParaRPr b="0" lang="en-US" sz="750" spc="-1" strike="noStrike">
              <a:solidFill>
                <a:srgbClr val="000000"/>
              </a:solidFill>
              <a:latin typeface="Arial"/>
            </a:endParaRPr>
          </a:p>
        </p:txBody>
      </p:sp>
      <p:sp>
        <p:nvSpPr>
          <p:cNvPr id="2814" name="Rectangle 18"/>
          <p:cNvSpPr/>
          <p:nvPr/>
        </p:nvSpPr>
        <p:spPr>
          <a:xfrm>
            <a:off x="567000" y="262296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15" name="Rectangle 19"/>
          <p:cNvSpPr/>
          <p:nvPr/>
        </p:nvSpPr>
        <p:spPr>
          <a:xfrm>
            <a:off x="567000" y="262296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16" name="TextBox 20"/>
          <p:cNvSpPr/>
          <p:nvPr/>
        </p:nvSpPr>
        <p:spPr>
          <a:xfrm>
            <a:off x="567000" y="273492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3</a:t>
            </a:r>
            <a:endParaRPr b="0" lang="en-US" sz="1550" spc="-1" strike="noStrike">
              <a:solidFill>
                <a:srgbClr val="000000"/>
              </a:solidFill>
              <a:latin typeface="Arial"/>
            </a:endParaRPr>
          </a:p>
        </p:txBody>
      </p:sp>
      <p:sp>
        <p:nvSpPr>
          <p:cNvPr id="2817" name="TextBox 21"/>
          <p:cNvSpPr/>
          <p:nvPr/>
        </p:nvSpPr>
        <p:spPr>
          <a:xfrm>
            <a:off x="1435680" y="271440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Verificar que el repuesto es idéntico</a:t>
            </a:r>
            <a:endParaRPr b="0" lang="en-US" sz="950" spc="-1" strike="noStrike">
              <a:solidFill>
                <a:srgbClr val="000000"/>
              </a:solidFill>
              <a:latin typeface="Arial"/>
            </a:endParaRPr>
          </a:p>
        </p:txBody>
      </p:sp>
      <p:sp>
        <p:nvSpPr>
          <p:cNvPr id="2818" name="TextBox 22"/>
          <p:cNvSpPr/>
          <p:nvPr/>
        </p:nvSpPr>
        <p:spPr>
          <a:xfrm>
            <a:off x="1435680" y="289872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Código completo, no sólo la potencia. Un sufijo distinto puede significar otra interfaz de comando.</a:t>
            </a:r>
            <a:endParaRPr b="0" lang="en-US" sz="750" spc="-1" strike="noStrike">
              <a:solidFill>
                <a:srgbClr val="000000"/>
              </a:solidFill>
              <a:latin typeface="Arial"/>
            </a:endParaRPr>
          </a:p>
        </p:txBody>
      </p:sp>
      <p:sp>
        <p:nvSpPr>
          <p:cNvPr id="2819" name="Rectangle 23"/>
          <p:cNvSpPr/>
          <p:nvPr/>
        </p:nvSpPr>
        <p:spPr>
          <a:xfrm>
            <a:off x="567000" y="319392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20" name="Rectangle 24"/>
          <p:cNvSpPr/>
          <p:nvPr/>
        </p:nvSpPr>
        <p:spPr>
          <a:xfrm>
            <a:off x="567000" y="319392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21" name="TextBox 25"/>
          <p:cNvSpPr/>
          <p:nvPr/>
        </p:nvSpPr>
        <p:spPr>
          <a:xfrm>
            <a:off x="567000" y="330588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4</a:t>
            </a:r>
            <a:endParaRPr b="0" lang="en-US" sz="1550" spc="-1" strike="noStrike">
              <a:solidFill>
                <a:srgbClr val="000000"/>
              </a:solidFill>
              <a:latin typeface="Arial"/>
            </a:endParaRPr>
          </a:p>
        </p:txBody>
      </p:sp>
      <p:sp>
        <p:nvSpPr>
          <p:cNvPr id="2822" name="TextBox 26"/>
          <p:cNvSpPr/>
          <p:nvPr/>
        </p:nvSpPr>
        <p:spPr>
          <a:xfrm>
            <a:off x="1435680" y="328536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Montar, cablear y comprobar antes de energizar</a:t>
            </a:r>
            <a:endParaRPr b="0" lang="en-US" sz="950" spc="-1" strike="noStrike">
              <a:solidFill>
                <a:srgbClr val="000000"/>
              </a:solidFill>
              <a:latin typeface="Arial"/>
            </a:endParaRPr>
          </a:p>
        </p:txBody>
      </p:sp>
      <p:sp>
        <p:nvSpPr>
          <p:cNvPr id="2823" name="TextBox 27"/>
          <p:cNvSpPr/>
          <p:nvPr/>
        </p:nvSpPr>
        <p:spPr>
          <a:xfrm>
            <a:off x="1435680" y="346968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Usa la lista de verificación de instalación del Módulo 05.</a:t>
            </a:r>
            <a:endParaRPr b="0" lang="en-US" sz="750" spc="-1" strike="noStrike">
              <a:solidFill>
                <a:srgbClr val="000000"/>
              </a:solidFill>
              <a:latin typeface="Arial"/>
            </a:endParaRPr>
          </a:p>
        </p:txBody>
      </p:sp>
      <p:sp>
        <p:nvSpPr>
          <p:cNvPr id="2824" name="Rectangle 28"/>
          <p:cNvSpPr/>
          <p:nvPr/>
        </p:nvSpPr>
        <p:spPr>
          <a:xfrm>
            <a:off x="567000" y="376488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25" name="Rectangle 29"/>
          <p:cNvSpPr/>
          <p:nvPr/>
        </p:nvSpPr>
        <p:spPr>
          <a:xfrm>
            <a:off x="567000" y="376488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26" name="TextBox 30"/>
          <p:cNvSpPr/>
          <p:nvPr/>
        </p:nvSpPr>
        <p:spPr>
          <a:xfrm>
            <a:off x="567000" y="387684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5</a:t>
            </a:r>
            <a:endParaRPr b="0" lang="en-US" sz="1550" spc="-1" strike="noStrike">
              <a:solidFill>
                <a:srgbClr val="000000"/>
              </a:solidFill>
              <a:latin typeface="Arial"/>
            </a:endParaRPr>
          </a:p>
        </p:txBody>
      </p:sp>
      <p:sp>
        <p:nvSpPr>
          <p:cNvPr id="2827" name="TextBox 31"/>
          <p:cNvSpPr/>
          <p:nvPr/>
        </p:nvSpPr>
        <p:spPr>
          <a:xfrm>
            <a:off x="1435680" y="385632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Cargar el fichero de parámetros</a:t>
            </a:r>
            <a:endParaRPr b="0" lang="en-US" sz="950" spc="-1" strike="noStrike">
              <a:solidFill>
                <a:srgbClr val="000000"/>
              </a:solidFill>
              <a:latin typeface="Arial"/>
            </a:endParaRPr>
          </a:p>
        </p:txBody>
      </p:sp>
      <p:sp>
        <p:nvSpPr>
          <p:cNvPr id="2828" name="TextBox 32"/>
          <p:cNvSpPr/>
          <p:nvPr/>
        </p:nvSpPr>
        <p:spPr>
          <a:xfrm>
            <a:off x="1435680" y="404028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Desde SigmaWin+ o desde el operador digital. Verifica después algunos parámetros críticos a mano.</a:t>
            </a:r>
            <a:endParaRPr b="0" lang="en-US" sz="750" spc="-1" strike="noStrike">
              <a:solidFill>
                <a:srgbClr val="000000"/>
              </a:solidFill>
              <a:latin typeface="Arial"/>
            </a:endParaRPr>
          </a:p>
        </p:txBody>
      </p:sp>
      <p:sp>
        <p:nvSpPr>
          <p:cNvPr id="2829" name="Rectangle 33"/>
          <p:cNvSpPr/>
          <p:nvPr/>
        </p:nvSpPr>
        <p:spPr>
          <a:xfrm>
            <a:off x="567000" y="433548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30" name="Rectangle 34"/>
          <p:cNvSpPr/>
          <p:nvPr/>
        </p:nvSpPr>
        <p:spPr>
          <a:xfrm>
            <a:off x="567000" y="433548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31" name="TextBox 35"/>
          <p:cNvSpPr/>
          <p:nvPr/>
        </p:nvSpPr>
        <p:spPr>
          <a:xfrm>
            <a:off x="567000" y="444744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6</a:t>
            </a:r>
            <a:endParaRPr b="0" lang="en-US" sz="1550" spc="-1" strike="noStrike">
              <a:solidFill>
                <a:srgbClr val="000000"/>
              </a:solidFill>
              <a:latin typeface="Arial"/>
            </a:endParaRPr>
          </a:p>
        </p:txBody>
      </p:sp>
      <p:sp>
        <p:nvSpPr>
          <p:cNvPr id="2832" name="TextBox 36"/>
          <p:cNvSpPr/>
          <p:nvPr/>
        </p:nvSpPr>
        <p:spPr>
          <a:xfrm>
            <a:off x="1435680" y="442692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Ejecutar </a:t>
            </a:r>
            <a:r>
              <a:rPr b="1" lang="en-US" sz="950" spc="-1" strike="noStrike">
                <a:solidFill>
                  <a:srgbClr val="0b2545"/>
                </a:solidFill>
                <a:latin typeface="Consolas"/>
              </a:rPr>
              <a:t>Fn008</a:t>
            </a:r>
            <a:r>
              <a:rPr b="1" lang="en-US" sz="950" spc="-1" strike="noStrike">
                <a:solidFill>
                  <a:srgbClr val="0b2545"/>
                </a:solidFill>
                <a:latin typeface="Segoe UI Semibold"/>
              </a:rPr>
              <a:t> si el encoder es absoluto y rehacer el origen</a:t>
            </a:r>
            <a:endParaRPr b="0" lang="en-US" sz="950" spc="-1" strike="noStrike">
              <a:solidFill>
                <a:srgbClr val="000000"/>
              </a:solidFill>
              <a:latin typeface="Arial"/>
            </a:endParaRPr>
          </a:p>
        </p:txBody>
      </p:sp>
      <p:sp>
        <p:nvSpPr>
          <p:cNvPr id="2833" name="TextBox 37"/>
          <p:cNvSpPr/>
          <p:nvPr/>
        </p:nvSpPr>
        <p:spPr>
          <a:xfrm>
            <a:off x="1435680" y="461124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El fichero de parámetros no contiene el origen de la máquina.</a:t>
            </a:r>
            <a:endParaRPr b="0" lang="en-US" sz="750" spc="-1" strike="noStrike">
              <a:solidFill>
                <a:srgbClr val="000000"/>
              </a:solidFill>
              <a:latin typeface="Arial"/>
            </a:endParaRPr>
          </a:p>
        </p:txBody>
      </p:sp>
      <p:sp>
        <p:nvSpPr>
          <p:cNvPr id="2834" name="Rectangle 38"/>
          <p:cNvSpPr/>
          <p:nvPr/>
        </p:nvSpPr>
        <p:spPr>
          <a:xfrm>
            <a:off x="567000" y="4906440"/>
            <a:ext cx="11057400" cy="46080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35" name="Rectangle 39"/>
          <p:cNvSpPr/>
          <p:nvPr/>
        </p:nvSpPr>
        <p:spPr>
          <a:xfrm>
            <a:off x="567000" y="4906440"/>
            <a:ext cx="658080" cy="46080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36" name="TextBox 40"/>
          <p:cNvSpPr/>
          <p:nvPr/>
        </p:nvSpPr>
        <p:spPr>
          <a:xfrm>
            <a:off x="567000" y="5018400"/>
            <a:ext cx="658080" cy="23688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550" spc="-1" strike="noStrike">
                <a:solidFill>
                  <a:srgbClr val="00a9ce"/>
                </a:solidFill>
                <a:latin typeface="Segoe UI Semibold"/>
              </a:rPr>
              <a:t>7</a:t>
            </a:r>
            <a:endParaRPr b="0" lang="en-US" sz="1550" spc="-1" strike="noStrike">
              <a:solidFill>
                <a:srgbClr val="000000"/>
              </a:solidFill>
              <a:latin typeface="Arial"/>
            </a:endParaRPr>
          </a:p>
        </p:txBody>
      </p:sp>
      <p:sp>
        <p:nvSpPr>
          <p:cNvPr id="2837" name="TextBox 41"/>
          <p:cNvSpPr/>
          <p:nvPr/>
        </p:nvSpPr>
        <p:spPr>
          <a:xfrm>
            <a:off x="1435680" y="4997880"/>
            <a:ext cx="9868680" cy="145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950" spc="-1" strike="noStrike">
                <a:solidFill>
                  <a:srgbClr val="0b2545"/>
                </a:solidFill>
                <a:latin typeface="Segoe UI Semibold"/>
              </a:rPr>
              <a:t>Verificar el eje y volver a documentar</a:t>
            </a:r>
            <a:endParaRPr b="0" lang="en-US" sz="950" spc="-1" strike="noStrike">
              <a:solidFill>
                <a:srgbClr val="000000"/>
              </a:solidFill>
              <a:latin typeface="Arial"/>
            </a:endParaRPr>
          </a:p>
        </p:txBody>
      </p:sp>
      <p:sp>
        <p:nvSpPr>
          <p:cNvPr id="2838" name="TextBox 42"/>
          <p:cNvSpPr/>
          <p:nvPr/>
        </p:nvSpPr>
        <p:spPr>
          <a:xfrm>
            <a:off x="1435680" y="5182200"/>
            <a:ext cx="9868680" cy="12024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750" spc="-1" strike="noStrike">
                <a:solidFill>
                  <a:srgbClr val="3a4654"/>
                </a:solidFill>
                <a:latin typeface="Segoe UI"/>
              </a:rPr>
              <a:t>JOG sin carga, ciclo a baja velocidad, ciclo real. Actualiza el acta del eje con la fecha y el motivo de la sustitución.</a:t>
            </a:r>
            <a:endParaRPr b="0" lang="en-US" sz="750" spc="-1" strike="noStrike">
              <a:solidFill>
                <a:srgbClr val="000000"/>
              </a:solidFill>
              <a:latin typeface="Arial"/>
            </a:endParaRPr>
          </a:p>
        </p:txBody>
      </p:sp>
      <p:sp>
        <p:nvSpPr>
          <p:cNvPr id="2839" name="Rectangle 43"/>
          <p:cNvSpPr/>
          <p:nvPr/>
        </p:nvSpPr>
        <p:spPr>
          <a:xfrm>
            <a:off x="567000" y="5504760"/>
            <a:ext cx="11057400" cy="82260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40" name="Rectangle 44"/>
          <p:cNvSpPr/>
          <p:nvPr/>
        </p:nvSpPr>
        <p:spPr>
          <a:xfrm>
            <a:off x="567000" y="5504760"/>
            <a:ext cx="68400" cy="82260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41" name="TextBox 45"/>
          <p:cNvSpPr/>
          <p:nvPr/>
        </p:nvSpPr>
        <p:spPr>
          <a:xfrm>
            <a:off x="841320" y="564192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Repuestos que conviene tener en planta</a:t>
            </a:r>
            <a:endParaRPr b="0" lang="en-US" sz="1200" spc="-1" strike="noStrike">
              <a:solidFill>
                <a:srgbClr val="000000"/>
              </a:solidFill>
              <a:latin typeface="Arial"/>
            </a:endParaRPr>
          </a:p>
        </p:txBody>
      </p:sp>
      <p:sp>
        <p:nvSpPr>
          <p:cNvPr id="2842" name="TextBox 46"/>
          <p:cNvSpPr/>
          <p:nvPr/>
        </p:nvSpPr>
        <p:spPr>
          <a:xfrm>
            <a:off x="841320" y="591624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Un amplificador y un motor de los modelos más críticos, baterías de encoder, un cable de encoder y uno de motor de las longitudes habituales, y ventiladores de repuesto. Y sobre todo: las copias de parámetros actualizadas de todos los ejes.</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3" name="Rectangle 1"/>
          <p:cNvSpPr/>
          <p:nvPr/>
        </p:nvSpPr>
        <p:spPr>
          <a:xfrm>
            <a:off x="0" y="0"/>
            <a:ext cx="12191400" cy="68576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44" name="Rectangle 2"/>
          <p:cNvSpPr/>
          <p:nvPr/>
        </p:nvSpPr>
        <p:spPr>
          <a:xfrm>
            <a:off x="0" y="0"/>
            <a:ext cx="383760" cy="6857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45" name="TextBox 3"/>
          <p:cNvSpPr/>
          <p:nvPr/>
        </p:nvSpPr>
        <p:spPr>
          <a:xfrm>
            <a:off x="1051560" y="1234440"/>
            <a:ext cx="5486040" cy="8841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5800" spc="-1" strike="noStrike">
                <a:solidFill>
                  <a:srgbClr val="143a63"/>
                </a:solidFill>
                <a:latin typeface="Segoe UI Semibold"/>
              </a:rPr>
              <a:t>MÓDULO 12</a:t>
            </a:r>
            <a:endParaRPr b="0" lang="en-US" sz="5800" spc="-1" strike="noStrike">
              <a:solidFill>
                <a:srgbClr val="000000"/>
              </a:solidFill>
              <a:latin typeface="Arial"/>
            </a:endParaRPr>
          </a:p>
        </p:txBody>
      </p:sp>
      <p:sp>
        <p:nvSpPr>
          <p:cNvPr id="2846" name="TextBox 4"/>
          <p:cNvSpPr/>
          <p:nvPr/>
        </p:nvSpPr>
        <p:spPr>
          <a:xfrm>
            <a:off x="1051560" y="2331720"/>
            <a:ext cx="9875160" cy="54396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1" lang="en-US" sz="3400" spc="-1" strike="noStrike">
                <a:solidFill>
                  <a:srgbClr val="ffffff"/>
                </a:solidFill>
                <a:latin typeface="Segoe UI Semibold"/>
              </a:rPr>
              <a:t>Proyecto integrador</a:t>
            </a:r>
            <a:endParaRPr b="0" lang="en-US" sz="3400" spc="-1" strike="noStrike">
              <a:solidFill>
                <a:srgbClr val="000000"/>
              </a:solidFill>
              <a:latin typeface="Arial"/>
            </a:endParaRPr>
          </a:p>
        </p:txBody>
      </p:sp>
      <p:sp>
        <p:nvSpPr>
          <p:cNvPr id="2847" name="Rectangle 5"/>
          <p:cNvSpPr/>
          <p:nvPr/>
        </p:nvSpPr>
        <p:spPr>
          <a:xfrm>
            <a:off x="1051560" y="3703320"/>
            <a:ext cx="1279800" cy="453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2848" name="Rectangle 6"/>
          <p:cNvSpPr/>
          <p:nvPr/>
        </p:nvSpPr>
        <p:spPr>
          <a:xfrm>
            <a:off x="1051560" y="41468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49" name="TextBox 7"/>
          <p:cNvSpPr/>
          <p:nvPr/>
        </p:nvSpPr>
        <p:spPr>
          <a:xfrm>
            <a:off x="1325880" y="40690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Una máquina real de principio a fin</a:t>
            </a:r>
            <a:endParaRPr b="0" lang="en-US" sz="1350" spc="-1" strike="noStrike">
              <a:solidFill>
                <a:srgbClr val="000000"/>
              </a:solidFill>
              <a:latin typeface="Arial"/>
            </a:endParaRPr>
          </a:p>
        </p:txBody>
      </p:sp>
      <p:sp>
        <p:nvSpPr>
          <p:cNvPr id="2850" name="Rectangle 8"/>
          <p:cNvSpPr/>
          <p:nvPr/>
        </p:nvSpPr>
        <p:spPr>
          <a:xfrm>
            <a:off x="1051560" y="451260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51" name="TextBox 9"/>
          <p:cNvSpPr/>
          <p:nvPr/>
        </p:nvSpPr>
        <p:spPr>
          <a:xfrm>
            <a:off x="1325880" y="443484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Entregable 1: dimensionamiento justificado</a:t>
            </a:r>
            <a:endParaRPr b="0" lang="en-US" sz="1350" spc="-1" strike="noStrike">
              <a:solidFill>
                <a:srgbClr val="000000"/>
              </a:solidFill>
              <a:latin typeface="Arial"/>
            </a:endParaRPr>
          </a:p>
        </p:txBody>
      </p:sp>
      <p:sp>
        <p:nvSpPr>
          <p:cNvPr id="2852" name="Rectangle 10"/>
          <p:cNvSpPr/>
          <p:nvPr/>
        </p:nvSpPr>
        <p:spPr>
          <a:xfrm>
            <a:off x="1051560" y="487836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53" name="TextBox 11"/>
          <p:cNvSpPr/>
          <p:nvPr/>
        </p:nvSpPr>
        <p:spPr>
          <a:xfrm>
            <a:off x="1325880" y="480060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Entregable 2: arquitectura eléctrica y de control</a:t>
            </a:r>
            <a:endParaRPr b="0" lang="en-US" sz="1350" spc="-1" strike="noStrike">
              <a:solidFill>
                <a:srgbClr val="000000"/>
              </a:solidFill>
              <a:latin typeface="Arial"/>
            </a:endParaRPr>
          </a:p>
        </p:txBody>
      </p:sp>
      <p:sp>
        <p:nvSpPr>
          <p:cNvPr id="2854" name="Rectangle 12"/>
          <p:cNvSpPr/>
          <p:nvPr/>
        </p:nvSpPr>
        <p:spPr>
          <a:xfrm>
            <a:off x="1051560" y="524412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55" name="TextBox 13"/>
          <p:cNvSpPr/>
          <p:nvPr/>
        </p:nvSpPr>
        <p:spPr>
          <a:xfrm>
            <a:off x="1325880" y="516636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Entregable 3: hoja de parámetros</a:t>
            </a:r>
            <a:endParaRPr b="0" lang="en-US" sz="1350" spc="-1" strike="noStrike">
              <a:solidFill>
                <a:srgbClr val="000000"/>
              </a:solidFill>
              <a:latin typeface="Arial"/>
            </a:endParaRPr>
          </a:p>
        </p:txBody>
      </p:sp>
      <p:sp>
        <p:nvSpPr>
          <p:cNvPr id="2856" name="Rectangle 14"/>
          <p:cNvSpPr/>
          <p:nvPr/>
        </p:nvSpPr>
        <p:spPr>
          <a:xfrm>
            <a:off x="1051560" y="560988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57" name="TextBox 15"/>
          <p:cNvSpPr/>
          <p:nvPr/>
        </p:nvSpPr>
        <p:spPr>
          <a:xfrm>
            <a:off x="1325880" y="553212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Entregable 4: plan de puesta en marcha y criterios de aceptación</a:t>
            </a:r>
            <a:endParaRPr b="0" lang="en-US" sz="1350" spc="-1" strike="noStrike">
              <a:solidFill>
                <a:srgbClr val="000000"/>
              </a:solidFill>
              <a:latin typeface="Arial"/>
            </a:endParaRPr>
          </a:p>
        </p:txBody>
      </p:sp>
      <p:sp>
        <p:nvSpPr>
          <p:cNvPr id="2858" name="Rectangle 16"/>
          <p:cNvSpPr/>
          <p:nvPr/>
        </p:nvSpPr>
        <p:spPr>
          <a:xfrm>
            <a:off x="1051560" y="59756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59" name="TextBox 17"/>
          <p:cNvSpPr/>
          <p:nvPr/>
        </p:nvSpPr>
        <p:spPr>
          <a:xfrm>
            <a:off x="1325880" y="58978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Defensa y evaluación</a:t>
            </a:r>
            <a:endParaRPr b="0" lang="en-US" sz="1350" spc="-1" strike="noStrike">
              <a:solidFill>
                <a:srgbClr val="000000"/>
              </a:solidFill>
              <a:latin typeface="Arial"/>
            </a:endParaRPr>
          </a:p>
        </p:txBody>
      </p:sp>
      <p:sp>
        <p:nvSpPr>
          <p:cNvPr id="2860" name="TextBox 18"/>
          <p:cNvSpPr/>
          <p:nvPr/>
        </p:nvSpPr>
        <p:spPr>
          <a:xfrm>
            <a:off x="1051560" y="6172200"/>
            <a:ext cx="73148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e89b1f"/>
                </a:solidFill>
                <a:latin typeface="Segoe UI"/>
              </a:rPr>
              <a:t>Duración orientativa: 8 h (trabajo guiado)</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1"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62"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863"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El encargo</a:t>
            </a:r>
            <a:endParaRPr b="0" lang="en-US" sz="2500" spc="-1" strike="noStrike">
              <a:solidFill>
                <a:srgbClr val="000000"/>
              </a:solidFill>
              <a:latin typeface="Arial"/>
            </a:endParaRPr>
          </a:p>
        </p:txBody>
      </p:sp>
      <p:sp>
        <p:nvSpPr>
          <p:cNvPr id="2864"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Lee el enunciado dos veces: la mitad de los errores nacen aquí</a:t>
            </a:r>
            <a:endParaRPr b="0" lang="en-US" sz="1250" spc="-1" strike="noStrike">
              <a:solidFill>
                <a:srgbClr val="000000"/>
              </a:solidFill>
              <a:latin typeface="Arial"/>
            </a:endParaRPr>
          </a:p>
        </p:txBody>
      </p:sp>
      <p:sp>
        <p:nvSpPr>
          <p:cNvPr id="2865"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12</a:t>
            </a:r>
            <a:endParaRPr b="0" lang="en-US" sz="1100" spc="-1" strike="noStrike">
              <a:solidFill>
                <a:srgbClr val="000000"/>
              </a:solidFill>
              <a:latin typeface="Arial"/>
            </a:endParaRPr>
          </a:p>
        </p:txBody>
      </p:sp>
      <p:sp>
        <p:nvSpPr>
          <p:cNvPr id="2866"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867"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142</a:t>
            </a:r>
            <a:endParaRPr b="0" lang="en-US" sz="900" spc="-1" strike="noStrike">
              <a:solidFill>
                <a:srgbClr val="000000"/>
              </a:solidFill>
              <a:latin typeface="Arial"/>
            </a:endParaRPr>
          </a:p>
        </p:txBody>
      </p:sp>
      <p:sp>
        <p:nvSpPr>
          <p:cNvPr id="2868" name="Rectangle 8"/>
          <p:cNvSpPr/>
          <p:nvPr/>
        </p:nvSpPr>
        <p:spPr>
          <a:xfrm>
            <a:off x="5670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69" name="Rectangle 9"/>
          <p:cNvSpPr/>
          <p:nvPr/>
        </p:nvSpPr>
        <p:spPr>
          <a:xfrm>
            <a:off x="567000" y="1481400"/>
            <a:ext cx="5373000" cy="4201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70"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La máquina</a:t>
            </a:r>
            <a:endParaRPr b="0" lang="en-US" sz="1350" spc="-1" strike="noStrike">
              <a:solidFill>
                <a:srgbClr val="000000"/>
              </a:solidFill>
              <a:latin typeface="Arial"/>
            </a:endParaRPr>
          </a:p>
        </p:txBody>
      </p:sp>
      <p:sp>
        <p:nvSpPr>
          <p:cNvPr id="2871" name="TextBox 11"/>
          <p:cNvSpPr/>
          <p:nvPr/>
        </p:nvSpPr>
        <p:spPr>
          <a:xfrm>
            <a:off x="768240" y="2048400"/>
            <a:ext cx="4970880" cy="288900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Estación de carga y descarga en una línea de mecanizado.</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Un eje horizontal con husillo de bolas mueve un carro con la pieza entre la posición de carga y la de mecanizado.</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El eje debe sincronizarse con el PLC de la línea y detenerse en posiciones repetibles.</a:t>
            </a:r>
            <a:endParaRPr b="0" lang="en-US" sz="12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200" spc="-1" strike="noStrike">
                <a:solidFill>
                  <a:srgbClr val="1c2430"/>
                </a:solidFill>
                <a:latin typeface="Segoe UI"/>
              </a:rPr>
              <a:t>La línea trabaja a tres turnos, en una nave sin climatizar.</a:t>
            </a:r>
            <a:endParaRPr b="0" lang="en-US" sz="1200" spc="-1" strike="noStrike">
              <a:solidFill>
                <a:srgbClr val="000000"/>
              </a:solidFill>
              <a:latin typeface="Arial"/>
            </a:endParaRPr>
          </a:p>
          <a:p>
            <a:pPr defTabSz="457200">
              <a:lnSpc>
                <a:spcPct val="106000"/>
              </a:lnSpc>
              <a:spcBef>
                <a:spcPts val="799"/>
              </a:spcBef>
              <a:spcAft>
                <a:spcPts val="901"/>
              </a:spcAft>
              <a:tabLst>
                <a:tab algn="l" pos="0"/>
              </a:tabLst>
            </a:pPr>
            <a:r>
              <a:rPr b="1" lang="en-US" sz="1150" spc="-1" strike="noStrike">
                <a:solidFill>
                  <a:srgbClr val="1b5ea8"/>
                </a:solidFill>
                <a:latin typeface="Segoe UI Semibold"/>
              </a:rPr>
              <a:t>Datos mecánicos</a:t>
            </a:r>
            <a:endParaRPr b="0" lang="en-US" sz="11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Masa del carro más pieza: </a:t>
            </a:r>
            <a:r>
              <a:rPr b="1" lang="en-US" sz="1050" spc="-1" strike="noStrike">
                <a:solidFill>
                  <a:srgbClr val="333f4c"/>
                </a:solidFill>
                <a:latin typeface="Segoe UI"/>
              </a:rPr>
              <a:t>400 kg</a:t>
            </a:r>
            <a:r>
              <a:rPr b="0" lang="en-US" sz="1050" spc="-1" strike="noStrike">
                <a:solidFill>
                  <a:srgbClr val="333f4c"/>
                </a:solidFill>
                <a:latin typeface="Segoe UI"/>
              </a:rPr>
              <a:t> (pieza de hasta 120 kg).</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Husillo de bolas: </a:t>
            </a:r>
            <a:r>
              <a:rPr b="1" lang="en-US" sz="1050" spc="-1" strike="noStrike">
                <a:solidFill>
                  <a:srgbClr val="333f4c"/>
                </a:solidFill>
                <a:latin typeface="Segoe UI"/>
              </a:rPr>
              <a:t>40 mm de diámetro, 1,5 m, paso 20 mm</a:t>
            </a:r>
            <a:r>
              <a:rPr b="0" lang="en-US" sz="1050" spc="-1" strike="noStrike">
                <a:solidFill>
                  <a:srgbClr val="333f4c"/>
                </a:solidFill>
                <a:latin typeface="Segoe UI"/>
              </a:rPr>
              <a:t>.</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Guías lineales, coeficiente de rozamiento </a:t>
            </a:r>
            <a:r>
              <a:rPr b="1" lang="en-US" sz="1050" spc="-1" strike="noStrike">
                <a:solidFill>
                  <a:srgbClr val="333f4c"/>
                </a:solidFill>
                <a:latin typeface="Segoe UI"/>
              </a:rPr>
              <a:t>0,05</a:t>
            </a:r>
            <a:r>
              <a:rPr b="0" lang="en-US" sz="1050" spc="-1" strike="noStrike">
                <a:solidFill>
                  <a:srgbClr val="333f4c"/>
                </a:solidFill>
                <a:latin typeface="Segoe UI"/>
              </a:rPr>
              <a:t>.</a:t>
            </a:r>
            <a:endParaRPr b="0" lang="en-US" sz="105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50" spc="-1" strike="noStrike">
                <a:solidFill>
                  <a:srgbClr val="333f4c"/>
                </a:solidFill>
                <a:latin typeface="Segoe UI"/>
              </a:rPr>
              <a:t>Rendimiento del conjunto: </a:t>
            </a:r>
            <a:r>
              <a:rPr b="1" lang="en-US" sz="1050" spc="-1" strike="noStrike">
                <a:solidFill>
                  <a:srgbClr val="333f4c"/>
                </a:solidFill>
                <a:latin typeface="Segoe UI"/>
              </a:rPr>
              <a:t>0,90</a:t>
            </a:r>
            <a:r>
              <a:rPr b="0" lang="en-US" sz="1050" spc="-1" strike="noStrike">
                <a:solidFill>
                  <a:srgbClr val="333f4c"/>
                </a:solidFill>
                <a:latin typeface="Segoe UI"/>
              </a:rPr>
              <a:t>.</a:t>
            </a:r>
            <a:endParaRPr b="0" lang="en-US" sz="1050" spc="-1" strike="noStrike">
              <a:solidFill>
                <a:srgbClr val="000000"/>
              </a:solidFill>
              <a:latin typeface="Arial"/>
            </a:endParaRPr>
          </a:p>
        </p:txBody>
      </p:sp>
      <p:sp>
        <p:nvSpPr>
          <p:cNvPr id="2872" name="Rectangle 12"/>
          <p:cNvSpPr/>
          <p:nvPr/>
        </p:nvSpPr>
        <p:spPr>
          <a:xfrm>
            <a:off x="62514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73" name="Rectangle 13"/>
          <p:cNvSpPr/>
          <p:nvPr/>
        </p:nvSpPr>
        <p:spPr>
          <a:xfrm>
            <a:off x="6251400" y="1481400"/>
            <a:ext cx="5373000" cy="42012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74"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Los requisitos</a:t>
            </a:r>
            <a:endParaRPr b="0" lang="en-US" sz="1350" spc="-1" strike="noStrike">
              <a:solidFill>
                <a:srgbClr val="000000"/>
              </a:solidFill>
              <a:latin typeface="Arial"/>
            </a:endParaRPr>
          </a:p>
        </p:txBody>
      </p:sp>
      <p:sp>
        <p:nvSpPr>
          <p:cNvPr id="2875" name="TextBox 15"/>
          <p:cNvSpPr/>
          <p:nvPr/>
        </p:nvSpPr>
        <p:spPr>
          <a:xfrm>
            <a:off x="6452640" y="2048400"/>
            <a:ext cx="4970880" cy="283932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130" spc="-1" strike="noStrike">
                <a:solidFill>
                  <a:srgbClr val="1c2430"/>
                </a:solidFill>
                <a:latin typeface="Segoe UI"/>
              </a:rPr>
              <a:t>Recorrido útil: 600 mm entre posiciones.</a:t>
            </a:r>
            <a:endParaRPr b="0" lang="en-US" sz="11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30" spc="-1" strike="noStrike">
                <a:solidFill>
                  <a:srgbClr val="1c2430"/>
                </a:solidFill>
                <a:latin typeface="Segoe UI"/>
              </a:rPr>
              <a:t>Tiempo de movimiento: 1,0 s como máximo.</a:t>
            </a:r>
            <a:endParaRPr b="0" lang="en-US" sz="11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30" spc="-1" strike="noStrike">
                <a:solidFill>
                  <a:srgbClr val="1c2430"/>
                </a:solidFill>
                <a:latin typeface="Segoe UI"/>
              </a:rPr>
              <a:t>Tiempo de ciclo: 2,5 s (movimiento + espera de proceso).</a:t>
            </a:r>
            <a:endParaRPr b="0" lang="en-US" sz="11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30" spc="-1" strike="noStrike">
                <a:solidFill>
                  <a:srgbClr val="1c2430"/>
                </a:solidFill>
                <a:latin typeface="Segoe UI"/>
              </a:rPr>
              <a:t>Repetibilidad de posición: ±0,05 mm.</a:t>
            </a:r>
            <a:endParaRPr b="0" lang="en-US" sz="11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30" spc="-1" strike="noStrike">
                <a:solidFill>
                  <a:srgbClr val="1c2430"/>
                </a:solidFill>
                <a:latin typeface="Segoe UI"/>
              </a:rPr>
              <a:t>Sin búsqueda de origen al arrancar tras un corte.</a:t>
            </a:r>
            <a:endParaRPr b="0" lang="en-US" sz="11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30" spc="-1" strike="noStrike">
                <a:solidFill>
                  <a:srgbClr val="1c2430"/>
                </a:solidFill>
                <a:latin typeface="Segoe UI"/>
              </a:rPr>
              <a:t>Parada segura integrada en la cadena de seguridad de la línea.</a:t>
            </a:r>
            <a:endParaRPr b="0" lang="en-US" sz="113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30" spc="-1" strike="noStrike">
                <a:solidFill>
                  <a:srgbClr val="1c2430"/>
                </a:solidFill>
                <a:latin typeface="Segoe UI"/>
              </a:rPr>
              <a:t>Diagnóstico remoto desde el sistema de supervisión de planta.</a:t>
            </a:r>
            <a:endParaRPr b="0" lang="en-US" sz="1130" spc="-1" strike="noStrike">
              <a:solidFill>
                <a:srgbClr val="000000"/>
              </a:solidFill>
              <a:latin typeface="Arial"/>
            </a:endParaRPr>
          </a:p>
          <a:p>
            <a:pPr defTabSz="457200">
              <a:lnSpc>
                <a:spcPct val="106000"/>
              </a:lnSpc>
              <a:spcBef>
                <a:spcPts val="799"/>
              </a:spcBef>
              <a:spcAft>
                <a:spcPts val="901"/>
              </a:spcAft>
              <a:tabLst>
                <a:tab algn="l" pos="0"/>
              </a:tabLst>
            </a:pPr>
            <a:r>
              <a:rPr b="1" lang="en-US" sz="1070" spc="-1" strike="noStrike">
                <a:solidFill>
                  <a:srgbClr val="1b5ea8"/>
                </a:solidFill>
                <a:latin typeface="Segoe UI Semibold"/>
              </a:rPr>
              <a:t>Restricciones</a:t>
            </a:r>
            <a:endParaRPr b="0" lang="en-US" sz="107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80" spc="-1" strike="noStrike">
                <a:solidFill>
                  <a:srgbClr val="333f4c"/>
                </a:solidFill>
                <a:latin typeface="Segoe UI"/>
              </a:rPr>
              <a:t>Armario existente con espacio limitado.</a:t>
            </a:r>
            <a:endParaRPr b="0" lang="en-US" sz="98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980" spc="-1" strike="noStrike">
                <a:solidFill>
                  <a:srgbClr val="333f4c"/>
                </a:solidFill>
                <a:latin typeface="Segoe UI"/>
              </a:rPr>
              <a:t>Red trifásica de 200 V con caídas ocasionales del 10 %.</a:t>
            </a:r>
            <a:endParaRPr b="0" lang="en-US" sz="980" spc="-1" strike="noStrike">
              <a:solidFill>
                <a:srgbClr val="000000"/>
              </a:solidFill>
              <a:latin typeface="Arial"/>
            </a:endParaRPr>
          </a:p>
        </p:txBody>
      </p:sp>
      <p:sp>
        <p:nvSpPr>
          <p:cNvPr id="2876" name="Rectangle 16"/>
          <p:cNvSpPr/>
          <p:nvPr/>
        </p:nvSpPr>
        <p:spPr>
          <a:xfrm>
            <a:off x="567000" y="5459040"/>
            <a:ext cx="11057400" cy="868320"/>
          </a:xfrm>
          <a:prstGeom prst="rect">
            <a:avLst/>
          </a:prstGeom>
          <a:solidFill>
            <a:srgbClr val="e4f2ea"/>
          </a:solidFill>
          <a:ln>
            <a:solidFill>
              <a:srgbClr val="2e8b5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77" name="Rectangle 17"/>
          <p:cNvSpPr/>
          <p:nvPr/>
        </p:nvSpPr>
        <p:spPr>
          <a:xfrm>
            <a:off x="567000" y="5459040"/>
            <a:ext cx="68400" cy="86832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78" name="TextBox 18"/>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2e8b57"/>
                </a:solidFill>
                <a:latin typeface="Segoe UI Semibold"/>
              </a:rPr>
              <a:t>Primera tarea antes de calcular nada</a:t>
            </a:r>
            <a:endParaRPr b="0" lang="en-US" sz="1200" spc="-1" strike="noStrike">
              <a:solidFill>
                <a:srgbClr val="000000"/>
              </a:solidFill>
              <a:latin typeface="Arial"/>
            </a:endParaRPr>
          </a:p>
        </p:txBody>
      </p:sp>
      <p:sp>
        <p:nvSpPr>
          <p:cNvPr id="2879" name="TextBox 19"/>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Traduce cada requisito a una decisión técnica. Por ejemplo: «sin búsqueda de origen» → encoder absoluto con batería y </a:t>
            </a:r>
            <a:r>
              <a:rPr b="0" lang="en-US" sz="1150" spc="-1" strike="noStrike">
                <a:solidFill>
                  <a:srgbClr val="2b3644"/>
                </a:solidFill>
                <a:latin typeface="Consolas"/>
              </a:rPr>
              <a:t>Fn008</a:t>
            </a:r>
            <a:r>
              <a:rPr b="0" lang="en-US" sz="1150" spc="-1" strike="noStrike">
                <a:solidFill>
                  <a:srgbClr val="2b3644"/>
                </a:solidFill>
                <a:latin typeface="Segoe UI"/>
              </a:rPr>
              <a:t>; «diagnóstico remoto» → interfaz de bus; «caídas del 10 %» → verificar la curva par-velocidad a tensión mínima.</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80"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81"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882"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Entregable 1 — Dimensionamiento</a:t>
            </a:r>
            <a:endParaRPr b="0" lang="en-US" sz="2500" spc="-1" strike="noStrike">
              <a:solidFill>
                <a:srgbClr val="000000"/>
              </a:solidFill>
              <a:latin typeface="Arial"/>
            </a:endParaRPr>
          </a:p>
        </p:txBody>
      </p:sp>
      <p:sp>
        <p:nvSpPr>
          <p:cNvPr id="2883"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Al terminar el Módulo 04</a:t>
            </a:r>
            <a:endParaRPr b="0" lang="en-US" sz="1250" spc="-1" strike="noStrike">
              <a:solidFill>
                <a:srgbClr val="000000"/>
              </a:solidFill>
              <a:latin typeface="Arial"/>
            </a:endParaRPr>
          </a:p>
        </p:txBody>
      </p:sp>
      <p:sp>
        <p:nvSpPr>
          <p:cNvPr id="2884"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12</a:t>
            </a:r>
            <a:endParaRPr b="0" lang="en-US" sz="1100" spc="-1" strike="noStrike">
              <a:solidFill>
                <a:srgbClr val="000000"/>
              </a:solidFill>
              <a:latin typeface="Arial"/>
            </a:endParaRPr>
          </a:p>
        </p:txBody>
      </p:sp>
      <p:sp>
        <p:nvSpPr>
          <p:cNvPr id="2885"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886"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143</a:t>
            </a:r>
            <a:endParaRPr b="0" lang="en-US" sz="900" spc="-1" strike="noStrike">
              <a:solidFill>
                <a:srgbClr val="000000"/>
              </a:solidFill>
              <a:latin typeface="Arial"/>
            </a:endParaRPr>
          </a:p>
        </p:txBody>
      </p:sp>
      <p:graphicFrame>
        <p:nvGraphicFramePr>
          <p:cNvPr id="2887" name="Table 8"/>
          <p:cNvGraphicFramePr/>
          <p:nvPr/>
        </p:nvGraphicFramePr>
        <p:xfrm>
          <a:off x="567000" y="1481400"/>
          <a:ext cx="11057400" cy="4845960"/>
        </p:xfrm>
        <a:graphic>
          <a:graphicData uri="http://schemas.openxmlformats.org/drawingml/2006/table">
            <a:tbl>
              <a:tblPr/>
              <a:tblGrid>
                <a:gridCol w="2193120"/>
                <a:gridCol w="5117400"/>
                <a:gridCol w="374652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Apartado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Qué debe contener</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Criterio de evaluación</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562320">
                <a:tc>
                  <a:txBody>
                    <a:bodyPr lIns="82080" rIns="82080" tIns="27360" bIns="27360" anchor="ctr">
                      <a:noAutofit/>
                    </a:bodyPr>
                    <a:p>
                      <a:pPr defTabSz="457200">
                        <a:lnSpc>
                          <a:spcPct val="100000"/>
                        </a:lnSpc>
                      </a:pPr>
                      <a:r>
                        <a:rPr b="0" lang="en-US" sz="950" spc="-1" strike="noStrike">
                          <a:solidFill>
                            <a:srgbClr val="1c2430"/>
                          </a:solidFill>
                          <a:latin typeface="Segoe UI"/>
                        </a:rPr>
                        <a:t>Datos de partida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Tabla con los once datos del Módulo 04 y las hipótesis asumidas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Ninguna cifra sin origen documentado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62320">
                <a:tc>
                  <a:txBody>
                    <a:bodyPr lIns="82080" rIns="82080" tIns="27360" bIns="27360" anchor="ctr">
                      <a:noAutofit/>
                    </a:bodyPr>
                    <a:p>
                      <a:pPr defTabSz="457200">
                        <a:lnSpc>
                          <a:spcPct val="100000"/>
                        </a:lnSpc>
                      </a:pPr>
                      <a:r>
                        <a:rPr b="0" lang="en-US" sz="950" spc="-1" strike="noStrike">
                          <a:solidFill>
                            <a:srgbClr val="1c2430"/>
                          </a:solidFill>
                          <a:latin typeface="Segoe UI"/>
                        </a:rPr>
                        <a:t>Perfil de movimiento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Velocidad máxima, aceleración, velocidad del motor y aceleración angular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Coherencia con el tiempo de ciclo exigido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62320">
                <a:tc>
                  <a:txBody>
                    <a:bodyPr lIns="82080" rIns="82080" tIns="27360" bIns="27360" anchor="ctr">
                      <a:noAutofit/>
                    </a:bodyPr>
                    <a:p>
                      <a:pPr defTabSz="457200">
                        <a:lnSpc>
                          <a:spcPct val="100000"/>
                        </a:lnSpc>
                      </a:pPr>
                      <a:r>
                        <a:rPr b="0" lang="en-US" sz="950" spc="-1" strike="noStrike">
                          <a:solidFill>
                            <a:srgbClr val="1c2430"/>
                          </a:solidFill>
                          <a:latin typeface="Segoe UI"/>
                        </a:rPr>
                        <a:t>Inercias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Carga, husillo, acoplamiento y total, con las fórmulas empleadas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Todas las contribuciones consideradas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62320">
                <a:tc>
                  <a:txBody>
                    <a:bodyPr lIns="82080" rIns="82080" tIns="27360" bIns="27360" anchor="ctr">
                      <a:noAutofit/>
                    </a:bodyPr>
                    <a:p>
                      <a:pPr defTabSz="457200">
                        <a:lnSpc>
                          <a:spcPct val="100000"/>
                        </a:lnSpc>
                      </a:pPr>
                      <a:r>
                        <a:rPr b="0" lang="en-US" sz="950" spc="-1" strike="noStrike">
                          <a:solidFill>
                            <a:srgbClr val="1c2430"/>
                          </a:solidFill>
                          <a:latin typeface="Segoe UI"/>
                        </a:rPr>
                        <a:t>Relación de inercias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Valor obtenido y valoración de si es adecuada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Justificación de la elección del motor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62320">
                <a:tc>
                  <a:txBody>
                    <a:bodyPr lIns="82080" rIns="82080" tIns="27360" bIns="27360" anchor="ctr">
                      <a:noAutofit/>
                    </a:bodyPr>
                    <a:p>
                      <a:pPr defTabSz="457200">
                        <a:lnSpc>
                          <a:spcPct val="100000"/>
                        </a:lnSpc>
                      </a:pPr>
                      <a:r>
                        <a:rPr b="0" lang="en-US" sz="950" spc="-1" strike="noStrike">
                          <a:solidFill>
                            <a:srgbClr val="1c2430"/>
                          </a:solidFill>
                          <a:latin typeface="Segoe UI"/>
                        </a:rPr>
                        <a:t>Pares del ciclo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Aceleración, régimen constante, deceleración y par RMS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Aplicación correcta del rendimiento y de la fricción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62320">
                <a:tc>
                  <a:txBody>
                    <a:bodyPr lIns="82080" rIns="82080" tIns="27360" bIns="27360" anchor="ctr">
                      <a:noAutofit/>
                    </a:bodyPr>
                    <a:p>
                      <a:pPr defTabSz="457200">
                        <a:lnSpc>
                          <a:spcPct val="100000"/>
                        </a:lnSpc>
                      </a:pPr>
                      <a:r>
                        <a:rPr b="0" lang="en-US" sz="950" spc="-1" strike="noStrike">
                          <a:solidFill>
                            <a:srgbClr val="1c2430"/>
                          </a:solidFill>
                          <a:latin typeface="Segoe UI"/>
                        </a:rPr>
                        <a:t>Verificación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Comparación con la curva del motor y márgenes obtenidos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Margen mínimo del 20 % en continuo y en pico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562320">
                <a:tc>
                  <a:txBody>
                    <a:bodyPr lIns="82080" rIns="82080" tIns="27360" bIns="27360" anchor="ctr">
                      <a:noAutofit/>
                    </a:bodyPr>
                    <a:p>
                      <a:pPr defTabSz="457200">
                        <a:lnSpc>
                          <a:spcPct val="100000"/>
                        </a:lnSpc>
                      </a:pPr>
                      <a:r>
                        <a:rPr b="0" lang="en-US" sz="950" spc="-1" strike="noStrike">
                          <a:solidFill>
                            <a:srgbClr val="1c2430"/>
                          </a:solidFill>
                          <a:latin typeface="Segoe UI"/>
                        </a:rPr>
                        <a:t>Regeneración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Energía por frenado, potencia media y decisión sobre resistencia externa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Conclusión razonada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562320">
                <a:tc>
                  <a:txBody>
                    <a:bodyPr lIns="82080" rIns="82080" tIns="27360" bIns="27360" anchor="ctr">
                      <a:noAutofit/>
                    </a:bodyPr>
                    <a:p>
                      <a:pPr defTabSz="457200">
                        <a:lnSpc>
                          <a:spcPct val="100000"/>
                        </a:lnSpc>
                      </a:pPr>
                      <a:r>
                        <a:rPr b="0" lang="en-US" sz="950" spc="-1" strike="noStrike">
                          <a:solidFill>
                            <a:srgbClr val="1c2430"/>
                          </a:solidFill>
                          <a:latin typeface="Segoe UI"/>
                        </a:rPr>
                        <a:t>Selección final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Modelo de SERVOPACK y de motor propuestos, con alternativa valorada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Combinación homologada y coherente con los requisitos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Tree>
  </p:cSld>
  <mc:AlternateContent>
    <mc:Choice Requires="p14">
      <p:transition spd="slow" p14:dur="2000"/>
    </mc:Choice>
    <mc:Fallback>
      <p:transition spd="slow"/>
    </mc:Fallback>
  </mc:AlternateContent>
</p:sld>
</file>

<file path=ppt/slides/slide1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88"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89"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890"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Entregable 2 — Arquitectura eléctrica y de control</a:t>
            </a:r>
            <a:endParaRPr b="0" lang="en-US" sz="2500" spc="-1" strike="noStrike">
              <a:solidFill>
                <a:srgbClr val="000000"/>
              </a:solidFill>
              <a:latin typeface="Arial"/>
            </a:endParaRPr>
          </a:p>
        </p:txBody>
      </p:sp>
      <p:sp>
        <p:nvSpPr>
          <p:cNvPr id="2891"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Al terminar los Módulos 05, 06 y 10</a:t>
            </a:r>
            <a:endParaRPr b="0" lang="en-US" sz="1250" spc="-1" strike="noStrike">
              <a:solidFill>
                <a:srgbClr val="000000"/>
              </a:solidFill>
              <a:latin typeface="Arial"/>
            </a:endParaRPr>
          </a:p>
        </p:txBody>
      </p:sp>
      <p:sp>
        <p:nvSpPr>
          <p:cNvPr id="2892"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12</a:t>
            </a:r>
            <a:endParaRPr b="0" lang="en-US" sz="1100" spc="-1" strike="noStrike">
              <a:solidFill>
                <a:srgbClr val="000000"/>
              </a:solidFill>
              <a:latin typeface="Arial"/>
            </a:endParaRPr>
          </a:p>
        </p:txBody>
      </p:sp>
      <p:sp>
        <p:nvSpPr>
          <p:cNvPr id="2893"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894"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144</a:t>
            </a:r>
            <a:endParaRPr b="0" lang="en-US" sz="900" spc="-1" strike="noStrike">
              <a:solidFill>
                <a:srgbClr val="000000"/>
              </a:solidFill>
              <a:latin typeface="Arial"/>
            </a:endParaRPr>
          </a:p>
        </p:txBody>
      </p:sp>
      <p:graphicFrame>
        <p:nvGraphicFramePr>
          <p:cNvPr id="2895" name="Table 8"/>
          <p:cNvGraphicFramePr/>
          <p:nvPr/>
        </p:nvGraphicFramePr>
        <p:xfrm>
          <a:off x="567000" y="1481400"/>
          <a:ext cx="11057400" cy="4845960"/>
        </p:xfrm>
        <a:graphic>
          <a:graphicData uri="http://schemas.openxmlformats.org/drawingml/2006/table">
            <a:tbl>
              <a:tblPr/>
              <a:tblGrid>
                <a:gridCol w="2376000"/>
                <a:gridCol w="4934880"/>
                <a:gridCol w="374652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Apartado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Qué debe contener</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Criterio de evaluación</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642600">
                <a:tc>
                  <a:txBody>
                    <a:bodyPr lIns="82080" rIns="82080" tIns="27360" bIns="27360" anchor="ctr">
                      <a:noAutofit/>
                    </a:bodyPr>
                    <a:p>
                      <a:pPr defTabSz="457200">
                        <a:lnSpc>
                          <a:spcPct val="100000"/>
                        </a:lnSpc>
                      </a:pPr>
                      <a:r>
                        <a:rPr b="0" lang="en-US" sz="950" spc="-1" strike="noStrike">
                          <a:solidFill>
                            <a:srgbClr val="1c2430"/>
                          </a:solidFill>
                          <a:latin typeface="Segoe UI"/>
                        </a:rPr>
                        <a:t>Esquema unifilar de potencia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Protección, contactor, filtro, amplificador, motor y resistencia de regeneración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Alimentación de control tomada antes del contactor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42600">
                <a:tc>
                  <a:txBody>
                    <a:bodyPr lIns="82080" rIns="82080" tIns="27360" bIns="27360" anchor="ctr">
                      <a:noAutofit/>
                    </a:bodyPr>
                    <a:p>
                      <a:pPr defTabSz="457200">
                        <a:lnSpc>
                          <a:spcPct val="100000"/>
                        </a:lnSpc>
                      </a:pPr>
                      <a:r>
                        <a:rPr b="0" lang="en-US" sz="950" spc="-1" strike="noStrike">
                          <a:solidFill>
                            <a:srgbClr val="1c2430"/>
                          </a:solidFill>
                          <a:latin typeface="Segoe UI"/>
                        </a:rPr>
                        <a:t>Selección de componentes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Protecciones, secciones de cable, contactor, filtro y fuente de 24 V</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Coherencia con los 21 A de entrada y los 18,5 A de salida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642600">
                <a:tc>
                  <a:txBody>
                    <a:bodyPr lIns="82080" rIns="82080" tIns="27360" bIns="27360" anchor="ctr">
                      <a:noAutofit/>
                    </a:bodyPr>
                    <a:p>
                      <a:pPr defTabSz="457200">
                        <a:lnSpc>
                          <a:spcPct val="100000"/>
                        </a:lnSpc>
                      </a:pPr>
                      <a:r>
                        <a:rPr b="0" lang="en-US" sz="950" spc="-1" strike="noStrike">
                          <a:solidFill>
                            <a:srgbClr val="1c2430"/>
                          </a:solidFill>
                          <a:latin typeface="Segoe UI"/>
                        </a:rPr>
                        <a:t>Plan de tierras y apantallamiento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Punto de estrella, conexión de mallas y separación de canalizaciones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Malla a tierra en ambos extremos con abrazadera de 360°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42600">
                <a:tc>
                  <a:txBody>
                    <a:bodyPr lIns="82080" rIns="82080" tIns="27360" bIns="27360" anchor="ctr">
                      <a:noAutofit/>
                    </a:bodyPr>
                    <a:p>
                      <a:pPr defTabSz="457200">
                        <a:lnSpc>
                          <a:spcPct val="100000"/>
                        </a:lnSpc>
                      </a:pPr>
                      <a:r>
                        <a:rPr b="0" lang="en-US" sz="950" spc="-1" strike="noStrike">
                          <a:solidFill>
                            <a:srgbClr val="1c2430"/>
                          </a:solidFill>
                          <a:latin typeface="Segoe UI"/>
                        </a:rPr>
                        <a:t>Arquitectura de control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Elección de interfaz (bus o analógica/pulsos) con justificación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Debe satisfacer el requisito de diagnóstico remoto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642600">
                <a:tc>
                  <a:txBody>
                    <a:bodyPr lIns="82080" rIns="82080" tIns="27360" bIns="27360" anchor="ctr">
                      <a:noAutofit/>
                    </a:bodyPr>
                    <a:p>
                      <a:pPr defTabSz="457200">
                        <a:lnSpc>
                          <a:spcPct val="100000"/>
                        </a:lnSpc>
                      </a:pPr>
                      <a:r>
                        <a:rPr b="0" lang="en-US" sz="950" spc="-1" strike="noStrike">
                          <a:solidFill>
                            <a:srgbClr val="1c2430"/>
                          </a:solidFill>
                          <a:latin typeface="Segoe UI"/>
                        </a:rPr>
                        <a:t>Esquema de </a:t>
                      </a:r>
                      <a:r>
                        <a:rPr b="0" lang="en-US" sz="950" spc="-1" strike="noStrike">
                          <a:solidFill>
                            <a:srgbClr val="1c2430"/>
                          </a:solidFill>
                          <a:latin typeface="Consolas"/>
                        </a:rPr>
                        <a:t>CN1</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Señales de entrada y salida elegidas y su asignación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Incluye </a:t>
                      </a:r>
                      <a:r>
                        <a:rPr b="0" lang="en-US" sz="950" spc="-1" strike="noStrike">
                          <a:solidFill>
                            <a:srgbClr val="1c2430"/>
                          </a:solidFill>
                          <a:latin typeface="Consolas"/>
                        </a:rPr>
                        <a:t>ALM</a:t>
                      </a:r>
                      <a:r>
                        <a:rPr b="0" lang="en-US" sz="950" spc="-1" strike="noStrike">
                          <a:solidFill>
                            <a:srgbClr val="1c2430"/>
                          </a:solidFill>
                          <a:latin typeface="Segoe UI"/>
                        </a:rPr>
                        <a:t>, </a:t>
                      </a:r>
                      <a:r>
                        <a:rPr b="0" lang="en-US" sz="950" spc="-1" strike="noStrike">
                          <a:solidFill>
                            <a:srgbClr val="1c2430"/>
                          </a:solidFill>
                          <a:latin typeface="Consolas"/>
                        </a:rPr>
                        <a:t>/COIN</a:t>
                      </a:r>
                      <a:r>
                        <a:rPr b="0" lang="en-US" sz="950" spc="-1" strike="noStrike">
                          <a:solidFill>
                            <a:srgbClr val="1c2430"/>
                          </a:solidFill>
                          <a:latin typeface="Segoe UI"/>
                        </a:rPr>
                        <a:t>, </a:t>
                      </a:r>
                      <a:r>
                        <a:rPr b="0" lang="en-US" sz="950" spc="-1" strike="noStrike">
                          <a:solidFill>
                            <a:srgbClr val="1c2430"/>
                          </a:solidFill>
                          <a:latin typeface="Consolas"/>
                        </a:rPr>
                        <a:t>/S-RDY</a:t>
                      </a:r>
                      <a:r>
                        <a:rPr b="0" lang="en-US" sz="950" spc="-1" strike="noStrike">
                          <a:solidFill>
                            <a:srgbClr val="1c2430"/>
                          </a:solidFill>
                          <a:latin typeface="Segoe UI"/>
                        </a:rPr>
                        <a:t> y finales de carrera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42600">
                <a:tc>
                  <a:txBody>
                    <a:bodyPr lIns="82080" rIns="82080" tIns="27360" bIns="27360" anchor="ctr">
                      <a:noAutofit/>
                    </a:bodyPr>
                    <a:p>
                      <a:pPr defTabSz="457200">
                        <a:lnSpc>
                          <a:spcPct val="100000"/>
                        </a:lnSpc>
                      </a:pPr>
                      <a:r>
                        <a:rPr b="0" lang="en-US" sz="950" spc="-1" strike="noStrike">
                          <a:solidFill>
                            <a:srgbClr val="1c2430"/>
                          </a:solidFill>
                          <a:latin typeface="Segoe UI"/>
                        </a:rPr>
                        <a:t>Cadena de seguridad</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Cableado de </a:t>
                      </a:r>
                      <a:r>
                        <a:rPr b="0" lang="en-US" sz="950" spc="-1" strike="noStrike">
                          <a:solidFill>
                            <a:srgbClr val="1c2430"/>
                          </a:solidFill>
                          <a:latin typeface="Consolas"/>
                        </a:rPr>
                        <a:t>CN8</a:t>
                      </a:r>
                      <a:r>
                        <a:rPr b="0" lang="en-US" sz="950" spc="-1" strike="noStrike">
                          <a:solidFill>
                            <a:srgbClr val="1c2430"/>
                          </a:solidFill>
                          <a:latin typeface="Segoe UI"/>
                        </a:rPr>
                        <a:t>, módulo de seguridad y vigilancia EDM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Dos canales independientes y EDM conectada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642600">
                <a:tc>
                  <a:txBody>
                    <a:bodyPr lIns="82080" rIns="82080" tIns="27360" bIns="27360" anchor="ctr">
                      <a:noAutofit/>
                    </a:bodyPr>
                    <a:p>
                      <a:pPr defTabSz="457200">
                        <a:lnSpc>
                          <a:spcPct val="100000"/>
                        </a:lnSpc>
                      </a:pPr>
                      <a:r>
                        <a:rPr b="0" lang="en-US" sz="950" spc="-1" strike="noStrike">
                          <a:solidFill>
                            <a:srgbClr val="1c2430"/>
                          </a:solidFill>
                          <a:latin typeface="Segoe UI"/>
                        </a:rPr>
                        <a:t>Balance térmico del armario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Pérdidas estimadas y medio de evacuación de calor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Considera el escenario de verano en nave sin climatizar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Tree>
  </p:cSld>
  <mc:AlternateContent>
    <mc:Choice Requires="p14">
      <p:transition spd="slow" p14:dur="2000"/>
    </mc:Choice>
    <mc:Fallback>
      <p:transition spd="slow"/>
    </mc:Fallback>
  </mc:AlternateContent>
</p:sld>
</file>

<file path=ppt/slides/slide1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89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89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Entregable 3 — Hoja de parámetros del eje</a:t>
            </a:r>
            <a:endParaRPr b="0" lang="en-US" sz="2500" spc="-1" strike="noStrike">
              <a:solidFill>
                <a:srgbClr val="000000"/>
              </a:solidFill>
              <a:latin typeface="Arial"/>
            </a:endParaRPr>
          </a:p>
        </p:txBody>
      </p:sp>
      <p:sp>
        <p:nvSpPr>
          <p:cNvPr id="289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Al terminar los Módulos 07 y 09</a:t>
            </a:r>
            <a:endParaRPr b="0" lang="en-US" sz="1250" spc="-1" strike="noStrike">
              <a:solidFill>
                <a:srgbClr val="000000"/>
              </a:solidFill>
              <a:latin typeface="Arial"/>
            </a:endParaRPr>
          </a:p>
        </p:txBody>
      </p:sp>
      <p:sp>
        <p:nvSpPr>
          <p:cNvPr id="290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12</a:t>
            </a:r>
            <a:endParaRPr b="0" lang="en-US" sz="1100" spc="-1" strike="noStrike">
              <a:solidFill>
                <a:srgbClr val="000000"/>
              </a:solidFill>
              <a:latin typeface="Arial"/>
            </a:endParaRPr>
          </a:p>
        </p:txBody>
      </p:sp>
      <p:sp>
        <p:nvSpPr>
          <p:cNvPr id="290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90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145</a:t>
            </a:r>
            <a:endParaRPr b="0" lang="en-US" sz="900" spc="-1" strike="noStrike">
              <a:solidFill>
                <a:srgbClr val="000000"/>
              </a:solidFill>
              <a:latin typeface="Arial"/>
            </a:endParaRPr>
          </a:p>
        </p:txBody>
      </p:sp>
      <p:graphicFrame>
        <p:nvGraphicFramePr>
          <p:cNvPr id="2903" name="Table 8"/>
          <p:cNvGraphicFramePr/>
          <p:nvPr/>
        </p:nvGraphicFramePr>
        <p:xfrm>
          <a:off x="567000" y="1481400"/>
          <a:ext cx="11057400" cy="4462200"/>
        </p:xfrm>
        <a:graphic>
          <a:graphicData uri="http://schemas.openxmlformats.org/drawingml/2006/table">
            <a:tbl>
              <a:tblPr/>
              <a:tblGrid>
                <a:gridCol w="2924280"/>
                <a:gridCol w="3381120"/>
                <a:gridCol w="475200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Parámetro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Valor propuesto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Justificación exigida</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Consolas"/>
                        </a:rPr>
                        <a:t>Pn000.0</a:t>
                      </a:r>
                      <a:r>
                        <a:rPr b="0" lang="en-US" sz="950" spc="-1" strike="noStrike">
                          <a:solidFill>
                            <a:srgbClr val="1c2430"/>
                          </a:solidFill>
                          <a:latin typeface="Segoe UI"/>
                        </a:rPr>
                        <a:t> sentido de giro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 determinar en la puesta en marcha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Coherente con el sentido positivo definido en el plano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Consolas"/>
                        </a:rPr>
                        <a:t>Pn000.1</a:t>
                      </a:r>
                      <a:r>
                        <a:rPr b="0" lang="en-US" sz="950" spc="-1" strike="noStrike">
                          <a:solidFill>
                            <a:srgbClr val="1c2430"/>
                          </a:solidFill>
                          <a:latin typeface="Segoe UI"/>
                        </a:rPr>
                        <a:t> modo de control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Según la arquitectura elegida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Debe corresponder con la interfaz seleccionada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Consolas"/>
                        </a:rPr>
                        <a:t>Pn001.0</a:t>
                      </a:r>
                      <a:r>
                        <a:rPr b="0" lang="en-US" sz="950" spc="-1" strike="noStrike">
                          <a:solidFill>
                            <a:srgbClr val="1c2430"/>
                          </a:solidFill>
                          <a:latin typeface="Segoe UI"/>
                        </a:rPr>
                        <a:t> método de parada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 justificar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Eje horizontal: valorar freno dinámico frente a rampa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Consolas"/>
                        </a:rPr>
                        <a:t>Pn20E</a:t>
                      </a:r>
                      <a:r>
                        <a:rPr b="0" lang="en-US" sz="950" spc="-1" strike="noStrike">
                          <a:solidFill>
                            <a:srgbClr val="1c2430"/>
                          </a:solidFill>
                          <a:latin typeface="Segoe UI"/>
                        </a:rPr>
                        <a:t> / </a:t>
                      </a:r>
                      <a:r>
                        <a:rPr b="0" lang="en-US" sz="950" spc="-1" strike="noStrike">
                          <a:solidFill>
                            <a:srgbClr val="1c2430"/>
                          </a:solidFill>
                          <a:latin typeface="Consolas"/>
                        </a:rPr>
                        <a:t>Pn210</a:t>
                      </a:r>
                      <a:r>
                        <a:rPr b="0" lang="en-US" sz="950" spc="-1" strike="noStrike">
                          <a:solidFill>
                            <a:srgbClr val="1c2430"/>
                          </a:solidFill>
                          <a:latin typeface="Segoe UI"/>
                        </a:rPr>
                        <a:t> engranaje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Calculado para 1 µm por unidad</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Cálculo completo y fracción simplificada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Consolas"/>
                        </a:rPr>
                        <a:t>Pn522</a:t>
                      </a:r>
                      <a:r>
                        <a:rPr b="0" lang="en-US" sz="950" spc="-1" strike="noStrike">
                          <a:solidFill>
                            <a:srgbClr val="1c2430"/>
                          </a:solidFill>
                          <a:latin typeface="Segoe UI"/>
                        </a:rPr>
                        <a:t> ventana de posicionado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 determinar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Coherente con la repetibilidad exigida de ±0,05 mm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Consolas"/>
                        </a:rPr>
                        <a:t>Pn520</a:t>
                      </a:r>
                      <a:r>
                        <a:rPr b="0" lang="en-US" sz="950" spc="-1" strike="noStrike">
                          <a:solidFill>
                            <a:srgbClr val="1c2430"/>
                          </a:solidFill>
                          <a:latin typeface="Segoe UI"/>
                        </a:rPr>
                        <a:t> error de posición máximo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 determinar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Debe detener el eje antes de dañar la mecánica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Consolas"/>
                        </a:rPr>
                        <a:t>Pn103</a:t>
                      </a:r>
                      <a:r>
                        <a:rPr b="0" lang="en-US" sz="950" spc="-1" strike="noStrike">
                          <a:solidFill>
                            <a:srgbClr val="1c2430"/>
                          </a:solidFill>
                          <a:latin typeface="Segoe UI"/>
                        </a:rPr>
                        <a:t> relación de inercias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Del cálculo, a confirmar con autoajuste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Comparación entre valor calculado y medido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Consolas"/>
                        </a:rPr>
                        <a:t>Pn100</a:t>
                      </a:r>
                      <a:r>
                        <a:rPr b="0" lang="en-US" sz="950" spc="-1" strike="noStrike">
                          <a:solidFill>
                            <a:srgbClr val="1c2430"/>
                          </a:solidFill>
                          <a:latin typeface="Segoe UI"/>
                        </a:rPr>
                        <a:t> / </a:t>
                      </a:r>
                      <a:r>
                        <a:rPr b="0" lang="en-US" sz="950" spc="-1" strike="noStrike">
                          <a:solidFill>
                            <a:srgbClr val="1c2430"/>
                          </a:solidFill>
                          <a:latin typeface="Consolas"/>
                        </a:rPr>
                        <a:t>Pn101</a:t>
                      </a:r>
                      <a:r>
                        <a:rPr b="0" lang="en-US" sz="950" spc="-1" strike="noStrike">
                          <a:solidFill>
                            <a:srgbClr val="1c2430"/>
                          </a:solidFill>
                          <a:latin typeface="Segoe UI"/>
                        </a:rPr>
                        <a:t> / </a:t>
                      </a:r>
                      <a:r>
                        <a:rPr b="0" lang="en-US" sz="950" spc="-1" strike="noStrike">
                          <a:solidFill>
                            <a:srgbClr val="1c2430"/>
                          </a:solidFill>
                          <a:latin typeface="Consolas"/>
                        </a:rPr>
                        <a:t>Pn102</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Resultado del autoajuste y afinado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Capturas de traza antes y después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Consolas"/>
                        </a:rPr>
                        <a:t>Pn600</a:t>
                      </a:r>
                      <a:r>
                        <a:rPr b="0" lang="en-US" sz="950" spc="-1" strike="noStrike">
                          <a:solidFill>
                            <a:srgbClr val="1c2430"/>
                          </a:solidFill>
                          <a:latin typeface="Segoe UI"/>
                        </a:rPr>
                        <a:t> capacidad de regeneración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Según la decisión del entregable 1</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Coherente con la resistencia instalada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11480">
                <a:tc>
                  <a:txBody>
                    <a:bodyPr lIns="82080" rIns="82080" tIns="27360" bIns="27360" anchor="ctr">
                      <a:noAutofit/>
                    </a:bodyPr>
                    <a:p>
                      <a:pPr defTabSz="457200">
                        <a:lnSpc>
                          <a:spcPct val="100000"/>
                        </a:lnSpc>
                      </a:pPr>
                      <a:r>
                        <a:rPr b="0" lang="en-US" sz="950" spc="-1" strike="noStrike">
                          <a:solidFill>
                            <a:srgbClr val="1c2430"/>
                          </a:solidFill>
                          <a:latin typeface="Consolas"/>
                        </a:rPr>
                        <a:t>Pn304</a:t>
                      </a:r>
                      <a:r>
                        <a:rPr b="0" lang="en-US" sz="950" spc="-1" strike="noStrike">
                          <a:solidFill>
                            <a:srgbClr val="1c2430"/>
                          </a:solidFill>
                          <a:latin typeface="Segoe UI"/>
                        </a:rPr>
                        <a:t> velocidad de JOG</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50-100 rpm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Velocidad segura para las primeras pruebas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
        <p:nvSpPr>
          <p:cNvPr id="2904" name="TextBox 9"/>
          <p:cNvSpPr/>
          <p:nvPr/>
        </p:nvSpPr>
        <p:spPr>
          <a:xfrm>
            <a:off x="567000" y="6035040"/>
            <a:ext cx="11057400" cy="1530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000" spc="-1" strike="noStrike">
                <a:solidFill>
                  <a:srgbClr val="5a6b7b"/>
                </a:solidFill>
                <a:latin typeface="Segoe UI"/>
              </a:rPr>
              <a:t>Entrega además el fichero exportado de SigmaWin+ (o la tabla completa de parámetros modificados respecto a fábrica).</a:t>
            </a:r>
            <a:endParaRPr b="0" lang="en-US" sz="1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0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0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907" name="TextBox 3"/>
          <p:cNvSpPr/>
          <p:nvPr/>
        </p:nvSpPr>
        <p:spPr>
          <a:xfrm>
            <a:off x="567000" y="182880"/>
            <a:ext cx="8954280" cy="3790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490" spc="-1" strike="noStrike">
                <a:solidFill>
                  <a:srgbClr val="ffffff"/>
                </a:solidFill>
                <a:latin typeface="Segoe UI Semibold"/>
              </a:rPr>
              <a:t>Entregable 4 — Plan de puesta en marcha y aceptación</a:t>
            </a:r>
            <a:endParaRPr b="0" lang="en-US" sz="2490" spc="-1" strike="noStrike">
              <a:solidFill>
                <a:srgbClr val="000000"/>
              </a:solidFill>
              <a:latin typeface="Arial"/>
            </a:endParaRPr>
          </a:p>
        </p:txBody>
      </p:sp>
      <p:sp>
        <p:nvSpPr>
          <p:cNvPr id="290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Al terminar los Módulos 08 y 11</a:t>
            </a:r>
            <a:endParaRPr b="0" lang="en-US" sz="1250" spc="-1" strike="noStrike">
              <a:solidFill>
                <a:srgbClr val="000000"/>
              </a:solidFill>
              <a:latin typeface="Arial"/>
            </a:endParaRPr>
          </a:p>
        </p:txBody>
      </p:sp>
      <p:sp>
        <p:nvSpPr>
          <p:cNvPr id="290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12</a:t>
            </a:r>
            <a:endParaRPr b="0" lang="en-US" sz="1100" spc="-1" strike="noStrike">
              <a:solidFill>
                <a:srgbClr val="000000"/>
              </a:solidFill>
              <a:latin typeface="Arial"/>
            </a:endParaRPr>
          </a:p>
        </p:txBody>
      </p:sp>
      <p:sp>
        <p:nvSpPr>
          <p:cNvPr id="291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91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146</a:t>
            </a:r>
            <a:endParaRPr b="0" lang="en-US" sz="900" spc="-1" strike="noStrike">
              <a:solidFill>
                <a:srgbClr val="000000"/>
              </a:solidFill>
              <a:latin typeface="Arial"/>
            </a:endParaRPr>
          </a:p>
        </p:txBody>
      </p:sp>
      <p:sp>
        <p:nvSpPr>
          <p:cNvPr id="2912" name="Rectangle 8"/>
          <p:cNvSpPr/>
          <p:nvPr/>
        </p:nvSpPr>
        <p:spPr>
          <a:xfrm>
            <a:off x="567000" y="1481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13" name="Rectangle 9"/>
          <p:cNvSpPr/>
          <p:nvPr/>
        </p:nvSpPr>
        <p:spPr>
          <a:xfrm>
            <a:off x="567000" y="1481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14" name="TextBox 10"/>
          <p:cNvSpPr/>
          <p:nvPr/>
        </p:nvSpPr>
        <p:spPr>
          <a:xfrm>
            <a:off x="567000" y="1629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1</a:t>
            </a:r>
            <a:endParaRPr b="0" lang="en-US" sz="1700" spc="-1" strike="noStrike">
              <a:solidFill>
                <a:srgbClr val="000000"/>
              </a:solidFill>
              <a:latin typeface="Arial"/>
            </a:endParaRPr>
          </a:p>
        </p:txBody>
      </p:sp>
      <p:sp>
        <p:nvSpPr>
          <p:cNvPr id="2915" name="TextBox 11"/>
          <p:cNvSpPr/>
          <p:nvPr/>
        </p:nvSpPr>
        <p:spPr>
          <a:xfrm>
            <a:off x="1435680" y="1572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Procedimiento por fases</a:t>
            </a:r>
            <a:endParaRPr b="0" lang="en-US" sz="1100" spc="-1" strike="noStrike">
              <a:solidFill>
                <a:srgbClr val="000000"/>
              </a:solidFill>
              <a:latin typeface="Arial"/>
            </a:endParaRPr>
          </a:p>
        </p:txBody>
      </p:sp>
      <p:sp>
        <p:nvSpPr>
          <p:cNvPr id="2916" name="TextBox 12"/>
          <p:cNvSpPr/>
          <p:nvPr/>
        </p:nvSpPr>
        <p:spPr>
          <a:xfrm>
            <a:off x="1435680" y="1781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Las seis fases del Módulo 08 adaptadas a esta máquina, con responsables y comprobaciones concretas en cada una.</a:t>
            </a:r>
            <a:endParaRPr b="0" lang="en-US" sz="900" spc="-1" strike="noStrike">
              <a:solidFill>
                <a:srgbClr val="000000"/>
              </a:solidFill>
              <a:latin typeface="Arial"/>
            </a:endParaRPr>
          </a:p>
        </p:txBody>
      </p:sp>
      <p:sp>
        <p:nvSpPr>
          <p:cNvPr id="2917" name="Rectangle 13"/>
          <p:cNvSpPr/>
          <p:nvPr/>
        </p:nvSpPr>
        <p:spPr>
          <a:xfrm>
            <a:off x="567000" y="2147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18" name="Rectangle 14"/>
          <p:cNvSpPr/>
          <p:nvPr/>
        </p:nvSpPr>
        <p:spPr>
          <a:xfrm>
            <a:off x="567000" y="2147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19" name="TextBox 15"/>
          <p:cNvSpPr/>
          <p:nvPr/>
        </p:nvSpPr>
        <p:spPr>
          <a:xfrm>
            <a:off x="567000" y="2295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2</a:t>
            </a:r>
            <a:endParaRPr b="0" lang="en-US" sz="1700" spc="-1" strike="noStrike">
              <a:solidFill>
                <a:srgbClr val="000000"/>
              </a:solidFill>
              <a:latin typeface="Arial"/>
            </a:endParaRPr>
          </a:p>
        </p:txBody>
      </p:sp>
      <p:sp>
        <p:nvSpPr>
          <p:cNvPr id="2920" name="TextBox 16"/>
          <p:cNvSpPr/>
          <p:nvPr/>
        </p:nvSpPr>
        <p:spPr>
          <a:xfrm>
            <a:off x="1435680" y="2238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Lista de verificación previa firmada</a:t>
            </a:r>
            <a:endParaRPr b="0" lang="en-US" sz="1100" spc="-1" strike="noStrike">
              <a:solidFill>
                <a:srgbClr val="000000"/>
              </a:solidFill>
              <a:latin typeface="Arial"/>
            </a:endParaRPr>
          </a:p>
        </p:txBody>
      </p:sp>
      <p:sp>
        <p:nvSpPr>
          <p:cNvPr id="2921" name="TextBox 17"/>
          <p:cNvSpPr/>
          <p:nvPr/>
        </p:nvSpPr>
        <p:spPr>
          <a:xfrm>
            <a:off x="1435680" y="2447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La del Módulo 05, adaptada al armario y a la mecánica de la estación.</a:t>
            </a:r>
            <a:endParaRPr b="0" lang="en-US" sz="900" spc="-1" strike="noStrike">
              <a:solidFill>
                <a:srgbClr val="000000"/>
              </a:solidFill>
              <a:latin typeface="Arial"/>
            </a:endParaRPr>
          </a:p>
        </p:txBody>
      </p:sp>
      <p:sp>
        <p:nvSpPr>
          <p:cNvPr id="2922" name="Rectangle 18"/>
          <p:cNvSpPr/>
          <p:nvPr/>
        </p:nvSpPr>
        <p:spPr>
          <a:xfrm>
            <a:off x="567000" y="2813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23" name="Rectangle 19"/>
          <p:cNvSpPr/>
          <p:nvPr/>
        </p:nvSpPr>
        <p:spPr>
          <a:xfrm>
            <a:off x="567000" y="2813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24" name="TextBox 20"/>
          <p:cNvSpPr/>
          <p:nvPr/>
        </p:nvSpPr>
        <p:spPr>
          <a:xfrm>
            <a:off x="567000" y="2961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3</a:t>
            </a:r>
            <a:endParaRPr b="0" lang="en-US" sz="1700" spc="-1" strike="noStrike">
              <a:solidFill>
                <a:srgbClr val="000000"/>
              </a:solidFill>
              <a:latin typeface="Arial"/>
            </a:endParaRPr>
          </a:p>
        </p:txBody>
      </p:sp>
      <p:sp>
        <p:nvSpPr>
          <p:cNvPr id="2925" name="TextBox 21"/>
          <p:cNvSpPr/>
          <p:nvPr/>
        </p:nvSpPr>
        <p:spPr>
          <a:xfrm>
            <a:off x="1435680" y="2904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Protocolo de pruebas de seguridad</a:t>
            </a:r>
            <a:endParaRPr b="0" lang="en-US" sz="1100" spc="-1" strike="noStrike">
              <a:solidFill>
                <a:srgbClr val="000000"/>
              </a:solidFill>
              <a:latin typeface="Arial"/>
            </a:endParaRPr>
          </a:p>
        </p:txBody>
      </p:sp>
      <p:sp>
        <p:nvSpPr>
          <p:cNvPr id="2926" name="TextBox 22"/>
          <p:cNvSpPr/>
          <p:nvPr/>
        </p:nvSpPr>
        <p:spPr>
          <a:xfrm>
            <a:off x="1435680" y="3113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Finales de carrera, HWBB con vigilancia EDM y medida del tiempo real de parada del eje.</a:t>
            </a:r>
            <a:endParaRPr b="0" lang="en-US" sz="900" spc="-1" strike="noStrike">
              <a:solidFill>
                <a:srgbClr val="000000"/>
              </a:solidFill>
              <a:latin typeface="Arial"/>
            </a:endParaRPr>
          </a:p>
        </p:txBody>
      </p:sp>
      <p:sp>
        <p:nvSpPr>
          <p:cNvPr id="2927" name="Rectangle 23"/>
          <p:cNvSpPr/>
          <p:nvPr/>
        </p:nvSpPr>
        <p:spPr>
          <a:xfrm>
            <a:off x="567000" y="3479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28" name="Rectangle 24"/>
          <p:cNvSpPr/>
          <p:nvPr/>
        </p:nvSpPr>
        <p:spPr>
          <a:xfrm>
            <a:off x="567000" y="3479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29" name="TextBox 25"/>
          <p:cNvSpPr/>
          <p:nvPr/>
        </p:nvSpPr>
        <p:spPr>
          <a:xfrm>
            <a:off x="567000" y="3627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4</a:t>
            </a:r>
            <a:endParaRPr b="0" lang="en-US" sz="1700" spc="-1" strike="noStrike">
              <a:solidFill>
                <a:srgbClr val="000000"/>
              </a:solidFill>
              <a:latin typeface="Arial"/>
            </a:endParaRPr>
          </a:p>
        </p:txBody>
      </p:sp>
      <p:sp>
        <p:nvSpPr>
          <p:cNvPr id="2930" name="TextBox 26"/>
          <p:cNvSpPr/>
          <p:nvPr/>
        </p:nvSpPr>
        <p:spPr>
          <a:xfrm>
            <a:off x="1435680" y="3570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Criterios de aceptación medibles</a:t>
            </a:r>
            <a:endParaRPr b="0" lang="en-US" sz="1100" spc="-1" strike="noStrike">
              <a:solidFill>
                <a:srgbClr val="000000"/>
              </a:solidFill>
              <a:latin typeface="Arial"/>
            </a:endParaRPr>
          </a:p>
        </p:txBody>
      </p:sp>
      <p:sp>
        <p:nvSpPr>
          <p:cNvPr id="2931" name="TextBox 27"/>
          <p:cNvSpPr/>
          <p:nvPr/>
        </p:nvSpPr>
        <p:spPr>
          <a:xfrm>
            <a:off x="1435680" y="3779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Tiempo de ciclo ≤ 2,5 s · repetibilidad ≤ ±0,05 mm · par RMS ≤ 80 % del nominal · temperatura estabilizada tras dos horas de producción.</a:t>
            </a:r>
            <a:endParaRPr b="0" lang="en-US" sz="900" spc="-1" strike="noStrike">
              <a:solidFill>
                <a:srgbClr val="000000"/>
              </a:solidFill>
              <a:latin typeface="Arial"/>
            </a:endParaRPr>
          </a:p>
        </p:txBody>
      </p:sp>
      <p:sp>
        <p:nvSpPr>
          <p:cNvPr id="2932" name="Rectangle 28"/>
          <p:cNvSpPr/>
          <p:nvPr/>
        </p:nvSpPr>
        <p:spPr>
          <a:xfrm>
            <a:off x="567000" y="4145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33" name="Rectangle 29"/>
          <p:cNvSpPr/>
          <p:nvPr/>
        </p:nvSpPr>
        <p:spPr>
          <a:xfrm>
            <a:off x="567000" y="4145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34" name="TextBox 30"/>
          <p:cNvSpPr/>
          <p:nvPr/>
        </p:nvSpPr>
        <p:spPr>
          <a:xfrm>
            <a:off x="567000" y="4293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5</a:t>
            </a:r>
            <a:endParaRPr b="0" lang="en-US" sz="1700" spc="-1" strike="noStrike">
              <a:solidFill>
                <a:srgbClr val="000000"/>
              </a:solidFill>
              <a:latin typeface="Arial"/>
            </a:endParaRPr>
          </a:p>
        </p:txBody>
      </p:sp>
      <p:sp>
        <p:nvSpPr>
          <p:cNvPr id="2935" name="TextBox 31"/>
          <p:cNvSpPr/>
          <p:nvPr/>
        </p:nvSpPr>
        <p:spPr>
          <a:xfrm>
            <a:off x="1435680" y="4236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Registro de resultados</a:t>
            </a:r>
            <a:endParaRPr b="0" lang="en-US" sz="1100" spc="-1" strike="noStrike">
              <a:solidFill>
                <a:srgbClr val="000000"/>
              </a:solidFill>
              <a:latin typeface="Arial"/>
            </a:endParaRPr>
          </a:p>
        </p:txBody>
      </p:sp>
      <p:sp>
        <p:nvSpPr>
          <p:cNvPr id="2936" name="TextBox 32"/>
          <p:cNvSpPr/>
          <p:nvPr/>
        </p:nvSpPr>
        <p:spPr>
          <a:xfrm>
            <a:off x="1435680" y="4445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Trazas de SigmaWin+ del ciclo real, valores de </a:t>
            </a:r>
            <a:r>
              <a:rPr b="0" lang="en-US" sz="900" spc="-1" strike="noStrike">
                <a:solidFill>
                  <a:srgbClr val="3a4654"/>
                </a:solidFill>
                <a:latin typeface="Consolas"/>
              </a:rPr>
              <a:t>Un002</a:t>
            </a:r>
            <a:r>
              <a:rPr b="0" lang="en-US" sz="900" spc="-1" strike="noStrike">
                <a:solidFill>
                  <a:srgbClr val="3a4654"/>
                </a:solidFill>
                <a:latin typeface="Segoe UI"/>
              </a:rPr>
              <a:t> y </a:t>
            </a:r>
            <a:r>
              <a:rPr b="0" lang="en-US" sz="900" spc="-1" strike="noStrike">
                <a:solidFill>
                  <a:srgbClr val="3a4654"/>
                </a:solidFill>
                <a:latin typeface="Consolas"/>
              </a:rPr>
              <a:t>Un008</a:t>
            </a:r>
            <a:r>
              <a:rPr b="0" lang="en-US" sz="900" spc="-1" strike="noStrike">
                <a:solidFill>
                  <a:srgbClr val="3a4654"/>
                </a:solidFill>
                <a:latin typeface="Segoe UI"/>
              </a:rPr>
              <a:t>, y temperaturas medidas.</a:t>
            </a:r>
            <a:endParaRPr b="0" lang="en-US" sz="900" spc="-1" strike="noStrike">
              <a:solidFill>
                <a:srgbClr val="000000"/>
              </a:solidFill>
              <a:latin typeface="Arial"/>
            </a:endParaRPr>
          </a:p>
        </p:txBody>
      </p:sp>
      <p:sp>
        <p:nvSpPr>
          <p:cNvPr id="2937" name="Rectangle 33"/>
          <p:cNvSpPr/>
          <p:nvPr/>
        </p:nvSpPr>
        <p:spPr>
          <a:xfrm>
            <a:off x="567000" y="4811400"/>
            <a:ext cx="11057400" cy="555840"/>
          </a:xfrm>
          <a:prstGeom prst="rect">
            <a:avLst/>
          </a:prstGeom>
          <a:solidFill>
            <a:srgbClr val="f2f5f8"/>
          </a:solidFill>
          <a:ln>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38" name="Rectangle 34"/>
          <p:cNvSpPr/>
          <p:nvPr/>
        </p:nvSpPr>
        <p:spPr>
          <a:xfrm>
            <a:off x="567000" y="4811400"/>
            <a:ext cx="658080" cy="5558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39" name="TextBox 35"/>
          <p:cNvSpPr/>
          <p:nvPr/>
        </p:nvSpPr>
        <p:spPr>
          <a:xfrm>
            <a:off x="567000" y="4959360"/>
            <a:ext cx="658080" cy="259920"/>
          </a:xfrm>
          <a:prstGeom prst="rect">
            <a:avLst/>
          </a:prstGeom>
          <a:noFill/>
          <a:ln w="0">
            <a:noFill/>
          </a:ln>
        </p:spPr>
        <p:style>
          <a:lnRef idx="0"/>
          <a:fillRef idx="0"/>
          <a:effectRef idx="0"/>
          <a:fontRef idx="minor"/>
        </p:style>
        <p:txBody>
          <a:bodyPr lIns="0" rIns="0" tIns="0" bIns="0" anchor="ctr">
            <a:spAutoFit/>
          </a:bodyPr>
          <a:p>
            <a:pPr algn="ctr" defTabSz="457200">
              <a:lnSpc>
                <a:spcPct val="100000"/>
              </a:lnSpc>
            </a:pPr>
            <a:r>
              <a:rPr b="1" lang="en-US" sz="1700" spc="-1" strike="noStrike">
                <a:solidFill>
                  <a:srgbClr val="00a9ce"/>
                </a:solidFill>
                <a:latin typeface="Segoe UI Semibold"/>
              </a:rPr>
              <a:t>6</a:t>
            </a:r>
            <a:endParaRPr b="0" lang="en-US" sz="1700" spc="-1" strike="noStrike">
              <a:solidFill>
                <a:srgbClr val="000000"/>
              </a:solidFill>
              <a:latin typeface="Arial"/>
            </a:endParaRPr>
          </a:p>
        </p:txBody>
      </p:sp>
      <p:sp>
        <p:nvSpPr>
          <p:cNvPr id="2940" name="TextBox 36"/>
          <p:cNvSpPr/>
          <p:nvPr/>
        </p:nvSpPr>
        <p:spPr>
          <a:xfrm>
            <a:off x="1435680" y="4902840"/>
            <a:ext cx="986868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0b2545"/>
                </a:solidFill>
                <a:latin typeface="Segoe UI Semibold"/>
              </a:rPr>
              <a:t>Documentación de entrega</a:t>
            </a:r>
            <a:endParaRPr b="0" lang="en-US" sz="1100" spc="-1" strike="noStrike">
              <a:solidFill>
                <a:srgbClr val="000000"/>
              </a:solidFill>
              <a:latin typeface="Arial"/>
            </a:endParaRPr>
          </a:p>
        </p:txBody>
      </p:sp>
      <p:sp>
        <p:nvSpPr>
          <p:cNvPr id="2941" name="TextBox 37"/>
          <p:cNvSpPr/>
          <p:nvPr/>
        </p:nvSpPr>
        <p:spPr>
          <a:xfrm>
            <a:off x="1435680" y="5111640"/>
            <a:ext cx="9868680" cy="14472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0" lang="en-US" sz="900" spc="-1" strike="noStrike">
                <a:solidFill>
                  <a:srgbClr val="3a4654"/>
                </a:solidFill>
                <a:latin typeface="Segoe UI"/>
              </a:rPr>
              <a:t>Acta del eje, ficheros de parámetros, esquemas actualizados y plan de mantenimiento preventivo.</a:t>
            </a:r>
            <a:endParaRPr b="0" lang="en-US" sz="900" spc="-1" strike="noStrike">
              <a:solidFill>
                <a:srgbClr val="000000"/>
              </a:solidFill>
              <a:latin typeface="Arial"/>
            </a:endParaRPr>
          </a:p>
        </p:txBody>
      </p:sp>
      <p:sp>
        <p:nvSpPr>
          <p:cNvPr id="2942" name="Rectangle 38"/>
          <p:cNvSpPr/>
          <p:nvPr/>
        </p:nvSpPr>
        <p:spPr>
          <a:xfrm>
            <a:off x="567000" y="5504760"/>
            <a:ext cx="11057400" cy="822600"/>
          </a:xfrm>
          <a:prstGeom prst="rect">
            <a:avLst/>
          </a:prstGeom>
          <a:solidFill>
            <a:srgbClr val="e4eef7"/>
          </a:solidFill>
          <a:ln>
            <a:solidFill>
              <a:srgbClr val="1b5e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43" name="Rectangle 39"/>
          <p:cNvSpPr/>
          <p:nvPr/>
        </p:nvSpPr>
        <p:spPr>
          <a:xfrm>
            <a:off x="567000" y="5504760"/>
            <a:ext cx="68400" cy="82260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44" name="TextBox 40"/>
          <p:cNvSpPr/>
          <p:nvPr/>
        </p:nvSpPr>
        <p:spPr>
          <a:xfrm>
            <a:off x="841320" y="564192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1b5ea8"/>
                </a:solidFill>
                <a:latin typeface="Segoe UI Semibold"/>
              </a:rPr>
              <a:t>Qué se valora en la defensa del proyecto</a:t>
            </a:r>
            <a:endParaRPr b="0" lang="en-US" sz="1200" spc="-1" strike="noStrike">
              <a:solidFill>
                <a:srgbClr val="000000"/>
              </a:solidFill>
              <a:latin typeface="Arial"/>
            </a:endParaRPr>
          </a:p>
        </p:txBody>
      </p:sp>
      <p:sp>
        <p:nvSpPr>
          <p:cNvPr id="2945" name="TextBox 41"/>
          <p:cNvSpPr/>
          <p:nvPr/>
        </p:nvSpPr>
        <p:spPr>
          <a:xfrm>
            <a:off x="841320" y="591624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No la elegancia del documento, sino la </a:t>
            </a:r>
            <a:r>
              <a:rPr b="1" lang="en-US" sz="1150" spc="-1" strike="noStrike">
                <a:solidFill>
                  <a:srgbClr val="2b3644"/>
                </a:solidFill>
                <a:latin typeface="Segoe UI"/>
              </a:rPr>
              <a:t>trazabilidad del razonamiento</a:t>
            </a:r>
            <a:r>
              <a:rPr b="0" lang="en-US" sz="1150" spc="-1" strike="noStrike">
                <a:solidFill>
                  <a:srgbClr val="2b3644"/>
                </a:solidFill>
                <a:latin typeface="Segoe UI"/>
              </a:rPr>
              <a:t>: que cada decisión pueda justificarse con un dato, un cálculo o un requisito del enunciado.</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4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94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Rúbrica de evaluación del proyecto</a:t>
            </a:r>
            <a:endParaRPr b="0" lang="en-US" sz="2500" spc="-1" strike="noStrike">
              <a:solidFill>
                <a:srgbClr val="000000"/>
              </a:solidFill>
              <a:latin typeface="Arial"/>
            </a:endParaRPr>
          </a:p>
        </p:txBody>
      </p:sp>
      <p:sp>
        <p:nvSpPr>
          <p:cNvPr id="294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Transparencia en la evaluación desde el primer día</a:t>
            </a:r>
            <a:endParaRPr b="0" lang="en-US" sz="1250" spc="-1" strike="noStrike">
              <a:solidFill>
                <a:srgbClr val="000000"/>
              </a:solidFill>
              <a:latin typeface="Arial"/>
            </a:endParaRPr>
          </a:p>
        </p:txBody>
      </p:sp>
      <p:sp>
        <p:nvSpPr>
          <p:cNvPr id="295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12</a:t>
            </a:r>
            <a:endParaRPr b="0" lang="en-US" sz="1100" spc="-1" strike="noStrike">
              <a:solidFill>
                <a:srgbClr val="000000"/>
              </a:solidFill>
              <a:latin typeface="Arial"/>
            </a:endParaRPr>
          </a:p>
        </p:txBody>
      </p:sp>
      <p:sp>
        <p:nvSpPr>
          <p:cNvPr id="295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95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147</a:t>
            </a:r>
            <a:endParaRPr b="0" lang="en-US" sz="900" spc="-1" strike="noStrike">
              <a:solidFill>
                <a:srgbClr val="000000"/>
              </a:solidFill>
              <a:latin typeface="Arial"/>
            </a:endParaRPr>
          </a:p>
        </p:txBody>
      </p:sp>
      <p:graphicFrame>
        <p:nvGraphicFramePr>
          <p:cNvPr id="2953" name="Table 8"/>
          <p:cNvGraphicFramePr/>
          <p:nvPr/>
        </p:nvGraphicFramePr>
        <p:xfrm>
          <a:off x="567000" y="1481400"/>
          <a:ext cx="11057400" cy="4845960"/>
        </p:xfrm>
        <a:graphic>
          <a:graphicData uri="http://schemas.openxmlformats.org/drawingml/2006/table">
            <a:tbl>
              <a:tblPr/>
              <a:tblGrid>
                <a:gridCol w="2741400"/>
                <a:gridCol w="1096560"/>
                <a:gridCol w="7219440"/>
              </a:tblGrid>
              <a:tr h="347400">
                <a:tc>
                  <a:txBody>
                    <a:bodyPr lIns="82080" rIns="82080" tIns="27360" bIns="27360" anchor="ctr">
                      <a:noAutofit/>
                    </a:bodyPr>
                    <a:p>
                      <a:pPr defTabSz="457200">
                        <a:lnSpc>
                          <a:spcPct val="100000"/>
                        </a:lnSpc>
                      </a:pPr>
                      <a:r>
                        <a:rPr b="1" lang="en-US" sz="1050" spc="-1" strike="noStrike">
                          <a:solidFill>
                            <a:srgbClr val="ffffff"/>
                          </a:solidFill>
                          <a:latin typeface="Segoe UI"/>
                        </a:rPr>
                        <a:t>Criterio</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algn="ctr" defTabSz="457200">
                        <a:lnSpc>
                          <a:spcPct val="100000"/>
                        </a:lnSpc>
                      </a:pPr>
                      <a:r>
                        <a:rPr b="1" lang="en-US" sz="1050" spc="-1" strike="noStrike">
                          <a:solidFill>
                            <a:srgbClr val="ffffff"/>
                          </a:solidFill>
                          <a:latin typeface="Segoe UI"/>
                        </a:rPr>
                        <a:t>Peso</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50" spc="-1" strike="noStrike">
                          <a:solidFill>
                            <a:srgbClr val="ffffff"/>
                          </a:solidFill>
                          <a:latin typeface="Segoe UI"/>
                        </a:rPr>
                        <a:t>Qué se espera de un trabajo excelente</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749520">
                <a:tc>
                  <a:txBody>
                    <a:bodyPr lIns="82080" rIns="82080" tIns="27360" bIns="27360" anchor="ctr">
                      <a:noAutofit/>
                    </a:bodyPr>
                    <a:p>
                      <a:pPr defTabSz="457200">
                        <a:lnSpc>
                          <a:spcPct val="100000"/>
                        </a:lnSpc>
                      </a:pPr>
                      <a:r>
                        <a:rPr b="0" lang="en-US" sz="1050" spc="-1" strike="noStrike">
                          <a:solidFill>
                            <a:srgbClr val="1c2430"/>
                          </a:solidFill>
                          <a:latin typeface="Segoe UI"/>
                        </a:rPr>
                        <a:t>Dimensionamiento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1050" spc="-1" strike="noStrike">
                          <a:solidFill>
                            <a:srgbClr val="1c2430"/>
                          </a:solidFill>
                          <a:latin typeface="Segoe UI"/>
                        </a:rPr>
                        <a:t>25 %</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Cálculo completo, hipótesis explícitas, márgenes justificados y alternativa valorada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749520">
                <a:tc>
                  <a:txBody>
                    <a:bodyPr lIns="82080" rIns="82080" tIns="27360" bIns="27360" anchor="ctr">
                      <a:noAutofit/>
                    </a:bodyPr>
                    <a:p>
                      <a:pPr defTabSz="457200">
                        <a:lnSpc>
                          <a:spcPct val="100000"/>
                        </a:lnSpc>
                      </a:pPr>
                      <a:r>
                        <a:rPr b="0" lang="en-US" sz="1050" spc="-1" strike="noStrike">
                          <a:solidFill>
                            <a:srgbClr val="1c2430"/>
                          </a:solidFill>
                          <a:latin typeface="Segoe UI"/>
                        </a:rPr>
                        <a:t>Arquitectura eléctrica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1050" spc="-1" strike="noStrike">
                          <a:solidFill>
                            <a:srgbClr val="1c2430"/>
                          </a:solidFill>
                          <a:latin typeface="Segoe UI"/>
                        </a:rPr>
                        <a:t>20 %</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Esquema coherente, protecciones dimensionadas, EMC y tierras correctamente resueltas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749520">
                <a:tc>
                  <a:txBody>
                    <a:bodyPr lIns="82080" rIns="82080" tIns="27360" bIns="27360" anchor="ctr">
                      <a:noAutofit/>
                    </a:bodyPr>
                    <a:p>
                      <a:pPr defTabSz="457200">
                        <a:lnSpc>
                          <a:spcPct val="100000"/>
                        </a:lnSpc>
                      </a:pPr>
                      <a:r>
                        <a:rPr b="0" lang="en-US" sz="1050" spc="-1" strike="noStrike">
                          <a:solidFill>
                            <a:srgbClr val="1c2430"/>
                          </a:solidFill>
                          <a:latin typeface="Segoe UI"/>
                        </a:rPr>
                        <a:t>Configuración y parámetros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1050" spc="-1" strike="noStrike">
                          <a:solidFill>
                            <a:srgbClr val="1c2430"/>
                          </a:solidFill>
                          <a:latin typeface="Segoe UI"/>
                        </a:rPr>
                        <a:t>20 %</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Engranaje electrónico verificado, asignación de E/S documentada, sintonización razonada con trazas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749520">
                <a:tc>
                  <a:txBody>
                    <a:bodyPr lIns="82080" rIns="82080" tIns="27360" bIns="27360" anchor="ctr">
                      <a:noAutofit/>
                    </a:bodyPr>
                    <a:p>
                      <a:pPr defTabSz="457200">
                        <a:lnSpc>
                          <a:spcPct val="100000"/>
                        </a:lnSpc>
                      </a:pPr>
                      <a:r>
                        <a:rPr b="0" lang="en-US" sz="1050" spc="-1" strike="noStrike">
                          <a:solidFill>
                            <a:srgbClr val="1c2430"/>
                          </a:solidFill>
                          <a:latin typeface="Segoe UI"/>
                        </a:rPr>
                        <a:t>Seguridad</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1050" spc="-1" strike="noStrike">
                          <a:solidFill>
                            <a:srgbClr val="1c2430"/>
                          </a:solidFill>
                          <a:latin typeface="Segoe UI"/>
                        </a:rPr>
                        <a:t>15 %</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HWBB correctamente integrado y validado; análisis de las limitaciones de STO en esta máquina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749520">
                <a:tc>
                  <a:txBody>
                    <a:bodyPr lIns="82080" rIns="82080" tIns="27360" bIns="27360" anchor="ctr">
                      <a:noAutofit/>
                    </a:bodyPr>
                    <a:p>
                      <a:pPr defTabSz="457200">
                        <a:lnSpc>
                          <a:spcPct val="100000"/>
                        </a:lnSpc>
                      </a:pPr>
                      <a:r>
                        <a:rPr b="0" lang="en-US" sz="1050" spc="-1" strike="noStrike">
                          <a:solidFill>
                            <a:srgbClr val="1c2430"/>
                          </a:solidFill>
                          <a:latin typeface="Segoe UI"/>
                        </a:rPr>
                        <a:t>Puesta en marcha y aceptación</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algn="ctr" defTabSz="457200">
                        <a:lnSpc>
                          <a:spcPct val="100000"/>
                        </a:lnSpc>
                      </a:pPr>
                      <a:r>
                        <a:rPr b="0" lang="en-US" sz="1050" spc="-1" strike="noStrike">
                          <a:solidFill>
                            <a:srgbClr val="1c2430"/>
                          </a:solidFill>
                          <a:latin typeface="Segoe UI"/>
                        </a:rPr>
                        <a:t>10 %</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Procedimiento por fases con criterios medibles y registro de resultados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749520">
                <a:tc>
                  <a:txBody>
                    <a:bodyPr lIns="82080" rIns="82080" tIns="27360" bIns="27360" anchor="ctr">
                      <a:noAutofit/>
                    </a:bodyPr>
                    <a:p>
                      <a:pPr defTabSz="457200">
                        <a:lnSpc>
                          <a:spcPct val="100000"/>
                        </a:lnSpc>
                      </a:pPr>
                      <a:r>
                        <a:rPr b="0" lang="en-US" sz="1050" spc="-1" strike="noStrike">
                          <a:solidFill>
                            <a:srgbClr val="1c2430"/>
                          </a:solidFill>
                          <a:latin typeface="Segoe UI"/>
                        </a:rPr>
                        <a:t>Documentación y defensa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algn="ctr" defTabSz="457200">
                        <a:lnSpc>
                          <a:spcPct val="100000"/>
                        </a:lnSpc>
                      </a:pPr>
                      <a:r>
                        <a:rPr b="0" lang="en-US" sz="1050" spc="-1" strike="noStrike">
                          <a:solidFill>
                            <a:srgbClr val="1c2430"/>
                          </a:solidFill>
                          <a:latin typeface="Segoe UI"/>
                        </a:rPr>
                        <a:t>10 %</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Trazabilidad de las decisiones y claridad al explicarlas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Tree>
  </p:cSld>
  <mc:AlternateContent>
    <mc:Choice Requires="p14">
      <p:transition spd="slow" p14:dur="2000"/>
    </mc:Choice>
    <mc:Fallback>
      <p:transition spd="slow"/>
    </mc:Fallback>
  </mc:AlternateContent>
</p:sld>
</file>

<file path=ppt/slides/slide1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4" name="Rectangle 1"/>
          <p:cNvSpPr/>
          <p:nvPr/>
        </p:nvSpPr>
        <p:spPr>
          <a:xfrm>
            <a:off x="0" y="0"/>
            <a:ext cx="12191400" cy="68576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55" name="Rectangle 2"/>
          <p:cNvSpPr/>
          <p:nvPr/>
        </p:nvSpPr>
        <p:spPr>
          <a:xfrm>
            <a:off x="0" y="0"/>
            <a:ext cx="383760" cy="685764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56" name="TextBox 3"/>
          <p:cNvSpPr/>
          <p:nvPr/>
        </p:nvSpPr>
        <p:spPr>
          <a:xfrm>
            <a:off x="1051560" y="1234440"/>
            <a:ext cx="5486040" cy="8841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5800" spc="-1" strike="noStrike">
                <a:solidFill>
                  <a:srgbClr val="143a63"/>
                </a:solidFill>
                <a:latin typeface="Segoe UI Semibold"/>
              </a:rPr>
              <a:t>MÓDULO 13</a:t>
            </a:r>
            <a:endParaRPr b="0" lang="en-US" sz="5800" spc="-1" strike="noStrike">
              <a:solidFill>
                <a:srgbClr val="000000"/>
              </a:solidFill>
              <a:latin typeface="Arial"/>
            </a:endParaRPr>
          </a:p>
        </p:txBody>
      </p:sp>
      <p:sp>
        <p:nvSpPr>
          <p:cNvPr id="2957" name="TextBox 4"/>
          <p:cNvSpPr/>
          <p:nvPr/>
        </p:nvSpPr>
        <p:spPr>
          <a:xfrm>
            <a:off x="1051560" y="2331720"/>
            <a:ext cx="9875160" cy="543960"/>
          </a:xfrm>
          <a:prstGeom prst="rect">
            <a:avLst/>
          </a:prstGeom>
          <a:noFill/>
          <a:ln w="0">
            <a:noFill/>
          </a:ln>
        </p:spPr>
        <p:style>
          <a:lnRef idx="0"/>
          <a:fillRef idx="0"/>
          <a:effectRef idx="0"/>
          <a:fontRef idx="minor"/>
        </p:style>
        <p:txBody>
          <a:bodyPr lIns="0" rIns="0" tIns="0" bIns="0" anchor="t">
            <a:spAutoFit/>
          </a:bodyPr>
          <a:p>
            <a:pPr defTabSz="457200">
              <a:lnSpc>
                <a:spcPct val="105000"/>
              </a:lnSpc>
            </a:pPr>
            <a:r>
              <a:rPr b="1" lang="en-US" sz="3400" spc="-1" strike="noStrike">
                <a:solidFill>
                  <a:srgbClr val="ffffff"/>
                </a:solidFill>
                <a:latin typeface="Segoe UI Semibold"/>
              </a:rPr>
              <a:t>Anexos, evaluación y recursos</a:t>
            </a:r>
            <a:endParaRPr b="0" lang="en-US" sz="3400" spc="-1" strike="noStrike">
              <a:solidFill>
                <a:srgbClr val="000000"/>
              </a:solidFill>
              <a:latin typeface="Arial"/>
            </a:endParaRPr>
          </a:p>
        </p:txBody>
      </p:sp>
      <p:sp>
        <p:nvSpPr>
          <p:cNvPr id="2958" name="Rectangle 5"/>
          <p:cNvSpPr/>
          <p:nvPr/>
        </p:nvSpPr>
        <p:spPr>
          <a:xfrm>
            <a:off x="1051560" y="3703320"/>
            <a:ext cx="1279800" cy="4536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720" bIns="720" anchor="ctr">
            <a:noAutofit/>
          </a:bodyPr>
          <a:p>
            <a:pPr algn="ctr" defTabSz="457200">
              <a:lnSpc>
                <a:spcPct val="100000"/>
              </a:lnSpc>
            </a:pPr>
            <a:endParaRPr b="0" lang="en-US" sz="1800" spc="-1" strike="noStrike">
              <a:solidFill>
                <a:schemeClr val="lt1"/>
              </a:solidFill>
              <a:latin typeface="Calibri"/>
            </a:endParaRPr>
          </a:p>
        </p:txBody>
      </p:sp>
      <p:sp>
        <p:nvSpPr>
          <p:cNvPr id="2959" name="Rectangle 6"/>
          <p:cNvSpPr/>
          <p:nvPr/>
        </p:nvSpPr>
        <p:spPr>
          <a:xfrm>
            <a:off x="1051560" y="414684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60" name="TextBox 7"/>
          <p:cNvSpPr/>
          <p:nvPr/>
        </p:nvSpPr>
        <p:spPr>
          <a:xfrm>
            <a:off x="1325880" y="406908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Fichas de consulta rápida: parámetros, alarmas y fórmulas</a:t>
            </a:r>
            <a:endParaRPr b="0" lang="en-US" sz="1350" spc="-1" strike="noStrike">
              <a:solidFill>
                <a:srgbClr val="000000"/>
              </a:solidFill>
              <a:latin typeface="Arial"/>
            </a:endParaRPr>
          </a:p>
        </p:txBody>
      </p:sp>
      <p:sp>
        <p:nvSpPr>
          <p:cNvPr id="2961" name="Rectangle 8"/>
          <p:cNvSpPr/>
          <p:nvPr/>
        </p:nvSpPr>
        <p:spPr>
          <a:xfrm>
            <a:off x="1051560" y="451260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62" name="TextBox 9"/>
          <p:cNvSpPr/>
          <p:nvPr/>
        </p:nvSpPr>
        <p:spPr>
          <a:xfrm>
            <a:off x="1325880" y="443484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Listas de verificación imprimibles</a:t>
            </a:r>
            <a:endParaRPr b="0" lang="en-US" sz="1350" spc="-1" strike="noStrike">
              <a:solidFill>
                <a:srgbClr val="000000"/>
              </a:solidFill>
              <a:latin typeface="Arial"/>
            </a:endParaRPr>
          </a:p>
        </p:txBody>
      </p:sp>
      <p:sp>
        <p:nvSpPr>
          <p:cNvPr id="2963" name="Rectangle 10"/>
          <p:cNvSpPr/>
          <p:nvPr/>
        </p:nvSpPr>
        <p:spPr>
          <a:xfrm>
            <a:off x="1051560" y="487836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64" name="TextBox 11"/>
          <p:cNvSpPr/>
          <p:nvPr/>
        </p:nvSpPr>
        <p:spPr>
          <a:xfrm>
            <a:off x="1325880" y="480060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Glosario completo</a:t>
            </a:r>
            <a:endParaRPr b="0" lang="en-US" sz="1350" spc="-1" strike="noStrike">
              <a:solidFill>
                <a:srgbClr val="000000"/>
              </a:solidFill>
              <a:latin typeface="Arial"/>
            </a:endParaRPr>
          </a:p>
        </p:txBody>
      </p:sp>
      <p:sp>
        <p:nvSpPr>
          <p:cNvPr id="2965" name="Rectangle 12"/>
          <p:cNvSpPr/>
          <p:nvPr/>
        </p:nvSpPr>
        <p:spPr>
          <a:xfrm>
            <a:off x="1051560" y="524412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66" name="TextBox 13"/>
          <p:cNvSpPr/>
          <p:nvPr/>
        </p:nvSpPr>
        <p:spPr>
          <a:xfrm>
            <a:off x="1325880" y="516636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Autoevaluación con respuestas comentadas</a:t>
            </a:r>
            <a:endParaRPr b="0" lang="en-US" sz="1350" spc="-1" strike="noStrike">
              <a:solidFill>
                <a:srgbClr val="000000"/>
              </a:solidFill>
              <a:latin typeface="Arial"/>
            </a:endParaRPr>
          </a:p>
        </p:txBody>
      </p:sp>
      <p:sp>
        <p:nvSpPr>
          <p:cNvPr id="2967" name="Rectangle 14"/>
          <p:cNvSpPr/>
          <p:nvPr/>
        </p:nvSpPr>
        <p:spPr>
          <a:xfrm>
            <a:off x="1051560" y="5609880"/>
            <a:ext cx="91080" cy="910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68" name="TextBox 15"/>
          <p:cNvSpPr/>
          <p:nvPr/>
        </p:nvSpPr>
        <p:spPr>
          <a:xfrm>
            <a:off x="1325880" y="5532120"/>
            <a:ext cx="932652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350" spc="-1" strike="noStrike">
                <a:solidFill>
                  <a:srgbClr val="c9dcee"/>
                </a:solidFill>
                <a:latin typeface="Segoe UI"/>
              </a:rPr>
              <a:t>Itinerario de aprendizaje y recursos oficiales</a:t>
            </a:r>
            <a:endParaRPr b="0" lang="en-US" sz="1350" spc="-1" strike="noStrike">
              <a:solidFill>
                <a:srgbClr val="000000"/>
              </a:solidFill>
              <a:latin typeface="Arial"/>
            </a:endParaRPr>
          </a:p>
        </p:txBody>
      </p:sp>
      <p:sp>
        <p:nvSpPr>
          <p:cNvPr id="2969" name="TextBox 16"/>
          <p:cNvSpPr/>
          <p:nvPr/>
        </p:nvSpPr>
        <p:spPr>
          <a:xfrm>
            <a:off x="1051560" y="6172200"/>
            <a:ext cx="7314840" cy="1681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100" spc="-1" strike="noStrike">
                <a:solidFill>
                  <a:srgbClr val="e89b1f"/>
                </a:solidFill>
                <a:latin typeface="Segoe UI"/>
              </a:rPr>
              <a:t>Duración orientativa: 2 h</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70"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71"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972"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Ficha rápida — Fórmulas de dimensionamiento</a:t>
            </a:r>
            <a:endParaRPr b="0" lang="en-US" sz="2500" spc="-1" strike="noStrike">
              <a:solidFill>
                <a:srgbClr val="000000"/>
              </a:solidFill>
              <a:latin typeface="Arial"/>
            </a:endParaRPr>
          </a:p>
        </p:txBody>
      </p:sp>
      <p:sp>
        <p:nvSpPr>
          <p:cNvPr id="2973"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Todo el Módulo 04 en una hoja</a:t>
            </a:r>
            <a:endParaRPr b="0" lang="en-US" sz="1250" spc="-1" strike="noStrike">
              <a:solidFill>
                <a:srgbClr val="000000"/>
              </a:solidFill>
              <a:latin typeface="Arial"/>
            </a:endParaRPr>
          </a:p>
        </p:txBody>
      </p:sp>
      <p:sp>
        <p:nvSpPr>
          <p:cNvPr id="2974"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13</a:t>
            </a:r>
            <a:endParaRPr b="0" lang="en-US" sz="1100" spc="-1" strike="noStrike">
              <a:solidFill>
                <a:srgbClr val="000000"/>
              </a:solidFill>
              <a:latin typeface="Arial"/>
            </a:endParaRPr>
          </a:p>
        </p:txBody>
      </p:sp>
      <p:sp>
        <p:nvSpPr>
          <p:cNvPr id="2975"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976"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149</a:t>
            </a:r>
            <a:endParaRPr b="0" lang="en-US" sz="900" spc="-1" strike="noStrike">
              <a:solidFill>
                <a:srgbClr val="000000"/>
              </a:solidFill>
              <a:latin typeface="Arial"/>
            </a:endParaRPr>
          </a:p>
        </p:txBody>
      </p:sp>
      <p:graphicFrame>
        <p:nvGraphicFramePr>
          <p:cNvPr id="2977" name="Table 8"/>
          <p:cNvGraphicFramePr/>
          <p:nvPr/>
        </p:nvGraphicFramePr>
        <p:xfrm>
          <a:off x="567000" y="1481400"/>
          <a:ext cx="11057400" cy="4845960"/>
        </p:xfrm>
        <a:graphic>
          <a:graphicData uri="http://schemas.openxmlformats.org/drawingml/2006/table">
            <a:tbl>
              <a:tblPr/>
              <a:tblGrid>
                <a:gridCol w="3132720"/>
                <a:gridCol w="4238640"/>
                <a:gridCol w="368568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Magnitud</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Fórmula</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Unidades y notas</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Segoe UI"/>
                        </a:rPr>
                        <a:t>Par nominal a partir de la potencia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 ≈ 9,55 × P[kW] / n[krpm]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N·m — comprobación mental instantánea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Segoe UI"/>
                        </a:rPr>
                        <a:t>Velocidad angular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ω = 2π · n / 60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rad/s — n en rpm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Segoe UI"/>
                        </a:rPr>
                        <a:t>Aceleración angular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α = Δω / Δt</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rad/s²</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Segoe UI"/>
                        </a:rPr>
                        <a:t>Par de aceleración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 = J · α</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N·m — J en kg·m² referido al motor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Segoe UI"/>
                        </a:rPr>
                        <a:t>Inercia de masa con husillo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J = m · (p / 2π)²</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kg·m² — p en m/vuelta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Segoe UI"/>
                        </a:rPr>
                        <a:t>Inercia de cilindro macizo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J = ½ · m · r²  con  m = ρ·π·r²·L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kg·m² — ρ(acero) = 7.850 kg/m³</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Segoe UI"/>
                        </a:rPr>
                        <a:t>Inercia a través de reducción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J_reflejada = J_carga / i²</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El efecto i² es la clave del diseño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Segoe UI"/>
                        </a:rPr>
                        <a:t>Par de fricción (husillo)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 = μ·m·g·p / (2π·η)</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N·m — incluye el rendimiento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Segoe UI"/>
                        </a:rPr>
                        <a:t>Par de gravedad (eje vertical)</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 = m·g·p / (2π·η)</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N·m — presente también en reposo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Segoe UI"/>
                        </a:rPr>
                        <a:t>Par eficaz del ciclo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T_rms = √[ Σ(Tᵢ²·tᵢ) / T_ciclo ]</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N·m — incluye los tiempos de parada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Segoe UI"/>
                        </a:rPr>
                        <a:t>Energía cinética a frenar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 = ½ · J_total · ω²</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J — base del cálculo de regeneración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Segoe UI"/>
                        </a:rPr>
                        <a:t>Engranaje electrónico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B/A = (resolución × relación) / (unidades por vuelta de carga)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Pn20E</a:t>
                      </a:r>
                      <a:r>
                        <a:rPr b="0" lang="en-US" sz="950" spc="-1" strike="noStrike">
                          <a:solidFill>
                            <a:srgbClr val="1c2430"/>
                          </a:solidFill>
                          <a:latin typeface="Segoe UI"/>
                        </a:rPr>
                        <a:t> / </a:t>
                      </a:r>
                      <a:r>
                        <a:rPr b="0" lang="en-US" sz="950" spc="-1" strike="noStrike">
                          <a:solidFill>
                            <a:srgbClr val="1c2430"/>
                          </a:solidFill>
                          <a:latin typeface="Consolas"/>
                        </a:rPr>
                        <a:t>Pn210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Tree>
  </p:cSld>
  <mc:AlternateContent>
    <mc:Choice Requires="p14">
      <p:transition spd="slow" p14:dur="2000"/>
    </mc:Choice>
    <mc:Fallback>
      <p:transition spd="slow"/>
    </mc:Fallback>
  </mc:AlternateContent>
</p:sld>
</file>

<file path=ppt/slides/slide1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78"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79"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980"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Ficha rápida — Parámetros, funciones y monitores</a:t>
            </a:r>
            <a:endParaRPr b="0" lang="en-US" sz="2500" spc="-1" strike="noStrike">
              <a:solidFill>
                <a:srgbClr val="000000"/>
              </a:solidFill>
              <a:latin typeface="Arial"/>
            </a:endParaRPr>
          </a:p>
        </p:txBody>
      </p:sp>
      <p:sp>
        <p:nvSpPr>
          <p:cNvPr id="2981"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Chuleta de referencia (verifica siempre contra el manual de tu modelo)</a:t>
            </a:r>
            <a:endParaRPr b="0" lang="en-US" sz="1250" spc="-1" strike="noStrike">
              <a:solidFill>
                <a:srgbClr val="000000"/>
              </a:solidFill>
              <a:latin typeface="Arial"/>
            </a:endParaRPr>
          </a:p>
        </p:txBody>
      </p:sp>
      <p:sp>
        <p:nvSpPr>
          <p:cNvPr id="2982"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13</a:t>
            </a:r>
            <a:endParaRPr b="0" lang="en-US" sz="1100" spc="-1" strike="noStrike">
              <a:solidFill>
                <a:srgbClr val="000000"/>
              </a:solidFill>
              <a:latin typeface="Arial"/>
            </a:endParaRPr>
          </a:p>
        </p:txBody>
      </p:sp>
      <p:sp>
        <p:nvSpPr>
          <p:cNvPr id="2983"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984"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150</a:t>
            </a:r>
            <a:endParaRPr b="0" lang="en-US" sz="900" spc="-1" strike="noStrike">
              <a:solidFill>
                <a:srgbClr val="000000"/>
              </a:solidFill>
              <a:latin typeface="Arial"/>
            </a:endParaRPr>
          </a:p>
        </p:txBody>
      </p:sp>
      <p:graphicFrame>
        <p:nvGraphicFramePr>
          <p:cNvPr id="2985" name="Table 8"/>
          <p:cNvGraphicFramePr/>
          <p:nvPr/>
        </p:nvGraphicFramePr>
        <p:xfrm>
          <a:off x="567000" y="1481400"/>
          <a:ext cx="11057400" cy="4845960"/>
        </p:xfrm>
        <a:graphic>
          <a:graphicData uri="http://schemas.openxmlformats.org/drawingml/2006/table">
            <a:tbl>
              <a:tblPr/>
              <a:tblGrid>
                <a:gridCol w="2193120"/>
                <a:gridCol w="886428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Grupo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Referencias clave</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Segoe UI"/>
                        </a:rPr>
                        <a:t>Configuración básica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Pn000.0</a:t>
                      </a:r>
                      <a:r>
                        <a:rPr b="0" lang="en-US" sz="950" spc="-1" strike="noStrike">
                          <a:solidFill>
                            <a:srgbClr val="1c2430"/>
                          </a:solidFill>
                          <a:latin typeface="Segoe UI"/>
                        </a:rPr>
                        <a:t> sentido de giro · </a:t>
                      </a:r>
                      <a:r>
                        <a:rPr b="0" lang="en-US" sz="950" spc="-1" strike="noStrike">
                          <a:solidFill>
                            <a:srgbClr val="1c2430"/>
                          </a:solidFill>
                          <a:latin typeface="Consolas"/>
                        </a:rPr>
                        <a:t>Pn000.1</a:t>
                      </a:r>
                      <a:r>
                        <a:rPr b="0" lang="en-US" sz="950" spc="-1" strike="noStrike">
                          <a:solidFill>
                            <a:srgbClr val="1c2430"/>
                          </a:solidFill>
                          <a:latin typeface="Segoe UI"/>
                        </a:rPr>
                        <a:t> modo de control · </a:t>
                      </a:r>
                      <a:r>
                        <a:rPr b="0" lang="en-US" sz="950" spc="-1" strike="noStrike">
                          <a:solidFill>
                            <a:srgbClr val="1c2430"/>
                          </a:solidFill>
                          <a:latin typeface="Consolas"/>
                        </a:rPr>
                        <a:t>Pn001.0</a:t>
                      </a:r>
                      <a:r>
                        <a:rPr b="0" lang="en-US" sz="950" spc="-1" strike="noStrike">
                          <a:solidFill>
                            <a:srgbClr val="1c2430"/>
                          </a:solidFill>
                          <a:latin typeface="Segoe UI"/>
                        </a:rPr>
                        <a:t> método de parada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Segoe UI"/>
                        </a:rPr>
                        <a:t>Posición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Pn20E</a:t>
                      </a:r>
                      <a:r>
                        <a:rPr b="0" lang="en-US" sz="950" spc="-1" strike="noStrike">
                          <a:solidFill>
                            <a:srgbClr val="1c2430"/>
                          </a:solidFill>
                          <a:latin typeface="Segoe UI"/>
                        </a:rPr>
                        <a:t>/</a:t>
                      </a:r>
                      <a:r>
                        <a:rPr b="0" lang="en-US" sz="950" spc="-1" strike="noStrike">
                          <a:solidFill>
                            <a:srgbClr val="1c2430"/>
                          </a:solidFill>
                          <a:latin typeface="Consolas"/>
                        </a:rPr>
                        <a:t>Pn210</a:t>
                      </a:r>
                      <a:r>
                        <a:rPr b="0" lang="en-US" sz="950" spc="-1" strike="noStrike">
                          <a:solidFill>
                            <a:srgbClr val="1c2430"/>
                          </a:solidFill>
                          <a:latin typeface="Segoe UI"/>
                        </a:rPr>
                        <a:t> engranaje electrónico · </a:t>
                      </a:r>
                      <a:r>
                        <a:rPr b="0" lang="en-US" sz="950" spc="-1" strike="noStrike">
                          <a:solidFill>
                            <a:srgbClr val="1c2430"/>
                          </a:solidFill>
                          <a:latin typeface="Consolas"/>
                        </a:rPr>
                        <a:t>Pn200.0</a:t>
                      </a:r>
                      <a:r>
                        <a:rPr b="0" lang="en-US" sz="950" spc="-1" strike="noStrike">
                          <a:solidFill>
                            <a:srgbClr val="1c2430"/>
                          </a:solidFill>
                          <a:latin typeface="Segoe UI"/>
                        </a:rPr>
                        <a:t> formato de pulsos · </a:t>
                      </a:r>
                      <a:r>
                        <a:rPr b="0" lang="en-US" sz="950" spc="-1" strike="noStrike">
                          <a:solidFill>
                            <a:srgbClr val="1c2430"/>
                          </a:solidFill>
                          <a:latin typeface="Consolas"/>
                        </a:rPr>
                        <a:t>Pn212</a:t>
                      </a:r>
                      <a:r>
                        <a:rPr b="0" lang="en-US" sz="950" spc="-1" strike="noStrike">
                          <a:solidFill>
                            <a:srgbClr val="1c2430"/>
                          </a:solidFill>
                          <a:latin typeface="Segoe UI"/>
                        </a:rPr>
                        <a:t> salida de encoder · </a:t>
                      </a:r>
                      <a:r>
                        <a:rPr b="0" lang="en-US" sz="950" spc="-1" strike="noStrike">
                          <a:solidFill>
                            <a:srgbClr val="1c2430"/>
                          </a:solidFill>
                          <a:latin typeface="Consolas"/>
                        </a:rPr>
                        <a:t>Pn522</a:t>
                      </a:r>
                      <a:r>
                        <a:rPr b="0" lang="en-US" sz="950" spc="-1" strike="noStrike">
                          <a:solidFill>
                            <a:srgbClr val="1c2430"/>
                          </a:solidFill>
                          <a:latin typeface="Segoe UI"/>
                        </a:rPr>
                        <a:t> ventana de posicionado · </a:t>
                      </a:r>
                      <a:r>
                        <a:rPr b="0" lang="en-US" sz="950" spc="-1" strike="noStrike">
                          <a:solidFill>
                            <a:srgbClr val="1c2430"/>
                          </a:solidFill>
                          <a:latin typeface="Consolas"/>
                        </a:rPr>
                        <a:t>Pn520</a:t>
                      </a:r>
                      <a:r>
                        <a:rPr b="0" lang="en-US" sz="950" spc="-1" strike="noStrike">
                          <a:solidFill>
                            <a:srgbClr val="1c2430"/>
                          </a:solidFill>
                          <a:latin typeface="Segoe UI"/>
                        </a:rPr>
                        <a:t> error máximo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Segoe UI"/>
                        </a:rPr>
                        <a:t>Velocidad y par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Pn300</a:t>
                      </a:r>
                      <a:r>
                        <a:rPr b="0" lang="en-US" sz="950" spc="-1" strike="noStrike">
                          <a:solidFill>
                            <a:srgbClr val="1c2430"/>
                          </a:solidFill>
                          <a:latin typeface="Segoe UI"/>
                        </a:rPr>
                        <a:t> escala de consigna de velocidad · </a:t>
                      </a:r>
                      <a:r>
                        <a:rPr b="0" lang="en-US" sz="950" spc="-1" strike="noStrike">
                          <a:solidFill>
                            <a:srgbClr val="1c2430"/>
                          </a:solidFill>
                          <a:latin typeface="Consolas"/>
                        </a:rPr>
                        <a:t>Pn400</a:t>
                      </a:r>
                      <a:r>
                        <a:rPr b="0" lang="en-US" sz="950" spc="-1" strike="noStrike">
                          <a:solidFill>
                            <a:srgbClr val="1c2430"/>
                          </a:solidFill>
                          <a:latin typeface="Segoe UI"/>
                        </a:rPr>
                        <a:t> escala de consigna de par · </a:t>
                      </a:r>
                      <a:r>
                        <a:rPr b="0" lang="en-US" sz="950" spc="-1" strike="noStrike">
                          <a:solidFill>
                            <a:srgbClr val="1c2430"/>
                          </a:solidFill>
                          <a:latin typeface="Consolas"/>
                        </a:rPr>
                        <a:t>Pn502</a:t>
                      </a:r>
                      <a:r>
                        <a:rPr b="0" lang="en-US" sz="950" spc="-1" strike="noStrike">
                          <a:solidFill>
                            <a:srgbClr val="1c2430"/>
                          </a:solidFill>
                          <a:latin typeface="Segoe UI"/>
                        </a:rPr>
                        <a:t> umbral de giro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Segoe UI"/>
                        </a:rPr>
                        <a:t>Sintonización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Pn103</a:t>
                      </a:r>
                      <a:r>
                        <a:rPr b="0" lang="en-US" sz="950" spc="-1" strike="noStrike">
                          <a:solidFill>
                            <a:srgbClr val="1c2430"/>
                          </a:solidFill>
                          <a:latin typeface="Segoe UI"/>
                        </a:rPr>
                        <a:t> relación de inercias · </a:t>
                      </a:r>
                      <a:r>
                        <a:rPr b="0" lang="en-US" sz="950" spc="-1" strike="noStrike">
                          <a:solidFill>
                            <a:srgbClr val="1c2430"/>
                          </a:solidFill>
                          <a:latin typeface="Consolas"/>
                        </a:rPr>
                        <a:t>Pn100</a:t>
                      </a:r>
                      <a:r>
                        <a:rPr b="0" lang="en-US" sz="950" spc="-1" strike="noStrike">
                          <a:solidFill>
                            <a:srgbClr val="1c2430"/>
                          </a:solidFill>
                          <a:latin typeface="Segoe UI"/>
                        </a:rPr>
                        <a:t> ganancia de velocidad · </a:t>
                      </a:r>
                      <a:r>
                        <a:rPr b="0" lang="en-US" sz="950" spc="-1" strike="noStrike">
                          <a:solidFill>
                            <a:srgbClr val="1c2430"/>
                          </a:solidFill>
                          <a:latin typeface="Consolas"/>
                        </a:rPr>
                        <a:t>Pn101</a:t>
                      </a:r>
                      <a:r>
                        <a:rPr b="0" lang="en-US" sz="950" spc="-1" strike="noStrike">
                          <a:solidFill>
                            <a:srgbClr val="1c2430"/>
                          </a:solidFill>
                          <a:latin typeface="Segoe UI"/>
                        </a:rPr>
                        <a:t> integral · </a:t>
                      </a:r>
                      <a:r>
                        <a:rPr b="0" lang="en-US" sz="950" spc="-1" strike="noStrike">
                          <a:solidFill>
                            <a:srgbClr val="1c2430"/>
                          </a:solidFill>
                          <a:latin typeface="Consolas"/>
                        </a:rPr>
                        <a:t>Pn102</a:t>
                      </a:r>
                      <a:r>
                        <a:rPr b="0" lang="en-US" sz="950" spc="-1" strike="noStrike">
                          <a:solidFill>
                            <a:srgbClr val="1c2430"/>
                          </a:solidFill>
                          <a:latin typeface="Segoe UI"/>
                        </a:rPr>
                        <a:t> ganancia de posición · </a:t>
                      </a:r>
                      <a:r>
                        <a:rPr b="0" lang="en-US" sz="950" spc="-1" strike="noStrike">
                          <a:solidFill>
                            <a:srgbClr val="1c2430"/>
                          </a:solidFill>
                          <a:latin typeface="Consolas"/>
                        </a:rPr>
                        <a:t>Pn401</a:t>
                      </a:r>
                      <a:r>
                        <a:rPr b="0" lang="en-US" sz="950" spc="-1" strike="noStrike">
                          <a:solidFill>
                            <a:srgbClr val="1c2430"/>
                          </a:solidFill>
                          <a:latin typeface="Segoe UI"/>
                        </a:rPr>
                        <a:t> filtro de par · </a:t>
                      </a:r>
                      <a:r>
                        <a:rPr b="0" lang="en-US" sz="950" spc="-1" strike="noStrike">
                          <a:solidFill>
                            <a:srgbClr val="1c2430"/>
                          </a:solidFill>
                          <a:latin typeface="Consolas"/>
                        </a:rPr>
                        <a:t>Pn170</a:t>
                      </a:r>
                      <a:r>
                        <a:rPr b="0" lang="en-US" sz="950" spc="-1" strike="noStrike">
                          <a:solidFill>
                            <a:srgbClr val="1c2430"/>
                          </a:solidFill>
                          <a:latin typeface="Segoe UI"/>
                        </a:rPr>
                        <a:t> tuning-less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Segoe UI"/>
                        </a:rPr>
                        <a:t>Filtros y vibración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Pn408</a:t>
                      </a:r>
                      <a:r>
                        <a:rPr b="0" lang="en-US" sz="950" spc="-1" strike="noStrike">
                          <a:solidFill>
                            <a:srgbClr val="1c2430"/>
                          </a:solidFill>
                          <a:latin typeface="Segoe UI"/>
                        </a:rPr>
                        <a:t> habilitación · </a:t>
                      </a:r>
                      <a:r>
                        <a:rPr b="0" lang="en-US" sz="950" spc="-1" strike="noStrike">
                          <a:solidFill>
                            <a:srgbClr val="1c2430"/>
                          </a:solidFill>
                          <a:latin typeface="Consolas"/>
                        </a:rPr>
                        <a:t>Pn409</a:t>
                      </a:r>
                      <a:r>
                        <a:rPr b="0" lang="en-US" sz="950" spc="-1" strike="noStrike">
                          <a:solidFill>
                            <a:srgbClr val="1c2430"/>
                          </a:solidFill>
                          <a:latin typeface="Segoe UI"/>
                        </a:rPr>
                        <a:t>/</a:t>
                      </a:r>
                      <a:r>
                        <a:rPr b="0" lang="en-US" sz="950" spc="-1" strike="noStrike">
                          <a:solidFill>
                            <a:srgbClr val="1c2430"/>
                          </a:solidFill>
                          <a:latin typeface="Consolas"/>
                        </a:rPr>
                        <a:t>Pn40A</a:t>
                      </a:r>
                      <a:r>
                        <a:rPr b="0" lang="en-US" sz="950" spc="-1" strike="noStrike">
                          <a:solidFill>
                            <a:srgbClr val="1c2430"/>
                          </a:solidFill>
                          <a:latin typeface="Segoe UI"/>
                        </a:rPr>
                        <a:t>/</a:t>
                      </a:r>
                      <a:r>
                        <a:rPr b="0" lang="en-US" sz="950" spc="-1" strike="noStrike">
                          <a:solidFill>
                            <a:srgbClr val="1c2430"/>
                          </a:solidFill>
                          <a:latin typeface="Consolas"/>
                        </a:rPr>
                        <a:t>Pn40B</a:t>
                      </a:r>
                      <a:r>
                        <a:rPr b="0" lang="en-US" sz="950" spc="-1" strike="noStrike">
                          <a:solidFill>
                            <a:srgbClr val="1c2430"/>
                          </a:solidFill>
                          <a:latin typeface="Segoe UI"/>
                        </a:rPr>
                        <a:t> primer notch · </a:t>
                      </a:r>
                      <a:r>
                        <a:rPr b="0" lang="en-US" sz="950" spc="-1" strike="noStrike">
                          <a:solidFill>
                            <a:srgbClr val="1c2430"/>
                          </a:solidFill>
                          <a:latin typeface="Consolas"/>
                        </a:rPr>
                        <a:t>Pn140</a:t>
                      </a:r>
                      <a:r>
                        <a:rPr b="0" lang="en-US" sz="950" spc="-1" strike="noStrike">
                          <a:solidFill>
                            <a:srgbClr val="1c2430"/>
                          </a:solidFill>
                          <a:latin typeface="Segoe UI"/>
                        </a:rPr>
                        <a:t> control por modelo · </a:t>
                      </a:r>
                      <a:r>
                        <a:rPr b="0" lang="en-US" sz="950" spc="-1" strike="noStrike">
                          <a:solidFill>
                            <a:srgbClr val="1c2430"/>
                          </a:solidFill>
                          <a:latin typeface="Consolas"/>
                        </a:rPr>
                        <a:t>Pn14A</a:t>
                      </a:r>
                      <a:r>
                        <a:rPr b="0" lang="en-US" sz="950" spc="-1" strike="noStrike">
                          <a:solidFill>
                            <a:srgbClr val="1c2430"/>
                          </a:solidFill>
                          <a:latin typeface="Segoe UI"/>
                        </a:rPr>
                        <a:t> supresión de vibración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Segoe UI"/>
                        </a:rPr>
                        <a:t>Entradas y salidas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Pn50A</a:t>
                      </a:r>
                      <a:r>
                        <a:rPr b="0" lang="en-US" sz="950" spc="-1" strike="noStrike">
                          <a:solidFill>
                            <a:srgbClr val="1c2430"/>
                          </a:solidFill>
                          <a:latin typeface="Segoe UI"/>
                        </a:rPr>
                        <a:t>/</a:t>
                      </a:r>
                      <a:r>
                        <a:rPr b="0" lang="en-US" sz="950" spc="-1" strike="noStrike">
                          <a:solidFill>
                            <a:srgbClr val="1c2430"/>
                          </a:solidFill>
                          <a:latin typeface="Consolas"/>
                        </a:rPr>
                        <a:t>Pn50B</a:t>
                      </a:r>
                      <a:r>
                        <a:rPr b="0" lang="en-US" sz="950" spc="-1" strike="noStrike">
                          <a:solidFill>
                            <a:srgbClr val="1c2430"/>
                          </a:solidFill>
                          <a:latin typeface="Segoe UI"/>
                        </a:rPr>
                        <a:t> entradas · </a:t>
                      </a:r>
                      <a:r>
                        <a:rPr b="0" lang="en-US" sz="950" spc="-1" strike="noStrike">
                          <a:solidFill>
                            <a:srgbClr val="1c2430"/>
                          </a:solidFill>
                          <a:latin typeface="Consolas"/>
                        </a:rPr>
                        <a:t>Pn50E</a:t>
                      </a:r>
                      <a:r>
                        <a:rPr b="0" lang="en-US" sz="950" spc="-1" strike="noStrike">
                          <a:solidFill>
                            <a:srgbClr val="1c2430"/>
                          </a:solidFill>
                          <a:latin typeface="Segoe UI"/>
                        </a:rPr>
                        <a:t>/</a:t>
                      </a:r>
                      <a:r>
                        <a:rPr b="0" lang="en-US" sz="950" spc="-1" strike="noStrike">
                          <a:solidFill>
                            <a:srgbClr val="1c2430"/>
                          </a:solidFill>
                          <a:latin typeface="Consolas"/>
                        </a:rPr>
                        <a:t>Pn50F</a:t>
                      </a:r>
                      <a:r>
                        <a:rPr b="0" lang="en-US" sz="950" spc="-1" strike="noStrike">
                          <a:solidFill>
                            <a:srgbClr val="1c2430"/>
                          </a:solidFill>
                          <a:latin typeface="Segoe UI"/>
                        </a:rPr>
                        <a:t>/</a:t>
                      </a:r>
                      <a:r>
                        <a:rPr b="0" lang="en-US" sz="950" spc="-1" strike="noStrike">
                          <a:solidFill>
                            <a:srgbClr val="1c2430"/>
                          </a:solidFill>
                          <a:latin typeface="Consolas"/>
                        </a:rPr>
                        <a:t>Pn510</a:t>
                      </a:r>
                      <a:r>
                        <a:rPr b="0" lang="en-US" sz="950" spc="-1" strike="noStrike">
                          <a:solidFill>
                            <a:srgbClr val="1c2430"/>
                          </a:solidFill>
                          <a:latin typeface="Segoe UI"/>
                        </a:rPr>
                        <a:t> salidas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Segoe UI"/>
                        </a:rPr>
                        <a:t>Freno y regeneración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Pn506</a:t>
                      </a:r>
                      <a:r>
                        <a:rPr b="0" lang="en-US" sz="950" spc="-1" strike="noStrike">
                          <a:solidFill>
                            <a:srgbClr val="1c2430"/>
                          </a:solidFill>
                          <a:latin typeface="Segoe UI"/>
                        </a:rPr>
                        <a:t>/</a:t>
                      </a:r>
                      <a:r>
                        <a:rPr b="0" lang="en-US" sz="950" spc="-1" strike="noStrike">
                          <a:solidFill>
                            <a:srgbClr val="1c2430"/>
                          </a:solidFill>
                          <a:latin typeface="Consolas"/>
                        </a:rPr>
                        <a:t>Pn507</a:t>
                      </a:r>
                      <a:r>
                        <a:rPr b="0" lang="en-US" sz="950" spc="-1" strike="noStrike">
                          <a:solidFill>
                            <a:srgbClr val="1c2430"/>
                          </a:solidFill>
                          <a:latin typeface="Segoe UI"/>
                        </a:rPr>
                        <a:t>/</a:t>
                      </a:r>
                      <a:r>
                        <a:rPr b="0" lang="en-US" sz="950" spc="-1" strike="noStrike">
                          <a:solidFill>
                            <a:srgbClr val="1c2430"/>
                          </a:solidFill>
                          <a:latin typeface="Consolas"/>
                        </a:rPr>
                        <a:t>Pn508</a:t>
                      </a:r>
                      <a:r>
                        <a:rPr b="0" lang="en-US" sz="950" spc="-1" strike="noStrike">
                          <a:solidFill>
                            <a:srgbClr val="1c2430"/>
                          </a:solidFill>
                          <a:latin typeface="Segoe UI"/>
                        </a:rPr>
                        <a:t> temporización de freno · </a:t>
                      </a:r>
                      <a:r>
                        <a:rPr b="0" lang="en-US" sz="950" spc="-1" strike="noStrike">
                          <a:solidFill>
                            <a:srgbClr val="1c2430"/>
                          </a:solidFill>
                          <a:latin typeface="Consolas"/>
                        </a:rPr>
                        <a:t>Pn600</a:t>
                      </a:r>
                      <a:r>
                        <a:rPr b="0" lang="en-US" sz="950" spc="-1" strike="noStrike">
                          <a:solidFill>
                            <a:srgbClr val="1c2430"/>
                          </a:solidFill>
                          <a:latin typeface="Segoe UI"/>
                        </a:rPr>
                        <a:t> capacidad de regeneración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Segoe UI"/>
                        </a:rPr>
                        <a:t>Encoder absoluto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Fn008</a:t>
                      </a:r>
                      <a:r>
                        <a:rPr b="0" lang="en-US" sz="950" spc="-1" strike="noStrike">
                          <a:solidFill>
                            <a:srgbClr val="1c2430"/>
                          </a:solidFill>
                          <a:latin typeface="Segoe UI"/>
                        </a:rPr>
                        <a:t> setup · </a:t>
                      </a:r>
                      <a:r>
                        <a:rPr b="0" lang="en-US" sz="950" spc="-1" strike="noStrike">
                          <a:solidFill>
                            <a:srgbClr val="1c2430"/>
                          </a:solidFill>
                          <a:latin typeface="Consolas"/>
                        </a:rPr>
                        <a:t>Pn205</a:t>
                      </a:r>
                      <a:r>
                        <a:rPr b="0" lang="en-US" sz="950" spc="-1" strike="noStrike">
                          <a:solidFill>
                            <a:srgbClr val="1c2430"/>
                          </a:solidFill>
                          <a:latin typeface="Segoe UI"/>
                        </a:rPr>
                        <a:t> límite multivuelta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Segoe UI"/>
                        </a:rPr>
                        <a:t>Funciones de utilidad</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Fn000</a:t>
                      </a:r>
                      <a:r>
                        <a:rPr b="0" lang="en-US" sz="950" spc="-1" strike="noStrike">
                          <a:solidFill>
                            <a:srgbClr val="1c2430"/>
                          </a:solidFill>
                          <a:latin typeface="Segoe UI"/>
                        </a:rPr>
                        <a:t> historial de alarmas · </a:t>
                      </a:r>
                      <a:r>
                        <a:rPr b="0" lang="en-US" sz="950" spc="-1" strike="noStrike">
                          <a:solidFill>
                            <a:srgbClr val="1c2430"/>
                          </a:solidFill>
                          <a:latin typeface="Consolas"/>
                        </a:rPr>
                        <a:t>Fn002</a:t>
                      </a:r>
                      <a:r>
                        <a:rPr b="0" lang="en-US" sz="950" spc="-1" strike="noStrike">
                          <a:solidFill>
                            <a:srgbClr val="1c2430"/>
                          </a:solidFill>
                          <a:latin typeface="Segoe UI"/>
                        </a:rPr>
                        <a:t> JOG · </a:t>
                      </a:r>
                      <a:r>
                        <a:rPr b="0" lang="en-US" sz="950" spc="-1" strike="noStrike">
                          <a:solidFill>
                            <a:srgbClr val="1c2430"/>
                          </a:solidFill>
                          <a:latin typeface="Consolas"/>
                        </a:rPr>
                        <a:t>Fn004</a:t>
                      </a:r>
                      <a:r>
                        <a:rPr b="0" lang="en-US" sz="950" spc="-1" strike="noStrike">
                          <a:solidFill>
                            <a:srgbClr val="1c2430"/>
                          </a:solidFill>
                          <a:latin typeface="Segoe UI"/>
                        </a:rPr>
                        <a:t> JOG programado · </a:t>
                      </a:r>
                      <a:r>
                        <a:rPr b="0" lang="en-US" sz="950" spc="-1" strike="noStrike">
                          <a:solidFill>
                            <a:srgbClr val="1c2430"/>
                          </a:solidFill>
                          <a:latin typeface="Consolas"/>
                        </a:rPr>
                        <a:t>Fn005</a:t>
                      </a:r>
                      <a:r>
                        <a:rPr b="0" lang="en-US" sz="950" spc="-1" strike="noStrike">
                          <a:solidFill>
                            <a:srgbClr val="1c2430"/>
                          </a:solidFill>
                          <a:latin typeface="Segoe UI"/>
                        </a:rPr>
                        <a:t> inicialización · </a:t>
                      </a:r>
                      <a:r>
                        <a:rPr b="0" lang="en-US" sz="950" spc="-1" strike="noStrike">
                          <a:solidFill>
                            <a:srgbClr val="1c2430"/>
                          </a:solidFill>
                          <a:latin typeface="Consolas"/>
                        </a:rPr>
                        <a:t>Fn201</a:t>
                      </a:r>
                      <a:r>
                        <a:rPr b="0" lang="en-US" sz="950" spc="-1" strike="noStrike">
                          <a:solidFill>
                            <a:srgbClr val="1c2430"/>
                          </a:solidFill>
                          <a:latin typeface="Segoe UI"/>
                        </a:rPr>
                        <a:t> autoajuste avanzado · </a:t>
                      </a:r>
                      <a:r>
                        <a:rPr b="0" lang="en-US" sz="950" spc="-1" strike="noStrike">
                          <a:solidFill>
                            <a:srgbClr val="1c2430"/>
                          </a:solidFill>
                          <a:latin typeface="Consolas"/>
                        </a:rPr>
                        <a:t>Fn202</a:t>
                      </a:r>
                      <a:r>
                        <a:rPr b="0" lang="en-US" sz="950" spc="-1" strike="noStrike">
                          <a:solidFill>
                            <a:srgbClr val="1c2430"/>
                          </a:solidFill>
                          <a:latin typeface="Segoe UI"/>
                        </a:rPr>
                        <a:t> autoajuste con referencia · </a:t>
                      </a:r>
                      <a:r>
                        <a:rPr b="0" lang="en-US" sz="950" spc="-1" strike="noStrike">
                          <a:solidFill>
                            <a:srgbClr val="1c2430"/>
                          </a:solidFill>
                          <a:latin typeface="Consolas"/>
                        </a:rPr>
                        <a:t>Fn203</a:t>
                      </a:r>
                      <a:r>
                        <a:rPr b="0" lang="en-US" sz="950" spc="-1" strike="noStrike">
                          <a:solidFill>
                            <a:srgbClr val="1c2430"/>
                          </a:solidFill>
                          <a:latin typeface="Segoe UI"/>
                        </a:rPr>
                        <a:t> ajuste de un parámetro · </a:t>
                      </a:r>
                      <a:r>
                        <a:rPr b="0" lang="en-US" sz="950" spc="-1" strike="noStrike">
                          <a:solidFill>
                            <a:srgbClr val="1c2430"/>
                          </a:solidFill>
                          <a:latin typeface="Consolas"/>
                        </a:rPr>
                        <a:t>Fn205</a:t>
                      </a:r>
                      <a:r>
                        <a:rPr b="0" lang="en-US" sz="950" spc="-1" strike="noStrike">
                          <a:solidFill>
                            <a:srgbClr val="1c2430"/>
                          </a:solidFill>
                          <a:latin typeface="Segoe UI"/>
                        </a:rPr>
                        <a:t> supresión de vibración · </a:t>
                      </a:r>
                      <a:r>
                        <a:rPr b="0" lang="en-US" sz="950" spc="-1" strike="noStrike">
                          <a:solidFill>
                            <a:srgbClr val="1c2430"/>
                          </a:solidFill>
                          <a:latin typeface="Consolas"/>
                        </a:rPr>
                        <a:t>Fn206</a:t>
                      </a:r>
                      <a:r>
                        <a:rPr b="0" lang="en-US" sz="950" spc="-1" strike="noStrike">
                          <a:solidFill>
                            <a:srgbClr val="1c2430"/>
                          </a:solidFill>
                          <a:latin typeface="Segoe UI"/>
                        </a:rPr>
                        <a:t> análisis en frecuencia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defTabSz="457200">
                        <a:lnSpc>
                          <a:spcPct val="100000"/>
                        </a:lnSpc>
                      </a:pPr>
                      <a:r>
                        <a:rPr b="0" lang="en-US" sz="950" spc="-1" strike="noStrike">
                          <a:solidFill>
                            <a:srgbClr val="1c2430"/>
                          </a:solidFill>
                          <a:latin typeface="Segoe UI"/>
                        </a:rPr>
                        <a:t>Monitores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Un000</a:t>
                      </a:r>
                      <a:r>
                        <a:rPr b="0" lang="en-US" sz="950" spc="-1" strike="noStrike">
                          <a:solidFill>
                            <a:srgbClr val="1c2430"/>
                          </a:solidFill>
                          <a:latin typeface="Segoe UI"/>
                        </a:rPr>
                        <a:t> velocidad · </a:t>
                      </a:r>
                      <a:r>
                        <a:rPr b="0" lang="en-US" sz="950" spc="-1" strike="noStrike">
                          <a:solidFill>
                            <a:srgbClr val="1c2430"/>
                          </a:solidFill>
                          <a:latin typeface="Consolas"/>
                        </a:rPr>
                        <a:t>Un002</a:t>
                      </a:r>
                      <a:r>
                        <a:rPr b="0" lang="en-US" sz="950" spc="-1" strike="noStrike">
                          <a:solidFill>
                            <a:srgbClr val="1c2430"/>
                          </a:solidFill>
                          <a:latin typeface="Segoe UI"/>
                        </a:rPr>
                        <a:t> par · </a:t>
                      </a:r>
                      <a:r>
                        <a:rPr b="0" lang="en-US" sz="950" spc="-1" strike="noStrike">
                          <a:solidFill>
                            <a:srgbClr val="1c2430"/>
                          </a:solidFill>
                          <a:latin typeface="Consolas"/>
                        </a:rPr>
                        <a:t>Un005</a:t>
                      </a:r>
                      <a:r>
                        <a:rPr b="0" lang="en-US" sz="950" spc="-1" strike="noStrike">
                          <a:solidFill>
                            <a:srgbClr val="1c2430"/>
                          </a:solidFill>
                          <a:latin typeface="Segoe UI"/>
                        </a:rPr>
                        <a:t>/</a:t>
                      </a:r>
                      <a:r>
                        <a:rPr b="0" lang="en-US" sz="950" spc="-1" strike="noStrike">
                          <a:solidFill>
                            <a:srgbClr val="1c2430"/>
                          </a:solidFill>
                          <a:latin typeface="Consolas"/>
                        </a:rPr>
                        <a:t>Un006</a:t>
                      </a:r>
                      <a:r>
                        <a:rPr b="0" lang="en-US" sz="950" spc="-1" strike="noStrike">
                          <a:solidFill>
                            <a:srgbClr val="1c2430"/>
                          </a:solidFill>
                          <a:latin typeface="Segoe UI"/>
                        </a:rPr>
                        <a:t> E/S · </a:t>
                      </a:r>
                      <a:r>
                        <a:rPr b="0" lang="en-US" sz="950" spc="-1" strike="noStrike">
                          <a:solidFill>
                            <a:srgbClr val="1c2430"/>
                          </a:solidFill>
                          <a:latin typeface="Consolas"/>
                        </a:rPr>
                        <a:t>Un007</a:t>
                      </a:r>
                      <a:r>
                        <a:rPr b="0" lang="en-US" sz="950" spc="-1" strike="noStrike">
                          <a:solidFill>
                            <a:srgbClr val="1c2430"/>
                          </a:solidFill>
                          <a:latin typeface="Segoe UI"/>
                        </a:rPr>
                        <a:t> consigna de pulsos · </a:t>
                      </a:r>
                      <a:r>
                        <a:rPr b="0" lang="en-US" sz="950" spc="-1" strike="noStrike">
                          <a:solidFill>
                            <a:srgbClr val="1c2430"/>
                          </a:solidFill>
                          <a:latin typeface="Consolas"/>
                        </a:rPr>
                        <a:t>Un008</a:t>
                      </a:r>
                      <a:r>
                        <a:rPr b="0" lang="en-US" sz="950" spc="-1" strike="noStrike">
                          <a:solidFill>
                            <a:srgbClr val="1c2430"/>
                          </a:solidFill>
                          <a:latin typeface="Segoe UI"/>
                        </a:rPr>
                        <a:t> error de posición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Tree>
  </p:cSld>
  <mc:AlternateContent>
    <mc:Choice Requires="p14">
      <p:transition spd="slow" p14:dur="2000"/>
    </mc:Choice>
    <mc:Fallback>
      <p:transition spd="slow"/>
    </mc:Fallback>
  </mc:AlternateContent>
</p:sld>
</file>

<file path=ppt/slides/slide1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6"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87"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988"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Ficha rápida — Familias de alarma</a:t>
            </a:r>
            <a:endParaRPr b="0" lang="en-US" sz="2500" spc="-1" strike="noStrike">
              <a:solidFill>
                <a:srgbClr val="000000"/>
              </a:solidFill>
              <a:latin typeface="Arial"/>
            </a:endParaRPr>
          </a:p>
        </p:txBody>
      </p:sp>
      <p:sp>
        <p:nvSpPr>
          <p:cNvPr id="2989"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Identifica la familia y habrás acotado el 80 % del problema</a:t>
            </a:r>
            <a:endParaRPr b="0" lang="en-US" sz="1250" spc="-1" strike="noStrike">
              <a:solidFill>
                <a:srgbClr val="000000"/>
              </a:solidFill>
              <a:latin typeface="Arial"/>
            </a:endParaRPr>
          </a:p>
        </p:txBody>
      </p:sp>
      <p:sp>
        <p:nvSpPr>
          <p:cNvPr id="2990"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13</a:t>
            </a:r>
            <a:endParaRPr b="0" lang="en-US" sz="1100" spc="-1" strike="noStrike">
              <a:solidFill>
                <a:srgbClr val="000000"/>
              </a:solidFill>
              <a:latin typeface="Arial"/>
            </a:endParaRPr>
          </a:p>
        </p:txBody>
      </p:sp>
      <p:sp>
        <p:nvSpPr>
          <p:cNvPr id="2991"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2992"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151</a:t>
            </a:r>
            <a:endParaRPr b="0" lang="en-US" sz="900" spc="-1" strike="noStrike">
              <a:solidFill>
                <a:srgbClr val="000000"/>
              </a:solidFill>
              <a:latin typeface="Arial"/>
            </a:endParaRPr>
          </a:p>
        </p:txBody>
      </p:sp>
      <p:graphicFrame>
        <p:nvGraphicFramePr>
          <p:cNvPr id="2993" name="Table 8"/>
          <p:cNvGraphicFramePr/>
          <p:nvPr/>
        </p:nvGraphicFramePr>
        <p:xfrm>
          <a:off x="567000" y="1481400"/>
          <a:ext cx="11057400" cy="4845960"/>
        </p:xfrm>
        <a:graphic>
          <a:graphicData uri="http://schemas.openxmlformats.org/drawingml/2006/table">
            <a:tbl>
              <a:tblPr/>
              <a:tblGrid>
                <a:gridCol w="1279080"/>
                <a:gridCol w="3929400"/>
                <a:gridCol w="584856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Prefijo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Ámbito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Primera pregunta que hay que hacerse</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Consolas"/>
                        </a:rPr>
                        <a:t>A.0__</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Parámetros, memoria interna y combinación de equipos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¿Se ha cambiado algún equipo o se ha interrumpido una escritura?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Consolas"/>
                        </a:rPr>
                        <a:t>A.1__</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Sobrecorriente y etapa de potencia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¿Hay cortocircuito en el cable o en el motor?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Consolas"/>
                        </a:rPr>
                        <a:t>A.3__</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Circuito de regeneración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¿Está bien el puente </a:t>
                      </a:r>
                      <a:r>
                        <a:rPr b="0" lang="en-US" sz="950" spc="-1" strike="noStrike">
                          <a:solidFill>
                            <a:srgbClr val="1c2430"/>
                          </a:solidFill>
                          <a:latin typeface="Consolas"/>
                        </a:rPr>
                        <a:t>B2</a:t>
                      </a:r>
                      <a:r>
                        <a:rPr b="0" lang="en-US" sz="950" spc="-1" strike="noStrike">
                          <a:solidFill>
                            <a:srgbClr val="1c2430"/>
                          </a:solidFill>
                          <a:latin typeface="Segoe UI"/>
                        </a:rPr>
                        <a:t>-</a:t>
                      </a:r>
                      <a:r>
                        <a:rPr b="0" lang="en-US" sz="950" spc="-1" strike="noStrike">
                          <a:solidFill>
                            <a:srgbClr val="1c2430"/>
                          </a:solidFill>
                          <a:latin typeface="Consolas"/>
                        </a:rPr>
                        <a:t>B3</a:t>
                      </a:r>
                      <a:r>
                        <a:rPr b="0" lang="en-US" sz="950" spc="-1" strike="noStrike">
                          <a:solidFill>
                            <a:srgbClr val="1c2430"/>
                          </a:solidFill>
                          <a:latin typeface="Segoe UI"/>
                        </a:rPr>
                        <a:t> o la resistencia externa?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Consolas"/>
                        </a:rPr>
                        <a:t>A.4__</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Tensión del bus (sobre o subtensión)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¿Cómo está la red? ¿Se frena demasiado enérgicamente?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Consolas"/>
                        </a:rPr>
                        <a:t>A.5__</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Velocidad excesiva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¿Están bien las fases del motor y el engranaje electrónico?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Consolas"/>
                        </a:rPr>
                        <a:t>A.7__</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Sobrecarga y temperatura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¿Cuánto par pide realmente el eje (</a:t>
                      </a:r>
                      <a:r>
                        <a:rPr b="0" lang="en-US" sz="950" spc="-1" strike="noStrike">
                          <a:solidFill>
                            <a:srgbClr val="1c2430"/>
                          </a:solidFill>
                          <a:latin typeface="Consolas"/>
                        </a:rPr>
                        <a:t>Un002</a:t>
                      </a:r>
                      <a:r>
                        <a:rPr b="0" lang="en-US" sz="950" spc="-1" strike="noStrike">
                          <a:solidFill>
                            <a:srgbClr val="1c2430"/>
                          </a:solidFill>
                          <a:latin typeface="Segoe UI"/>
                        </a:rPr>
                        <a:t>)?</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Consolas"/>
                        </a:rPr>
                        <a:t>A.8__</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Encoder absoluto y batería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¿Cuándo se cambió la batería por última vez?</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Consolas"/>
                        </a:rPr>
                        <a:t>A.9__</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Avisos</a:t>
                      </a:r>
                      <a:r>
                        <a:rPr b="0" lang="en-US" sz="950" spc="-1" strike="noStrike">
                          <a:solidFill>
                            <a:srgbClr val="1c2430"/>
                          </a:solidFill>
                          <a:latin typeface="Segoe UI"/>
                        </a:rPr>
                        <a:t> (el eje sigue funcionando)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¿Qué me está anticipando el drive?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Consolas"/>
                        </a:rPr>
                        <a:t>A.C__</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Comunicación con el encoder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¿Cable original, apantallado y separado de la potencia?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Consolas"/>
                        </a:rPr>
                        <a:t>A.d__</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Exceso de error de posición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¿Hay atasco mecánico o el eje está mal dimensionado?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Consolas"/>
                        </a:rPr>
                        <a:t>A.E__</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Comunicación de bus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¿Qué dicen los contadores de error del maestro?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74760">
                <a:tc>
                  <a:txBody>
                    <a:bodyPr lIns="82080" rIns="82080" tIns="27360" bIns="27360" anchor="ctr">
                      <a:noAutofit/>
                    </a:bodyPr>
                    <a:p>
                      <a:pPr defTabSz="457200">
                        <a:lnSpc>
                          <a:spcPct val="100000"/>
                        </a:lnSpc>
                      </a:pPr>
                      <a:r>
                        <a:rPr b="0" lang="en-US" sz="950" spc="-1" strike="noStrike">
                          <a:solidFill>
                            <a:srgbClr val="1c2430"/>
                          </a:solidFill>
                          <a:latin typeface="Consolas"/>
                        </a:rPr>
                        <a:t>A.F__</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Alimentación principal (falta de fase)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¿Están las tres fases presentes en los bornes?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Tree>
  </p:cSld>
  <mc:AlternateContent>
    <mc:Choice Requires="p14">
      <p:transition spd="slow" p14:dur="2000"/>
    </mc:Choice>
    <mc:Fallback>
      <p:transition spd="slow"/>
    </mc:Fallback>
  </mc:AlternateContent>
</p:sld>
</file>

<file path=ppt/slides/slide1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94"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995"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2996"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Lista de verificación imprimible</a:t>
            </a:r>
            <a:endParaRPr b="0" lang="en-US" sz="2500" spc="-1" strike="noStrike">
              <a:solidFill>
                <a:srgbClr val="000000"/>
              </a:solidFill>
              <a:latin typeface="Arial"/>
            </a:endParaRPr>
          </a:p>
        </p:txBody>
      </p:sp>
      <p:sp>
        <p:nvSpPr>
          <p:cNvPr id="2997"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Imprime, plastifica y guarda en el maletín</a:t>
            </a:r>
            <a:endParaRPr b="0" lang="en-US" sz="1250" spc="-1" strike="noStrike">
              <a:solidFill>
                <a:srgbClr val="000000"/>
              </a:solidFill>
              <a:latin typeface="Arial"/>
            </a:endParaRPr>
          </a:p>
        </p:txBody>
      </p:sp>
      <p:sp>
        <p:nvSpPr>
          <p:cNvPr id="2998"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13</a:t>
            </a:r>
            <a:endParaRPr b="0" lang="en-US" sz="1100" spc="-1" strike="noStrike">
              <a:solidFill>
                <a:srgbClr val="000000"/>
              </a:solidFill>
              <a:latin typeface="Arial"/>
            </a:endParaRPr>
          </a:p>
        </p:txBody>
      </p:sp>
      <p:sp>
        <p:nvSpPr>
          <p:cNvPr id="2999"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3000"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152</a:t>
            </a:r>
            <a:endParaRPr b="0" lang="en-US" sz="900" spc="-1" strike="noStrike">
              <a:solidFill>
                <a:srgbClr val="000000"/>
              </a:solidFill>
              <a:latin typeface="Arial"/>
            </a:endParaRPr>
          </a:p>
        </p:txBody>
      </p:sp>
      <p:sp>
        <p:nvSpPr>
          <p:cNvPr id="3001" name="Rectangle 8"/>
          <p:cNvSpPr/>
          <p:nvPr/>
        </p:nvSpPr>
        <p:spPr>
          <a:xfrm>
            <a:off x="567000" y="1481400"/>
            <a:ext cx="5373000" cy="48459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02" name="Rectangle 9"/>
          <p:cNvSpPr/>
          <p:nvPr/>
        </p:nvSpPr>
        <p:spPr>
          <a:xfrm>
            <a:off x="567000" y="1481400"/>
            <a:ext cx="5373000" cy="4201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03"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Antes de energizar</a:t>
            </a:r>
            <a:endParaRPr b="0" lang="en-US" sz="1350" spc="-1" strike="noStrike">
              <a:solidFill>
                <a:srgbClr val="000000"/>
              </a:solidFill>
              <a:latin typeface="Arial"/>
            </a:endParaRPr>
          </a:p>
        </p:txBody>
      </p:sp>
      <p:sp>
        <p:nvSpPr>
          <p:cNvPr id="3004" name="TextBox 11"/>
          <p:cNvSpPr/>
          <p:nvPr/>
        </p:nvSpPr>
        <p:spPr>
          <a:xfrm>
            <a:off x="768240" y="2048400"/>
            <a:ext cx="4970880" cy="386028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Modelos de drive y motor coinciden y son combinación homologada.</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Tensión de red medida y dentro de rango.</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Consolas"/>
              </a:rPr>
              <a:t>L1</a:t>
            </a:r>
            <a:r>
              <a:rPr b="1" lang="en-US" sz="1150" spc="-1" strike="noStrike">
                <a:solidFill>
                  <a:srgbClr val="1c2430"/>
                </a:solidFill>
                <a:latin typeface="Segoe UI"/>
              </a:rPr>
              <a:t> </a:t>
            </a:r>
            <a:r>
              <a:rPr b="1" lang="en-US" sz="1150" spc="-1" strike="noStrike">
                <a:solidFill>
                  <a:srgbClr val="1c2430"/>
                </a:solidFill>
                <a:latin typeface="Consolas"/>
              </a:rPr>
              <a:t>L2</a:t>
            </a:r>
            <a:r>
              <a:rPr b="1" lang="en-US" sz="1150" spc="-1" strike="noStrike">
                <a:solidFill>
                  <a:srgbClr val="1c2430"/>
                </a:solidFill>
                <a:latin typeface="Segoe UI"/>
              </a:rPr>
              <a:t> </a:t>
            </a:r>
            <a:r>
              <a:rPr b="1" lang="en-US" sz="1150" spc="-1" strike="noStrike">
                <a:solidFill>
                  <a:srgbClr val="1c2430"/>
                </a:solidFill>
                <a:latin typeface="Consolas"/>
              </a:rPr>
              <a:t>L3</a:t>
            </a:r>
            <a:r>
              <a:rPr b="1" lang="en-US" sz="1150" spc="-1" strike="noStrike">
                <a:solidFill>
                  <a:srgbClr val="1c2430"/>
                </a:solidFill>
                <a:latin typeface="Segoe UI"/>
              </a:rPr>
              <a:t> y </a:t>
            </a:r>
            <a:r>
              <a:rPr b="1" lang="en-US" sz="1150" spc="-1" strike="noStrike">
                <a:solidFill>
                  <a:srgbClr val="1c2430"/>
                </a:solidFill>
                <a:latin typeface="Consolas"/>
              </a:rPr>
              <a:t>L1C</a:t>
            </a:r>
            <a:r>
              <a:rPr b="1" lang="en-US" sz="1150" spc="-1" strike="noStrike">
                <a:solidFill>
                  <a:srgbClr val="1c2430"/>
                </a:solidFill>
                <a:latin typeface="Segoe UI"/>
              </a:rPr>
              <a:t> </a:t>
            </a:r>
            <a:r>
              <a:rPr b="1" lang="en-US" sz="1150" spc="-1" strike="noStrike">
                <a:solidFill>
                  <a:srgbClr val="1c2430"/>
                </a:solidFill>
                <a:latin typeface="Consolas"/>
              </a:rPr>
              <a:t>L2C</a:t>
            </a:r>
            <a:r>
              <a:rPr b="1" lang="en-US" sz="1150" spc="-1" strike="noStrike">
                <a:solidFill>
                  <a:srgbClr val="1c2430"/>
                </a:solidFill>
                <a:latin typeface="Segoe UI"/>
              </a:rPr>
              <a:t> correctamente conectados.</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Ninguna fase de red en </a:t>
            </a:r>
            <a:r>
              <a:rPr b="1" lang="en-US" sz="1150" spc="-1" strike="noStrike">
                <a:solidFill>
                  <a:srgbClr val="1c2430"/>
                </a:solidFill>
                <a:latin typeface="Consolas"/>
              </a:rPr>
              <a:t>U</a:t>
            </a:r>
            <a:r>
              <a:rPr b="1" lang="en-US" sz="1150" spc="-1" strike="noStrike">
                <a:solidFill>
                  <a:srgbClr val="1c2430"/>
                </a:solidFill>
                <a:latin typeface="Segoe UI"/>
              </a:rPr>
              <a:t> </a:t>
            </a:r>
            <a:r>
              <a:rPr b="1" lang="en-US" sz="1150" spc="-1" strike="noStrike">
                <a:solidFill>
                  <a:srgbClr val="1c2430"/>
                </a:solidFill>
                <a:latin typeface="Consolas"/>
              </a:rPr>
              <a:t>V</a:t>
            </a:r>
            <a:r>
              <a:rPr b="1" lang="en-US" sz="1150" spc="-1" strike="noStrike">
                <a:solidFill>
                  <a:srgbClr val="1c2430"/>
                </a:solidFill>
                <a:latin typeface="Segoe UI"/>
              </a:rPr>
              <a:t> </a:t>
            </a:r>
            <a:r>
              <a:rPr b="1" lang="en-US" sz="1150" spc="-1" strike="noStrike">
                <a:solidFill>
                  <a:srgbClr val="1c2430"/>
                </a:solidFill>
                <a:latin typeface="Consolas"/>
              </a:rPr>
              <a:t>W</a:t>
            </a:r>
            <a:r>
              <a:rPr b="1" lang="en-US" sz="1150" spc="-1" strike="noStrike">
                <a:solidFill>
                  <a:srgbClr val="1c2430"/>
                </a:solidFill>
                <a:latin typeface="Segoe UI"/>
              </a:rPr>
              <a:t>.</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Tierra del drive y del motor con continuidad verificada.</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Puente </a:t>
            </a:r>
            <a:r>
              <a:rPr b="1" lang="en-US" sz="1150" spc="-1" strike="noStrike">
                <a:solidFill>
                  <a:srgbClr val="1c2430"/>
                </a:solidFill>
                <a:latin typeface="Consolas"/>
              </a:rPr>
              <a:t>B2</a:t>
            </a:r>
            <a:r>
              <a:rPr b="1" lang="en-US" sz="1150" spc="-1" strike="noStrike">
                <a:solidFill>
                  <a:srgbClr val="1c2430"/>
                </a:solidFill>
                <a:latin typeface="Segoe UI"/>
              </a:rPr>
              <a:t>-</a:t>
            </a:r>
            <a:r>
              <a:rPr b="1" lang="en-US" sz="1150" spc="-1" strike="noStrike">
                <a:solidFill>
                  <a:srgbClr val="1c2430"/>
                </a:solidFill>
                <a:latin typeface="Consolas"/>
              </a:rPr>
              <a:t>B3</a:t>
            </a:r>
            <a:r>
              <a:rPr b="1" lang="en-US" sz="1150" spc="-1" strike="noStrike">
                <a:solidFill>
                  <a:srgbClr val="1c2430"/>
                </a:solidFill>
                <a:latin typeface="Segoe UI"/>
              </a:rPr>
              <a:t> o resistencia externa según cálculo.</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Cable de encoder en </a:t>
            </a:r>
            <a:r>
              <a:rPr b="1" lang="en-US" sz="1150" spc="-1" strike="noStrike">
                <a:solidFill>
                  <a:srgbClr val="1c2430"/>
                </a:solidFill>
                <a:latin typeface="Consolas"/>
              </a:rPr>
              <a:t>CN2</a:t>
            </a:r>
            <a:r>
              <a:rPr b="1" lang="en-US" sz="1150" spc="-1" strike="noStrike">
                <a:solidFill>
                  <a:srgbClr val="1c2430"/>
                </a:solidFill>
                <a:latin typeface="Segoe UI"/>
              </a:rPr>
              <a:t>, malla a tierra, separado de potencia.</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Consolas"/>
              </a:rPr>
              <a:t>+24VIN</a:t>
            </a:r>
            <a:r>
              <a:rPr b="1" lang="en-US" sz="1150" spc="-1" strike="noStrike">
                <a:solidFill>
                  <a:srgbClr val="1c2430"/>
                </a:solidFill>
                <a:latin typeface="Segoe UI"/>
              </a:rPr>
              <a:t> alimentado y cableado de </a:t>
            </a:r>
            <a:r>
              <a:rPr b="1" lang="en-US" sz="1150" spc="-1" strike="noStrike">
                <a:solidFill>
                  <a:srgbClr val="1c2430"/>
                </a:solidFill>
                <a:latin typeface="Consolas"/>
              </a:rPr>
              <a:t>CN1</a:t>
            </a:r>
            <a:r>
              <a:rPr b="1" lang="en-US" sz="1150" spc="-1" strike="noStrike">
                <a:solidFill>
                  <a:srgbClr val="1c2430"/>
                </a:solidFill>
                <a:latin typeface="Segoe UI"/>
              </a:rPr>
              <a:t> verificado.</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Consolas"/>
              </a:rPr>
              <a:t>CN8</a:t>
            </a:r>
            <a:r>
              <a:rPr b="1" lang="en-US" sz="1150" spc="-1" strike="noStrike">
                <a:solidFill>
                  <a:srgbClr val="1c2430"/>
                </a:solidFill>
                <a:latin typeface="Segoe UI"/>
              </a:rPr>
              <a:t>: puente original o circuito de seguridad cableado.</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Freno de retención con alimentación propia y supresor.</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Zona mecánica despejada y motor desacoplado.</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Parada de emergencia probada.</a:t>
            </a:r>
            <a:endParaRPr b="0" lang="en-US" sz="1150" spc="-1" strike="noStrike">
              <a:solidFill>
                <a:srgbClr val="000000"/>
              </a:solidFill>
              <a:latin typeface="Arial"/>
            </a:endParaRPr>
          </a:p>
        </p:txBody>
      </p:sp>
      <p:sp>
        <p:nvSpPr>
          <p:cNvPr id="3005" name="Rectangle 12"/>
          <p:cNvSpPr/>
          <p:nvPr/>
        </p:nvSpPr>
        <p:spPr>
          <a:xfrm>
            <a:off x="6251400" y="1481400"/>
            <a:ext cx="5373000" cy="48459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06" name="Rectangle 13"/>
          <p:cNvSpPr/>
          <p:nvPr/>
        </p:nvSpPr>
        <p:spPr>
          <a:xfrm>
            <a:off x="6251400" y="1481400"/>
            <a:ext cx="5373000" cy="42012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07"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Antes de dar por terminada la puesta en marcha</a:t>
            </a:r>
            <a:endParaRPr b="0" lang="en-US" sz="1350" spc="-1" strike="noStrike">
              <a:solidFill>
                <a:srgbClr val="000000"/>
              </a:solidFill>
              <a:latin typeface="Arial"/>
            </a:endParaRPr>
          </a:p>
        </p:txBody>
      </p:sp>
      <p:sp>
        <p:nvSpPr>
          <p:cNvPr id="3008" name="TextBox 15"/>
          <p:cNvSpPr/>
          <p:nvPr/>
        </p:nvSpPr>
        <p:spPr>
          <a:xfrm>
            <a:off x="6452640" y="2048400"/>
            <a:ext cx="4970880" cy="367452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JOG en ambos sentidos suave y silencioso.</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Sentido de giro correcto ajustado con </a:t>
            </a:r>
            <a:r>
              <a:rPr b="1" lang="en-US" sz="1150" spc="-1" strike="noStrike">
                <a:solidFill>
                  <a:srgbClr val="1c2430"/>
                </a:solidFill>
                <a:latin typeface="Consolas"/>
              </a:rPr>
              <a:t>Pn000.0</a:t>
            </a:r>
            <a:r>
              <a:rPr b="1" lang="en-US" sz="1150" spc="-1" strike="noStrike">
                <a:solidFill>
                  <a:srgbClr val="1c2430"/>
                </a:solidFill>
                <a:latin typeface="Segoe UI"/>
              </a:rPr>
              <a:t>.</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Engranaje electrónico verificado midiendo un desplazamiento.</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Finales de carrera probados físicamente.</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Consolas"/>
              </a:rPr>
              <a:t>Fn008</a:t>
            </a:r>
            <a:r>
              <a:rPr b="1" lang="en-US" sz="1150" spc="-1" strike="noStrike">
                <a:solidFill>
                  <a:srgbClr val="1c2430"/>
                </a:solidFill>
                <a:latin typeface="Segoe UI"/>
              </a:rPr>
              <a:t> ejecutado y origen documentado.</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Autoajuste realizado con la carga real.</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Ciclo real ejecutado al menos 30 minutos sin alarmas.</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Par RMS y de pico medidos y comparados con el cálculo.</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HWBB probado y tiempo de parada medido.</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Freno de retención verificado (agarra y no arrastra).</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Ficheros de parámetros guardados y archivados.</a:t>
            </a:r>
            <a:endParaRPr b="0" lang="en-US" sz="115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50" spc="-1" strike="noStrike">
                <a:solidFill>
                  <a:srgbClr val="1c2430"/>
                </a:solidFill>
                <a:latin typeface="Segoe UI"/>
              </a:rPr>
              <a:t>☐ </a:t>
            </a:r>
            <a:r>
              <a:rPr b="1" lang="en-US" sz="1150" spc="-1" strike="noStrike">
                <a:solidFill>
                  <a:srgbClr val="1c2430"/>
                </a:solidFill>
                <a:latin typeface="Segoe UI"/>
              </a:rPr>
              <a:t>Acta del eje rellenada y firmada.</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09"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10"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3011"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Glosario</a:t>
            </a:r>
            <a:endParaRPr b="0" lang="en-US" sz="2500" spc="-1" strike="noStrike">
              <a:solidFill>
                <a:srgbClr val="000000"/>
              </a:solidFill>
              <a:latin typeface="Arial"/>
            </a:endParaRPr>
          </a:p>
        </p:txBody>
      </p:sp>
      <p:sp>
        <p:nvSpPr>
          <p:cNvPr id="3012"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Vocabulario del curso</a:t>
            </a:r>
            <a:endParaRPr b="0" lang="en-US" sz="1250" spc="-1" strike="noStrike">
              <a:solidFill>
                <a:srgbClr val="000000"/>
              </a:solidFill>
              <a:latin typeface="Arial"/>
            </a:endParaRPr>
          </a:p>
        </p:txBody>
      </p:sp>
      <p:sp>
        <p:nvSpPr>
          <p:cNvPr id="3013"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13</a:t>
            </a:r>
            <a:endParaRPr b="0" lang="en-US" sz="1100" spc="-1" strike="noStrike">
              <a:solidFill>
                <a:srgbClr val="000000"/>
              </a:solidFill>
              <a:latin typeface="Arial"/>
            </a:endParaRPr>
          </a:p>
        </p:txBody>
      </p:sp>
      <p:sp>
        <p:nvSpPr>
          <p:cNvPr id="3014"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3015"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153</a:t>
            </a:r>
            <a:endParaRPr b="0" lang="en-US" sz="900" spc="-1" strike="noStrike">
              <a:solidFill>
                <a:srgbClr val="000000"/>
              </a:solidFill>
              <a:latin typeface="Arial"/>
            </a:endParaRPr>
          </a:p>
        </p:txBody>
      </p:sp>
      <p:graphicFrame>
        <p:nvGraphicFramePr>
          <p:cNvPr id="3016" name="Table 8"/>
          <p:cNvGraphicFramePr/>
          <p:nvPr/>
        </p:nvGraphicFramePr>
        <p:xfrm>
          <a:off x="567000" y="1481400"/>
          <a:ext cx="11057400" cy="4845960"/>
        </p:xfrm>
        <a:graphic>
          <a:graphicData uri="http://schemas.openxmlformats.org/drawingml/2006/table">
            <a:tbl>
              <a:tblPr/>
              <a:tblGrid>
                <a:gridCol w="2376000"/>
                <a:gridCol w="8681760"/>
              </a:tblGrid>
              <a:tr h="347400">
                <a:tc>
                  <a:txBody>
                    <a:bodyPr lIns="82080" rIns="82080" tIns="27360" bIns="27360" anchor="ctr">
                      <a:noAutofit/>
                    </a:bodyPr>
                    <a:p>
                      <a:pPr defTabSz="457200">
                        <a:lnSpc>
                          <a:spcPct val="100000"/>
                        </a:lnSpc>
                      </a:pPr>
                      <a:r>
                        <a:rPr b="1" lang="en-US" sz="950" spc="-1" strike="noStrike">
                          <a:solidFill>
                            <a:srgbClr val="ffffff"/>
                          </a:solidFill>
                          <a:latin typeface="Segoe UI"/>
                        </a:rPr>
                        <a:t>Término</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Definición</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321120">
                <a:tc>
                  <a:txBody>
                    <a:bodyPr lIns="82080" rIns="82080" tIns="27360" bIns="27360" anchor="ctr">
                      <a:noAutofit/>
                    </a:bodyPr>
                    <a:p>
                      <a:pPr defTabSz="457200">
                        <a:lnSpc>
                          <a:spcPct val="100000"/>
                        </a:lnSpc>
                      </a:pPr>
                      <a:r>
                        <a:rPr b="0" lang="en-US" sz="950" spc="-1" strike="noStrike">
                          <a:solidFill>
                            <a:srgbClr val="1c2430"/>
                          </a:solidFill>
                          <a:latin typeface="Segoe UI"/>
                        </a:rPr>
                        <a:t>Baseblock</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Estado en que los transistores de salida están bloqueados: el motor no recibe par y queda libre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21120">
                <a:tc>
                  <a:txBody>
                    <a:bodyPr lIns="82080" rIns="82080" tIns="27360" bIns="27360" anchor="ctr">
                      <a:noAutofit/>
                    </a:bodyPr>
                    <a:p>
                      <a:pPr defTabSz="457200">
                        <a:lnSpc>
                          <a:spcPct val="100000"/>
                        </a:lnSpc>
                      </a:pPr>
                      <a:r>
                        <a:rPr b="0" lang="en-US" sz="950" spc="-1" strike="noStrike">
                          <a:solidFill>
                            <a:srgbClr val="1c2430"/>
                          </a:solidFill>
                          <a:latin typeface="Segoe UI"/>
                        </a:rPr>
                        <a:t>EDM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Salida de vigilancia que confirma al módulo de seguridad que el drive ha entrado en estado seguro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21120">
                <a:tc>
                  <a:txBody>
                    <a:bodyPr lIns="82080" rIns="82080" tIns="27360" bIns="27360" anchor="ctr">
                      <a:noAutofit/>
                    </a:bodyPr>
                    <a:p>
                      <a:pPr defTabSz="457200">
                        <a:lnSpc>
                          <a:spcPct val="100000"/>
                        </a:lnSpc>
                      </a:pPr>
                      <a:r>
                        <a:rPr b="0" lang="en-US" sz="950" spc="-1" strike="noStrike">
                          <a:solidFill>
                            <a:srgbClr val="1c2430"/>
                          </a:solidFill>
                          <a:latin typeface="Segoe UI"/>
                        </a:rPr>
                        <a:t>Engranaje electrónico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Relación programable que traduce las unidades de referencia del controlador a cuentas de encoder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21120">
                <a:tc>
                  <a:txBody>
                    <a:bodyPr lIns="82080" rIns="82080" tIns="27360" bIns="27360" anchor="ctr">
                      <a:noAutofit/>
                    </a:bodyPr>
                    <a:p>
                      <a:pPr defTabSz="457200">
                        <a:lnSpc>
                          <a:spcPct val="100000"/>
                        </a:lnSpc>
                      </a:pPr>
                      <a:r>
                        <a:rPr b="0" lang="en-US" sz="950" spc="-1" strike="noStrike">
                          <a:solidFill>
                            <a:srgbClr val="1c2430"/>
                          </a:solidFill>
                          <a:latin typeface="Segoe UI"/>
                        </a:rPr>
                        <a:t>Error de seguimiento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Diferencia entre la posición ordenada y la real durante el movimiento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21120">
                <a:tc>
                  <a:txBody>
                    <a:bodyPr lIns="82080" rIns="82080" tIns="27360" bIns="27360" anchor="ctr">
                      <a:noAutofit/>
                    </a:bodyPr>
                    <a:p>
                      <a:pPr defTabSz="457200">
                        <a:lnSpc>
                          <a:spcPct val="100000"/>
                        </a:lnSpc>
                      </a:pPr>
                      <a:r>
                        <a:rPr b="0" lang="en-US" sz="950" spc="-1" strike="noStrike">
                          <a:solidFill>
                            <a:srgbClr val="1c2430"/>
                          </a:solidFill>
                          <a:latin typeface="Segoe UI"/>
                        </a:rPr>
                        <a:t>f.c.e.m.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Fuerza contraelectromotriz: tensión que genera el motor al girar; limita la velocidad y permite la regeneración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21120">
                <a:tc>
                  <a:txBody>
                    <a:bodyPr lIns="82080" rIns="82080" tIns="27360" bIns="27360" anchor="ctr">
                      <a:noAutofit/>
                    </a:bodyPr>
                    <a:p>
                      <a:pPr defTabSz="457200">
                        <a:lnSpc>
                          <a:spcPct val="100000"/>
                        </a:lnSpc>
                      </a:pPr>
                      <a:r>
                        <a:rPr b="0" lang="en-US" sz="950" spc="-1" strike="noStrike">
                          <a:solidFill>
                            <a:srgbClr val="1c2430"/>
                          </a:solidFill>
                          <a:latin typeface="Segoe UI"/>
                        </a:rPr>
                        <a:t>Freno dinámico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Frenado por cortocircuito controlado de las fases del motor; no mantiene la carga parada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21120">
                <a:tc>
                  <a:txBody>
                    <a:bodyPr lIns="82080" rIns="82080" tIns="27360" bIns="27360" anchor="ctr">
                      <a:noAutofit/>
                    </a:bodyPr>
                    <a:p>
                      <a:pPr defTabSz="457200">
                        <a:lnSpc>
                          <a:spcPct val="100000"/>
                        </a:lnSpc>
                      </a:pPr>
                      <a:r>
                        <a:rPr b="0" lang="en-US" sz="950" spc="-1" strike="noStrike">
                          <a:solidFill>
                            <a:srgbClr val="1c2430"/>
                          </a:solidFill>
                          <a:latin typeface="Segoe UI"/>
                        </a:rPr>
                        <a:t>HWBB</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Hard Wire Baseblock: implementación por hardware de la función de seguridad STO en la Σ-X</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21120">
                <a:tc>
                  <a:txBody>
                    <a:bodyPr lIns="82080" rIns="82080" tIns="27360" bIns="27360" anchor="ctr">
                      <a:noAutofit/>
                    </a:bodyPr>
                    <a:p>
                      <a:pPr defTabSz="457200">
                        <a:lnSpc>
                          <a:spcPct val="100000"/>
                        </a:lnSpc>
                      </a:pPr>
                      <a:r>
                        <a:rPr b="0" lang="en-US" sz="950" spc="-1" strike="noStrike">
                          <a:solidFill>
                            <a:srgbClr val="1c2430"/>
                          </a:solidFill>
                          <a:latin typeface="Segoe UI"/>
                        </a:rPr>
                        <a:t>Notch</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Filtro que elimina una banda estrecha de frecuencias para cancelar una resonancia mecánica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21120">
                <a:tc>
                  <a:txBody>
                    <a:bodyPr lIns="82080" rIns="82080" tIns="27360" bIns="27360" anchor="ctr">
                      <a:noAutofit/>
                    </a:bodyPr>
                    <a:p>
                      <a:pPr defTabSz="457200">
                        <a:lnSpc>
                          <a:spcPct val="100000"/>
                        </a:lnSpc>
                      </a:pPr>
                      <a:r>
                        <a:rPr b="0" lang="en-US" sz="950" spc="-1" strike="noStrike">
                          <a:solidFill>
                            <a:srgbClr val="1c2430"/>
                          </a:solidFill>
                          <a:latin typeface="Segoe UI"/>
                        </a:rPr>
                        <a:t>PMSM</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Motor síncrono de imanes permanentes: el tipo de servomotor empleado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21120">
                <a:tc>
                  <a:txBody>
                    <a:bodyPr lIns="82080" rIns="82080" tIns="27360" bIns="27360" anchor="ctr">
                      <a:noAutofit/>
                    </a:bodyPr>
                    <a:p>
                      <a:pPr defTabSz="457200">
                        <a:lnSpc>
                          <a:spcPct val="100000"/>
                        </a:lnSpc>
                      </a:pPr>
                      <a:r>
                        <a:rPr b="0" lang="en-US" sz="950" spc="-1" strike="noStrike">
                          <a:solidFill>
                            <a:srgbClr val="1c2430"/>
                          </a:solidFill>
                          <a:latin typeface="Segoe UI"/>
                        </a:rPr>
                        <a:t>Regeneración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Energía devuelta por el motor al frenar, que debe disiparse o reinyectarse</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21120">
                <a:tc>
                  <a:txBody>
                    <a:bodyPr lIns="82080" rIns="82080" tIns="27360" bIns="27360" anchor="ctr">
                      <a:noAutofit/>
                    </a:bodyPr>
                    <a:p>
                      <a:pPr defTabSz="457200">
                        <a:lnSpc>
                          <a:spcPct val="100000"/>
                        </a:lnSpc>
                      </a:pPr>
                      <a:r>
                        <a:rPr b="0" lang="en-US" sz="950" spc="-1" strike="noStrike">
                          <a:solidFill>
                            <a:srgbClr val="1c2430"/>
                          </a:solidFill>
                          <a:latin typeface="Segoe UI"/>
                        </a:rPr>
                        <a:t>Relación de inercias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Cociente entre la inercia de la carga reflejada y la del rotor; predice la dificultad de sintonización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21120">
                <a:tc>
                  <a:txBody>
                    <a:bodyPr lIns="82080" rIns="82080" tIns="27360" bIns="27360" anchor="ctr">
                      <a:noAutofit/>
                    </a:bodyPr>
                    <a:p>
                      <a:pPr defTabSz="457200">
                        <a:lnSpc>
                          <a:spcPct val="100000"/>
                        </a:lnSpc>
                      </a:pPr>
                      <a:r>
                        <a:rPr b="0" lang="en-US" sz="950" spc="-1" strike="noStrike">
                          <a:solidFill>
                            <a:srgbClr val="1c2430"/>
                          </a:solidFill>
                          <a:latin typeface="Segoe UI"/>
                        </a:rPr>
                        <a:t>SERVOPACK</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Denominación comercial de YASKAWA para el servoamplificador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321120">
                <a:tc>
                  <a:txBody>
                    <a:bodyPr lIns="82080" rIns="82080" tIns="27360" bIns="27360" anchor="ctr">
                      <a:noAutofit/>
                    </a:bodyPr>
                    <a:p>
                      <a:pPr defTabSz="457200">
                        <a:lnSpc>
                          <a:spcPct val="100000"/>
                        </a:lnSpc>
                      </a:pPr>
                      <a:r>
                        <a:rPr b="0" lang="en-US" sz="950" spc="-1" strike="noStrike">
                          <a:solidFill>
                            <a:srgbClr val="1c2430"/>
                          </a:solidFill>
                          <a:latin typeface="Segoe UI"/>
                        </a:rPr>
                        <a:t>STO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Safe Torque Off: función de seguridad que garantiza ausencia de par, no ausencia de movimiento</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321120">
                <a:tc>
                  <a:txBody>
                    <a:bodyPr lIns="82080" rIns="82080" tIns="27360" bIns="27360" anchor="ctr">
                      <a:noAutofit/>
                    </a:bodyPr>
                    <a:p>
                      <a:pPr defTabSz="457200">
                        <a:lnSpc>
                          <a:spcPct val="100000"/>
                        </a:lnSpc>
                      </a:pPr>
                      <a:r>
                        <a:rPr b="0" lang="en-US" sz="950" spc="-1" strike="noStrike">
                          <a:solidFill>
                            <a:srgbClr val="1c2430"/>
                          </a:solidFill>
                          <a:latin typeface="Segoe UI"/>
                        </a:rPr>
                        <a:t>Tuning-less</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Función que permite operar sin ajustar ganancias adaptándose automáticamente a la carga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Tree>
  </p:cSld>
  <mc:AlternateContent>
    <mc:Choice Requires="p14">
      <p:transition spd="slow" p14:dur="2000"/>
    </mc:Choice>
    <mc:Fallback>
      <p:transition spd="slow"/>
    </mc:Fallback>
  </mc:AlternateContent>
</p:sld>
</file>

<file path=ppt/slides/slide1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7"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18"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3019" name="TextBox 3"/>
          <p:cNvSpPr/>
          <p:nvPr/>
        </p:nvSpPr>
        <p:spPr>
          <a:xfrm>
            <a:off x="567000" y="182880"/>
            <a:ext cx="8954280" cy="35856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350" spc="-1" strike="noStrike">
                <a:solidFill>
                  <a:srgbClr val="ffffff"/>
                </a:solidFill>
                <a:latin typeface="Segoe UI Semibold"/>
              </a:rPr>
              <a:t>Autoevaluación (respuestas en la diapositiva siguiente)</a:t>
            </a:r>
            <a:endParaRPr b="0" lang="en-US" sz="2350" spc="-1" strike="noStrike">
              <a:solidFill>
                <a:srgbClr val="000000"/>
              </a:solidFill>
              <a:latin typeface="Arial"/>
            </a:endParaRPr>
          </a:p>
        </p:txBody>
      </p:sp>
      <p:sp>
        <p:nvSpPr>
          <p:cNvPr id="3020"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Diez preguntas para comprobar que el curso ha calado</a:t>
            </a:r>
            <a:endParaRPr b="0" lang="en-US" sz="1250" spc="-1" strike="noStrike">
              <a:solidFill>
                <a:srgbClr val="000000"/>
              </a:solidFill>
              <a:latin typeface="Arial"/>
            </a:endParaRPr>
          </a:p>
        </p:txBody>
      </p:sp>
      <p:sp>
        <p:nvSpPr>
          <p:cNvPr id="3021"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13</a:t>
            </a:r>
            <a:endParaRPr b="0" lang="en-US" sz="1100" spc="-1" strike="noStrike">
              <a:solidFill>
                <a:srgbClr val="000000"/>
              </a:solidFill>
              <a:latin typeface="Arial"/>
            </a:endParaRPr>
          </a:p>
        </p:txBody>
      </p:sp>
      <p:sp>
        <p:nvSpPr>
          <p:cNvPr id="3022"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3023"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154</a:t>
            </a:r>
            <a:endParaRPr b="0" lang="en-US" sz="900" spc="-1" strike="noStrike">
              <a:solidFill>
                <a:srgbClr val="000000"/>
              </a:solidFill>
              <a:latin typeface="Arial"/>
            </a:endParaRPr>
          </a:p>
        </p:txBody>
      </p:sp>
      <p:graphicFrame>
        <p:nvGraphicFramePr>
          <p:cNvPr id="3024" name="Table 8"/>
          <p:cNvGraphicFramePr/>
          <p:nvPr/>
        </p:nvGraphicFramePr>
        <p:xfrm>
          <a:off x="567000" y="1481400"/>
          <a:ext cx="11057400" cy="4845960"/>
        </p:xfrm>
        <a:graphic>
          <a:graphicData uri="http://schemas.openxmlformats.org/drawingml/2006/table">
            <a:tbl>
              <a:tblPr/>
              <a:tblGrid>
                <a:gridCol w="456840"/>
                <a:gridCol w="10600560"/>
              </a:tblGrid>
              <a:tr h="347400">
                <a:tc>
                  <a:txBody>
                    <a:bodyPr lIns="82080" rIns="82080" tIns="27360" bIns="27360" anchor="ctr">
                      <a:noAutofit/>
                    </a:bodyPr>
                    <a:p>
                      <a:pPr algn="ctr" defTabSz="457200">
                        <a:lnSpc>
                          <a:spcPct val="100000"/>
                        </a:lnSpc>
                      </a:pPr>
                      <a:r>
                        <a:rPr b="1" lang="en-US" sz="1050" spc="-1" strike="noStrike">
                          <a:solidFill>
                            <a:srgbClr val="ffffff"/>
                          </a:solidFill>
                          <a:latin typeface="Segoe UI"/>
                        </a:rPr>
                        <a:t>#</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1050" spc="-1" strike="noStrike">
                          <a:solidFill>
                            <a:srgbClr val="ffffff"/>
                          </a:solidFill>
                          <a:latin typeface="Segoe UI"/>
                        </a:rPr>
                        <a:t>Pregunta</a:t>
                      </a:r>
                      <a:endParaRPr b="0" lang="en-US" sz="10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449640">
                <a:tc>
                  <a:txBody>
                    <a:bodyPr lIns="82080" rIns="82080" tIns="27360" bIns="27360" anchor="ctr">
                      <a:noAutofit/>
                    </a:bodyPr>
                    <a:p>
                      <a:pPr algn="ctr" defTabSz="457200">
                        <a:lnSpc>
                          <a:spcPct val="100000"/>
                        </a:lnSpc>
                      </a:pPr>
                      <a:r>
                        <a:rPr b="0" lang="en-US" sz="1050" spc="-1" strike="noStrike">
                          <a:solidFill>
                            <a:srgbClr val="1c2430"/>
                          </a:solidFill>
                          <a:latin typeface="Segoe UI"/>
                        </a:rPr>
                        <a:t>1</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Un motor de 3 kW gira a 1.500 rpm. ¿Cuál es su par nominal aproximado?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algn="ctr" defTabSz="457200">
                        <a:lnSpc>
                          <a:spcPct val="100000"/>
                        </a:lnSpc>
                      </a:pPr>
                      <a:r>
                        <a:rPr b="0" lang="en-US" sz="1050" spc="-1" strike="noStrike">
                          <a:solidFill>
                            <a:srgbClr val="1c2430"/>
                          </a:solidFill>
                          <a:latin typeface="Segoe UI"/>
                        </a:rPr>
                        <a:t>2</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¿Por qué no se debe invertir el sentido de giro intercambiando dos fases del motor?</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algn="ctr" defTabSz="457200">
                        <a:lnSpc>
                          <a:spcPct val="100000"/>
                        </a:lnSpc>
                      </a:pPr>
                      <a:r>
                        <a:rPr b="0" lang="en-US" sz="1050" spc="-1" strike="noStrike">
                          <a:solidFill>
                            <a:srgbClr val="1c2430"/>
                          </a:solidFill>
                          <a:latin typeface="Segoe UI"/>
                        </a:rPr>
                        <a:t>3</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Una carga de 200 kg se mueve con un husillo de 10 mm de paso. ¿Cuál es su inercia reflejada?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algn="ctr" defTabSz="457200">
                        <a:lnSpc>
                          <a:spcPct val="100000"/>
                        </a:lnSpc>
                      </a:pPr>
                      <a:r>
                        <a:rPr b="0" lang="en-US" sz="1050" spc="-1" strike="noStrike">
                          <a:solidFill>
                            <a:srgbClr val="1c2430"/>
                          </a:solidFill>
                          <a:latin typeface="Segoe UI"/>
                        </a:rPr>
                        <a:t>4</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El eje vibra al llegar al destino y oscila tres o cuatro veces. ¿Qué parámetro revisarías primero?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algn="ctr" defTabSz="457200">
                        <a:lnSpc>
                          <a:spcPct val="100000"/>
                        </a:lnSpc>
                      </a:pPr>
                      <a:r>
                        <a:rPr b="0" lang="en-US" sz="1050" spc="-1" strike="noStrike">
                          <a:solidFill>
                            <a:srgbClr val="1c2430"/>
                          </a:solidFill>
                          <a:latin typeface="Segoe UI"/>
                        </a:rPr>
                        <a:t>5</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¿Qué hay que hacer antes de conectar una resistencia de regeneración externa?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algn="ctr" defTabSz="457200">
                        <a:lnSpc>
                          <a:spcPct val="100000"/>
                        </a:lnSpc>
                      </a:pPr>
                      <a:r>
                        <a:rPr b="0" lang="en-US" sz="1050" spc="-1" strike="noStrike">
                          <a:solidFill>
                            <a:srgbClr val="1c2430"/>
                          </a:solidFill>
                          <a:latin typeface="Segoe UI"/>
                        </a:rPr>
                        <a:t>6</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El motor no da par y no aparece ninguna alarma. Cita las tres causas más probables.</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algn="ctr" defTabSz="457200">
                        <a:lnSpc>
                          <a:spcPct val="100000"/>
                        </a:lnSpc>
                      </a:pPr>
                      <a:r>
                        <a:rPr b="0" lang="en-US" sz="1050" spc="-1" strike="noStrike">
                          <a:solidFill>
                            <a:srgbClr val="1c2430"/>
                          </a:solidFill>
                          <a:latin typeface="Segoe UI"/>
                        </a:rPr>
                        <a:t>7</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¿Qué diferencia hay entre la alarma </a:t>
                      </a:r>
                      <a:r>
                        <a:rPr b="0" lang="en-US" sz="1050" spc="-1" strike="noStrike">
                          <a:solidFill>
                            <a:srgbClr val="1c2430"/>
                          </a:solidFill>
                          <a:latin typeface="Consolas"/>
                        </a:rPr>
                        <a:t>A.710</a:t>
                      </a:r>
                      <a:r>
                        <a:rPr b="0" lang="en-US" sz="1050" spc="-1" strike="noStrike">
                          <a:solidFill>
                            <a:srgbClr val="1c2430"/>
                          </a:solidFill>
                          <a:latin typeface="Segoe UI"/>
                        </a:rPr>
                        <a:t> y la </a:t>
                      </a:r>
                      <a:r>
                        <a:rPr b="0" lang="en-US" sz="1050" spc="-1" strike="noStrike">
                          <a:solidFill>
                            <a:srgbClr val="1c2430"/>
                          </a:solidFill>
                          <a:latin typeface="Consolas"/>
                        </a:rPr>
                        <a:t>A.720</a:t>
                      </a:r>
                      <a:r>
                        <a:rPr b="0" lang="en-US" sz="1050" spc="-1" strike="noStrike">
                          <a:solidFill>
                            <a:srgbClr val="1c2430"/>
                          </a:solidFill>
                          <a:latin typeface="Segoe UI"/>
                        </a:rPr>
                        <a:t>?</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algn="ctr" defTabSz="457200">
                        <a:lnSpc>
                          <a:spcPct val="100000"/>
                        </a:lnSpc>
                      </a:pPr>
                      <a:r>
                        <a:rPr b="0" lang="en-US" sz="1050" spc="-1" strike="noStrike">
                          <a:solidFill>
                            <a:srgbClr val="1c2430"/>
                          </a:solidFill>
                          <a:latin typeface="Segoe UI"/>
                        </a:rPr>
                        <a:t>8</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¿Por qué hay que cambiar la batería del encoder con la alimentación de control conectada?</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algn="ctr" defTabSz="457200">
                        <a:lnSpc>
                          <a:spcPct val="100000"/>
                        </a:lnSpc>
                      </a:pPr>
                      <a:r>
                        <a:rPr b="0" lang="en-US" sz="1050" spc="-1" strike="noStrike">
                          <a:solidFill>
                            <a:srgbClr val="1c2430"/>
                          </a:solidFill>
                          <a:latin typeface="Segoe UI"/>
                        </a:rPr>
                        <a:t>9</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¿Garantiza la función STO que el eje esté parado?</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algn="ctr" defTabSz="457200">
                        <a:lnSpc>
                          <a:spcPct val="100000"/>
                        </a:lnSpc>
                      </a:pPr>
                      <a:r>
                        <a:rPr b="0" lang="en-US" sz="1050" spc="-1" strike="noStrike">
                          <a:solidFill>
                            <a:srgbClr val="1c2430"/>
                          </a:solidFill>
                          <a:latin typeface="Segoe UI"/>
                        </a:rPr>
                        <a:t>10</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1050" spc="-1" strike="noStrike">
                          <a:solidFill>
                            <a:srgbClr val="1c2430"/>
                          </a:solidFill>
                          <a:latin typeface="Segoe UI"/>
                        </a:rPr>
                        <a:t>Tras sustituir un SERVOPACK y cargar el fichero de parámetros, ¿qué falta por hacer?</a:t>
                      </a:r>
                      <a:endParaRPr b="0" lang="en-US" sz="10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Tree>
  </p:cSld>
  <mc:AlternateContent>
    <mc:Choice Requires="p14">
      <p:transition spd="slow" p14:dur="2000"/>
    </mc:Choice>
    <mc:Fallback>
      <p:transition spd="slow"/>
    </mc:Fallback>
  </mc:AlternateContent>
</p:sld>
</file>

<file path=ppt/slides/slide1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25"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26"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3027"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Autoevaluación — Respuestas comentadas</a:t>
            </a:r>
            <a:endParaRPr b="0" lang="en-US" sz="2500" spc="-1" strike="noStrike">
              <a:solidFill>
                <a:srgbClr val="000000"/>
              </a:solidFill>
              <a:latin typeface="Arial"/>
            </a:endParaRPr>
          </a:p>
        </p:txBody>
      </p:sp>
      <p:sp>
        <p:nvSpPr>
          <p:cNvPr id="3028"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Si has acertado ocho o más, estás en condiciones de trabajar con el equipo</a:t>
            </a:r>
            <a:endParaRPr b="0" lang="en-US" sz="1250" spc="-1" strike="noStrike">
              <a:solidFill>
                <a:srgbClr val="000000"/>
              </a:solidFill>
              <a:latin typeface="Arial"/>
            </a:endParaRPr>
          </a:p>
        </p:txBody>
      </p:sp>
      <p:sp>
        <p:nvSpPr>
          <p:cNvPr id="3029"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13</a:t>
            </a:r>
            <a:endParaRPr b="0" lang="en-US" sz="1100" spc="-1" strike="noStrike">
              <a:solidFill>
                <a:srgbClr val="000000"/>
              </a:solidFill>
              <a:latin typeface="Arial"/>
            </a:endParaRPr>
          </a:p>
        </p:txBody>
      </p:sp>
      <p:sp>
        <p:nvSpPr>
          <p:cNvPr id="3030"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3031"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155</a:t>
            </a:r>
            <a:endParaRPr b="0" lang="en-US" sz="900" spc="-1" strike="noStrike">
              <a:solidFill>
                <a:srgbClr val="000000"/>
              </a:solidFill>
              <a:latin typeface="Arial"/>
            </a:endParaRPr>
          </a:p>
        </p:txBody>
      </p:sp>
      <p:graphicFrame>
        <p:nvGraphicFramePr>
          <p:cNvPr id="3032" name="Table 8"/>
          <p:cNvGraphicFramePr/>
          <p:nvPr/>
        </p:nvGraphicFramePr>
        <p:xfrm>
          <a:off x="567000" y="1481400"/>
          <a:ext cx="11057400" cy="4845960"/>
        </p:xfrm>
        <a:graphic>
          <a:graphicData uri="http://schemas.openxmlformats.org/drawingml/2006/table">
            <a:tbl>
              <a:tblPr/>
              <a:tblGrid>
                <a:gridCol w="456840"/>
                <a:gridCol w="10600560"/>
              </a:tblGrid>
              <a:tr h="347400">
                <a:tc>
                  <a:txBody>
                    <a:bodyPr lIns="82080" rIns="82080" tIns="27360" bIns="27360" anchor="ctr">
                      <a:noAutofit/>
                    </a:bodyPr>
                    <a:p>
                      <a:pPr algn="ctr" defTabSz="457200">
                        <a:lnSpc>
                          <a:spcPct val="100000"/>
                        </a:lnSpc>
                      </a:pPr>
                      <a:r>
                        <a:rPr b="1" lang="en-US" sz="950" spc="-1" strike="noStrike">
                          <a:solidFill>
                            <a:srgbClr val="ffffff"/>
                          </a:solidFill>
                          <a:latin typeface="Segoe UI"/>
                        </a:rPr>
                        <a:t>#</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c>
                  <a:txBody>
                    <a:bodyPr lIns="82080" rIns="82080" tIns="27360" bIns="27360" anchor="ctr">
                      <a:noAutofit/>
                    </a:bodyPr>
                    <a:p>
                      <a:pPr defTabSz="457200">
                        <a:lnSpc>
                          <a:spcPct val="100000"/>
                        </a:lnSpc>
                      </a:pPr>
                      <a:r>
                        <a:rPr b="1" lang="en-US" sz="950" spc="-1" strike="noStrike">
                          <a:solidFill>
                            <a:srgbClr val="ffffff"/>
                          </a:solidFill>
                          <a:latin typeface="Segoe UI"/>
                        </a:rPr>
                        <a:t>Respuesta</a:t>
                      </a:r>
                      <a:endParaRPr b="0" lang="en-US" sz="950" spc="-1" strike="noStrike">
                        <a:solidFill>
                          <a:srgbClr val="ffffff"/>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b2545"/>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1</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T ≈ 9,55 × 3 / 1,5 = </a:t>
                      </a:r>
                      <a:r>
                        <a:rPr b="1" lang="en-US" sz="950" spc="-1" strike="noStrike">
                          <a:solidFill>
                            <a:srgbClr val="1c2430"/>
                          </a:solidFill>
                          <a:latin typeface="Segoe UI"/>
                        </a:rPr>
                        <a:t>19,1 N·m</a:t>
                      </a:r>
                      <a:r>
                        <a:rPr b="0" lang="en-US" sz="950" spc="-1" strike="noStrike">
                          <a:solidFill>
                            <a:srgbClr val="1c2430"/>
                          </a:solidFill>
                          <a:latin typeface="Segoe UI"/>
                        </a:rPr>
                        <a:t>. El doble que a 3.000 rpm con la misma potencia.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2</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Porque la realimentación del encoder no se invierte: el lazo pasa a ser positivo y el eje se embala o dispara alarma. Se usa </a:t>
                      </a:r>
                      <a:r>
                        <a:rPr b="0" lang="en-US" sz="950" spc="-1" strike="noStrike">
                          <a:solidFill>
                            <a:srgbClr val="1c2430"/>
                          </a:solidFill>
                          <a:latin typeface="Consolas"/>
                        </a:rPr>
                        <a:t>Pn000.0</a:t>
                      </a:r>
                      <a:r>
                        <a:rPr b="0" lang="en-US" sz="950" spc="-1" strike="noStrike">
                          <a:solidFill>
                            <a:srgbClr val="1c2430"/>
                          </a:solidFill>
                          <a:latin typeface="Segoe UI"/>
                        </a:rPr>
                        <a:t>.</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3</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J = 200 × (0,010/2π)² = 200 × (0,001592)² ≈ </a:t>
                      </a:r>
                      <a:r>
                        <a:rPr b="1" lang="en-US" sz="950" spc="-1" strike="noStrike">
                          <a:solidFill>
                            <a:srgbClr val="1c2430"/>
                          </a:solidFill>
                          <a:latin typeface="Segoe UI"/>
                        </a:rPr>
                        <a:t>5,1 × 10⁻⁴ kg·m²</a:t>
                      </a:r>
                      <a:r>
                        <a:rPr b="0" lang="en-US" sz="950" spc="-1" strike="noStrike">
                          <a:solidFill>
                            <a:srgbClr val="1c2430"/>
                          </a:solidFill>
                          <a:latin typeface="Segoe UI"/>
                        </a:rPr>
                        <a:t>. Un paso pequeño reduce mucho la inercia reflejada.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4</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Pn103</a:t>
                      </a:r>
                      <a:r>
                        <a:rPr b="0" lang="en-US" sz="950" spc="-1" strike="noStrike">
                          <a:solidFill>
                            <a:srgbClr val="1c2430"/>
                          </a:solidFill>
                          <a:latin typeface="Segoe UI"/>
                        </a:rPr>
                        <a:t> (relación de inercias) y después la integral de velocidad </a:t>
                      </a:r>
                      <a:r>
                        <a:rPr b="0" lang="en-US" sz="950" spc="-1" strike="noStrike">
                          <a:solidFill>
                            <a:srgbClr val="1c2430"/>
                          </a:solidFill>
                          <a:latin typeface="Consolas"/>
                        </a:rPr>
                        <a:t>Pn101</a:t>
                      </a:r>
                      <a:r>
                        <a:rPr b="0" lang="en-US" sz="950" spc="-1" strike="noStrike">
                          <a:solidFill>
                            <a:srgbClr val="1c2430"/>
                          </a:solidFill>
                          <a:latin typeface="Segoe UI"/>
                        </a:rPr>
                        <a:t>. Antes de subir o bajar ganancias, comprobar que la inercia declarada es correcta.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5</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Retirar el puente </a:t>
                      </a:r>
                      <a:r>
                        <a:rPr b="0" lang="en-US" sz="950" spc="-1" strike="noStrike">
                          <a:solidFill>
                            <a:srgbClr val="1c2430"/>
                          </a:solidFill>
                          <a:latin typeface="Consolas"/>
                        </a:rPr>
                        <a:t>B2</a:t>
                      </a:r>
                      <a:r>
                        <a:rPr b="0" lang="en-US" sz="950" spc="-1" strike="noStrike">
                          <a:solidFill>
                            <a:srgbClr val="1c2430"/>
                          </a:solidFill>
                          <a:latin typeface="Segoe UI"/>
                        </a:rPr>
                        <a:t>-</a:t>
                      </a:r>
                      <a:r>
                        <a:rPr b="0" lang="en-US" sz="950" spc="-1" strike="noStrike">
                          <a:solidFill>
                            <a:srgbClr val="1c2430"/>
                          </a:solidFill>
                          <a:latin typeface="Consolas"/>
                        </a:rPr>
                        <a:t>B3</a:t>
                      </a:r>
                      <a:r>
                        <a:rPr b="0" lang="en-US" sz="950" spc="-1" strike="noStrike">
                          <a:solidFill>
                            <a:srgbClr val="1c2430"/>
                          </a:solidFill>
                          <a:latin typeface="Segoe UI"/>
                        </a:rPr>
                        <a:t>, respetar la resistencia mínima admisible y declarar la capacidad en </a:t>
                      </a:r>
                      <a:r>
                        <a:rPr b="0" lang="en-US" sz="950" spc="-1" strike="noStrike">
                          <a:solidFill>
                            <a:srgbClr val="1c2430"/>
                          </a:solidFill>
                          <a:latin typeface="Consolas"/>
                        </a:rPr>
                        <a:t>Pn600</a:t>
                      </a:r>
                      <a:r>
                        <a:rPr b="0" lang="en-US" sz="950" spc="-1" strike="noStrike">
                          <a:solidFill>
                            <a:srgbClr val="1c2430"/>
                          </a:solidFill>
                          <a:latin typeface="Segoe UI"/>
                        </a:rPr>
                        <a:t>.</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6</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CN8</a:t>
                      </a:r>
                      <a:r>
                        <a:rPr b="0" lang="en-US" sz="950" spc="-1" strike="noStrike">
                          <a:solidFill>
                            <a:srgbClr val="1c2430"/>
                          </a:solidFill>
                          <a:latin typeface="Segoe UI"/>
                        </a:rPr>
                        <a:t> sin cablear tras retirar el puente · </a:t>
                      </a:r>
                      <a:r>
                        <a:rPr b="0" lang="en-US" sz="950" spc="-1" strike="noStrike">
                          <a:solidFill>
                            <a:srgbClr val="1c2430"/>
                          </a:solidFill>
                          <a:latin typeface="Consolas"/>
                        </a:rPr>
                        <a:t>/S-ON</a:t>
                      </a:r>
                      <a:r>
                        <a:rPr b="0" lang="en-US" sz="950" spc="-1" strike="noStrike">
                          <a:solidFill>
                            <a:srgbClr val="1c2430"/>
                          </a:solidFill>
                          <a:latin typeface="Segoe UI"/>
                        </a:rPr>
                        <a:t> que no llega (verificable en </a:t>
                      </a:r>
                      <a:r>
                        <a:rPr b="0" lang="en-US" sz="950" spc="-1" strike="noStrike">
                          <a:solidFill>
                            <a:srgbClr val="1c2430"/>
                          </a:solidFill>
                          <a:latin typeface="Consolas"/>
                        </a:rPr>
                        <a:t>Un005</a:t>
                      </a:r>
                      <a:r>
                        <a:rPr b="0" lang="en-US" sz="950" spc="-1" strike="noStrike">
                          <a:solidFill>
                            <a:srgbClr val="1c2430"/>
                          </a:solidFill>
                          <a:latin typeface="Segoe UI"/>
                        </a:rPr>
                        <a:t>) · </a:t>
                      </a:r>
                      <a:r>
                        <a:rPr b="0" lang="en-US" sz="950" spc="-1" strike="noStrike">
                          <a:solidFill>
                            <a:srgbClr val="1c2430"/>
                          </a:solidFill>
                          <a:latin typeface="Consolas"/>
                        </a:rPr>
                        <a:t>+24VIN</a:t>
                      </a:r>
                      <a:r>
                        <a:rPr b="0" lang="en-US" sz="950" spc="-1" strike="noStrike">
                          <a:solidFill>
                            <a:srgbClr val="1c2430"/>
                          </a:solidFill>
                          <a:latin typeface="Segoe UI"/>
                        </a:rPr>
                        <a:t> sin alimentar.</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7</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0" lang="en-US" sz="950" spc="-1" strike="noStrike">
                          <a:solidFill>
                            <a:srgbClr val="1c2430"/>
                          </a:solidFill>
                          <a:latin typeface="Consolas"/>
                        </a:rPr>
                        <a:t>A.710</a:t>
                      </a:r>
                      <a:r>
                        <a:rPr b="0" lang="en-US" sz="950" spc="-1" strike="noStrike">
                          <a:solidFill>
                            <a:srgbClr val="1c2430"/>
                          </a:solidFill>
                          <a:latin typeface="Segoe UI"/>
                        </a:rPr>
                        <a:t> es sobrecarga instantánea (un pico muy alto); </a:t>
                      </a:r>
                      <a:r>
                        <a:rPr b="0" lang="en-US" sz="950" spc="-1" strike="noStrike">
                          <a:solidFill>
                            <a:srgbClr val="1c2430"/>
                          </a:solidFill>
                          <a:latin typeface="Consolas"/>
                        </a:rPr>
                        <a:t>A.720</a:t>
                      </a:r>
                      <a:r>
                        <a:rPr b="0" lang="en-US" sz="950" spc="-1" strike="noStrike">
                          <a:solidFill>
                            <a:srgbClr val="1c2430"/>
                          </a:solidFill>
                          <a:latin typeface="Segoe UI"/>
                        </a:rPr>
                        <a:t> es sobrecarga continua acumulada por el modelo térmico. La segunda apunta a un problema de dimensionamiento o de fricción.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8</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Para que el encoder no pierda el contaje multivuelta. Si lo pierde, hay que ejecutar </a:t>
                      </a:r>
                      <a:r>
                        <a:rPr b="0" lang="en-US" sz="950" spc="-1" strike="noStrike">
                          <a:solidFill>
                            <a:srgbClr val="1c2430"/>
                          </a:solidFill>
                          <a:latin typeface="Consolas"/>
                        </a:rPr>
                        <a:t>Fn008</a:t>
                      </a:r>
                      <a:r>
                        <a:rPr b="0" lang="en-US" sz="950" spc="-1" strike="noStrike">
                          <a:solidFill>
                            <a:srgbClr val="1c2430"/>
                          </a:solidFill>
                          <a:latin typeface="Segoe UI"/>
                        </a:rPr>
                        <a:t> y </a:t>
                      </a:r>
                      <a:r>
                        <a:rPr b="1" lang="en-US" sz="950" spc="-1" strike="noStrike">
                          <a:solidFill>
                            <a:srgbClr val="1c2430"/>
                          </a:solidFill>
                          <a:latin typeface="Segoe UI"/>
                        </a:rPr>
                        <a:t>rehacer el origen</a:t>
                      </a:r>
                      <a:r>
                        <a:rPr b="0" lang="en-US" sz="950" spc="-1" strike="noStrike">
                          <a:solidFill>
                            <a:srgbClr val="1c2430"/>
                          </a:solidFill>
                          <a:latin typeface="Segoe UI"/>
                        </a:rPr>
                        <a:t> de la máquina.</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9</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82080" rIns="82080" tIns="27360" bIns="27360" anchor="ctr">
                      <a:noAutofit/>
                    </a:bodyPr>
                    <a:p>
                      <a:pPr defTabSz="457200">
                        <a:lnSpc>
                          <a:spcPct val="100000"/>
                        </a:lnSpc>
                      </a:pPr>
                      <a:r>
                        <a:rPr b="1" lang="en-US" sz="950" spc="-1" strike="noStrike">
                          <a:solidFill>
                            <a:srgbClr val="1c2430"/>
                          </a:solidFill>
                          <a:latin typeface="Segoe UI"/>
                        </a:rPr>
                        <a:t>No.</a:t>
                      </a:r>
                      <a:r>
                        <a:rPr b="0" lang="en-US" sz="950" spc="-1" strike="noStrike">
                          <a:solidFill>
                            <a:srgbClr val="1c2430"/>
                          </a:solidFill>
                          <a:latin typeface="Segoe UI"/>
                        </a:rPr>
                        <a:t> Garantiza ausencia de par. El eje seguirá moviéndose por inercia y, en un eje vertical, la carga caerá.</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49640">
                <a:tc>
                  <a:txBody>
                    <a:bodyPr lIns="82080" rIns="82080" tIns="27360" bIns="27360" anchor="ctr">
                      <a:noAutofit/>
                    </a:bodyPr>
                    <a:p>
                      <a:pPr algn="ctr" defTabSz="457200">
                        <a:lnSpc>
                          <a:spcPct val="100000"/>
                        </a:lnSpc>
                      </a:pPr>
                      <a:r>
                        <a:rPr b="0" lang="en-US" sz="950" spc="-1" strike="noStrike">
                          <a:solidFill>
                            <a:srgbClr val="1c2430"/>
                          </a:solidFill>
                          <a:latin typeface="Segoe UI"/>
                        </a:rPr>
                        <a:t>10</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c>
                  <a:txBody>
                    <a:bodyPr lIns="82080" rIns="82080" tIns="27360" bIns="27360" anchor="ctr">
                      <a:noAutofit/>
                    </a:bodyPr>
                    <a:p>
                      <a:pPr defTabSz="457200">
                        <a:lnSpc>
                          <a:spcPct val="100000"/>
                        </a:lnSpc>
                      </a:pPr>
                      <a:r>
                        <a:rPr b="0" lang="en-US" sz="950" spc="-1" strike="noStrike">
                          <a:solidFill>
                            <a:srgbClr val="1c2430"/>
                          </a:solidFill>
                          <a:latin typeface="Segoe UI"/>
                        </a:rPr>
                        <a:t>Ejecutar </a:t>
                      </a:r>
                      <a:r>
                        <a:rPr b="0" lang="en-US" sz="950" spc="-1" strike="noStrike">
                          <a:solidFill>
                            <a:srgbClr val="1c2430"/>
                          </a:solidFill>
                          <a:latin typeface="Consolas"/>
                        </a:rPr>
                        <a:t>Fn008</a:t>
                      </a:r>
                      <a:r>
                        <a:rPr b="0" lang="en-US" sz="950" spc="-1" strike="noStrike">
                          <a:solidFill>
                            <a:srgbClr val="1c2430"/>
                          </a:solidFill>
                          <a:latin typeface="Segoe UI"/>
                        </a:rPr>
                        <a:t> si el encoder es absoluto, </a:t>
                      </a:r>
                      <a:r>
                        <a:rPr b="1" lang="en-US" sz="950" spc="-1" strike="noStrike">
                          <a:solidFill>
                            <a:srgbClr val="1c2430"/>
                          </a:solidFill>
                          <a:latin typeface="Segoe UI"/>
                        </a:rPr>
                        <a:t>rehacer el origen</a:t>
                      </a:r>
                      <a:r>
                        <a:rPr b="0" lang="en-US" sz="950" spc="-1" strike="noStrike">
                          <a:solidFill>
                            <a:srgbClr val="1c2430"/>
                          </a:solidFill>
                          <a:latin typeface="Segoe UI"/>
                        </a:rPr>
                        <a:t> (no está en el fichero de parámetros) y verificar el eje antes de devolverlo a producción.</a:t>
                      </a:r>
                      <a:endParaRPr b="0" lang="en-US" sz="950" spc="-1" strike="noStrike">
                        <a:solidFill>
                          <a:srgbClr val="000000"/>
                        </a:solidFill>
                        <a:latin typeface="Arial"/>
                      </a:endParaRPr>
                    </a:p>
                  </a:txBody>
                  <a:tcPr anchor="ctr" marL="82080" marR="8208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2f5f8"/>
                    </a:solidFill>
                  </a:tcPr>
                </a:tc>
              </a:tr>
            </a:tbl>
          </a:graphicData>
        </a:graphic>
      </p:graphicFrame>
    </p:spTree>
  </p:cSld>
  <mc:AlternateContent>
    <mc:Choice Requires="p14">
      <p:transition spd="slow" p14:dur="2000"/>
    </mc:Choice>
    <mc:Fallback>
      <p:transition spd="slow"/>
    </mc:Fallback>
  </mc:AlternateContent>
</p:sld>
</file>

<file path=ppt/slides/slide15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33" name="Rectangle 1"/>
          <p:cNvSpPr/>
          <p:nvPr/>
        </p:nvSpPr>
        <p:spPr>
          <a:xfrm>
            <a:off x="0" y="0"/>
            <a:ext cx="12191400" cy="107856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34" name="Rectangle 2"/>
          <p:cNvSpPr/>
          <p:nvPr/>
        </p:nvSpPr>
        <p:spPr>
          <a:xfrm>
            <a:off x="0" y="1078920"/>
            <a:ext cx="12191400" cy="40680"/>
          </a:xfrm>
          <a:prstGeom prst="rect">
            <a:avLst/>
          </a:prstGeom>
          <a:solidFill>
            <a:srgbClr val="00a9c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960" bIns="-3960" anchor="ctr">
            <a:noAutofit/>
          </a:bodyPr>
          <a:p>
            <a:pPr algn="ctr" defTabSz="457200">
              <a:lnSpc>
                <a:spcPct val="100000"/>
              </a:lnSpc>
            </a:pPr>
            <a:endParaRPr b="0" lang="en-US" sz="1800" spc="-1" strike="noStrike">
              <a:solidFill>
                <a:schemeClr val="lt1"/>
              </a:solidFill>
              <a:latin typeface="Calibri"/>
            </a:endParaRPr>
          </a:p>
        </p:txBody>
      </p:sp>
      <p:sp>
        <p:nvSpPr>
          <p:cNvPr id="3035" name="TextBox 3"/>
          <p:cNvSpPr/>
          <p:nvPr/>
        </p:nvSpPr>
        <p:spPr>
          <a:xfrm>
            <a:off x="567000" y="182880"/>
            <a:ext cx="8954280" cy="381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2500" spc="-1" strike="noStrike">
                <a:solidFill>
                  <a:srgbClr val="ffffff"/>
                </a:solidFill>
                <a:latin typeface="Segoe UI Semibold"/>
              </a:rPr>
              <a:t>Itinerario de aprendizaje y recursos</a:t>
            </a:r>
            <a:endParaRPr b="0" lang="en-US" sz="2500" spc="-1" strike="noStrike">
              <a:solidFill>
                <a:srgbClr val="000000"/>
              </a:solidFill>
              <a:latin typeface="Arial"/>
            </a:endParaRPr>
          </a:p>
        </p:txBody>
      </p:sp>
      <p:sp>
        <p:nvSpPr>
          <p:cNvPr id="3036" name="TextBox 4"/>
          <p:cNvSpPr/>
          <p:nvPr/>
        </p:nvSpPr>
        <p:spPr>
          <a:xfrm>
            <a:off x="567000" y="694800"/>
            <a:ext cx="8954280" cy="19080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250" spc="-1" strike="noStrike">
                <a:solidFill>
                  <a:srgbClr val="a9c6e0"/>
                </a:solidFill>
                <a:latin typeface="Segoe UI"/>
              </a:rPr>
              <a:t>El curso termina; el aprendizaje, no</a:t>
            </a:r>
            <a:endParaRPr b="0" lang="en-US" sz="1250" spc="-1" strike="noStrike">
              <a:solidFill>
                <a:srgbClr val="000000"/>
              </a:solidFill>
              <a:latin typeface="Arial"/>
            </a:endParaRPr>
          </a:p>
        </p:txBody>
      </p:sp>
      <p:sp>
        <p:nvSpPr>
          <p:cNvPr id="3037" name="TextBox 5"/>
          <p:cNvSpPr/>
          <p:nvPr/>
        </p:nvSpPr>
        <p:spPr>
          <a:xfrm>
            <a:off x="9613080" y="274320"/>
            <a:ext cx="2011320" cy="16812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1" lang="en-US" sz="1100" spc="-1" strike="noStrike">
                <a:solidFill>
                  <a:srgbClr val="00a9ce"/>
                </a:solidFill>
                <a:latin typeface="Segoe UI"/>
              </a:rPr>
              <a:t>MÓDULO 13</a:t>
            </a:r>
            <a:endParaRPr b="0" lang="en-US" sz="1100" spc="-1" strike="noStrike">
              <a:solidFill>
                <a:srgbClr val="000000"/>
              </a:solidFill>
              <a:latin typeface="Arial"/>
            </a:endParaRPr>
          </a:p>
        </p:txBody>
      </p:sp>
      <p:sp>
        <p:nvSpPr>
          <p:cNvPr id="3038" name="TextBox 6"/>
          <p:cNvSpPr/>
          <p:nvPr/>
        </p:nvSpPr>
        <p:spPr>
          <a:xfrm>
            <a:off x="567000" y="6419160"/>
            <a:ext cx="8229240" cy="13788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900" spc="-1" strike="noStrike">
                <a:solidFill>
                  <a:srgbClr val="5a6b7b"/>
                </a:solidFill>
                <a:latin typeface="Segoe UI"/>
              </a:rPr>
              <a:t>Curso YASKAWA SERVOPACK · SGDXS-200A00A-Y3600A + servomotor 3 kW · material de formación</a:t>
            </a:r>
            <a:endParaRPr b="0" lang="en-US" sz="900" spc="-1" strike="noStrike">
              <a:solidFill>
                <a:srgbClr val="000000"/>
              </a:solidFill>
              <a:latin typeface="Arial"/>
            </a:endParaRPr>
          </a:p>
        </p:txBody>
      </p:sp>
      <p:sp>
        <p:nvSpPr>
          <p:cNvPr id="3039" name="TextBox 7"/>
          <p:cNvSpPr/>
          <p:nvPr/>
        </p:nvSpPr>
        <p:spPr>
          <a:xfrm>
            <a:off x="10527480" y="6419160"/>
            <a:ext cx="1096920" cy="137880"/>
          </a:xfrm>
          <a:prstGeom prst="rect">
            <a:avLst/>
          </a:prstGeom>
          <a:noFill/>
          <a:ln w="0">
            <a:noFill/>
          </a:ln>
        </p:spPr>
        <p:style>
          <a:lnRef idx="0"/>
          <a:fillRef idx="0"/>
          <a:effectRef idx="0"/>
          <a:fontRef idx="minor"/>
        </p:style>
        <p:txBody>
          <a:bodyPr lIns="0" rIns="0" tIns="0" bIns="0" anchor="t">
            <a:spAutoFit/>
          </a:bodyPr>
          <a:p>
            <a:pPr algn="r" defTabSz="457200">
              <a:lnSpc>
                <a:spcPct val="100000"/>
              </a:lnSpc>
            </a:pPr>
            <a:r>
              <a:rPr b="0" lang="en-US" sz="900" spc="-1" strike="noStrike">
                <a:solidFill>
                  <a:srgbClr val="5a6b7b"/>
                </a:solidFill>
                <a:latin typeface="Segoe UI"/>
              </a:rPr>
              <a:t>156</a:t>
            </a:r>
            <a:endParaRPr b="0" lang="en-US" sz="900" spc="-1" strike="noStrike">
              <a:solidFill>
                <a:srgbClr val="000000"/>
              </a:solidFill>
              <a:latin typeface="Arial"/>
            </a:endParaRPr>
          </a:p>
        </p:txBody>
      </p:sp>
      <p:sp>
        <p:nvSpPr>
          <p:cNvPr id="3040" name="Rectangle 8"/>
          <p:cNvSpPr/>
          <p:nvPr/>
        </p:nvSpPr>
        <p:spPr>
          <a:xfrm>
            <a:off x="5670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41" name="Rectangle 9"/>
          <p:cNvSpPr/>
          <p:nvPr/>
        </p:nvSpPr>
        <p:spPr>
          <a:xfrm>
            <a:off x="567000" y="1481400"/>
            <a:ext cx="5373000" cy="420120"/>
          </a:xfrm>
          <a:prstGeom prst="rect">
            <a:avLst/>
          </a:prstGeom>
          <a:solidFill>
            <a:srgbClr val="1b5ea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42" name="TextBox 10"/>
          <p:cNvSpPr/>
          <p:nvPr/>
        </p:nvSpPr>
        <p:spPr>
          <a:xfrm>
            <a:off x="7682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Cómo seguir avanzando</a:t>
            </a:r>
            <a:endParaRPr b="0" lang="en-US" sz="1350" spc="-1" strike="noStrike">
              <a:solidFill>
                <a:srgbClr val="000000"/>
              </a:solidFill>
              <a:latin typeface="Arial"/>
            </a:endParaRPr>
          </a:p>
        </p:txBody>
      </p:sp>
      <p:sp>
        <p:nvSpPr>
          <p:cNvPr id="3043" name="TextBox 11"/>
          <p:cNvSpPr/>
          <p:nvPr/>
        </p:nvSpPr>
        <p:spPr>
          <a:xfrm>
            <a:off x="768240" y="2048400"/>
            <a:ext cx="4970880" cy="2666160"/>
          </a:xfrm>
          <a:prstGeom prst="rect">
            <a:avLst/>
          </a:prstGeom>
          <a:noFill/>
          <a:ln w="0">
            <a:noFill/>
          </a:ln>
        </p:spPr>
        <p:style>
          <a:lnRef idx="0"/>
          <a:fillRef idx="0"/>
          <a:effectRef idx="0"/>
          <a:fontRef idx="minor"/>
        </p:style>
        <p:txBody>
          <a:bodyPr lIns="0" rIns="0" tIns="0" bIns="0" anchor="t">
            <a:spAutoFit/>
          </a:bodyPr>
          <a:p>
            <a:pPr defTabSz="457200">
              <a:lnSpc>
                <a:spcPct val="106000"/>
              </a:lnSpc>
              <a:spcAft>
                <a:spcPts val="901"/>
              </a:spcAft>
              <a:tabLst>
                <a:tab algn="l" pos="0"/>
              </a:tabLst>
            </a:pPr>
            <a:r>
              <a:rPr b="1" lang="en-US" sz="1100" spc="-1" strike="noStrike">
                <a:solidFill>
                  <a:srgbClr val="1b5ea8"/>
                </a:solidFill>
                <a:latin typeface="Segoe UI Semibold"/>
              </a:rPr>
              <a:t>Nivel 1 — Autonomía básica (este curso)</a:t>
            </a:r>
            <a:endParaRPr b="0" lang="en-US" sz="110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tabLst>
                <a:tab algn="l" pos="0"/>
              </a:tabLst>
            </a:pPr>
            <a:r>
              <a:rPr b="1" lang="en-US" sz="1150" spc="-1" strike="noStrike">
                <a:solidFill>
                  <a:srgbClr val="1c2430"/>
                </a:solidFill>
                <a:latin typeface="Segoe UI"/>
              </a:rPr>
              <a:t>Instalar, parametrizar, arrancar y diagnosticar un eje.</a:t>
            </a:r>
            <a:endParaRPr b="0" lang="en-US" sz="1150" spc="-1" strike="noStrike">
              <a:solidFill>
                <a:srgbClr val="000000"/>
              </a:solidFill>
              <a:latin typeface="Arial"/>
            </a:endParaRPr>
          </a:p>
          <a:p>
            <a:pPr defTabSz="457200">
              <a:lnSpc>
                <a:spcPct val="106000"/>
              </a:lnSpc>
              <a:spcBef>
                <a:spcPts val="799"/>
              </a:spcBef>
              <a:spcAft>
                <a:spcPts val="901"/>
              </a:spcAft>
              <a:tabLst>
                <a:tab algn="l" pos="0"/>
              </a:tabLst>
            </a:pPr>
            <a:r>
              <a:rPr b="1" lang="en-US" sz="1100" spc="-1" strike="noStrike">
                <a:solidFill>
                  <a:srgbClr val="1b5ea8"/>
                </a:solidFill>
                <a:latin typeface="Segoe UI Semibold"/>
              </a:rPr>
              <a:t>Nivel 2 — Especialización</a:t>
            </a:r>
            <a:endParaRPr b="0" lang="en-US" sz="11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00" spc="-1" strike="noStrike">
                <a:solidFill>
                  <a:srgbClr val="333f4c"/>
                </a:solidFill>
                <a:latin typeface="Segoe UI"/>
              </a:rPr>
              <a:t>Sintonización avanzada de ejes difíciles y análisis en frecuencia.</a:t>
            </a:r>
            <a:endParaRPr b="0" lang="en-US" sz="10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00" spc="-1" strike="noStrike">
                <a:solidFill>
                  <a:srgbClr val="333f4c"/>
                </a:solidFill>
                <a:latin typeface="Segoe UI"/>
              </a:rPr>
              <a:t>Integración en bus con maestros de terceros y perfiles CiA 402.</a:t>
            </a:r>
            <a:endParaRPr b="0" lang="en-US" sz="10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00" spc="-1" strike="noStrike">
                <a:solidFill>
                  <a:srgbClr val="333f4c"/>
                </a:solidFill>
                <a:latin typeface="Segoe UI"/>
              </a:rPr>
              <a:t>Sincronismo entre ejes: levas electrónicas, gantry, corte al vuelo.</a:t>
            </a:r>
            <a:endParaRPr b="0" lang="en-US" sz="1000" spc="-1" strike="noStrike">
              <a:solidFill>
                <a:srgbClr val="000000"/>
              </a:solidFill>
              <a:latin typeface="Arial"/>
            </a:endParaRPr>
          </a:p>
          <a:p>
            <a:pPr defTabSz="457200">
              <a:lnSpc>
                <a:spcPct val="106000"/>
              </a:lnSpc>
              <a:spcBef>
                <a:spcPts val="799"/>
              </a:spcBef>
              <a:spcAft>
                <a:spcPts val="901"/>
              </a:spcAft>
              <a:tabLst>
                <a:tab algn="l" pos="0"/>
              </a:tabLst>
            </a:pPr>
            <a:r>
              <a:rPr b="1" lang="en-US" sz="1100" spc="-1" strike="noStrike">
                <a:solidFill>
                  <a:srgbClr val="1b5ea8"/>
                </a:solidFill>
                <a:latin typeface="Segoe UI Semibold"/>
              </a:rPr>
              <a:t>Nivel 3 — Diseño de máquina</a:t>
            </a:r>
            <a:endParaRPr b="0" lang="en-US" sz="11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00" spc="-1" strike="noStrike">
                <a:solidFill>
                  <a:srgbClr val="333f4c"/>
                </a:solidFill>
                <a:latin typeface="Segoe UI"/>
              </a:rPr>
              <a:t>Selección de arquitecturas completas de accionamiento.</a:t>
            </a:r>
            <a:endParaRPr b="0" lang="en-US" sz="10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00" spc="-1" strike="noStrike">
                <a:solidFill>
                  <a:srgbClr val="333f4c"/>
                </a:solidFill>
                <a:latin typeface="Segoe UI"/>
              </a:rPr>
              <a:t>Seguridad funcional aplicada: análisis de riesgos y validación.</a:t>
            </a:r>
            <a:endParaRPr b="0" lang="en-US" sz="100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tabLst>
                <a:tab algn="l" pos="0"/>
              </a:tabLst>
            </a:pPr>
            <a:r>
              <a:rPr b="0" lang="en-US" sz="1000" spc="-1" strike="noStrike">
                <a:solidFill>
                  <a:srgbClr val="333f4c"/>
                </a:solidFill>
                <a:latin typeface="Segoe UI"/>
              </a:rPr>
              <a:t>Eficiencia energética y gestión de la regeneración.</a:t>
            </a:r>
            <a:endParaRPr b="0" lang="en-US" sz="1000" spc="-1" strike="noStrike">
              <a:solidFill>
                <a:srgbClr val="000000"/>
              </a:solidFill>
              <a:latin typeface="Arial"/>
            </a:endParaRPr>
          </a:p>
        </p:txBody>
      </p:sp>
      <p:sp>
        <p:nvSpPr>
          <p:cNvPr id="3044" name="Rectangle 12"/>
          <p:cNvSpPr/>
          <p:nvPr/>
        </p:nvSpPr>
        <p:spPr>
          <a:xfrm>
            <a:off x="6251400" y="1481400"/>
            <a:ext cx="5373000" cy="3821760"/>
          </a:xfrm>
          <a:prstGeom prst="rect">
            <a:avLst/>
          </a:prstGeom>
          <a:solidFill>
            <a:srgbClr val="f2f5f8"/>
          </a:solidFill>
          <a:ln w="12700">
            <a:solidFill>
              <a:srgbClr val="d3dae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45" name="Rectangle 13"/>
          <p:cNvSpPr/>
          <p:nvPr/>
        </p:nvSpPr>
        <p:spPr>
          <a:xfrm>
            <a:off x="6251400" y="1481400"/>
            <a:ext cx="5373000" cy="420120"/>
          </a:xfrm>
          <a:prstGeom prst="rect">
            <a:avLst/>
          </a:prstGeom>
          <a:solidFill>
            <a:srgbClr val="2e8b5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46" name="TextBox 14"/>
          <p:cNvSpPr/>
          <p:nvPr/>
        </p:nvSpPr>
        <p:spPr>
          <a:xfrm>
            <a:off x="6452640" y="1581840"/>
            <a:ext cx="5007240" cy="20592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350" spc="-1" strike="noStrike">
                <a:solidFill>
                  <a:srgbClr val="ffffff"/>
                </a:solidFill>
                <a:latin typeface="Segoe UI Semibold"/>
              </a:rPr>
              <a:t>Dónde buscar información fiable</a:t>
            </a:r>
            <a:endParaRPr b="0" lang="en-US" sz="1350" spc="-1" strike="noStrike">
              <a:solidFill>
                <a:srgbClr val="000000"/>
              </a:solidFill>
              <a:latin typeface="Arial"/>
            </a:endParaRPr>
          </a:p>
        </p:txBody>
      </p:sp>
      <p:sp>
        <p:nvSpPr>
          <p:cNvPr id="3047" name="TextBox 15"/>
          <p:cNvSpPr/>
          <p:nvPr/>
        </p:nvSpPr>
        <p:spPr>
          <a:xfrm>
            <a:off x="6452640" y="2048400"/>
            <a:ext cx="4970880" cy="2990880"/>
          </a:xfrm>
          <a:prstGeom prst="rect">
            <a:avLst/>
          </a:prstGeom>
          <a:noFill/>
          <a:ln w="0">
            <a:noFill/>
          </a:ln>
        </p:spPr>
        <p:style>
          <a:lnRef idx="0"/>
          <a:fillRef idx="0"/>
          <a:effectRef idx="0"/>
          <a:fontRef idx="minor"/>
        </p:style>
        <p:txBody>
          <a:bodyPr lIns="0" rIns="0" tIns="0" bIns="0" anchor="t">
            <a:spAutoFit/>
          </a:bodyPr>
          <a:p>
            <a:pPr marL="274320" indent="-201240" defTabSz="457200">
              <a:lnSpc>
                <a:spcPct val="106000"/>
              </a:lnSpc>
              <a:spcAft>
                <a:spcPts val="901"/>
              </a:spcAft>
              <a:buClr>
                <a:srgbClr val="1b5ea8"/>
              </a:buClr>
              <a:buSzPct val="90000"/>
              <a:buFont typeface="Arial"/>
              <a:buChar char="■"/>
            </a:pPr>
            <a:r>
              <a:rPr b="1" lang="en-US" sz="1180" spc="-1" strike="noStrike">
                <a:solidFill>
                  <a:srgbClr val="1c2430"/>
                </a:solidFill>
                <a:latin typeface="Segoe UI"/>
              </a:rPr>
              <a:t>Manual de producto del SERVOPACK correspondiente a tu variante: es la fuente principal y contiene todos los parámetros, alarmas y pinouts.</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80" spc="-1" strike="noStrike">
                <a:solidFill>
                  <a:srgbClr val="1c2430"/>
                </a:solidFill>
                <a:latin typeface="Segoe UI"/>
              </a:rPr>
              <a:t>Catálogo de la serie Σ-X: datos de motores, curvas, inercias y combinaciones homologadas.</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80" spc="-1" strike="noStrike">
                <a:solidFill>
                  <a:srgbClr val="1c2430"/>
                </a:solidFill>
                <a:latin typeface="Segoe UI"/>
              </a:rPr>
              <a:t>Manual de selección de periféricos: protecciones, filtros, resistencias de regeneración y cables.</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80" spc="-1" strike="noStrike">
                <a:solidFill>
                  <a:srgbClr val="1c2430"/>
                </a:solidFill>
                <a:latin typeface="Segoe UI"/>
              </a:rPr>
              <a:t>Ayuda de SigmaWin+: describe cada función de ajuste con detalle.</a:t>
            </a:r>
            <a:endParaRPr b="0" lang="en-US" sz="1180" spc="-1" strike="noStrike">
              <a:solidFill>
                <a:srgbClr val="000000"/>
              </a:solidFill>
              <a:latin typeface="Arial"/>
            </a:endParaRPr>
          </a:p>
          <a:p>
            <a:pPr marL="274320" indent="-201240" defTabSz="457200">
              <a:lnSpc>
                <a:spcPct val="106000"/>
              </a:lnSpc>
              <a:spcAft>
                <a:spcPts val="901"/>
              </a:spcAft>
              <a:buClr>
                <a:srgbClr val="1b5ea8"/>
              </a:buClr>
              <a:buSzPct val="90000"/>
              <a:buFont typeface="Arial"/>
              <a:buChar char="■"/>
            </a:pPr>
            <a:r>
              <a:rPr b="1" lang="en-US" sz="1180" spc="-1" strike="noStrike">
                <a:solidFill>
                  <a:srgbClr val="1c2430"/>
                </a:solidFill>
                <a:latin typeface="Segoe UI"/>
              </a:rPr>
              <a:t>Soporte técnico oficial de YASKAWA para dudas de aplicación y para confirmar combinaciones.</a:t>
            </a:r>
            <a:endParaRPr b="0" lang="en-US" sz="1180" spc="-1" strike="noStrike">
              <a:solidFill>
                <a:srgbClr val="000000"/>
              </a:solidFill>
              <a:latin typeface="Arial"/>
            </a:endParaRPr>
          </a:p>
          <a:p>
            <a:pPr marL="567000" indent="-201240" defTabSz="457200">
              <a:lnSpc>
                <a:spcPct val="106000"/>
              </a:lnSpc>
              <a:spcAft>
                <a:spcPts val="499"/>
              </a:spcAft>
              <a:buClr>
                <a:srgbClr val="00a9ce"/>
              </a:buClr>
              <a:buSzPct val="90000"/>
              <a:buFont typeface="Arial"/>
              <a:buChar char="▸"/>
            </a:pPr>
            <a:r>
              <a:rPr b="0" lang="en-US" sz="1030" spc="-1" strike="noStrike">
                <a:solidFill>
                  <a:srgbClr val="333f4c"/>
                </a:solidFill>
                <a:latin typeface="Segoe UI"/>
              </a:rPr>
              <a:t>Descarga los manuales y guárdalos </a:t>
            </a:r>
            <a:r>
              <a:rPr b="1" lang="en-US" sz="1030" spc="-1" strike="noStrike">
                <a:solidFill>
                  <a:srgbClr val="333f4c"/>
                </a:solidFill>
                <a:latin typeface="Segoe UI"/>
              </a:rPr>
              <a:t>en local</a:t>
            </a:r>
            <a:r>
              <a:rPr b="0" lang="en-US" sz="1030" spc="-1" strike="noStrike">
                <a:solidFill>
                  <a:srgbClr val="333f4c"/>
                </a:solidFill>
                <a:latin typeface="Segoe UI"/>
              </a:rPr>
              <a:t>: el día que los necesites puede que no tengas cobertura en la nave.</a:t>
            </a:r>
            <a:endParaRPr b="0" lang="en-US" sz="1030" spc="-1" strike="noStrike">
              <a:solidFill>
                <a:srgbClr val="000000"/>
              </a:solidFill>
              <a:latin typeface="Arial"/>
            </a:endParaRPr>
          </a:p>
        </p:txBody>
      </p:sp>
      <p:sp>
        <p:nvSpPr>
          <p:cNvPr id="3048" name="Rectangle 16"/>
          <p:cNvSpPr/>
          <p:nvPr/>
        </p:nvSpPr>
        <p:spPr>
          <a:xfrm>
            <a:off x="567000" y="5459040"/>
            <a:ext cx="11057400" cy="868320"/>
          </a:xfrm>
          <a:prstGeom prst="rect">
            <a:avLst/>
          </a:prstGeom>
          <a:solidFill>
            <a:srgbClr val="fdf2dc"/>
          </a:solidFill>
          <a:ln>
            <a:solidFill>
              <a:srgbClr val="e89b1f"/>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49" name="Rectangle 17"/>
          <p:cNvSpPr/>
          <p:nvPr/>
        </p:nvSpPr>
        <p:spPr>
          <a:xfrm>
            <a:off x="567000" y="5459040"/>
            <a:ext cx="68400" cy="86832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50" name="TextBox 18"/>
          <p:cNvSpPr/>
          <p:nvPr/>
        </p:nvSpPr>
        <p:spPr>
          <a:xfrm>
            <a:off x="841320" y="5596200"/>
            <a:ext cx="10554480" cy="1832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1" lang="en-US" sz="1200" spc="-1" strike="noStrike">
                <a:solidFill>
                  <a:srgbClr val="e89b1f"/>
                </a:solidFill>
                <a:latin typeface="Segoe UI Semibold"/>
              </a:rPr>
              <a:t>Recordatorio final sobre los datos del curso</a:t>
            </a:r>
            <a:endParaRPr b="0" lang="en-US" sz="1200" spc="-1" strike="noStrike">
              <a:solidFill>
                <a:srgbClr val="000000"/>
              </a:solidFill>
              <a:latin typeface="Arial"/>
            </a:endParaRPr>
          </a:p>
        </p:txBody>
      </p:sp>
      <p:sp>
        <p:nvSpPr>
          <p:cNvPr id="3051" name="TextBox 19"/>
          <p:cNvSpPr/>
          <p:nvPr/>
        </p:nvSpPr>
        <p:spPr>
          <a:xfrm>
            <a:off x="841320" y="5870520"/>
            <a:ext cx="10554480" cy="371160"/>
          </a:xfrm>
          <a:prstGeom prst="rect">
            <a:avLst/>
          </a:prstGeom>
          <a:noFill/>
          <a:ln w="0">
            <a:noFill/>
          </a:ln>
        </p:spPr>
        <p:style>
          <a:lnRef idx="0"/>
          <a:fillRef idx="0"/>
          <a:effectRef idx="0"/>
          <a:fontRef idx="minor"/>
        </p:style>
        <p:txBody>
          <a:bodyPr lIns="0" rIns="0" tIns="0" bIns="0" anchor="t">
            <a:spAutoFit/>
          </a:bodyPr>
          <a:p>
            <a:pPr defTabSz="457200">
              <a:lnSpc>
                <a:spcPct val="106000"/>
              </a:lnSpc>
            </a:pPr>
            <a:r>
              <a:rPr b="0" lang="en-US" sz="1150" spc="-1" strike="noStrike">
                <a:solidFill>
                  <a:srgbClr val="2b3644"/>
                </a:solidFill>
                <a:latin typeface="Segoe UI"/>
              </a:rPr>
              <a:t>Los valores numéricos, códigos y asignaciones que has visto son didácticos. Antes de aplicarlos a un equipo real, contrástalos siempre con el manual oficial de tu modelo y con la placa de características.</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52" name="Rectangle 1"/>
          <p:cNvSpPr/>
          <p:nvPr/>
        </p:nvSpPr>
        <p:spPr>
          <a:xfrm>
            <a:off x="0" y="0"/>
            <a:ext cx="12191400" cy="6857640"/>
          </a:xfrm>
          <a:prstGeom prst="rect">
            <a:avLst/>
          </a:prstGeom>
          <a:solidFill>
            <a:srgbClr val="0b25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53" name="Rectangle 2"/>
          <p:cNvSpPr/>
          <p:nvPr/>
        </p:nvSpPr>
        <p:spPr>
          <a:xfrm>
            <a:off x="0" y="0"/>
            <a:ext cx="383760" cy="6857640"/>
          </a:xfrm>
          <a:prstGeom prst="rect">
            <a:avLst/>
          </a:prstGeom>
          <a:solidFill>
            <a:srgbClr val="e89b1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3054" name="TextBox 3"/>
          <p:cNvSpPr/>
          <p:nvPr/>
        </p:nvSpPr>
        <p:spPr>
          <a:xfrm>
            <a:off x="1371600" y="2194560"/>
            <a:ext cx="9417960" cy="1024920"/>
          </a:xfrm>
          <a:prstGeom prst="rect">
            <a:avLst/>
          </a:prstGeom>
          <a:noFill/>
          <a:ln w="0">
            <a:noFill/>
          </a:ln>
        </p:spPr>
        <p:style>
          <a:lnRef idx="0"/>
          <a:fillRef idx="0"/>
          <a:effectRef idx="0"/>
          <a:fontRef idx="minor"/>
        </p:style>
        <p:txBody>
          <a:bodyPr lIns="0" rIns="0" tIns="0" bIns="0" anchor="t">
            <a:spAutoFit/>
          </a:bodyPr>
          <a:p>
            <a:pPr defTabSz="457200">
              <a:lnSpc>
                <a:spcPct val="120000"/>
              </a:lnSpc>
            </a:pPr>
            <a:r>
              <a:rPr b="1" lang="en-US" sz="2800" spc="-1" strike="noStrike">
                <a:solidFill>
                  <a:srgbClr val="ffffff"/>
                </a:solidFill>
                <a:latin typeface="Segoe UI Semibold"/>
              </a:rPr>
              <a:t>Un servo no se instala: se dimensiona, se instala,</a:t>
            </a:r>
            <a:endParaRPr b="0" lang="en-US" sz="2800" spc="-1" strike="noStrike">
              <a:solidFill>
                <a:srgbClr val="000000"/>
              </a:solidFill>
              <a:latin typeface="Arial"/>
            </a:endParaRPr>
          </a:p>
          <a:p>
            <a:pPr defTabSz="457200">
              <a:lnSpc>
                <a:spcPct val="120000"/>
              </a:lnSpc>
            </a:pPr>
            <a:r>
              <a:rPr b="1" lang="en-US" sz="2800" spc="-1" strike="noStrike">
                <a:solidFill>
                  <a:srgbClr val="ffffff"/>
                </a:solidFill>
                <a:latin typeface="Segoe UI Semibold"/>
              </a:rPr>
              <a:t>se parametriza y se sintoniza.</a:t>
            </a:r>
            <a:endParaRPr b="0" lang="en-US" sz="2800" spc="-1" strike="noStrike">
              <a:solidFill>
                <a:srgbClr val="000000"/>
              </a:solidFill>
              <a:latin typeface="Arial"/>
            </a:endParaRPr>
          </a:p>
        </p:txBody>
      </p:sp>
      <p:sp>
        <p:nvSpPr>
          <p:cNvPr id="3055" name="TextBox 4"/>
          <p:cNvSpPr/>
          <p:nvPr/>
        </p:nvSpPr>
        <p:spPr>
          <a:xfrm>
            <a:off x="1371600" y="4663440"/>
            <a:ext cx="9417960" cy="213840"/>
          </a:xfrm>
          <a:prstGeom prst="rect">
            <a:avLst/>
          </a:prstGeom>
          <a:noFill/>
          <a:ln w="0">
            <a:noFill/>
          </a:ln>
        </p:spPr>
        <p:style>
          <a:lnRef idx="0"/>
          <a:fillRef idx="0"/>
          <a:effectRef idx="0"/>
          <a:fontRef idx="minor"/>
        </p:style>
        <p:txBody>
          <a:bodyPr lIns="0" rIns="0" tIns="0" bIns="0" anchor="t">
            <a:spAutoFit/>
          </a:bodyPr>
          <a:p>
            <a:pPr defTabSz="457200">
              <a:lnSpc>
                <a:spcPct val="100000"/>
              </a:lnSpc>
            </a:pPr>
            <a:r>
              <a:rPr b="0" lang="en-US" sz="1400" spc="-1" strike="noStrike">
                <a:solidFill>
                  <a:srgbClr val="00a9ce"/>
                </a:solidFill>
                <a:latin typeface="Segoe UI"/>
              </a:rPr>
              <a:t>Si falta cualquiera de los cuatro pasos, el problema aparecerá más tarde — y más caro.</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Steve Canny</cp:lastModifiedBy>
  <dcterms:modified xsi:type="dcterms:W3CDTF">2013-01-27T09:15:58Z</dcterms:modified>
  <cp:revision>1</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