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Preséntese y pregunte por la experiencia previa del grupo: ¿han trabajado con variadores de frecuencia? ¿con PLC? ¿con servos de otras marcas? El curso está diseñado para que alguien sin experiencia previa pueda seguirlo, pero avanza hasta técnicas de sintonización avanzada.</a:t>
            </a:r>
          </a:p>
          <a:p/>
          <a:p>
            <a:r>
              <a:t>Deje claro desde el primer minuto el mensaje central: un servo no se 'instala', se DIMENSIONA, se instala, se parametriza y se SINTONIZA. Saltarse cualquiera de esos cuatro pasos es la causa de la mayoría de los problemas en campo.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 los objetivos en voz alta: funcionan como contrato con el alumno. Al final del curso conviene volver a esta diapositiva y verificar uno a uno los seis puntos.</a:t>
            </a:r>
          </a:p>
          <a:p/>
          <a:p>
            <a:r>
              <a:t>Si el grupo es de mantenimiento y no de diseño, insista en los puntos 4, 5 y 6. Si es de ingeniería de proyecto, en los puntos 1, 2 y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no dispone de hardware real, todo el curso puede seguirse con SigmaWin+ en modo offline: permite crear un proyecto, editar el juego completo de parámetros y estudiar las pantallas de ajuste sin drive.</a:t>
            </a:r>
          </a:p>
          <a:p/>
          <a:p>
            <a:r>
              <a:t>Recuerde que las prácticas con tensión requieren autorización y EPP. El bus de continua del SERVOPACK conserva carga después de desconectar.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lógica del recorrido: primero se entiende el principio (01-03), después se justifica la selección con cálculo (04), luego se monta (05-06), se configura (07), se arranca (08), se afina (09), se protege (10) y se mantiene (11).</a:t>
            </a:r>
          </a:p>
          <a:p/>
          <a:p>
            <a:r>
              <a:t>Es tentador saltar directamente al módulo 08 o 09. Advierta que el 80 % de los problemas de sintonización que se ven en campo son en realidad problemas de dimensionamiento (módulo 04) o de cableado y apantallamiento (módulo 05).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la advertencia: el objetivo del curso es que el alumno sepa QUÉ buscar y DÓNDE buscarlo en el manual, no que memorice tablas. Un buen técnico de servos es el que maneja el manual con agilidad.</a:t>
            </a:r>
          </a:p>
          <a:p/>
          <a:p>
            <a:r>
              <a:t>Manuales de referencia: 'Σ-7S SERVOPACK with Analog Voltage/Pulse Train References Product Manual' (SIEP S800001 26), 'Σ-7 Series Product Manual' y 'Σ-7 Series Peripheral Device Selection Manual'. Todos son descargables gratuitamente desde la web de YASKAWA.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pase esta diapositiva rápido. Si el curso incluye laboratorio, haga firmar la hoja de riesgos aquí.</a:t>
            </a:r>
          </a:p>
          <a:p/>
          <a:p>
            <a:r>
              <a:t>Dato práctico: el LED CHARGE del SERVOPACK indica que el bus de continua sigue cargado. Que esté apagado es condición necesaria, pero la verificación con multímetro sigue siendo obligatoria.</a:t>
            </a:r>
          </a:p>
          <a:p/>
          <a:p>
            <a:r>
              <a:t>Anécdota útil para fijar el mensaje: la avería más cara y más frecuente en puesta en marcha es alimentar por U/V/W por confusión con los bornes L1/L2/L3. El SERVOPACK se destruye instantáneamente y no está cubierto por garantía.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módulo es la base conceptual. Aunque el grupo tenga experiencia, no lo salte: la mayoría de los errores de sintonización nacen de no tener claro el modelo mental del lazo en cascada y de la relación de inercias.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Analogía útil: conducir un coche con los ojos cerrados (lazo abierto) frente a conducir mirando la carretera y corrigiendo el volante (lazo cerrado). El motor paso a paso es el primero; el servo, el segundo.</a:t>
            </a:r>
          </a:p>
          <a:p/>
          <a:p>
            <a:r>
              <a:t>Pregunta para el grupo: ¿por qué un servo puede dar par a velocidad cero y un motor asíncrono con variador tiene problemas para hacerlo? Respuesta: porque el servo conoce la posición exacta del rotor gracias al encoder y puede orientar el campo con precisión (control vectorial con realimentación de posición absoluta del rotor), mientras que en lazo abierto se estima.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diagrama dos veces: primero la cadena de mando de izquierda a derecha (quién manda a quién) y después la cadena de realimentación de derecha a izquierda (quién informa a quién).</a:t>
            </a:r>
          </a:p>
          <a:p/>
          <a:p>
            <a:r>
              <a:t>Insista en que el encoder informa al SERVOPACK, no al controlador. El controlador sólo recibe un 'acuse' (señal /COIN de posicionado completado, o la posición real por bus). Esto explica por qué el ajuste fino del eje se hace en el drive y no en el PLC.</a:t>
            </a:r>
          </a:p>
          <a:p/>
          <a:p>
            <a:r>
              <a:t>Pregunte: si el eje vibra, ¿dónde está el problema? Puede estar en cualquiera de los cuatro bloques y en los dos enlaces. El método de diagnóstico del Módulo 11 consiste precisamente en aislar bloque por bloque.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punto que más conviene remarcar es el de 'pierde pasos en silencio': es la razón principal por la que se sustituyen steppers por servos en máquinas de producción. El servo nunca pierde la referencia sin avisar; si no puede seguir la consigna, dispara A.d00 (exceso de error de posición) o A.710/A.720 (sobrecarga).</a:t>
            </a:r>
          </a:p>
          <a:p/>
          <a:p>
            <a:r>
              <a:t>Matiz honesto: los variadores modernos con control vectorial en lazo cerrado y encoder se acercan mucho al servo en par a velocidad cero. La diferencia real queda en la dinámica (inercia del rotor mucho menor en el servomotor) y en la resolución de la realimentación.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diagrama más importante del curso. Todo el Módulo 09 (sintonización) consiste en ajustar las ganancias de estos tres lazos en el orden correcto: de dentro hacia fuera.</a:t>
            </a:r>
          </a:p>
          <a:p/>
          <a:p>
            <a:r>
              <a:t>Frecuencias de actualización típicas en la Σ-7: el lazo de corriente trabaja en el orden de decenas de kHz, el de velocidad en unos pocos kHz y el de posición algo más lento. Regla universal del control en cascada: el lazo interno debe ser al menos 4-5 veces más rápido que el externo.</a:t>
            </a:r>
          </a:p>
          <a:p/>
          <a:p>
            <a:r>
              <a:t>Consecuencia práctica que hay que anunciar ya: si el lazo de velocidad no está bien ajustado, subir la ganancia de posición Pn102 sólo produce inestabilidad. Nunca se empieza por fuera.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clave que hay que dejar clarísima: el modo de par es el lazo interno, el de velocidad añade el lazo intermedio y el de posición añade el externo. Elegir 'modo velocidad' no desactiva el lazo de par; simplemente el drive genera internamente la consigna de par.</a:t>
            </a:r>
          </a:p>
          <a:p/>
          <a:p>
            <a:r>
              <a:t>Pn000.1 admite además modos combinados con conmutación por entrada digital (por ejemplo velocidad↔par con /P-CON), útiles en aplicaciones de tensión de material donde se arranca en velocidad y se pasa a par.</a:t>
            </a:r>
          </a:p>
          <a:p/>
          <a:p>
            <a:r>
              <a:t>En modelos de bus (MECHATROLINK-III / EtherCAT) el modo se selecciona por telegrama con los modos de operación del perfil CiA 402: par, velocidad, posición cíclica, homing e interpolación.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batería del encoder absoluto es una fuente clásica de paradas: genera el aviso A.930 (batería baja) y, si se agota con el equipo sin tensión, la alarma A.810 (fallo de respaldo del encoder), que obliga a repetir Fn008 y a rehacer el origen de la máquina.</a:t>
            </a:r>
          </a:p>
          <a:p/>
          <a:p>
            <a:r>
              <a:t>Recomendación de mantenimiento: sustituir la batería con el equipo ENERGIZADO (control power ON). Así el encoder no pierde el contaje multivuelta y no hay que rehacer el origen. Anótelo, porque este truco ahorra horas de parada.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fórmula del recuadro es la herramienta más rentable de todo el curso: permite verificar en dos segundos si una propuesta comercial tiene sentido.</a:t>
            </a:r>
          </a:p>
          <a:p/>
          <a:p>
            <a:r>
              <a:t>Ejercicio en pizarra: 'necesito 15 N·m continuos a 2.000 rpm, ¿me vale un motor de 3 kW?'. P = 15 × 2π × 2000/60 = 3.140 W. Está justo en el límite: habría que ir a la versión de 1.500 rpm (SGM7G-30A, 18,6 N·m) o subir de tamaño. Este razonamiento se desarrolla en el Módulo 04.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Dibuje mentalmente el ciclo de la máquina sobre esta curva: la aceleración debe caer dentro de la zona intermitente y el par eficaz (RMS) de todo el ciclo, dentro de la zona continua.</a:t>
            </a:r>
          </a:p>
          <a:p/>
          <a:p>
            <a:r>
              <a:t>La caída de la curva a alta velocidad tiene una causa física: la fuerza contraelectromotriz crece con la velocidad y llega un punto en que la tensión del bus de continua ya no puede forzar más corriente. Por eso la curva depende de la tensión de red: con 200 V la curva es más baja que con 230 V. En instalaciones con red débil o larga, esto se nota.</a:t>
            </a:r>
          </a:p>
          <a:p/>
          <a:p>
            <a:r>
              <a:t>Advertencia práctica: trabajar de forma continuada en la zona intermitente provoca A.720 (sobrecarga continua). El drive lleva un modelo térmico I²t que integra el exceso de corriente.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Recomiende a los alumnos fotografiar esta diapositiva: es la que más se consulta durante los primeros días de trabajo con el equipo.</a:t>
            </a:r>
          </a:p>
          <a:p/>
          <a:p>
            <a:r>
              <a:t>Cuidado con un falso amigo habitual: en castellano se dice 'ganancia alta = respuesta rápida', pero ganancia alta también significa 'menos margen de estabilidad'. Todo el Módulo 09 consiste en encontrar el punto de equilibrio.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del módulo es que el alumno pueda mirar la etiqueta de un SERVOPACK cualquiera y deducir en 10 segundos: tensión, potencia, interfaz de comando y generación. Es una habilidad muy práctica en mantenimiento y en compras de repuesto.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Pregunte al grupo qué generación tienen instalada. En planta suele haber mezcla, y saber distinguirlas por el código (SGDH / SGDV / SGD7) evita pedir repuestos equivocados.</a:t>
            </a:r>
          </a:p>
          <a:p/>
          <a:p>
            <a:r>
              <a:t>Dato útil: el paso de 20 a 24 bits multiplica por 16 la resolución. En la práctica el beneficio no es 'más precisión de posicionado' sino una medida de velocidad mucho más limpia a baja velocidad, lo que permite ganancias más altas sin ruido.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 de decisión rápido:</a:t>
            </a:r>
          </a:p>
          <a:p>
            <a:r>
              <a:t>· ¿El movimiento lo calcula un PLC/CNC que ya existe? → SGD7S.</a:t>
            </a:r>
          </a:p>
          <a:p>
            <a:r>
              <a:t>· ¿Muchos ejes pequeños y armario ajustado? → evaluar SGD7W.</a:t>
            </a:r>
          </a:p>
          <a:p>
            <a:r>
              <a:t>· ¿Máquina sencilla sin controlador de movimiento? → SGD7C.</a:t>
            </a:r>
          </a:p>
          <a:p/>
          <a:p>
            <a:r>
              <a:t>Para 3 kW la línea SGD7W habitualmente no llega en potencia por eje, así que la decisión está prácticamente tomada.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camino de la energía: rectificador → bus de continua → inversor IGBT → motor. Y el camino de la información: encoder → control → modulación PWM.</a:t>
            </a:r>
          </a:p>
          <a:p/>
          <a:p>
            <a:r>
              <a:t>Tres consecuencias prácticas que hay que extraer del diagrama:</a:t>
            </a:r>
          </a:p>
          <a:p>
            <a:r>
              <a:t>1) El bus de continua almacena energía en condensadores: por eso hay que esperar antes de tocar los bornes y por eso existe el LED CHARGE.</a:t>
            </a:r>
          </a:p>
          <a:p>
            <a:r>
              <a:t>2) Al frenar, el motor actúa como generador y devuelve energía al bus; si la tensión sube demasiado salta A.400 (sobretensión). La resistencia de regeneración existe para quemar ese exceso.</a:t>
            </a:r>
          </a:p>
          <a:p>
            <a:r>
              <a:t>3) El circuito de control tiene alimentación propia (L1C/L2C), lo que permite diagnosticar con la potencia cortada.</a:t>
            </a:r>
          </a:p>
          <a:p/>
          <a:p>
            <a:r>
              <a:t>El freno dinámico es un cortocircuito controlado de las fases del motor: frena rápido sin necesidad de electrónica, pero no mantiene la carga parada ni sirve como freno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que los alumnos localicen físicamente cada elemento en el equipo real antes de continuar. Es un ejercicio de 5 minutos que ahorra muchos errores después.</a:t>
            </a:r>
          </a:p>
          <a:p/>
          <a:p>
            <a:r>
              <a:t>Puntos de atención:</a:t>
            </a:r>
          </a:p>
          <a:p>
            <a:r>
              <a:t>· CN7 (USB) es la vía normal de conexión con SigmaWin+.</a:t>
            </a:r>
          </a:p>
          <a:p>
            <a:r>
              <a:t>· CN8 viene con un conector puente de fábrica. Si se retira sin cablear la seguridad, el drive queda en baseblock y no habrá par: es la causa número uno de 'el motor no arranca y no da alarma'.</a:t>
            </a:r>
          </a:p>
          <a:p>
            <a:r>
              <a:t>· El LED CHARGE indica bus cargado. Nunca es sustituto de la medida con multímetro.</a:t>
            </a:r>
          </a:p>
          <a:p>
            <a:r>
              <a:t>· El display de 7 segmentos muestra el estado, la alarma y los valores durante la parametrización desde el panel.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Ejercicio recomendado: reparta fotos de etiquetas reales (o pida a los alumnos que fotografíen las de su planta) y que decodifiquen el modelo en voz alta.</a:t>
            </a:r>
          </a:p>
          <a:p/>
          <a:p>
            <a:r>
              <a:t>El campo crítico es la interfaz de comando: determina el hardware y no se puede cambiar. El segundo campo crítico es el tamaño (200 = 3,0 kW), que fija corriente, protecciones y resistencia de regeneración interna.</a:t>
            </a:r>
          </a:p>
          <a:p/>
          <a:p>
            <a:r>
              <a:t>Advertencia honesta que hay que trasladar al alumno: los dígitos de interfaz y de opciones varían según catálogo, región y revisión. La estructura del código es estable, los códigos concretos hay que verificarlos en el catálogo vigente antes de pedir.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 con el grupo un detalle revelador: el -180A (2 kW) y el -200A (3 kW) comparten corriente continua nominal. La diferencia entre ambos está en la combinación con el motor y en la capacidad térmica, no sólo en amperios. Por eso la selección se hace por COMBINACIÓN homologada motor+drive, no eligiendo cada pieza por separado.</a:t>
            </a:r>
          </a:p>
          <a:p/>
          <a:p>
            <a:r>
              <a:t>Regla de repuesto: nunca sustituya un SERVOPACK por otro de tamaño distinto 'porque encaja'. Cambia la corriente de protección, la resistencia de regeneración interna y la parametrización de combinación.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cifras que hay que memorizar de esta tabla son: 21 A de entrada, 18,5 A de salida continua y 55 A de pico. Con ellas se dimensionan cable, magnetotérmico, contactor y filtro.</a:t>
            </a:r>
          </a:p>
          <a:p/>
          <a:p>
            <a:r>
              <a:t>Punto que suele sorprender: la alimentación de control es independiente de la de potencia. Esto permite cortar la potencia (por ejemplo con la seta de emergencia) manteniendo vivo el drive, con la comunicación y el encoder absoluto activos. Es la arquitectura recomendada y se detalla en el Módulo 05.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error de compra más caro y más frecuente: pedir el tamaño correcto con la interfaz equivocada. La interfaz NO es una opción configurable por parámetro ni una tarjeta que se añada después; define el hardware del amplificador.</a:t>
            </a:r>
          </a:p>
          <a:p/>
          <a:p>
            <a:r>
              <a:t>Consejo de proyecto: si el controlador aún no está decidido, la variante analógica/pulsos es la más 'neutra', pero pierde diagnóstico remoto y obliga a cablear mucha señal. En instalación nueva, EtherCAT suele ser la mejor relación coste/prestaciones.</a:t>
            </a:r>
          </a:p>
          <a:p/>
          <a:p>
            <a:r>
              <a:t>Con bus, además, el ajuste y la monitorización se pueden hacer en remoto, algo muy valorado en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Sugerencia: proyecte esta diapositiva cuando el grupo esté preparando un presupuesto. El coste oculto de un eje servo no está en el drive, sino en cables originales, filtro y resistencia de frenado.</a:t>
            </a:r>
          </a:p>
          <a:p/>
          <a:p>
            <a:r>
              <a:t>Insista en los cables: fabricar cables de encoder 'a mano' es una fuente constante de alarmas intermitentes A.C90 (error de comunicación con el encoder), casi imposibles de diagnosticar. Compre siempre cable original confeccionado.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motor determina el comportamiento de la máquina mucho más que el amplificador. Dos motores de la misma potencia pueden dar resultados radicalmente distintos según su inercia y su velocidad nominal. Ese es el mensaje central del módulo.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punto de la f.c.e.m. explica de golpe tres cosas que preguntan siempre los alumnos: por qué la curva de par cae a alta velocidad, por qué frenar genera energía que hay que disipar, y por qué es peligroso manipular el conector del motor en un eje que puede girar por gravedad o por arrastre.</a:t>
            </a:r>
          </a:p>
          <a:p/>
          <a:p>
            <a:r>
              <a:t>Demostración vistosa si hay motor en el aula: gire el eje a mano con el conector libre y mida tensión alterna entre dos fases con el multímetro. Con 3 kW y giro rápido se obtienen decenas de voltios.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la potencia es el resultado, no el criterio. El criterio es el par necesario a la velocidad necesaria y la inercia que hay que mover.</a:t>
            </a:r>
          </a:p>
          <a:p/>
          <a:p>
            <a:r>
              <a:t>Regla mnemotécnica para las familias: J = 'justo lo normal', A = 'ágil' (baja inercia), G = 'grande' (alto par, baja velocidad), P = 'plano'.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probablemente el criterio de ingeniería más valioso del curso. La mayoría de los ejes 'que vibran y no hay manera de ajustar' son ejes con motor de baja inercia acoplado directamente a una carga de gran inercia.</a:t>
            </a:r>
          </a:p>
          <a:p/>
          <a:p>
            <a:r>
              <a:t>Explique la física: una reducción de relación i multiplica el par por i y divide la inercia reflejada por i². La reducción es la herramienta más potente para arreglar una relación de inercias mala, pero introduce holgura y un punto de mantenimiento.</a:t>
            </a:r>
          </a:p>
          <a:p/>
          <a:p>
            <a:r>
              <a:t>Los valores de par indicados son de catálogo y varían con la versión exacta del motor; verifíquelos antes de calcular.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importante no es memorizar los códigos, sino saber que en la referencia del motor están codificados el freno, el tipo de eje y el encoder. Es lo que hace que dos motores 'iguales' no sean intercambiables.</a:t>
            </a:r>
          </a:p>
          <a:p/>
          <a:p>
            <a:r>
              <a:t>Al pedir un repuesto hay que transcribir el código COMPLETO de la placa, carácter a carácter. Recomiende fotografiar la placa en lugar de copiarla a mano.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Marque en la tabla los cuatro datos que se usarán en el Módulo 04: par nominal, par máximo, velocidad nominal e inercia del rotor. El resto son datos de instalación.</a:t>
            </a:r>
          </a:p>
          <a:p/>
          <a:p>
            <a:r>
              <a:t>Una observación honesta: la inercia del rotor cambia bastante entre familias y entre versiones con y sin freno. El freno de retención añade inercia y hay que incluirla en el cálculo.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Cuente el caso típico: parada de planta de tres semanas en agosto, armarios sin tensión, y a la vuelta cuatro ejes con A.810 y todos los orígenes perdidos. Es un día entero de trabajo que se evita con 20 euros de baterías y un procedimiento.</a:t>
            </a:r>
          </a:p>
          <a:p/>
          <a:p>
            <a:r>
              <a:t>Detalle importante y poco conocido: montar batería en el drive Y en el cable a la vez puede producir corrientes de circulación entre ambas. Elija una de las dos ubicaciones.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 que hay que dejar grabado: el freno de retención es ELECTROMAGNÉTICO Y NORMALMENTE CERRADO. Sin 24 V está frenado. Sirve para sostener la carga con el servo desactivado, no para frenar en movimiento. Frenar con él a velocidad destruye el forro en pocos ciclos.</a:t>
            </a:r>
          </a:p>
          <a:p/>
          <a:p>
            <a:r>
              <a:t>La secuencia importa mucho en ejes verticales:</a:t>
            </a:r>
          </a:p>
          <a:p>
            <a:r>
              <a:t>· Al arrancar: primero servo ON (el motor sostiene la carga), después liberar el freno. Si se libera antes, la carga cae unos milímetros.</a:t>
            </a:r>
          </a:p>
          <a:p>
            <a:r>
              <a:t>· Al parar: primero cerrar el freno, esperar a que agarre, y sólo entonces quitar el par. Pn506 y Pn508 gobiernan estos retardos.</a:t>
            </a:r>
          </a:p>
          <a:p/>
          <a:p>
            <a:r>
              <a:t>Parámetros implicados: Pn506 (retardo entre orden de freno y servo OFF con el motor parado), Pn507 (velocidad por debajo de la cual se aplica el freno con el motor en marcha), Pn508 (tiempo de espera antes de quitar el par tras ordenar el freno). La señal de salida es /BK y hay que asignarla a una salida física con Pn50F.</a:t>
            </a:r>
          </a:p>
          <a:p/>
          <a:p>
            <a:r>
              <a:t>Advertencia de seguridad: el freno de retención NO es un elemento de seguridad certificado por sí solo. Para proteger a una persona bajo una carga suspendida hace falta un análisis de riesgos específico.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tres cosas: cable original, malla a tierra en ambos extremos y separación física respecto a los cables de potencia (mínimo 30 cm en paralelo, cruces a 90°).</a:t>
            </a:r>
          </a:p>
          <a:p/>
          <a:p>
            <a:r>
              <a:t>El 'efecto sifón' del último punto es real: el agua recorre el cable y entra por el conector si éste queda hacia arriba. Se resuelve dejando un bucle de goteo antes del conector.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evita disgustos en almacén. Explique que un motor aparentemente idéntico puede diferir en el tipo de encoder (absoluto vs incremental), en el freno o en el eje (con o sin chavetero), y que todo eso está en el código.</a:t>
            </a:r>
          </a:p>
          <a:p/>
          <a:p>
            <a:r>
              <a:t>Consejo de gestión: mantenga en el CMMS el código completo de cada conjunto motor+drive por eje, con foto de las dos etiquetas. Ahorra horas cuando hay que pedir un repuesto urgente.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módulo con más contenido de ingeniería y el que marca la diferencia entre un técnico y un especialista. Tómese el tiempo necesario: si el grupo entiende el ejemplo numérico, entenderá cualquier eje.</a:t>
            </a:r>
          </a:p>
          <a:p/>
          <a:p>
            <a:r>
              <a:t>Tenga a mano una calculadora y, si es posible, una hoja de cálculo proyectada para repetir el ejemplo cambiando datos.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Pida ejemplos al grupo de ejes que 'nunca han ido bien'. Casi siempre aparecerán síntomas de esta diapositiva.</a:t>
            </a:r>
          </a:p>
          <a:p/>
          <a:p>
            <a:r>
              <a:t>Mensaje que hay que repetir a lo largo del módulo: sintonizar no arregla un dimensionamiento equivocado. Sólo lo disimula.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Advierta de que el dato que más se falsea es la masa: se olvidan las piezas transportadas, la herramienta, la mesa y los cables. Multiplique por un factor de seguridad si hay dudas.</a:t>
            </a:r>
          </a:p>
          <a:p/>
          <a:p>
            <a:r>
              <a:t>El segundo dato más traicionero es el tiempo de movimiento: comercial vende '30 ciclos por minuto' y nadie ha comprobado si eso es físicamente posible con la mecánica prevista. Este cálculo sirve precisamente para responder a esa pregunta antes de comprar.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Deduzca en pizarra la fórmula del husillo: en una vuelta el motor avanza p metros, luego la relación de transmisión equivalente es p/2π metros por radián. La inercia equivalente de una masa m en traslación con ese 'radio efectivo' es m·(p/2π)².</a:t>
            </a:r>
          </a:p>
          <a:p/>
          <a:p>
            <a:r>
              <a:t>Numéricamente: con p = 20 mm, el radio efectivo es 3,18 mm. Una masa de 400 kg 'pesa' inercialmente lo mismo que un volante de 400 kg a 3,18 mm de radio: 40,5×10⁻⁴ kg·m². Sorprendentemente poco, y por eso los husillos de paso fino son tan cómodos para el servo (pero limitan la velocidad).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Analogía útil: llevar de la mano a un niño (relación baja, controlas el movimiento) frente a tirar de un remolque pesado con una cuerda elástica (relación alta con acoplamiento blando: el remolque hace lo que quiere).</a:t>
            </a:r>
          </a:p>
          <a:p/>
          <a:p>
            <a:r>
              <a:t>Dato práctico: Pn103 mal ajustado es una causa muy frecuente de comportamiento extraño. Si el autotuning estima 300 % y alguien lo deja en 0 %, el lazo de velocidad queda mal escalado y el eje responde lento o inestable.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diagrama explica visualmente el corazón del dimensionamiento: el par es alto sólo mientras cambia la velocidad. A velocidad constante sólo hay que vencer la fricción.</a:t>
            </a:r>
          </a:p>
          <a:p/>
          <a:p>
            <a:r>
              <a:t>Señale la asimetría entre aceleración y frenado: al frenar, la fricción ayuda, por lo que el par de deceleración es algo menor en valor absoluto. En ejes verticales ocurre lo contrario al subir y bajar, y hay que calcular ambos sentidos.</a:t>
            </a:r>
          </a:p>
          <a:p/>
          <a:p>
            <a:r>
              <a:t>Mencione el perfil en S: suaviza el cambio de aceleración (limita el 'jerk'), reduce la excitación de resonancias y el desgaste mecánico, a cambio de exigir algo más de par pico para el mismo tiempo de ciclo. En máquinas con estructura elástica suele compensar.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por qué se eleva al cuadrado: las pérdidas por efecto Joule son proporcionales a I², y el par es proporcional a I. Por eso un pico de par corto pesa mucho en el valor eficaz.</a:t>
            </a:r>
          </a:p>
          <a:p/>
          <a:p>
            <a:r>
              <a:t>Ejercicio mental muy útil: si se duplica la cadencia de la máquina (la mitad de tiempo de ciclo con el mismo movimiento), el par RMS se multiplica por √2 ≈ 1,41. Es la forma rápida de responder a la pregunta '¿puedo ir más rápido con este motor?'.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el cálculo en pizarra o en hoja de cálculo en paralelo. Es importante que vean que no hay magia: son cuatro fórmulas.</a:t>
            </a:r>
          </a:p>
          <a:p/>
          <a:p>
            <a:r>
              <a:t>Comente el resultado de la inercia: la masa de 400 kg contribuye 40,5 y el husillo, que 'sólo' pesa 14,8 kg, contribuye 29,6. En husillos largos y gruesos, el husillo puede dominar el cálculo. Es un resultado contraintuitivo que conviene remarcar.</a:t>
            </a:r>
          </a:p>
          <a:p/>
          <a:p>
            <a:r>
              <a:t>Si el grupo quiere jugar: pregunte qué pasa si se duplica el paso a 40 mm. La inercia de la masa se multiplica por 4 (162×10⁻⁴), la velocidad del motor se reduce a la mitad (1.200 rpm) y el par sube. Es el compromiso clásico del husillo.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ejemplo con la lectura de ingeniería: el eje está holgado en par, lo que da margen para aumentar cadencia en el futuro. Pero al bajar de tamaño de motor la inercia del rotor cae y la relación de inercias empeora, con lo que la sintonización se complica. Ese compromiso —par sobrado frente a relación de inercias— es la esencia del oficio.</a:t>
            </a:r>
          </a:p>
          <a:p/>
          <a:p>
            <a:r>
              <a:t>Sobre la regeneración: el cálculo de 288 J es la energía cinética total. Parte se disipa en la fricción y en las pérdidas del motor y del drive, y parte la absorben los condensadores del bus. Lo que llega a la resistencia es bastante menos. Por eso el criterio práctico es comparar la potencia media de regeneración con la capacidad de la resistencia interna, y ante la duda, medir en la puesta en marcha con la función de traza.</a:t>
            </a:r>
          </a:p>
          <a:p/>
          <a:p>
            <a:r>
              <a:t>Los ejes verticales son el caso crítico de regeneración: al bajar, la gravedad aporta energía de forma continua y la resistencia interna se queda corta casi siempre.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mecanismo: al frenar, el motor genera y la corriente entra al bus de continua elevando su tensión. Cuando supera un umbral (alrededor de 400 V), el drive conecta el transistor de frenado y quema la energía en la resistencia. Si la energía es mayor que la que la resistencia puede disipar, la tensión sigue subiendo hasta A.400.</a:t>
            </a:r>
          </a:p>
          <a:p/>
          <a:p>
            <a:r>
              <a:t>Advertencia práctica: la resistencia externa puede superar los 200 °C. Nunca se monta pegada a cables ni bajo materiales sensibles, y siempre se cablea con conductor resistente a temperatura.</a:t>
            </a:r>
          </a:p>
          <a:p/>
          <a:p>
            <a:r>
              <a:t>Recuerde configurar Pn600: si se monta una resistencia externa y no se declara, el drive sigue calculando con la interna y protege mal.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8 es el que casi nadie hace y el que más valor aporta: comparar el cálculo teórico con la medida real en la máquina. Si el par medido es muy superior al calculado, hay fricción no prevista, desalineación o un problema mecánico que conviene resolver antes de que rompa algo.</a:t>
            </a:r>
          </a:p>
          <a:p/>
          <a:p>
            <a:r>
              <a:t>Sugerencia de trabajo: crear una plantilla de hoja de cálculo corporativa con estas fórmulas y archivarla junto a la documentación de cada máquina.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eminentemente práctico. Si hay armario disponible, alterne diapositiva y equipo real.</a:t>
            </a:r>
          </a:p>
          <a:p/>
          <a:p>
            <a:r>
              <a:t>Mensaje transversal: la mayoría de los fallos 'raros' de un servo (alarmas intermitentes, ruido en la medida, pérdidas de comunicación) son problemas de instalación, no de configuración.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condensación merece un comentario: en instalaciones estacionales o con paradas largas, la resistencia de caldeo del armario evita averías electrónicas caras. Cuesta muy poco.</a:t>
            </a:r>
          </a:p>
          <a:p/>
          <a:p>
            <a:r>
              <a:t>Sobre las pérdidas: el dato exacto está en el manual por modelo. Lo importante es que el alumno recuerde que un eje servo no es 'frío': aporta calor real al armario y hay que incluirlo en el balance térmico junto con el resto de equipos.</a:t>
            </a:r>
          </a:p>
          <a:p/>
          <a:p>
            <a:r>
              <a:t>Truco de mantenimiento: registrar con una cámara térmica el armario recién puesto en marcha, para tener una referencia con la que comparar años después.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esquema de izquierda a derecha. Los puntos que hay que destacar:</a:t>
            </a:r>
          </a:p>
          <a:p/>
          <a:p>
            <a:r>
              <a:t>· La alimentación de control (L1C/L2C) se toma ANTES del contactor. Así, al abrir el contactor por emergencia el drive sigue vivo: mantiene la comunicación, el encoder absoluto y el diagnóstico. Es la diferencia entre 'la máquina paró y sé por qué' y 'la máquina se apagó'.</a:t>
            </a:r>
          </a:p>
          <a:p/>
          <a:p>
            <a:r>
              <a:t>· El filtro va lo más cerca posible del amplificador y con carcasa a masa.</a:t>
            </a:r>
          </a:p>
          <a:p/>
          <a:p>
            <a:r>
              <a:t>· La salida de alarma ALM del drive se cablea normalmente en serie con la bobina del contactor, de modo que una alarma grave corta la potencia.</a:t>
            </a:r>
          </a:p>
          <a:p/>
          <a:p>
            <a:r>
              <a:t>· La resistencia de regeneración se conecta entre B1 y B2 retirando previamente el puente B2-B3.</a:t>
            </a:r>
          </a:p>
          <a:p/>
          <a:p>
            <a:r>
              <a:t>· Todas las tierras van en estrella a la placa de montaje.</a:t>
            </a:r>
          </a:p>
          <a:p/>
          <a:p>
            <a:r>
              <a:t>Advertencia: no usar el contactor para arrancar y parar la máquina en cada ciclo. El circuito de precarga tiene un número limitado de maniobras y se degrada.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dos puntos que se olvidan casi siempre:</a:t>
            </a:r>
          </a:p>
          <a:p>
            <a:r>
              <a:t>1) El diferencial debe ser tipo B. Un inversor genera corrientes de fuga de alta frecuencia y con componente continua que un diferencial tipo A o AC no detecta correctamente y que provoca disparos intempestivos.</a:t>
            </a:r>
          </a:p>
          <a:p>
            <a:r>
              <a:t>2) Las corrientes de fuga capacitivas crecen con la longitud del cable de motor. Con varios ejes y cables largos pueden sumar cientos de miliamperios: por eso se recomienda sensibilidad de 300 mA o superior y una buena red de tierras.</a:t>
            </a:r>
          </a:p>
          <a:p/>
          <a:p>
            <a:r>
              <a:t>El contactor de línea es opcional desde el punto de vista funcional, pero es la forma correcta de implementar el corte de potencia manteniendo el control vivo. No conviene usarlo para arrancar y parar la máquina ciclo a ciclo: se limita a maniobras de seguridad y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secuencia de arranque es siempre la misma: control → potencia → esperar a que el drive esté listo (/S-RDY) → servo ON → mover.</a:t>
            </a:r>
          </a:p>
          <a:p/>
          <a:p>
            <a:r>
              <a:t>El retardo entre la potencia y el servo ON no es un capricho: el circuito de precarga necesita cargar los condensadores del bus antes de que el relé de bypass los conecte a la red. Dar servo ON demasiado pronto produce alarma de subtensión (A.410) o un aviso de secuencia inválida.</a:t>
            </a:r>
          </a:p>
          <a:p/>
          <a:p>
            <a:r>
              <a:t>En la parada, el orden inverso protege al motor: primero quitar la consigna y esperar a velocidad cero, después servo OFF (con freno si corresponde) y sólo entonces cortar la potencia.</a:t>
            </a:r>
          </a:p>
          <a:p/>
          <a:p>
            <a:r>
              <a:t>Comente el caso especial de la parada de emergencia: al abrir el contactor con el motor en marcha, el drive detecta pérdida de fase y detiene por freno dinámico. Es aceptable en emergencia, pero no debe ser el modo normal de parada.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por qué la conexión de 360° importa: a las frecuencias en juego (MHz), un conductor de 10 cm tiene una impedancia apreciable, así que la malla deja de hacer de pantalla. La abrazadera metálica que rodea la malla completa es la solución correcta y cuesta céntimos.</a:t>
            </a:r>
          </a:p>
          <a:p/>
          <a:p>
            <a:r>
              <a:t>Sobre la conexión de la malla en ambos extremos: la objeción clásica es el 'bucle de tierra'. En un armario industrial con red de masas correcta el beneficio de apantallamiento supera con mucho al problema del bucle. Los fabricantes de drives lo recomiendan de forma unánime.</a:t>
            </a:r>
          </a:p>
          <a:p/>
          <a:p>
            <a:r>
              <a:t>Anécdota real muy útil: ejes que fallan sólo cuando arranca otra máquina de la nave. Es un problema de acoplamiento por red o por tierra, no del servo.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Regeneración: el puente entre B2 y B3 conecta la resistencia interna. Si se monta una externa hay que RETIRARLO; si no, quedan las dos en paralelo, baja la resistencia total por debajo del mínimo admisible y se puede dañar el transistor de frenado. Además hay que declarar la capacidad de la resistencia externa en Pn600 para que la protección térmica del drive calcule bien.</a:t>
            </a:r>
          </a:p>
          <a:p/>
          <a:p>
            <a:r>
              <a:t>Freno: es un electroimán de 24 V CC normalmente cerrado. Tres reglas:</a:t>
            </a:r>
          </a:p>
          <a:p>
            <a:r>
              <a:t>1) Fuente propia o al menos circuito propio: la corriente de conexión/desconexión es alta y perturba las E/S.</a:t>
            </a:r>
          </a:p>
          <a:p>
            <a:r>
              <a:t>2) Supresor de sobretensión (varistor o diodo) en la bobina; al cortar una bobina se generan picos de cientos de voltios que destruyen contactos y perturban la electrónica.</a:t>
            </a:r>
          </a:p>
          <a:p>
            <a:r>
              <a:t>3) El contacto de mando debe estar dimensionado para carga inductiva de continua, que es mucho más exigente que la alterna.</a:t>
            </a:r>
          </a:p>
          <a:p/>
          <a:p>
            <a:r>
              <a:t>Recuerde: /BK es una señal lógica del drive que hay que asignar a una salida física con Pn50F y que normalmente ataca a un relé intermedio.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puente entre el módulo de instalación y el de sintonización. Si el alumno entiende que la rigidez mecánica fija el techo de las ganancias, entenderá por qué en el Módulo 09 a veces no hay nada más que hacer desde el drive.</a:t>
            </a:r>
          </a:p>
          <a:p/>
          <a:p>
            <a:r>
              <a:t>Dato práctico: sustituir un acoplamiento elastomérico por uno de fuelle metálico puede permitir subir la ganancia un 50 % o más en ejes exigentes. Es una mejora barata cuando un eje 'no llega'.</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Recomiende convertir esta lista en un documento de calidad firmado por el instalador. En caso de incidencia, tener el registro de que se verificó cada punto cambia por completo la conversación.</a:t>
            </a:r>
          </a:p>
          <a:p/>
          <a:p>
            <a:r>
              <a:t>El punto 4 merece un comentario: si se intercambian dos fases del motor, el eje puede embalarse al activar el servo o disparar alarma de sobrecorriente inmediatamente. Se comprueba en la prueba de JOG del Módulo 08, siempre con la carga desacoplada la primera vez.</a:t>
            </a:r>
          </a:p>
          <a:p/>
          <a:p>
            <a:r>
              <a:t>El punto 9 es el que más veces provoca la llamada 'el motor no hace nada y no da alarma'.</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módulo conecta el drive con el mundo exterior. El objetivo es que el alumno sea capaz de leer el esquema de un armario ajeno y entender qué señal hace qué, y de diseñar el suyo propio.</a:t>
            </a:r>
          </a:p>
          <a:p/>
          <a:p>
            <a:r>
              <a:t>Recuerde a lo largo del módulo que los números de pin concretos dependen de la variante de interfaz del amplificador: hay que verificarlos en el manual del modelo instalado.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CN7 y CN8. CN7 porque es la puerta de entrada al equipo para cualquier trabajo serio, y CN8 porque su puente de fábrica es la causa más frecuente de 'no da par y no da alarma'.</a:t>
            </a:r>
          </a:p>
          <a:p/>
          <a:p>
            <a:r>
              <a:t>CN5 (monitor analógico) es una joya poco conocida: permite sacar velocidad y par a un osciloscopio con una escala configurable por parámetro. En sintonización de ejes difíciles, ver la señal real en un osciloscopio de verdad sigue siendo insustituible.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concepto de alimentación de las entradas: el drive no alimenta sus propias entradas digitales. Hay que llevar los 24 V a un terminal común (+24VIN) y desde ahí los contactos externos cierran cada entrada. Es la causa número uno de 'las entradas no responden' en un primer montaje.</a:t>
            </a:r>
          </a:p>
          <a:p/>
          <a:p>
            <a:r>
              <a:t>Las entradas son por optoacoplador con común configurable, lo que permite trabajar en lógica positiva (source) o negativa (sink) según cómo se alimente el común. Hay que decidirlo al diseñar el armario y mantener el criterio en toda la máquina.</a:t>
            </a:r>
          </a:p>
          <a:p/>
          <a:p>
            <a:r>
              <a:t>Las salidas son transistores de colector abierto con capacidad limitada (decenas de miliamperios): no atacan directamente contactores ni electroválvulas. Hay que usar relés intermedios y siempre con supresor en las cargas inductivas.</a:t>
            </a:r>
          </a:p>
          <a:p/>
          <a:p>
            <a:r>
              <a:t>Los números de pin dependen de la variante: verifíquelos en el manual del equipo instalado antes de cablear.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concepto de asignación: en la Σ-7 las señales lógicas no están atadas a un pin. Con Pn50A/Pn50B se decide qué terminal físico (SI0…SI6) activa cada señal lógica, e incluso se puede fijar una señal como 'siempre activa' sin cablearla.</a:t>
            </a:r>
          </a:p>
          <a:p/>
          <a:p>
            <a:r>
              <a:t>Eso último es muy práctico en un banco de pruebas (por ejemplo, forzar P-OT y N-OT a inactivo para no tener que cablear finales de carrera), pero es PELIGROSO dejarlo así en una máquina de producción. Debe quedar documentado y revisado.</a:t>
            </a:r>
          </a:p>
          <a:p/>
          <a:p>
            <a:r>
              <a:t>Detalle que confunde a todo el mundo la primera vez: P-OT y N-OT son señales de seguridad con lógica negativa. El contacto debe estar CERRADO en funcionamiento normal, de modo que un cable roto detenga el eje. Es la filosofía correcta, pero sorprende a quien viene de otras marcas.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ajuste de Pn522 merece una explicación con dibujo: es una ventana alrededor del destino. Se fija en unidades de referencia, es decir, después del engranaje electrónico.</a:t>
            </a:r>
          </a:p>
          <a:p/>
          <a:p>
            <a:r>
              <a:t>Método práctico para ajustarla: haz un posicionado, mira el error final estabilizado en Un008 y pon Pn522 en un valor unas 3-5 veces mayor que ese error residual, siempre dentro de la tolerancia mecánica de la aplicación.</a:t>
            </a:r>
          </a:p>
          <a:p/>
          <a:p>
            <a:r>
              <a:t>Un fallo clásico: /COIN se activa antes de que el eje esté realmente quieto porque la ventana es enorme. La máquina empieza la siguiente operación y aparecen defectos de calidad intermitentes.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arquitectura clásica de máquina-herramienta: el CNC lee la posición (por el encoder del drive o por una regla), cierra el lazo de posición y envía una consigna de velocidad analógica al drive. El drive es un 'regulador de velocidad de alta calidad'.</a:t>
            </a:r>
          </a:p>
          <a:p/>
          <a:p>
            <a:r>
              <a:t>El ajuste del offset es un procedimiento clásico de puesta en marcha: con consigna a cero, el eje debe quedar completamente parado. La Σ-7 tiene funciones de utilidad específicas para el ajuste automático y manual del offset de las entradas analógicas.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tres formatos de tren de pulsos se seleccionan con Pn200.0. Hay que configurar EXACTAMENTE el que emite el controlador; si no, el eje se mueve al revés, a media velocidad o no se mueve.</a:t>
            </a:r>
          </a:p>
          <a:p/>
          <a:p>
            <a:r>
              <a:t>Diferencia crítica entre line driver y colector abierto: el line driver (RS-422) es diferencial, admite frecuencias altas y cables largos con buena inmunidad. El colector abierto es más sencillo pero limita mucho la frecuencia y la longitud. En un eje de 3 kW con dinámica exigente, usa siempre line driver.</a:t>
            </a:r>
          </a:p>
          <a:p/>
          <a:p>
            <a:r>
              <a:t>La salida de encoder (PAO/PBO/PCO) reproduce la posición hacia el controlador con la resolución que fije Pn212. Sirve para que el CNC cierre su propio lazo o para sincronizar otro eje como esclavo. PCO es el pulso de marca por vuelta, usado en la búsqueda de origen.</a:t>
            </a:r>
          </a:p>
          <a:p/>
          <a:p>
            <a:r>
              <a:t>Ojo con Pn212: pedir una resolución de salida demasiado alta a velocidad elevada supera la frecuencia máxima de salida y dispara la alarma correspondiente.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Comente la diferencia entre parada de sobrerrecorrido y parada de emergencia: la primera es una función del drive, la segunda es una función de seguridad de la máquina que debe resolverse con la cadena de seguridad (Módulo 10).</a:t>
            </a:r>
          </a:p>
          <a:p/>
          <a:p>
            <a:r>
              <a:t>Detalle importante en ejes verticales: si al detectar sobrerrecorrido el eje queda libre, la carga cae. Hay que configurar la parada con enclavamiento y coordinar con el freno de retención.</a:t>
            </a:r>
          </a:p>
          <a:p/>
          <a:p>
            <a:r>
              <a:t>Consejo de puesta en marcha: pruebe físicamente los finales de carrera moviendo el eje a baja velocidad y accionándolos a mano antes de trabajar a velocidad nominal.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Aclare un malentendido habitual: aunque se use bus, la seguridad (CN8/HWBB) y normalmente los finales de carrera siguen siendo cableado físico. El bus transporta el mando, no la seguridad, salvo que se use una capa de seguridad certificada (FSoE).</a:t>
            </a:r>
          </a:p>
          <a:p/>
          <a:p>
            <a:r>
              <a:t>Sobre los modos CiA 402: el que se usa en el 90 % de las máquinas es csp (cyclic synchronous position), en el que el maestro envía una posición objetivo cada ciclo de bus (típicamente 1-2 ms) y el drive interpola entre puntos. Toda la trayectoria la calcula el maestro.</a:t>
            </a:r>
          </a:p>
          <a:p/>
          <a:p>
            <a:r>
              <a:t>Ventaja de mantenimiento poco valorada: con bus, los parámetros y el estado del drive son accesibles desde el PLC, lo que permite diagnóstico remoto y sustitución de equipo con recarga automática de parámetros.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módulo con una recomendación clara: en proyecto nuevo, bus. En retrofit, analógica o pulsos, salvo que también se cambie el controlador.</a:t>
            </a:r>
          </a:p>
          <a:p/>
          <a:p>
            <a:r>
              <a:t>Un aviso de coste: el bus reduce mucho el cableado y el tiempo de montaje, pero exige competencias de red industrial en el equipo de mantenimiento. Si la planta no las tiene, hay que formar antes de instalar; si no, el primer fallo de comunicación será un día de parada.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partir de aquí el curso se vuelve práctico con el equipo. Si dispone de un drive, mantenga este módulo con el equipo encendido y el PC conectado.</a:t>
            </a:r>
          </a:p>
          <a:p/>
          <a:p>
            <a:r>
              <a:t>Regla que hay que establecer desde el principio: antes de tocar nada, guardar una copia de la configuración actual. Siempre.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Enseñe a interpretar el display en el equipo real. Al energizar, el drive muestra su estado; ante un fallo, el código de alarma con el formato A.xxx.</a:t>
            </a:r>
          </a:p>
          <a:p/>
          <a:p>
            <a:r>
              <a:t>La navegación por el panel sigue siempre el mismo patrón: se elige la familia de función (parámetros, monitores, funciones de utilidad), se navega hasta el número deseado, se entra en el valor, se modifica y se confirma.</a:t>
            </a:r>
          </a:p>
          <a:p/>
          <a:p>
            <a:r>
              <a:t>El panel es suficiente para diagnóstico y para cambios puntuales, pero para sintonizar o para cargar una configuración completa hay que usar SigmaWin+. Nadie sintoniza un eje con cinco dígitos y cuatro teclas.</a:t>
            </a:r>
          </a:p>
          <a:p/>
          <a:p>
            <a:r>
              <a:t>Detalle útil: el punto decimal parpadeante en algunos dígitos indica estados concretos (por ejemplo, que el valor mostrado está pendiente de confirmación). Consulte la leyenda del manual.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Truco didáctico: pida a los alumnos que asocien cada familia con un verbo. Pn = configurar. Fn = hacer. Un = mirar.</a:t>
            </a:r>
          </a:p>
          <a:p/>
          <a:p>
            <a:r>
              <a:t>Los monitores Un son la herramienta de diagnóstico más rápida que existe: sin PC, sin cables, directamente en el display. Un005 y Un006 (estado de entradas y salidas) resuelven en 30 segundos la pregunta '¿le está llegando la señal de servo ON o no?'.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más importante desde el punto de vista metodológico. En sintonización, cambiar varias cosas a la vez es la forma más rápida de perderse.</a:t>
            </a:r>
          </a:p>
          <a:p/>
          <a:p>
            <a:r>
              <a:t>Sobre los avisos de reinicio: es una fuente de confusión clásica. El técnico cambia el parámetro, prueba, no ve diferencia, y concluye que el parámetro 'no hace nada'. En realidad hacía falta un ciclo de alimentación.</a:t>
            </a:r>
          </a:p>
          <a:p/>
          <a:p>
            <a:r>
              <a:t>Recomiende una convención de nombres para los ficheros de parámetros: MAQUINA_EJE_FECHA_motivo.  Por ejemplo: LINEA3_EJEX_20240115_ajuste_ganancias.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la función de traza: es lo que separa el ajuste 'por oído' del ajuste con criterio. Ver el error de seguimiento en función del tiempo, superpuesto al perfil de velocidad, permite decidir con datos qué ganancia tocar.</a:t>
            </a:r>
          </a:p>
          <a:p/>
          <a:p>
            <a:r>
              <a:t>El modo offline es un argumento de venta interno muy potente: permite que un ingeniero prepare toda la configuración desde la oficina y que la puesta en marcha en cliente se reduzca a volcar y verificar.</a:t>
            </a:r>
          </a:p>
          <a:p/>
          <a:p>
            <a:r>
              <a:t>Comente que existen versiones y compatibilidades de SigmaWin+ según la serie del drive; conviene tener la versión actual descargada de la web del fabricante.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concepto genera muchas dudas, así que conviene explicarlo con una pregunta: ¿en qué unidades quieres programar la máquina? ¿En milímetros? ¿En micras? ¿En grados? El engranaje electrónico es lo que traduce esa unidad de referencia a cuentas del encoder.</a:t>
            </a:r>
          </a:p>
          <a:p/>
          <a:p>
            <a:r>
              <a:t>Fórmula general: B/A = (resolución del encoder × relación de transmisión) / (unidades de referencia por vuelta del eje de carga).</a:t>
            </a:r>
          </a:p>
          <a:p/>
          <a:p>
            <a:r>
              <a:t>Ejemplo del diagrama: encoder de 24 bits (16.777.216 cuentas/vuelta), husillo de 20 mm de paso, y queremos programar en micras. Una vuelta de motor son 20 mm = 20.000 micras. Luego B/A = 16.777.216 / 20.000.</a:t>
            </a:r>
          </a:p>
          <a:p/>
          <a:p>
            <a:r>
              <a:t>Dos advertencias:</a:t>
            </a:r>
          </a:p>
          <a:p>
            <a:r>
              <a:t>1) Si la fracción no es exacta, hay error de redondeo que se acumula. Elija unidades que den fracciones exactas siempre que pueda.</a:t>
            </a:r>
          </a:p>
          <a:p>
            <a:r>
              <a:t>2) Cambiar el engranaje cambia el significado de TODOS los parámetros expresados en unidades de referencia (Pn522, Pn520, velocidades de consigna). Hay que revisarlos después.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caso de la mesa rotativa merece atención: si la fracción no es exacta, el error se acumula vuelta tras vuelta y al cabo de miles de posicionados la mesa se ha 'ido'. En ejes rotativos infinitos hay que elegir la unidad de referencia de modo que la fracción sea exacta, o usar la función de límite multivuelta coherente con la relación de transmisión.</a:t>
            </a:r>
          </a:p>
          <a:p/>
          <a:p>
            <a:r>
              <a:t>Comprobación práctica infalible tras configurar el engranaje: ordena un movimiento de 100 mm (o de 100 unidades conocidas) y **mídelo con un metro o un comparador**. Si no coincide, el engranaje está mal. Esta comprobación de 2 minutos evita fallos que aparecerían meses después.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Pn000.0 merece un comentario: cambiar el sentido de giro por parámetro es lo correcto. Intercambiar dos fases del motor 'para que gire al revés' es un error grave: el encoder sigue indicando el sentido original, la realimentación queda invertida y el eje se embala o dispara alarma.</a:t>
            </a:r>
          </a:p>
          <a:p/>
          <a:p>
            <a:r>
              <a:t>Pn520 es el guardián de la mecánica: si el eje no puede seguir la consigna (choque, atasco, dimensionamiento insuficiente), esta alarma detiene el movimiento antes de romper algo. No lo suba sin entender por qué está saltando.</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entre en detalle aquí: es un mapa, no el territorio. Basta con que el alumno sepa que existe un conjunto reducido de parámetros que resuelve el 95 % de los casos.</a:t>
            </a:r>
          </a:p>
          <a:p/>
          <a:p>
            <a:r>
              <a:t>Mensaje importante: el manual tiene cientos de parámetros, pero en la práctica un especialista toca habitualmente unos veinte. Eso tranquiliza mucho a quien empieza.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Enseñe la rutina de diagnóstico en tres monitores: Un005 (¿llegan las señales?), Un002 (¿cuánto par está pidiendo?) y Un008 (¿está siguiendo la consigna?). Con esos tres se descarta el 70 % de las causas en cinco minutos.</a:t>
            </a:r>
          </a:p>
          <a:p/>
          <a:p>
            <a:r>
              <a:t>Un002 tiene un valor especial para el ingeniero: permite comparar el par real con el calculado en el Módulo 04. Si el eje pide un 90 % de par donde el cálculo decía 47 %, hay un problema mecánico que hay que resolver antes de que rompa algo.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módulo donde conviene hablar de gestión: el mejor técnico del mundo no puede arreglar en una hora una máquina cuya configuración se perdió.</a:t>
            </a:r>
          </a:p>
          <a:p/>
          <a:p>
            <a:r>
              <a:t>Proponga un formato de etiqueta para pegar dentro del armario, junto al drive, con: modelo de drive, modelo de motor, versión de firmware, fecha de puesta en marcha, fecha del último cambio de batería y ruta del fichero de parámetros en el servidor.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módulo más práctico del curso. Si hay banco de pruebas, dedique la mayor parte del tiempo a ejecutar el procedimiento con los alumnos.</a:t>
            </a:r>
          </a:p>
          <a:p/>
          <a:p>
            <a:r>
              <a:t>El principio rector es 'aislar variables': se prueba primero el amplificador solo, después el motor sin carga, después con carga a baja velocidad, y sólo al final el ciclo completo. Cada fase debe superarse antes de pasar a la siguiente. Cuando algo falla, se sabe exactamente qué se acaba de cambiar.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el principio de aislamiento de variables. Si se conecta todo y se arranca, cuando algo falla hay veinte causas posibles. Avanzando por fases, cuando algo falla sólo hay una: lo último que se ha cambiado.</a:t>
            </a:r>
          </a:p>
          <a:p/>
          <a:p>
            <a:r>
              <a:t>Este método no es más lento; es mucho más rápido, porque el tiempo perdido en diagnóstico a ciegas siempre supera al tiempo invertido en hacer las cosas en orden.</a:t>
            </a:r>
          </a:p>
          <a:p/>
          <a:p>
            <a:r>
              <a:t>Insista en la fase 0: la verificación previa es la que evita destruir equipo. Cinco minutos con el multímetro antes de energizar.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la primera línea: motor desacoplado. Si el sentido de giro está invertido o el engranaje electrónico mal calculado, un eje acoplado puede embalarse contra el tope mecánico en menos de un segundo.</a:t>
            </a:r>
          </a:p>
          <a:p/>
          <a:p>
            <a:r>
              <a:t>La comprobación de Un005 es un truco muy útil que ahorra tiempo: en lugar de medir con el multímetro pin a pin, el drive te dice qué entradas ve activas.</a:t>
            </a:r>
          </a:p>
          <a:p/>
          <a:p>
            <a:r>
              <a:t>Recuerde el caso de CN8: si el puente de seguridad no está y el circuito HWBB no está cableado, /S-RDY no se activará o el eje no dará par sin alarma evidente.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 JOG es el mejor diagnóstico inicial que existe. Un motor que gira suave y silencioso en vacío, con par casi nulo, es un motor sano bien cableado.</a:t>
            </a:r>
          </a:p>
          <a:p/>
          <a:p>
            <a:r>
              <a:t>Si el motor vibra o hace ruido en vacío, las causas más probables son: ganancias de fábrica demasiado altas para esa mecánica, problema en el cable de encoder, o fases mal conectadas.</a:t>
            </a:r>
          </a:p>
          <a:p/>
          <a:p>
            <a:r>
              <a:t>Sobre el sentido de giro: la convención de YASKAWA es que el sentido positivo se ve antihorario mirando desde el lado del eje. Pn000.0 invierte esa convención sin tocar nada más del sistema.</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Ordene los pasos por dependencia: el engranaje electrónico debe estar antes que Pn520 y Pn522, porque estos últimos se expresan en unidades de referencia y su significado cambia con el engranaje.</a:t>
            </a:r>
          </a:p>
          <a:p/>
          <a:p>
            <a:r>
              <a:t>La comprobación del engranaje midiendo un desplazamiento real es obligatoria y no admite atajos. Dos minutos aquí evitan semanas de desconcierto.</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diferencia entre 'posición absoluta del encoder' y 'cero de la máquina'. El encoder sabe dónde está el rotor; sólo la máquina sabe dónde está su cero útil. La relación entre ambos es el offset de origen, que vive en el controlador.</a:t>
            </a:r>
          </a:p>
          <a:p/>
          <a:p>
            <a:r>
              <a:t>En algunas arquitecturas ese offset se guarda en el propio drive; en otras, en el PLC. Sea cual sea, debe estar documentado y respaldado.</a:t>
            </a:r>
          </a:p>
          <a:p/>
          <a:p>
            <a:r>
              <a:t>Ejercicio recomendado: simule una sustitución de drive. Cargue los parámetros en otro equipo, ejecute Fn008 y compruebe cuánto se tarda en recuperar el eje. Es un ensayo que vale su peso en oro cuando ocurra de verdad.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3 (recorrer todo el rango a baja velocidad observando el par) es un diagnóstico mecánico de altísimo valor y coste cero. Un husillo torcido, un rodamiento dañado o una guía sucia se detectan inmediatamente como un aumento local del par.</a:t>
            </a:r>
          </a:p>
          <a:p/>
          <a:p>
            <a:r>
              <a:t>El paso 7 es el que más se salta y el que más problemas evita: muchos ejes funcionan perfectamente durante diez ciclos y disparan A.720 (sobrecarga continua) tras media hora de producción, porque el par RMS real es mayor que el calculado.</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el valor económico de documentar: el coste de media hora de documentación frente al coste de un día de parada por no saber cómo estaba configurado un eje.</a:t>
            </a:r>
          </a:p>
          <a:p/>
          <a:p>
            <a:r>
              <a:t>Sugerencia: convertir esta tabla en una plantilla corporativa (Word o formulario digital) que se rellene en cada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Puede usar esta tabla como cierre del módulo y como test rápido: pida a los alumnos que expliquen por qué cada error tiene la consecuencia indicada. Si saben justificarlo, han entendido el módulo.</a:t>
            </a:r>
          </a:p>
          <a:p/>
          <a:p>
            <a:r>
              <a:t>El error número 5 (autoajuste sin carga) es sutil y muy común: el técnico prueba en vacío porque es cómodo, obtiene un ajuste 'que va bien', acopla la carga y todo se degrada. La inercia es lo que el autoajuste mide, y sin carga mide otra máquina.</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módulo más técnico y el que más practica requiere. Conviene alternar teoría con ejercicios en el banco.</a:t>
            </a:r>
          </a:p>
          <a:p/>
          <a:p>
            <a:r>
              <a:t>Advertencia pedagógica: la sintonización no es un procedimiento cerrado sino un compromiso entre rapidez, precisión y estabilidad. El alumno debe salir sabiendo qué está negociando en cada momento.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diagrama es el vocabulario visual del módulo. Los alumnos deben aprender a clasificar de un vistazo la traza que ven en SigmaWin+.</a:t>
            </a:r>
          </a:p>
          <a:p/>
          <a:p>
            <a:r>
              <a:t>· Sobreamortiguado: llega tarde pero sin pasarse. Ganancia insuficiente. Seguro pero lento; en muchas aplicaciones industriales es un ajuste aceptable si el tiempo de ciclo lo permite.</a:t>
            </a:r>
          </a:p>
          <a:p>
            <a:r>
              <a:t>· Óptimo: llega rápido, con un sobrepasamiento mínimo o nulo, y se queda quieto. Es el objetivo.</a:t>
            </a:r>
          </a:p>
          <a:p>
            <a:r>
              <a:t>· Subamortiguado: se pasa y oscila varias veces antes de estabilizarse. Ganancia excesiva o mal repartida entre lazos. Aunque el tiempo hasta el primer cruce sea corto, el tiempo hasta estabilizar es mayor: es más lento en la práctica y castiga la mecánica.</a:t>
            </a:r>
          </a:p>
          <a:p/>
          <a:p>
            <a:r>
              <a:t>Insista en esto último, que es contraintuitivo: pasarse de ganancia no hace la máquina más rápida, la hace más lenta y más ruidosa.</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que aclaran el compromiso:</a:t>
            </a:r>
          </a:p>
          <a:p>
            <a:r>
              <a:t>· Máquina de corte por láser: prioridad al error de seguimiento durante la trayectoria; un error de contorno estropea la pieza.</a:t>
            </a:r>
          </a:p>
          <a:p>
            <a:r>
              <a:t>· Paletizadora: prioridad al tiempo de ciclo y a la suavidad; da igual un error de 0,5 mm durante el movimiento.</a:t>
            </a:r>
          </a:p>
          <a:p>
            <a:r>
              <a:t>· Rectificadora: prioridad a la estabilidad y al acabado; una vibración de alta frecuencia deja marcas en la pieza.</a:t>
            </a:r>
          </a:p>
          <a:p/>
          <a:p>
            <a:r>
              <a:t>El indicador de rigidez en parado se comprueba de forma muy visual: empujando el eje a mano (cuando es seguro hacerlo) y observando cuánto cede y cómo vuelve.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Establezca la estrategia recomendada:</a:t>
            </a:r>
          </a:p>
          <a:p>
            <a:r>
              <a:t>1) Empiece por el autoajuste avanzado con la carga real.</a:t>
            </a:r>
          </a:p>
          <a:p>
            <a:r>
              <a:t>2) Afine con el ajuste de un parámetro hasta el límite de ruido.</a:t>
            </a:r>
          </a:p>
          <a:p>
            <a:r>
              <a:t>3) Sólo si no basta, pase a manual y a filtros.</a:t>
            </a:r>
          </a:p>
          <a:p/>
          <a:p>
            <a:r>
              <a:t>El error típico del principiante es ir directo al ajuste manual 'porque es más profesional'. El autoajuste de la Σ-7 es muy bueno y deja un punto de partida difícil de mejorar a mano en poco tiempo.</a:t>
            </a:r>
          </a:p>
          <a:p/>
          <a:p>
            <a:r>
              <a:t>El error típico del experimentado es dejar activo el tuning-less mientras intenta ajustar a mano y no entender por qué sus cambios 'no hacen nada'.</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Comente qué hace realmente el autoajuste: excita el sistema, mide la respuesta, estima la inercia y sube la ganancia hasta detectar el principio de inestabilidad; después retrocede con un margen de seguridad y coloca filtros notch en las resonancias detectadas.</a:t>
            </a:r>
          </a:p>
          <a:p/>
          <a:p>
            <a:r>
              <a:t>Por eso hace ruido: está buscando el límite a propósito.</a:t>
            </a:r>
          </a:p>
          <a:p/>
          <a:p>
            <a:r>
              <a:t>El dato más valioso que devuelve es Pn103, la relación de inercias medida. Compárela con la calculada en el Módulo 04: si difieren mucho, alguna hipótesis del cálculo era falsa y conviene averiguar cuál.</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relación entre los lazos: el lazo de velocidad debe ser sensiblemente más rápido que el de posición (una regla habitual es un factor de 4 a 5 entre sus anchos de banda). Si se violenta esa relación, el sistema oscila.</a:t>
            </a:r>
          </a:p>
          <a:p/>
          <a:p>
            <a:r>
              <a:t>Método práctico para Pn100: subir en escalones del 20 %, y en cada escalón hacer un movimiento corto y escuchar. El oído humano detecta el principio de inestabilidad antes que muchos instrumentos.</a:t>
            </a:r>
          </a:p>
          <a:p/>
          <a:p>
            <a:r>
              <a:t>Un detalle sobre Pn401: es tentador subirlo para 'silenciar' el eje, pero el filtro introduce retardo en el lazo más interno, que es exactamente donde menos se puede permitir. Si hay ruido de alta frecuencia, casi siempre es mejor un filtro notch bien colocado que un filtro de par alto.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física: motor, acoplamiento y carga forman un sistema masa-muelle-masa con una frecuencia de resonancia propia. Si el lazo de control tiene ganancia suficiente a esa frecuencia, el sistema oscila.</a:t>
            </a:r>
          </a:p>
          <a:p/>
          <a:p>
            <a:r>
              <a:t>Hay dos formas de resolverlo: bajar la ganancia (funciona, pero sacrifica prestaciones en todo el rango) o quitar ganancia sólo en esa frecuencia concreta. Eso último es exactamente lo que hace un filtro notch.</a:t>
            </a:r>
          </a:p>
          <a:p/>
          <a:p>
            <a:r>
              <a:t>Procedimiento: se localiza la frecuencia con la función de análisis (Fn206 / análisis mecánico de SigmaWin+), se introduce en Pn409, y se ajusta la anchura con el factor Q (Pn40A) y la profundidad (Pn40B). Un notch demasiado ancho resta prestaciones; demasiado estrecho no atrapa la resonancia si esta se desplaza con la posición o la temperatura.</a:t>
            </a:r>
          </a:p>
          <a:p/>
          <a:p>
            <a:r>
              <a:t>Hay dos filtros notch disponibles, lo que permite atacar dos resonancias distintas. El autoajuste avanzado los coloca automáticamente cuando detecta resonancia.</a:t>
            </a:r>
          </a:p>
          <a:p/>
          <a:p>
            <a:r>
              <a:t>Advertencia importante: el filtro notch enmascara el síntoma pero no arregla la mecánica. Si la resonancia procede de un acoplamiento flojo o de un rodamiento dañado, hay que repararlo.</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distinción clave para el alumno: resonancia de alta frecuencia (cientos o miles de hercios, ruido agudo, se resuelve con notch) frente a vibración de baja frecuencia (unos pocos hercios, se ve a simple vista, se resuelve con supresión de vibración o rigidizando).</a:t>
            </a:r>
          </a:p>
          <a:p/>
          <a:p>
            <a:r>
              <a:t>Sobre el control por modelo en interpolación: es un punto fino. Si un eje tiene MFC y otro no, sus respuestas dinámicas difieren y la trayectoria resultante se deforma en las esquinas. En máquinas de contorneado hay que configurar todos los ejes de forma homogénea.</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última fila merece énfasis: cuando un eje que iba bien empieza a ir mal, la causa casi nunca está en el drive. Los parámetros no se cambian solos; la mecánica sí se desgasta.</a:t>
            </a:r>
          </a:p>
          <a:p/>
          <a:p>
            <a:r>
              <a:t>Ese es también el mejor argumento para guardar las trazas de la puesta en marcha: permiten comparar objetivamente el comportamiento de hoy con el de hace dos años y demostrar que algo ha cambiado en la máquina.</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módulo con esta idea: el objetivo no es demostrar lo rápido que puede ir el eje, sino entregar una máquina que funcione de forma estable durante años.</a:t>
            </a:r>
          </a:p>
          <a:p/>
          <a:p>
            <a:r>
              <a:t>Comente el efecto de la temperatura: la viscosidad del lubricante cambia con la temperatura, y con ella la fricción y el amortiguamiento del sistema. Un ajuste hecho al límite con la máquina caliente puede oscilar en el primer arranque de un lunes de invierno. Por eso el margen del 10-20 % no es opcional.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corto pero crítico. El objetivo no es convertir al alumno en experto en seguridad de máquinas, sino que sepa qué ofrece el drive, qué no ofrece, y cuándo hay que llamar a un especialista.</a:t>
            </a:r>
          </a:p>
          <a:p/>
          <a:p>
            <a:r>
              <a:t>Advertencia que hay que hacer explícita: el diseño de la función de seguridad de una máquina requiere un análisis de riesgos y competencias específicas. Este módulo explica la pieza que aporta el SERVOPACK, no sustituye a ese análisis.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punto del recuadro es el más malinterpretado del módulo. Un componente 'apto para PL e' insertado en una arquitectura de categoría 1 no da PL e.</a:t>
            </a:r>
          </a:p>
          <a:p/>
          <a:p>
            <a:r>
              <a:t>Sobre las funciones de IEC 61800-5-2: STO (par desactivado) es la base y la que implementa el hardware del drive. Otras funciones como SS1 (parada controlada seguida de STO) se construyen combinando el drive con un módulo de seguridad temporizado o con un drive con funciones de seguridad ampliadas.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 la arquitectura de dos canales: el módulo de seguridad abre simultáneamente dos circuitos independientes. Cada uno, por separado, es capaz de bloquear los transistores de potencia. Así, un fallo en un canal (un contacto pegado, un cable cortado) no impide que la función actúe.</a:t>
            </a:r>
          </a:p>
          <a:p/>
          <a:p>
            <a:r>
              <a:t>La señal EDM (External Device Monitoring) cierra el lazo de diagnóstico: el drive informa al módulo de seguridad de que efectivamente ha entrado en estado seguro. Si el módulo abre los canales y EDM no cambia de estado, hay un fallo interno y el sistema debe pasar a estado seguro y avisar. Esta vigilancia cruzada es lo que permite alcanzar categoría 3 / PL e.</a:t>
            </a:r>
          </a:p>
          <a:p/>
          <a:p>
            <a:r>
              <a:t>Dato práctico fundamental: CN8 se suministra con un conector puente de fábrica. Si se retira sin cablear la seguridad, el drive queda permanentemente en baseblock: no dará par y no habrá alarma evidente. Es la causa número uno de la llamada 'el motor nuevo no funciona'.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mensaje que hay que asegurarse de que se lleven a casa. Es un error que se comete con frecuencia en máquinas reales.</a:t>
            </a:r>
          </a:p>
          <a:p/>
          <a:p>
            <a:r>
              <a:t>Explique la diferencia entre 'quitar el par' y 'parar'. Con una gran inercia, quitar el par y dejar el eje libre puede ser MÁS peligroso que una parada controlada, porque el eje sigue moviéndose sin control.</a:t>
            </a:r>
          </a:p>
          <a:p/>
          <a:p>
            <a:r>
              <a:t>Por eso existe SS1: primero se frena de forma controlada con el drive y después, una vez parado, se aplica STO. Se implementa con un relé de seguridad temporizado, y el análisis de riesgos decide el tiempo.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4 (medir el tiempo de parada real) es el que más se omite y el que tiene consecuencias más directas: las distancias de seguridad de una barrera inmaterial se calculan a partir del tiempo de parada. Si el tiempo real es mayor que el supuesto, la protección es insuficiente.</a:t>
            </a:r>
          </a:p>
          <a:p/>
          <a:p>
            <a:r>
              <a:t>Recuerde también que el tiempo de parada aumenta con el desgaste del freno y con cambios en la carga, y que por eso hay que volver a medirlo periódicamente.</a:t>
            </a:r>
          </a:p>
          <a:p/>
          <a:p>
            <a:r>
              <a:t>Insista en que el diseño de la función de seguridad corresponde a personal cualificado y debe quedar documentado en el expediente técnico de la máquina.</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orientado a mantenimiento. El objetivo es reducir el tiempo medio de reparación, y eso se consigue con método, no con memoria.</a:t>
            </a:r>
          </a:p>
          <a:p/>
          <a:p>
            <a:r>
              <a:t>Si el grupo es de mantenimiento, este es probablemente el módulo que más van a usar. Dedique tiempo a los árboles de decisión y practique con averías simuladas si dispone de banco.</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error clásico en diagnóstico es empezar cambiando piezas. Este método obliga a recoger información antes de actuar.</a:t>
            </a:r>
          </a:p>
          <a:p/>
          <a:p>
            <a:r>
              <a:t>Los pasos 1 y 2 (qué dice el drive y qué dice el historial) resuelven una parte muy grande de los casos en dos minutos, sin herramientas.</a:t>
            </a:r>
          </a:p>
          <a:p/>
          <a:p>
            <a:r>
              <a:t>El paso 4, dividir el sistema, es la idea central: el sistema tiene cuatro bloques (controlador, drive, motor, mecánica) y dos enlaces (cableado de mando, cableado de potencia y encoder). Cada prueba debe descartar un bloque. Por ejemplo, un JOG desde el panel descarta de golpe el controlador y todo el cableado de mando.</a:t>
            </a:r>
          </a:p>
          <a:p/>
          <a:p>
            <a:r>
              <a:t>El paso 6 (documentar) es el que convierte una reparación en conocimiento de planta.</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el valor de los avisos: el drive dispone de un modelo térmico que sabe cuánto margen de sobrecarga queda. Esa información, llevada al HMI, permite planificar.</a:t>
            </a:r>
          </a:p>
          <a:p/>
          <a:p>
            <a:r>
              <a:t>Sobre el historial de alarmas: es la primera herramienta a consultar en cualquier avería. Muchas veces la alarma que ve el operario es consecuencia de otra anterior, y sólo el historial lo revela.</a:t>
            </a:r>
          </a:p>
          <a:p/>
          <a:p>
            <a:r>
              <a:t>Advertencia sobre el reset compulsivo: reiniciar una alarma de sobrecarga sin resolver la causa térmica es una manera eficaz de destruir un motor.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Enseñe a razonar por familias en lugar de memorizar códigos. Con el prefijo ya se sabe si el problema es de potencia, térmico, de seguimiento o del encoder.</a:t>
            </a:r>
          </a:p>
          <a:p/>
          <a:p>
            <a:r>
              <a:t>A.7__ (sobrecarga) es la alarma que más aparece en producción y casi siempre tiene causa mecánica: guías secas, rodamiento agarrotado, freno que no libera del todo, o producto atascado. Antes de tocar el drive, compruebe el par con Un002 y compare con el histórico.</a:t>
            </a:r>
          </a:p>
          <a:p/>
          <a:p>
            <a:r>
              <a:t>A.d__ (error de posición) merece una regla: nunca se resuelve subiendo el umbral Pn520. Eso es apagar la alarma de incendios.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Cuente la estrategia para alarmas intermitentes de encoder, que son las más frustrantes:</a:t>
            </a:r>
          </a:p>
          <a:p>
            <a:r>
              <a:t>1) Mover el cable con la máquina en marcha (con seguridad) para ver si se reproduce: delata rotura por fatiga en cadena portacables.</a:t>
            </a:r>
          </a:p>
          <a:p>
            <a:r>
              <a:t>2) Comprobar que la malla está a tierra en ambos extremos con abrazadera de 360°.</a:t>
            </a:r>
          </a:p>
          <a:p>
            <a:r>
              <a:t>3) Comprobar separación respecto a cables de potencia.</a:t>
            </a:r>
          </a:p>
          <a:p>
            <a:r>
              <a:t>4) Sustituir el cable por uno nuevo original antes de sustituir el motor: es mucho más barato y resuelve la mayoría de los casos.</a:t>
            </a:r>
          </a:p>
          <a:p/>
          <a:p>
            <a:r>
              <a:t>Sobre A.81_: es la alarma que aparece tras las paradas largas de planta. La solución es preventiva: cambiar baterías cada dos años con el equipo energizado.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Recorra el árbol de izquierda a derecha con el grupo, planteando cada pregunta en voz alta.</a:t>
            </a:r>
          </a:p>
          <a:p/>
          <a:p>
            <a:r>
              <a:t>La primera bifurcación (¿hay alarma?) es decisiva: con alarma, el drive ya ha hecho el diagnóstico y sólo hay que interpretarlo. Sin alarma, el problema está casi siempre en las condiciones de habilitación: servo ON, seguridad CN8, finales de carrera o consigna.</a:t>
            </a:r>
          </a:p>
          <a:p/>
          <a:p>
            <a:r>
              <a:t>El caso 'sin alarma y sin par' es el más confuso para el principiante y tiene tres sospechosos habituales: CN8 sin cablear tras retirar el puente, /S-ON no llega (comprobable en Un005) o falta la alimentación de +24VIN de las entradas.</a:t>
            </a:r>
          </a:p>
          <a:p/>
          <a:p>
            <a:r>
              <a:t>El caso 'con par pero sin movimiento' apunta a consigna ausente (Un007 sin pulsos, o telegrama de bus sin actualizar) o a bloqueo mecánico, que se distingue porque el par sube al máximo.</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Σ-7 dispone de monitores de vida útil de componentes (ventilador, condensadores, relés internos) que estiman el porcentaje consumido. Consúltelos en SigmaWin+ y llévelos al plan de mantenimiento: es mantenimiento predictivo gratuito que casi nadie usa.</a:t>
            </a:r>
          </a:p>
          <a:p/>
          <a:p>
            <a:r>
              <a:t>El reapriete de bornes es una tarea humilde y muy rentable: un borne flojo en un cable de motor de 18 A provoca calentamiento, caída de tensión asimétrica y, con el tiempo, un incendio o una avería del amplificador.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6 es el que convierte una sustitución rutinaria en un problema. Insista de nuevo: el origen no viaja en el fichero de parámetros.</a:t>
            </a:r>
          </a:p>
          <a:p/>
          <a:p>
            <a:r>
              <a:t>Sobre el paso 3: en almacén acaban conviviendo equipos parecidos con sufijos distintos. Un SGD7S-200A con interfaz de bus no sirve para sustituir a uno con interfaz analógica, aunque físicamente encaje.</a:t>
            </a:r>
          </a:p>
          <a:p/>
          <a:p>
            <a:r>
              <a:t>Recomiende ensayar el procedimiento una vez en condiciones controladas, por ejemplo durante una parada programada. La primera vez siempre aparecen sorpresas, y es mejor que aparezcan un martes por la mañana.</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proyecto integrador es la parte que consolida el aprendizaje. Idealmente se trabaja en grupos de dos o tres personas a lo largo del curso, entregando cada bloque al terminar el módulo correspondiente.</a:t>
            </a:r>
          </a:p>
          <a:p/>
          <a:p>
            <a:r>
              <a:t>Si el grupo tiene una máquina real en su planta, sustituya el enunciado por esa máquina: el valor formativo se multiplica.</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ejercicio de traducir requisitos a decisiones técnicas es el más valioso del proyecto. Hágalo en común en la pizarra antes de que los grupos empiecen a calcular.</a:t>
            </a:r>
          </a:p>
          <a:p/>
          <a:p>
            <a:r>
              <a:t>Requisitos y sus consecuencias:</a:t>
            </a:r>
          </a:p>
          <a:p>
            <a:r>
              <a:t>· Repetibilidad ±0,05 mm → mecánica de precisión, ventana Pn522 coherente y sintonización cuidada.</a:t>
            </a:r>
          </a:p>
          <a:p>
            <a:r>
              <a:t>· Tres turnos en nave sin climatizar → margen térmico amplio, verificación de par RMS con holgura y atención a la condensación.</a:t>
            </a:r>
          </a:p>
          <a:p>
            <a:r>
              <a:t>· Parada segura → CN8 cableado y validado, no puenteado.</a:t>
            </a:r>
          </a:p>
          <a:p>
            <a:r>
              <a:t>· Caídas de red del 10 % → comprobar la curva a tensión mínima y considerar la alarma A.410.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Insista en el criterio 'ninguna cifra sin origen documentado'. En ingeniería, un número sin trazabilidad es una opinión.</a:t>
            </a:r>
          </a:p>
          <a:p/>
          <a:p>
            <a:r>
              <a:t>Valore especialmente la alternativa: pedir que comparen SGM7A-30A (3.000 rpm) con SGM7G-30A (1.500 rpm) obliga a razonar sobre par, velocidad e inercia en lugar de aplicar una receta.</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entregable es el más 'de oficina técnica'. Si el grupo no tiene experiencia en esquemas, acepte croquis a mano alzada: lo importante es el razonamiento, no la herramienta de dibujo.</a:t>
            </a:r>
          </a:p>
          <a:p/>
          <a:p>
            <a:r>
              <a:t>Punto de discusión interesante: el requisito de diagnóstico remoto empuja hacia una variante de bus, lo que a su vez simplifica el cableado de CN1. Es un buen ejemplo de cómo un requisito aparentemente menor cambia la arquitectura completa.</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detalle más formativo de este entregable es la comparación entre la relación de inercias calculada y la medida por el autoajuste. Es el momento en que la teoría se enfrenta a la realidad.</a:t>
            </a:r>
          </a:p>
          <a:p/>
          <a:p>
            <a:r>
              <a:t>Pn522 exige un razonamiento fino: la repetibilidad de ±0,05 mm es una característica del sistema mecánico completo, mientras que Pn522 es la ventana que declara 'posición alcanzada'. No son lo mismo, y conviene que lo discutan.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criterios de aceptación medibles son la parte más profesional del proyecto: convierten 'la máquina va bien' en algo verificable y contractual.</a:t>
            </a:r>
          </a:p>
          <a:p/>
          <a:p>
            <a:r>
              <a:t>Si el curso se imparte en varias sesiones, dedique la última a la defensa de los proyectos. Escuchar cómo otro grupo ha resuelto el mismo enunciado de forma distinta es enormemente formativo.</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Reparta la rúbrica al inicio del curso, no al final. Saber cómo se evalúa orienta el esfuerzo y mejora mucho la calidad de los entregables.</a:t>
            </a:r>
          </a:p>
          <a:p/>
          <a:p>
            <a:r>
              <a:t>El peso del dimensionamiento (25 %) es deliberado: es la parte con más contenido de ingeniería y la que más diferencia a un técnico competente.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anexos están pensados para imprimirse y llevarse a planta. Anime a los alumnos a extraer estas diapositivas a PDF y tenerlas en el móvil.</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diapositiva que más se fotografía de todo el curso. Sugiérales que la impriman y la peguen en la contraportada de su cuaderno de trabajo.</a:t>
            </a:r>
          </a:p>
          <a:p/>
          <a:p>
            <a:r>
              <a:t>Recuerde el criterio de aceptación asociado: T_rms ≤ 0,8 × T_nominal y T_pico ≤ 0,8 × T_máximo.</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Advierta una vez más de que la numeración puede variar entre series y variantes. El valor de esta ficha es recordar QUÉ existe; el número exacto se confirma en el manual.</a:t>
            </a:r>
          </a:p>
          <a:p/>
          <a:p>
            <a:r>
              <a:t>Si los alumnos trabajan habitualmente con un modelo concreto, recomiéndeles hacer su propia versión de esta ficha con los valores verificados de su equipo.</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resumen por familias es más útil en campo que una lista completa de códigos: permite orientar el diagnóstico en segundos y después buscar el código exacto en el manual.</a:t>
            </a:r>
          </a:p>
          <a:p/>
          <a:p>
            <a:r>
              <a:t>Recuerde la regla: A.9__ son avisos, el resto son alarmas que detienen el eje.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Sugiera convertir estas dos columnas en un documento A4 a doble cara. Es el entregable del curso con mayor impacto inmediato en el trabajo diario.</a:t>
            </a:r>
          </a:p>
          <a:p/>
          <a:p>
            <a:r>
              <a:t>Recuerde: una lista de verificación sólo funciona si se rellena en el momento, no de memoria al final del día.</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Repase los términos que más confusión generan: baseblock, STO frente a parada de emergencia, y relación de inercias.</a:t>
            </a:r>
          </a:p>
          <a:p/>
          <a:p>
            <a:r>
              <a:t>Puede usarse como test rápido: tape la columna de la derecha y pida definiciones.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Deje tiempo real para responder (10-15 minutos) antes de pasar a las soluciones. Si es posible, que las respondan por escrito y en parejas.</a:t>
            </a:r>
          </a:p>
          <a:p/>
          <a:p>
            <a:r>
              <a:t>Las preguntas están ordenadas por módulos: 1-3 corresponden a fundamentos y dimensionamiento, 4-5 a sintonización e instalación, 6-8 a diagnóstico, 9 a seguridad y 10 a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Comente cada respuesta brevemente, insistiendo en el razonamiento y no en el dato.</a:t>
            </a:r>
          </a:p>
          <a:p/>
          <a:p>
            <a:r>
              <a:t>Las preguntas 6, 9 y 10 son las que más fallan y, no por casualidad, las que corresponden a los errores más caros en campo.</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insistiendo en el hábito profesional más valioso: consultar el manual. El objetivo del curso no era sustituir al manual, sino enseñar a usarlo con criterio y a saber qué preguntar.</a:t>
            </a:r>
          </a:p>
          <a:p/>
          <a:p>
            <a:r>
              <a:t>Anime a montar un pequeño banco de pruebas en planta si es posible: un drive y un motor sobre una placa, con SigmaWin+. Es la mejor inversión formativa para un equipo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de cierre. Recupere la primera diapositiva de objetivos y repase los seis puntos con el grupo, preguntando si se sienten capaces de cada uno.</a:t>
            </a:r>
          </a:p>
          <a:p/>
          <a:p>
            <a:r>
              <a:t>Deje tiempo para preguntas abiertas y recoja las dudas que no hayan quedado resueltas: suelen indicar qué parte del curso conviene reforzar en la siguiente edición.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7680960" y="0"/>
            <a:ext cx="4510735" cy="6858000"/>
          </a:xfrm>
          <a:prstGeom prst="rect">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503920" y="1874520"/>
            <a:ext cx="2834640" cy="2834640"/>
          </a:xfrm>
          <a:prstGeom prst="ellipse">
            <a:avLst/>
          </a:prstGeom>
          <a:noFill/>
          <a:ln w="15875">
            <a:solidFill>
              <a:srgbClr val="2455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8915400" y="2286000"/>
            <a:ext cx="2011680" cy="2011680"/>
          </a:xfrm>
          <a:prstGeom prst="ellipse">
            <a:avLst/>
          </a:prstGeom>
          <a:noFill/>
          <a:ln w="3175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9537192" y="2907792"/>
            <a:ext cx="768096" cy="76809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9838944" y="960120"/>
            <a:ext cx="164592" cy="100584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366760" y="5074920"/>
            <a:ext cx="3200400" cy="365760"/>
          </a:xfrm>
          <a:prstGeom prst="rect">
            <a:avLst/>
          </a:prstGeom>
          <a:noFill/>
        </p:spPr>
        <p:txBody>
          <a:bodyPr wrap="square" lIns="0" rIns="0" tIns="0" bIns="0" anchor="t">
            <a:spAutoFit/>
          </a:bodyPr>
          <a:lstStyle/>
          <a:p>
            <a:pPr algn="ctr">
              <a:lnSpc>
                <a:spcPct val="100000"/>
              </a:lnSpc>
              <a:buNone/>
            </a:pPr>
            <a:r>
              <a:rPr sz="1300" b="1">
                <a:solidFill>
                  <a:srgbClr val="FFFFFF"/>
                </a:solidFill>
                <a:latin typeface="Consolas"/>
              </a:rPr>
              <a:t>SGD7S-200A  +  SGM7A-30A</a:t>
            </a:r>
          </a:p>
        </p:txBody>
      </p:sp>
      <p:sp>
        <p:nvSpPr>
          <p:cNvPr id="10" name="TextBox 9"/>
          <p:cNvSpPr txBox="1"/>
          <p:nvPr/>
        </p:nvSpPr>
        <p:spPr>
          <a:xfrm>
            <a:off x="8366760" y="5440680"/>
            <a:ext cx="3200400" cy="365760"/>
          </a:xfrm>
          <a:prstGeom prst="rect">
            <a:avLst/>
          </a:prstGeom>
          <a:noFill/>
        </p:spPr>
        <p:txBody>
          <a:bodyPr wrap="square" lIns="0" rIns="0" tIns="0" bIns="0" anchor="t">
            <a:spAutoFit/>
          </a:bodyPr>
          <a:lstStyle/>
          <a:p>
            <a:pPr algn="ctr">
              <a:lnSpc>
                <a:spcPct val="100000"/>
              </a:lnSpc>
              <a:buNone/>
            </a:pPr>
            <a:r>
              <a:rPr sz="1100" b="0">
                <a:solidFill>
                  <a:srgbClr val="A9C6E0"/>
                </a:solidFill>
                <a:latin typeface="Segoe UI"/>
              </a:rPr>
              <a:t>3,0 kW / 200 VCA trifásico</a:t>
            </a:r>
          </a:p>
        </p:txBody>
      </p:sp>
      <p:sp>
        <p:nvSpPr>
          <p:cNvPr id="11" name="Rectangle 10"/>
          <p:cNvSpPr/>
          <p:nvPr/>
        </p:nvSpPr>
        <p:spPr>
          <a:xfrm>
            <a:off x="960120" y="1417320"/>
            <a:ext cx="1737360" cy="310896"/>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1472184"/>
            <a:ext cx="1737360" cy="274320"/>
          </a:xfrm>
          <a:prstGeom prst="rect">
            <a:avLst/>
          </a:prstGeom>
          <a:noFill/>
        </p:spPr>
        <p:txBody>
          <a:bodyPr wrap="square" lIns="0" rIns="0" tIns="0" bIns="0" anchor="t">
            <a:spAutoFit/>
          </a:bodyPr>
          <a:lstStyle/>
          <a:p>
            <a:pPr algn="ctr">
              <a:lnSpc>
                <a:spcPct val="100000"/>
              </a:lnSpc>
              <a:buNone/>
            </a:pPr>
            <a:r>
              <a:rPr sz="1100" b="1">
                <a:solidFill>
                  <a:srgbClr val="0B2545"/>
                </a:solidFill>
                <a:latin typeface="Segoe UI"/>
              </a:rPr>
              <a:t>CURSO TÉCNICO</a:t>
            </a:r>
          </a:p>
        </p:txBody>
      </p:sp>
      <p:sp>
        <p:nvSpPr>
          <p:cNvPr id="13" name="TextBox 12"/>
          <p:cNvSpPr txBox="1"/>
          <p:nvPr/>
        </p:nvSpPr>
        <p:spPr>
          <a:xfrm>
            <a:off x="960120" y="1965960"/>
            <a:ext cx="6309360" cy="1828800"/>
          </a:xfrm>
          <a:prstGeom prst="rect">
            <a:avLst/>
          </a:prstGeom>
          <a:noFill/>
        </p:spPr>
        <p:txBody>
          <a:bodyPr wrap="square" lIns="0" rIns="0" tIns="0" bIns="0" anchor="t">
            <a:spAutoFit/>
          </a:bodyPr>
          <a:lstStyle/>
          <a:p>
            <a:pPr algn="l">
              <a:lnSpc>
                <a:spcPct val="105000"/>
              </a:lnSpc>
              <a:buNone/>
            </a:pPr>
            <a:r>
              <a:rPr sz="4000" b="1">
                <a:solidFill>
                  <a:srgbClr val="FFFFFF"/>
                </a:solidFill>
                <a:latin typeface="Segoe UI Semibold"/>
              </a:rPr>
              <a:t>Servo drives YASKAWA SERVOPACK</a:t>
            </a:r>
          </a:p>
        </p:txBody>
      </p:sp>
      <p:sp>
        <p:nvSpPr>
          <p:cNvPr id="14" name="Rectangle 13"/>
          <p:cNvSpPr/>
          <p:nvPr/>
        </p:nvSpPr>
        <p:spPr>
          <a:xfrm>
            <a:off x="960120" y="3931920"/>
            <a:ext cx="1280160" cy="4572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206240"/>
            <a:ext cx="6309360" cy="822960"/>
          </a:xfrm>
          <a:prstGeom prst="rect">
            <a:avLst/>
          </a:prstGeom>
          <a:noFill/>
        </p:spPr>
        <p:txBody>
          <a:bodyPr wrap="square" lIns="0" rIns="0" tIns="0" bIns="0" anchor="t">
            <a:spAutoFit/>
          </a:bodyPr>
          <a:lstStyle/>
          <a:p>
            <a:pPr algn="l">
              <a:lnSpc>
                <a:spcPct val="115000"/>
              </a:lnSpc>
              <a:buNone/>
            </a:pPr>
            <a:r>
              <a:rPr sz="1600" b="0">
                <a:solidFill>
                  <a:srgbClr val="C9DCEE"/>
                </a:solidFill>
                <a:latin typeface="Segoe UI"/>
              </a:rPr>
              <a:t>De cero a experto: selección, instalación, parametrización, puesta en marcha y sintonización de un servoaccionamiento de 3 kW</a:t>
            </a:r>
          </a:p>
        </p:txBody>
      </p:sp>
      <p:sp>
        <p:nvSpPr>
          <p:cNvPr id="16" name="TextBox 15"/>
          <p:cNvSpPr txBox="1"/>
          <p:nvPr/>
        </p:nvSpPr>
        <p:spPr>
          <a:xfrm>
            <a:off x="960120" y="5257800"/>
            <a:ext cx="6309360" cy="274320"/>
          </a:xfrm>
          <a:prstGeom prst="rect">
            <a:avLst/>
          </a:prstGeom>
          <a:noFill/>
        </p:spPr>
        <p:txBody>
          <a:bodyPr wrap="square" lIns="0" rIns="0" tIns="0" bIns="0" anchor="t">
            <a:spAutoFit/>
          </a:bodyPr>
          <a:lstStyle/>
          <a:p>
            <a:pPr algn="l">
              <a:lnSpc>
                <a:spcPct val="100000"/>
              </a:lnSpc>
              <a:buNone/>
            </a:pPr>
            <a:r>
              <a:rPr sz="1150" b="0">
                <a:solidFill>
                  <a:srgbClr val="8FB2D1"/>
                </a:solidFill>
                <a:latin typeface="Segoe UI"/>
              </a:rPr>
              <a:t>Curso técnico completo · Serie Σ-7 (Sigma-7) · SGD7S + SGM7A/SGM7G</a:t>
            </a:r>
          </a:p>
        </p:txBody>
      </p:sp>
      <p:sp>
        <p:nvSpPr>
          <p:cNvPr id="17" name="TextBox 16"/>
          <p:cNvSpPr txBox="1"/>
          <p:nvPr/>
        </p:nvSpPr>
        <p:spPr>
          <a:xfrm>
            <a:off x="960120" y="5532120"/>
            <a:ext cx="6309360" cy="274320"/>
          </a:xfrm>
          <a:prstGeom prst="rect">
            <a:avLst/>
          </a:prstGeom>
          <a:noFill/>
        </p:spPr>
        <p:txBody>
          <a:bodyPr wrap="square" lIns="0" rIns="0" tIns="0" bIns="0" anchor="t">
            <a:spAutoFit/>
          </a:bodyPr>
          <a:lstStyle/>
          <a:p>
            <a:pPr algn="l">
              <a:lnSpc>
                <a:spcPct val="100000"/>
              </a:lnSpc>
              <a:buNone/>
            </a:pPr>
            <a:r>
              <a:rPr sz="1150" b="0">
                <a:solidFill>
                  <a:srgbClr val="8FB2D1"/>
                </a:solidFill>
                <a:latin typeface="Segoe UI"/>
              </a:rPr>
              <a:t>Nivel: desde principiante absoluto hasta puesta a punto avanzada</a:t>
            </a:r>
          </a:p>
        </p:txBody>
      </p:sp>
      <p:sp>
        <p:nvSpPr>
          <p:cNvPr id="18" name="TextBox 17"/>
          <p:cNvSpPr txBox="1"/>
          <p:nvPr/>
        </p:nvSpPr>
        <p:spPr>
          <a:xfrm>
            <a:off x="960120" y="5806440"/>
            <a:ext cx="6309360" cy="274320"/>
          </a:xfrm>
          <a:prstGeom prst="rect">
            <a:avLst/>
          </a:prstGeom>
          <a:noFill/>
        </p:spPr>
        <p:txBody>
          <a:bodyPr wrap="square" lIns="0" rIns="0" tIns="0" bIns="0" anchor="t">
            <a:spAutoFit/>
          </a:bodyPr>
          <a:lstStyle/>
          <a:p>
            <a:pPr algn="l">
              <a:lnSpc>
                <a:spcPct val="100000"/>
              </a:lnSpc>
              <a:buNone/>
            </a:pPr>
            <a:r>
              <a:rPr sz="1150" b="0">
                <a:solidFill>
                  <a:srgbClr val="8FB2D1"/>
                </a:solidFill>
                <a:latin typeface="Segoe UI"/>
              </a:rPr>
              <a:t>Formato: 14 módulos · teoría, práctica guiada y proyecto integrador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Qué vas a saber hacer al terminar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Objetivos de aprendizaje del curso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400" b="1">
                <a:solidFill>
                  <a:srgbClr val="1B5EA8"/>
                </a:solidFill>
                <a:latin typeface="Segoe UI Semibold"/>
              </a:rPr>
              <a:t>Competencias de salida</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Seleccionar</a:t>
            </a:r>
            <a:r>
              <a:rPr sz="1450" b="1">
                <a:solidFill>
                  <a:srgbClr val="1C2430"/>
                </a:solidFill>
                <a:latin typeface="Segoe UI"/>
              </a:rPr>
              <a:t> el SERVOPACK y el servomotor correctos para una máquina concreta, justificando el cálculo de par, inercia y ciclo de trabajo.</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Instalar</a:t>
            </a:r>
            <a:r>
              <a:rPr sz="1450" b="1">
                <a:solidFill>
                  <a:srgbClr val="1C2430"/>
                </a:solidFill>
                <a:latin typeface="Segoe UI"/>
              </a:rPr>
              <a:t> el conjunto conforme al manual: potencia, control, apantallamiento, regeneración, freno de retención y seguridad funcional.</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Parametrizar</a:t>
            </a:r>
            <a:r>
              <a:rPr sz="1450" b="1">
                <a:solidFill>
                  <a:srgbClr val="1C2430"/>
                </a:solidFill>
                <a:latin typeface="Segoe UI"/>
              </a:rPr>
              <a:t> el drive desde el panel frontal y desde SigmaWin+, incluyendo engranaje electrónico, límites y asignación de E/S.</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Poner en marcha</a:t>
            </a:r>
            <a:r>
              <a:rPr sz="1450" b="1">
                <a:solidFill>
                  <a:srgbClr val="1C2430"/>
                </a:solidFill>
                <a:latin typeface="Segoe UI"/>
              </a:rPr>
              <a:t> un eje siguiendo un procedimiento verificable, desde el JOG sin carga hasta el ciclo de producción.</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Sintonizar</a:t>
            </a:r>
            <a:r>
              <a:rPr sz="1450" b="1">
                <a:solidFill>
                  <a:srgbClr val="1C2430"/>
                </a:solidFill>
                <a:latin typeface="Segoe UI"/>
              </a:rPr>
              <a:t> el lazo de control: autoajuste, ajuste manual de ganancias, filtros notch y supresión de vibración.</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Diagnosticar</a:t>
            </a:r>
            <a:r>
              <a:rPr sz="1450" b="1">
                <a:solidFill>
                  <a:srgbClr val="1C2430"/>
                </a:solidFill>
                <a:latin typeface="Segoe UI"/>
              </a:rPr>
              <a:t> alarmas y averías con un método sistemático y realizar el mantenimiento preventivo del equipo.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400" b="1">
                <a:solidFill>
                  <a:srgbClr val="1B5EA8"/>
                </a:solidFill>
                <a:latin typeface="Segoe UI Semibold"/>
              </a:rPr>
              <a:t>Entregable del curso</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Un eje de 3 kW dimensionado, cableado, parametrizado, sintonizado y documentado (proyecto integrador del Módulo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 quién va dirigido y qué necesitas saber antes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Público objetivo, prerrequisitos y laboratorio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a:t>
            </a:r>
          </a:p>
        </p:txBody>
      </p:sp>
      <p:sp>
        <p:nvSpPr>
          <p:cNvPr id="9" name="Rectangle 8"/>
          <p:cNvSpPr/>
          <p:nvPr/>
        </p:nvSpPr>
        <p:spPr>
          <a:xfrm>
            <a:off x="566928" y="1481328"/>
            <a:ext cx="3515258" cy="48463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0292" cy="48463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Perfiles destinatarios</a:t>
            </a:r>
          </a:p>
        </p:txBody>
      </p:sp>
      <p:sp>
        <p:nvSpPr>
          <p:cNvPr id="12" name="TextBox 11"/>
          <p:cNvSpPr txBox="1"/>
          <p:nvPr/>
        </p:nvSpPr>
        <p:spPr>
          <a:xfrm>
            <a:off x="822960" y="2194560"/>
            <a:ext cx="3058058" cy="3977640"/>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Técnicos de mantenimiento eléctrico e industrial.</a:t>
            </a:r>
          </a:p>
          <a:p>
            <a:pPr>
              <a:lnSpc>
                <a:spcPct val="105000"/>
              </a:lnSpc>
              <a:spcAft>
                <a:spcPts val="400"/>
              </a:spcAft>
              <a:buNone/>
            </a:pPr>
            <a:r>
              <a:rPr sz="1200" b="0">
                <a:solidFill>
                  <a:srgbClr val="2B3644"/>
                </a:solidFill>
                <a:latin typeface="Segoe UI"/>
              </a:rPr>
              <a:t>· Integradores y programadores de PLC/CNC.</a:t>
            </a:r>
          </a:p>
          <a:p>
            <a:pPr>
              <a:lnSpc>
                <a:spcPct val="105000"/>
              </a:lnSpc>
              <a:spcAft>
                <a:spcPts val="400"/>
              </a:spcAft>
              <a:buNone/>
            </a:pPr>
            <a:r>
              <a:rPr sz="1200" b="0">
                <a:solidFill>
                  <a:srgbClr val="2B3644"/>
                </a:solidFill>
                <a:latin typeface="Segoe UI"/>
              </a:rPr>
              <a:t>· Ingenieros de automatización y diseño de máquina.</a:t>
            </a:r>
          </a:p>
          <a:p>
            <a:pPr>
              <a:lnSpc>
                <a:spcPct val="105000"/>
              </a:lnSpc>
              <a:spcAft>
                <a:spcPts val="400"/>
              </a:spcAft>
              <a:buNone/>
            </a:pPr>
            <a:r>
              <a:rPr sz="1200" b="0">
                <a:solidFill>
                  <a:srgbClr val="2B3644"/>
                </a:solidFill>
                <a:latin typeface="Segoe UI"/>
              </a:rPr>
              <a:t>· Personal de puesta en marcha y servicio técnico.</a:t>
            </a:r>
          </a:p>
        </p:txBody>
      </p:sp>
      <p:sp>
        <p:nvSpPr>
          <p:cNvPr id="13" name="Rectangle 12"/>
          <p:cNvSpPr/>
          <p:nvPr/>
        </p:nvSpPr>
        <p:spPr>
          <a:xfrm>
            <a:off x="4338218" y="1481328"/>
            <a:ext cx="3515258" cy="4846320"/>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38218" y="1481328"/>
            <a:ext cx="50292" cy="484632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9425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Requisitos previos</a:t>
            </a:r>
          </a:p>
        </p:txBody>
      </p:sp>
      <p:sp>
        <p:nvSpPr>
          <p:cNvPr id="16" name="TextBox 15"/>
          <p:cNvSpPr txBox="1"/>
          <p:nvPr/>
        </p:nvSpPr>
        <p:spPr>
          <a:xfrm>
            <a:off x="4594250" y="2194560"/>
            <a:ext cx="3058058" cy="3977640"/>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Electricidad básica: tensión, corriente, trifásica, protecciones.</a:t>
            </a:r>
          </a:p>
          <a:p>
            <a:pPr>
              <a:lnSpc>
                <a:spcPct val="105000"/>
              </a:lnSpc>
              <a:spcAft>
                <a:spcPts val="400"/>
              </a:spcAft>
              <a:buNone/>
            </a:pPr>
            <a:r>
              <a:rPr sz="1200" b="0">
                <a:solidFill>
                  <a:srgbClr val="2B3644"/>
                </a:solidFill>
                <a:latin typeface="Segoe UI"/>
              </a:rPr>
              <a:t>· Lectura de esquemas eléctricos.</a:t>
            </a:r>
          </a:p>
          <a:p>
            <a:pPr>
              <a:lnSpc>
                <a:spcPct val="105000"/>
              </a:lnSpc>
              <a:spcAft>
                <a:spcPts val="400"/>
              </a:spcAft>
              <a:buNone/>
            </a:pPr>
            <a:r>
              <a:rPr sz="1200" b="0">
                <a:solidFill>
                  <a:srgbClr val="2B3644"/>
                </a:solidFill>
                <a:latin typeface="Segoe UI"/>
              </a:rPr>
              <a:t>· Nociones de mecánica: par, velocidad, reducción.</a:t>
            </a:r>
          </a:p>
          <a:p>
            <a:pPr>
              <a:lnSpc>
                <a:spcPct val="105000"/>
              </a:lnSpc>
              <a:spcAft>
                <a:spcPts val="400"/>
              </a:spcAft>
              <a:buNone/>
            </a:pPr>
            <a:r>
              <a:rPr sz="1200" b="0">
                <a:solidFill>
                  <a:srgbClr val="2B3644"/>
                </a:solidFill>
                <a:latin typeface="Segoe UI"/>
              </a:rPr>
              <a:t>· No se requiere experiencia previa con servos.</a:t>
            </a:r>
          </a:p>
        </p:txBody>
      </p:sp>
      <p:sp>
        <p:nvSpPr>
          <p:cNvPr id="17" name="Rectangle 16"/>
          <p:cNvSpPr/>
          <p:nvPr/>
        </p:nvSpPr>
        <p:spPr>
          <a:xfrm>
            <a:off x="8109508" y="1481328"/>
            <a:ext cx="3515258" cy="484632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109508" y="1481328"/>
            <a:ext cx="50292" cy="48463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6554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Equipo recomendado para la práctica</a:t>
            </a:r>
          </a:p>
        </p:txBody>
      </p:sp>
      <p:sp>
        <p:nvSpPr>
          <p:cNvPr id="20" name="TextBox 19"/>
          <p:cNvSpPr txBox="1"/>
          <p:nvPr/>
        </p:nvSpPr>
        <p:spPr>
          <a:xfrm>
            <a:off x="8365540" y="2194560"/>
            <a:ext cx="3058058" cy="3977640"/>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SERVOPACK SGD7S-200A + motor SGM7A-30A o SGM7G-30A.</a:t>
            </a:r>
          </a:p>
          <a:p>
            <a:pPr>
              <a:lnSpc>
                <a:spcPct val="105000"/>
              </a:lnSpc>
              <a:spcAft>
                <a:spcPts val="400"/>
              </a:spcAft>
              <a:buNone/>
            </a:pPr>
            <a:r>
              <a:rPr sz="1200" b="0">
                <a:solidFill>
                  <a:srgbClr val="2B3644"/>
                </a:solidFill>
                <a:latin typeface="Segoe UI"/>
              </a:rPr>
              <a:t>· Cables de potencia y encoder originales.</a:t>
            </a:r>
          </a:p>
          <a:p>
            <a:pPr>
              <a:lnSpc>
                <a:spcPct val="105000"/>
              </a:lnSpc>
              <a:spcAft>
                <a:spcPts val="400"/>
              </a:spcAft>
              <a:buNone/>
            </a:pPr>
            <a:r>
              <a:rPr sz="1200" b="0">
                <a:solidFill>
                  <a:srgbClr val="2B3644"/>
                </a:solidFill>
                <a:latin typeface="Segoe UI"/>
              </a:rPr>
              <a:t>· PC con SigmaWin+ y cable USB (CN7).</a:t>
            </a:r>
          </a:p>
          <a:p>
            <a:pPr>
              <a:lnSpc>
                <a:spcPct val="105000"/>
              </a:lnSpc>
              <a:spcAft>
                <a:spcPts val="400"/>
              </a:spcAft>
              <a:buNone/>
            </a:pPr>
            <a:r>
              <a:rPr sz="1200" b="0">
                <a:solidFill>
                  <a:srgbClr val="2B3644"/>
                </a:solidFill>
                <a:latin typeface="Segoe UI"/>
              </a:rPr>
              <a:t>· Multímetro, pinza amperimétrica y EPP.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Mapa del curso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13 módulos encadenados: cada uno se apoya en el anterior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a:t>
            </a:r>
          </a:p>
        </p:txBody>
      </p:sp>
      <p:graphicFrame>
        <p:nvGraphicFramePr>
          <p:cNvPr id="9" name="Table 8"/>
          <p:cNvGraphicFramePr>
            <a:graphicFrameLocks noGrp="1"/>
          </p:cNvGraphicFramePr>
          <p:nvPr/>
        </p:nvGraphicFramePr>
        <p:xfrm>
          <a:off x="566928" y="1481328"/>
          <a:ext cx="11057837" cy="4846317"/>
        </p:xfrm>
        <a:graphic>
          <a:graphicData uri="http://schemas.openxmlformats.org/drawingml/2006/table">
            <a:tbl>
              <a:tblPr firstRow="1">
                <a:tableStyleId>{5C22544A-7EE6-4342-B048-85BDC9FD1C3A}</a:tableStyleId>
              </a:tblPr>
              <a:tblGrid>
                <a:gridCol w="804206"/>
                <a:gridCol w="4222083"/>
                <a:gridCol w="6031548"/>
              </a:tblGrid>
              <a:tr h="347472">
                <a:tc>
                  <a:txBody>
                    <a:bodyPr wrap="square"/>
                    <a:lstStyle/>
                    <a:p>
                      <a:pPr algn="ctr">
                        <a:lnSpc>
                          <a:spcPct val="100000"/>
                        </a:lnSpc>
                        <a:buNone/>
                      </a:pPr>
                      <a:r>
                        <a:rPr sz="1050" b="1">
                          <a:solidFill>
                            <a:srgbClr val="FFFFFF"/>
                          </a:solidFill>
                          <a:latin typeface="Segoe UI"/>
                        </a:rPr>
                        <a:t>Módulo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Contenido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Qué resuelve</a:t>
                      </a:r>
                    </a:p>
                  </a:txBody>
                  <a:tcPr marL="82296" marR="82296" marT="27432" marB="27432" anchor="ctr">
                    <a:solidFill>
                      <a:srgbClr val="0B2545"/>
                    </a:solidFill>
                  </a:tcPr>
                </a:tc>
              </a:tr>
              <a:tr h="346065">
                <a:tc>
                  <a:txBody>
                    <a:bodyPr wrap="square"/>
                    <a:lstStyle/>
                    <a:p>
                      <a:pPr algn="ctr">
                        <a:lnSpc>
                          <a:spcPct val="100000"/>
                        </a:lnSpc>
                        <a:buNone/>
                      </a:pPr>
                      <a:r>
                        <a:rPr sz="1050" b="0">
                          <a:solidFill>
                            <a:srgbClr val="1C2430"/>
                          </a:solidFill>
                          <a:latin typeface="Segoe UI"/>
                        </a:rPr>
                        <a:t>01</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Fundamentos del servoaccionamiento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Entender qué es un servo y en qué se diferencia de un variador</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02</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La familia SERVOPACK Σ-7</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Leer un código de modelo y elegir la variante correcta</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03</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El servomotor de 3 kW</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Interpretar curvas, encoder, freno y combinaciones válidas</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04</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Dimensionamiento y selección</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Justificar con números que el conjunto 3 kW es el adecuado</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05</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Instalación mecánica y eléctrica</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Cablear potencia, tierra, regeneración y freno sin errores</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06</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Interfaz de control: CN1, analógico, pulsos y bus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Conectar el drive al PLC/CNC con el modo de control correcto</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07</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Parámetros, panel y SigmaWin+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Manejar Pn/Fn/Un y el engranaje electrónico con soltura</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08</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Puesta en marcha paso a paso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Arrancar el eje con un procedimiento seguro y repetible</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09</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Sintonización del lazo de control</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Conseguir precisión y rapidez sin vibración</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Seguridad funcional (STO / HWBB)</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Integrar el eje en la cadena de seguridad de la máquina</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11</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Diagnóstico, alarmas y mantenimiento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Reducir el tiempo de parada ante una avería</a:t>
                      </a:r>
                    </a:p>
                  </a:txBody>
                  <a:tcPr marL="82296" marR="82296" marT="27432" marB="27432" anchor="ctr">
                    <a:solidFill>
                      <a:srgbClr val="FFFFFF"/>
                    </a:solidFill>
                  </a:tcPr>
                </a:tc>
              </a:tr>
              <a:tr h="346065">
                <a:tc>
                  <a:txBody>
                    <a:bodyPr wrap="square"/>
                    <a:lstStyle/>
                    <a:p>
                      <a:pPr algn="ctr">
                        <a:lnSpc>
                          <a:spcPct val="100000"/>
                        </a:lnSpc>
                        <a:buNone/>
                      </a:pPr>
                      <a:r>
                        <a:rPr sz="1050" b="0">
                          <a:solidFill>
                            <a:srgbClr val="1C2430"/>
                          </a:solidFill>
                          <a:latin typeface="Segoe UI"/>
                        </a:rPr>
                        <a:t>12</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Proyecto integrador</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Aplicar todo a una máquina real</a:t>
                      </a:r>
                    </a:p>
                  </a:txBody>
                  <a:tcPr marL="82296" marR="82296" marT="27432" marB="27432" anchor="ctr">
                    <a:solidFill>
                      <a:srgbClr val="F2F5F8"/>
                    </a:solidFill>
                  </a:tcPr>
                </a:tc>
              </a:tr>
              <a:tr h="346065">
                <a:tc>
                  <a:txBody>
                    <a:bodyPr wrap="square"/>
                    <a:lstStyle/>
                    <a:p>
                      <a:pPr algn="ctr">
                        <a:lnSpc>
                          <a:spcPct val="100000"/>
                        </a:lnSpc>
                        <a:buNone/>
                      </a:pPr>
                      <a:r>
                        <a:rPr sz="1050" b="0">
                          <a:solidFill>
                            <a:srgbClr val="1C2430"/>
                          </a:solidFill>
                          <a:latin typeface="Segoe UI"/>
                        </a:rPr>
                        <a:t>13</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Anexos, evaluación y recursos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Tablas de consulta rápida y autoevaluación</a:t>
                      </a:r>
                    </a:p>
                  </a:txBody>
                  <a:tcPr marL="82296" marR="82296" marT="27432" marB="27432"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Metodología y convenciones del material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Cómo sacar el máximo partido a este material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trabajaremos</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Cada módulo: teoría breve → parámetros implicados → práctica guiada → errores frecuentes.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Las diapositivas incluyen </a:t>
            </a:r>
            <a:r>
              <a:rPr sz="1350" b="1">
                <a:solidFill>
                  <a:srgbClr val="1C2430"/>
                </a:solidFill>
                <a:latin typeface="Segoe UI"/>
              </a:rPr>
              <a:t>notas del instructor</a:t>
            </a:r>
            <a:r>
              <a:rPr sz="1350" b="1">
                <a:solidFill>
                  <a:srgbClr val="1C2430"/>
                </a:solidFill>
                <a:latin typeface="Segoe UI"/>
              </a:rPr>
              <a:t>: úsalas como guion y como manual de estudio.</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Los procedimientos están numerados para poder seguirlos con el equipo delante, sin la presentación.</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Al final de cada bloque hay una lista de verificación imprimible (Módulo 13).</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Convenciones tipográficas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Consolas"/>
              </a:rPr>
              <a:t>Pn___</a:t>
            </a:r>
            <a:r>
              <a:rPr sz="1350" b="1">
                <a:solidFill>
                  <a:srgbClr val="1C2430"/>
                </a:solidFill>
                <a:latin typeface="Segoe UI"/>
              </a:rPr>
              <a:t> → parámetro de configuración (p. ej. </a:t>
            </a:r>
            <a:r>
              <a:rPr sz="1350" b="1">
                <a:solidFill>
                  <a:srgbClr val="1C2430"/>
                </a:solidFill>
                <a:latin typeface="Consolas"/>
              </a:rPr>
              <a:t>Pn100</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Fn___</a:t>
            </a:r>
            <a:r>
              <a:rPr sz="1350" b="1">
                <a:solidFill>
                  <a:srgbClr val="1C2430"/>
                </a:solidFill>
                <a:latin typeface="Segoe UI"/>
              </a:rPr>
              <a:t> → función de utilidad ejecutable (p. ej. </a:t>
            </a:r>
            <a:r>
              <a:rPr sz="1350" b="1">
                <a:solidFill>
                  <a:srgbClr val="1C2430"/>
                </a:solidFill>
                <a:latin typeface="Consolas"/>
              </a:rPr>
              <a:t>Fn002</a:t>
            </a:r>
            <a:r>
              <a:rPr sz="1350" b="1">
                <a:solidFill>
                  <a:srgbClr val="1C2430"/>
                </a:solidFill>
                <a:latin typeface="Segoe UI"/>
              </a:rPr>
              <a:t>, JOG).</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Un___</a:t>
            </a:r>
            <a:r>
              <a:rPr sz="1350" b="1">
                <a:solidFill>
                  <a:srgbClr val="1C2430"/>
                </a:solidFill>
                <a:latin typeface="Segoe UI"/>
              </a:rPr>
              <a:t> → variable de monitorización (p. ej. </a:t>
            </a:r>
            <a:r>
              <a:rPr sz="1350" b="1">
                <a:solidFill>
                  <a:srgbClr val="1C2430"/>
                </a:solidFill>
                <a:latin typeface="Consolas"/>
              </a:rPr>
              <a:t>Un000</a:t>
            </a:r>
            <a:r>
              <a:rPr sz="1350" b="1">
                <a:solidFill>
                  <a:srgbClr val="1C2430"/>
                </a:solidFill>
                <a:latin typeface="Segoe UI"/>
              </a:rPr>
              <a:t>, velocidad).</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A.___</a:t>
            </a:r>
            <a:r>
              <a:rPr sz="1350" b="1">
                <a:solidFill>
                  <a:srgbClr val="1C2430"/>
                </a:solidFill>
                <a:latin typeface="Segoe UI"/>
              </a:rPr>
              <a:t> → código de alarma (p. ej. </a:t>
            </a:r>
            <a:r>
              <a:rPr sz="1350" b="1">
                <a:solidFill>
                  <a:srgbClr val="1C2430"/>
                </a:solidFill>
                <a:latin typeface="Consolas"/>
              </a:rPr>
              <a:t>A.710</a:t>
            </a:r>
            <a:r>
              <a:rPr sz="1350" b="1">
                <a:solidFill>
                  <a:srgbClr val="1C2430"/>
                </a:solidFill>
                <a:latin typeface="Segoe UI"/>
              </a:rPr>
              <a:t>, sobrecarga).</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/XXX</a:t>
            </a:r>
            <a:r>
              <a:rPr sz="1350" b="1">
                <a:solidFill>
                  <a:srgbClr val="1C2430"/>
                </a:solidFill>
                <a:latin typeface="Segoe UI"/>
              </a:rPr>
              <a:t> → señal activa a nivel bajo (p. ej. </a:t>
            </a:r>
            <a:r>
              <a:rPr sz="1350" b="1">
                <a:solidFill>
                  <a:srgbClr val="1C2430"/>
                </a:solidFill>
                <a:latin typeface="Consolas"/>
              </a:rPr>
              <a:t>/S-ON</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Los valores numéricos concretos corresponden al conjunto de ejemplo SGD7S-200A + SGM7A-30A.</a:t>
            </a:r>
          </a:p>
        </p:txBody>
      </p:sp>
      <p:sp>
        <p:nvSpPr>
          <p:cNvPr id="17" name="Rectangle 16"/>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Advertencia importante sobre los datos numéricos</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Todos los valores de catálogo, códigos de parámetro y pinouts que aparecen en el curso son de referencia didáctica. Antes de aplicar cualquiera de ellos a un equipo real, contrasta con el manual oficial de tu SERVOPACK (SIEP S800001 xx) y con la placa de características: las asignaciones cambian entre series (Σ-V / Σ-7), variantes de interfaz y revisiones de firmware.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Seguridad antes que nada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Lee esta diapositiva antes de tocar el equipo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INTRODUCCIÓN</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325" b="1">
                <a:solidFill>
                  <a:srgbClr val="1B5EA8"/>
                </a:solidFill>
                <a:latin typeface="Segoe UI Semibold"/>
              </a:rPr>
              <a:t>Riesgos eléctricos</a:t>
            </a:r>
          </a:p>
          <a:p>
            <a:pPr marL="274320" indent="-201168">
              <a:lnSpc>
                <a:spcPct val="106000"/>
              </a:lnSpc>
              <a:spcAft>
                <a:spcPts val="900"/>
              </a:spcAft>
              <a:buClr>
                <a:srgbClr val="1B5EA8"/>
              </a:buClr>
              <a:buSzPct val="90000"/>
              <a:buFont typeface="Arial"/>
              <a:buChar char="■"/>
            </a:pPr>
            <a:r>
              <a:rPr sz="1375" b="1">
                <a:solidFill>
                  <a:srgbClr val="1C2430"/>
                </a:solidFill>
                <a:latin typeface="Segoe UI"/>
              </a:rPr>
              <a:t>El circuito principal trabaja a </a:t>
            </a:r>
            <a:r>
              <a:rPr sz="1375" b="1">
                <a:solidFill>
                  <a:srgbClr val="1C2430"/>
                </a:solidFill>
                <a:latin typeface="Segoe UI"/>
              </a:rPr>
              <a:t>200–240 V CA trifásicos</a:t>
            </a:r>
            <a:r>
              <a:rPr sz="1375" b="1">
                <a:solidFill>
                  <a:srgbClr val="1C2430"/>
                </a:solidFill>
                <a:latin typeface="Segoe UI"/>
              </a:rPr>
              <a:t>; el bus de continua alcanza unos </a:t>
            </a:r>
            <a:r>
              <a:rPr sz="1375" b="1">
                <a:solidFill>
                  <a:srgbClr val="1C2430"/>
                </a:solidFill>
                <a:latin typeface="Segoe UI"/>
              </a:rPr>
              <a:t>310 V CC</a:t>
            </a:r>
            <a:r>
              <a:rPr sz="1375" b="1">
                <a:solidFill>
                  <a:srgbClr val="1C2430"/>
                </a:solidFill>
                <a:latin typeface="Segoe UI"/>
              </a:rPr>
              <a:t> y mantiene carga tras desconectar.</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Espera al menos </a:t>
            </a:r>
            <a:r>
              <a:rPr sz="1225" b="1">
                <a:solidFill>
                  <a:srgbClr val="333F4C"/>
                </a:solidFill>
                <a:latin typeface="Segoe UI"/>
              </a:rPr>
              <a:t>5 minutos</a:t>
            </a:r>
            <a:r>
              <a:rPr sz="1225" b="0">
                <a:solidFill>
                  <a:srgbClr val="333F4C"/>
                </a:solidFill>
                <a:latin typeface="Segoe UI"/>
              </a:rPr>
              <a:t> tras cortar la alimentación y </a:t>
            </a:r>
            <a:r>
              <a:rPr sz="1225" b="1">
                <a:solidFill>
                  <a:srgbClr val="333F4C"/>
                </a:solidFill>
                <a:latin typeface="Segoe UI"/>
              </a:rPr>
              <a:t>verifica ausencia de tensión</a:t>
            </a:r>
            <a:r>
              <a:rPr sz="1225" b="0">
                <a:solidFill>
                  <a:srgbClr val="333F4C"/>
                </a:solidFill>
                <a:latin typeface="Segoe UI"/>
              </a:rPr>
              <a:t> entre </a:t>
            </a:r>
            <a:r>
              <a:rPr sz="1225" b="0">
                <a:solidFill>
                  <a:srgbClr val="333F4C"/>
                </a:solidFill>
                <a:latin typeface="Consolas"/>
              </a:rPr>
              <a:t>B1/⊕</a:t>
            </a:r>
            <a:r>
              <a:rPr sz="1225" b="0">
                <a:solidFill>
                  <a:srgbClr val="333F4C"/>
                </a:solidFill>
                <a:latin typeface="Segoe UI"/>
              </a:rPr>
              <a:t> y </a:t>
            </a:r>
            <a:r>
              <a:rPr sz="1225" b="0">
                <a:solidFill>
                  <a:srgbClr val="333F4C"/>
                </a:solidFill>
                <a:latin typeface="Consolas"/>
              </a:rPr>
              <a:t>⊖2</a:t>
            </a:r>
            <a:r>
              <a:rPr sz="1225" b="0">
                <a:solidFill>
                  <a:srgbClr val="333F4C"/>
                </a:solidFill>
                <a:latin typeface="Segoe UI"/>
              </a:rPr>
              <a:t> antes de tocar bornes.</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Nunca conectes la red a los bornes </a:t>
            </a:r>
            <a:r>
              <a:rPr sz="1225" b="0">
                <a:solidFill>
                  <a:srgbClr val="333F4C"/>
                </a:solidFill>
                <a:latin typeface="Consolas"/>
              </a:rPr>
              <a:t>U</a:t>
            </a:r>
            <a:r>
              <a:rPr sz="1225" b="0">
                <a:solidFill>
                  <a:srgbClr val="333F4C"/>
                </a:solidFill>
                <a:latin typeface="Segoe UI"/>
              </a:rPr>
              <a:t>, </a:t>
            </a:r>
            <a:r>
              <a:rPr sz="1225" b="0">
                <a:solidFill>
                  <a:srgbClr val="333F4C"/>
                </a:solidFill>
                <a:latin typeface="Consolas"/>
              </a:rPr>
              <a:t>V</a:t>
            </a:r>
            <a:r>
              <a:rPr sz="1225" b="0">
                <a:solidFill>
                  <a:srgbClr val="333F4C"/>
                </a:solidFill>
                <a:latin typeface="Segoe UI"/>
              </a:rPr>
              <a:t>, </a:t>
            </a:r>
            <a:r>
              <a:rPr sz="1225" b="0">
                <a:solidFill>
                  <a:srgbClr val="333F4C"/>
                </a:solidFill>
                <a:latin typeface="Consolas"/>
              </a:rPr>
              <a:t>W</a:t>
            </a:r>
            <a:r>
              <a:rPr sz="1225" b="0">
                <a:solidFill>
                  <a:srgbClr val="333F4C"/>
                </a:solidFill>
                <a:latin typeface="Segoe UI"/>
              </a:rPr>
              <a:t>: destruirías el equipo de forma inmediata e irreversible.</a:t>
            </a:r>
          </a:p>
          <a:p>
            <a:pPr marL="0" indent="0">
              <a:lnSpc>
                <a:spcPct val="106000"/>
              </a:lnSpc>
              <a:spcBef>
                <a:spcPts val="800"/>
              </a:spcBef>
              <a:spcAft>
                <a:spcPts val="900"/>
              </a:spcAft>
              <a:buNone/>
            </a:pPr>
            <a:r>
              <a:rPr sz="1325" b="1">
                <a:solidFill>
                  <a:srgbClr val="1B5EA8"/>
                </a:solidFill>
                <a:latin typeface="Segoe UI Semibold"/>
              </a:rPr>
              <a:t>Riesgos mecánicos</a:t>
            </a:r>
          </a:p>
          <a:p>
            <a:pPr marL="274320" indent="-201168">
              <a:lnSpc>
                <a:spcPct val="106000"/>
              </a:lnSpc>
              <a:spcAft>
                <a:spcPts val="900"/>
              </a:spcAft>
              <a:buClr>
                <a:srgbClr val="1B5EA8"/>
              </a:buClr>
              <a:buSzPct val="90000"/>
              <a:buFont typeface="Arial"/>
              <a:buChar char="■"/>
            </a:pPr>
            <a:r>
              <a:rPr sz="1375" b="1">
                <a:solidFill>
                  <a:srgbClr val="1C2430"/>
                </a:solidFill>
                <a:latin typeface="Segoe UI"/>
              </a:rPr>
              <a:t>Un motor de 3 kW entrega un par pico de más de </a:t>
            </a:r>
            <a:r>
              <a:rPr sz="1375" b="1">
                <a:solidFill>
                  <a:srgbClr val="1C2430"/>
                </a:solidFill>
                <a:latin typeface="Segoe UI"/>
              </a:rPr>
              <a:t>28 N·m</a:t>
            </a:r>
            <a:r>
              <a:rPr sz="1375" b="1">
                <a:solidFill>
                  <a:srgbClr val="1C2430"/>
                </a:solidFill>
                <a:latin typeface="Segoe UI"/>
              </a:rPr>
              <a:t> y acelera en milisegundos: cualquier elemento suelto en el eje se convierte en un proyectil.</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Retira chavetas sueltas antes de girar el motor sin carga.</a:t>
            </a:r>
          </a:p>
          <a:p>
            <a:pPr marL="566928" indent="-201168">
              <a:lnSpc>
                <a:spcPct val="106000"/>
              </a:lnSpc>
              <a:spcAft>
                <a:spcPts val="500"/>
              </a:spcAft>
              <a:buClr>
                <a:srgbClr val="00A9CE"/>
              </a:buClr>
              <a:buSzPct val="90000"/>
              <a:buFont typeface="Arial"/>
              <a:buChar char="▸"/>
            </a:pPr>
            <a:r>
              <a:rPr sz="1225" b="0">
                <a:solidFill>
                  <a:srgbClr val="333F4C"/>
                </a:solidFill>
                <a:latin typeface="Segoe UI"/>
              </a:rPr>
              <a:t>En ejes verticales, la carga </a:t>
            </a:r>
            <a:r>
              <a:rPr sz="1225" b="1">
                <a:solidFill>
                  <a:srgbClr val="333F4C"/>
                </a:solidFill>
                <a:latin typeface="Segoe UI"/>
              </a:rPr>
              <a:t>cae</a:t>
            </a:r>
            <a:r>
              <a:rPr sz="1225" b="0">
                <a:solidFill>
                  <a:srgbClr val="333F4C"/>
                </a:solidFill>
                <a:latin typeface="Segoe UI"/>
              </a:rPr>
              <a:t> al desactivar el servo: el freno de retención es obligatorio y debe verificarse.</a:t>
            </a:r>
          </a:p>
          <a:p>
            <a:pPr marL="0" indent="0">
              <a:lnSpc>
                <a:spcPct val="106000"/>
              </a:lnSpc>
              <a:spcBef>
                <a:spcPts val="800"/>
              </a:spcBef>
              <a:spcAft>
                <a:spcPts val="900"/>
              </a:spcAft>
              <a:buNone/>
            </a:pPr>
            <a:r>
              <a:rPr sz="1325" b="1">
                <a:solidFill>
                  <a:srgbClr val="1B5EA8"/>
                </a:solidFill>
                <a:latin typeface="Segoe UI Semibold"/>
              </a:rPr>
              <a:t>Riesgos térmicos</a:t>
            </a:r>
          </a:p>
          <a:p>
            <a:pPr marL="274320" indent="-201168">
              <a:lnSpc>
                <a:spcPct val="106000"/>
              </a:lnSpc>
              <a:spcAft>
                <a:spcPts val="900"/>
              </a:spcAft>
              <a:buClr>
                <a:srgbClr val="1B5EA8"/>
              </a:buClr>
              <a:buSzPct val="90000"/>
              <a:buFont typeface="Arial"/>
              <a:buChar char="■"/>
            </a:pPr>
            <a:r>
              <a:rPr sz="1375" b="1">
                <a:solidFill>
                  <a:srgbClr val="1C2430"/>
                </a:solidFill>
                <a:latin typeface="Segoe UI"/>
              </a:rPr>
              <a:t>El disipador y el motor pueden superar los </a:t>
            </a:r>
            <a:r>
              <a:rPr sz="1375" b="1">
                <a:solidFill>
                  <a:srgbClr val="1C2430"/>
                </a:solidFill>
                <a:latin typeface="Segoe UI"/>
              </a:rPr>
              <a:t>70 °C</a:t>
            </a:r>
            <a:r>
              <a:rPr sz="1375" b="1">
                <a:solidFill>
                  <a:srgbClr val="1C2430"/>
                </a:solidFill>
                <a:latin typeface="Segoe UI"/>
              </a:rPr>
              <a:t> en servicio normal. Señalízalo y espera a que enfríen.</a:t>
            </a:r>
          </a:p>
        </p:txBody>
      </p:sp>
      <p:sp>
        <p:nvSpPr>
          <p:cNvPr id="10" name="Rectangle 9"/>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Regla de oro</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Consignación (LOTO) → verificación de ausencia de tensión → trabajo. Ninguna prisa justifica saltarse este orden.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01</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Fundamentos del servoaccionamiento</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es un servo y por qué existe</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Los cuatro elementos del sistema y cómo se hablan entre sí</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lazo cerrado en cascada: posición, velocidad y par</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Encoder, resolución y realimentación</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magnitudes que gobiernan todo: par, inercia y aceleración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Cómo se lee una curva par-velocidad</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3 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¿Qué es un servoaccionamiento?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diferencia entre mover un eje y controlarlo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400" b="1">
                <a:solidFill>
                  <a:srgbClr val="1B5EA8"/>
                </a:solidFill>
                <a:latin typeface="Segoe UI Semibold"/>
              </a:rPr>
              <a:t>Definición práctica</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Un servoaccionamiento es un sistema que obliga a un eje mecánico a </a:t>
            </a:r>
            <a:r>
              <a:rPr sz="1450" b="1">
                <a:solidFill>
                  <a:srgbClr val="1C2430"/>
                </a:solidFill>
                <a:latin typeface="Segoe UI"/>
              </a:rPr>
              <a:t>seguir una consigna</a:t>
            </a:r>
            <a:r>
              <a:rPr sz="1450" b="1">
                <a:solidFill>
                  <a:srgbClr val="1C2430"/>
                </a:solidFill>
                <a:latin typeface="Segoe UI"/>
              </a:rPr>
              <a:t> de posición, velocidad o par </a:t>
            </a:r>
            <a:r>
              <a:rPr sz="1450" b="1">
                <a:solidFill>
                  <a:srgbClr val="1C2430"/>
                </a:solidFill>
                <a:latin typeface="Segoe UI"/>
              </a:rPr>
              <a:t>con error controlado</a:t>
            </a:r>
            <a:r>
              <a:rPr sz="1450" b="1">
                <a:solidFill>
                  <a:srgbClr val="1C2430"/>
                </a:solidFill>
                <a:latin typeface="Segoe UI"/>
              </a:rPr>
              <a:t>, corrigiendo continuamente a partir de la medida real.</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400" b="1">
                <a:solidFill>
                  <a:srgbClr val="1B5EA8"/>
                </a:solidFill>
                <a:latin typeface="Segoe UI Semibold"/>
              </a:rPr>
              <a:t>Las tres ideas que lo definen</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Realimentación</a:t>
            </a:r>
            <a:r>
              <a:rPr sz="1450" b="1">
                <a:solidFill>
                  <a:srgbClr val="1C2430"/>
                </a:solidFill>
                <a:latin typeface="Segoe UI"/>
              </a:rPr>
              <a:t>: el encoder mide lo que realmente ocurre en el eje; el drive compara medida y consigna miles de veces por segundo.</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Corrección</a:t>
            </a:r>
            <a:r>
              <a:rPr sz="1450" b="1">
                <a:solidFill>
                  <a:srgbClr val="1C2430"/>
                </a:solidFill>
                <a:latin typeface="Segoe UI"/>
              </a:rPr>
              <a:t>: la diferencia (error) se transforma en corriente para el motor. Sin error no hay corrección; con error grande, corrección grande.</a:t>
            </a:r>
          </a:p>
          <a:p>
            <a:pPr marL="274320" indent="-201168">
              <a:lnSpc>
                <a:spcPct val="106000"/>
              </a:lnSpc>
              <a:spcAft>
                <a:spcPts val="900"/>
              </a:spcAft>
              <a:buClr>
                <a:srgbClr val="1B5EA8"/>
              </a:buClr>
              <a:buSzPct val="90000"/>
              <a:buFont typeface="Arial"/>
              <a:buChar char="■"/>
            </a:pPr>
            <a:r>
              <a:rPr sz="1450" b="1">
                <a:solidFill>
                  <a:srgbClr val="1C2430"/>
                </a:solidFill>
                <a:latin typeface="Segoe UI"/>
              </a:rPr>
              <a:t>Dinámica</a:t>
            </a:r>
            <a:r>
              <a:rPr sz="1450" b="1">
                <a:solidFill>
                  <a:srgbClr val="1C2430"/>
                </a:solidFill>
                <a:latin typeface="Segoe UI"/>
              </a:rPr>
              <a:t>: no basta con llegar; hay que llegar </a:t>
            </a:r>
            <a:r>
              <a:rPr sz="1450" b="1">
                <a:solidFill>
                  <a:srgbClr val="1C2430"/>
                </a:solidFill>
                <a:latin typeface="Segoe UI"/>
              </a:rPr>
              <a:t>rápido</a:t>
            </a:r>
            <a:r>
              <a:rPr sz="1450" b="1">
                <a:solidFill>
                  <a:srgbClr val="1C2430"/>
                </a:solidFill>
                <a:latin typeface="Segoe UI"/>
              </a:rPr>
              <a:t>, </a:t>
            </a:r>
            <a:r>
              <a:rPr sz="1450" b="1">
                <a:solidFill>
                  <a:srgbClr val="1C2430"/>
                </a:solidFill>
                <a:latin typeface="Segoe UI"/>
              </a:rPr>
              <a:t>sin sobrepasar</a:t>
            </a:r>
            <a:r>
              <a:rPr sz="1450" b="1">
                <a:solidFill>
                  <a:srgbClr val="1C2430"/>
                </a:solidFill>
                <a:latin typeface="Segoe UI"/>
              </a:rPr>
              <a:t> y </a:t>
            </a:r>
            <a:r>
              <a:rPr sz="1450" b="1">
                <a:solidFill>
                  <a:srgbClr val="1C2430"/>
                </a:solidFill>
                <a:latin typeface="Segoe UI"/>
              </a:rPr>
              <a:t>sin vibrar</a:t>
            </a:r>
            <a:r>
              <a:rPr sz="1450" b="1">
                <a:solidFill>
                  <a:srgbClr val="1C2430"/>
                </a:solidFill>
                <a:latin typeface="Segoe UI"/>
              </a:rPr>
              <a:t>. Ahí está la dificultad y el valor técnico.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400" b="1">
                <a:solidFill>
                  <a:srgbClr val="1B5EA8"/>
                </a:solidFill>
                <a:latin typeface="Segoe UI Semibold"/>
              </a:rPr>
              <a:t>Qué aporta frente a un accionamiento convencional</a:t>
            </a:r>
          </a:p>
          <a:p>
            <a:pPr marL="566928" indent="-201168">
              <a:lnSpc>
                <a:spcPct val="106000"/>
              </a:lnSpc>
              <a:spcAft>
                <a:spcPts val="500"/>
              </a:spcAft>
              <a:buClr>
                <a:srgbClr val="00A9CE"/>
              </a:buClr>
              <a:buSzPct val="90000"/>
              <a:buFont typeface="Arial"/>
              <a:buChar char="▸"/>
            </a:pPr>
            <a:r>
              <a:rPr sz="1300" b="0">
                <a:solidFill>
                  <a:srgbClr val="333F4C"/>
                </a:solidFill>
                <a:latin typeface="Segoe UI"/>
              </a:rPr>
              <a:t>Precisión de posicionado del orden de la </a:t>
            </a:r>
            <a:r>
              <a:rPr sz="1300" b="1">
                <a:solidFill>
                  <a:srgbClr val="333F4C"/>
                </a:solidFill>
                <a:latin typeface="Segoe UI"/>
              </a:rPr>
              <a:t>cuenta de encoder</a:t>
            </a:r>
            <a:r>
              <a:rPr sz="1300" b="0">
                <a:solidFill>
                  <a:srgbClr val="333F4C"/>
                </a:solidFill>
                <a:latin typeface="Segoe UI"/>
              </a:rPr>
              <a:t> (millonésimas de vuelta con encoder de 24 bits).</a:t>
            </a:r>
          </a:p>
          <a:p>
            <a:pPr marL="566928" indent="-201168">
              <a:lnSpc>
                <a:spcPct val="106000"/>
              </a:lnSpc>
              <a:spcAft>
                <a:spcPts val="500"/>
              </a:spcAft>
              <a:buClr>
                <a:srgbClr val="00A9CE"/>
              </a:buClr>
              <a:buSzPct val="90000"/>
              <a:buFont typeface="Arial"/>
              <a:buChar char="▸"/>
            </a:pPr>
            <a:r>
              <a:rPr sz="1300" b="0">
                <a:solidFill>
                  <a:srgbClr val="333F4C"/>
                </a:solidFill>
                <a:latin typeface="Segoe UI"/>
              </a:rPr>
              <a:t>Par disponible desde </a:t>
            </a:r>
            <a:r>
              <a:rPr sz="1300" b="1">
                <a:solidFill>
                  <a:srgbClr val="333F4C"/>
                </a:solidFill>
                <a:latin typeface="Segoe UI"/>
              </a:rPr>
              <a:t>velocidad cero</a:t>
            </a:r>
            <a:r>
              <a:rPr sz="1300" b="0">
                <a:solidFill>
                  <a:srgbClr val="333F4C"/>
                </a:solidFill>
                <a:latin typeface="Segoe UI"/>
              </a:rPr>
              <a:t> y control del par en todo momento.</a:t>
            </a:r>
          </a:p>
          <a:p>
            <a:pPr marL="566928" indent="-201168">
              <a:lnSpc>
                <a:spcPct val="106000"/>
              </a:lnSpc>
              <a:spcAft>
                <a:spcPts val="500"/>
              </a:spcAft>
              <a:buClr>
                <a:srgbClr val="00A9CE"/>
              </a:buClr>
              <a:buSzPct val="90000"/>
              <a:buFont typeface="Arial"/>
              <a:buChar char="▸"/>
            </a:pPr>
            <a:r>
              <a:rPr sz="1300" b="0">
                <a:solidFill>
                  <a:srgbClr val="333F4C"/>
                </a:solidFill>
                <a:latin typeface="Segoe UI"/>
              </a:rPr>
              <a:t>Aceleraciones y ciclos por minuto muy superiores: el motor está diseñado con baja inercia y alta densidad de par.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cuatro elementos del sistema servo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Cadena de mando y cadena de realimentación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a:t>
            </a:r>
          </a:p>
        </p:txBody>
      </p:sp>
      <p:sp>
        <p:nvSpPr>
          <p:cNvPr id="9" name="Rounded Rectangle 8"/>
          <p:cNvSpPr/>
          <p:nvPr/>
        </p:nvSpPr>
        <p:spPr>
          <a:xfrm>
            <a:off x="685800" y="2148840"/>
            <a:ext cx="2331720" cy="105156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CONTROLADOR</a:t>
            </a:r>
          </a:p>
          <a:p>
            <a:pPr algn="ctr">
              <a:lnSpc>
                <a:spcPct val="100000"/>
              </a:lnSpc>
              <a:buNone/>
            </a:pPr>
            <a:r>
              <a:rPr sz="1250" b="1">
                <a:solidFill>
                  <a:srgbClr val="FFFFFF"/>
                </a:solidFill>
                <a:latin typeface="Segoe UI"/>
              </a:rPr>
              <a:t>PLC · CNC · Motion</a:t>
            </a:r>
          </a:p>
        </p:txBody>
      </p:sp>
      <p:sp>
        <p:nvSpPr>
          <p:cNvPr id="10" name="TextBox 9"/>
          <p:cNvSpPr txBox="1"/>
          <p:nvPr/>
        </p:nvSpPr>
        <p:spPr>
          <a:xfrm>
            <a:off x="68580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Genera la consigna:</a:t>
            </a:r>
          </a:p>
          <a:p>
            <a:pPr algn="ctr">
              <a:lnSpc>
                <a:spcPct val="100000"/>
              </a:lnSpc>
              <a:buNone/>
            </a:pPr>
            <a:r>
              <a:rPr sz="1000" b="0">
                <a:solidFill>
                  <a:srgbClr val="5A6B7B"/>
                </a:solidFill>
                <a:latin typeface="Segoe UI"/>
              </a:rPr>
              <a:t>posición, velocidad o par</a:t>
            </a:r>
          </a:p>
        </p:txBody>
      </p:sp>
      <p:sp>
        <p:nvSpPr>
          <p:cNvPr id="11" name="Right Arrow 10"/>
          <p:cNvSpPr/>
          <p:nvPr/>
        </p:nvSpPr>
        <p:spPr>
          <a:xfrm>
            <a:off x="3090672" y="2555748"/>
            <a:ext cx="356616" cy="23774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3520440" y="2148840"/>
            <a:ext cx="2331720" cy="105156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SERVOPACK</a:t>
            </a:r>
          </a:p>
          <a:p>
            <a:pPr algn="ctr">
              <a:lnSpc>
                <a:spcPct val="100000"/>
              </a:lnSpc>
              <a:buNone/>
            </a:pPr>
            <a:r>
              <a:rPr sz="1250" b="1">
                <a:solidFill>
                  <a:srgbClr val="FFFFFF"/>
                </a:solidFill>
                <a:latin typeface="Segoe UI"/>
              </a:rPr>
              <a:t>SGD7S-200A</a:t>
            </a:r>
          </a:p>
        </p:txBody>
      </p:sp>
      <p:sp>
        <p:nvSpPr>
          <p:cNvPr id="13" name="TextBox 12"/>
          <p:cNvSpPr txBox="1"/>
          <p:nvPr/>
        </p:nvSpPr>
        <p:spPr>
          <a:xfrm>
            <a:off x="352044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Cierra los lazos y</a:t>
            </a:r>
          </a:p>
          <a:p>
            <a:pPr algn="ctr">
              <a:lnSpc>
                <a:spcPct val="100000"/>
              </a:lnSpc>
              <a:buNone/>
            </a:pPr>
            <a:r>
              <a:rPr sz="1000" b="0">
                <a:solidFill>
                  <a:srgbClr val="5A6B7B"/>
                </a:solidFill>
                <a:latin typeface="Segoe UI"/>
              </a:rPr>
              <a:t>convierte la red en corriente</a:t>
            </a:r>
          </a:p>
        </p:txBody>
      </p:sp>
      <p:sp>
        <p:nvSpPr>
          <p:cNvPr id="14" name="Right Arrow 13"/>
          <p:cNvSpPr/>
          <p:nvPr/>
        </p:nvSpPr>
        <p:spPr>
          <a:xfrm>
            <a:off x="5925312" y="2555748"/>
            <a:ext cx="356616" cy="23774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355080" y="2148840"/>
            <a:ext cx="2331720" cy="105156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SERVOMOTOR</a:t>
            </a:r>
          </a:p>
          <a:p>
            <a:pPr algn="ctr">
              <a:lnSpc>
                <a:spcPct val="100000"/>
              </a:lnSpc>
              <a:buNone/>
            </a:pPr>
            <a:r>
              <a:rPr sz="1250" b="1">
                <a:solidFill>
                  <a:srgbClr val="FFFFFF"/>
                </a:solidFill>
                <a:latin typeface="Segoe UI"/>
              </a:rPr>
              <a:t>SGM7A-30A · 3 kW</a:t>
            </a:r>
          </a:p>
        </p:txBody>
      </p:sp>
      <p:sp>
        <p:nvSpPr>
          <p:cNvPr id="16" name="TextBox 15"/>
          <p:cNvSpPr txBox="1"/>
          <p:nvPr/>
        </p:nvSpPr>
        <p:spPr>
          <a:xfrm>
            <a:off x="635508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Convierte corriente</a:t>
            </a:r>
          </a:p>
          <a:p>
            <a:pPr algn="ctr">
              <a:lnSpc>
                <a:spcPct val="100000"/>
              </a:lnSpc>
              <a:buNone/>
            </a:pPr>
            <a:r>
              <a:rPr sz="1000" b="0">
                <a:solidFill>
                  <a:srgbClr val="5A6B7B"/>
                </a:solidFill>
                <a:latin typeface="Segoe UI"/>
              </a:rPr>
              <a:t>en par y movimiento</a:t>
            </a:r>
          </a:p>
        </p:txBody>
      </p:sp>
      <p:sp>
        <p:nvSpPr>
          <p:cNvPr id="17" name="Right Arrow 16"/>
          <p:cNvSpPr/>
          <p:nvPr/>
        </p:nvSpPr>
        <p:spPr>
          <a:xfrm>
            <a:off x="8759952" y="2555748"/>
            <a:ext cx="356616" cy="23774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9189720" y="2148840"/>
            <a:ext cx="2331720" cy="105156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50" b="1">
                <a:solidFill>
                  <a:srgbClr val="FFFFFF"/>
                </a:solidFill>
                <a:latin typeface="Segoe UI"/>
              </a:rPr>
              <a:t>MECÁNICA</a:t>
            </a:r>
          </a:p>
          <a:p>
            <a:pPr algn="ctr">
              <a:lnSpc>
                <a:spcPct val="100000"/>
              </a:lnSpc>
              <a:buNone/>
            </a:pPr>
            <a:r>
              <a:rPr sz="1250" b="1">
                <a:solidFill>
                  <a:srgbClr val="FFFFFF"/>
                </a:solidFill>
                <a:latin typeface="Segoe UI"/>
              </a:rPr>
              <a:t>Reductor · husillo · carga</a:t>
            </a:r>
          </a:p>
        </p:txBody>
      </p:sp>
      <p:sp>
        <p:nvSpPr>
          <p:cNvPr id="19" name="TextBox 18"/>
          <p:cNvSpPr txBox="1"/>
          <p:nvPr/>
        </p:nvSpPr>
        <p:spPr>
          <a:xfrm>
            <a:off x="9189720" y="3310128"/>
            <a:ext cx="233172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Transforma el giro</a:t>
            </a:r>
          </a:p>
          <a:p>
            <a:pPr algn="ctr">
              <a:lnSpc>
                <a:spcPct val="100000"/>
              </a:lnSpc>
              <a:buNone/>
            </a:pPr>
            <a:r>
              <a:rPr sz="1000" b="0">
                <a:solidFill>
                  <a:srgbClr val="5A6B7B"/>
                </a:solidFill>
                <a:latin typeface="Segoe UI"/>
              </a:rPr>
              <a:t>en el movimiento útil</a:t>
            </a:r>
          </a:p>
        </p:txBody>
      </p:sp>
      <p:sp>
        <p:nvSpPr>
          <p:cNvPr id="20" name="TextBox 19"/>
          <p:cNvSpPr txBox="1"/>
          <p:nvPr/>
        </p:nvSpPr>
        <p:spPr>
          <a:xfrm>
            <a:off x="685800" y="1764792"/>
            <a:ext cx="10835640" cy="237744"/>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CADENA DE MANDO  →</a:t>
            </a:r>
          </a:p>
        </p:txBody>
      </p:sp>
      <p:cxnSp>
        <p:nvCxnSpPr>
          <p:cNvPr id="21" name="Connector 20"/>
          <p:cNvCxnSpPr/>
          <p:nvPr/>
        </p:nvCxnSpPr>
        <p:spPr>
          <a:xfrm>
            <a:off x="7520940" y="3703320"/>
            <a:ext cx="0" cy="82296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686300" y="4526280"/>
            <a:ext cx="2834640" cy="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sp>
        <p:nvSpPr>
          <p:cNvPr id="23" name="Up Arrow 22"/>
          <p:cNvSpPr/>
          <p:nvPr/>
        </p:nvSpPr>
        <p:spPr>
          <a:xfrm>
            <a:off x="4567428" y="3959352"/>
            <a:ext cx="237744" cy="566928"/>
          </a:xfrm>
          <a:prstGeom prst="up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86500" y="4325112"/>
            <a:ext cx="2468880" cy="40233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ENCODER ABSOLUTO 24 bits  (CN2)</a:t>
            </a:r>
          </a:p>
        </p:txBody>
      </p:sp>
      <p:cxnSp>
        <p:nvCxnSpPr>
          <p:cNvPr id="25" name="Connector 24"/>
          <p:cNvCxnSpPr/>
          <p:nvPr/>
        </p:nvCxnSpPr>
        <p:spPr>
          <a:xfrm>
            <a:off x="4686300" y="3703320"/>
            <a:ext cx="0" cy="1554480"/>
          </a:xfrm>
          <a:prstGeom prst="line">
            <a:avLst/>
          </a:prstGeom>
          <a:ln w="15875">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851660" y="5257800"/>
            <a:ext cx="2834640" cy="0"/>
          </a:xfrm>
          <a:prstGeom prst="line">
            <a:avLst/>
          </a:prstGeom>
          <a:ln w="15875">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27" name="Up Arrow 26"/>
          <p:cNvSpPr/>
          <p:nvPr/>
        </p:nvSpPr>
        <p:spPr>
          <a:xfrm>
            <a:off x="1751076" y="4754880"/>
            <a:ext cx="201168" cy="502920"/>
          </a:xfrm>
          <a:prstGeom prst="up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857500" y="5330952"/>
            <a:ext cx="365760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Estado y acuse:  /COIN · /S-RDY · ALM · posición por bus</a:t>
            </a:r>
          </a:p>
        </p:txBody>
      </p:sp>
      <p:sp>
        <p:nvSpPr>
          <p:cNvPr id="29" name="Rectangle 28"/>
          <p:cNvSpPr/>
          <p:nvPr/>
        </p:nvSpPr>
        <p:spPr>
          <a:xfrm>
            <a:off x="685800" y="5596128"/>
            <a:ext cx="10817352" cy="7315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85800" y="5596128"/>
            <a:ext cx="68580" cy="7315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60120" y="5733288"/>
            <a:ext cx="10314432"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Qué hay que retener</a:t>
            </a:r>
          </a:p>
        </p:txBody>
      </p:sp>
      <p:sp>
        <p:nvSpPr>
          <p:cNvPr id="32" name="TextBox 31"/>
          <p:cNvSpPr txBox="1"/>
          <p:nvPr/>
        </p:nvSpPr>
        <p:spPr>
          <a:xfrm>
            <a:off x="960120" y="6007608"/>
            <a:ext cx="10314432" cy="22860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controlador dice QUÉ hacer; el SERVOPACK decide CÓMO hacerlo. El ajuste dinámico del eje vive en el drive, no en el programa del PLC.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269" b="1">
                <a:solidFill>
                  <a:srgbClr val="FFFFFF"/>
                </a:solidFill>
                <a:latin typeface="Segoe UI Semibold"/>
              </a:rPr>
              <a:t>Servo frente a variador de frecuencia y motor paso a paso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Cuándo se justifica el sobrecoste de un servo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a:t>
            </a:r>
          </a:p>
        </p:txBody>
      </p:sp>
      <p:graphicFrame>
        <p:nvGraphicFramePr>
          <p:cNvPr id="9" name="Table 8"/>
          <p:cNvGraphicFramePr>
            <a:graphicFrameLocks noGrp="1"/>
          </p:cNvGraphicFramePr>
          <p:nvPr/>
        </p:nvGraphicFramePr>
        <p:xfrm>
          <a:off x="566928" y="1481328"/>
          <a:ext cx="11057836" cy="4462272"/>
        </p:xfrm>
        <a:graphic>
          <a:graphicData uri="http://schemas.openxmlformats.org/drawingml/2006/table">
            <a:tbl>
              <a:tblPr firstRow="1">
                <a:tableStyleId>{5C22544A-7EE6-4342-B048-85BDC9FD1C3A}</a:tableStyleId>
              </a:tblPr>
              <a:tblGrid>
                <a:gridCol w="1521720"/>
                <a:gridCol w="3449234"/>
                <a:gridCol w="3043441"/>
                <a:gridCol w="3043441"/>
              </a:tblGrid>
              <a:tr h="347472">
                <a:tc>
                  <a:txBody>
                    <a:bodyPr wrap="square"/>
                    <a:lstStyle/>
                    <a:p>
                      <a:pPr algn="l">
                        <a:lnSpc>
                          <a:spcPct val="100000"/>
                        </a:lnSpc>
                        <a:buNone/>
                      </a:pPr>
                      <a:r>
                        <a:rPr sz="1000" b="1">
                          <a:solidFill>
                            <a:srgbClr val="FFFFFF"/>
                          </a:solidFill>
                          <a:latin typeface="Segoe UI"/>
                        </a:rPr>
                        <a:t>Criterio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Servo (SERVOPACK + PMSM)</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Variador + motor asíncrono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Motor paso a paso</a:t>
                      </a:r>
                    </a:p>
                  </a:txBody>
                  <a:tcPr marL="82296" marR="82296" marT="27432" marB="27432" anchor="ctr">
                    <a:solidFill>
                      <a:srgbClr val="0B2545"/>
                    </a:solidFill>
                  </a:tcPr>
                </a:tc>
              </a:tr>
              <a:tr h="514350">
                <a:tc>
                  <a:txBody>
                    <a:bodyPr wrap="square"/>
                    <a:lstStyle/>
                    <a:p>
                      <a:pPr algn="l">
                        <a:lnSpc>
                          <a:spcPct val="100000"/>
                        </a:lnSpc>
                        <a:buNone/>
                      </a:pPr>
                      <a:r>
                        <a:rPr sz="1000" b="0">
                          <a:solidFill>
                            <a:srgbClr val="1C2430"/>
                          </a:solidFill>
                          <a:latin typeface="Segoe UI"/>
                        </a:rPr>
                        <a:t>Lazo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Cerrado con encoder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Normalmente abierto (V/f) o sensorless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Abierto (salvo versiones closed-loop)</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Precisión de posición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Cuenta de encoder (24 bits = 16,7 M/vuelta)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Baja, no es su función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Paso del motor; pierde pasos si sobrecarga</a:t>
                      </a:r>
                    </a:p>
                  </a:txBody>
                  <a:tcPr marL="82296" marR="82296" marT="27432" marB="27432" anchor="ctr">
                    <a:solidFill>
                      <a:srgbClr val="F2F5F8"/>
                    </a:solidFill>
                  </a:tcPr>
                </a:tc>
              </a:tr>
              <a:tr h="514350">
                <a:tc>
                  <a:txBody>
                    <a:bodyPr wrap="square"/>
                    <a:lstStyle/>
                    <a:p>
                      <a:pPr algn="l">
                        <a:lnSpc>
                          <a:spcPct val="100000"/>
                        </a:lnSpc>
                        <a:buNone/>
                      </a:pPr>
                      <a:r>
                        <a:rPr sz="1000" b="0">
                          <a:solidFill>
                            <a:srgbClr val="1C2430"/>
                          </a:solidFill>
                          <a:latin typeface="Segoe UI"/>
                        </a:rPr>
                        <a:t>Par a velocidad cero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100 % del par nominal de forma continua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Limitado, requiere ventilación forzada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Par de mantenimiento con calentamiento</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Par pico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300 % del nominal durante segundos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150 %</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No hay reserva de par</a:t>
                      </a:r>
                    </a:p>
                  </a:txBody>
                  <a:tcPr marL="82296" marR="82296" marT="27432" marB="27432" anchor="ctr">
                    <a:solidFill>
                      <a:srgbClr val="F2F5F8"/>
                    </a:solidFill>
                  </a:tcPr>
                </a:tc>
              </a:tr>
              <a:tr h="514350">
                <a:tc>
                  <a:txBody>
                    <a:bodyPr wrap="square"/>
                    <a:lstStyle/>
                    <a:p>
                      <a:pPr algn="l">
                        <a:lnSpc>
                          <a:spcPct val="100000"/>
                        </a:lnSpc>
                        <a:buNone/>
                      </a:pPr>
                      <a:r>
                        <a:rPr sz="1000" b="0">
                          <a:solidFill>
                            <a:srgbClr val="1C2430"/>
                          </a:solidFill>
                          <a:latin typeface="Segoe UI"/>
                        </a:rPr>
                        <a:t>Dinámica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Muy alta: milisegundos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Media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Baja a alta velocidad</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Comportamiento en sobrecarga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Aumenta corriente y avisa/alarma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Aumenta deslizamiento</a:t>
                      </a:r>
                    </a:p>
                  </a:txBody>
                  <a:tcPr marL="82296" marR="82296" marT="27432" marB="27432" anchor="ctr">
                    <a:solidFill>
                      <a:srgbClr val="F2F5F8"/>
                    </a:solidFill>
                  </a:tcPr>
                </a:tc>
                <a:tc>
                  <a:txBody>
                    <a:bodyPr wrap="square"/>
                    <a:lstStyle/>
                    <a:p>
                      <a:pPr algn="l">
                        <a:lnSpc>
                          <a:spcPct val="100000"/>
                        </a:lnSpc>
                        <a:buNone/>
                      </a:pPr>
                      <a:r>
                        <a:rPr sz="1000" b="1">
                          <a:solidFill>
                            <a:srgbClr val="1C2430"/>
                          </a:solidFill>
                          <a:latin typeface="Segoe UI"/>
                        </a:rPr>
                        <a:t>Pierde pasos en silencio</a:t>
                      </a:r>
                    </a:p>
                  </a:txBody>
                  <a:tcPr marL="82296" marR="82296" marT="27432" marB="27432" anchor="ctr">
                    <a:solidFill>
                      <a:srgbClr val="F2F5F8"/>
                    </a:solidFill>
                  </a:tcPr>
                </a:tc>
              </a:tr>
              <a:tr h="514350">
                <a:tc>
                  <a:txBody>
                    <a:bodyPr wrap="square"/>
                    <a:lstStyle/>
                    <a:p>
                      <a:pPr algn="l">
                        <a:lnSpc>
                          <a:spcPct val="100000"/>
                        </a:lnSpc>
                        <a:buNone/>
                      </a:pPr>
                      <a:r>
                        <a:rPr sz="1000" b="0">
                          <a:solidFill>
                            <a:srgbClr val="1C2430"/>
                          </a:solidFill>
                          <a:latin typeface="Segoe UI"/>
                        </a:rPr>
                        <a:t>Coste relativo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Alto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Bajo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Muy bajo</a:t>
                      </a:r>
                    </a:p>
                  </a:txBody>
                  <a:tcPr marL="82296" marR="82296" marT="27432" marB="27432" anchor="ctr">
                    <a:solidFill>
                      <a:srgbClr val="FFFFFF"/>
                    </a:solidFill>
                  </a:tcPr>
                </a:tc>
              </a:tr>
              <a:tr h="514350">
                <a:tc>
                  <a:txBody>
                    <a:bodyPr wrap="square"/>
                    <a:lstStyle/>
                    <a:p>
                      <a:pPr algn="l">
                        <a:lnSpc>
                          <a:spcPct val="100000"/>
                        </a:lnSpc>
                        <a:buNone/>
                      </a:pPr>
                      <a:r>
                        <a:rPr sz="1000" b="0">
                          <a:solidFill>
                            <a:srgbClr val="1C2430"/>
                          </a:solidFill>
                          <a:latin typeface="Segoe UI"/>
                        </a:rPr>
                        <a:t>Aplicación típica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Posicionado, sincronismo, corte, robótica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Bombas, ventiladores, cintas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auxiliares de bajo par</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Regla práctica: si el eje debe posicionar con exactitud, sincronizarse con otro eje o repetir ciclos rápidos, es un servo. Si solo debe girar, es un variador.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lazo cerrado en cascada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Tres reguladores anidados: posición → velocidad → par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a:t>
            </a:r>
          </a:p>
        </p:txBody>
      </p:sp>
      <p:sp>
        <p:nvSpPr>
          <p:cNvPr id="9" name="Rounded Rectangle 8"/>
          <p:cNvSpPr/>
          <p:nvPr/>
        </p:nvSpPr>
        <p:spPr>
          <a:xfrm>
            <a:off x="566928" y="2331720"/>
            <a:ext cx="1572768" cy="91440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Consigna</a:t>
            </a:r>
          </a:p>
        </p:txBody>
      </p:sp>
      <p:sp>
        <p:nvSpPr>
          <p:cNvPr id="10" name="Right Arrow 9"/>
          <p:cNvSpPr/>
          <p:nvPr/>
        </p:nvSpPr>
        <p:spPr>
          <a:xfrm>
            <a:off x="2176272"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2414016" y="2331720"/>
            <a:ext cx="1572768" cy="91440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LAZO DE</a:t>
            </a:r>
          </a:p>
          <a:p>
            <a:pPr algn="ctr">
              <a:lnSpc>
                <a:spcPct val="100000"/>
              </a:lnSpc>
              <a:buNone/>
            </a:pPr>
            <a:r>
              <a:rPr sz="1150" b="1">
                <a:solidFill>
                  <a:srgbClr val="FFFFFF"/>
                </a:solidFill>
                <a:latin typeface="Segoe UI"/>
              </a:rPr>
              <a:t>POSICIÓN</a:t>
            </a:r>
          </a:p>
        </p:txBody>
      </p:sp>
      <p:sp>
        <p:nvSpPr>
          <p:cNvPr id="12" name="TextBox 11"/>
          <p:cNvSpPr txBox="1"/>
          <p:nvPr/>
        </p:nvSpPr>
        <p:spPr>
          <a:xfrm>
            <a:off x="2414016" y="3337560"/>
            <a:ext cx="1572768" cy="237744"/>
          </a:xfrm>
          <a:prstGeom prst="rect">
            <a:avLst/>
          </a:prstGeom>
          <a:noFill/>
        </p:spPr>
        <p:txBody>
          <a:bodyPr wrap="square" lIns="0" rIns="0" tIns="0" bIns="0" anchor="t">
            <a:spAutoFit/>
          </a:bodyPr>
          <a:lstStyle/>
          <a:p>
            <a:pPr algn="ctr">
              <a:lnSpc>
                <a:spcPct val="100000"/>
              </a:lnSpc>
              <a:buNone/>
            </a:pPr>
            <a:r>
              <a:rPr sz="1000" b="1">
                <a:solidFill>
                  <a:srgbClr val="1B5EA8"/>
                </a:solidFill>
                <a:latin typeface="Consolas"/>
              </a:rPr>
              <a:t>Pn102</a:t>
            </a:r>
            <a:r>
              <a:rPr sz="1000" b="1">
                <a:solidFill>
                  <a:srgbClr val="1B5EA8"/>
                </a:solidFill>
                <a:latin typeface="Consolas"/>
              </a:rPr>
              <a:t> Kp</a:t>
            </a:r>
          </a:p>
        </p:txBody>
      </p:sp>
      <p:sp>
        <p:nvSpPr>
          <p:cNvPr id="13" name="Right Arrow 12"/>
          <p:cNvSpPr/>
          <p:nvPr/>
        </p:nvSpPr>
        <p:spPr>
          <a:xfrm>
            <a:off x="4023360"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261104" y="2331720"/>
            <a:ext cx="1572768" cy="91440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LAZO DE</a:t>
            </a:r>
          </a:p>
          <a:p>
            <a:pPr algn="ctr">
              <a:lnSpc>
                <a:spcPct val="100000"/>
              </a:lnSpc>
              <a:buNone/>
            </a:pPr>
            <a:r>
              <a:rPr sz="1150" b="1">
                <a:solidFill>
                  <a:srgbClr val="FFFFFF"/>
                </a:solidFill>
                <a:latin typeface="Segoe UI"/>
              </a:rPr>
              <a:t>VELOCIDAD</a:t>
            </a:r>
          </a:p>
        </p:txBody>
      </p:sp>
      <p:sp>
        <p:nvSpPr>
          <p:cNvPr id="15" name="TextBox 14"/>
          <p:cNvSpPr txBox="1"/>
          <p:nvPr/>
        </p:nvSpPr>
        <p:spPr>
          <a:xfrm>
            <a:off x="4261104" y="3337560"/>
            <a:ext cx="1572768" cy="237744"/>
          </a:xfrm>
          <a:prstGeom prst="rect">
            <a:avLst/>
          </a:prstGeom>
          <a:noFill/>
        </p:spPr>
        <p:txBody>
          <a:bodyPr wrap="square" lIns="0" rIns="0" tIns="0" bIns="0" anchor="t">
            <a:spAutoFit/>
          </a:bodyPr>
          <a:lstStyle/>
          <a:p>
            <a:pPr algn="ctr">
              <a:lnSpc>
                <a:spcPct val="100000"/>
              </a:lnSpc>
              <a:buNone/>
            </a:pPr>
            <a:r>
              <a:rPr sz="1000" b="1">
                <a:solidFill>
                  <a:srgbClr val="1B5EA8"/>
                </a:solidFill>
                <a:latin typeface="Consolas"/>
              </a:rPr>
              <a:t>Pn100</a:t>
            </a:r>
            <a:r>
              <a:rPr sz="1000" b="1">
                <a:solidFill>
                  <a:srgbClr val="1B5EA8"/>
                </a:solidFill>
                <a:latin typeface="Consolas"/>
              </a:rPr>
              <a:t> · </a:t>
            </a:r>
            <a:r>
              <a:rPr sz="1000" b="1">
                <a:solidFill>
                  <a:srgbClr val="1B5EA8"/>
                </a:solidFill>
                <a:latin typeface="Consolas"/>
              </a:rPr>
              <a:t>Pn101</a:t>
            </a:r>
          </a:p>
        </p:txBody>
      </p:sp>
      <p:sp>
        <p:nvSpPr>
          <p:cNvPr id="16" name="Right Arrow 15"/>
          <p:cNvSpPr/>
          <p:nvPr/>
        </p:nvSpPr>
        <p:spPr>
          <a:xfrm>
            <a:off x="5870448"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08192" y="2331720"/>
            <a:ext cx="1572768" cy="91440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LAZO DE</a:t>
            </a:r>
          </a:p>
          <a:p>
            <a:pPr algn="ctr">
              <a:lnSpc>
                <a:spcPct val="100000"/>
              </a:lnSpc>
              <a:buNone/>
            </a:pPr>
            <a:r>
              <a:rPr sz="1150" b="1">
                <a:solidFill>
                  <a:srgbClr val="FFFFFF"/>
                </a:solidFill>
                <a:latin typeface="Segoe UI"/>
              </a:rPr>
              <a:t>PAR / CORRIENTE</a:t>
            </a:r>
          </a:p>
        </p:txBody>
      </p:sp>
      <p:sp>
        <p:nvSpPr>
          <p:cNvPr id="18" name="TextBox 17"/>
          <p:cNvSpPr txBox="1"/>
          <p:nvPr/>
        </p:nvSpPr>
        <p:spPr>
          <a:xfrm>
            <a:off x="6108192" y="3337560"/>
            <a:ext cx="1572768" cy="237744"/>
          </a:xfrm>
          <a:prstGeom prst="rect">
            <a:avLst/>
          </a:prstGeom>
          <a:noFill/>
        </p:spPr>
        <p:txBody>
          <a:bodyPr wrap="square" lIns="0" rIns="0" tIns="0" bIns="0" anchor="t">
            <a:spAutoFit/>
          </a:bodyPr>
          <a:lstStyle/>
          <a:p>
            <a:pPr algn="ctr">
              <a:lnSpc>
                <a:spcPct val="100000"/>
              </a:lnSpc>
              <a:buNone/>
            </a:pPr>
            <a:r>
              <a:rPr sz="1000" b="1">
                <a:solidFill>
                  <a:srgbClr val="1B5EA8"/>
                </a:solidFill>
                <a:latin typeface="Consolas"/>
              </a:rPr>
              <a:t>Pn401</a:t>
            </a:r>
            <a:r>
              <a:rPr sz="1000" b="1">
                <a:solidFill>
                  <a:srgbClr val="1B5EA8"/>
                </a:solidFill>
                <a:latin typeface="Consolas"/>
              </a:rPr>
              <a:t> filtro</a:t>
            </a:r>
          </a:p>
        </p:txBody>
      </p:sp>
      <p:sp>
        <p:nvSpPr>
          <p:cNvPr id="19" name="Right Arrow 18"/>
          <p:cNvSpPr/>
          <p:nvPr/>
        </p:nvSpPr>
        <p:spPr>
          <a:xfrm>
            <a:off x="7717536"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7955280" y="2331720"/>
            <a:ext cx="1572768" cy="91440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PWM +</a:t>
            </a:r>
          </a:p>
          <a:p>
            <a:pPr algn="ctr">
              <a:lnSpc>
                <a:spcPct val="100000"/>
              </a:lnSpc>
              <a:buNone/>
            </a:pPr>
            <a:r>
              <a:rPr sz="1150" b="1">
                <a:solidFill>
                  <a:srgbClr val="FFFFFF"/>
                </a:solidFill>
                <a:latin typeface="Segoe UI"/>
              </a:rPr>
              <a:t>IGBT</a:t>
            </a:r>
          </a:p>
        </p:txBody>
      </p:sp>
      <p:sp>
        <p:nvSpPr>
          <p:cNvPr id="21" name="Right Arrow 20"/>
          <p:cNvSpPr/>
          <p:nvPr/>
        </p:nvSpPr>
        <p:spPr>
          <a:xfrm>
            <a:off x="9564624" y="2697480"/>
            <a:ext cx="201168" cy="182880"/>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9802368" y="2331720"/>
            <a:ext cx="1572768" cy="914400"/>
          </a:xfrm>
          <a:prstGeom prst="roundRect">
            <a:avLst>
              <a:gd name="adj" fmla="val 1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MOTOR</a:t>
            </a:r>
          </a:p>
        </p:txBody>
      </p:sp>
      <p:cxnSp>
        <p:nvCxnSpPr>
          <p:cNvPr id="23" name="Connector 22"/>
          <p:cNvCxnSpPr/>
          <p:nvPr/>
        </p:nvCxnSpPr>
        <p:spPr>
          <a:xfrm>
            <a:off x="8741664" y="3246120"/>
            <a:ext cx="0" cy="960120"/>
          </a:xfrm>
          <a:prstGeom prst="line">
            <a:avLst/>
          </a:prstGeom>
          <a:ln w="19050">
            <a:solidFill>
              <a:srgbClr val="0B254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94576" y="4206240"/>
            <a:ext cx="1847088" cy="0"/>
          </a:xfrm>
          <a:prstGeom prst="line">
            <a:avLst/>
          </a:prstGeom>
          <a:ln w="19050">
            <a:solidFill>
              <a:srgbClr val="0B2545"/>
            </a:solidFill>
          </a:ln>
        </p:spPr>
        <p:style>
          <a:lnRef idx="2">
            <a:schemeClr val="accent1"/>
          </a:lnRef>
          <a:fillRef idx="0">
            <a:schemeClr val="accent1"/>
          </a:fillRef>
          <a:effectRef idx="1">
            <a:schemeClr val="accent1"/>
          </a:effectRef>
          <a:fontRef idx="minor">
            <a:schemeClr val="tx1"/>
          </a:fontRef>
        </p:style>
      </p:cxnSp>
      <p:sp>
        <p:nvSpPr>
          <p:cNvPr id="25" name="Up Arrow 24"/>
          <p:cNvSpPr/>
          <p:nvPr/>
        </p:nvSpPr>
        <p:spPr>
          <a:xfrm>
            <a:off x="6803136" y="3794760"/>
            <a:ext cx="182880" cy="411480"/>
          </a:xfrm>
          <a:prstGeom prst="upArrow">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077456" y="3986784"/>
            <a:ext cx="5486400" cy="237744"/>
          </a:xfrm>
          <a:prstGeom prst="rect">
            <a:avLst/>
          </a:prstGeom>
          <a:noFill/>
        </p:spPr>
        <p:txBody>
          <a:bodyPr wrap="square" lIns="0" rIns="0" tIns="0" bIns="0" anchor="t">
            <a:spAutoFit/>
          </a:bodyPr>
          <a:lstStyle/>
          <a:p>
            <a:pPr algn="l">
              <a:lnSpc>
                <a:spcPct val="100000"/>
              </a:lnSpc>
              <a:buNone/>
            </a:pPr>
            <a:r>
              <a:rPr sz="1000" b="0">
                <a:solidFill>
                  <a:srgbClr val="0B2545"/>
                </a:solidFill>
                <a:latin typeface="Segoe UI"/>
              </a:rPr>
              <a:t>Realimentación de corriente</a:t>
            </a:r>
          </a:p>
        </p:txBody>
      </p:sp>
      <p:cxnSp>
        <p:nvCxnSpPr>
          <p:cNvPr id="27" name="Connector 26"/>
          <p:cNvCxnSpPr/>
          <p:nvPr/>
        </p:nvCxnSpPr>
        <p:spPr>
          <a:xfrm>
            <a:off x="10588752" y="3246120"/>
            <a:ext cx="0" cy="1554480"/>
          </a:xfrm>
          <a:prstGeom prst="line">
            <a:avLst/>
          </a:prstGeom>
          <a:ln w="19050">
            <a:solidFill>
              <a:srgbClr val="00A9C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5047488" y="4800600"/>
            <a:ext cx="5541264" cy="0"/>
          </a:xfrm>
          <a:prstGeom prst="line">
            <a:avLst/>
          </a:prstGeom>
          <a:ln w="19050">
            <a:solidFill>
              <a:srgbClr val="00A9CE"/>
            </a:solidFill>
          </a:ln>
        </p:spPr>
        <p:style>
          <a:lnRef idx="2">
            <a:schemeClr val="accent1"/>
          </a:lnRef>
          <a:fillRef idx="0">
            <a:schemeClr val="accent1"/>
          </a:fillRef>
          <a:effectRef idx="1">
            <a:schemeClr val="accent1"/>
          </a:effectRef>
          <a:fontRef idx="minor">
            <a:schemeClr val="tx1"/>
          </a:fontRef>
        </p:style>
      </p:cxnSp>
      <p:sp>
        <p:nvSpPr>
          <p:cNvPr id="29" name="Up Arrow 28"/>
          <p:cNvSpPr/>
          <p:nvPr/>
        </p:nvSpPr>
        <p:spPr>
          <a:xfrm>
            <a:off x="4956048" y="4389120"/>
            <a:ext cx="182880" cy="411480"/>
          </a:xfrm>
          <a:prstGeom prst="upArrow">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230368" y="4581144"/>
            <a:ext cx="5486400" cy="237744"/>
          </a:xfrm>
          <a:prstGeom prst="rect">
            <a:avLst/>
          </a:prstGeom>
          <a:noFill/>
        </p:spPr>
        <p:txBody>
          <a:bodyPr wrap="square" lIns="0" rIns="0" tIns="0" bIns="0" anchor="t">
            <a:spAutoFit/>
          </a:bodyPr>
          <a:lstStyle/>
          <a:p>
            <a:pPr algn="l">
              <a:lnSpc>
                <a:spcPct val="100000"/>
              </a:lnSpc>
              <a:buNone/>
            </a:pPr>
            <a:r>
              <a:rPr sz="1000" b="0">
                <a:solidFill>
                  <a:srgbClr val="00A9CE"/>
                </a:solidFill>
                <a:latin typeface="Segoe UI"/>
              </a:rPr>
              <a:t>Realimentación de velocidad (derivada del encoder)</a:t>
            </a:r>
          </a:p>
        </p:txBody>
      </p:sp>
      <p:cxnSp>
        <p:nvCxnSpPr>
          <p:cNvPr id="31" name="Connector 30"/>
          <p:cNvCxnSpPr/>
          <p:nvPr/>
        </p:nvCxnSpPr>
        <p:spPr>
          <a:xfrm>
            <a:off x="10588752" y="3246120"/>
            <a:ext cx="0" cy="2148840"/>
          </a:xfrm>
          <a:prstGeom prst="line">
            <a:avLst/>
          </a:prstGeom>
          <a:ln w="19050">
            <a:solidFill>
              <a:srgbClr val="1B5EA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3200400" y="5394960"/>
            <a:ext cx="7388352" cy="0"/>
          </a:xfrm>
          <a:prstGeom prst="line">
            <a:avLst/>
          </a:prstGeom>
          <a:ln w="19050">
            <a:solidFill>
              <a:srgbClr val="1B5EA8"/>
            </a:solidFill>
          </a:ln>
        </p:spPr>
        <p:style>
          <a:lnRef idx="2">
            <a:schemeClr val="accent1"/>
          </a:lnRef>
          <a:fillRef idx="0">
            <a:schemeClr val="accent1"/>
          </a:fillRef>
          <a:effectRef idx="1">
            <a:schemeClr val="accent1"/>
          </a:effectRef>
          <a:fontRef idx="minor">
            <a:schemeClr val="tx1"/>
          </a:fontRef>
        </p:style>
      </p:cxnSp>
      <p:sp>
        <p:nvSpPr>
          <p:cNvPr id="33" name="Up Arrow 32"/>
          <p:cNvSpPr/>
          <p:nvPr/>
        </p:nvSpPr>
        <p:spPr>
          <a:xfrm>
            <a:off x="3108960" y="4983480"/>
            <a:ext cx="182880" cy="411480"/>
          </a:xfrm>
          <a:prstGeom prst="upArrow">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383280" y="5175504"/>
            <a:ext cx="5486400" cy="237744"/>
          </a:xfrm>
          <a:prstGeom prst="rect">
            <a:avLst/>
          </a:prstGeom>
          <a:noFill/>
        </p:spPr>
        <p:txBody>
          <a:bodyPr wrap="square" lIns="0" rIns="0" tIns="0" bIns="0" anchor="t">
            <a:spAutoFit/>
          </a:bodyPr>
          <a:lstStyle/>
          <a:p>
            <a:pPr algn="l">
              <a:lnSpc>
                <a:spcPct val="100000"/>
              </a:lnSpc>
              <a:buNone/>
            </a:pPr>
            <a:r>
              <a:rPr sz="1000" b="0">
                <a:solidFill>
                  <a:srgbClr val="1B5EA8"/>
                </a:solidFill>
                <a:latin typeface="Segoe UI"/>
              </a:rPr>
              <a:t>Realimentación de posición (encoder)</a:t>
            </a:r>
          </a:p>
        </p:txBody>
      </p:sp>
      <p:sp>
        <p:nvSpPr>
          <p:cNvPr id="35" name="Rectangle 34"/>
          <p:cNvSpPr/>
          <p:nvPr/>
        </p:nvSpPr>
        <p:spPr>
          <a:xfrm>
            <a:off x="566928" y="5559552"/>
            <a:ext cx="10881360" cy="768096"/>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559552"/>
            <a:ext cx="68580" cy="768096"/>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41248" y="5696712"/>
            <a:ext cx="1037844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Orden de ajuste (memorízalo)</a:t>
            </a:r>
          </a:p>
        </p:txBody>
      </p:sp>
      <p:sp>
        <p:nvSpPr>
          <p:cNvPr id="38" name="TextBox 37"/>
          <p:cNvSpPr txBox="1"/>
          <p:nvPr/>
        </p:nvSpPr>
        <p:spPr>
          <a:xfrm>
            <a:off x="841248" y="5971032"/>
            <a:ext cx="10378440" cy="265176"/>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Siempre de dentro hacia fuera: 1) relación de inercias </a:t>
            </a:r>
            <a:r>
              <a:rPr sz="1150" b="0">
                <a:solidFill>
                  <a:srgbClr val="2B3644"/>
                </a:solidFill>
                <a:latin typeface="Consolas"/>
              </a:rPr>
              <a:t>Pn103</a:t>
            </a:r>
            <a:r>
              <a:rPr sz="1150" b="0">
                <a:solidFill>
                  <a:srgbClr val="2B3644"/>
                </a:solidFill>
                <a:latin typeface="Segoe UI"/>
              </a:rPr>
              <a:t> → 2) lazo de velocidad </a:t>
            </a:r>
            <a:r>
              <a:rPr sz="1150" b="0">
                <a:solidFill>
                  <a:srgbClr val="2B3644"/>
                </a:solidFill>
                <a:latin typeface="Consolas"/>
              </a:rPr>
              <a:t>Pn100</a:t>
            </a:r>
            <a:r>
              <a:rPr sz="1150" b="0">
                <a:solidFill>
                  <a:srgbClr val="2B3644"/>
                </a:solidFill>
                <a:latin typeface="Segoe UI"/>
              </a:rPr>
              <a:t>/</a:t>
            </a:r>
            <a:r>
              <a:rPr sz="1150" b="0">
                <a:solidFill>
                  <a:srgbClr val="2B3644"/>
                </a:solidFill>
                <a:latin typeface="Consolas"/>
              </a:rPr>
              <a:t>Pn101</a:t>
            </a:r>
            <a:r>
              <a:rPr sz="1150" b="0">
                <a:solidFill>
                  <a:srgbClr val="2B3644"/>
                </a:solidFill>
                <a:latin typeface="Segoe UI"/>
              </a:rPr>
              <a:t> → 3) lazo de posición </a:t>
            </a:r>
            <a:r>
              <a:rPr sz="1150" b="0">
                <a:solidFill>
                  <a:srgbClr val="2B3644"/>
                </a:solidFill>
                <a:latin typeface="Consolas"/>
              </a:rPr>
              <a:t>Pn102</a:t>
            </a:r>
            <a:r>
              <a:rPr sz="1150" b="0">
                <a:solidFill>
                  <a:srgbClr val="2B3644"/>
                </a:solidFill>
                <a:latin typeface="Segoe UI"/>
              </a:rPr>
              <a:t> → 4) filtros y prealimentación.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tres modos de control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 seleccionan con </a:t>
            </a:r>
            <a:r>
              <a:rPr sz="1250" b="0">
                <a:solidFill>
                  <a:srgbClr val="A9C6E0"/>
                </a:solidFill>
                <a:latin typeface="Consolas"/>
              </a:rPr>
              <a:t>Pn000.1</a:t>
            </a:r>
            <a:r>
              <a:rPr sz="1250" b="0">
                <a:solidFill>
                  <a:srgbClr val="A9C6E0"/>
                </a:solidFill>
                <a:latin typeface="Segoe UI"/>
              </a:rPr>
              <a:t> (selección del método de control)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Los tres modos son en realidad el mismo lazo en cascada; sólo cambia por dónde entra la consigna.</a:t>
            </a:r>
          </a:p>
        </p:txBody>
      </p:sp>
      <p:sp>
        <p:nvSpPr>
          <p:cNvPr id="10" name="Rectangle 9"/>
          <p:cNvSpPr/>
          <p:nvPr/>
        </p:nvSpPr>
        <p:spPr>
          <a:xfrm>
            <a:off x="566928" y="1956816"/>
            <a:ext cx="3515258" cy="4370832"/>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Control de PAR</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El drive regula la </a:t>
            </a:r>
            <a:r>
              <a:rPr sz="1200" b="1">
                <a:solidFill>
                  <a:srgbClr val="2B3644"/>
                </a:solidFill>
                <a:latin typeface="Segoe UI"/>
              </a:rPr>
              <a:t>corriente</a:t>
            </a:r>
            <a:r>
              <a:rPr sz="1200" b="0">
                <a:solidFill>
                  <a:srgbClr val="2B3644"/>
                </a:solidFill>
                <a:latin typeface="Segoe UI"/>
              </a:rPr>
              <a:t> y por tanto el par en el eje.</a:t>
            </a:r>
          </a:p>
          <a:p>
            <a:pPr>
              <a:lnSpc>
                <a:spcPct val="105000"/>
              </a:lnSpc>
              <a:spcAft>
                <a:spcPts val="400"/>
              </a:spcAft>
              <a:buNone/>
            </a:pPr>
            <a:r>
              <a:rPr sz="1200" b="0">
                <a:solidFill>
                  <a:srgbClr val="2B3644"/>
                </a:solidFill>
                <a:latin typeface="Segoe UI"/>
              </a:rPr>
              <a:t>· Consigna: analógica </a:t>
            </a:r>
            <a:r>
              <a:rPr sz="1200" b="0">
                <a:solidFill>
                  <a:srgbClr val="2B3644"/>
                </a:solidFill>
                <a:latin typeface="Consolas"/>
              </a:rPr>
              <a:t>T-REF</a:t>
            </a:r>
            <a:r>
              <a:rPr sz="1200" b="0">
                <a:solidFill>
                  <a:srgbClr val="2B3644"/>
                </a:solidFill>
                <a:latin typeface="Segoe UI"/>
              </a:rPr>
              <a:t> o por bus.</a:t>
            </a:r>
          </a:p>
          <a:p>
            <a:pPr>
              <a:lnSpc>
                <a:spcPct val="105000"/>
              </a:lnSpc>
              <a:spcAft>
                <a:spcPts val="400"/>
              </a:spcAft>
              <a:buNone/>
            </a:pPr>
            <a:r>
              <a:rPr sz="1200" b="0">
                <a:solidFill>
                  <a:srgbClr val="2B3644"/>
                </a:solidFill>
                <a:latin typeface="Segoe UI"/>
              </a:rPr>
              <a:t>· Se usa en bobinadoras, control de tensión de banda, apriete controlado y ejes esclavos en gantry.</a:t>
            </a:r>
          </a:p>
          <a:p>
            <a:pPr>
              <a:lnSpc>
                <a:spcPct val="105000"/>
              </a:lnSpc>
              <a:spcAft>
                <a:spcPts val="400"/>
              </a:spcAft>
              <a:buNone/>
            </a:pPr>
            <a:r>
              <a:rPr sz="1200" b="0">
                <a:solidFill>
                  <a:srgbClr val="2B3644"/>
                </a:solidFill>
                <a:latin typeface="Segoe UI"/>
              </a:rPr>
              <a:t>· Riesgo: sin carga, el motor se embala → hay que limitar velocidad.</a:t>
            </a:r>
          </a:p>
        </p:txBody>
      </p:sp>
      <p:sp>
        <p:nvSpPr>
          <p:cNvPr id="14" name="Rectangle 13"/>
          <p:cNvSpPr/>
          <p:nvPr/>
        </p:nvSpPr>
        <p:spPr>
          <a:xfrm>
            <a:off x="4338218" y="1956816"/>
            <a:ext cx="3515258" cy="4370832"/>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Control de VELOCIDAD</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El drive regula las </a:t>
            </a:r>
            <a:r>
              <a:rPr sz="1200" b="1">
                <a:solidFill>
                  <a:srgbClr val="2B3644"/>
                </a:solidFill>
                <a:latin typeface="Segoe UI"/>
              </a:rPr>
              <a:t>rpm</a:t>
            </a:r>
            <a:r>
              <a:rPr sz="1200" b="0">
                <a:solidFill>
                  <a:srgbClr val="2B3644"/>
                </a:solidFill>
                <a:latin typeface="Segoe UI"/>
              </a:rPr>
              <a:t> del eje.</a:t>
            </a:r>
          </a:p>
          <a:p>
            <a:pPr>
              <a:lnSpc>
                <a:spcPct val="105000"/>
              </a:lnSpc>
              <a:spcAft>
                <a:spcPts val="400"/>
              </a:spcAft>
              <a:buNone/>
            </a:pPr>
            <a:r>
              <a:rPr sz="1200" b="0">
                <a:solidFill>
                  <a:srgbClr val="2B3644"/>
                </a:solidFill>
                <a:latin typeface="Segoe UI"/>
              </a:rPr>
              <a:t>· Consigna: analógica </a:t>
            </a:r>
            <a:r>
              <a:rPr sz="1200" b="0">
                <a:solidFill>
                  <a:srgbClr val="2B3644"/>
                </a:solidFill>
                <a:latin typeface="Consolas"/>
              </a:rPr>
              <a:t>V-REF</a:t>
            </a:r>
            <a:r>
              <a:rPr sz="1200" b="0">
                <a:solidFill>
                  <a:srgbClr val="2B3644"/>
                </a:solidFill>
                <a:latin typeface="Segoe UI"/>
              </a:rPr>
              <a:t> (±10 V), velocidades internas o bus.</a:t>
            </a:r>
          </a:p>
          <a:p>
            <a:pPr>
              <a:lnSpc>
                <a:spcPct val="105000"/>
              </a:lnSpc>
              <a:spcAft>
                <a:spcPts val="400"/>
              </a:spcAft>
              <a:buNone/>
            </a:pPr>
            <a:r>
              <a:rPr sz="1200" b="0">
                <a:solidFill>
                  <a:srgbClr val="2B3644"/>
                </a:solidFill>
                <a:latin typeface="Segoe UI"/>
              </a:rPr>
              <a:t>· Se usa cuando el lazo de posición lo cierra el CNC o el PLC.</a:t>
            </a:r>
          </a:p>
          <a:p>
            <a:pPr>
              <a:lnSpc>
                <a:spcPct val="105000"/>
              </a:lnSpc>
              <a:spcAft>
                <a:spcPts val="400"/>
              </a:spcAft>
              <a:buNone/>
            </a:pPr>
            <a:r>
              <a:rPr sz="1200" b="0">
                <a:solidFill>
                  <a:srgbClr val="2B3644"/>
                </a:solidFill>
                <a:latin typeface="Segoe UI"/>
              </a:rPr>
              <a:t>· Es el modo clásico de máquina-herramienta con CNC.</a:t>
            </a:r>
          </a:p>
        </p:txBody>
      </p:sp>
      <p:sp>
        <p:nvSpPr>
          <p:cNvPr id="18" name="Rectangle 17"/>
          <p:cNvSpPr/>
          <p:nvPr/>
        </p:nvSpPr>
        <p:spPr>
          <a:xfrm>
            <a:off x="810950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Control de POSICIÓN</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El drive regula la </a:t>
            </a:r>
            <a:r>
              <a:rPr sz="1200" b="1">
                <a:solidFill>
                  <a:srgbClr val="2B3644"/>
                </a:solidFill>
                <a:latin typeface="Segoe UI"/>
              </a:rPr>
              <a:t>posición</a:t>
            </a:r>
            <a:r>
              <a:rPr sz="1200" b="0">
                <a:solidFill>
                  <a:srgbClr val="2B3644"/>
                </a:solidFill>
                <a:latin typeface="Segoe UI"/>
              </a:rPr>
              <a:t> del eje.</a:t>
            </a:r>
          </a:p>
          <a:p>
            <a:pPr>
              <a:lnSpc>
                <a:spcPct val="105000"/>
              </a:lnSpc>
              <a:spcAft>
                <a:spcPts val="400"/>
              </a:spcAft>
              <a:buNone/>
            </a:pPr>
            <a:r>
              <a:rPr sz="1200" b="0">
                <a:solidFill>
                  <a:srgbClr val="2B3644"/>
                </a:solidFill>
                <a:latin typeface="Segoe UI"/>
              </a:rPr>
              <a:t>· Consigna: tren de pulsos (</a:t>
            </a:r>
            <a:r>
              <a:rPr sz="1200" b="0">
                <a:solidFill>
                  <a:srgbClr val="2B3644"/>
                </a:solidFill>
                <a:latin typeface="Consolas"/>
              </a:rPr>
              <a:t>PULS</a:t>
            </a:r>
            <a:r>
              <a:rPr sz="1200" b="0">
                <a:solidFill>
                  <a:srgbClr val="2B3644"/>
                </a:solidFill>
                <a:latin typeface="Segoe UI"/>
              </a:rPr>
              <a:t>/</a:t>
            </a:r>
            <a:r>
              <a:rPr sz="1200" b="0">
                <a:solidFill>
                  <a:srgbClr val="2B3644"/>
                </a:solidFill>
                <a:latin typeface="Consolas"/>
              </a:rPr>
              <a:t>SIGN</a:t>
            </a:r>
            <a:r>
              <a:rPr sz="1200" b="0">
                <a:solidFill>
                  <a:srgbClr val="2B3644"/>
                </a:solidFill>
                <a:latin typeface="Segoe UI"/>
              </a:rPr>
              <a:t>) o telegrama de bus.</a:t>
            </a:r>
          </a:p>
          <a:p>
            <a:pPr>
              <a:lnSpc>
                <a:spcPct val="105000"/>
              </a:lnSpc>
              <a:spcAft>
                <a:spcPts val="400"/>
              </a:spcAft>
              <a:buNone/>
            </a:pPr>
            <a:r>
              <a:rPr sz="1200" b="0">
                <a:solidFill>
                  <a:srgbClr val="2B3644"/>
                </a:solidFill>
                <a:latin typeface="Segoe UI"/>
              </a:rPr>
              <a:t>· Es el modo más habitual en máquina automática.</a:t>
            </a:r>
          </a:p>
          <a:p>
            <a:pPr>
              <a:lnSpc>
                <a:spcPct val="105000"/>
              </a:lnSpc>
              <a:spcAft>
                <a:spcPts val="400"/>
              </a:spcAft>
              <a:buNone/>
            </a:pPr>
            <a:r>
              <a:rPr sz="1200" b="0">
                <a:solidFill>
                  <a:srgbClr val="2B3644"/>
                </a:solidFill>
                <a:latin typeface="Segoe UI"/>
              </a:rPr>
              <a:t>· Incluye el engranaje electrónico y la ventana de posicionado </a:t>
            </a:r>
            <a:r>
              <a:rPr sz="1200" b="0">
                <a:solidFill>
                  <a:srgbClr val="2B3644"/>
                </a:solidFill>
                <a:latin typeface="Consolas"/>
              </a:rPr>
              <a:t>Pn522</a:t>
            </a:r>
            <a:r>
              <a:rPr sz="1200" b="0">
                <a:solidFill>
                  <a:srgbClr val="2B3644"/>
                </a:solidFill>
                <a:latin typeface="Segoe UI"/>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 realimentación: el encoder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 una buena medida no hay buen control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13</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Tipos y qué implica cada uno</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0" indent="0">
              <a:lnSpc>
                <a:spcPct val="106000"/>
              </a:lnSpc>
              <a:spcBef>
                <a:spcPts val="0"/>
              </a:spcBef>
              <a:spcAft>
                <a:spcPts val="900"/>
              </a:spcAft>
              <a:buNone/>
            </a:pPr>
            <a:r>
              <a:rPr sz="1175" b="1">
                <a:solidFill>
                  <a:srgbClr val="1B5EA8"/>
                </a:solidFill>
                <a:latin typeface="Segoe UI Semibold"/>
              </a:rPr>
              <a:t>Incremental</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Cuenta pulsos desde el arranque. Al quitar tensión </a:t>
            </a:r>
            <a:r>
              <a:rPr sz="1225" b="1">
                <a:solidFill>
                  <a:srgbClr val="1C2430"/>
                </a:solidFill>
                <a:latin typeface="Segoe UI"/>
              </a:rPr>
              <a:t>pierde la referencia</a:t>
            </a:r>
            <a:r>
              <a:rPr sz="1225" b="1">
                <a:solidFill>
                  <a:srgbClr val="1C2430"/>
                </a:solidFill>
                <a:latin typeface="Segoe UI"/>
              </a:rPr>
              <a:t> y obliga a hacer búsqueda de origen (homing).</a:t>
            </a:r>
          </a:p>
          <a:p>
            <a:pPr marL="0" indent="0">
              <a:lnSpc>
                <a:spcPct val="106000"/>
              </a:lnSpc>
              <a:spcBef>
                <a:spcPts val="800"/>
              </a:spcBef>
              <a:spcAft>
                <a:spcPts val="900"/>
              </a:spcAft>
              <a:buNone/>
            </a:pPr>
            <a:r>
              <a:rPr sz="1175" b="1">
                <a:solidFill>
                  <a:srgbClr val="1B5EA8"/>
                </a:solidFill>
                <a:latin typeface="Segoe UI Semibold"/>
              </a:rPr>
              <a:t>Absoluto (el de la serie Σ-7)</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Conoce la posición dentro de la vuelta </a:t>
            </a:r>
            <a:r>
              <a:rPr sz="1225" b="1">
                <a:solidFill>
                  <a:srgbClr val="1C2430"/>
                </a:solidFill>
                <a:latin typeface="Segoe UI"/>
              </a:rPr>
              <a:t>y</a:t>
            </a:r>
            <a:r>
              <a:rPr sz="1225" b="1">
                <a:solidFill>
                  <a:srgbClr val="1C2430"/>
                </a:solidFill>
                <a:latin typeface="Segoe UI"/>
              </a:rPr>
              <a:t> el número de vueltas (multivuelta) aunque se corte la alimentación.</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Requiere </a:t>
            </a:r>
            <a:r>
              <a:rPr sz="1075" b="1">
                <a:solidFill>
                  <a:srgbClr val="333F4C"/>
                </a:solidFill>
                <a:latin typeface="Segoe UI"/>
              </a:rPr>
              <a:t>batería</a:t>
            </a:r>
            <a:r>
              <a:rPr sz="1075" b="0">
                <a:solidFill>
                  <a:srgbClr val="333F4C"/>
                </a:solidFill>
                <a:latin typeface="Segoe UI"/>
              </a:rPr>
              <a:t> (3,6 V) para mantener el contaje multivuelta.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Elimina el homing: la máquina arranca sabiendo dónde está.</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Se configura con </a:t>
            </a:r>
            <a:r>
              <a:rPr sz="1075" b="0">
                <a:solidFill>
                  <a:srgbClr val="333F4C"/>
                </a:solidFill>
                <a:latin typeface="Consolas"/>
              </a:rPr>
              <a:t>Fn008</a:t>
            </a:r>
            <a:r>
              <a:rPr sz="1075" b="0">
                <a:solidFill>
                  <a:srgbClr val="333F4C"/>
                </a:solidFill>
                <a:latin typeface="Segoe UI"/>
              </a:rPr>
              <a:t> (setup del encoder absoluto) y </a:t>
            </a:r>
            <a:r>
              <a:rPr sz="1075" b="0">
                <a:solidFill>
                  <a:srgbClr val="333F4C"/>
                </a:solidFill>
                <a:latin typeface="Consolas"/>
              </a:rPr>
              <a:t>Pn205</a:t>
            </a:r>
            <a:r>
              <a:rPr sz="1075" b="0">
                <a:solidFill>
                  <a:srgbClr val="333F4C"/>
                </a:solidFill>
                <a:latin typeface="Segoe UI"/>
              </a:rPr>
              <a:t> (límite multivuelta).</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Resolución: qué significan 24 bits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encoder serie de la Σ-7 entrega </a:t>
            </a:r>
            <a:r>
              <a:rPr sz="1225" b="1">
                <a:solidFill>
                  <a:srgbClr val="1C2430"/>
                </a:solidFill>
                <a:latin typeface="Segoe UI"/>
              </a:rPr>
              <a:t>2²⁴ = 16.777.216 cuentas por vuelta</a:t>
            </a:r>
            <a:r>
              <a:rPr sz="1225" b="1">
                <a:solidFill>
                  <a:srgbClr val="1C2430"/>
                </a:solidFill>
                <a:latin typeface="Segoe UI"/>
              </a:rPr>
              <a:t>.</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Una cuenta equivale a </a:t>
            </a:r>
            <a:r>
              <a:rPr sz="1075" b="1">
                <a:solidFill>
                  <a:srgbClr val="333F4C"/>
                </a:solidFill>
                <a:latin typeface="Segoe UI"/>
              </a:rPr>
              <a:t>0,0000215°</a:t>
            </a:r>
            <a:r>
              <a:rPr sz="1075" b="0">
                <a:solidFill>
                  <a:srgbClr val="333F4C"/>
                </a:solidFill>
                <a:latin typeface="Segoe UI"/>
              </a:rPr>
              <a:t>, unas 77 millonésimas de grado.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Con un husillo de 10 mm de paso, una cuenta son </a:t>
            </a:r>
            <a:r>
              <a:rPr sz="1075" b="1">
                <a:solidFill>
                  <a:srgbClr val="333F4C"/>
                </a:solidFill>
                <a:latin typeface="Segoe UI"/>
              </a:rPr>
              <a:t>0,6 nanómetros</a:t>
            </a:r>
            <a:r>
              <a:rPr sz="1075" b="0">
                <a:solidFill>
                  <a:srgbClr val="333F4C"/>
                </a:solidFill>
                <a:latin typeface="Segoe UI"/>
              </a:rPr>
              <a:t> de desplazamiento teórico.</a:t>
            </a:r>
          </a:p>
          <a:p>
            <a:pPr marL="0" indent="0">
              <a:lnSpc>
                <a:spcPct val="106000"/>
              </a:lnSpc>
              <a:spcBef>
                <a:spcPts val="800"/>
              </a:spcBef>
              <a:spcAft>
                <a:spcPts val="900"/>
              </a:spcAft>
              <a:buNone/>
            </a:pPr>
            <a:r>
              <a:rPr sz="1175" b="1">
                <a:solidFill>
                  <a:srgbClr val="1B5EA8"/>
                </a:solidFill>
                <a:latin typeface="Segoe UI Semibold"/>
              </a:rPr>
              <a:t>Consecuencia práctica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La resolución </a:t>
            </a:r>
            <a:r>
              <a:rPr sz="1225" b="1">
                <a:solidFill>
                  <a:srgbClr val="1C2430"/>
                </a:solidFill>
                <a:latin typeface="Segoe UI"/>
              </a:rPr>
              <a:t>nunca</a:t>
            </a:r>
            <a:r>
              <a:rPr sz="1225" b="1">
                <a:solidFill>
                  <a:srgbClr val="1C2430"/>
                </a:solidFill>
                <a:latin typeface="Segoe UI"/>
              </a:rPr>
              <a:t> es el factor limitante: lo son la mecánica (holguras, rigidez, dilatación) y el ruido eléctrico.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El drive puede reescalar la resolución hacia el controlador con el </a:t>
            </a:r>
            <a:r>
              <a:rPr sz="1075" b="1">
                <a:solidFill>
                  <a:srgbClr val="333F4C"/>
                </a:solidFill>
                <a:latin typeface="Segoe UI"/>
              </a:rPr>
              <a:t>engranaje electrónico</a:t>
            </a:r>
            <a:r>
              <a:rPr sz="1075" b="0">
                <a:solidFill>
                  <a:srgbClr val="333F4C"/>
                </a:solidFill>
                <a:latin typeface="Segoe UI"/>
              </a:rPr>
              <a:t> (</a:t>
            </a:r>
            <a:r>
              <a:rPr sz="1075" b="0">
                <a:solidFill>
                  <a:srgbClr val="333F4C"/>
                </a:solidFill>
                <a:latin typeface="Consolas"/>
              </a:rPr>
              <a:t>Pn20E</a:t>
            </a:r>
            <a:r>
              <a:rPr sz="1075" b="0">
                <a:solidFill>
                  <a:srgbClr val="333F4C"/>
                </a:solidFill>
                <a:latin typeface="Segoe UI"/>
              </a:rPr>
              <a:t>/</a:t>
            </a:r>
            <a:r>
              <a:rPr sz="1075" b="0">
                <a:solidFill>
                  <a:srgbClr val="333F4C"/>
                </a:solidFill>
                <a:latin typeface="Consolas"/>
              </a:rPr>
              <a:t>Pn210</a:t>
            </a:r>
            <a:r>
              <a:rPr sz="1075" b="0">
                <a:solidFill>
                  <a:srgbClr val="333F4C"/>
                </a:solidFill>
                <a:latin typeface="Segoe UI"/>
              </a:rPr>
              <a:t>) y hacia la salida de pulsos con </a:t>
            </a:r>
            <a:r>
              <a:rPr sz="1075" b="0">
                <a:solidFill>
                  <a:srgbClr val="333F4C"/>
                </a:solidFill>
                <a:latin typeface="Consolas"/>
              </a:rPr>
              <a:t>Pn212</a:t>
            </a:r>
            <a:r>
              <a:rPr sz="1075" b="0">
                <a:solidFill>
                  <a:srgbClr val="333F4C"/>
                </a:solidFill>
                <a:latin typeface="Segoe UI"/>
              </a:rPr>
              <a:t>.</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Error frecuente en campo</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Pedir al eje una precisión mayor que la que permite la mecánica y culpar al servo. Antes de tocar ganancias, comprueba holgura del acoplamiento, juego del husillo y rigidez del soporte.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magnitudes que gobiernan el dimensionamiento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Par, inercia, aceleración y potencia: el lenguaje del servo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14</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150" b="1">
                <a:solidFill>
                  <a:srgbClr val="1B5EA8"/>
                </a:solidFill>
                <a:latin typeface="Segoe UI Semibold"/>
              </a:rPr>
              <a:t>Par (T, en N·m)</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Es lo que el motor 'empuja'. Se descompone en: par para </a:t>
            </a:r>
            <a:r>
              <a:rPr sz="1200" b="1">
                <a:solidFill>
                  <a:srgbClr val="1C2430"/>
                </a:solidFill>
                <a:latin typeface="Segoe UI"/>
              </a:rPr>
              <a:t>acelerar</a:t>
            </a:r>
            <a:r>
              <a:rPr sz="1200" b="1">
                <a:solidFill>
                  <a:srgbClr val="1C2430"/>
                </a:solidFill>
                <a:latin typeface="Segoe UI"/>
              </a:rPr>
              <a:t> la inercia + par para vencer </a:t>
            </a:r>
            <a:r>
              <a:rPr sz="1200" b="1">
                <a:solidFill>
                  <a:srgbClr val="1C2430"/>
                </a:solidFill>
                <a:latin typeface="Segoe UI"/>
              </a:rPr>
              <a:t>fricción</a:t>
            </a:r>
            <a:r>
              <a:rPr sz="1200" b="1">
                <a:solidFill>
                  <a:srgbClr val="1C2430"/>
                </a:solidFill>
                <a:latin typeface="Segoe UI"/>
              </a:rPr>
              <a:t> + par de </a:t>
            </a:r>
            <a:r>
              <a:rPr sz="1200" b="1">
                <a:solidFill>
                  <a:srgbClr val="1C2430"/>
                </a:solidFill>
                <a:latin typeface="Segoe UI"/>
              </a:rPr>
              <a:t>proceso</a:t>
            </a:r>
            <a:r>
              <a:rPr sz="1200" b="1">
                <a:solidFill>
                  <a:srgbClr val="1C2430"/>
                </a:solidFill>
                <a:latin typeface="Segoe UI"/>
              </a:rPr>
              <a:t> (corte, prensado) + par de </a:t>
            </a:r>
            <a:r>
              <a:rPr sz="1200" b="1">
                <a:solidFill>
                  <a:srgbClr val="1C2430"/>
                </a:solidFill>
                <a:latin typeface="Segoe UI"/>
              </a:rPr>
              <a:t>gravedad</a:t>
            </a:r>
            <a:r>
              <a:rPr sz="1200" b="1">
                <a:solidFill>
                  <a:srgbClr val="1C2430"/>
                </a:solidFill>
                <a:latin typeface="Segoe UI"/>
              </a:rPr>
              <a:t> en ejes verticales.</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T = J · α</a:t>
            </a:r>
            <a:r>
              <a:rPr sz="1050" b="0">
                <a:solidFill>
                  <a:srgbClr val="333F4C"/>
                </a:solidFill>
                <a:latin typeface="Segoe UI"/>
              </a:rPr>
              <a:t> → par de aceleración, con α en rad/s².</a:t>
            </a:r>
          </a:p>
          <a:p>
            <a:pPr marL="0" indent="0">
              <a:lnSpc>
                <a:spcPct val="106000"/>
              </a:lnSpc>
              <a:spcBef>
                <a:spcPts val="800"/>
              </a:spcBef>
              <a:spcAft>
                <a:spcPts val="900"/>
              </a:spcAft>
              <a:buNone/>
            </a:pPr>
            <a:r>
              <a:rPr sz="1150" b="1">
                <a:solidFill>
                  <a:srgbClr val="1B5EA8"/>
                </a:solidFill>
                <a:latin typeface="Segoe UI Semibold"/>
              </a:rPr>
              <a:t>Inercia (J, en kg·m²)</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Es la resistencia del conjunto a cambiar de velocidad. Depende de la masa </a:t>
            </a:r>
            <a:r>
              <a:rPr sz="1200" b="1">
                <a:solidFill>
                  <a:srgbClr val="1C2430"/>
                </a:solidFill>
                <a:latin typeface="Segoe UI"/>
              </a:rPr>
              <a:t>y de cómo está distribuida</a:t>
            </a:r>
            <a:r>
              <a:rPr sz="1200" b="1">
                <a:solidFill>
                  <a:srgbClr val="1C2430"/>
                </a:solidFill>
                <a:latin typeface="Segoe UI"/>
              </a:rPr>
              <a:t> respecto al eje de giro.</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Lo que importa es la </a:t>
            </a:r>
            <a:r>
              <a:rPr sz="1050" b="1">
                <a:solidFill>
                  <a:srgbClr val="333F4C"/>
                </a:solidFill>
                <a:latin typeface="Segoe UI"/>
              </a:rPr>
              <a:t>inercia reflejada al eje del motor</a:t>
            </a:r>
            <a:r>
              <a:rPr sz="1050" b="0">
                <a:solidFill>
                  <a:srgbClr val="333F4C"/>
                </a:solidFill>
                <a:latin typeface="Segoe UI"/>
              </a:rPr>
              <a:t>: una reducción de relación *i* divide la inercia de la carga por *i²*.</a:t>
            </a:r>
          </a:p>
          <a:p>
            <a:pPr marL="0" indent="0">
              <a:lnSpc>
                <a:spcPct val="106000"/>
              </a:lnSpc>
              <a:spcBef>
                <a:spcPts val="800"/>
              </a:spcBef>
              <a:spcAft>
                <a:spcPts val="900"/>
              </a:spcAft>
              <a:buNone/>
            </a:pPr>
            <a:r>
              <a:rPr sz="1150" b="1">
                <a:solidFill>
                  <a:srgbClr val="1B5EA8"/>
                </a:solidFill>
                <a:latin typeface="Segoe UI Semibold"/>
              </a:rPr>
              <a:t>Velocidad angular (ω, en rad/s) y aceleración (α, en rad/s²)</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ω = 2π · n / 60</a:t>
            </a:r>
            <a:r>
              <a:rPr sz="1050" b="0">
                <a:solidFill>
                  <a:srgbClr val="333F4C"/>
                </a:solidFill>
                <a:latin typeface="Segoe UI"/>
              </a:rPr>
              <a:t> con *n* en rpm. A 3.000 rpm, ω ≈ 314 rad/s.</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α = Δω / Δt</a:t>
            </a:r>
            <a:r>
              <a:rPr sz="1050" b="0">
                <a:solidFill>
                  <a:srgbClr val="333F4C"/>
                </a:solidFill>
                <a:latin typeface="Segoe UI"/>
              </a:rPr>
              <a:t>. Acelerar de 0 a 3.000 rpm en 0,1 s exige α ≈ 3.140 rad/s².</a:t>
            </a:r>
          </a:p>
          <a:p>
            <a:pPr marL="0" indent="0">
              <a:lnSpc>
                <a:spcPct val="106000"/>
              </a:lnSpc>
              <a:spcBef>
                <a:spcPts val="800"/>
              </a:spcBef>
              <a:spcAft>
                <a:spcPts val="900"/>
              </a:spcAft>
              <a:buNone/>
            </a:pPr>
            <a:r>
              <a:rPr sz="1150" b="1">
                <a:solidFill>
                  <a:srgbClr val="1B5EA8"/>
                </a:solidFill>
                <a:latin typeface="Segoe UI Semibold"/>
              </a:rPr>
              <a:t>Potencia (P, en W)</a:t>
            </a:r>
          </a:p>
          <a:p>
            <a:pPr marL="566928" indent="-201168">
              <a:lnSpc>
                <a:spcPct val="106000"/>
              </a:lnSpc>
              <a:spcAft>
                <a:spcPts val="500"/>
              </a:spcAft>
              <a:buClr>
                <a:srgbClr val="00A9CE"/>
              </a:buClr>
              <a:buSzPct val="90000"/>
              <a:buFont typeface="Arial"/>
              <a:buChar char="▸"/>
            </a:pPr>
            <a:r>
              <a:rPr sz="1050" b="0">
                <a:solidFill>
                  <a:srgbClr val="333F4C"/>
                </a:solidFill>
                <a:latin typeface="Consolas"/>
              </a:rPr>
              <a:t>P = T · ω</a:t>
            </a:r>
            <a:r>
              <a:rPr sz="1050" b="0">
                <a:solidFill>
                  <a:srgbClr val="333F4C"/>
                </a:solidFill>
                <a:latin typeface="Segoe UI"/>
              </a:rPr>
              <a:t>. Un motor de 3 kW a 3.000 rpm da un par nominal de </a:t>
            </a:r>
            <a:r>
              <a:rPr sz="1050" b="0">
                <a:solidFill>
                  <a:srgbClr val="333F4C"/>
                </a:solidFill>
                <a:latin typeface="Consolas"/>
              </a:rPr>
              <a:t>3000 / 314 ≈ 9,55 N·m</a:t>
            </a:r>
            <a:r>
              <a:rPr sz="1050" b="0">
                <a:solidFill>
                  <a:srgbClr val="333F4C"/>
                </a:solidFill>
                <a:latin typeface="Segoe UI"/>
              </a:rPr>
              <a:t>. </a:t>
            </a:r>
            <a:r>
              <a:rPr sz="1050" b="1">
                <a:solidFill>
                  <a:srgbClr val="333F4C"/>
                </a:solidFill>
                <a:latin typeface="Segoe UI"/>
              </a:rPr>
              <a:t>La potencia sola no dice nada: el par y la velocidad lo dicen todo.</a:t>
            </a:r>
          </a:p>
        </p:txBody>
      </p:sp>
      <p:sp>
        <p:nvSpPr>
          <p:cNvPr id="10" name="Rectangle 9"/>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Comprobación mental rápida</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Par nominal [N·m] ≈ 9,55 × Potencia [kW] / Velocidad [krpm]. Con 3 kW a 3.000 rpm → 9,55 N·m. Con 3 kW a 1.500 rpm → 19,1 N·m. Misma potencia, el doble de par.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se lee una curva par-velocidad</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hoja de datos del motor resumida en un gráfico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15</a:t>
            </a:r>
          </a:p>
        </p:txBody>
      </p:sp>
      <p:cxnSp>
        <p:nvCxnSpPr>
          <p:cNvPr id="9" name="Connector 8"/>
          <p:cNvCxnSpPr/>
          <p:nvPr/>
        </p:nvCxnSpPr>
        <p:spPr>
          <a:xfrm>
            <a:off x="1600200" y="5577840"/>
            <a:ext cx="5669280" cy="0"/>
          </a:xfrm>
          <a:prstGeom prst="line">
            <a:avLst/>
          </a:prstGeom>
          <a:ln w="1905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600200" y="2103120"/>
            <a:ext cx="0" cy="3474720"/>
          </a:xfrm>
          <a:prstGeom prst="line">
            <a:avLst/>
          </a:prstGeom>
          <a:ln w="19050">
            <a:solidFill>
              <a:srgbClr val="1C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600200" y="5907024"/>
            <a:ext cx="5669280" cy="237744"/>
          </a:xfrm>
          <a:prstGeom prst="rect">
            <a:avLst/>
          </a:prstGeom>
          <a:noFill/>
        </p:spPr>
        <p:txBody>
          <a:bodyPr wrap="square" lIns="0" rIns="0" tIns="0" bIns="0" anchor="t">
            <a:spAutoFit/>
          </a:bodyPr>
          <a:lstStyle/>
          <a:p>
            <a:pPr algn="ctr">
              <a:lnSpc>
                <a:spcPct val="100000"/>
              </a:lnSpc>
              <a:buNone/>
            </a:pPr>
            <a:r>
              <a:rPr sz="1100" b="1">
                <a:solidFill>
                  <a:srgbClr val="1C2430"/>
                </a:solidFill>
                <a:latin typeface="Segoe UI"/>
              </a:rPr>
              <a:t>Velocidad  n  [rpm]  →</a:t>
            </a:r>
          </a:p>
        </p:txBody>
      </p:sp>
      <p:sp>
        <p:nvSpPr>
          <p:cNvPr id="12" name="TextBox 11"/>
          <p:cNvSpPr txBox="1"/>
          <p:nvPr/>
        </p:nvSpPr>
        <p:spPr>
          <a:xfrm>
            <a:off x="1097280" y="1764792"/>
            <a:ext cx="2377440" cy="237744"/>
          </a:xfrm>
          <a:prstGeom prst="rect">
            <a:avLst/>
          </a:prstGeom>
          <a:noFill/>
        </p:spPr>
        <p:txBody>
          <a:bodyPr wrap="square" lIns="0" rIns="0" tIns="0" bIns="0" anchor="t">
            <a:spAutoFit/>
          </a:bodyPr>
          <a:lstStyle/>
          <a:p>
            <a:pPr algn="l">
              <a:lnSpc>
                <a:spcPct val="100000"/>
              </a:lnSpc>
              <a:buNone/>
            </a:pPr>
            <a:r>
              <a:rPr sz="1100" b="1">
                <a:solidFill>
                  <a:srgbClr val="1C2430"/>
                </a:solidFill>
                <a:latin typeface="Segoe UI"/>
              </a:rPr>
              <a:t>Par  T  [N·m]  ↑</a:t>
            </a:r>
          </a:p>
        </p:txBody>
      </p:sp>
      <p:sp>
        <p:nvSpPr>
          <p:cNvPr id="13" name="Rectangle 12"/>
          <p:cNvSpPr/>
          <p:nvPr/>
        </p:nvSpPr>
        <p:spPr>
          <a:xfrm>
            <a:off x="1600200" y="2331720"/>
            <a:ext cx="4308652" cy="3246120"/>
          </a:xfrm>
          <a:prstGeom prst="rect">
            <a:avLst/>
          </a:prstGeom>
          <a:solidFill>
            <a:srgbClr val="E4EEF7"/>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6232" y="2532888"/>
            <a:ext cx="3017520" cy="640080"/>
          </a:xfrm>
          <a:prstGeom prst="rect">
            <a:avLst/>
          </a:prstGeom>
          <a:noFill/>
        </p:spPr>
        <p:txBody>
          <a:bodyPr wrap="square" lIns="0" rIns="0" tIns="0" bIns="0" anchor="t">
            <a:spAutoFit/>
          </a:bodyPr>
          <a:lstStyle/>
          <a:p>
            <a:pPr algn="l">
              <a:lnSpc>
                <a:spcPct val="110000"/>
              </a:lnSpc>
              <a:buNone/>
            </a:pPr>
            <a:r>
              <a:rPr sz="1100" b="1">
                <a:solidFill>
                  <a:srgbClr val="C0392B"/>
                </a:solidFill>
                <a:latin typeface="Segoe UI"/>
              </a:rPr>
              <a:t>ZONA INTERMITENTE</a:t>
            </a:r>
          </a:p>
          <a:p>
            <a:pPr algn="l">
              <a:lnSpc>
                <a:spcPct val="110000"/>
              </a:lnSpc>
              <a:buNone/>
            </a:pPr>
            <a:r>
              <a:rPr sz="1100" b="1">
                <a:solidFill>
                  <a:srgbClr val="C0392B"/>
                </a:solidFill>
                <a:latin typeface="Segoe UI"/>
              </a:rPr>
              <a:t>aceleraciones y frenados (unos segundos)</a:t>
            </a:r>
          </a:p>
        </p:txBody>
      </p:sp>
      <p:sp>
        <p:nvSpPr>
          <p:cNvPr id="15" name="Rectangle 14"/>
          <p:cNvSpPr/>
          <p:nvPr/>
        </p:nvSpPr>
        <p:spPr>
          <a:xfrm>
            <a:off x="1600200" y="4506620"/>
            <a:ext cx="5272430" cy="1071219"/>
          </a:xfrm>
          <a:prstGeom prst="rect">
            <a:avLst/>
          </a:prstGeom>
          <a:solidFill>
            <a:srgbClr val="2E8B57"/>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6232" y="4707788"/>
            <a:ext cx="3840480" cy="457200"/>
          </a:xfrm>
          <a:prstGeom prst="rect">
            <a:avLst/>
          </a:prstGeom>
          <a:noFill/>
        </p:spPr>
        <p:txBody>
          <a:bodyPr wrap="square" lIns="0" rIns="0" tIns="0" bIns="0" anchor="t">
            <a:spAutoFit/>
          </a:bodyPr>
          <a:lstStyle/>
          <a:p>
            <a:pPr algn="l">
              <a:lnSpc>
                <a:spcPct val="100000"/>
              </a:lnSpc>
              <a:buNone/>
            </a:pPr>
            <a:r>
              <a:rPr sz="1100" b="1">
                <a:solidFill>
                  <a:srgbClr val="FFFFFF"/>
                </a:solidFill>
                <a:latin typeface="Segoe UI"/>
              </a:rPr>
              <a:t>ZONA CONTINUA — servicio permanente (S1)</a:t>
            </a:r>
          </a:p>
        </p:txBody>
      </p:sp>
      <p:cxnSp>
        <p:nvCxnSpPr>
          <p:cNvPr id="17" name="Connector 16"/>
          <p:cNvCxnSpPr/>
          <p:nvPr/>
        </p:nvCxnSpPr>
        <p:spPr>
          <a:xfrm flipH="1">
            <a:off x="1490472" y="4506620"/>
            <a:ext cx="109728"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8872" y="4305452"/>
            <a:ext cx="1325880" cy="237744"/>
          </a:xfrm>
          <a:prstGeom prst="rect">
            <a:avLst/>
          </a:prstGeom>
          <a:noFill/>
        </p:spPr>
        <p:txBody>
          <a:bodyPr wrap="square" lIns="0" rIns="0" tIns="0" bIns="0" anchor="t">
            <a:spAutoFit/>
          </a:bodyPr>
          <a:lstStyle/>
          <a:p>
            <a:pPr algn="r">
              <a:lnSpc>
                <a:spcPct val="100000"/>
              </a:lnSpc>
              <a:buNone/>
            </a:pPr>
            <a:r>
              <a:rPr sz="950" b="1">
                <a:solidFill>
                  <a:srgbClr val="2E8B57"/>
                </a:solidFill>
                <a:latin typeface="Segoe UI"/>
              </a:rPr>
              <a:t>T nominal</a:t>
            </a:r>
          </a:p>
          <a:p>
            <a:pPr algn="r">
              <a:lnSpc>
                <a:spcPct val="100000"/>
              </a:lnSpc>
              <a:buNone/>
            </a:pPr>
            <a:r>
              <a:rPr sz="950" b="1">
                <a:solidFill>
                  <a:srgbClr val="2E8B57"/>
                </a:solidFill>
                <a:latin typeface="Segoe UI"/>
              </a:rPr>
              <a:t>9,55 N·m</a:t>
            </a:r>
          </a:p>
        </p:txBody>
      </p:sp>
      <p:cxnSp>
        <p:nvCxnSpPr>
          <p:cNvPr id="19" name="Connector 18"/>
          <p:cNvCxnSpPr/>
          <p:nvPr/>
        </p:nvCxnSpPr>
        <p:spPr>
          <a:xfrm flipH="1">
            <a:off x="1490472" y="2331720"/>
            <a:ext cx="109728"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8872" y="2130552"/>
            <a:ext cx="1325880" cy="237744"/>
          </a:xfrm>
          <a:prstGeom prst="rect">
            <a:avLst/>
          </a:prstGeom>
          <a:noFill/>
        </p:spPr>
        <p:txBody>
          <a:bodyPr wrap="square" lIns="0" rIns="0" tIns="0" bIns="0" anchor="t">
            <a:spAutoFit/>
          </a:bodyPr>
          <a:lstStyle/>
          <a:p>
            <a:pPr algn="r">
              <a:lnSpc>
                <a:spcPct val="100000"/>
              </a:lnSpc>
              <a:buNone/>
            </a:pPr>
            <a:r>
              <a:rPr sz="950" b="1">
                <a:solidFill>
                  <a:srgbClr val="C0392B"/>
                </a:solidFill>
                <a:latin typeface="Segoe UI"/>
              </a:rPr>
              <a:t>T máximo</a:t>
            </a:r>
          </a:p>
          <a:p>
            <a:pPr algn="r">
              <a:lnSpc>
                <a:spcPct val="100000"/>
              </a:lnSpc>
              <a:buNone/>
            </a:pPr>
            <a:r>
              <a:rPr sz="950" b="1">
                <a:solidFill>
                  <a:srgbClr val="C0392B"/>
                </a:solidFill>
                <a:latin typeface="Segoe UI"/>
              </a:rPr>
              <a:t>≈ 28,6 N·m</a:t>
            </a:r>
          </a:p>
        </p:txBody>
      </p:sp>
      <p:cxnSp>
        <p:nvCxnSpPr>
          <p:cNvPr id="21" name="Connector 20"/>
          <p:cNvCxnSpPr/>
          <p:nvPr/>
        </p:nvCxnSpPr>
        <p:spPr>
          <a:xfrm>
            <a:off x="1600200"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143000"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0</a:t>
            </a:r>
          </a:p>
        </p:txBody>
      </p:sp>
      <p:cxnSp>
        <p:nvCxnSpPr>
          <p:cNvPr id="23" name="Connector 22"/>
          <p:cNvCxnSpPr/>
          <p:nvPr/>
        </p:nvCxnSpPr>
        <p:spPr>
          <a:xfrm>
            <a:off x="4434840"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977640"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3.000</a:t>
            </a:r>
          </a:p>
        </p:txBody>
      </p:sp>
      <p:cxnSp>
        <p:nvCxnSpPr>
          <p:cNvPr id="25" name="Connector 24"/>
          <p:cNvCxnSpPr/>
          <p:nvPr/>
        </p:nvCxnSpPr>
        <p:spPr>
          <a:xfrm>
            <a:off x="5908852"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51652"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4.500</a:t>
            </a:r>
          </a:p>
        </p:txBody>
      </p:sp>
      <p:cxnSp>
        <p:nvCxnSpPr>
          <p:cNvPr id="27" name="Connector 26"/>
          <p:cNvCxnSpPr/>
          <p:nvPr/>
        </p:nvCxnSpPr>
        <p:spPr>
          <a:xfrm>
            <a:off x="7212787" y="5577840"/>
            <a:ext cx="0" cy="9144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755587" y="5687568"/>
            <a:ext cx="9144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6.000</a:t>
            </a:r>
          </a:p>
        </p:txBody>
      </p:sp>
      <p:sp>
        <p:nvSpPr>
          <p:cNvPr id="29" name="TextBox 28"/>
          <p:cNvSpPr txBox="1"/>
          <p:nvPr/>
        </p:nvSpPr>
        <p:spPr>
          <a:xfrm>
            <a:off x="4321454" y="2057400"/>
            <a:ext cx="2651760" cy="237744"/>
          </a:xfrm>
          <a:prstGeom prst="rect">
            <a:avLst/>
          </a:prstGeom>
          <a:noFill/>
        </p:spPr>
        <p:txBody>
          <a:bodyPr wrap="square" lIns="0" rIns="0" tIns="0" bIns="0" anchor="t">
            <a:spAutoFit/>
          </a:bodyPr>
          <a:lstStyle/>
          <a:p>
            <a:pPr algn="r">
              <a:lnSpc>
                <a:spcPct val="100000"/>
              </a:lnSpc>
              <a:buNone/>
            </a:pPr>
            <a:r>
              <a:rPr sz="950" b="1">
                <a:solidFill>
                  <a:srgbClr val="C0392B"/>
                </a:solidFill>
                <a:latin typeface="Segoe UI"/>
              </a:rPr>
              <a:t>↓ el par pico cae por la f.c.e.m.</a:t>
            </a:r>
          </a:p>
        </p:txBody>
      </p:sp>
      <p:sp>
        <p:nvSpPr>
          <p:cNvPr id="30" name="Rectangle 29"/>
          <p:cNvSpPr/>
          <p:nvPr/>
        </p:nvSpPr>
        <p:spPr>
          <a:xfrm>
            <a:off x="7818120" y="1600200"/>
            <a:ext cx="3840480" cy="44805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46720" y="1783080"/>
            <a:ext cx="3383280" cy="320040"/>
          </a:xfrm>
          <a:prstGeom prst="rect">
            <a:avLst/>
          </a:prstGeom>
          <a:noFill/>
        </p:spPr>
        <p:txBody>
          <a:bodyPr wrap="square" lIns="0" rIns="0" tIns="0" bIns="0" anchor="t">
            <a:spAutoFit/>
          </a:bodyPr>
          <a:lstStyle/>
          <a:p>
            <a:pPr algn="l">
              <a:lnSpc>
                <a:spcPct val="100000"/>
              </a:lnSpc>
              <a:buNone/>
            </a:pPr>
            <a:r>
              <a:rPr sz="1400" b="1">
                <a:solidFill>
                  <a:srgbClr val="0B2545"/>
                </a:solidFill>
                <a:latin typeface="Segoe UI"/>
              </a:rPr>
              <a:t>Cómo usar la curva</a:t>
            </a:r>
          </a:p>
        </p:txBody>
      </p:sp>
      <p:sp>
        <p:nvSpPr>
          <p:cNvPr id="32" name="TextBox 31"/>
          <p:cNvSpPr txBox="1"/>
          <p:nvPr/>
        </p:nvSpPr>
        <p:spPr>
          <a:xfrm>
            <a:off x="8046720" y="2212848"/>
            <a:ext cx="3383280" cy="36576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50" b="1">
                <a:solidFill>
                  <a:srgbClr val="1C2430"/>
                </a:solidFill>
                <a:latin typeface="Segoe UI"/>
              </a:rPr>
              <a:t>Sitúa el punto de trabajo </a:t>
            </a:r>
            <a:r>
              <a:rPr sz="1150" b="1">
                <a:solidFill>
                  <a:srgbClr val="1C2430"/>
                </a:solidFill>
                <a:latin typeface="Segoe UI"/>
              </a:rPr>
              <a:t>continuo</a:t>
            </a:r>
            <a:r>
              <a:rPr sz="1150" b="1">
                <a:solidFill>
                  <a:srgbClr val="1C2430"/>
                </a:solidFill>
                <a:latin typeface="Segoe UI"/>
              </a:rPr>
              <a:t> (par RMS del ciclo) dentro de la zona verde, con un margen del 20 %.</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Sitúa el punto de </a:t>
            </a:r>
            <a:r>
              <a:rPr sz="1150" b="1">
                <a:solidFill>
                  <a:srgbClr val="1C2430"/>
                </a:solidFill>
                <a:latin typeface="Segoe UI"/>
              </a:rPr>
              <a:t>aceleración</a:t>
            </a:r>
            <a:r>
              <a:rPr sz="1150" b="1">
                <a:solidFill>
                  <a:srgbClr val="1C2430"/>
                </a:solidFill>
                <a:latin typeface="Segoe UI"/>
              </a:rPr>
              <a:t> (par máximo instantáneo) dentro de la zona azul, con un margen del 20-30 %.</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Comprueba la </a:t>
            </a:r>
            <a:r>
              <a:rPr sz="1150" b="1">
                <a:solidFill>
                  <a:srgbClr val="1C2430"/>
                </a:solidFill>
                <a:latin typeface="Segoe UI"/>
              </a:rPr>
              <a:t>velocidad máxima</a:t>
            </a:r>
            <a:r>
              <a:rPr sz="1150" b="1">
                <a:solidFill>
                  <a:srgbClr val="1C2430"/>
                </a:solidFill>
                <a:latin typeface="Segoe UI"/>
              </a:rPr>
              <a:t> del ciclo: en la parte derecha el par disponible cae.</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Si el punto continuo cae en zona intermitente → el motor se queda corto: sube de tamaño o añade reducción.</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Repite la comprobación con la </a:t>
            </a:r>
            <a:r>
              <a:rPr sz="1150" b="1">
                <a:solidFill>
                  <a:srgbClr val="1C2430"/>
                </a:solidFill>
                <a:latin typeface="Segoe UI"/>
              </a:rPr>
              <a:t>tensión mínima de red</a:t>
            </a:r>
            <a:r>
              <a:rPr sz="1150" b="1">
                <a:solidFill>
                  <a:srgbClr val="1C2430"/>
                </a:solidFill>
                <a:latin typeface="Segoe UI"/>
              </a:rPr>
              <a:t> del emplazamiento.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Vocabulario esencial del servo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Glosario de partida (se amplía en el Módulo 13)</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16</a:t>
            </a:r>
          </a:p>
        </p:txBody>
      </p:sp>
      <p:graphicFrame>
        <p:nvGraphicFramePr>
          <p:cNvPr id="9" name="Table 8"/>
          <p:cNvGraphicFramePr>
            <a:graphicFrameLocks noGrp="1"/>
          </p:cNvGraphicFramePr>
          <p:nvPr/>
        </p:nvGraphicFramePr>
        <p:xfrm>
          <a:off x="566928" y="1481328"/>
          <a:ext cx="11057838" cy="4846318"/>
        </p:xfrm>
        <a:graphic>
          <a:graphicData uri="http://schemas.openxmlformats.org/drawingml/2006/table">
            <a:tbl>
              <a:tblPr firstRow="1">
                <a:tableStyleId>{5C22544A-7EE6-4342-B048-85BDC9FD1C3A}</a:tableStyleId>
              </a:tblPr>
              <a:tblGrid>
                <a:gridCol w="2000942"/>
                <a:gridCol w="6318765"/>
                <a:gridCol w="2738131"/>
              </a:tblGrid>
              <a:tr h="347472">
                <a:tc>
                  <a:txBody>
                    <a:bodyPr wrap="square"/>
                    <a:lstStyle/>
                    <a:p>
                      <a:pPr algn="l">
                        <a:lnSpc>
                          <a:spcPct val="100000"/>
                        </a:lnSpc>
                        <a:buNone/>
                      </a:pPr>
                      <a:r>
                        <a:rPr sz="1050" b="1">
                          <a:solidFill>
                            <a:srgbClr val="FFFFFF"/>
                          </a:solidFill>
                          <a:latin typeface="Segoe UI"/>
                        </a:rPr>
                        <a:t>Término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Significado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Dónde aparece</a:t>
                      </a:r>
                    </a:p>
                  </a:txBody>
                  <a:tcPr marL="82296" marR="82296" marT="27432" marB="27432" anchor="ctr">
                    <a:solidFill>
                      <a:srgbClr val="0B2545"/>
                    </a:solidFill>
                  </a:tcPr>
                </a:tc>
              </a:tr>
              <a:tr h="408986">
                <a:tc>
                  <a:txBody>
                    <a:bodyPr wrap="square"/>
                    <a:lstStyle/>
                    <a:p>
                      <a:pPr algn="l">
                        <a:lnSpc>
                          <a:spcPct val="100000"/>
                        </a:lnSpc>
                        <a:buNone/>
                      </a:pPr>
                      <a:r>
                        <a:rPr sz="1050" b="0">
                          <a:solidFill>
                            <a:srgbClr val="1C2430"/>
                          </a:solidFill>
                          <a:latin typeface="Segoe UI"/>
                        </a:rPr>
                        <a:t>SERVOPACK</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Nombre comercial YASKAWA del servoamplificador (el drive)</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Todo el curso</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Σ-7 / Sigma-7</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Generación de la familia de servos YASKAWA</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Códigos SGD7·/SGM7·</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PMSM</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Motor síncrono de imanes permanentes: el servomotor</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Módulo 03</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Ganancia</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Cuánto corrige el drive por cada unidad de error</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Consolas"/>
                        </a:rPr>
                        <a:t>Pn100</a:t>
                      </a:r>
                      <a:r>
                        <a:rPr sz="1050" b="0">
                          <a:solidFill>
                            <a:srgbClr val="1C2430"/>
                          </a:solidFill>
                          <a:latin typeface="Segoe UI"/>
                        </a:rPr>
                        <a:t>, </a:t>
                      </a:r>
                      <a:r>
                        <a:rPr sz="1050" b="0">
                          <a:solidFill>
                            <a:srgbClr val="1C2430"/>
                          </a:solidFill>
                          <a:latin typeface="Consolas"/>
                        </a:rPr>
                        <a:t>Pn102</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Relación de inercias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Inercia de la carga ÷ inercia del rotor</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Consolas"/>
                        </a:rPr>
                        <a:t>Pn103</a:t>
                      </a:r>
                      <a:r>
                        <a:rPr sz="1050" b="0">
                          <a:solidFill>
                            <a:srgbClr val="1C2430"/>
                          </a:solidFill>
                          <a:latin typeface="Segoe UI"/>
                        </a:rPr>
                        <a:t>, Módulo 04</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Error de seguimiento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Retraso entre consigna y posición real durante el movimiento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Consolas"/>
                        </a:rPr>
                        <a:t>Un008</a:t>
                      </a:r>
                      <a:r>
                        <a:rPr sz="1050" b="0">
                          <a:solidFill>
                            <a:srgbClr val="1C2430"/>
                          </a:solidFill>
                          <a:latin typeface="Segoe UI"/>
                        </a:rPr>
                        <a:t>, </a:t>
                      </a:r>
                      <a:r>
                        <a:rPr sz="1050" b="0">
                          <a:solidFill>
                            <a:srgbClr val="1C2430"/>
                          </a:solidFill>
                          <a:latin typeface="Consolas"/>
                        </a:rPr>
                        <a:t>Pn520</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Ventana de posicionado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Margen dentro del cual se considera 'en posición'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Consolas"/>
                        </a:rPr>
                        <a:t>Pn522</a:t>
                      </a:r>
                      <a:r>
                        <a:rPr sz="1050" b="0">
                          <a:solidFill>
                            <a:srgbClr val="1C2430"/>
                          </a:solidFill>
                          <a:latin typeface="Segoe UI"/>
                        </a:rPr>
                        <a:t>, señal </a:t>
                      </a:r>
                      <a:r>
                        <a:rPr sz="1050" b="0">
                          <a:solidFill>
                            <a:srgbClr val="1C2430"/>
                          </a:solidFill>
                          <a:latin typeface="Consolas"/>
                        </a:rPr>
                        <a:t>/COIN</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Regeneración</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Energía que devuelve el motor al frenar y que el drive debe disipar</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Módulos 04 y 05</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Baseblock</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Estado en que se bloquean los transistores de salida: el motor queda libre</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HWBB, Módulo 10</a:t>
                      </a:r>
                    </a:p>
                  </a:txBody>
                  <a:tcPr marL="82296" marR="82296" marT="27432" marB="27432" anchor="ctr">
                    <a:solidFill>
                      <a:srgbClr val="FFFFFF"/>
                    </a:solidFill>
                  </a:tcPr>
                </a:tc>
              </a:tr>
              <a:tr h="408986">
                <a:tc>
                  <a:txBody>
                    <a:bodyPr wrap="square"/>
                    <a:lstStyle/>
                    <a:p>
                      <a:pPr algn="l">
                        <a:lnSpc>
                          <a:spcPct val="100000"/>
                        </a:lnSpc>
                        <a:buNone/>
                      </a:pPr>
                      <a:r>
                        <a:rPr sz="1050" b="0">
                          <a:solidFill>
                            <a:srgbClr val="1C2430"/>
                          </a:solidFill>
                          <a:latin typeface="Segoe UI"/>
                        </a:rPr>
                        <a:t>Autotuning</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Ajuste automático de ganancias midiendo la respuesta real</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Consolas"/>
                        </a:rPr>
                        <a:t>Fn201</a:t>
                      </a:r>
                      <a:r>
                        <a:rPr sz="1050" b="0">
                          <a:solidFill>
                            <a:srgbClr val="1C2430"/>
                          </a:solidFill>
                          <a:latin typeface="Segoe UI"/>
                        </a:rPr>
                        <a:t>, Módulo 09</a:t>
                      </a:r>
                    </a:p>
                  </a:txBody>
                  <a:tcPr marL="82296" marR="82296" marT="27432" marB="27432" anchor="ctr">
                    <a:solidFill>
                      <a:srgbClr val="F2F5F8"/>
                    </a:solidFill>
                  </a:tcPr>
                </a:tc>
              </a:tr>
              <a:tr h="408986">
                <a:tc>
                  <a:txBody>
                    <a:bodyPr wrap="square"/>
                    <a:lstStyle/>
                    <a:p>
                      <a:pPr algn="l">
                        <a:lnSpc>
                          <a:spcPct val="100000"/>
                        </a:lnSpc>
                        <a:buNone/>
                      </a:pPr>
                      <a:r>
                        <a:rPr sz="1050" b="0">
                          <a:solidFill>
                            <a:srgbClr val="1C2430"/>
                          </a:solidFill>
                          <a:latin typeface="Segoe UI"/>
                        </a:rPr>
                        <a:t>Notch</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Filtro que elimina una frecuencia concreta de resonancia mecánica</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Consolas"/>
                        </a:rPr>
                        <a:t>Pn409</a:t>
                      </a:r>
                      <a:r>
                        <a:rPr sz="1050" b="0">
                          <a:solidFill>
                            <a:srgbClr val="1C2430"/>
                          </a:solidFill>
                          <a:latin typeface="Segoe UI"/>
                        </a:rPr>
                        <a:t>, Módulo 09</a:t>
                      </a:r>
                    </a:p>
                  </a:txBody>
                  <a:tcPr marL="82296" marR="82296" marT="27432" marB="27432"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02</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La familia SERVOPACK Σ-7</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De la Σ-II a la Σ-7: qué cambió y por qué importa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tres líneas de amplificador: SGD7S, SGD7W y SGD7C</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hay dentro: etapa de potencia y control</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Anatomía externa: bornes, conectores y elementos de diagnóstico</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Leer y escribir un código de modelo sin equivocarse</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Por qué el SGD7S-200A es el amplificador de 3 kW</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3 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Evolución de la familia y qué aporta la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Sigma-7: la generación que probablemente tengas delante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18</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Generaciones</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Σ-II (SGDH)</a:t>
            </a:r>
            <a:r>
              <a:rPr sz="1350" b="1">
                <a:solidFill>
                  <a:srgbClr val="1C2430"/>
                </a:solidFill>
                <a:latin typeface="Segoe UI"/>
              </a:rPr>
              <a:t> — años 2000. Encoder de 17 bits. Todavía se encuentra en máquinas antiguas.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Σ-V (SGDV)</a:t>
            </a:r>
            <a:r>
              <a:rPr sz="1350" b="1">
                <a:solidFill>
                  <a:srgbClr val="1C2430"/>
                </a:solidFill>
                <a:latin typeface="Segoe UI"/>
              </a:rPr>
              <a:t> — 2008. Encoder de 20 bits, autotuning avanzado, MECHATROLINK-II/III.</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Σ-7 (SGD7S/W/C)</a:t>
            </a:r>
            <a:r>
              <a:rPr sz="1350" b="1">
                <a:solidFill>
                  <a:srgbClr val="1C2430"/>
                </a:solidFill>
                <a:latin typeface="Segoe UI"/>
              </a:rPr>
              <a:t> — 2014. Encoder de </a:t>
            </a:r>
            <a:r>
              <a:rPr sz="1350" b="1">
                <a:solidFill>
                  <a:srgbClr val="1C2430"/>
                </a:solidFill>
                <a:latin typeface="Segoe UI"/>
              </a:rPr>
              <a:t>24 bits</a:t>
            </a:r>
            <a:r>
              <a:rPr sz="1350" b="1">
                <a:solidFill>
                  <a:srgbClr val="1C2430"/>
                </a:solidFill>
                <a:latin typeface="Segoe UI"/>
              </a:rPr>
              <a:t>, control por modelo de referencia, ajuste 'tuning-less' y herramienta SigmaWin+ 7.</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La lógica de parámetros </a:t>
            </a:r>
            <a:r>
              <a:rPr sz="1200" b="0">
                <a:solidFill>
                  <a:srgbClr val="333F4C"/>
                </a:solidFill>
                <a:latin typeface="Consolas"/>
              </a:rPr>
              <a:t>Pn___</a:t>
            </a:r>
            <a:r>
              <a:rPr sz="1200" b="0">
                <a:solidFill>
                  <a:srgbClr val="333F4C"/>
                </a:solidFill>
                <a:latin typeface="Segoe UI"/>
              </a:rPr>
              <a:t> se mantiene muy parecida entre Σ-V y Σ-7: quien conoce una, se mueve con soltura en la otra.</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gana el usuario con la Σ-7</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Tiempo de puesta en marcha</a:t>
            </a:r>
            <a:r>
              <a:rPr sz="1350" b="1">
                <a:solidFill>
                  <a:srgbClr val="1C2430"/>
                </a:solidFill>
                <a:latin typeface="Segoe UI"/>
              </a:rPr>
              <a:t>: el autoajuste sin parámetros previos arranca un eje razonable en minutos.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Tiempo de posicionado</a:t>
            </a:r>
            <a:r>
              <a:rPr sz="1350" b="1">
                <a:solidFill>
                  <a:srgbClr val="1C2430"/>
                </a:solidFill>
                <a:latin typeface="Segoe UI"/>
              </a:rPr>
              <a:t> menor gracias al control por modelo (Model Following Control) y a la supresión de vibración.</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Diagnóstico</a:t>
            </a:r>
            <a:r>
              <a:rPr sz="1350" b="1">
                <a:solidFill>
                  <a:srgbClr val="1C2430"/>
                </a:solidFill>
                <a:latin typeface="Segoe UI"/>
              </a:rPr>
              <a:t>: registro de alarmas, monitor de vida útil de componentes y función de traza integrada.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Seguridad funcional</a:t>
            </a:r>
            <a:r>
              <a:rPr sz="1350" b="1">
                <a:solidFill>
                  <a:srgbClr val="1C2430"/>
                </a:solidFill>
                <a:latin typeface="Segoe UI"/>
              </a:rPr>
              <a:t> de serie: entradas HWBB (STO) hasta SIL 3 / PL e.</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Compatibilidad hacia atrás en montaje y cableado: la sustitución de un Σ-V por un Σ-7 suele ser directa mecánicamente, pero </a:t>
            </a:r>
            <a:r>
              <a:rPr sz="1200" b="1">
                <a:solidFill>
                  <a:srgbClr val="333F4C"/>
                </a:solidFill>
                <a:latin typeface="Segoe UI"/>
              </a:rPr>
              <a:t>no</a:t>
            </a:r>
            <a:r>
              <a:rPr sz="1200" b="0">
                <a:solidFill>
                  <a:srgbClr val="333F4C"/>
                </a:solidFill>
                <a:latin typeface="Segoe UI"/>
              </a:rPr>
              <a:t> copies los parámetros a ciegas.</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Aviso de repuestos</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No se pueden volcar sin más los parámetros de un SGDV en un SGD7S: cambian rangos, resoluciones y algunos significados de bit. Utiliza la función de conversión de SigmaWin+ y revisa después el eje completo.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tres líneas de amplificador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Elegir la línea correcta antes de mirar la potencia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19</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Para un eje de 3 kW en una máquina con PLC o CNC externo, la elección natural es SGD7S.</a:t>
            </a:r>
          </a:p>
        </p:txBody>
      </p:sp>
      <p:sp>
        <p:nvSpPr>
          <p:cNvPr id="10" name="Rectangle 9"/>
          <p:cNvSpPr/>
          <p:nvPr/>
        </p:nvSpPr>
        <p:spPr>
          <a:xfrm>
            <a:off x="56692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SGD7S — un eje</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Amplificador </a:t>
            </a:r>
            <a:r>
              <a:rPr sz="1200" b="1">
                <a:solidFill>
                  <a:srgbClr val="2B3644"/>
                </a:solidFill>
                <a:latin typeface="Segoe UI"/>
              </a:rPr>
              <a:t>monoeje</a:t>
            </a:r>
            <a:r>
              <a:rPr sz="1200" b="0">
                <a:solidFill>
                  <a:srgbClr val="2B3644"/>
                </a:solidFill>
                <a:latin typeface="Segoe UI"/>
              </a:rPr>
              <a:t>, el más habitual y el que usaremos en el curso.</a:t>
            </a:r>
          </a:p>
          <a:p>
            <a:pPr>
              <a:lnSpc>
                <a:spcPct val="105000"/>
              </a:lnSpc>
              <a:spcAft>
                <a:spcPts val="400"/>
              </a:spcAft>
              <a:buNone/>
            </a:pPr>
            <a:r>
              <a:rPr sz="1200" b="0">
                <a:solidFill>
                  <a:srgbClr val="2B3644"/>
                </a:solidFill>
                <a:latin typeface="Segoe UI"/>
              </a:rPr>
              <a:t>· Cubre de 50 W a 15 kW en 200 V.</a:t>
            </a:r>
          </a:p>
          <a:p>
            <a:pPr>
              <a:lnSpc>
                <a:spcPct val="105000"/>
              </a:lnSpc>
              <a:spcAft>
                <a:spcPts val="400"/>
              </a:spcAft>
              <a:buNone/>
            </a:pPr>
            <a:r>
              <a:rPr sz="1200" b="0">
                <a:solidFill>
                  <a:srgbClr val="2B3644"/>
                </a:solidFill>
                <a:latin typeface="Segoe UI"/>
              </a:rPr>
              <a:t>· Todas las interfaces de comando disponibles.</a:t>
            </a:r>
          </a:p>
          <a:p>
            <a:pPr>
              <a:lnSpc>
                <a:spcPct val="105000"/>
              </a:lnSpc>
              <a:spcAft>
                <a:spcPts val="400"/>
              </a:spcAft>
              <a:buNone/>
            </a:pPr>
            <a:r>
              <a:rPr sz="1200" b="0">
                <a:solidFill>
                  <a:srgbClr val="2B3644"/>
                </a:solidFill>
                <a:latin typeface="Segoe UI"/>
              </a:rPr>
              <a:t>· Nuestro modelo: </a:t>
            </a:r>
            <a:r>
              <a:rPr sz="1200" b="1">
                <a:solidFill>
                  <a:srgbClr val="2B3644"/>
                </a:solidFill>
                <a:latin typeface="Segoe UI"/>
              </a:rPr>
              <a:t>SGD7S-200A</a:t>
            </a:r>
            <a:r>
              <a:rPr sz="1200" b="0">
                <a:solidFill>
                  <a:srgbClr val="2B3644"/>
                </a:solidFill>
                <a:latin typeface="Segoe UI"/>
              </a:rPr>
              <a:t> (3,0 kW).</a:t>
            </a:r>
          </a:p>
        </p:txBody>
      </p:sp>
      <p:sp>
        <p:nvSpPr>
          <p:cNvPr id="14" name="Rectangle 13"/>
          <p:cNvSpPr/>
          <p:nvPr/>
        </p:nvSpPr>
        <p:spPr>
          <a:xfrm>
            <a:off x="4338218" y="1956816"/>
            <a:ext cx="3515258" cy="4370832"/>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SGD7W — dos ejes</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Amplificador </a:t>
            </a:r>
            <a:r>
              <a:rPr sz="1200" b="1">
                <a:solidFill>
                  <a:srgbClr val="2B3644"/>
                </a:solidFill>
                <a:latin typeface="Segoe UI"/>
              </a:rPr>
              <a:t>de dos ejes</a:t>
            </a:r>
            <a:r>
              <a:rPr sz="1200" b="0">
                <a:solidFill>
                  <a:srgbClr val="2B3644"/>
                </a:solidFill>
                <a:latin typeface="Segoe UI"/>
              </a:rPr>
              <a:t> en un solo cuerpo.</a:t>
            </a:r>
          </a:p>
          <a:p>
            <a:pPr>
              <a:lnSpc>
                <a:spcPct val="105000"/>
              </a:lnSpc>
              <a:spcAft>
                <a:spcPts val="400"/>
              </a:spcAft>
              <a:buNone/>
            </a:pPr>
            <a:r>
              <a:rPr sz="1200" b="0">
                <a:solidFill>
                  <a:srgbClr val="2B3644"/>
                </a:solidFill>
                <a:latin typeface="Segoe UI"/>
              </a:rPr>
              <a:t>· Ahorra espacio en el armario y comparte el bus de continua entre los dos ejes.</a:t>
            </a:r>
          </a:p>
          <a:p>
            <a:pPr>
              <a:lnSpc>
                <a:spcPct val="105000"/>
              </a:lnSpc>
              <a:spcAft>
                <a:spcPts val="400"/>
              </a:spcAft>
              <a:buNone/>
            </a:pPr>
            <a:r>
              <a:rPr sz="1200" b="0">
                <a:solidFill>
                  <a:srgbClr val="2B3644"/>
                </a:solidFill>
                <a:latin typeface="Segoe UI"/>
              </a:rPr>
              <a:t>· Limitado a potencias medias-bajas por eje.</a:t>
            </a:r>
          </a:p>
          <a:p>
            <a:pPr>
              <a:lnSpc>
                <a:spcPct val="105000"/>
              </a:lnSpc>
              <a:spcAft>
                <a:spcPts val="400"/>
              </a:spcAft>
              <a:buNone/>
            </a:pPr>
            <a:r>
              <a:rPr sz="1200" b="0">
                <a:solidFill>
                  <a:srgbClr val="2B3644"/>
                </a:solidFill>
                <a:latin typeface="Segoe UI"/>
              </a:rPr>
              <a:t>· Interesante en máquinas con muchos ejes pequeños.</a:t>
            </a:r>
          </a:p>
        </p:txBody>
      </p:sp>
      <p:sp>
        <p:nvSpPr>
          <p:cNvPr id="18" name="Rectangle 17"/>
          <p:cNvSpPr/>
          <p:nvPr/>
        </p:nvSpPr>
        <p:spPr>
          <a:xfrm>
            <a:off x="8109508" y="1956816"/>
            <a:ext cx="3515258" cy="4370832"/>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SGD7C — con control integrado</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Amplificador con </a:t>
            </a:r>
            <a:r>
              <a:rPr sz="1200" b="1">
                <a:solidFill>
                  <a:srgbClr val="2B3644"/>
                </a:solidFill>
                <a:latin typeface="Segoe UI"/>
              </a:rPr>
              <a:t>controlador de movimiento integrado</a:t>
            </a:r>
            <a:r>
              <a:rPr sz="1200" b="0">
                <a:solidFill>
                  <a:srgbClr val="2B3644"/>
                </a:solidFill>
                <a:latin typeface="Segoe UI"/>
              </a:rPr>
              <a:t> (MP-series embebido).</a:t>
            </a:r>
          </a:p>
          <a:p>
            <a:pPr>
              <a:lnSpc>
                <a:spcPct val="105000"/>
              </a:lnSpc>
              <a:spcAft>
                <a:spcPts val="400"/>
              </a:spcAft>
              <a:buNone/>
            </a:pPr>
            <a:r>
              <a:rPr sz="1200" b="0">
                <a:solidFill>
                  <a:srgbClr val="2B3644"/>
                </a:solidFill>
                <a:latin typeface="Segoe UI"/>
              </a:rPr>
              <a:t>· Permite resolver la trayectoria dentro del propio drive.</a:t>
            </a:r>
          </a:p>
          <a:p>
            <a:pPr>
              <a:lnSpc>
                <a:spcPct val="105000"/>
              </a:lnSpc>
              <a:spcAft>
                <a:spcPts val="400"/>
              </a:spcAft>
              <a:buNone/>
            </a:pPr>
            <a:r>
              <a:rPr sz="1200" b="0">
                <a:solidFill>
                  <a:srgbClr val="2B3644"/>
                </a:solidFill>
                <a:latin typeface="Segoe UI"/>
              </a:rPr>
              <a:t>· Reduce el hardware en máquinas de pocos ejes.</a:t>
            </a:r>
          </a:p>
          <a:p>
            <a:pPr>
              <a:lnSpc>
                <a:spcPct val="105000"/>
              </a:lnSpc>
              <a:spcAft>
                <a:spcPts val="400"/>
              </a:spcAft>
              <a:buNone/>
            </a:pPr>
            <a:r>
              <a:rPr sz="1200" b="0">
                <a:solidFill>
                  <a:srgbClr val="2B3644"/>
                </a:solidFill>
                <a:latin typeface="Segoe UI"/>
              </a:rPr>
              <a:t>· Requiere programación específica del entorno YASKAWA.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Qué hay dentro del SERVOPACK</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 la red trifásica a la corriente controlada en el motor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20</a:t>
            </a:r>
          </a:p>
        </p:txBody>
      </p:sp>
      <p:sp>
        <p:nvSpPr>
          <p:cNvPr id="9" name="Rounded Rectangle 8"/>
          <p:cNvSpPr/>
          <p:nvPr/>
        </p:nvSpPr>
        <p:spPr>
          <a:xfrm>
            <a:off x="594360" y="1783080"/>
            <a:ext cx="1965960" cy="114300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RED</a:t>
            </a:r>
          </a:p>
          <a:p>
            <a:pPr algn="ctr">
              <a:lnSpc>
                <a:spcPct val="100000"/>
              </a:lnSpc>
              <a:buNone/>
            </a:pPr>
            <a:r>
              <a:rPr sz="1200" b="1">
                <a:solidFill>
                  <a:srgbClr val="FFFFFF"/>
                </a:solidFill>
                <a:latin typeface="Segoe UI"/>
              </a:rPr>
              <a:t>3 × 200-240 V</a:t>
            </a:r>
          </a:p>
        </p:txBody>
      </p:sp>
      <p:sp>
        <p:nvSpPr>
          <p:cNvPr id="10" name="Right Arrow 9"/>
          <p:cNvSpPr/>
          <p:nvPr/>
        </p:nvSpPr>
        <p:spPr>
          <a:xfrm>
            <a:off x="260604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2834640" y="1783080"/>
            <a:ext cx="1965960" cy="114300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RECTIFICADOR</a:t>
            </a:r>
          </a:p>
          <a:p>
            <a:pPr algn="ctr">
              <a:lnSpc>
                <a:spcPct val="100000"/>
              </a:lnSpc>
              <a:buNone/>
            </a:pPr>
            <a:r>
              <a:rPr sz="1200" b="1">
                <a:solidFill>
                  <a:srgbClr val="FFFFFF"/>
                </a:solidFill>
                <a:latin typeface="Segoe UI"/>
              </a:rPr>
              <a:t>+ precarga</a:t>
            </a:r>
          </a:p>
        </p:txBody>
      </p:sp>
      <p:sp>
        <p:nvSpPr>
          <p:cNvPr id="12" name="Right Arrow 11"/>
          <p:cNvSpPr/>
          <p:nvPr/>
        </p:nvSpPr>
        <p:spPr>
          <a:xfrm>
            <a:off x="484632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074920" y="1783080"/>
            <a:ext cx="1965960" cy="114300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BUS DE CONTINUA</a:t>
            </a:r>
          </a:p>
          <a:p>
            <a:pPr algn="ctr">
              <a:lnSpc>
                <a:spcPct val="100000"/>
              </a:lnSpc>
              <a:buNone/>
            </a:pPr>
            <a:r>
              <a:rPr sz="1200" b="1">
                <a:solidFill>
                  <a:srgbClr val="FFFFFF"/>
                </a:solidFill>
                <a:latin typeface="Segoe UI"/>
              </a:rPr>
              <a:t>≈ 310 V CC</a:t>
            </a:r>
          </a:p>
        </p:txBody>
      </p:sp>
      <p:sp>
        <p:nvSpPr>
          <p:cNvPr id="14" name="Right Arrow 13"/>
          <p:cNvSpPr/>
          <p:nvPr/>
        </p:nvSpPr>
        <p:spPr>
          <a:xfrm>
            <a:off x="708660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7315200" y="1783080"/>
            <a:ext cx="1965960" cy="114300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INVERSOR IGBT</a:t>
            </a:r>
          </a:p>
          <a:p>
            <a:pPr algn="ctr">
              <a:lnSpc>
                <a:spcPct val="100000"/>
              </a:lnSpc>
              <a:buNone/>
            </a:pPr>
            <a:r>
              <a:rPr sz="1200" b="1">
                <a:solidFill>
                  <a:srgbClr val="FFFFFF"/>
                </a:solidFill>
                <a:latin typeface="Segoe UI"/>
              </a:rPr>
              <a:t>PWM senoidal</a:t>
            </a:r>
          </a:p>
        </p:txBody>
      </p:sp>
      <p:sp>
        <p:nvSpPr>
          <p:cNvPr id="16" name="Right Arrow 15"/>
          <p:cNvSpPr/>
          <p:nvPr/>
        </p:nvSpPr>
        <p:spPr>
          <a:xfrm>
            <a:off x="9326880" y="2244852"/>
            <a:ext cx="182880" cy="219456"/>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9555480" y="1783080"/>
            <a:ext cx="1965960" cy="1143000"/>
          </a:xfrm>
          <a:prstGeom prst="roundRect">
            <a:avLst>
              <a:gd name="adj" fmla="val 1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MOTOR</a:t>
            </a:r>
          </a:p>
          <a:p>
            <a:pPr algn="ctr">
              <a:lnSpc>
                <a:spcPct val="100000"/>
              </a:lnSpc>
              <a:buNone/>
            </a:pPr>
            <a:r>
              <a:rPr sz="1200" b="1">
                <a:solidFill>
                  <a:srgbClr val="FFFFFF"/>
                </a:solidFill>
                <a:latin typeface="Segoe UI"/>
              </a:rPr>
              <a:t>SGM7A-30A</a:t>
            </a:r>
          </a:p>
        </p:txBody>
      </p:sp>
      <p:cxnSp>
        <p:nvCxnSpPr>
          <p:cNvPr id="18" name="Connector 17"/>
          <p:cNvCxnSpPr/>
          <p:nvPr/>
        </p:nvCxnSpPr>
        <p:spPr>
          <a:xfrm>
            <a:off x="6057900" y="2926080"/>
            <a:ext cx="0" cy="50292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823460" y="3429000"/>
            <a:ext cx="2468880" cy="658368"/>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RESISTENCIA DE</a:t>
            </a:r>
          </a:p>
          <a:p>
            <a:pPr algn="ctr">
              <a:lnSpc>
                <a:spcPct val="100000"/>
              </a:lnSpc>
              <a:buNone/>
            </a:pPr>
            <a:r>
              <a:rPr sz="1050" b="1">
                <a:solidFill>
                  <a:srgbClr val="FFFFFF"/>
                </a:solidFill>
                <a:latin typeface="Segoe UI"/>
              </a:rPr>
              <a:t>REGENERACIÓN  </a:t>
            </a:r>
            <a:r>
              <a:rPr sz="1050" b="1">
                <a:solidFill>
                  <a:srgbClr val="FFFFFF"/>
                </a:solidFill>
                <a:latin typeface="Consolas"/>
              </a:rPr>
              <a:t>B1</a:t>
            </a:r>
            <a:r>
              <a:rPr sz="1050" b="1">
                <a:solidFill>
                  <a:srgbClr val="FFFFFF"/>
                </a:solidFill>
                <a:latin typeface="Segoe UI"/>
              </a:rPr>
              <a:t>-</a:t>
            </a:r>
            <a:r>
              <a:rPr sz="1050" b="1">
                <a:solidFill>
                  <a:srgbClr val="FFFFFF"/>
                </a:solidFill>
                <a:latin typeface="Consolas"/>
              </a:rPr>
              <a:t>B2</a:t>
            </a:r>
          </a:p>
        </p:txBody>
      </p:sp>
      <p:sp>
        <p:nvSpPr>
          <p:cNvPr id="20" name="TextBox 19"/>
          <p:cNvSpPr txBox="1"/>
          <p:nvPr/>
        </p:nvSpPr>
        <p:spPr>
          <a:xfrm>
            <a:off x="4640580" y="4160520"/>
            <a:ext cx="283464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Quema la energía que el motor</a:t>
            </a:r>
          </a:p>
          <a:p>
            <a:pPr algn="ctr">
              <a:lnSpc>
                <a:spcPct val="100000"/>
              </a:lnSpc>
              <a:buNone/>
            </a:pPr>
            <a:r>
              <a:rPr sz="950" b="0">
                <a:solidFill>
                  <a:srgbClr val="5A6B7B"/>
                </a:solidFill>
                <a:latin typeface="Segoe UI"/>
              </a:rPr>
              <a:t>devuelve al frenar</a:t>
            </a:r>
          </a:p>
        </p:txBody>
      </p:sp>
      <p:cxnSp>
        <p:nvCxnSpPr>
          <p:cNvPr id="21" name="Connector 20"/>
          <p:cNvCxnSpPr/>
          <p:nvPr/>
        </p:nvCxnSpPr>
        <p:spPr>
          <a:xfrm>
            <a:off x="8298180" y="2926080"/>
            <a:ext cx="0" cy="502920"/>
          </a:xfrm>
          <a:prstGeom prst="line">
            <a:avLst/>
          </a:prstGeom>
          <a:ln w="15875">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83780" y="3429000"/>
            <a:ext cx="1828800" cy="658368"/>
          </a:xfrm>
          <a:prstGeom prst="roundRect">
            <a:avLst>
              <a:gd name="adj" fmla="val 12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FRENO DINÁMICO</a:t>
            </a:r>
          </a:p>
        </p:txBody>
      </p:sp>
      <p:sp>
        <p:nvSpPr>
          <p:cNvPr id="23" name="TextBox 22"/>
          <p:cNvSpPr txBox="1"/>
          <p:nvPr/>
        </p:nvSpPr>
        <p:spPr>
          <a:xfrm>
            <a:off x="7155180" y="4160520"/>
            <a:ext cx="2286000" cy="237744"/>
          </a:xfrm>
          <a:prstGeom prst="rect">
            <a:avLst/>
          </a:prstGeom>
          <a:noFill/>
        </p:spPr>
        <p:txBody>
          <a:bodyPr wrap="square" lIns="0" rIns="0" tIns="0" bIns="0" anchor="t">
            <a:spAutoFit/>
          </a:bodyPr>
          <a:lstStyle/>
          <a:p>
            <a:pPr algn="ctr">
              <a:lnSpc>
                <a:spcPct val="100000"/>
              </a:lnSpc>
              <a:buNone/>
            </a:pPr>
            <a:r>
              <a:rPr sz="950" b="0">
                <a:solidFill>
                  <a:srgbClr val="5A6B7B"/>
                </a:solidFill>
                <a:latin typeface="Segoe UI"/>
              </a:rPr>
              <a:t>Cortocircuita las fases</a:t>
            </a:r>
          </a:p>
          <a:p>
            <a:pPr algn="ctr">
              <a:lnSpc>
                <a:spcPct val="100000"/>
              </a:lnSpc>
              <a:buNone/>
            </a:pPr>
            <a:r>
              <a:rPr sz="950" b="0">
                <a:solidFill>
                  <a:srgbClr val="5A6B7B"/>
                </a:solidFill>
                <a:latin typeface="Segoe UI"/>
              </a:rPr>
              <a:t>para detener por inercia</a:t>
            </a:r>
          </a:p>
        </p:txBody>
      </p:sp>
      <p:sp>
        <p:nvSpPr>
          <p:cNvPr id="24" name="Rounded Rectangle 23"/>
          <p:cNvSpPr/>
          <p:nvPr/>
        </p:nvSpPr>
        <p:spPr>
          <a:xfrm>
            <a:off x="594360" y="5120640"/>
            <a:ext cx="8183879" cy="777240"/>
          </a:xfrm>
          <a:prstGeom prst="roundRect">
            <a:avLst>
              <a:gd name="adj" fmla="val 12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CIRCUITO DE CONTROL — lazos, parámetros, protecciones y diagnóstico   ·   alimentación propia por </a:t>
            </a:r>
            <a:r>
              <a:rPr sz="1150" b="1">
                <a:solidFill>
                  <a:srgbClr val="FFFFFF"/>
                </a:solidFill>
                <a:latin typeface="Consolas"/>
              </a:rPr>
              <a:t>L1C</a:t>
            </a:r>
            <a:r>
              <a:rPr sz="1150" b="1">
                <a:solidFill>
                  <a:srgbClr val="FFFFFF"/>
                </a:solidFill>
                <a:latin typeface="Segoe UI"/>
              </a:rPr>
              <a:t> / </a:t>
            </a:r>
            <a:r>
              <a:rPr sz="1150" b="1">
                <a:solidFill>
                  <a:srgbClr val="FFFFFF"/>
                </a:solidFill>
                <a:latin typeface="Consolas"/>
              </a:rPr>
              <a:t>L2C</a:t>
            </a:r>
          </a:p>
        </p:txBody>
      </p:sp>
      <p:sp>
        <p:nvSpPr>
          <p:cNvPr id="25" name="Up Arrow 24"/>
          <p:cNvSpPr/>
          <p:nvPr/>
        </p:nvSpPr>
        <p:spPr>
          <a:xfrm>
            <a:off x="8188452" y="4645152"/>
            <a:ext cx="219456" cy="475488"/>
          </a:xfrm>
          <a:prstGeom prst="upArrow">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9006840" y="5120640"/>
            <a:ext cx="2606040" cy="77724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ENCODER 24 bits → </a:t>
            </a:r>
            <a:r>
              <a:rPr sz="1100" b="1">
                <a:solidFill>
                  <a:srgbClr val="FFFFFF"/>
                </a:solidFill>
                <a:latin typeface="Consolas"/>
              </a:rPr>
              <a:t>CN2</a:t>
            </a:r>
          </a:p>
          <a:p>
            <a:pPr algn="ctr">
              <a:lnSpc>
                <a:spcPct val="100000"/>
              </a:lnSpc>
              <a:buNone/>
            </a:pPr>
            <a:r>
              <a:rPr sz="1100" b="1">
                <a:solidFill>
                  <a:srgbClr val="FFFFFF"/>
                </a:solidFill>
                <a:latin typeface="Segoe UI"/>
              </a:rPr>
              <a:t>posición y velocidad reales</a:t>
            </a:r>
          </a:p>
        </p:txBody>
      </p:sp>
      <p:sp>
        <p:nvSpPr>
          <p:cNvPr id="27" name="Left Arrow 26"/>
          <p:cNvSpPr/>
          <p:nvPr/>
        </p:nvSpPr>
        <p:spPr>
          <a:xfrm>
            <a:off x="8796528" y="5394960"/>
            <a:ext cx="182880" cy="228600"/>
          </a:xfrm>
          <a:prstGeom prst="left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Anatomía del SGD7S-200A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Dónde está cada cosa en el frontal del amplificador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21</a:t>
            </a:r>
          </a:p>
        </p:txBody>
      </p:sp>
      <p:sp>
        <p:nvSpPr>
          <p:cNvPr id="9" name="Rectangle 8"/>
          <p:cNvSpPr/>
          <p:nvPr/>
        </p:nvSpPr>
        <p:spPr>
          <a:xfrm>
            <a:off x="777240" y="1600200"/>
            <a:ext cx="3200400" cy="4572000"/>
          </a:xfrm>
          <a:prstGeom prst="rect">
            <a:avLst/>
          </a:prstGeom>
          <a:solidFill>
            <a:srgbClr val="F2F5F8"/>
          </a:solidFill>
          <a:ln w="254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77240" y="1289304"/>
            <a:ext cx="3200400" cy="237744"/>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Vista frontal (esquemática)</a:t>
            </a:r>
          </a:p>
        </p:txBody>
      </p:sp>
      <p:sp>
        <p:nvSpPr>
          <p:cNvPr id="11" name="Rounded Rectangle 10"/>
          <p:cNvSpPr/>
          <p:nvPr/>
        </p:nvSpPr>
        <p:spPr>
          <a:xfrm>
            <a:off x="978408" y="1801368"/>
            <a:ext cx="2798064" cy="502920"/>
          </a:xfrm>
          <a:prstGeom prst="roundRect">
            <a:avLst>
              <a:gd name="adj" fmla="val 15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Display 7 segmentos + teclas</a:t>
            </a:r>
          </a:p>
        </p:txBody>
      </p:sp>
      <p:sp>
        <p:nvSpPr>
          <p:cNvPr id="12" name="Rounded Rectangle 11"/>
          <p:cNvSpPr/>
          <p:nvPr/>
        </p:nvSpPr>
        <p:spPr>
          <a:xfrm>
            <a:off x="978408" y="2404872"/>
            <a:ext cx="2798064" cy="411480"/>
          </a:xfrm>
          <a:prstGeom prst="roundRect">
            <a:avLst>
              <a:gd name="adj" fmla="val 15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CN7</a:t>
            </a:r>
            <a:r>
              <a:rPr sz="1050" b="1">
                <a:solidFill>
                  <a:srgbClr val="FFFFFF"/>
                </a:solidFill>
                <a:latin typeface="Segoe UI"/>
              </a:rPr>
              <a:t> USB → SigmaWin+</a:t>
            </a:r>
          </a:p>
        </p:txBody>
      </p:sp>
      <p:sp>
        <p:nvSpPr>
          <p:cNvPr id="13" name="Rounded Rectangle 12"/>
          <p:cNvSpPr/>
          <p:nvPr/>
        </p:nvSpPr>
        <p:spPr>
          <a:xfrm>
            <a:off x="978408" y="2916936"/>
            <a:ext cx="2798064" cy="411480"/>
          </a:xfrm>
          <a:prstGeom prst="roundRect">
            <a:avLst>
              <a:gd name="adj" fmla="val 15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CN3</a:t>
            </a:r>
            <a:r>
              <a:rPr sz="1050" b="1">
                <a:solidFill>
                  <a:srgbClr val="FFFFFF"/>
                </a:solidFill>
                <a:latin typeface="Segoe UI"/>
              </a:rPr>
              <a:t> operador digital</a:t>
            </a:r>
          </a:p>
        </p:txBody>
      </p:sp>
      <p:sp>
        <p:nvSpPr>
          <p:cNvPr id="14" name="Rounded Rectangle 13"/>
          <p:cNvSpPr/>
          <p:nvPr/>
        </p:nvSpPr>
        <p:spPr>
          <a:xfrm>
            <a:off x="978408" y="3429000"/>
            <a:ext cx="2798064" cy="457200"/>
          </a:xfrm>
          <a:prstGeom prst="roundRect">
            <a:avLst>
              <a:gd name="adj" fmla="val 15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CN1</a:t>
            </a:r>
            <a:r>
              <a:rPr sz="1050" b="1">
                <a:solidFill>
                  <a:srgbClr val="FFFFFF"/>
                </a:solidFill>
                <a:latin typeface="Segoe UI"/>
              </a:rPr>
              <a:t> E/S de control</a:t>
            </a:r>
          </a:p>
        </p:txBody>
      </p:sp>
      <p:sp>
        <p:nvSpPr>
          <p:cNvPr id="15" name="Rounded Rectangle 14"/>
          <p:cNvSpPr/>
          <p:nvPr/>
        </p:nvSpPr>
        <p:spPr>
          <a:xfrm>
            <a:off x="978408" y="3986784"/>
            <a:ext cx="2798064" cy="411480"/>
          </a:xfrm>
          <a:prstGeom prst="roundRect">
            <a:avLst>
              <a:gd name="adj" fmla="val 15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CN2</a:t>
            </a:r>
            <a:r>
              <a:rPr sz="1050" b="1">
                <a:solidFill>
                  <a:srgbClr val="FFFFFF"/>
                </a:solidFill>
                <a:latin typeface="Segoe UI"/>
              </a:rPr>
              <a:t> encoder del motor</a:t>
            </a:r>
          </a:p>
        </p:txBody>
      </p:sp>
      <p:sp>
        <p:nvSpPr>
          <p:cNvPr id="16" name="Rounded Rectangle 15"/>
          <p:cNvSpPr/>
          <p:nvPr/>
        </p:nvSpPr>
        <p:spPr>
          <a:xfrm>
            <a:off x="978408" y="4498848"/>
            <a:ext cx="2798064" cy="411480"/>
          </a:xfrm>
          <a:prstGeom prst="roundRect">
            <a:avLst>
              <a:gd name="adj" fmla="val 15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CN8</a:t>
            </a:r>
            <a:r>
              <a:rPr sz="1050" b="1">
                <a:solidFill>
                  <a:srgbClr val="FFFFFF"/>
                </a:solidFill>
                <a:latin typeface="Segoe UI"/>
              </a:rPr>
              <a:t> seguridad HWBB</a:t>
            </a:r>
          </a:p>
        </p:txBody>
      </p:sp>
      <p:sp>
        <p:nvSpPr>
          <p:cNvPr id="17" name="Rounded Rectangle 16"/>
          <p:cNvSpPr/>
          <p:nvPr/>
        </p:nvSpPr>
        <p:spPr>
          <a:xfrm>
            <a:off x="978408" y="5010912"/>
            <a:ext cx="2798064" cy="411480"/>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CN5</a:t>
            </a:r>
            <a:r>
              <a:rPr sz="1050" b="1">
                <a:solidFill>
                  <a:srgbClr val="FFFFFF"/>
                </a:solidFill>
                <a:latin typeface="Segoe UI"/>
              </a:rPr>
              <a:t> monitor analógico</a:t>
            </a:r>
          </a:p>
        </p:txBody>
      </p:sp>
      <p:sp>
        <p:nvSpPr>
          <p:cNvPr id="18" name="Rectangle 17"/>
          <p:cNvSpPr/>
          <p:nvPr/>
        </p:nvSpPr>
        <p:spPr>
          <a:xfrm>
            <a:off x="4617720" y="1600200"/>
            <a:ext cx="3200400" cy="457200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17720" y="1289304"/>
            <a:ext cx="3200400" cy="237744"/>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Bornes de potencia</a:t>
            </a:r>
          </a:p>
        </p:txBody>
      </p:sp>
      <p:sp>
        <p:nvSpPr>
          <p:cNvPr id="20" name="Rectangle 19"/>
          <p:cNvSpPr/>
          <p:nvPr/>
        </p:nvSpPr>
        <p:spPr>
          <a:xfrm>
            <a:off x="4782312" y="1828800"/>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782312" y="1828800"/>
            <a:ext cx="64008" cy="6217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5192" y="1901952"/>
            <a:ext cx="2633472" cy="237744"/>
          </a:xfrm>
          <a:prstGeom prst="rect">
            <a:avLst/>
          </a:prstGeom>
          <a:noFill/>
        </p:spPr>
        <p:txBody>
          <a:bodyPr wrap="square" lIns="0" rIns="0" tIns="0" bIns="0" anchor="t">
            <a:spAutoFit/>
          </a:bodyPr>
          <a:lstStyle/>
          <a:p>
            <a:pPr algn="l">
              <a:lnSpc>
                <a:spcPct val="100000"/>
              </a:lnSpc>
              <a:buNone/>
            </a:pPr>
            <a:r>
              <a:rPr sz="1100" b="1">
                <a:solidFill>
                  <a:srgbClr val="0B2545"/>
                </a:solidFill>
                <a:latin typeface="Consolas"/>
              </a:rPr>
              <a:t>L1</a:t>
            </a:r>
            <a:r>
              <a:rPr sz="1100" b="1">
                <a:solidFill>
                  <a:srgbClr val="0B2545"/>
                </a:solidFill>
                <a:latin typeface="Segoe UI"/>
              </a:rPr>
              <a:t> </a:t>
            </a:r>
            <a:r>
              <a:rPr sz="1100" b="1">
                <a:solidFill>
                  <a:srgbClr val="0B2545"/>
                </a:solidFill>
                <a:latin typeface="Consolas"/>
              </a:rPr>
              <a:t>L2</a:t>
            </a:r>
            <a:r>
              <a:rPr sz="1100" b="1">
                <a:solidFill>
                  <a:srgbClr val="0B2545"/>
                </a:solidFill>
                <a:latin typeface="Segoe UI"/>
              </a:rPr>
              <a:t> </a:t>
            </a:r>
            <a:r>
              <a:rPr sz="1100" b="1">
                <a:solidFill>
                  <a:srgbClr val="0B2545"/>
                </a:solidFill>
                <a:latin typeface="Consolas"/>
              </a:rPr>
              <a:t>L3</a:t>
            </a:r>
          </a:p>
        </p:txBody>
      </p:sp>
      <p:sp>
        <p:nvSpPr>
          <p:cNvPr id="23" name="TextBox 22"/>
          <p:cNvSpPr txBox="1"/>
          <p:nvPr/>
        </p:nvSpPr>
        <p:spPr>
          <a:xfrm>
            <a:off x="4965192" y="2157984"/>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Entrada trifásica 200-240 V</a:t>
            </a:r>
          </a:p>
        </p:txBody>
      </p:sp>
      <p:sp>
        <p:nvSpPr>
          <p:cNvPr id="24" name="Rectangle 23"/>
          <p:cNvSpPr/>
          <p:nvPr/>
        </p:nvSpPr>
        <p:spPr>
          <a:xfrm>
            <a:off x="4782312" y="2551176"/>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782312" y="2551176"/>
            <a:ext cx="64008" cy="621792"/>
          </a:xfrm>
          <a:prstGeom prst="rect">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65192" y="2624328"/>
            <a:ext cx="2633472" cy="237744"/>
          </a:xfrm>
          <a:prstGeom prst="rect">
            <a:avLst/>
          </a:prstGeom>
          <a:noFill/>
        </p:spPr>
        <p:txBody>
          <a:bodyPr wrap="square" lIns="0" rIns="0" tIns="0" bIns="0" anchor="t">
            <a:spAutoFit/>
          </a:bodyPr>
          <a:lstStyle/>
          <a:p>
            <a:pPr algn="l">
              <a:lnSpc>
                <a:spcPct val="100000"/>
              </a:lnSpc>
              <a:buNone/>
            </a:pPr>
            <a:r>
              <a:rPr sz="1100" b="1">
                <a:solidFill>
                  <a:srgbClr val="143A63"/>
                </a:solidFill>
                <a:latin typeface="Consolas"/>
              </a:rPr>
              <a:t>L1C</a:t>
            </a:r>
            <a:r>
              <a:rPr sz="1100" b="1">
                <a:solidFill>
                  <a:srgbClr val="143A63"/>
                </a:solidFill>
                <a:latin typeface="Segoe UI"/>
              </a:rPr>
              <a:t> </a:t>
            </a:r>
            <a:r>
              <a:rPr sz="1100" b="1">
                <a:solidFill>
                  <a:srgbClr val="143A63"/>
                </a:solidFill>
                <a:latin typeface="Consolas"/>
              </a:rPr>
              <a:t>L2C</a:t>
            </a:r>
          </a:p>
        </p:txBody>
      </p:sp>
      <p:sp>
        <p:nvSpPr>
          <p:cNvPr id="27" name="TextBox 26"/>
          <p:cNvSpPr txBox="1"/>
          <p:nvPr/>
        </p:nvSpPr>
        <p:spPr>
          <a:xfrm>
            <a:off x="4965192" y="2880360"/>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Alimentación del control (monofásica)</a:t>
            </a:r>
          </a:p>
        </p:txBody>
      </p:sp>
      <p:sp>
        <p:nvSpPr>
          <p:cNvPr id="28" name="Rectangle 27"/>
          <p:cNvSpPr/>
          <p:nvPr/>
        </p:nvSpPr>
        <p:spPr>
          <a:xfrm>
            <a:off x="4782312" y="3273552"/>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782312" y="3273552"/>
            <a:ext cx="64008" cy="62179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65192" y="3346704"/>
            <a:ext cx="2633472" cy="237744"/>
          </a:xfrm>
          <a:prstGeom prst="rect">
            <a:avLst/>
          </a:prstGeom>
          <a:noFill/>
        </p:spPr>
        <p:txBody>
          <a:bodyPr wrap="square" lIns="0" rIns="0" tIns="0" bIns="0" anchor="t">
            <a:spAutoFit/>
          </a:bodyPr>
          <a:lstStyle/>
          <a:p>
            <a:pPr algn="l">
              <a:lnSpc>
                <a:spcPct val="100000"/>
              </a:lnSpc>
              <a:buNone/>
            </a:pPr>
            <a:r>
              <a:rPr sz="1100" b="1">
                <a:solidFill>
                  <a:srgbClr val="C0392B"/>
                </a:solidFill>
                <a:latin typeface="Consolas"/>
              </a:rPr>
              <a:t>B1/⊕</a:t>
            </a:r>
            <a:r>
              <a:rPr sz="1100" b="1">
                <a:solidFill>
                  <a:srgbClr val="C0392B"/>
                </a:solidFill>
                <a:latin typeface="Segoe UI"/>
              </a:rPr>
              <a:t> </a:t>
            </a:r>
            <a:r>
              <a:rPr sz="1100" b="1">
                <a:solidFill>
                  <a:srgbClr val="C0392B"/>
                </a:solidFill>
                <a:latin typeface="Consolas"/>
              </a:rPr>
              <a:t>B2</a:t>
            </a:r>
            <a:r>
              <a:rPr sz="1100" b="1">
                <a:solidFill>
                  <a:srgbClr val="C0392B"/>
                </a:solidFill>
                <a:latin typeface="Segoe UI"/>
              </a:rPr>
              <a:t> </a:t>
            </a:r>
            <a:r>
              <a:rPr sz="1100" b="1">
                <a:solidFill>
                  <a:srgbClr val="C0392B"/>
                </a:solidFill>
                <a:latin typeface="Consolas"/>
              </a:rPr>
              <a:t>B3</a:t>
            </a:r>
          </a:p>
        </p:txBody>
      </p:sp>
      <p:sp>
        <p:nvSpPr>
          <p:cNvPr id="31" name="TextBox 30"/>
          <p:cNvSpPr txBox="1"/>
          <p:nvPr/>
        </p:nvSpPr>
        <p:spPr>
          <a:xfrm>
            <a:off x="4965192" y="3602736"/>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Resistencia de regeneración</a:t>
            </a:r>
          </a:p>
        </p:txBody>
      </p:sp>
      <p:sp>
        <p:nvSpPr>
          <p:cNvPr id="32" name="Rectangle 31"/>
          <p:cNvSpPr/>
          <p:nvPr/>
        </p:nvSpPr>
        <p:spPr>
          <a:xfrm>
            <a:off x="4782312" y="3995928"/>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782312" y="3995928"/>
            <a:ext cx="64008" cy="621792"/>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65192" y="4069080"/>
            <a:ext cx="2633472" cy="237744"/>
          </a:xfrm>
          <a:prstGeom prst="rect">
            <a:avLst/>
          </a:prstGeom>
          <a:noFill/>
        </p:spPr>
        <p:txBody>
          <a:bodyPr wrap="square" lIns="0" rIns="0" tIns="0" bIns="0" anchor="t">
            <a:spAutoFit/>
          </a:bodyPr>
          <a:lstStyle/>
          <a:p>
            <a:pPr algn="l">
              <a:lnSpc>
                <a:spcPct val="100000"/>
              </a:lnSpc>
              <a:buNone/>
            </a:pPr>
            <a:r>
              <a:rPr sz="1100" b="1">
                <a:solidFill>
                  <a:srgbClr val="5A6B7B"/>
                </a:solidFill>
                <a:latin typeface="Consolas"/>
              </a:rPr>
              <a:t>⊖1</a:t>
            </a:r>
            <a:r>
              <a:rPr sz="1100" b="1">
                <a:solidFill>
                  <a:srgbClr val="5A6B7B"/>
                </a:solidFill>
                <a:latin typeface="Segoe UI"/>
              </a:rPr>
              <a:t> </a:t>
            </a:r>
            <a:r>
              <a:rPr sz="1100" b="1">
                <a:solidFill>
                  <a:srgbClr val="5A6B7B"/>
                </a:solidFill>
                <a:latin typeface="Consolas"/>
              </a:rPr>
              <a:t>⊖2</a:t>
            </a:r>
          </a:p>
        </p:txBody>
      </p:sp>
      <p:sp>
        <p:nvSpPr>
          <p:cNvPr id="35" name="TextBox 34"/>
          <p:cNvSpPr txBox="1"/>
          <p:nvPr/>
        </p:nvSpPr>
        <p:spPr>
          <a:xfrm>
            <a:off x="4965192" y="4325112"/>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Bus de continua (negativo)</a:t>
            </a:r>
          </a:p>
        </p:txBody>
      </p:sp>
      <p:sp>
        <p:nvSpPr>
          <p:cNvPr id="36" name="Rectangle 35"/>
          <p:cNvSpPr/>
          <p:nvPr/>
        </p:nvSpPr>
        <p:spPr>
          <a:xfrm>
            <a:off x="4782312" y="4718304"/>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782312" y="4718304"/>
            <a:ext cx="64008" cy="621792"/>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5192" y="4791456"/>
            <a:ext cx="2633472" cy="237744"/>
          </a:xfrm>
          <a:prstGeom prst="rect">
            <a:avLst/>
          </a:prstGeom>
          <a:noFill/>
        </p:spPr>
        <p:txBody>
          <a:bodyPr wrap="square" lIns="0" rIns="0" tIns="0" bIns="0" anchor="t">
            <a:spAutoFit/>
          </a:bodyPr>
          <a:lstStyle/>
          <a:p>
            <a:pPr algn="l">
              <a:lnSpc>
                <a:spcPct val="100000"/>
              </a:lnSpc>
              <a:buNone/>
            </a:pPr>
            <a:r>
              <a:rPr sz="1100" b="1">
                <a:solidFill>
                  <a:srgbClr val="00A9CE"/>
                </a:solidFill>
                <a:latin typeface="Consolas"/>
              </a:rPr>
              <a:t>U</a:t>
            </a:r>
            <a:r>
              <a:rPr sz="1100" b="1">
                <a:solidFill>
                  <a:srgbClr val="00A9CE"/>
                </a:solidFill>
                <a:latin typeface="Segoe UI"/>
              </a:rPr>
              <a:t> </a:t>
            </a:r>
            <a:r>
              <a:rPr sz="1100" b="1">
                <a:solidFill>
                  <a:srgbClr val="00A9CE"/>
                </a:solidFill>
                <a:latin typeface="Consolas"/>
              </a:rPr>
              <a:t>V</a:t>
            </a:r>
            <a:r>
              <a:rPr sz="1100" b="1">
                <a:solidFill>
                  <a:srgbClr val="00A9CE"/>
                </a:solidFill>
                <a:latin typeface="Segoe UI"/>
              </a:rPr>
              <a:t> </a:t>
            </a:r>
            <a:r>
              <a:rPr sz="1100" b="1">
                <a:solidFill>
                  <a:srgbClr val="00A9CE"/>
                </a:solidFill>
                <a:latin typeface="Consolas"/>
              </a:rPr>
              <a:t>W</a:t>
            </a:r>
          </a:p>
        </p:txBody>
      </p:sp>
      <p:sp>
        <p:nvSpPr>
          <p:cNvPr id="39" name="TextBox 38"/>
          <p:cNvSpPr txBox="1"/>
          <p:nvPr/>
        </p:nvSpPr>
        <p:spPr>
          <a:xfrm>
            <a:off x="4965192" y="5047488"/>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Salida al motor — ¡respetar el orden!</a:t>
            </a:r>
          </a:p>
        </p:txBody>
      </p:sp>
      <p:sp>
        <p:nvSpPr>
          <p:cNvPr id="40" name="Rectangle 39"/>
          <p:cNvSpPr/>
          <p:nvPr/>
        </p:nvSpPr>
        <p:spPr>
          <a:xfrm>
            <a:off x="4782312" y="5440680"/>
            <a:ext cx="2871216" cy="6217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782312" y="5440680"/>
            <a:ext cx="64008" cy="62179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65192" y="5513832"/>
            <a:ext cx="2633472" cy="237744"/>
          </a:xfrm>
          <a:prstGeom prst="rect">
            <a:avLst/>
          </a:prstGeom>
          <a:noFill/>
        </p:spPr>
        <p:txBody>
          <a:bodyPr wrap="square" lIns="0" rIns="0" tIns="0" bIns="0" anchor="t">
            <a:spAutoFit/>
          </a:bodyPr>
          <a:lstStyle/>
          <a:p>
            <a:pPr algn="l">
              <a:lnSpc>
                <a:spcPct val="100000"/>
              </a:lnSpc>
              <a:buNone/>
            </a:pPr>
            <a:r>
              <a:rPr sz="1100" b="1">
                <a:solidFill>
                  <a:srgbClr val="2E8B57"/>
                </a:solidFill>
                <a:latin typeface="Segoe UI"/>
              </a:rPr>
              <a:t>⏚ Tierra</a:t>
            </a:r>
          </a:p>
        </p:txBody>
      </p:sp>
      <p:sp>
        <p:nvSpPr>
          <p:cNvPr id="43" name="TextBox 42"/>
          <p:cNvSpPr txBox="1"/>
          <p:nvPr/>
        </p:nvSpPr>
        <p:spPr>
          <a:xfrm>
            <a:off x="4965192" y="5769864"/>
            <a:ext cx="2633472"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Puesta a tierra del equipo y del motor</a:t>
            </a:r>
          </a:p>
        </p:txBody>
      </p:sp>
      <p:sp>
        <p:nvSpPr>
          <p:cNvPr id="44" name="Rectangle 43"/>
          <p:cNvSpPr/>
          <p:nvPr/>
        </p:nvSpPr>
        <p:spPr>
          <a:xfrm>
            <a:off x="8458200" y="1600200"/>
            <a:ext cx="3154680" cy="457200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86800" y="1783080"/>
            <a:ext cx="2697480" cy="32004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a:rPr>
              <a:t>Detalles que dan problemas</a:t>
            </a:r>
          </a:p>
        </p:txBody>
      </p:sp>
      <p:sp>
        <p:nvSpPr>
          <p:cNvPr id="46" name="TextBox 45"/>
          <p:cNvSpPr txBox="1"/>
          <p:nvPr/>
        </p:nvSpPr>
        <p:spPr>
          <a:xfrm>
            <a:off x="8686800" y="2212848"/>
            <a:ext cx="2697480" cy="3749039"/>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a:t>
            </a:r>
            <a:r>
              <a:rPr sz="1100" b="1">
                <a:solidFill>
                  <a:srgbClr val="1C2430"/>
                </a:solidFill>
                <a:latin typeface="Segoe UI"/>
              </a:rPr>
              <a:t>LED CHARGE</a:t>
            </a:r>
            <a:r>
              <a:rPr sz="1100" b="1">
                <a:solidFill>
                  <a:srgbClr val="1C2430"/>
                </a:solidFill>
                <a:latin typeface="Segoe UI"/>
              </a:rPr>
              <a:t> encendido significa bus cargado: peligro de muerte.</a:t>
            </a:r>
          </a:p>
          <a:p>
            <a:pPr marL="274320" indent="-201168">
              <a:lnSpc>
                <a:spcPct val="106000"/>
              </a:lnSpc>
              <a:spcAft>
                <a:spcPts val="900"/>
              </a:spcAft>
              <a:buClr>
                <a:srgbClr val="1B5EA8"/>
              </a:buClr>
              <a:buSzPct val="90000"/>
              <a:buFont typeface="Arial"/>
              <a:buChar char="■"/>
            </a:pPr>
            <a:r>
              <a:rPr sz="1100" b="1">
                <a:solidFill>
                  <a:srgbClr val="1C2430"/>
                </a:solidFill>
                <a:latin typeface="Consolas"/>
              </a:rPr>
              <a:t>CN8</a:t>
            </a:r>
            <a:r>
              <a:rPr sz="1100" b="1">
                <a:solidFill>
                  <a:srgbClr val="1C2430"/>
                </a:solidFill>
                <a:latin typeface="Segoe UI"/>
              </a:rPr>
              <a:t> sale de fábrica con un </a:t>
            </a:r>
            <a:r>
              <a:rPr sz="1100" b="1">
                <a:solidFill>
                  <a:srgbClr val="1C2430"/>
                </a:solidFill>
                <a:latin typeface="Segoe UI"/>
              </a:rPr>
              <a:t>puente</a:t>
            </a:r>
            <a:r>
              <a:rPr sz="1100" b="1">
                <a:solidFill>
                  <a:srgbClr val="1C2430"/>
                </a:solidFill>
                <a:latin typeface="Segoe UI"/>
              </a:rPr>
              <a:t>. Si lo quitas sin cablear el circuito de seguridad, el eje no dará par.</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puente </a:t>
            </a:r>
            <a:r>
              <a:rPr sz="1100" b="1">
                <a:solidFill>
                  <a:srgbClr val="1C2430"/>
                </a:solidFill>
                <a:latin typeface="Consolas"/>
              </a:rPr>
              <a:t>B2</a:t>
            </a:r>
            <a:r>
              <a:rPr sz="1100" b="1">
                <a:solidFill>
                  <a:srgbClr val="1C2430"/>
                </a:solidFill>
                <a:latin typeface="Segoe UI"/>
              </a:rPr>
              <a:t>-</a:t>
            </a:r>
            <a:r>
              <a:rPr sz="1100" b="1">
                <a:solidFill>
                  <a:srgbClr val="1C2430"/>
                </a:solidFill>
                <a:latin typeface="Consolas"/>
              </a:rPr>
              <a:t>B3</a:t>
            </a:r>
            <a:r>
              <a:rPr sz="1100" b="1">
                <a:solidFill>
                  <a:srgbClr val="1C2430"/>
                </a:solidFill>
                <a:latin typeface="Segoe UI"/>
              </a:rPr>
              <a:t> conecta la resistencia interna: al montar una externa hay que </a:t>
            </a:r>
            <a:r>
              <a:rPr sz="1100" b="1">
                <a:solidFill>
                  <a:srgbClr val="1C2430"/>
                </a:solidFill>
                <a:latin typeface="Segoe UI"/>
              </a:rPr>
              <a:t>retirarlo</a:t>
            </a:r>
            <a:r>
              <a:rPr sz="11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ventilador es un consumible: prevé su sustitución.</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La </a:t>
            </a:r>
            <a:r>
              <a:rPr sz="1100" b="1">
                <a:solidFill>
                  <a:srgbClr val="1C2430"/>
                </a:solidFill>
                <a:latin typeface="Segoe UI"/>
              </a:rPr>
              <a:t>etiqueta lateral</a:t>
            </a:r>
            <a:r>
              <a:rPr sz="1100" b="1">
                <a:solidFill>
                  <a:srgbClr val="1C2430"/>
                </a:solidFill>
                <a:latin typeface="Segoe UI"/>
              </a:rPr>
              <a:t> lleva el modelo exacto y la revisión de firmware: fotografíala en la puesta en marcha.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se lee un código de modelo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Ejemplo: SGD7S-200A00A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22</a:t>
            </a:r>
          </a:p>
        </p:txBody>
      </p:sp>
      <p:sp>
        <p:nvSpPr>
          <p:cNvPr id="9" name="Rounded Rectangle 8"/>
          <p:cNvSpPr/>
          <p:nvPr/>
        </p:nvSpPr>
        <p:spPr>
          <a:xfrm>
            <a:off x="822960" y="1874519"/>
            <a:ext cx="1600200" cy="960120"/>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SGD7</a:t>
            </a:r>
          </a:p>
        </p:txBody>
      </p:sp>
      <p:sp>
        <p:nvSpPr>
          <p:cNvPr id="10" name="TextBox 9"/>
          <p:cNvSpPr txBox="1"/>
          <p:nvPr/>
        </p:nvSpPr>
        <p:spPr>
          <a:xfrm>
            <a:off x="658368" y="2980943"/>
            <a:ext cx="1929384" cy="237744"/>
          </a:xfrm>
          <a:prstGeom prst="rect">
            <a:avLst/>
          </a:prstGeom>
          <a:noFill/>
        </p:spPr>
        <p:txBody>
          <a:bodyPr wrap="square" lIns="0" rIns="0" tIns="0" bIns="0" anchor="t">
            <a:spAutoFit/>
          </a:bodyPr>
          <a:lstStyle/>
          <a:p>
            <a:pPr algn="ctr">
              <a:lnSpc>
                <a:spcPct val="100000"/>
              </a:lnSpc>
              <a:buNone/>
            </a:pPr>
            <a:r>
              <a:rPr sz="1050" b="1">
                <a:solidFill>
                  <a:srgbClr val="0B2545"/>
                </a:solidFill>
                <a:latin typeface="Segoe UI"/>
              </a:rPr>
              <a:t>Serie</a:t>
            </a:r>
          </a:p>
          <a:p>
            <a:pPr algn="ctr">
              <a:lnSpc>
                <a:spcPct val="100000"/>
              </a:lnSpc>
              <a:buNone/>
            </a:pPr>
            <a:r>
              <a:rPr sz="1050" b="1">
                <a:solidFill>
                  <a:srgbClr val="0B2545"/>
                </a:solidFill>
                <a:latin typeface="Segoe UI"/>
              </a:rPr>
              <a:t>Σ-7</a:t>
            </a:r>
          </a:p>
        </p:txBody>
      </p:sp>
      <p:sp>
        <p:nvSpPr>
          <p:cNvPr id="11" name="Rounded Rectangle 10"/>
          <p:cNvSpPr/>
          <p:nvPr/>
        </p:nvSpPr>
        <p:spPr>
          <a:xfrm>
            <a:off x="2569464" y="1874519"/>
            <a:ext cx="1051560" cy="960120"/>
          </a:xfrm>
          <a:prstGeom prst="roundRect">
            <a:avLst>
              <a:gd name="adj" fmla="val 8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S</a:t>
            </a:r>
          </a:p>
        </p:txBody>
      </p:sp>
      <p:sp>
        <p:nvSpPr>
          <p:cNvPr id="12" name="TextBox 11"/>
          <p:cNvSpPr txBox="1"/>
          <p:nvPr/>
        </p:nvSpPr>
        <p:spPr>
          <a:xfrm>
            <a:off x="2404872" y="2980943"/>
            <a:ext cx="1380744" cy="237744"/>
          </a:xfrm>
          <a:prstGeom prst="rect">
            <a:avLst/>
          </a:prstGeom>
          <a:noFill/>
        </p:spPr>
        <p:txBody>
          <a:bodyPr wrap="square" lIns="0" rIns="0" tIns="0" bIns="0" anchor="t">
            <a:spAutoFit/>
          </a:bodyPr>
          <a:lstStyle/>
          <a:p>
            <a:pPr algn="ctr">
              <a:lnSpc>
                <a:spcPct val="100000"/>
              </a:lnSpc>
              <a:buNone/>
            </a:pPr>
            <a:r>
              <a:rPr sz="1050" b="1">
                <a:solidFill>
                  <a:srgbClr val="1B5EA8"/>
                </a:solidFill>
                <a:latin typeface="Segoe UI"/>
              </a:rPr>
              <a:t>Línea</a:t>
            </a:r>
          </a:p>
          <a:p>
            <a:pPr algn="ctr">
              <a:lnSpc>
                <a:spcPct val="100000"/>
              </a:lnSpc>
              <a:buNone/>
            </a:pPr>
            <a:r>
              <a:rPr sz="1050" b="1">
                <a:solidFill>
                  <a:srgbClr val="1B5EA8"/>
                </a:solidFill>
                <a:latin typeface="Segoe UI"/>
              </a:rPr>
              <a:t>S = 1 eje</a:t>
            </a:r>
          </a:p>
        </p:txBody>
      </p:sp>
      <p:sp>
        <p:nvSpPr>
          <p:cNvPr id="13" name="Rounded Rectangle 12"/>
          <p:cNvSpPr/>
          <p:nvPr/>
        </p:nvSpPr>
        <p:spPr>
          <a:xfrm>
            <a:off x="3767328" y="1874519"/>
            <a:ext cx="1325880" cy="9601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200</a:t>
            </a:r>
          </a:p>
        </p:txBody>
      </p:sp>
      <p:sp>
        <p:nvSpPr>
          <p:cNvPr id="14" name="TextBox 13"/>
          <p:cNvSpPr txBox="1"/>
          <p:nvPr/>
        </p:nvSpPr>
        <p:spPr>
          <a:xfrm>
            <a:off x="3602736" y="2980943"/>
            <a:ext cx="1655064" cy="237744"/>
          </a:xfrm>
          <a:prstGeom prst="rect">
            <a:avLst/>
          </a:prstGeom>
          <a:noFill/>
        </p:spPr>
        <p:txBody>
          <a:bodyPr wrap="square" lIns="0" rIns="0" tIns="0" bIns="0" anchor="t">
            <a:spAutoFit/>
          </a:bodyPr>
          <a:lstStyle/>
          <a:p>
            <a:pPr algn="ctr">
              <a:lnSpc>
                <a:spcPct val="100000"/>
              </a:lnSpc>
              <a:buNone/>
            </a:pPr>
            <a:r>
              <a:rPr sz="1050" b="1">
                <a:solidFill>
                  <a:srgbClr val="C0392B"/>
                </a:solidFill>
                <a:latin typeface="Segoe UI"/>
              </a:rPr>
              <a:t>Tamaño</a:t>
            </a:r>
          </a:p>
          <a:p>
            <a:pPr algn="ctr">
              <a:lnSpc>
                <a:spcPct val="100000"/>
              </a:lnSpc>
              <a:buNone/>
            </a:pPr>
            <a:r>
              <a:rPr sz="1050" b="1">
                <a:solidFill>
                  <a:srgbClr val="C0392B"/>
                </a:solidFill>
                <a:latin typeface="Segoe UI"/>
              </a:rPr>
              <a:t>3,0 kW</a:t>
            </a:r>
          </a:p>
        </p:txBody>
      </p:sp>
      <p:sp>
        <p:nvSpPr>
          <p:cNvPr id="15" name="Rounded Rectangle 14"/>
          <p:cNvSpPr/>
          <p:nvPr/>
        </p:nvSpPr>
        <p:spPr>
          <a:xfrm>
            <a:off x="5239512" y="1874519"/>
            <a:ext cx="1051560" cy="960120"/>
          </a:xfrm>
          <a:prstGeom prst="roundRect">
            <a:avLst>
              <a:gd name="adj" fmla="val 8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16" name="TextBox 15"/>
          <p:cNvSpPr txBox="1"/>
          <p:nvPr/>
        </p:nvSpPr>
        <p:spPr>
          <a:xfrm>
            <a:off x="5074920" y="2980943"/>
            <a:ext cx="1380744" cy="237744"/>
          </a:xfrm>
          <a:prstGeom prst="rect">
            <a:avLst/>
          </a:prstGeom>
          <a:noFill/>
        </p:spPr>
        <p:txBody>
          <a:bodyPr wrap="square" lIns="0" rIns="0" tIns="0" bIns="0" anchor="t">
            <a:spAutoFit/>
          </a:bodyPr>
          <a:lstStyle/>
          <a:p>
            <a:pPr algn="ctr">
              <a:lnSpc>
                <a:spcPct val="100000"/>
              </a:lnSpc>
              <a:buNone/>
            </a:pPr>
            <a:r>
              <a:rPr sz="1050" b="1">
                <a:solidFill>
                  <a:srgbClr val="00A9CE"/>
                </a:solidFill>
                <a:latin typeface="Segoe UI"/>
              </a:rPr>
              <a:t>Tensión</a:t>
            </a:r>
          </a:p>
          <a:p>
            <a:pPr algn="ctr">
              <a:lnSpc>
                <a:spcPct val="100000"/>
              </a:lnSpc>
              <a:buNone/>
            </a:pPr>
            <a:r>
              <a:rPr sz="1050" b="1">
                <a:solidFill>
                  <a:srgbClr val="00A9CE"/>
                </a:solidFill>
                <a:latin typeface="Segoe UI"/>
              </a:rPr>
              <a:t>A = 200 V</a:t>
            </a:r>
          </a:p>
        </p:txBody>
      </p:sp>
      <p:sp>
        <p:nvSpPr>
          <p:cNvPr id="17" name="Rounded Rectangle 16"/>
          <p:cNvSpPr/>
          <p:nvPr/>
        </p:nvSpPr>
        <p:spPr>
          <a:xfrm>
            <a:off x="6437376" y="1874519"/>
            <a:ext cx="2377440" cy="960120"/>
          </a:xfrm>
          <a:prstGeom prst="roundRect">
            <a:avLst>
              <a:gd name="adj" fmla="val 8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00</a:t>
            </a:r>
          </a:p>
        </p:txBody>
      </p:sp>
      <p:sp>
        <p:nvSpPr>
          <p:cNvPr id="18" name="TextBox 17"/>
          <p:cNvSpPr txBox="1"/>
          <p:nvPr/>
        </p:nvSpPr>
        <p:spPr>
          <a:xfrm>
            <a:off x="6272784" y="2980943"/>
            <a:ext cx="2706624" cy="237744"/>
          </a:xfrm>
          <a:prstGeom prst="rect">
            <a:avLst/>
          </a:prstGeom>
          <a:noFill/>
        </p:spPr>
        <p:txBody>
          <a:bodyPr wrap="square" lIns="0" rIns="0" tIns="0" bIns="0" anchor="t">
            <a:spAutoFit/>
          </a:bodyPr>
          <a:lstStyle/>
          <a:p>
            <a:pPr algn="ctr">
              <a:lnSpc>
                <a:spcPct val="100000"/>
              </a:lnSpc>
              <a:buNone/>
            </a:pPr>
            <a:r>
              <a:rPr sz="1050" b="1">
                <a:solidFill>
                  <a:srgbClr val="E89B1F"/>
                </a:solidFill>
                <a:latin typeface="Segoe UI"/>
              </a:rPr>
              <a:t>Interfaz de comando</a:t>
            </a:r>
          </a:p>
          <a:p>
            <a:pPr algn="ctr">
              <a:lnSpc>
                <a:spcPct val="100000"/>
              </a:lnSpc>
              <a:buNone/>
            </a:pPr>
            <a:r>
              <a:rPr sz="1050" b="1">
                <a:solidFill>
                  <a:srgbClr val="E89B1F"/>
                </a:solidFill>
                <a:latin typeface="Segoe UI"/>
              </a:rPr>
              <a:t>(analógica/pulsos,</a:t>
            </a:r>
          </a:p>
          <a:p>
            <a:pPr algn="ctr">
              <a:lnSpc>
                <a:spcPct val="100000"/>
              </a:lnSpc>
              <a:buNone/>
            </a:pPr>
            <a:r>
              <a:rPr sz="1050" b="1">
                <a:solidFill>
                  <a:srgbClr val="E89B1F"/>
                </a:solidFill>
                <a:latin typeface="Segoe UI"/>
              </a:rPr>
              <a:t>bus…)</a:t>
            </a:r>
          </a:p>
        </p:txBody>
      </p:sp>
      <p:sp>
        <p:nvSpPr>
          <p:cNvPr id="19" name="Rounded Rectangle 18"/>
          <p:cNvSpPr/>
          <p:nvPr/>
        </p:nvSpPr>
        <p:spPr>
          <a:xfrm>
            <a:off x="8961120" y="1874519"/>
            <a:ext cx="2194560" cy="960120"/>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20" name="TextBox 19"/>
          <p:cNvSpPr txBox="1"/>
          <p:nvPr/>
        </p:nvSpPr>
        <p:spPr>
          <a:xfrm>
            <a:off x="8796528" y="2980943"/>
            <a:ext cx="2523744" cy="237744"/>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Opciones de diseño</a:t>
            </a:r>
          </a:p>
          <a:p>
            <a:pPr algn="ctr">
              <a:lnSpc>
                <a:spcPct val="100000"/>
              </a:lnSpc>
              <a:buNone/>
            </a:pPr>
            <a:r>
              <a:rPr sz="1050" b="1">
                <a:solidFill>
                  <a:srgbClr val="5A6B7B"/>
                </a:solidFill>
                <a:latin typeface="Segoe UI"/>
              </a:rPr>
              <a:t>y hardware</a:t>
            </a:r>
          </a:p>
        </p:txBody>
      </p:sp>
      <p:sp>
        <p:nvSpPr>
          <p:cNvPr id="21" name="TextBox 20"/>
          <p:cNvSpPr txBox="1"/>
          <p:nvPr/>
        </p:nvSpPr>
        <p:spPr>
          <a:xfrm>
            <a:off x="822960" y="1508760"/>
            <a:ext cx="10515600" cy="237744"/>
          </a:xfrm>
          <a:prstGeom prst="rect">
            <a:avLst/>
          </a:prstGeom>
          <a:noFill/>
        </p:spPr>
        <p:txBody>
          <a:bodyPr wrap="square" lIns="0" rIns="0" tIns="0" bIns="0" anchor="t">
            <a:spAutoFit/>
          </a:bodyPr>
          <a:lstStyle/>
          <a:p>
            <a:pPr algn="l">
              <a:lnSpc>
                <a:spcPct val="100000"/>
              </a:lnSpc>
              <a:buNone/>
            </a:pPr>
            <a:r>
              <a:rPr sz="1050" b="0">
                <a:solidFill>
                  <a:srgbClr val="5A6B7B"/>
                </a:solidFill>
                <a:latin typeface="Segoe UI"/>
              </a:rPr>
              <a:t>Estructura del código (los separadores se omiten en la etiqueta)</a:t>
            </a:r>
          </a:p>
        </p:txBody>
      </p:sp>
      <p:graphicFrame>
        <p:nvGraphicFramePr>
          <p:cNvPr id="22" name="Table 21"/>
          <p:cNvGraphicFramePr>
            <a:graphicFrameLocks noGrp="1"/>
          </p:cNvGraphicFramePr>
          <p:nvPr/>
        </p:nvGraphicFramePr>
        <p:xfrm>
          <a:off x="822960" y="3611880"/>
          <a:ext cx="10561319" cy="2423157"/>
        </p:xfrm>
        <a:graphic>
          <a:graphicData uri="http://schemas.openxmlformats.org/drawingml/2006/table">
            <a:tbl>
              <a:tblPr firstRow="1">
                <a:tableStyleId>{5C22544A-7EE6-4342-B048-85BDC9FD1C3A}</a:tableStyleId>
              </a:tblPr>
              <a:tblGrid>
                <a:gridCol w="1344167"/>
                <a:gridCol w="4032504"/>
                <a:gridCol w="5184648"/>
              </a:tblGrid>
              <a:tr h="347472">
                <a:tc>
                  <a:txBody>
                    <a:bodyPr wrap="square"/>
                    <a:lstStyle/>
                    <a:p>
                      <a:pPr algn="l">
                        <a:lnSpc>
                          <a:spcPct val="100000"/>
                        </a:lnSpc>
                        <a:buNone/>
                      </a:pPr>
                      <a:r>
                        <a:rPr sz="1000" b="1">
                          <a:solidFill>
                            <a:srgbClr val="FFFFFF"/>
                          </a:solidFill>
                          <a:latin typeface="Segoe UI"/>
                        </a:rPr>
                        <a:t>Campo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Qué codifica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Por qué es crítico</a:t>
                      </a:r>
                    </a:p>
                  </a:txBody>
                  <a:tcPr marL="82296" marR="82296" marT="27432" marB="27432" anchor="ctr">
                    <a:solidFill>
                      <a:srgbClr val="0B2545"/>
                    </a:solidFill>
                  </a:tcPr>
                </a:tc>
              </a:tr>
              <a:tr h="415137">
                <a:tc>
                  <a:txBody>
                    <a:bodyPr wrap="square"/>
                    <a:lstStyle/>
                    <a:p>
                      <a:pPr algn="l">
                        <a:lnSpc>
                          <a:spcPct val="100000"/>
                        </a:lnSpc>
                        <a:buNone/>
                      </a:pPr>
                      <a:r>
                        <a:rPr sz="1000" b="0">
                          <a:solidFill>
                            <a:srgbClr val="1C2430"/>
                          </a:solidFill>
                          <a:latin typeface="Segoe UI"/>
                        </a:rPr>
                        <a:t>Serie</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Generación del amplificador (SGD7, SGDV, SGDH)</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Determina parámetros, encoder compatible y herramienta software</a:t>
                      </a:r>
                    </a:p>
                  </a:txBody>
                  <a:tcPr marL="82296" marR="82296" marT="27432" marB="27432" anchor="ctr">
                    <a:solidFill>
                      <a:srgbClr val="FFFFFF"/>
                    </a:solidFill>
                  </a:tcPr>
                </a:tc>
              </a:tr>
              <a:tr h="415137">
                <a:tc>
                  <a:txBody>
                    <a:bodyPr wrap="square"/>
                    <a:lstStyle/>
                    <a:p>
                      <a:pPr algn="l">
                        <a:lnSpc>
                          <a:spcPct val="100000"/>
                        </a:lnSpc>
                        <a:buNone/>
                      </a:pPr>
                      <a:r>
                        <a:rPr sz="1000" b="0">
                          <a:solidFill>
                            <a:srgbClr val="1C2430"/>
                          </a:solidFill>
                          <a:latin typeface="Segoe UI"/>
                        </a:rPr>
                        <a:t>Línea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 = monoeje · W = dos ejes · C = con control integrado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Cambia por completo la arquitectura del sistema</a:t>
                      </a:r>
                    </a:p>
                  </a:txBody>
                  <a:tcPr marL="82296" marR="82296" marT="27432" marB="27432" anchor="ctr">
                    <a:solidFill>
                      <a:srgbClr val="F2F5F8"/>
                    </a:solidFill>
                  </a:tcPr>
                </a:tc>
              </a:tr>
              <a:tr h="415137">
                <a:tc>
                  <a:txBody>
                    <a:bodyPr wrap="square"/>
                    <a:lstStyle/>
                    <a:p>
                      <a:pPr algn="l">
                        <a:lnSpc>
                          <a:spcPct val="100000"/>
                        </a:lnSpc>
                        <a:buNone/>
                      </a:pPr>
                      <a:r>
                        <a:rPr sz="1000" b="0">
                          <a:solidFill>
                            <a:srgbClr val="1C2430"/>
                          </a:solidFill>
                          <a:latin typeface="Segoe UI"/>
                        </a:rPr>
                        <a:t>Tamaño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Capacidad máxima de motor (200 → 3,0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Fija corriente, protecciones y regeneración interna</a:t>
                      </a:r>
                    </a:p>
                  </a:txBody>
                  <a:tcPr marL="82296" marR="82296" marT="27432" marB="27432" anchor="ctr">
                    <a:solidFill>
                      <a:srgbClr val="FFFFFF"/>
                    </a:solidFill>
                  </a:tcPr>
                </a:tc>
              </a:tr>
              <a:tr h="415137">
                <a:tc>
                  <a:txBody>
                    <a:bodyPr wrap="square"/>
                    <a:lstStyle/>
                    <a:p>
                      <a:pPr algn="l">
                        <a:lnSpc>
                          <a:spcPct val="100000"/>
                        </a:lnSpc>
                        <a:buNone/>
                      </a:pPr>
                      <a:r>
                        <a:rPr sz="1000" b="0">
                          <a:solidFill>
                            <a:srgbClr val="1C2430"/>
                          </a:solidFill>
                          <a:latin typeface="Segoe UI"/>
                        </a:rPr>
                        <a:t>Tensión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 = 200 V clase · D = 400 V clase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Un error aquí destruye el equipo al energizar</a:t>
                      </a:r>
                    </a:p>
                  </a:txBody>
                  <a:tcPr marL="82296" marR="82296" marT="27432" marB="27432" anchor="ctr">
                    <a:solidFill>
                      <a:srgbClr val="F2F5F8"/>
                    </a:solidFill>
                  </a:tcPr>
                </a:tc>
              </a:tr>
              <a:tr h="415137">
                <a:tc>
                  <a:txBody>
                    <a:bodyPr wrap="square"/>
                    <a:lstStyle/>
                    <a:p>
                      <a:pPr algn="l">
                        <a:lnSpc>
                          <a:spcPct val="100000"/>
                        </a:lnSpc>
                        <a:buNone/>
                      </a:pPr>
                      <a:r>
                        <a:rPr sz="1000" b="0">
                          <a:solidFill>
                            <a:srgbClr val="1C2430"/>
                          </a:solidFill>
                          <a:latin typeface="Segoe UI"/>
                        </a:rPr>
                        <a:t>Interfaz</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Analógica/pulsos, MECHATROLINK, EtherCAT…</a:t>
                      </a:r>
                    </a:p>
                  </a:txBody>
                  <a:tcPr marL="82296" marR="82296" marT="27432" marB="27432" anchor="ctr">
                    <a:solidFill>
                      <a:srgbClr val="FFFFFF"/>
                    </a:solidFill>
                  </a:tcPr>
                </a:tc>
                <a:tc>
                  <a:txBody>
                    <a:bodyPr wrap="square"/>
                    <a:lstStyle/>
                    <a:p>
                      <a:pPr algn="l">
                        <a:lnSpc>
                          <a:spcPct val="100000"/>
                        </a:lnSpc>
                        <a:buNone/>
                      </a:pPr>
                      <a:r>
                        <a:rPr sz="1000" b="1">
                          <a:solidFill>
                            <a:srgbClr val="1C2430"/>
                          </a:solidFill>
                          <a:latin typeface="Segoe UI"/>
                        </a:rPr>
                        <a:t>No se puede cambiar después de la compra</a:t>
                      </a:r>
                    </a:p>
                  </a:txBody>
                  <a:tcPr marL="82296" marR="82296"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Gama de potencias Σ-7 monoeje en 200 V</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cifra central del código es el indicador de tamaño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23</a:t>
            </a:r>
          </a:p>
        </p:txBody>
      </p:sp>
      <p:graphicFrame>
        <p:nvGraphicFramePr>
          <p:cNvPr id="9" name="Table 8"/>
          <p:cNvGraphicFramePr>
            <a:graphicFrameLocks noGrp="1"/>
          </p:cNvGraphicFramePr>
          <p:nvPr/>
        </p:nvGraphicFramePr>
        <p:xfrm>
          <a:off x="566928" y="1481328"/>
          <a:ext cx="11057836" cy="4462272"/>
        </p:xfrm>
        <a:graphic>
          <a:graphicData uri="http://schemas.openxmlformats.org/drawingml/2006/table">
            <a:tbl>
              <a:tblPr firstRow="1">
                <a:tableStyleId>{5C22544A-7EE6-4342-B048-85BDC9FD1C3A}</a:tableStyleId>
              </a:tblPr>
              <a:tblGrid>
                <a:gridCol w="1809464"/>
                <a:gridCol w="2211567"/>
                <a:gridCol w="2814722"/>
                <a:gridCol w="4222083"/>
              </a:tblGrid>
              <a:tr h="347472">
                <a:tc>
                  <a:txBody>
                    <a:bodyPr wrap="square"/>
                    <a:lstStyle/>
                    <a:p>
                      <a:pPr algn="ctr">
                        <a:lnSpc>
                          <a:spcPct val="100000"/>
                        </a:lnSpc>
                        <a:buNone/>
                      </a:pPr>
                      <a:r>
                        <a:rPr sz="1000" b="1">
                          <a:solidFill>
                            <a:srgbClr val="FFFFFF"/>
                          </a:solidFill>
                          <a:latin typeface="Segoe UI"/>
                        </a:rPr>
                        <a:t>Modelo SGD7S</a:t>
                      </a:r>
                    </a:p>
                  </a:txBody>
                  <a:tcPr marL="82296" marR="82296" marT="27432" marB="27432" anchor="ctr">
                    <a:solidFill>
                      <a:srgbClr val="0B2545"/>
                    </a:solidFill>
                  </a:tcPr>
                </a:tc>
                <a:tc>
                  <a:txBody>
                    <a:bodyPr wrap="square"/>
                    <a:lstStyle/>
                    <a:p>
                      <a:pPr algn="ctr">
                        <a:lnSpc>
                          <a:spcPct val="100000"/>
                        </a:lnSpc>
                        <a:buNone/>
                      </a:pPr>
                      <a:r>
                        <a:rPr sz="1000" b="1">
                          <a:solidFill>
                            <a:srgbClr val="FFFFFF"/>
                          </a:solidFill>
                          <a:latin typeface="Segoe UI"/>
                        </a:rPr>
                        <a:t>Potencia máx. de motor</a:t>
                      </a:r>
                    </a:p>
                  </a:txBody>
                  <a:tcPr marL="82296" marR="82296" marT="27432" marB="27432" anchor="ctr">
                    <a:solidFill>
                      <a:srgbClr val="0B2545"/>
                    </a:solidFill>
                  </a:tcPr>
                </a:tc>
                <a:tc>
                  <a:txBody>
                    <a:bodyPr wrap="square"/>
                    <a:lstStyle/>
                    <a:p>
                      <a:pPr algn="ctr">
                        <a:lnSpc>
                          <a:spcPct val="100000"/>
                        </a:lnSpc>
                        <a:buNone/>
                      </a:pPr>
                      <a:r>
                        <a:rPr sz="1000" b="1">
                          <a:solidFill>
                            <a:srgbClr val="FFFFFF"/>
                          </a:solidFill>
                          <a:latin typeface="Segoe UI"/>
                        </a:rPr>
                        <a:t>Corriente de salida continua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Uso típico</a:t>
                      </a:r>
                    </a:p>
                  </a:txBody>
                  <a:tcPr marL="82296" marR="82296" marT="27432" marB="27432" anchor="ctr">
                    <a:solidFill>
                      <a:srgbClr val="0B2545"/>
                    </a:solidFill>
                  </a:tcPr>
                </a:tc>
              </a:tr>
              <a:tr h="342900">
                <a:tc>
                  <a:txBody>
                    <a:bodyPr wrap="square"/>
                    <a:lstStyle/>
                    <a:p>
                      <a:pPr algn="ctr">
                        <a:lnSpc>
                          <a:spcPct val="100000"/>
                        </a:lnSpc>
                        <a:buNone/>
                      </a:pPr>
                      <a:r>
                        <a:rPr sz="1000" b="0">
                          <a:solidFill>
                            <a:srgbClr val="1C2430"/>
                          </a:solidFill>
                          <a:latin typeface="Segoe UI"/>
                        </a:rPr>
                        <a:t>-R70A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50 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0,66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Ejes auxiliares muy pequeños</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-R90A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100 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0,91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Dosificadores, etiquetadoras</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-1R6A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200 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1,6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Ejes de manipulación ligera</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-2R8A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400 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2,8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Cintas indexadoras</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-5R5A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750 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5,5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El tamaño más vendido en máquina general</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-7R6A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1,0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7,6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de empuje medios</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-120A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1,5 kW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11,6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Husillos de tamaño medio</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-180A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2,0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18,5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de prensa pequeños</a:t>
                      </a:r>
                    </a:p>
                  </a:txBody>
                  <a:tcPr marL="82296" marR="82296" marT="27432" marB="27432" anchor="ctr">
                    <a:solidFill>
                      <a:srgbClr val="F2F5F8"/>
                    </a:solidFill>
                  </a:tcPr>
                </a:tc>
              </a:tr>
              <a:tr h="342900">
                <a:tc>
                  <a:txBody>
                    <a:bodyPr wrap="square"/>
                    <a:lstStyle/>
                    <a:p>
                      <a:pPr algn="ctr">
                        <a:lnSpc>
                          <a:spcPct val="100000"/>
                        </a:lnSpc>
                        <a:buNone/>
                      </a:pPr>
                      <a:r>
                        <a:rPr sz="1000" b="1">
                          <a:solidFill>
                            <a:srgbClr val="1C2430"/>
                          </a:solidFill>
                          <a:latin typeface="Segoe UI"/>
                        </a:rPr>
                        <a:t>-200A</a:t>
                      </a:r>
                    </a:p>
                  </a:txBody>
                  <a:tcPr marL="82296" marR="82296" marT="27432" marB="27432" anchor="ctr">
                    <a:solidFill>
                      <a:srgbClr val="FFFFFF"/>
                    </a:solidFill>
                  </a:tcPr>
                </a:tc>
                <a:tc>
                  <a:txBody>
                    <a:bodyPr wrap="square"/>
                    <a:lstStyle/>
                    <a:p>
                      <a:pPr algn="ctr">
                        <a:lnSpc>
                          <a:spcPct val="100000"/>
                        </a:lnSpc>
                        <a:buNone/>
                      </a:pPr>
                      <a:r>
                        <a:rPr sz="1000" b="1">
                          <a:solidFill>
                            <a:srgbClr val="1C2430"/>
                          </a:solidFill>
                          <a:latin typeface="Segoe UI"/>
                        </a:rPr>
                        <a:t>3,0 kW</a:t>
                      </a:r>
                    </a:p>
                  </a:txBody>
                  <a:tcPr marL="82296" marR="82296" marT="27432" marB="27432" anchor="ctr">
                    <a:solidFill>
                      <a:srgbClr val="FFFFFF"/>
                    </a:solidFill>
                  </a:tcPr>
                </a:tc>
                <a:tc>
                  <a:txBody>
                    <a:bodyPr wrap="square"/>
                    <a:lstStyle/>
                    <a:p>
                      <a:pPr algn="ctr">
                        <a:lnSpc>
                          <a:spcPct val="100000"/>
                        </a:lnSpc>
                        <a:buNone/>
                      </a:pPr>
                      <a:r>
                        <a:rPr sz="1000" b="1">
                          <a:solidFill>
                            <a:srgbClr val="1C2430"/>
                          </a:solidFill>
                          <a:latin typeface="Segoe UI"/>
                        </a:rPr>
                        <a:t>18,5 A</a:t>
                      </a:r>
                    </a:p>
                  </a:txBody>
                  <a:tcPr marL="82296" marR="82296" marT="27432" marB="27432" anchor="ctr">
                    <a:solidFill>
                      <a:srgbClr val="FFFFFF"/>
                    </a:solidFill>
                  </a:tcPr>
                </a:tc>
                <a:tc>
                  <a:txBody>
                    <a:bodyPr wrap="square"/>
                    <a:lstStyle/>
                    <a:p>
                      <a:pPr algn="l">
                        <a:lnSpc>
                          <a:spcPct val="100000"/>
                        </a:lnSpc>
                        <a:buNone/>
                      </a:pPr>
                      <a:r>
                        <a:rPr sz="1000" b="1">
                          <a:solidFill>
                            <a:srgbClr val="1C2430"/>
                          </a:solidFill>
                          <a:latin typeface="Segoe UI"/>
                        </a:rPr>
                        <a:t>Nuestro caso: eje principal de 3 kW</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-330A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5,0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32,9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Ejes de gran inercia</a:t>
                      </a:r>
                    </a:p>
                  </a:txBody>
                  <a:tcPr marL="82296" marR="82296" marT="27432" marB="27432" anchor="ctr">
                    <a:solidFill>
                      <a:srgbClr val="F2F5F8"/>
                    </a:solidFill>
                  </a:tcPr>
                </a:tc>
              </a:tr>
              <a:tr h="342900">
                <a:tc>
                  <a:txBody>
                    <a:bodyPr wrap="square"/>
                    <a:lstStyle/>
                    <a:p>
                      <a:pPr algn="ctr">
                        <a:lnSpc>
                          <a:spcPct val="100000"/>
                        </a:lnSpc>
                        <a:buNone/>
                      </a:pPr>
                      <a:r>
                        <a:rPr sz="1000" b="0">
                          <a:solidFill>
                            <a:srgbClr val="1C2430"/>
                          </a:solidFill>
                          <a:latin typeface="Segoe UI"/>
                        </a:rPr>
                        <a:t>-550A</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7,5 kW</a:t>
                      </a:r>
                    </a:p>
                  </a:txBody>
                  <a:tcPr marL="82296" marR="82296" marT="27432" marB="27432" anchor="ctr">
                    <a:solidFill>
                      <a:srgbClr val="FFFFFF"/>
                    </a:solidFill>
                  </a:tcPr>
                </a:tc>
                <a:tc>
                  <a:txBody>
                    <a:bodyPr wrap="square"/>
                    <a:lstStyle/>
                    <a:p>
                      <a:pPr algn="ctr">
                        <a:lnSpc>
                          <a:spcPct val="100000"/>
                        </a:lnSpc>
                        <a:buNone/>
                      </a:pPr>
                      <a:r>
                        <a:rPr sz="1000" b="0">
                          <a:solidFill>
                            <a:srgbClr val="1C2430"/>
                          </a:solidFill>
                          <a:latin typeface="Segoe UI"/>
                        </a:rPr>
                        <a:t>54,7 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Prensas, cizallas</a:t>
                      </a:r>
                    </a:p>
                  </a:txBody>
                  <a:tcPr marL="82296" marR="82296" marT="27432" marB="27432" anchor="ctr">
                    <a:solidFill>
                      <a:srgbClr val="FFFFFF"/>
                    </a:solidFill>
                  </a:tcPr>
                </a:tc>
              </a:tr>
              <a:tr h="342900">
                <a:tc>
                  <a:txBody>
                    <a:bodyPr wrap="square"/>
                    <a:lstStyle/>
                    <a:p>
                      <a:pPr algn="ctr">
                        <a:lnSpc>
                          <a:spcPct val="100000"/>
                        </a:lnSpc>
                        <a:buNone/>
                      </a:pPr>
                      <a:r>
                        <a:rPr sz="1000" b="0">
                          <a:solidFill>
                            <a:srgbClr val="1C2430"/>
                          </a:solidFill>
                          <a:latin typeface="Segoe UI"/>
                        </a:rPr>
                        <a:t>-780A</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15 kW</a:t>
                      </a:r>
                    </a:p>
                  </a:txBody>
                  <a:tcPr marL="82296" marR="82296" marT="27432" marB="27432" anchor="ctr">
                    <a:solidFill>
                      <a:srgbClr val="F2F5F8"/>
                    </a:solidFill>
                  </a:tcPr>
                </a:tc>
                <a:tc>
                  <a:txBody>
                    <a:bodyPr wrap="square"/>
                    <a:lstStyle/>
                    <a:p>
                      <a:pPr algn="ctr">
                        <a:lnSpc>
                          <a:spcPct val="100000"/>
                        </a:lnSpc>
                        <a:buNone/>
                      </a:pPr>
                      <a:r>
                        <a:rPr sz="1000" b="0">
                          <a:solidFill>
                            <a:srgbClr val="1C2430"/>
                          </a:solidFill>
                          <a:latin typeface="Segoe UI"/>
                        </a:rPr>
                        <a:t>105 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Aplicaciones de alta potencia</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Valores orientativos de catálogo: confirma siempre corriente continua y de pico en el manual de la variante concreta y con la tensión de red real.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Especificaciones del SGD7S-200A (3,0 kW)</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ficha que debes tener a mano al diseñar el armario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24</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3015774"/>
                <a:gridCol w="3618929"/>
                <a:gridCol w="4423135"/>
              </a:tblGrid>
              <a:tr h="347472">
                <a:tc>
                  <a:txBody>
                    <a:bodyPr wrap="square"/>
                    <a:lstStyle/>
                    <a:p>
                      <a:pPr algn="l">
                        <a:lnSpc>
                          <a:spcPct val="100000"/>
                        </a:lnSpc>
                        <a:buNone/>
                      </a:pPr>
                      <a:r>
                        <a:rPr sz="1000" b="1">
                          <a:solidFill>
                            <a:srgbClr val="FFFFFF"/>
                          </a:solidFill>
                          <a:latin typeface="Segoe UI"/>
                        </a:rPr>
                        <a:t>Concepto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Valor de referencia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Comentario práctico</a:t>
                      </a:r>
                    </a:p>
                  </a:txBody>
                  <a:tcPr marL="82296" marR="82296" marT="27432" marB="27432" anchor="ctr">
                    <a:solidFill>
                      <a:srgbClr val="0B2545"/>
                    </a:solidFill>
                  </a:tcPr>
                </a:tc>
              </a:tr>
              <a:tr h="342900">
                <a:tc>
                  <a:txBody>
                    <a:bodyPr wrap="square"/>
                    <a:lstStyle/>
                    <a:p>
                      <a:pPr algn="l">
                        <a:lnSpc>
                          <a:spcPct val="100000"/>
                        </a:lnSpc>
                        <a:buNone/>
                      </a:pPr>
                      <a:r>
                        <a:rPr sz="1000" b="0">
                          <a:solidFill>
                            <a:srgbClr val="1C2430"/>
                          </a:solidFill>
                          <a:latin typeface="Segoe UI"/>
                        </a:rPr>
                        <a:t>Potencia máxima de motor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3,0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Debe coincidir con la del motor combinado</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Alimentación del circuito principal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Trifásica 200–240 V CA, 50/60 Hz, −15 % / +10 %</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Bornes </a:t>
                      </a:r>
                      <a:r>
                        <a:rPr sz="1000" b="0">
                          <a:solidFill>
                            <a:srgbClr val="1C2430"/>
                          </a:solidFill>
                          <a:latin typeface="Consolas"/>
                        </a:rPr>
                        <a:t>L1</a:t>
                      </a:r>
                      <a:r>
                        <a:rPr sz="1000" b="0">
                          <a:solidFill>
                            <a:srgbClr val="1C2430"/>
                          </a:solidFill>
                          <a:latin typeface="Segoe UI"/>
                        </a:rPr>
                        <a:t> </a:t>
                      </a:r>
                      <a:r>
                        <a:rPr sz="1000" b="0">
                          <a:solidFill>
                            <a:srgbClr val="1C2430"/>
                          </a:solidFill>
                          <a:latin typeface="Consolas"/>
                        </a:rPr>
                        <a:t>L2</a:t>
                      </a:r>
                      <a:r>
                        <a:rPr sz="1000" b="0">
                          <a:solidFill>
                            <a:srgbClr val="1C2430"/>
                          </a:solidFill>
                          <a:latin typeface="Segoe UI"/>
                        </a:rPr>
                        <a:t> </a:t>
                      </a:r>
                      <a:r>
                        <a:rPr sz="1000" b="0">
                          <a:solidFill>
                            <a:srgbClr val="1C2430"/>
                          </a:solidFill>
                          <a:latin typeface="Consolas"/>
                        </a:rPr>
                        <a:t>L3</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Alimentación del circuito de control</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Monofásica 200–240 V 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Bornes </a:t>
                      </a:r>
                      <a:r>
                        <a:rPr sz="1000" b="0">
                          <a:solidFill>
                            <a:srgbClr val="1C2430"/>
                          </a:solidFill>
                          <a:latin typeface="Consolas"/>
                        </a:rPr>
                        <a:t>L1C</a:t>
                      </a:r>
                      <a:r>
                        <a:rPr sz="1000" b="0">
                          <a:solidFill>
                            <a:srgbClr val="1C2430"/>
                          </a:solidFill>
                          <a:latin typeface="Segoe UI"/>
                        </a:rPr>
                        <a:t> </a:t>
                      </a:r>
                      <a:r>
                        <a:rPr sz="1000" b="0">
                          <a:solidFill>
                            <a:srgbClr val="1C2430"/>
                          </a:solidFill>
                          <a:latin typeface="Consolas"/>
                        </a:rPr>
                        <a:t>L2C</a:t>
                      </a:r>
                      <a:r>
                        <a:rPr sz="1000" b="0">
                          <a:solidFill>
                            <a:srgbClr val="1C2430"/>
                          </a:solidFill>
                          <a:latin typeface="Segoe UI"/>
                        </a:rPr>
                        <a:t>; permite mantener comunicación con la potencia cortada</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Corriente de entrada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21 A eficaces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Dimensiona cable, protección y contactor</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Potencia aparente requerida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4,5 kVA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Dato para el cálculo del transformador o de la acometida</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Corriente de salida continua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18,5 A eficaces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Corresponde al par nominal del motor</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Corriente de salida instantánea máxima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55 A eficaces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Corresponde al par pico (≈ 300 %)</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Método de control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IGBT con PWM senoidal, control vectorial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Frecuencia de conmutación fija</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Resistencia de regeneración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Incorporada de serie en este tamaño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Ampliable con resistencia externa entre </a:t>
                      </a:r>
                      <a:r>
                        <a:rPr sz="1000" b="0">
                          <a:solidFill>
                            <a:srgbClr val="1C2430"/>
                          </a:solidFill>
                          <a:latin typeface="Consolas"/>
                        </a:rPr>
                        <a:t>B1</a:t>
                      </a:r>
                      <a:r>
                        <a:rPr sz="1000" b="0">
                          <a:solidFill>
                            <a:srgbClr val="1C2430"/>
                          </a:solidFill>
                          <a:latin typeface="Segoe UI"/>
                        </a:rPr>
                        <a:t> y </a:t>
                      </a:r>
                      <a:r>
                        <a:rPr sz="1000" b="0">
                          <a:solidFill>
                            <a:srgbClr val="1C2430"/>
                          </a:solidFill>
                          <a:latin typeface="Consolas"/>
                        </a:rPr>
                        <a:t>B2</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Realimentación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Encoder serie absoluto o incremental de 24 bits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Conector </a:t>
                      </a:r>
                      <a:r>
                        <a:rPr sz="1000" b="0">
                          <a:solidFill>
                            <a:srgbClr val="1C2430"/>
                          </a:solidFill>
                          <a:latin typeface="Consolas"/>
                        </a:rPr>
                        <a:t>CN2</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Refrigeración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Ventilador forzado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Componente de desgaste: previsión de recambio</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Grado de protección / entorno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IP20, 0–55 °C, hasta 1.000 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Por encima de 45 °C hay que reducir la carga (derating)</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Contrasta cada línea con el manual SIEP S800001 y con la placa de características antes de dimensionar protecciones.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Interfaces de comando disponibles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variante se decide </a:t>
            </a:r>
            <a:r>
              <a:rPr sz="1250" b="1">
                <a:solidFill>
                  <a:srgbClr val="A9C6E0"/>
                </a:solidFill>
                <a:latin typeface="Segoe UI"/>
              </a:rPr>
              <a:t>al comprar</a:t>
            </a:r>
            <a:r>
              <a:rPr sz="1250" b="0">
                <a:solidFill>
                  <a:srgbClr val="A9C6E0"/>
                </a:solidFill>
                <a:latin typeface="Segoe UI"/>
              </a:rPr>
              <a:t>: forma parte del código de modelo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25</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3015774"/>
                <a:gridCol w="4021032"/>
                <a:gridCol w="4021032"/>
              </a:tblGrid>
              <a:tr h="347472">
                <a:tc>
                  <a:txBody>
                    <a:bodyPr wrap="square"/>
                    <a:lstStyle/>
                    <a:p>
                      <a:pPr algn="l">
                        <a:lnSpc>
                          <a:spcPct val="100000"/>
                        </a:lnSpc>
                        <a:buNone/>
                      </a:pPr>
                      <a:r>
                        <a:rPr sz="1050" b="1">
                          <a:solidFill>
                            <a:srgbClr val="FFFFFF"/>
                          </a:solidFill>
                          <a:latin typeface="Segoe UI"/>
                        </a:rPr>
                        <a:t>Interfaz</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Cómo llega la consigna</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Cuándo elegirla</a:t>
                      </a:r>
                    </a:p>
                  </a:txBody>
                  <a:tcPr marL="82296" marR="82296" marT="27432" marB="27432" anchor="ctr">
                    <a:solidFill>
                      <a:srgbClr val="0B2545"/>
                    </a:solidFill>
                  </a:tcPr>
                </a:tc>
              </a:tr>
              <a:tr h="1028700">
                <a:tc>
                  <a:txBody>
                    <a:bodyPr wrap="square"/>
                    <a:lstStyle/>
                    <a:p>
                      <a:pPr algn="l">
                        <a:lnSpc>
                          <a:spcPct val="100000"/>
                        </a:lnSpc>
                        <a:buNone/>
                      </a:pPr>
                      <a:r>
                        <a:rPr sz="1050" b="0">
                          <a:solidFill>
                            <a:srgbClr val="1C2430"/>
                          </a:solidFill>
                          <a:latin typeface="Segoe UI"/>
                        </a:rPr>
                        <a:t>Tensión analógica y tren de pulsos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±10 V para velocidad/par y </a:t>
                      </a:r>
                      <a:r>
                        <a:rPr sz="1050" b="0">
                          <a:solidFill>
                            <a:srgbClr val="1C2430"/>
                          </a:solidFill>
                          <a:latin typeface="Consolas"/>
                        </a:rPr>
                        <a:t>PULS</a:t>
                      </a:r>
                      <a:r>
                        <a:rPr sz="1050" b="0">
                          <a:solidFill>
                            <a:srgbClr val="1C2430"/>
                          </a:solidFill>
                          <a:latin typeface="Segoe UI"/>
                        </a:rPr>
                        <a:t>/</a:t>
                      </a:r>
                      <a:r>
                        <a:rPr sz="1050" b="0">
                          <a:solidFill>
                            <a:srgbClr val="1C2430"/>
                          </a:solidFill>
                          <a:latin typeface="Consolas"/>
                        </a:rPr>
                        <a:t>SIGN</a:t>
                      </a:r>
                      <a:r>
                        <a:rPr sz="1050" b="0">
                          <a:solidFill>
                            <a:srgbClr val="1C2430"/>
                          </a:solidFill>
                          <a:latin typeface="Segoe UI"/>
                        </a:rPr>
                        <a:t> para posición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Retrofit, CNC clásicos, controladores con salida de pulsos. Cableado sencillo y sin latencia de red.</a:t>
                      </a:r>
                    </a:p>
                  </a:txBody>
                  <a:tcPr marL="82296" marR="82296" marT="27432" marB="27432" anchor="ctr">
                    <a:solidFill>
                      <a:srgbClr val="FFFFFF"/>
                    </a:solidFill>
                  </a:tcPr>
                </a:tc>
              </a:tr>
              <a:tr h="1028700">
                <a:tc>
                  <a:txBody>
                    <a:bodyPr wrap="square"/>
                    <a:lstStyle/>
                    <a:p>
                      <a:pPr algn="l">
                        <a:lnSpc>
                          <a:spcPct val="100000"/>
                        </a:lnSpc>
                        <a:buNone/>
                      </a:pPr>
                      <a:r>
                        <a:rPr sz="1050" b="0">
                          <a:solidFill>
                            <a:srgbClr val="1C2430"/>
                          </a:solidFill>
                          <a:latin typeface="Segoe UI"/>
                        </a:rPr>
                        <a:t>MECHATROLINK-II / III</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Bus de movimiento propietario YASKAWA sobre cable dedicado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Máquinas con controlador YASKAWA (MP2000/MP3000). Sincronismo entre ejes excelente.</a:t>
                      </a:r>
                    </a:p>
                  </a:txBody>
                  <a:tcPr marL="82296" marR="82296" marT="27432" marB="27432" anchor="ctr">
                    <a:solidFill>
                      <a:srgbClr val="F2F5F8"/>
                    </a:solidFill>
                  </a:tcPr>
                </a:tc>
              </a:tr>
              <a:tr h="1028700">
                <a:tc>
                  <a:txBody>
                    <a:bodyPr wrap="square"/>
                    <a:lstStyle/>
                    <a:p>
                      <a:pPr algn="l">
                        <a:lnSpc>
                          <a:spcPct val="100000"/>
                        </a:lnSpc>
                        <a:buNone/>
                      </a:pPr>
                      <a:r>
                        <a:rPr sz="1050" b="0">
                          <a:solidFill>
                            <a:srgbClr val="1C2430"/>
                          </a:solidFill>
                          <a:latin typeface="Segoe UI"/>
                        </a:rPr>
                        <a:t>EtherCAT (CoE, perfil CiA 402)</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Telegramas cíclicos sobre Ethernet industrial</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La opción más habitual en instalaciones nuevas con PLC de terceros (Beckhoff, Omron, Codesys…).</a:t>
                      </a:r>
                    </a:p>
                  </a:txBody>
                  <a:tcPr marL="82296" marR="82296" marT="27432" marB="27432" anchor="ctr">
                    <a:solidFill>
                      <a:srgbClr val="FFFFFF"/>
                    </a:solidFill>
                  </a:tcPr>
                </a:tc>
              </a:tr>
              <a:tr h="1028700">
                <a:tc>
                  <a:txBody>
                    <a:bodyPr wrap="square"/>
                    <a:lstStyle/>
                    <a:p>
                      <a:pPr algn="l">
                        <a:lnSpc>
                          <a:spcPct val="100000"/>
                        </a:lnSpc>
                        <a:buNone/>
                      </a:pPr>
                      <a:r>
                        <a:rPr sz="1050" b="0">
                          <a:solidFill>
                            <a:srgbClr val="1C2430"/>
                          </a:solidFill>
                          <a:latin typeface="Segoe UI"/>
                        </a:rPr>
                        <a:t>Modo indexador / posicionamiento interno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Tablas de posiciones almacenadas en el drive, disparadas por E/S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Máquinas sencillas sin controlador de movimiento.</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El sufijo del código identifica la interfaz. Verifica el sufijo exacto en el catálogo antes de emitir el pedido: no se puede cambiar después.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441" b="1">
                <a:solidFill>
                  <a:srgbClr val="FFFFFF"/>
                </a:solidFill>
                <a:latin typeface="Segoe UI Semibold"/>
              </a:rPr>
              <a:t>Periféricos y accesorios que casi siempre hacen falta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Lista de la compra del armario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26</a:t>
            </a:r>
          </a:p>
        </p:txBody>
      </p:sp>
      <p:graphicFrame>
        <p:nvGraphicFramePr>
          <p:cNvPr id="9" name="Table 8"/>
          <p:cNvGraphicFramePr>
            <a:graphicFrameLocks noGrp="1"/>
          </p:cNvGraphicFramePr>
          <p:nvPr/>
        </p:nvGraphicFramePr>
        <p:xfrm>
          <a:off x="566928" y="1481328"/>
          <a:ext cx="11057837" cy="4846318"/>
        </p:xfrm>
        <a:graphic>
          <a:graphicData uri="http://schemas.openxmlformats.org/drawingml/2006/table">
            <a:tbl>
              <a:tblPr firstRow="1">
                <a:tableStyleId>{5C22544A-7EE6-4342-B048-85BDC9FD1C3A}</a:tableStyleId>
              </a:tblPr>
              <a:tblGrid>
                <a:gridCol w="3417877"/>
                <a:gridCol w="5428393"/>
                <a:gridCol w="2211567"/>
              </a:tblGrid>
              <a:tr h="347472">
                <a:tc>
                  <a:txBody>
                    <a:bodyPr wrap="square"/>
                    <a:lstStyle/>
                    <a:p>
                      <a:pPr algn="l">
                        <a:lnSpc>
                          <a:spcPct val="100000"/>
                        </a:lnSpc>
                        <a:buNone/>
                      </a:pPr>
                      <a:r>
                        <a:rPr sz="100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Para qué sirve</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¿Obligatorio?</a:t>
                      </a:r>
                    </a:p>
                  </a:txBody>
                  <a:tcPr marL="82296" marR="82296" marT="27432" marB="27432" anchor="ctr">
                    <a:solidFill>
                      <a:srgbClr val="0B2545"/>
                    </a:solidFill>
                  </a:tcPr>
                </a:tc>
              </a:tr>
              <a:tr h="408986">
                <a:tc>
                  <a:txBody>
                    <a:bodyPr wrap="square"/>
                    <a:lstStyle/>
                    <a:p>
                      <a:pPr algn="l">
                        <a:lnSpc>
                          <a:spcPct val="100000"/>
                        </a:lnSpc>
                        <a:buNone/>
                      </a:pPr>
                      <a:r>
                        <a:rPr sz="1000" b="0">
                          <a:solidFill>
                            <a:srgbClr val="1C2430"/>
                          </a:solidFill>
                          <a:latin typeface="Segoe UI"/>
                        </a:rPr>
                        <a:t>Interruptor automático o fusibles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Protección de cortocircuito de la línea de entrada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Contactor de línea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Cortar la potencia manteniendo el control vivo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Muy recomendable</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Filtro de red (EMC)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Cumplir la directiva de compatibilidad electromagnética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 en marcado CE</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Reactancia de línea de CA/CC</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Reducir armónicos y proteger frente a red dura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Recomendable</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Resistencia de regeneración externa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Disipar la energía de frenado cuando la interna no basta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Según cálculo (Módulo 04)</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Cable de potencia de motor apantallado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Alimentar </a:t>
                      </a:r>
                      <a:r>
                        <a:rPr sz="1000" b="0">
                          <a:solidFill>
                            <a:srgbClr val="1C2430"/>
                          </a:solidFill>
                          <a:latin typeface="Consolas"/>
                        </a:rPr>
                        <a:t>U</a:t>
                      </a:r>
                      <a:r>
                        <a:rPr sz="1000" b="0">
                          <a:solidFill>
                            <a:srgbClr val="1C2430"/>
                          </a:solidFill>
                          <a:latin typeface="Segoe UI"/>
                        </a:rPr>
                        <a:t> </a:t>
                      </a:r>
                      <a:r>
                        <a:rPr sz="1000" b="0">
                          <a:solidFill>
                            <a:srgbClr val="1C2430"/>
                          </a:solidFill>
                          <a:latin typeface="Consolas"/>
                        </a:rPr>
                        <a:t>V</a:t>
                      </a:r>
                      <a:r>
                        <a:rPr sz="1000" b="0">
                          <a:solidFill>
                            <a:srgbClr val="1C2430"/>
                          </a:solidFill>
                          <a:latin typeface="Segoe UI"/>
                        </a:rPr>
                        <a:t> </a:t>
                      </a:r>
                      <a:r>
                        <a:rPr sz="1000" b="0">
                          <a:solidFill>
                            <a:srgbClr val="1C2430"/>
                          </a:solidFill>
                          <a:latin typeface="Consolas"/>
                        </a:rPr>
                        <a:t>W</a:t>
                      </a:r>
                      <a:r>
                        <a:rPr sz="1000" b="0">
                          <a:solidFill>
                            <a:srgbClr val="1C2430"/>
                          </a:solidFill>
                          <a:latin typeface="Segoe UI"/>
                        </a:rPr>
                        <a:t> sin radiar interferencias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Sí</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Cable de encoder apantallado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Realimentación por </a:t>
                      </a:r>
                      <a:r>
                        <a:rPr sz="1000" b="0">
                          <a:solidFill>
                            <a:srgbClr val="1C2430"/>
                          </a:solidFill>
                          <a:latin typeface="Consolas"/>
                        </a:rPr>
                        <a:t>CN2</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 y siempre el cable original</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Batería del encoder absoluto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Mantener el contaje multivuelta sin tensión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Sí, si se usa como absoluto</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Fuente de 24 V CC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Alimentar las E/S de </a:t>
                      </a:r>
                      <a:r>
                        <a:rPr sz="1000" b="0">
                          <a:solidFill>
                            <a:srgbClr val="1C2430"/>
                          </a:solidFill>
                          <a:latin typeface="Consolas"/>
                        </a:rPr>
                        <a:t>CN1</a:t>
                      </a:r>
                      <a:r>
                        <a:rPr sz="1000" b="0">
                          <a:solidFill>
                            <a:srgbClr val="1C2430"/>
                          </a:solidFill>
                          <a:latin typeface="Segoe UI"/>
                        </a:rPr>
                        <a:t> y el freno del motor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Sí</a:t>
                      </a:r>
                    </a:p>
                  </a:txBody>
                  <a:tcPr marL="82296" marR="82296" marT="27432" marB="27432" anchor="ctr">
                    <a:solidFill>
                      <a:srgbClr val="FFFFFF"/>
                    </a:solidFill>
                  </a:tcPr>
                </a:tc>
              </a:tr>
              <a:tr h="408986">
                <a:tc>
                  <a:txBody>
                    <a:bodyPr wrap="square"/>
                    <a:lstStyle/>
                    <a:p>
                      <a:pPr algn="l">
                        <a:lnSpc>
                          <a:spcPct val="100000"/>
                        </a:lnSpc>
                        <a:buNone/>
                      </a:pPr>
                      <a:r>
                        <a:rPr sz="1000" b="0">
                          <a:solidFill>
                            <a:srgbClr val="1C2430"/>
                          </a:solidFill>
                          <a:latin typeface="Segoe UI"/>
                        </a:rPr>
                        <a:t>Cable USB y SigmaWin+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Parametrizar, ajustar, diagnosticar y hacer copia de seguridad</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Imprescindible en la práctica</a:t>
                      </a:r>
                    </a:p>
                  </a:txBody>
                  <a:tcPr marL="82296" marR="82296" marT="27432" marB="27432" anchor="ctr">
                    <a:solidFill>
                      <a:srgbClr val="F2F5F8"/>
                    </a:solidFill>
                  </a:tcPr>
                </a:tc>
              </a:tr>
              <a:tr h="408986">
                <a:tc>
                  <a:txBody>
                    <a:bodyPr wrap="square"/>
                    <a:lstStyle/>
                    <a:p>
                      <a:pPr algn="l">
                        <a:lnSpc>
                          <a:spcPct val="100000"/>
                        </a:lnSpc>
                        <a:buNone/>
                      </a:pPr>
                      <a:r>
                        <a:rPr sz="1000" b="0">
                          <a:solidFill>
                            <a:srgbClr val="1C2430"/>
                          </a:solidFill>
                          <a:latin typeface="Segoe UI"/>
                        </a:rPr>
                        <a:t>Operador digital JUSP-OP05A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Parametrizar sin PC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Opcional (el panel frontal ya permite casi todo)</a:t>
                      </a:r>
                    </a:p>
                  </a:txBody>
                  <a:tcPr marL="82296" marR="82296"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03</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El servomotor de 3 kW</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Cómo funciona un motor síncrono de imanes permanentes</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familias SGM7J, SGM7A, SGM7G y SGM7P</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Elegir entre 3.000 rpm y 1.500 rpm para la misma potencia</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Leer el código de modelo del motor</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Encoder absoluto, batería y freno de retención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Combinaciones homologadas motor–SERVOPACK</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3 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funciona un servomotor de imanes permanentes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PMSM: por qué se comporta como se comporta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28</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175" b="1">
                <a:solidFill>
                  <a:srgbClr val="1B5EA8"/>
                </a:solidFill>
                <a:latin typeface="Segoe UI Semibold"/>
              </a:rPr>
              <a:t>Principio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rotor lleva </a:t>
            </a:r>
            <a:r>
              <a:rPr sz="1225" b="1">
                <a:solidFill>
                  <a:srgbClr val="1C2430"/>
                </a:solidFill>
                <a:latin typeface="Segoe UI"/>
              </a:rPr>
              <a:t>imanes permanentes</a:t>
            </a:r>
            <a:r>
              <a:rPr sz="1225" b="1">
                <a:solidFill>
                  <a:srgbClr val="1C2430"/>
                </a:solidFill>
                <a:latin typeface="Segoe UI"/>
              </a:rPr>
              <a:t> de tierras raras; el estátor genera un campo magnético giratorio. El rotor sigue al campo de forma </a:t>
            </a:r>
            <a:r>
              <a:rPr sz="1225" b="1">
                <a:solidFill>
                  <a:srgbClr val="1C2430"/>
                </a:solidFill>
                <a:latin typeface="Segoe UI"/>
              </a:rPr>
              <a:t>síncrona</a:t>
            </a:r>
            <a:r>
              <a:rPr sz="1225" b="1">
                <a:solidFill>
                  <a:srgbClr val="1C2430"/>
                </a:solidFill>
                <a:latin typeface="Segoe UI"/>
              </a:rPr>
              <a:t>: no hay deslizamiento, la velocidad es exactamente la de la frecuencia aplicada.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SERVOPACK conoce en todo momento la posición del rotor gracias al encoder y coloca el campo del estátor </a:t>
            </a:r>
            <a:r>
              <a:rPr sz="1225" b="1">
                <a:solidFill>
                  <a:srgbClr val="1C2430"/>
                </a:solidFill>
                <a:latin typeface="Segoe UI"/>
              </a:rPr>
              <a:t>90° eléctricos adelantado</a:t>
            </a:r>
            <a:r>
              <a:rPr sz="1225" b="1">
                <a:solidFill>
                  <a:srgbClr val="1C2430"/>
                </a:solidFill>
                <a:latin typeface="Segoe UI"/>
              </a:rPr>
              <a:t>, que es la posición de par máximo por amperio.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Consecuencias prácticas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Par proporcional a la corriente</a:t>
            </a:r>
            <a:r>
              <a:rPr sz="1225" b="1">
                <a:solidFill>
                  <a:srgbClr val="1C2430"/>
                </a:solidFill>
                <a:latin typeface="Segoe UI"/>
              </a:rPr>
              <a:t>: </a:t>
            </a:r>
            <a:r>
              <a:rPr sz="1225" b="1">
                <a:solidFill>
                  <a:srgbClr val="1C2430"/>
                </a:solidFill>
                <a:latin typeface="Consolas"/>
              </a:rPr>
              <a:t>T ≈ Kt · I</a:t>
            </a:r>
            <a:r>
              <a:rPr sz="1225" b="1">
                <a:solidFill>
                  <a:srgbClr val="1C2430"/>
                </a:solidFill>
                <a:latin typeface="Segoe UI"/>
              </a:rPr>
              <a:t>. Medir la corriente del motor es medir el par. El monitor </a:t>
            </a:r>
            <a:r>
              <a:rPr sz="1225" b="1">
                <a:solidFill>
                  <a:srgbClr val="1C2430"/>
                </a:solidFill>
                <a:latin typeface="Consolas"/>
              </a:rPr>
              <a:t>Un002</a:t>
            </a:r>
            <a:r>
              <a:rPr sz="1225" b="1">
                <a:solidFill>
                  <a:srgbClr val="1C2430"/>
                </a:solidFill>
                <a:latin typeface="Segoe UI"/>
              </a:rPr>
              <a:t> muestra el par en % del nominal.</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Par pleno desde 0 rpm</a:t>
            </a:r>
            <a:r>
              <a:rPr sz="1225" b="1">
                <a:solidFill>
                  <a:srgbClr val="1C2430"/>
                </a:solidFill>
                <a:latin typeface="Segoe UI"/>
              </a:rPr>
              <a:t>, de forma continua y sin calentamiento anómalo, porque la refrigeración no depende de la velocidad de giro.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Rotor de baja inercia</a:t>
            </a:r>
            <a:r>
              <a:rPr sz="1225" b="1">
                <a:solidFill>
                  <a:srgbClr val="1C2430"/>
                </a:solidFill>
                <a:latin typeface="Segoe UI"/>
              </a:rPr>
              <a:t> y alta densidad de par: por eso acelera en milisegundos donde un motor asíncrono equivalente tardaría décimas.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Fuerza contraelectromotriz</a:t>
            </a:r>
            <a:r>
              <a:rPr sz="1225" b="1">
                <a:solidFill>
                  <a:srgbClr val="1C2430"/>
                </a:solidFill>
                <a:latin typeface="Segoe UI"/>
              </a:rPr>
              <a:t>: al girar, el motor genera tensión proporcional a la velocidad. Es lo que limita la velocidad máxima y lo que permite la regeneración al frenar.</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Aviso de mantenimiento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Un motor girando sin drive (arrastrado por la máquina) </a:t>
            </a:r>
            <a:r>
              <a:rPr sz="1225" b="1">
                <a:solidFill>
                  <a:srgbClr val="1C2430"/>
                </a:solidFill>
                <a:latin typeface="Segoe UI"/>
              </a:rPr>
              <a:t>genera tensión en sus bornes</a:t>
            </a:r>
            <a:r>
              <a:rPr sz="1225" b="1">
                <a:solidFill>
                  <a:srgbClr val="1C2430"/>
                </a:solidFill>
                <a:latin typeface="Segoe UI"/>
              </a:rPr>
              <a:t>. Trata el conector de potencia como un elemento activo aunque el armario esté sin tensión.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familias de servomotor rotativo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Misma potencia, comportamientos distintos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29</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1593078"/>
                <a:gridCol w="2342762"/>
                <a:gridCol w="2436473"/>
                <a:gridCol w="4685525"/>
              </a:tblGrid>
              <a:tr h="347472">
                <a:tc>
                  <a:txBody>
                    <a:bodyPr wrap="square"/>
                    <a:lstStyle/>
                    <a:p>
                      <a:pPr algn="l">
                        <a:lnSpc>
                          <a:spcPct val="100000"/>
                        </a:lnSpc>
                        <a:buNone/>
                      </a:pPr>
                      <a:r>
                        <a:rPr sz="1050" b="1">
                          <a:solidFill>
                            <a:srgbClr val="FFFFFF"/>
                          </a:solidFill>
                          <a:latin typeface="Segoe UI"/>
                        </a:rPr>
                        <a:t>Familia</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Perfil</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Velocidad nominal / máxima</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Aplicación típica</a:t>
                      </a:r>
                    </a:p>
                  </a:txBody>
                  <a:tcPr marL="82296" marR="82296" marT="27432" marB="27432" anchor="ctr">
                    <a:solidFill>
                      <a:srgbClr val="0B2545"/>
                    </a:solidFill>
                  </a:tcPr>
                </a:tc>
              </a:tr>
              <a:tr h="822960">
                <a:tc>
                  <a:txBody>
                    <a:bodyPr wrap="square"/>
                    <a:lstStyle/>
                    <a:p>
                      <a:pPr algn="l">
                        <a:lnSpc>
                          <a:spcPct val="100000"/>
                        </a:lnSpc>
                        <a:buNone/>
                      </a:pPr>
                      <a:r>
                        <a:rPr sz="1050" b="0">
                          <a:solidFill>
                            <a:srgbClr val="1C2430"/>
                          </a:solidFill>
                          <a:latin typeface="Segoe UI"/>
                        </a:rPr>
                        <a:t>SGM7J</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Inercia media, cuerpo corto</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3.000 / 6.000 rpm</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Uso general en máquina compacta; el más vendido en potencias bajas</a:t>
                      </a:r>
                    </a:p>
                  </a:txBody>
                  <a:tcPr marL="82296" marR="82296" marT="27432" marB="27432" anchor="ctr">
                    <a:solidFill>
                      <a:srgbClr val="FFFFFF"/>
                    </a:solidFill>
                  </a:tcPr>
                </a:tc>
              </a:tr>
              <a:tr h="822960">
                <a:tc>
                  <a:txBody>
                    <a:bodyPr wrap="square"/>
                    <a:lstStyle/>
                    <a:p>
                      <a:pPr algn="l">
                        <a:lnSpc>
                          <a:spcPct val="100000"/>
                        </a:lnSpc>
                        <a:buNone/>
                      </a:pPr>
                      <a:r>
                        <a:rPr sz="1050" b="0">
                          <a:solidFill>
                            <a:srgbClr val="1C2430"/>
                          </a:solidFill>
                          <a:latin typeface="Segoe UI"/>
                        </a:rPr>
                        <a:t>SGM7A</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Inercia baja, cuerpo largo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3.000 / 6.000 rpm</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Alta dinámica: ciclos rápidos con cargas de inercia moderada</a:t>
                      </a:r>
                    </a:p>
                  </a:txBody>
                  <a:tcPr marL="82296" marR="82296" marT="27432" marB="27432" anchor="ctr">
                    <a:solidFill>
                      <a:srgbClr val="F2F5F8"/>
                    </a:solidFill>
                  </a:tcPr>
                </a:tc>
              </a:tr>
              <a:tr h="822960">
                <a:tc>
                  <a:txBody>
                    <a:bodyPr wrap="square"/>
                    <a:lstStyle/>
                    <a:p>
                      <a:pPr algn="l">
                        <a:lnSpc>
                          <a:spcPct val="100000"/>
                        </a:lnSpc>
                        <a:buNone/>
                      </a:pPr>
                      <a:r>
                        <a:rPr sz="1050" b="0">
                          <a:solidFill>
                            <a:srgbClr val="1C2430"/>
                          </a:solidFill>
                          <a:latin typeface="Segoe UI"/>
                        </a:rPr>
                        <a:t>SGM7G</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Inercia media-alta, alto par</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1.500 / 3.000 rpm</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Cargas de gran inercia y alto par: husillos grandes, prensas, ejes de arrastre</a:t>
                      </a:r>
                    </a:p>
                  </a:txBody>
                  <a:tcPr marL="82296" marR="82296" marT="27432" marB="27432" anchor="ctr">
                    <a:solidFill>
                      <a:srgbClr val="FFFFFF"/>
                    </a:solidFill>
                  </a:tcPr>
                </a:tc>
              </a:tr>
              <a:tr h="822960">
                <a:tc>
                  <a:txBody>
                    <a:bodyPr wrap="square"/>
                    <a:lstStyle/>
                    <a:p>
                      <a:pPr algn="l">
                        <a:lnSpc>
                          <a:spcPct val="100000"/>
                        </a:lnSpc>
                        <a:buNone/>
                      </a:pPr>
                      <a:r>
                        <a:rPr sz="1050" b="0">
                          <a:solidFill>
                            <a:srgbClr val="1C2430"/>
                          </a:solidFill>
                          <a:latin typeface="Segoe UI"/>
                        </a:rPr>
                        <a:t>SGM7P</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Inercia media, cuerpo plano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3.000 / 6.000 rpm</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Cuando la longitud del motor es el problema (máquinas estrechas)</a:t>
                      </a:r>
                    </a:p>
                  </a:txBody>
                  <a:tcPr marL="82296" marR="82296" marT="27432" marB="27432" anchor="ctr">
                    <a:solidFill>
                      <a:srgbClr val="F2F5F8"/>
                    </a:solidFill>
                  </a:tcPr>
                </a:tc>
              </a:tr>
              <a:tr h="822960">
                <a:tc>
                  <a:txBody>
                    <a:bodyPr wrap="square"/>
                    <a:lstStyle/>
                    <a:p>
                      <a:pPr algn="l">
                        <a:lnSpc>
                          <a:spcPct val="100000"/>
                        </a:lnSpc>
                        <a:buNone/>
                      </a:pPr>
                      <a:r>
                        <a:rPr sz="1050" b="0">
                          <a:solidFill>
                            <a:srgbClr val="1C2430"/>
                          </a:solidFill>
                          <a:latin typeface="Segoe UI"/>
                        </a:rPr>
                        <a:t>SGM7D / lineales / directos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Par directo y motores lineales</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Variable</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Accionamiento directo sin reductor: mesas rotativas, ejes lineales</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En 3 kW las dos opciones reales son SGM7A-30A (3.000 rpm) y SGM7G-30A (1.500 rpm). La elección no es de potencia, es de par y de inercia.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3 kW a 3.000 rpm o a 1.500 rpm: la decisión clave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Misma potencia, el doble de par o el doble de velocidad</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30</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SGM7A-30A — 3,0 kW a 3.000 rpm</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00" b="1">
                <a:solidFill>
                  <a:srgbClr val="1C2430"/>
                </a:solidFill>
                <a:latin typeface="Segoe UI"/>
              </a:rPr>
              <a:t>Par nominal ≈ </a:t>
            </a:r>
            <a:r>
              <a:rPr sz="1300" b="1">
                <a:solidFill>
                  <a:srgbClr val="1C2430"/>
                </a:solidFill>
                <a:latin typeface="Segoe UI"/>
              </a:rPr>
              <a:t>9,55 N·m</a:t>
            </a:r>
            <a:r>
              <a:rPr sz="1300" b="1">
                <a:solidFill>
                  <a:srgbClr val="1C2430"/>
                </a:solidFill>
                <a:latin typeface="Segoe UI"/>
              </a:rPr>
              <a:t>; par pico ≈ </a:t>
            </a:r>
            <a:r>
              <a:rPr sz="1300" b="1">
                <a:solidFill>
                  <a:srgbClr val="1C2430"/>
                </a:solidFill>
                <a:latin typeface="Segoe UI"/>
              </a:rPr>
              <a:t>28,6 N·m</a:t>
            </a:r>
            <a:r>
              <a:rPr sz="13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00" b="1">
                <a:solidFill>
                  <a:srgbClr val="1C2430"/>
                </a:solidFill>
                <a:latin typeface="Segoe UI"/>
              </a:rPr>
              <a:t>Inercia del rotor </a:t>
            </a:r>
            <a:r>
              <a:rPr sz="1300" b="1">
                <a:solidFill>
                  <a:srgbClr val="1C2430"/>
                </a:solidFill>
                <a:latin typeface="Segoe UI"/>
              </a:rPr>
              <a:t>baja</a:t>
            </a:r>
            <a:r>
              <a:rPr sz="1300" b="1">
                <a:solidFill>
                  <a:srgbClr val="1C2430"/>
                </a:solidFill>
                <a:latin typeface="Segoe UI"/>
              </a:rPr>
              <a:t> → acelera muy rápido y admite relaciones de inercia moderadas.</a:t>
            </a:r>
          </a:p>
          <a:p>
            <a:pPr marL="0" indent="0">
              <a:lnSpc>
                <a:spcPct val="106000"/>
              </a:lnSpc>
              <a:spcBef>
                <a:spcPts val="800"/>
              </a:spcBef>
              <a:spcAft>
                <a:spcPts val="900"/>
              </a:spcAft>
              <a:buNone/>
            </a:pPr>
            <a:r>
              <a:rPr sz="1250" b="1">
                <a:solidFill>
                  <a:srgbClr val="1B5EA8"/>
                </a:solidFill>
                <a:latin typeface="Segoe UI Semibold"/>
              </a:rPr>
              <a:t>Elígelo si…</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El eje debe hacer </a:t>
            </a:r>
            <a:r>
              <a:rPr sz="1150" b="1">
                <a:solidFill>
                  <a:srgbClr val="333F4C"/>
                </a:solidFill>
                <a:latin typeface="Segoe UI"/>
              </a:rPr>
              <a:t>muchos ciclos por minuto</a:t>
            </a:r>
            <a:r>
              <a:rPr sz="1150" b="0">
                <a:solidFill>
                  <a:srgbClr val="333F4C"/>
                </a:solidFill>
                <a:latin typeface="Segoe UI"/>
              </a:rPr>
              <a:t> con recorridos cortos.</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Hay una </a:t>
            </a:r>
            <a:r>
              <a:rPr sz="1150" b="1">
                <a:solidFill>
                  <a:srgbClr val="333F4C"/>
                </a:solidFill>
                <a:latin typeface="Segoe UI"/>
              </a:rPr>
              <a:t>reducción</a:t>
            </a:r>
            <a:r>
              <a:rPr sz="1150" b="0">
                <a:solidFill>
                  <a:srgbClr val="333F4C"/>
                </a:solidFill>
                <a:latin typeface="Segoe UI"/>
              </a:rPr>
              <a:t> que adapta la velocidad a la carga.</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La inercia de la carga es baja o media.</a:t>
            </a:r>
          </a:p>
          <a:p>
            <a:pPr marL="0" indent="0">
              <a:lnSpc>
                <a:spcPct val="106000"/>
              </a:lnSpc>
              <a:spcBef>
                <a:spcPts val="800"/>
              </a:spcBef>
              <a:spcAft>
                <a:spcPts val="900"/>
              </a:spcAft>
              <a:buNone/>
            </a:pPr>
            <a:r>
              <a:rPr sz="1250" b="1">
                <a:solidFill>
                  <a:srgbClr val="1B5EA8"/>
                </a:solidFill>
                <a:latin typeface="Segoe UI Semibold"/>
              </a:rPr>
              <a:t>Cuidado</a:t>
            </a:r>
          </a:p>
          <a:p>
            <a:pPr marL="566928" indent="-201168">
              <a:lnSpc>
                <a:spcPct val="106000"/>
              </a:lnSpc>
              <a:spcAft>
                <a:spcPts val="500"/>
              </a:spcAft>
              <a:buClr>
                <a:srgbClr val="00A9CE"/>
              </a:buClr>
              <a:buSzPct val="90000"/>
              <a:buFont typeface="Arial"/>
              <a:buChar char="▸"/>
            </a:pPr>
            <a:r>
              <a:rPr sz="1150" b="0">
                <a:solidFill>
                  <a:srgbClr val="333F4C"/>
                </a:solidFill>
                <a:latin typeface="Segoe UI"/>
              </a:rPr>
              <a:t>Con carga de gran inercia, la relación J_carga/J_rotor se dispara y la sintonización se vuelve difícil.</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SGM7G-30A — ≈ 2,9 kW a 1.500 rpm</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Par nominal ≈ </a:t>
            </a:r>
            <a:r>
              <a:rPr sz="1225" b="1">
                <a:solidFill>
                  <a:srgbClr val="1C2430"/>
                </a:solidFill>
                <a:latin typeface="Segoe UI"/>
              </a:rPr>
              <a:t>18,6 N·m</a:t>
            </a:r>
            <a:r>
              <a:rPr sz="1225" b="1">
                <a:solidFill>
                  <a:srgbClr val="1C2430"/>
                </a:solidFill>
                <a:latin typeface="Segoe UI"/>
              </a:rPr>
              <a:t>; par pico ≈ </a:t>
            </a:r>
            <a:r>
              <a:rPr sz="1225" b="1">
                <a:solidFill>
                  <a:srgbClr val="1C2430"/>
                </a:solidFill>
                <a:latin typeface="Segoe UI"/>
              </a:rPr>
              <a:t>45-55 N·m</a:t>
            </a:r>
            <a:r>
              <a:rPr sz="1225"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Inercia del rotor </a:t>
            </a:r>
            <a:r>
              <a:rPr sz="1225" b="1">
                <a:solidFill>
                  <a:srgbClr val="1C2430"/>
                </a:solidFill>
                <a:latin typeface="Segoe UI"/>
              </a:rPr>
              <a:t>alta</a:t>
            </a:r>
            <a:r>
              <a:rPr sz="1225" b="1">
                <a:solidFill>
                  <a:srgbClr val="1C2430"/>
                </a:solidFill>
                <a:latin typeface="Segoe UI"/>
              </a:rPr>
              <a:t> → mucho más tolerante a cargas de gran inercia.</a:t>
            </a:r>
          </a:p>
          <a:p>
            <a:pPr marL="0" indent="0">
              <a:lnSpc>
                <a:spcPct val="106000"/>
              </a:lnSpc>
              <a:spcBef>
                <a:spcPts val="800"/>
              </a:spcBef>
              <a:spcAft>
                <a:spcPts val="900"/>
              </a:spcAft>
              <a:buNone/>
            </a:pPr>
            <a:r>
              <a:rPr sz="1175" b="1">
                <a:solidFill>
                  <a:srgbClr val="1B5EA8"/>
                </a:solidFill>
                <a:latin typeface="Segoe UI Semibold"/>
              </a:rPr>
              <a:t>Elígelo si…</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Necesitas </a:t>
            </a:r>
            <a:r>
              <a:rPr sz="1075" b="1">
                <a:solidFill>
                  <a:srgbClr val="333F4C"/>
                </a:solidFill>
                <a:latin typeface="Segoe UI"/>
              </a:rPr>
              <a:t>par</a:t>
            </a:r>
            <a:r>
              <a:rPr sz="1075" b="0">
                <a:solidFill>
                  <a:srgbClr val="333F4C"/>
                </a:solidFill>
                <a:latin typeface="Segoe UI"/>
              </a:rPr>
              <a:t>, no revoluciones: accionamiento directo de husillos, rodillos o ejes pesados.</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Quieres </a:t>
            </a:r>
            <a:r>
              <a:rPr sz="1075" b="1">
                <a:solidFill>
                  <a:srgbClr val="333F4C"/>
                </a:solidFill>
                <a:latin typeface="Segoe UI"/>
              </a:rPr>
              <a:t>evitar el reductor</a:t>
            </a:r>
            <a:r>
              <a:rPr sz="1075" b="0">
                <a:solidFill>
                  <a:srgbClr val="333F4C"/>
                </a:solidFill>
                <a:latin typeface="Segoe UI"/>
              </a:rPr>
              <a:t> y su holgura.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La carga tiene inercia elevada y quieres sintonizar sin dolor.</a:t>
            </a:r>
          </a:p>
          <a:p>
            <a:pPr marL="0" indent="0">
              <a:lnSpc>
                <a:spcPct val="106000"/>
              </a:lnSpc>
              <a:spcBef>
                <a:spcPts val="800"/>
              </a:spcBef>
              <a:spcAft>
                <a:spcPts val="900"/>
              </a:spcAft>
              <a:buNone/>
            </a:pPr>
            <a:r>
              <a:rPr sz="1175" b="1">
                <a:solidFill>
                  <a:srgbClr val="1B5EA8"/>
                </a:solidFill>
                <a:latin typeface="Segoe UI Semibold"/>
              </a:rPr>
              <a:t>Cuidado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La velocidad máxima es la mitad: comprueba que el ciclo cabe en el tiempo disponible.</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Cómo decidir en la práctica</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Calcula primero el par y la velocidad que exige la máquina en el eje del motor (Módulo 04). Después comprueba la relación de inercias: si supera aproximadamente 10:1 con el motor de baja inercia, plantéate el de alta inercia o una reducción mayor.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Código de modelo del servomotor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Ejemplo: SGM7A-30A7A61 (estructura orientativa)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31</a:t>
            </a:r>
          </a:p>
        </p:txBody>
      </p:sp>
      <p:sp>
        <p:nvSpPr>
          <p:cNvPr id="9" name="Rounded Rectangle 8"/>
          <p:cNvSpPr/>
          <p:nvPr/>
        </p:nvSpPr>
        <p:spPr>
          <a:xfrm>
            <a:off x="822960" y="1828800"/>
            <a:ext cx="1600200" cy="960120"/>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SGM7</a:t>
            </a:r>
          </a:p>
        </p:txBody>
      </p:sp>
      <p:sp>
        <p:nvSpPr>
          <p:cNvPr id="10" name="TextBox 9"/>
          <p:cNvSpPr txBox="1"/>
          <p:nvPr/>
        </p:nvSpPr>
        <p:spPr>
          <a:xfrm>
            <a:off x="685800" y="2935224"/>
            <a:ext cx="1874520" cy="237744"/>
          </a:xfrm>
          <a:prstGeom prst="rect">
            <a:avLst/>
          </a:prstGeom>
          <a:noFill/>
        </p:spPr>
        <p:txBody>
          <a:bodyPr wrap="square" lIns="0" rIns="0" tIns="0" bIns="0" anchor="t">
            <a:spAutoFit/>
          </a:bodyPr>
          <a:lstStyle/>
          <a:p>
            <a:pPr algn="ctr">
              <a:lnSpc>
                <a:spcPct val="100000"/>
              </a:lnSpc>
              <a:buNone/>
            </a:pPr>
            <a:r>
              <a:rPr sz="1050" b="1">
                <a:solidFill>
                  <a:srgbClr val="0B2545"/>
                </a:solidFill>
                <a:latin typeface="Segoe UI"/>
              </a:rPr>
              <a:t>Serie Σ-7</a:t>
            </a:r>
          </a:p>
        </p:txBody>
      </p:sp>
      <p:sp>
        <p:nvSpPr>
          <p:cNvPr id="11" name="Rounded Rectangle 10"/>
          <p:cNvSpPr/>
          <p:nvPr/>
        </p:nvSpPr>
        <p:spPr>
          <a:xfrm>
            <a:off x="2551176" y="1828800"/>
            <a:ext cx="1874519" cy="960120"/>
          </a:xfrm>
          <a:prstGeom prst="roundRect">
            <a:avLst>
              <a:gd name="adj" fmla="val 8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12" name="TextBox 11"/>
          <p:cNvSpPr txBox="1"/>
          <p:nvPr/>
        </p:nvSpPr>
        <p:spPr>
          <a:xfrm>
            <a:off x="2414016" y="2935224"/>
            <a:ext cx="2148839" cy="237744"/>
          </a:xfrm>
          <a:prstGeom prst="rect">
            <a:avLst/>
          </a:prstGeom>
          <a:noFill/>
        </p:spPr>
        <p:txBody>
          <a:bodyPr wrap="square" lIns="0" rIns="0" tIns="0" bIns="0" anchor="t">
            <a:spAutoFit/>
          </a:bodyPr>
          <a:lstStyle/>
          <a:p>
            <a:pPr algn="ctr">
              <a:lnSpc>
                <a:spcPct val="100000"/>
              </a:lnSpc>
              <a:buNone/>
            </a:pPr>
            <a:r>
              <a:rPr sz="1050" b="1">
                <a:solidFill>
                  <a:srgbClr val="1B5EA8"/>
                </a:solidFill>
                <a:latin typeface="Segoe UI"/>
              </a:rPr>
              <a:t>Familia</a:t>
            </a:r>
          </a:p>
          <a:p>
            <a:pPr algn="ctr">
              <a:lnSpc>
                <a:spcPct val="100000"/>
              </a:lnSpc>
              <a:buNone/>
            </a:pPr>
            <a:r>
              <a:rPr sz="1050" b="1">
                <a:solidFill>
                  <a:srgbClr val="1B5EA8"/>
                </a:solidFill>
                <a:latin typeface="Segoe UI"/>
              </a:rPr>
              <a:t>A = baja inercia</a:t>
            </a:r>
          </a:p>
          <a:p>
            <a:pPr algn="ctr">
              <a:lnSpc>
                <a:spcPct val="100000"/>
              </a:lnSpc>
              <a:buNone/>
            </a:pPr>
            <a:r>
              <a:rPr sz="1050" b="1">
                <a:solidFill>
                  <a:srgbClr val="1B5EA8"/>
                </a:solidFill>
                <a:latin typeface="Segoe UI"/>
              </a:rPr>
              <a:t>G = alto par</a:t>
            </a:r>
          </a:p>
        </p:txBody>
      </p:sp>
      <p:sp>
        <p:nvSpPr>
          <p:cNvPr id="13" name="Rounded Rectangle 12"/>
          <p:cNvSpPr/>
          <p:nvPr/>
        </p:nvSpPr>
        <p:spPr>
          <a:xfrm>
            <a:off x="4553711" y="1828800"/>
            <a:ext cx="1463040" cy="9601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30</a:t>
            </a:r>
          </a:p>
        </p:txBody>
      </p:sp>
      <p:sp>
        <p:nvSpPr>
          <p:cNvPr id="14" name="TextBox 13"/>
          <p:cNvSpPr txBox="1"/>
          <p:nvPr/>
        </p:nvSpPr>
        <p:spPr>
          <a:xfrm>
            <a:off x="4416551" y="2935224"/>
            <a:ext cx="1737360" cy="237744"/>
          </a:xfrm>
          <a:prstGeom prst="rect">
            <a:avLst/>
          </a:prstGeom>
          <a:noFill/>
        </p:spPr>
        <p:txBody>
          <a:bodyPr wrap="square" lIns="0" rIns="0" tIns="0" bIns="0" anchor="t">
            <a:spAutoFit/>
          </a:bodyPr>
          <a:lstStyle/>
          <a:p>
            <a:pPr algn="ctr">
              <a:lnSpc>
                <a:spcPct val="100000"/>
              </a:lnSpc>
              <a:buNone/>
            </a:pPr>
            <a:r>
              <a:rPr sz="1050" b="1">
                <a:solidFill>
                  <a:srgbClr val="C0392B"/>
                </a:solidFill>
                <a:latin typeface="Segoe UI"/>
              </a:rPr>
              <a:t>Capacidad</a:t>
            </a:r>
          </a:p>
          <a:p>
            <a:pPr algn="ctr">
              <a:lnSpc>
                <a:spcPct val="100000"/>
              </a:lnSpc>
              <a:buNone/>
            </a:pPr>
            <a:r>
              <a:rPr sz="1050" b="1">
                <a:solidFill>
                  <a:srgbClr val="C0392B"/>
                </a:solidFill>
                <a:latin typeface="Segoe UI"/>
              </a:rPr>
              <a:t>30 → 3,0 kW</a:t>
            </a:r>
          </a:p>
        </p:txBody>
      </p:sp>
      <p:sp>
        <p:nvSpPr>
          <p:cNvPr id="15" name="Rounded Rectangle 14"/>
          <p:cNvSpPr/>
          <p:nvPr/>
        </p:nvSpPr>
        <p:spPr>
          <a:xfrm>
            <a:off x="6144767" y="1828800"/>
            <a:ext cx="1234440" cy="960120"/>
          </a:xfrm>
          <a:prstGeom prst="roundRect">
            <a:avLst>
              <a:gd name="adj" fmla="val 8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a:t>
            </a:r>
          </a:p>
        </p:txBody>
      </p:sp>
      <p:sp>
        <p:nvSpPr>
          <p:cNvPr id="16" name="TextBox 15"/>
          <p:cNvSpPr txBox="1"/>
          <p:nvPr/>
        </p:nvSpPr>
        <p:spPr>
          <a:xfrm>
            <a:off x="6007607" y="2935224"/>
            <a:ext cx="1508760" cy="237744"/>
          </a:xfrm>
          <a:prstGeom prst="rect">
            <a:avLst/>
          </a:prstGeom>
          <a:noFill/>
        </p:spPr>
        <p:txBody>
          <a:bodyPr wrap="square" lIns="0" rIns="0" tIns="0" bIns="0" anchor="t">
            <a:spAutoFit/>
          </a:bodyPr>
          <a:lstStyle/>
          <a:p>
            <a:pPr algn="ctr">
              <a:lnSpc>
                <a:spcPct val="100000"/>
              </a:lnSpc>
              <a:buNone/>
            </a:pPr>
            <a:r>
              <a:rPr sz="1050" b="1">
                <a:solidFill>
                  <a:srgbClr val="00A9CE"/>
                </a:solidFill>
                <a:latin typeface="Segoe UI"/>
              </a:rPr>
              <a:t>Tensión</a:t>
            </a:r>
          </a:p>
          <a:p>
            <a:pPr algn="ctr">
              <a:lnSpc>
                <a:spcPct val="100000"/>
              </a:lnSpc>
              <a:buNone/>
            </a:pPr>
            <a:r>
              <a:rPr sz="1050" b="1">
                <a:solidFill>
                  <a:srgbClr val="00A9CE"/>
                </a:solidFill>
                <a:latin typeface="Segoe UI"/>
              </a:rPr>
              <a:t>A = 200 V</a:t>
            </a:r>
          </a:p>
        </p:txBody>
      </p:sp>
      <p:sp>
        <p:nvSpPr>
          <p:cNvPr id="17" name="Rounded Rectangle 16"/>
          <p:cNvSpPr/>
          <p:nvPr/>
        </p:nvSpPr>
        <p:spPr>
          <a:xfrm>
            <a:off x="7507223" y="1828800"/>
            <a:ext cx="1828800" cy="960120"/>
          </a:xfrm>
          <a:prstGeom prst="roundRect">
            <a:avLst>
              <a:gd name="adj" fmla="val 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7</a:t>
            </a:r>
          </a:p>
        </p:txBody>
      </p:sp>
      <p:sp>
        <p:nvSpPr>
          <p:cNvPr id="18" name="TextBox 17"/>
          <p:cNvSpPr txBox="1"/>
          <p:nvPr/>
        </p:nvSpPr>
        <p:spPr>
          <a:xfrm>
            <a:off x="7370063" y="2935224"/>
            <a:ext cx="2103120" cy="237744"/>
          </a:xfrm>
          <a:prstGeom prst="rect">
            <a:avLst/>
          </a:prstGeom>
          <a:noFill/>
        </p:spPr>
        <p:txBody>
          <a:bodyPr wrap="square" lIns="0" rIns="0" tIns="0" bIns="0" anchor="t">
            <a:spAutoFit/>
          </a:bodyPr>
          <a:lstStyle/>
          <a:p>
            <a:pPr algn="ctr">
              <a:lnSpc>
                <a:spcPct val="100000"/>
              </a:lnSpc>
              <a:buNone/>
            </a:pPr>
            <a:r>
              <a:rPr sz="1050" b="1">
                <a:solidFill>
                  <a:srgbClr val="2E8B57"/>
                </a:solidFill>
                <a:latin typeface="Segoe UI"/>
              </a:rPr>
              <a:t>Encoder</a:t>
            </a:r>
          </a:p>
          <a:p>
            <a:pPr algn="ctr">
              <a:lnSpc>
                <a:spcPct val="100000"/>
              </a:lnSpc>
              <a:buNone/>
            </a:pPr>
            <a:r>
              <a:rPr sz="1050" b="1">
                <a:solidFill>
                  <a:srgbClr val="2E8B57"/>
                </a:solidFill>
                <a:latin typeface="Segoe UI"/>
              </a:rPr>
              <a:t>24 bits absoluto</a:t>
            </a:r>
          </a:p>
        </p:txBody>
      </p:sp>
      <p:sp>
        <p:nvSpPr>
          <p:cNvPr id="19" name="Rounded Rectangle 18"/>
          <p:cNvSpPr/>
          <p:nvPr/>
        </p:nvSpPr>
        <p:spPr>
          <a:xfrm>
            <a:off x="9464039" y="1828800"/>
            <a:ext cx="2468880" cy="960120"/>
          </a:xfrm>
          <a:prstGeom prst="roundRect">
            <a:avLst>
              <a:gd name="adj" fmla="val 8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2200" b="1">
                <a:solidFill>
                  <a:srgbClr val="FFFFFF"/>
                </a:solidFill>
                <a:latin typeface="Segoe UI"/>
              </a:rPr>
              <a:t>A61</a:t>
            </a:r>
          </a:p>
        </p:txBody>
      </p:sp>
      <p:sp>
        <p:nvSpPr>
          <p:cNvPr id="20" name="TextBox 19"/>
          <p:cNvSpPr txBox="1"/>
          <p:nvPr/>
        </p:nvSpPr>
        <p:spPr>
          <a:xfrm>
            <a:off x="9326879" y="2935224"/>
            <a:ext cx="2743200" cy="237744"/>
          </a:xfrm>
          <a:prstGeom prst="rect">
            <a:avLst/>
          </a:prstGeom>
          <a:noFill/>
        </p:spPr>
        <p:txBody>
          <a:bodyPr wrap="square" lIns="0" rIns="0" tIns="0" bIns="0" anchor="t">
            <a:spAutoFit/>
          </a:bodyPr>
          <a:lstStyle/>
          <a:p>
            <a:pPr algn="ctr">
              <a:lnSpc>
                <a:spcPct val="100000"/>
              </a:lnSpc>
              <a:buNone/>
            </a:pPr>
            <a:r>
              <a:rPr sz="1050" b="1">
                <a:solidFill>
                  <a:srgbClr val="E89B1F"/>
                </a:solidFill>
                <a:latin typeface="Segoe UI"/>
              </a:rPr>
              <a:t>Diseño, eje,</a:t>
            </a:r>
          </a:p>
          <a:p>
            <a:pPr algn="ctr">
              <a:lnSpc>
                <a:spcPct val="100000"/>
              </a:lnSpc>
              <a:buNone/>
            </a:pPr>
            <a:r>
              <a:rPr sz="1050" b="1">
                <a:solidFill>
                  <a:srgbClr val="E89B1F"/>
                </a:solidFill>
                <a:latin typeface="Segoe UI"/>
              </a:rPr>
              <a:t>freno y opciones</a:t>
            </a:r>
          </a:p>
        </p:txBody>
      </p:sp>
      <p:sp>
        <p:nvSpPr>
          <p:cNvPr id="21" name="Rectangle 20"/>
          <p:cNvSpPr/>
          <p:nvPr/>
        </p:nvSpPr>
        <p:spPr>
          <a:xfrm>
            <a:off x="822960" y="3794760"/>
            <a:ext cx="10561320" cy="96012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22960" y="3794760"/>
            <a:ext cx="68580" cy="9601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97280" y="3931920"/>
            <a:ext cx="1005840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Los tres campos que se olvidan y luego dan problemas</a:t>
            </a:r>
          </a:p>
        </p:txBody>
      </p:sp>
      <p:sp>
        <p:nvSpPr>
          <p:cNvPr id="24" name="TextBox 23"/>
          <p:cNvSpPr txBox="1"/>
          <p:nvPr/>
        </p:nvSpPr>
        <p:spPr>
          <a:xfrm>
            <a:off x="1097280" y="4206240"/>
            <a:ext cx="10058400" cy="45720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1) Freno de retención: un motor con freno y otro sin freno tienen distinta inercia, distinta longitud y distinto cableado.   2) Tipo de eje: recto, con chavetero o con taladro roscado.   3) Tipo de encoder: absoluto o incremental cambia la puesta en marcha completa del eje.</a:t>
            </a:r>
          </a:p>
        </p:txBody>
      </p:sp>
      <p:sp>
        <p:nvSpPr>
          <p:cNvPr id="25" name="Rectangle 24"/>
          <p:cNvSpPr/>
          <p:nvPr/>
        </p:nvSpPr>
        <p:spPr>
          <a:xfrm>
            <a:off x="822960" y="4983480"/>
            <a:ext cx="10561320" cy="109728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51560" y="5138928"/>
            <a:ext cx="1005840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Ejercicio de clase</a:t>
            </a:r>
          </a:p>
        </p:txBody>
      </p:sp>
      <p:sp>
        <p:nvSpPr>
          <p:cNvPr id="27" name="TextBox 26"/>
          <p:cNvSpPr txBox="1"/>
          <p:nvPr/>
        </p:nvSpPr>
        <p:spPr>
          <a:xfrm>
            <a:off x="1051560" y="5440680"/>
            <a:ext cx="10058400" cy="548640"/>
          </a:xfrm>
          <a:prstGeom prst="rect">
            <a:avLst/>
          </a:prstGeom>
          <a:noFill/>
        </p:spPr>
        <p:txBody>
          <a:bodyPr wrap="square" lIns="0" rIns="0" tIns="0" bIns="0" anchor="t">
            <a:spAutoFit/>
          </a:bodyPr>
          <a:lstStyle/>
          <a:p>
            <a:pPr algn="l">
              <a:lnSpc>
                <a:spcPct val="110000"/>
              </a:lnSpc>
              <a:buNone/>
            </a:pPr>
            <a:r>
              <a:rPr sz="1150" b="0">
                <a:solidFill>
                  <a:srgbClr val="5A6B7B"/>
                </a:solidFill>
                <a:latin typeface="Segoe UI"/>
              </a:rPr>
              <a:t>Fotografía la placa del motor de tu máquina y decodifica: familia, capacidad, tensión, tipo de encoder y si lleva freno. Después busca en el catálogo la combinación de SERVOPACK homologada y comprueba que coincide con la instalada.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del motor de ejemplo: SGM7A-30A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Los datos que realmente se usan en el cálculo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32</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3015774"/>
                <a:gridCol w="3719454"/>
                <a:gridCol w="4322609"/>
              </a:tblGrid>
              <a:tr h="347472">
                <a:tc>
                  <a:txBody>
                    <a:bodyPr wrap="square"/>
                    <a:lstStyle/>
                    <a:p>
                      <a:pPr algn="l">
                        <a:lnSpc>
                          <a:spcPct val="100000"/>
                        </a:lnSpc>
                        <a:buNone/>
                      </a:pPr>
                      <a:r>
                        <a:rPr sz="1000" b="1">
                          <a:solidFill>
                            <a:srgbClr val="FFFFFF"/>
                          </a:solidFill>
                          <a:latin typeface="Segoe UI"/>
                        </a:rPr>
                        <a:t>Característica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Valor de referencia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Para qué se usa el dato</a:t>
                      </a:r>
                    </a:p>
                  </a:txBody>
                  <a:tcPr marL="82296" marR="82296" marT="27432" marB="27432" anchor="ctr">
                    <a:solidFill>
                      <a:srgbClr val="0B2545"/>
                    </a:solidFill>
                  </a:tcPr>
                </a:tc>
              </a:tr>
              <a:tr h="342900">
                <a:tc>
                  <a:txBody>
                    <a:bodyPr wrap="square"/>
                    <a:lstStyle/>
                    <a:p>
                      <a:pPr algn="l">
                        <a:lnSpc>
                          <a:spcPct val="100000"/>
                        </a:lnSpc>
                        <a:buNone/>
                      </a:pPr>
                      <a:r>
                        <a:rPr sz="1000" b="0">
                          <a:solidFill>
                            <a:srgbClr val="1C2430"/>
                          </a:solidFill>
                          <a:latin typeface="Segoe UI"/>
                        </a:rPr>
                        <a:t>Potencia nominal</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3,0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Debe coincidir con el SERVOPACK</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Par nominal (continuo)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9,55 N·m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Comparar con el par RMS del ciclo</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Par máximo instantáneo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28,6 N·m (≈ 300 %)</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Comparar con el par de aceleración</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Corriente nominal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 18,5 A eficaces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Dimensionar cable de motor y protecciones</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Corriente máxima instantánea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 55 A eficaces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Comprobar la capacidad de pico del drive</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Velocidad nominal / máxima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3.000 / 6.000 rpm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Verificar que el ciclo cabe en el rango</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Inercia del rotor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Orden de 10⁻³ kg·m² (ver catálogo)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Base del cálculo de la relación de inercias</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Encoder</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Serie absoluto de 24 bits, multivuelta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Resolución y necesidad de batería</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Aislamiento / clase térmica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Clase F o superior</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Margen térmico admisible</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Grado de protección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IP67 (excepto salida de eje y conectores)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Idoneidad para entornos húmedos</a:t>
                      </a:r>
                    </a:p>
                  </a:txBody>
                  <a:tcPr marL="82296" marR="82296" marT="27432" marB="27432" anchor="ctr">
                    <a:solidFill>
                      <a:srgbClr val="F2F5F8"/>
                    </a:solidFill>
                  </a:tcPr>
                </a:tc>
              </a:tr>
              <a:tr h="342900">
                <a:tc>
                  <a:txBody>
                    <a:bodyPr wrap="square"/>
                    <a:lstStyle/>
                    <a:p>
                      <a:pPr algn="l">
                        <a:lnSpc>
                          <a:spcPct val="100000"/>
                        </a:lnSpc>
                        <a:buNone/>
                      </a:pPr>
                      <a:r>
                        <a:rPr sz="1000" b="0">
                          <a:solidFill>
                            <a:srgbClr val="1C2430"/>
                          </a:solidFill>
                          <a:latin typeface="Segoe UI"/>
                        </a:rPr>
                        <a:t>Freno de retención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Opcional, 24 V CC</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Obligatorio en ejes verticales</a:t>
                      </a:r>
                    </a:p>
                  </a:txBody>
                  <a:tcPr marL="82296" marR="82296" marT="27432" marB="27432" anchor="ctr">
                    <a:solidFill>
                      <a:srgbClr val="FFFFFF"/>
                    </a:solidFill>
                  </a:tcPr>
                </a:tc>
              </a:tr>
              <a:tr h="342900">
                <a:tc>
                  <a:txBody>
                    <a:bodyPr wrap="square"/>
                    <a:lstStyle/>
                    <a:p>
                      <a:pPr algn="l">
                        <a:lnSpc>
                          <a:spcPct val="100000"/>
                        </a:lnSpc>
                        <a:buNone/>
                      </a:pPr>
                      <a:r>
                        <a:rPr sz="1000" b="0">
                          <a:solidFill>
                            <a:srgbClr val="1C2430"/>
                          </a:solidFill>
                          <a:latin typeface="Segoe UI"/>
                        </a:rPr>
                        <a:t>Vibración / equilibrado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Clase V15 típica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Calidad de acabado en aplicaciones de precisión</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valores exactos (sobre todo la inercia del rotor) dependen de la variante concreta: consúltalos en el catálogo Σ-7 antes de dimensionar.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encoder absoluto de 24 bits y su batería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función que elimina el homing… si la mantienes viva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33</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025" b="1">
                <a:solidFill>
                  <a:srgbClr val="1B5EA8"/>
                </a:solidFill>
                <a:latin typeface="Segoe UI Semibold"/>
              </a:rPr>
              <a:t>Qué aporta</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La máquina </a:t>
            </a:r>
            <a:r>
              <a:rPr sz="1075" b="1">
                <a:solidFill>
                  <a:srgbClr val="1C2430"/>
                </a:solidFill>
                <a:latin typeface="Segoe UI"/>
              </a:rPr>
              <a:t>conoce su posición al arrancar</a:t>
            </a:r>
            <a:r>
              <a:rPr sz="1075" b="1">
                <a:solidFill>
                  <a:srgbClr val="1C2430"/>
                </a:solidFill>
                <a:latin typeface="Segoe UI"/>
              </a:rPr>
              <a:t>: no hay búsqueda de origen, no hay riesgo de colisión en el homing y el arranque tras un corte es inmediato.</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Mantiene la cuenta de </a:t>
            </a:r>
            <a:r>
              <a:rPr sz="1075" b="1">
                <a:solidFill>
                  <a:srgbClr val="1C2430"/>
                </a:solidFill>
                <a:latin typeface="Segoe UI"/>
              </a:rPr>
              <a:t>vueltas completas</a:t>
            </a:r>
            <a:r>
              <a:rPr sz="1075" b="1">
                <a:solidFill>
                  <a:srgbClr val="1C2430"/>
                </a:solidFill>
                <a:latin typeface="Segoe UI"/>
              </a:rPr>
              <a:t> (multivuelta) mediante un contador alimentado por batería cuando el drive está sin tensión.</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25" b="1">
                <a:solidFill>
                  <a:srgbClr val="1B5EA8"/>
                </a:solidFill>
                <a:latin typeface="Segoe UI Semibold"/>
              </a:rPr>
              <a:t>Puesta en servicio</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Tras la primera instalación o tras cambiar la batería con el equipo sin tensión hay que ejecutar el </a:t>
            </a:r>
            <a:r>
              <a:rPr sz="1075" b="1">
                <a:solidFill>
                  <a:srgbClr val="1C2430"/>
                </a:solidFill>
                <a:latin typeface="Segoe UI"/>
              </a:rPr>
              <a:t>setup del encoder absoluto</a:t>
            </a:r>
            <a:r>
              <a:rPr sz="1075" b="1">
                <a:solidFill>
                  <a:srgbClr val="1C2430"/>
                </a:solidFill>
                <a:latin typeface="Segoe UI"/>
              </a:rPr>
              <a:t> (</a:t>
            </a:r>
            <a:r>
              <a:rPr sz="1075" b="1">
                <a:solidFill>
                  <a:srgbClr val="1C2430"/>
                </a:solidFill>
                <a:latin typeface="Consolas"/>
              </a:rPr>
              <a:t>Fn008</a:t>
            </a:r>
            <a:r>
              <a:rPr sz="1075" b="1">
                <a:solidFill>
                  <a:srgbClr val="1C2430"/>
                </a:solidFill>
                <a:latin typeface="Segoe UI"/>
              </a:rPr>
              <a:t>) y volver a establecer el origen de la máquina.</a:t>
            </a:r>
          </a:p>
          <a:p>
            <a:pPr marL="566928" indent="-201168">
              <a:lnSpc>
                <a:spcPct val="106000"/>
              </a:lnSpc>
              <a:spcAft>
                <a:spcPts val="500"/>
              </a:spcAft>
              <a:buClr>
                <a:srgbClr val="00A9CE"/>
              </a:buClr>
              <a:buSzPct val="90000"/>
              <a:buFont typeface="Arial"/>
              <a:buChar char="▸"/>
            </a:pPr>
            <a:r>
              <a:rPr sz="925" b="0">
                <a:solidFill>
                  <a:srgbClr val="333F4C"/>
                </a:solidFill>
                <a:latin typeface="Consolas"/>
              </a:rPr>
              <a:t>Pn205</a:t>
            </a:r>
            <a:r>
              <a:rPr sz="925" b="0">
                <a:solidFill>
                  <a:srgbClr val="333F4C"/>
                </a:solidFill>
                <a:latin typeface="Segoe UI"/>
              </a:rPr>
              <a:t> fija el </a:t>
            </a:r>
            <a:r>
              <a:rPr sz="925" b="1">
                <a:solidFill>
                  <a:srgbClr val="333F4C"/>
                </a:solidFill>
                <a:latin typeface="Segoe UI"/>
              </a:rPr>
              <a:t>límite multivuelta</a:t>
            </a:r>
            <a:r>
              <a:rPr sz="925" b="0">
                <a:solidFill>
                  <a:srgbClr val="333F4C"/>
                </a:solidFill>
                <a:latin typeface="Segoe UI"/>
              </a:rPr>
              <a:t>. En ejes rotativos infinitos hay que configurarlo de acuerdo con la relación de transmisión; si no, aparecen saltos de posición al desbordar el contador.</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25" b="1">
                <a:solidFill>
                  <a:srgbClr val="1B5EA8"/>
                </a:solidFill>
                <a:latin typeface="Segoe UI Semibold"/>
              </a:rPr>
              <a:t>Batería: el punto débil</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Vida típica de unos </a:t>
            </a:r>
            <a:r>
              <a:rPr sz="1075" b="1">
                <a:solidFill>
                  <a:srgbClr val="1C2430"/>
                </a:solidFill>
                <a:latin typeface="Segoe UI"/>
              </a:rPr>
              <a:t>3 años</a:t>
            </a:r>
            <a:r>
              <a:rPr sz="1075" b="1">
                <a:solidFill>
                  <a:srgbClr val="1C2430"/>
                </a:solidFill>
                <a:latin typeface="Segoe UI"/>
              </a:rPr>
              <a:t> según horas sin tensión. Genera aviso </a:t>
            </a:r>
            <a:r>
              <a:rPr sz="1075" b="1">
                <a:solidFill>
                  <a:srgbClr val="1C2430"/>
                </a:solidFill>
                <a:latin typeface="Consolas"/>
              </a:rPr>
              <a:t>A.930</a:t>
            </a:r>
            <a:r>
              <a:rPr sz="1075" b="1">
                <a:solidFill>
                  <a:srgbClr val="1C2430"/>
                </a:solidFill>
                <a:latin typeface="Segoe UI"/>
              </a:rPr>
              <a:t> (batería baja) antes de fallar.</a:t>
            </a:r>
          </a:p>
          <a:p>
            <a:pPr marL="566928" indent="-201168">
              <a:lnSpc>
                <a:spcPct val="106000"/>
              </a:lnSpc>
              <a:spcAft>
                <a:spcPts val="500"/>
              </a:spcAft>
              <a:buClr>
                <a:srgbClr val="00A9CE"/>
              </a:buClr>
              <a:buSzPct val="90000"/>
              <a:buFont typeface="Arial"/>
              <a:buChar char="▸"/>
            </a:pPr>
            <a:r>
              <a:rPr sz="925" b="0">
                <a:solidFill>
                  <a:srgbClr val="333F4C"/>
                </a:solidFill>
                <a:latin typeface="Segoe UI"/>
              </a:rPr>
              <a:t>Sustitúyela </a:t>
            </a:r>
            <a:r>
              <a:rPr sz="925" b="1">
                <a:solidFill>
                  <a:srgbClr val="333F4C"/>
                </a:solidFill>
                <a:latin typeface="Segoe UI"/>
              </a:rPr>
              <a:t>con la alimentación de control conectada</a:t>
            </a:r>
            <a:r>
              <a:rPr sz="925" b="0">
                <a:solidFill>
                  <a:srgbClr val="333F4C"/>
                </a:solidFill>
                <a:latin typeface="Segoe UI"/>
              </a:rPr>
              <a:t>: así no se pierde el contaje y no hay que rehacer el origen.</a:t>
            </a:r>
          </a:p>
          <a:p>
            <a:pPr marL="566928" indent="-201168">
              <a:lnSpc>
                <a:spcPct val="106000"/>
              </a:lnSpc>
              <a:spcAft>
                <a:spcPts val="500"/>
              </a:spcAft>
              <a:buClr>
                <a:srgbClr val="00A9CE"/>
              </a:buClr>
              <a:buSzPct val="90000"/>
              <a:buFont typeface="Arial"/>
              <a:buChar char="▸"/>
            </a:pPr>
            <a:r>
              <a:rPr sz="925" b="0">
                <a:solidFill>
                  <a:srgbClr val="333F4C"/>
                </a:solidFill>
                <a:latin typeface="Segoe UI"/>
              </a:rPr>
              <a:t>Si se agota sin tensión → alarma </a:t>
            </a:r>
            <a:r>
              <a:rPr sz="925" b="0">
                <a:solidFill>
                  <a:srgbClr val="333F4C"/>
                </a:solidFill>
                <a:latin typeface="Consolas"/>
              </a:rPr>
              <a:t>A.810</a:t>
            </a:r>
            <a:r>
              <a:rPr sz="925" b="0">
                <a:solidFill>
                  <a:srgbClr val="333F4C"/>
                </a:solidFill>
                <a:latin typeface="Segoe UI"/>
              </a:rPr>
              <a:t> (fallo de respaldo). Hay que ejecutar </a:t>
            </a:r>
            <a:r>
              <a:rPr sz="925" b="0">
                <a:solidFill>
                  <a:srgbClr val="333F4C"/>
                </a:solidFill>
                <a:latin typeface="Consolas"/>
              </a:rPr>
              <a:t>Fn008</a:t>
            </a:r>
            <a:r>
              <a:rPr sz="925" b="0">
                <a:solidFill>
                  <a:srgbClr val="333F4C"/>
                </a:solidFill>
                <a:latin typeface="Segoe UI"/>
              </a:rPr>
              <a:t> y </a:t>
            </a:r>
            <a:r>
              <a:rPr sz="925" b="1">
                <a:solidFill>
                  <a:srgbClr val="333F4C"/>
                </a:solidFill>
                <a:latin typeface="Segoe UI"/>
              </a:rPr>
              <a:t>rehacer el origen de la máquina</a:t>
            </a:r>
            <a:r>
              <a:rPr sz="925"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925" b="0">
                <a:solidFill>
                  <a:srgbClr val="333F4C"/>
                </a:solidFill>
                <a:latin typeface="Segoe UI"/>
              </a:rPr>
              <a:t>Puede alojarse en el drive (unidad de batería) o en el cable de encoder. </a:t>
            </a:r>
            <a:r>
              <a:rPr sz="925" b="1">
                <a:solidFill>
                  <a:srgbClr val="333F4C"/>
                </a:solidFill>
                <a:latin typeface="Segoe UI"/>
              </a:rPr>
              <a:t>No montes las dos a la vez.</a:t>
            </a:r>
          </a:p>
        </p:txBody>
      </p:sp>
      <p:sp>
        <p:nvSpPr>
          <p:cNvPr id="10" name="Rectangle 9"/>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Plan de mantenimiento recomendado</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Sustitución preventiva de baterías cada 2 años, con la máquina energizada, registrando la fecha en el historial. Y guarda siempre una copia de los parámetros y del valor de origen de cada eje.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freno de retención y su secuencia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No es un freno de servicio: sólo mantiene la carga parada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34</a:t>
            </a:r>
          </a:p>
        </p:txBody>
      </p:sp>
      <p:sp>
        <p:nvSpPr>
          <p:cNvPr id="9" name="TextBox 8"/>
          <p:cNvSpPr txBox="1"/>
          <p:nvPr/>
        </p:nvSpPr>
        <p:spPr>
          <a:xfrm>
            <a:off x="228600" y="2057400"/>
            <a:ext cx="960120" cy="365760"/>
          </a:xfrm>
          <a:prstGeom prst="rect">
            <a:avLst/>
          </a:prstGeom>
          <a:noFill/>
        </p:spPr>
        <p:txBody>
          <a:bodyPr wrap="square" lIns="0" rIns="0" tIns="0" bIns="0" anchor="t">
            <a:spAutoFit/>
          </a:bodyPr>
          <a:lstStyle/>
          <a:p>
            <a:pPr algn="r">
              <a:lnSpc>
                <a:spcPct val="100000"/>
              </a:lnSpc>
              <a:buNone/>
            </a:pPr>
            <a:r>
              <a:rPr sz="950" b="1">
                <a:solidFill>
                  <a:srgbClr val="1B5EA8"/>
                </a:solidFill>
                <a:latin typeface="Segoe UI"/>
              </a:rPr>
              <a:t>Orden /S-ON</a:t>
            </a:r>
          </a:p>
        </p:txBody>
      </p:sp>
      <p:cxnSp>
        <p:nvCxnSpPr>
          <p:cNvPr id="10" name="Connector 9"/>
          <p:cNvCxnSpPr/>
          <p:nvPr/>
        </p:nvCxnSpPr>
        <p:spPr>
          <a:xfrm>
            <a:off x="1280160" y="2441448"/>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2240280" y="2075688"/>
            <a:ext cx="7296912" cy="3657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28600" y="2807208"/>
            <a:ext cx="960120" cy="365760"/>
          </a:xfrm>
          <a:prstGeom prst="rect">
            <a:avLst/>
          </a:prstGeom>
          <a:noFill/>
        </p:spPr>
        <p:txBody>
          <a:bodyPr wrap="square" lIns="0" rIns="0" tIns="0" bIns="0" anchor="t">
            <a:spAutoFit/>
          </a:bodyPr>
          <a:lstStyle/>
          <a:p>
            <a:pPr algn="r">
              <a:lnSpc>
                <a:spcPct val="100000"/>
              </a:lnSpc>
              <a:buNone/>
            </a:pPr>
            <a:r>
              <a:rPr sz="950" b="1">
                <a:solidFill>
                  <a:srgbClr val="00A9CE"/>
                </a:solidFill>
                <a:latin typeface="Segoe UI"/>
              </a:rPr>
              <a:t>Par en el motor</a:t>
            </a:r>
          </a:p>
        </p:txBody>
      </p:sp>
      <p:cxnSp>
        <p:nvCxnSpPr>
          <p:cNvPr id="13" name="Connector 12"/>
          <p:cNvCxnSpPr/>
          <p:nvPr/>
        </p:nvCxnSpPr>
        <p:spPr>
          <a:xfrm>
            <a:off x="1280160" y="3191256"/>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2528316" y="2825496"/>
            <a:ext cx="7392924" cy="36576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8600" y="3557016"/>
            <a:ext cx="960120" cy="365760"/>
          </a:xfrm>
          <a:prstGeom prst="rect">
            <a:avLst/>
          </a:prstGeom>
          <a:noFill/>
        </p:spPr>
        <p:txBody>
          <a:bodyPr wrap="square" lIns="0" rIns="0" tIns="0" bIns="0" anchor="t">
            <a:spAutoFit/>
          </a:bodyPr>
          <a:lstStyle/>
          <a:p>
            <a:pPr algn="r">
              <a:lnSpc>
                <a:spcPct val="100000"/>
              </a:lnSpc>
              <a:buNone/>
            </a:pPr>
            <a:r>
              <a:rPr sz="950" b="1">
                <a:solidFill>
                  <a:srgbClr val="2E8B57"/>
                </a:solidFill>
                <a:latin typeface="Segoe UI"/>
              </a:rPr>
              <a:t>Salida /BK (freno)</a:t>
            </a:r>
          </a:p>
        </p:txBody>
      </p:sp>
      <p:cxnSp>
        <p:nvCxnSpPr>
          <p:cNvPr id="16" name="Connector 15"/>
          <p:cNvCxnSpPr/>
          <p:nvPr/>
        </p:nvCxnSpPr>
        <p:spPr>
          <a:xfrm>
            <a:off x="1280160" y="3941064"/>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3392424" y="3575304"/>
            <a:ext cx="5376672" cy="3657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8600" y="4306824"/>
            <a:ext cx="960120" cy="365760"/>
          </a:xfrm>
          <a:prstGeom prst="rect">
            <a:avLst/>
          </a:prstGeom>
          <a:noFill/>
        </p:spPr>
        <p:txBody>
          <a:bodyPr wrap="square" lIns="0" rIns="0" tIns="0" bIns="0" anchor="t">
            <a:spAutoFit/>
          </a:bodyPr>
          <a:lstStyle/>
          <a:p>
            <a:pPr algn="r">
              <a:lnSpc>
                <a:spcPct val="100000"/>
              </a:lnSpc>
              <a:buNone/>
            </a:pPr>
            <a:r>
              <a:rPr sz="950" b="1">
                <a:solidFill>
                  <a:srgbClr val="E89B1F"/>
                </a:solidFill>
                <a:latin typeface="Segoe UI"/>
              </a:rPr>
              <a:t>Movimiento</a:t>
            </a:r>
          </a:p>
        </p:txBody>
      </p:sp>
      <p:cxnSp>
        <p:nvCxnSpPr>
          <p:cNvPr id="19" name="Connector 18"/>
          <p:cNvCxnSpPr/>
          <p:nvPr/>
        </p:nvCxnSpPr>
        <p:spPr>
          <a:xfrm>
            <a:off x="1280160" y="4690872"/>
            <a:ext cx="9601200" cy="0"/>
          </a:xfrm>
          <a:prstGeom prst="line">
            <a:avLst/>
          </a:prstGeom>
          <a:ln w="12700">
            <a:solidFill>
              <a:srgbClr val="D3DAE2"/>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160520" y="4325112"/>
            <a:ext cx="3840480" cy="3657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21" name="Connector 20"/>
          <p:cNvCxnSpPr/>
          <p:nvPr/>
        </p:nvCxnSpPr>
        <p:spPr>
          <a:xfrm>
            <a:off x="2240280" y="1874519"/>
            <a:ext cx="0" cy="3200401"/>
          </a:xfrm>
          <a:prstGeom prst="line">
            <a:avLst/>
          </a:prstGeom>
          <a:ln w="12700">
            <a:solidFill>
              <a:srgbClr val="0B2545"/>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37160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0B2545"/>
                </a:solidFill>
                <a:latin typeface="Segoe UI"/>
              </a:rPr>
              <a:t>1  Servo ON</a:t>
            </a:r>
          </a:p>
        </p:txBody>
      </p:sp>
      <p:cxnSp>
        <p:nvCxnSpPr>
          <p:cNvPr id="23" name="Connector 22"/>
          <p:cNvCxnSpPr/>
          <p:nvPr/>
        </p:nvCxnSpPr>
        <p:spPr>
          <a:xfrm>
            <a:off x="3392424" y="1874519"/>
            <a:ext cx="0" cy="3200401"/>
          </a:xfrm>
          <a:prstGeom prst="line">
            <a:avLst/>
          </a:prstGeom>
          <a:ln w="12700">
            <a:solidFill>
              <a:srgbClr val="2E8B57"/>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23744" y="5102352"/>
            <a:ext cx="1737360" cy="237744"/>
          </a:xfrm>
          <a:prstGeom prst="rect">
            <a:avLst/>
          </a:prstGeom>
          <a:noFill/>
        </p:spPr>
        <p:txBody>
          <a:bodyPr wrap="square" lIns="0" rIns="0" tIns="0" bIns="0" anchor="t">
            <a:spAutoFit/>
          </a:bodyPr>
          <a:lstStyle/>
          <a:p>
            <a:pPr algn="ctr">
              <a:lnSpc>
                <a:spcPct val="100000"/>
              </a:lnSpc>
              <a:buNone/>
            </a:pPr>
            <a:r>
              <a:rPr sz="900" b="1">
                <a:solidFill>
                  <a:srgbClr val="2E8B57"/>
                </a:solidFill>
                <a:latin typeface="Segoe UI"/>
              </a:rPr>
              <a:t>2  Liberar freno</a:t>
            </a:r>
          </a:p>
        </p:txBody>
      </p:sp>
      <p:cxnSp>
        <p:nvCxnSpPr>
          <p:cNvPr id="25" name="Connector 24"/>
          <p:cNvCxnSpPr/>
          <p:nvPr/>
        </p:nvCxnSpPr>
        <p:spPr>
          <a:xfrm>
            <a:off x="4160520" y="1874519"/>
            <a:ext cx="0" cy="3200401"/>
          </a:xfrm>
          <a:prstGeom prst="line">
            <a:avLst/>
          </a:prstGeom>
          <a:ln w="12700">
            <a:solidFill>
              <a:srgbClr val="E89B1F"/>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9184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E89B1F"/>
                </a:solidFill>
                <a:latin typeface="Segoe UI"/>
              </a:rPr>
              <a:t>3  Mover</a:t>
            </a:r>
          </a:p>
        </p:txBody>
      </p:sp>
      <p:cxnSp>
        <p:nvCxnSpPr>
          <p:cNvPr id="27" name="Connector 26"/>
          <p:cNvCxnSpPr/>
          <p:nvPr/>
        </p:nvCxnSpPr>
        <p:spPr>
          <a:xfrm>
            <a:off x="8001000" y="1874519"/>
            <a:ext cx="0" cy="3200401"/>
          </a:xfrm>
          <a:prstGeom prst="line">
            <a:avLst/>
          </a:prstGeom>
          <a:ln w="12700">
            <a:solidFill>
              <a:srgbClr val="E89B1F"/>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13232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E89B1F"/>
                </a:solidFill>
                <a:latin typeface="Segoe UI"/>
              </a:rPr>
              <a:t>4  Parar</a:t>
            </a:r>
          </a:p>
        </p:txBody>
      </p:sp>
      <p:cxnSp>
        <p:nvCxnSpPr>
          <p:cNvPr id="29" name="Connector 28"/>
          <p:cNvCxnSpPr/>
          <p:nvPr/>
        </p:nvCxnSpPr>
        <p:spPr>
          <a:xfrm>
            <a:off x="8769096" y="1874519"/>
            <a:ext cx="0" cy="3200401"/>
          </a:xfrm>
          <a:prstGeom prst="line">
            <a:avLst/>
          </a:prstGeom>
          <a:ln w="12700">
            <a:solidFill>
              <a:srgbClr val="2E8B57"/>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00416" y="5102352"/>
            <a:ext cx="1737360" cy="237744"/>
          </a:xfrm>
          <a:prstGeom prst="rect">
            <a:avLst/>
          </a:prstGeom>
          <a:noFill/>
        </p:spPr>
        <p:txBody>
          <a:bodyPr wrap="square" lIns="0" rIns="0" tIns="0" bIns="0" anchor="t">
            <a:spAutoFit/>
          </a:bodyPr>
          <a:lstStyle/>
          <a:p>
            <a:pPr algn="ctr">
              <a:lnSpc>
                <a:spcPct val="100000"/>
              </a:lnSpc>
              <a:buNone/>
            </a:pPr>
            <a:r>
              <a:rPr sz="900" b="1">
                <a:solidFill>
                  <a:srgbClr val="2E8B57"/>
                </a:solidFill>
                <a:latin typeface="Segoe UI"/>
              </a:rPr>
              <a:t>5  Aplicar freno</a:t>
            </a:r>
          </a:p>
          <a:p>
            <a:pPr algn="ctr">
              <a:lnSpc>
                <a:spcPct val="100000"/>
              </a:lnSpc>
              <a:buNone/>
            </a:pPr>
            <a:r>
              <a:rPr sz="900" b="1">
                <a:solidFill>
                  <a:srgbClr val="2E8B57"/>
                </a:solidFill>
                <a:latin typeface="Consolas"/>
              </a:rPr>
              <a:t>Pn507</a:t>
            </a:r>
          </a:p>
        </p:txBody>
      </p:sp>
      <p:cxnSp>
        <p:nvCxnSpPr>
          <p:cNvPr id="31" name="Connector 30"/>
          <p:cNvCxnSpPr/>
          <p:nvPr/>
        </p:nvCxnSpPr>
        <p:spPr>
          <a:xfrm>
            <a:off x="9921240" y="1874519"/>
            <a:ext cx="0" cy="3200401"/>
          </a:xfrm>
          <a:prstGeom prst="line">
            <a:avLst/>
          </a:prstGeom>
          <a:ln w="12700">
            <a:solidFill>
              <a:srgbClr val="0B2545"/>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052560" y="5102352"/>
            <a:ext cx="1737360" cy="237744"/>
          </a:xfrm>
          <a:prstGeom prst="rect">
            <a:avLst/>
          </a:prstGeom>
          <a:noFill/>
        </p:spPr>
        <p:txBody>
          <a:bodyPr wrap="square" lIns="0" rIns="0" tIns="0" bIns="0" anchor="t">
            <a:spAutoFit/>
          </a:bodyPr>
          <a:lstStyle/>
          <a:p>
            <a:pPr algn="ctr">
              <a:lnSpc>
                <a:spcPct val="100000"/>
              </a:lnSpc>
              <a:buNone/>
            </a:pPr>
            <a:r>
              <a:rPr sz="900" b="1">
                <a:solidFill>
                  <a:srgbClr val="0B2545"/>
                </a:solidFill>
                <a:latin typeface="Segoe UI"/>
              </a:rPr>
              <a:t>6  Servo OFF</a:t>
            </a:r>
          </a:p>
          <a:p>
            <a:pPr algn="ctr">
              <a:lnSpc>
                <a:spcPct val="100000"/>
              </a:lnSpc>
              <a:buNone/>
            </a:pPr>
            <a:r>
              <a:rPr sz="900" b="1">
                <a:solidFill>
                  <a:srgbClr val="0B2545"/>
                </a:solidFill>
                <a:latin typeface="Consolas"/>
              </a:rPr>
              <a:t>Pn506</a:t>
            </a:r>
            <a:r>
              <a:rPr sz="900" b="1">
                <a:solidFill>
                  <a:srgbClr val="0B2545"/>
                </a:solidFill>
                <a:latin typeface="Segoe UI"/>
              </a:rPr>
              <a:t> / </a:t>
            </a:r>
            <a:r>
              <a:rPr sz="900" b="1">
                <a:solidFill>
                  <a:srgbClr val="0B2545"/>
                </a:solidFill>
                <a:latin typeface="Consolas"/>
              </a:rPr>
              <a:t>Pn508</a:t>
            </a:r>
          </a:p>
        </p:txBody>
      </p:sp>
      <p:sp>
        <p:nvSpPr>
          <p:cNvPr id="33" name="Rectangle 32"/>
          <p:cNvSpPr/>
          <p:nvPr/>
        </p:nvSpPr>
        <p:spPr>
          <a:xfrm>
            <a:off x="566928" y="5468112"/>
            <a:ext cx="11018520" cy="859536"/>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66928" y="5468112"/>
            <a:ext cx="68580" cy="85953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41248" y="5605272"/>
            <a:ext cx="1051560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Errores que cuestan un motor</a:t>
            </a:r>
          </a:p>
        </p:txBody>
      </p:sp>
      <p:sp>
        <p:nvSpPr>
          <p:cNvPr id="36" name="TextBox 35"/>
          <p:cNvSpPr txBox="1"/>
          <p:nvPr/>
        </p:nvSpPr>
        <p:spPr>
          <a:xfrm>
            <a:off x="841248" y="5879592"/>
            <a:ext cx="10515600" cy="356616"/>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Usar el freno para detener el eje en marcha (se quema en semanas) · Alimentar el freno desde la misma fuente que las E/S (la caída de tensión al liberarlo provoca fallos erráticos) · Quitar el par antes de que el freno haya agarrado en un eje vertical (la carga cae).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Conectores, cables y protección del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30 % de las averías de un servo están en los cables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35</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2521963"/>
                <a:gridCol w="4461935"/>
                <a:gridCol w="4073940"/>
              </a:tblGrid>
              <a:tr h="347472">
                <a:tc>
                  <a:txBody>
                    <a:bodyPr wrap="square"/>
                    <a:lstStyle/>
                    <a:p>
                      <a:pPr algn="l">
                        <a:lnSpc>
                          <a:spcPct val="100000"/>
                        </a:lnSpc>
                        <a:buNone/>
                      </a:pPr>
                      <a:r>
                        <a:rPr sz="100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Detalle</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Buena práctica</a:t>
                      </a:r>
                    </a:p>
                  </a:txBody>
                  <a:tcPr marL="82296" marR="82296" marT="27432" marB="27432" anchor="ctr">
                    <a:solidFill>
                      <a:srgbClr val="0B2545"/>
                    </a:solidFill>
                  </a:tcPr>
                </a:tc>
              </a:tr>
              <a:tr h="562356">
                <a:tc>
                  <a:txBody>
                    <a:bodyPr wrap="square"/>
                    <a:lstStyle/>
                    <a:p>
                      <a:pPr algn="l">
                        <a:lnSpc>
                          <a:spcPct val="100000"/>
                        </a:lnSpc>
                        <a:buNone/>
                      </a:pPr>
                      <a:r>
                        <a:rPr sz="1000" b="0">
                          <a:solidFill>
                            <a:srgbClr val="1C2430"/>
                          </a:solidFill>
                          <a:latin typeface="Segoe UI"/>
                        </a:rPr>
                        <a:t>Conector de potencia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Conector redondo tipo militar en tamaños medios y grandes como el de 3 kW</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Orientable: pídelo con el ángulo adecuado al montaje</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Conector de encoder</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Conector independiente con cable apantallado</a:t>
                      </a:r>
                    </a:p>
                  </a:txBody>
                  <a:tcPr marL="82296" marR="82296" marT="27432" marB="27432" anchor="ctr">
                    <a:solidFill>
                      <a:srgbClr val="F2F5F8"/>
                    </a:solidFill>
                  </a:tcPr>
                </a:tc>
                <a:tc>
                  <a:txBody>
                    <a:bodyPr wrap="square"/>
                    <a:lstStyle/>
                    <a:p>
                      <a:pPr algn="l">
                        <a:lnSpc>
                          <a:spcPct val="100000"/>
                        </a:lnSpc>
                        <a:buNone/>
                      </a:pPr>
                      <a:r>
                        <a:rPr sz="1000" b="1">
                          <a:solidFill>
                            <a:srgbClr val="1C2430"/>
                          </a:solidFill>
                          <a:latin typeface="Segoe UI"/>
                        </a:rPr>
                        <a:t>Nunca</a:t>
                      </a:r>
                      <a:r>
                        <a:rPr sz="1000" b="0">
                          <a:solidFill>
                            <a:srgbClr val="1C2430"/>
                          </a:solidFill>
                          <a:latin typeface="Segoe UI"/>
                        </a:rPr>
                        <a:t> compartas canaleta con la potencia</a:t>
                      </a:r>
                    </a:p>
                  </a:txBody>
                  <a:tcPr marL="82296" marR="82296" marT="27432" marB="27432" anchor="ctr">
                    <a:solidFill>
                      <a:srgbClr val="F2F5F8"/>
                    </a:solidFill>
                  </a:tcPr>
                </a:tc>
              </a:tr>
              <a:tr h="562356">
                <a:tc>
                  <a:txBody>
                    <a:bodyPr wrap="square"/>
                    <a:lstStyle/>
                    <a:p>
                      <a:pPr algn="l">
                        <a:lnSpc>
                          <a:spcPct val="100000"/>
                        </a:lnSpc>
                        <a:buNone/>
                      </a:pPr>
                      <a:r>
                        <a:rPr sz="1000" b="0">
                          <a:solidFill>
                            <a:srgbClr val="1C2430"/>
                          </a:solidFill>
                          <a:latin typeface="Segoe UI"/>
                        </a:rPr>
                        <a:t>Conector del freno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Dos hilos, 24 V CC, sin polaridad en muchos modelos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Alimentación exclusiva; no la compartas con las E/S</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Longitud de cable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Hasta 20 m estándar; más con cable especial</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Cables largos aumentan capacidad parásita y ruido</a:t>
                      </a:r>
                    </a:p>
                  </a:txBody>
                  <a:tcPr marL="82296" marR="82296" marT="27432" marB="27432" anchor="ctr">
                    <a:solidFill>
                      <a:srgbClr val="F2F5F8"/>
                    </a:solidFill>
                  </a:tcPr>
                </a:tc>
              </a:tr>
              <a:tr h="562356">
                <a:tc>
                  <a:txBody>
                    <a:bodyPr wrap="square"/>
                    <a:lstStyle/>
                    <a:p>
                      <a:pPr algn="l">
                        <a:lnSpc>
                          <a:spcPct val="100000"/>
                        </a:lnSpc>
                        <a:buNone/>
                      </a:pPr>
                      <a:r>
                        <a:rPr sz="1000" b="0">
                          <a:solidFill>
                            <a:srgbClr val="1C2430"/>
                          </a:solidFill>
                          <a:latin typeface="Segoe UI"/>
                        </a:rPr>
                        <a:t>Apantallamiento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Malla conectada a tierra en </a:t>
                      </a:r>
                      <a:r>
                        <a:rPr sz="1000" b="1">
                          <a:solidFill>
                            <a:srgbClr val="1C2430"/>
                          </a:solidFill>
                          <a:latin typeface="Segoe UI"/>
                        </a:rPr>
                        <a:t>ambos</a:t>
                      </a:r>
                      <a:r>
                        <a:rPr sz="1000" b="0">
                          <a:solidFill>
                            <a:srgbClr val="1C2430"/>
                          </a:solidFill>
                          <a:latin typeface="Segoe UI"/>
                        </a:rPr>
                        <a:t> extremos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Es la medida antirruido más eficaz</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Grado de protección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IP67 en el cuerpo del motor</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La salida de eje y los conectores no son estancos</a:t>
                      </a:r>
                    </a:p>
                  </a:txBody>
                  <a:tcPr marL="82296" marR="82296" marT="27432" marB="27432" anchor="ctr">
                    <a:solidFill>
                      <a:srgbClr val="F2F5F8"/>
                    </a:solidFill>
                  </a:tcPr>
                </a:tc>
              </a:tr>
              <a:tr h="562356">
                <a:tc>
                  <a:txBody>
                    <a:bodyPr wrap="square"/>
                    <a:lstStyle/>
                    <a:p>
                      <a:pPr algn="l">
                        <a:lnSpc>
                          <a:spcPct val="100000"/>
                        </a:lnSpc>
                        <a:buNone/>
                      </a:pPr>
                      <a:r>
                        <a:rPr sz="1000" b="0">
                          <a:solidFill>
                            <a:srgbClr val="1C2430"/>
                          </a:solidFill>
                          <a:latin typeface="Segoe UI"/>
                        </a:rPr>
                        <a:t>Montaje</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Brida normalizada, chavetero opcional</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Verifica cargas radial y axial admisibles</a:t>
                      </a:r>
                    </a:p>
                  </a:txBody>
                  <a:tcPr marL="82296" marR="82296" marT="27432" marB="27432" anchor="ctr">
                    <a:solidFill>
                      <a:srgbClr val="FFFFFF"/>
                    </a:solidFill>
                  </a:tcPr>
                </a:tc>
              </a:tr>
              <a:tr h="562356">
                <a:tc>
                  <a:txBody>
                    <a:bodyPr wrap="square"/>
                    <a:lstStyle/>
                    <a:p>
                      <a:pPr algn="l">
                        <a:lnSpc>
                          <a:spcPct val="100000"/>
                        </a:lnSpc>
                        <a:buNone/>
                      </a:pPr>
                      <a:r>
                        <a:rPr sz="1000" b="0">
                          <a:solidFill>
                            <a:srgbClr val="1C2430"/>
                          </a:solidFill>
                          <a:latin typeface="Segoe UI"/>
                        </a:rPr>
                        <a:t>Sentido de montaje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Conectores hacia abajo si hay riesgo de goteo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Evita el efecto sifón por el cable</a:t>
                      </a:r>
                    </a:p>
                  </a:txBody>
                  <a:tcPr marL="82296" marR="82296" marT="27432" marB="27432" anchor="ctr">
                    <a:solidFill>
                      <a:srgbClr val="F2F5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Combinaciones homologadas motor–SERVOPACK</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No se mezclan piezas: se eligen conjuntos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36</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Por qué existen</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El SERVOPACK guarda internamente los datos del motor: constante de par, resistencia, inductancia, curva térmica y resolución del encoder.</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Al energizar, el drive </a:t>
            </a:r>
            <a:r>
              <a:rPr sz="1350" b="1">
                <a:solidFill>
                  <a:srgbClr val="1C2430"/>
                </a:solidFill>
                <a:latin typeface="Segoe UI"/>
              </a:rPr>
              <a:t>lee el motor a través del encoder</a:t>
            </a:r>
            <a:r>
              <a:rPr sz="1350" b="1">
                <a:solidFill>
                  <a:srgbClr val="1C2430"/>
                </a:solidFill>
                <a:latin typeface="Segoe UI"/>
              </a:rPr>
              <a:t> y comprueba que la combinación es válida.</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Si no lo es, aparece una alarma de combinación no admitida (familia </a:t>
            </a:r>
            <a:r>
              <a:rPr sz="1200" b="0">
                <a:solidFill>
                  <a:srgbClr val="333F4C"/>
                </a:solidFill>
                <a:latin typeface="Consolas"/>
              </a:rPr>
              <a:t>A.05_</a:t>
            </a:r>
            <a:r>
              <a:rPr sz="1200" b="0">
                <a:solidFill>
                  <a:srgbClr val="333F4C"/>
                </a:solidFill>
                <a:latin typeface="Segoe UI"/>
              </a:rPr>
              <a:t>) y el eje no arranca.</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Por eso no se 'parametriza' un motor de otra marca en un SERVOPACK: la Σ-7 sólo trabaja con motores YASKAWA compatibles.</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Consecuencias prácticas</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Compra siempre la pareja</a:t>
            </a:r>
            <a:r>
              <a:rPr sz="1350" b="1">
                <a:solidFill>
                  <a:srgbClr val="1C2430"/>
                </a:solidFill>
                <a:latin typeface="Segoe UI"/>
              </a:rPr>
              <a:t> indicada en el catálogo. Para 3 kW: SGD7S-200A con SGM7A-30A o con SGM7G-30A.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Al sustituir un motor averiado, comprueba que el nuevo tiene el </a:t>
            </a:r>
            <a:r>
              <a:rPr sz="1350" b="1">
                <a:solidFill>
                  <a:srgbClr val="1C2430"/>
                </a:solidFill>
                <a:latin typeface="Segoe UI"/>
              </a:rPr>
              <a:t>mismo código completo</a:t>
            </a:r>
            <a:r>
              <a:rPr sz="1350" b="1">
                <a:solidFill>
                  <a:srgbClr val="1C2430"/>
                </a:solidFill>
                <a:latin typeface="Segoe UI"/>
              </a:rPr>
              <a:t>, incluidos freno y tipo de eje.</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Un motor con freno y otro sin freno </a:t>
            </a:r>
            <a:r>
              <a:rPr sz="1350" b="1">
                <a:solidFill>
                  <a:srgbClr val="1C2430"/>
                </a:solidFill>
                <a:latin typeface="Segoe UI"/>
              </a:rPr>
              <a:t>no son intercambiables</a:t>
            </a:r>
            <a:r>
              <a:rPr sz="1350" b="1">
                <a:solidFill>
                  <a:srgbClr val="1C2430"/>
                </a:solidFill>
                <a:latin typeface="Segoe UI"/>
              </a:rPr>
              <a:t> a efectos de inercia y de secuencia de parada.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Tras cambiar el motor: ejecuta </a:t>
            </a:r>
            <a:r>
              <a:rPr sz="1350" b="1">
                <a:solidFill>
                  <a:srgbClr val="1C2430"/>
                </a:solidFill>
                <a:latin typeface="Consolas"/>
              </a:rPr>
              <a:t>Fn008</a:t>
            </a:r>
            <a:r>
              <a:rPr sz="1350" b="1">
                <a:solidFill>
                  <a:srgbClr val="1C2430"/>
                </a:solidFill>
                <a:latin typeface="Segoe UI"/>
              </a:rPr>
              <a:t> (encoder absoluto), rehaz el origen y </a:t>
            </a:r>
            <a:r>
              <a:rPr sz="1350" b="1">
                <a:solidFill>
                  <a:srgbClr val="1C2430"/>
                </a:solidFill>
                <a:latin typeface="Segoe UI"/>
              </a:rPr>
              <a:t>vuelve a sintonizar</a:t>
            </a:r>
            <a:r>
              <a:rPr sz="1350" b="1">
                <a:solidFill>
                  <a:srgbClr val="1C2430"/>
                </a:solidFill>
                <a:latin typeface="Segoe UI"/>
              </a:rPr>
              <a:t> el eje.</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La sintonización previa puede no ser válida si cambia la inercia del conjunto.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04</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Dimensionamiento y selección</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Los datos de partida que hay que obtener de la máquina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Cálculo de la inercia reflejada al eje del motor</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 relación de inercias y por qué condiciona la sintonización</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Perfil de movimiento, par de aceleración y par eficaz (RMS)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Energía regenerativa y resistencia de frenado</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Ejemplo numérico completo de un eje de 3 kW</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Por qué el dimensionamiento decide el resultado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80 % de los problemas de un eje nacen aquí</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38</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050" b="1">
                <a:solidFill>
                  <a:srgbClr val="1B5EA8"/>
                </a:solidFill>
                <a:latin typeface="Segoe UI Semibold"/>
              </a:rPr>
              <a:t>Lo que ocurre cuando el motor se queda corto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eje </a:t>
            </a:r>
            <a:r>
              <a:rPr sz="1100" b="1">
                <a:solidFill>
                  <a:srgbClr val="1C2430"/>
                </a:solidFill>
                <a:latin typeface="Segoe UI"/>
              </a:rPr>
              <a:t>no alcanza</a:t>
            </a:r>
            <a:r>
              <a:rPr sz="1100" b="1">
                <a:solidFill>
                  <a:srgbClr val="1C2430"/>
                </a:solidFill>
                <a:latin typeface="Segoe UI"/>
              </a:rPr>
              <a:t> la aceleración pedida: el ciclo se alarga y la producción no llega al objetivo.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Aparecen alarmas de </a:t>
            </a:r>
            <a:r>
              <a:rPr sz="1100" b="1">
                <a:solidFill>
                  <a:srgbClr val="1C2430"/>
                </a:solidFill>
                <a:latin typeface="Segoe UI"/>
              </a:rPr>
              <a:t>sobrecarga</a:t>
            </a:r>
            <a:r>
              <a:rPr sz="1100" b="1">
                <a:solidFill>
                  <a:srgbClr val="1C2430"/>
                </a:solidFill>
                <a:latin typeface="Segoe UI"/>
              </a:rPr>
              <a:t> (</a:t>
            </a:r>
            <a:r>
              <a:rPr sz="1100" b="1">
                <a:solidFill>
                  <a:srgbClr val="1C2430"/>
                </a:solidFill>
                <a:latin typeface="Consolas"/>
              </a:rPr>
              <a:t>A.710</a:t>
            </a:r>
            <a:r>
              <a:rPr sz="1100" b="1">
                <a:solidFill>
                  <a:srgbClr val="1C2430"/>
                </a:solidFill>
                <a:latin typeface="Segoe UI"/>
              </a:rPr>
              <a:t> instantánea, </a:t>
            </a:r>
            <a:r>
              <a:rPr sz="1100" b="1">
                <a:solidFill>
                  <a:srgbClr val="1C2430"/>
                </a:solidFill>
                <a:latin typeface="Consolas"/>
              </a:rPr>
              <a:t>A.720</a:t>
            </a:r>
            <a:r>
              <a:rPr sz="1100" b="1">
                <a:solidFill>
                  <a:srgbClr val="1C2430"/>
                </a:solidFill>
                <a:latin typeface="Segoe UI"/>
              </a:rPr>
              <a:t> continua) que paran la máquina de forma intermitente e inexplicable para el operario.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Se dispara el </a:t>
            </a:r>
            <a:r>
              <a:rPr sz="1100" b="1">
                <a:solidFill>
                  <a:srgbClr val="1C2430"/>
                </a:solidFill>
                <a:latin typeface="Segoe UI"/>
              </a:rPr>
              <a:t>error de seguimiento</a:t>
            </a:r>
            <a:r>
              <a:rPr sz="1100" b="1">
                <a:solidFill>
                  <a:srgbClr val="1C2430"/>
                </a:solidFill>
                <a:latin typeface="Segoe UI"/>
              </a:rPr>
              <a:t> (</a:t>
            </a:r>
            <a:r>
              <a:rPr sz="1100" b="1">
                <a:solidFill>
                  <a:srgbClr val="1C2430"/>
                </a:solidFill>
                <a:latin typeface="Consolas"/>
              </a:rPr>
              <a:t>A.d00</a:t>
            </a:r>
            <a:r>
              <a:rPr sz="1100" b="1">
                <a:solidFill>
                  <a:srgbClr val="1C2430"/>
                </a:solidFill>
                <a:latin typeface="Segoe UI"/>
              </a:rPr>
              <a:t>) porque el eje no puede seguir la consigna.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50" b="1">
                <a:solidFill>
                  <a:srgbClr val="1B5EA8"/>
                </a:solidFill>
                <a:latin typeface="Segoe UI Semibold"/>
              </a:rPr>
              <a:t>Lo que ocurre cuando el motor está sobredimensionado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Coste innecesario en motor, drive, cable y armario.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Relación de inercias muy baja</a:t>
            </a:r>
            <a:r>
              <a:rPr sz="1100" b="1">
                <a:solidFill>
                  <a:srgbClr val="1C2430"/>
                </a:solidFill>
                <a:latin typeface="Segoe UI"/>
              </a:rPr>
              <a:t>: el sistema es fácil de sintonizar, pero se paga precisión por la resolución relativa y se aumenta el consumo en vacío.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En muchos casos el problema real es que el motor grande no cabe o exige rediseñar la mecánica.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050" b="1">
                <a:solidFill>
                  <a:srgbClr val="1B5EA8"/>
                </a:solidFill>
                <a:latin typeface="Segoe UI Semibold"/>
              </a:rPr>
              <a:t>Lo que ocurre cuando la relación de inercias es mala</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eje </a:t>
            </a:r>
            <a:r>
              <a:rPr sz="1100" b="1">
                <a:solidFill>
                  <a:srgbClr val="1C2430"/>
                </a:solidFill>
                <a:latin typeface="Segoe UI"/>
              </a:rPr>
              <a:t>vibra</a:t>
            </a:r>
            <a:r>
              <a:rPr sz="1100" b="1">
                <a:solidFill>
                  <a:srgbClr val="1C2430"/>
                </a:solidFill>
                <a:latin typeface="Segoe UI"/>
              </a:rPr>
              <a:t> y no hay ajuste de ganancias que lo arregle: se oscila entre 'lento pero estable' y 'rápido pero ruidoso'.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Este caso es el más frustrante porque parece un problema de sintonización y en realidad es un problema de selección.</a:t>
            </a:r>
          </a:p>
        </p:txBody>
      </p:sp>
      <p:sp>
        <p:nvSpPr>
          <p:cNvPr id="10" name="Rectangle 9"/>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Objetivo del módulo</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Aprender a justificar con números, en menos de una hora, que un conjunto SGD7S-200A + motor de 3 kW es (o no es) el adecuado para una máquina concreta.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269" b="1">
                <a:solidFill>
                  <a:srgbClr val="FFFFFF"/>
                </a:solidFill>
                <a:latin typeface="Segoe UI Semibold"/>
              </a:rPr>
              <a:t>Datos de partida: qué hay que averiguar antes de calcular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 estos once datos no se puede dimensionar nada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39</a:t>
            </a:r>
          </a:p>
        </p:txBody>
      </p:sp>
      <p:graphicFrame>
        <p:nvGraphicFramePr>
          <p:cNvPr id="9" name="Table 8"/>
          <p:cNvGraphicFramePr>
            <a:graphicFrameLocks noGrp="1"/>
          </p:cNvGraphicFramePr>
          <p:nvPr/>
        </p:nvGraphicFramePr>
        <p:xfrm>
          <a:off x="566928" y="1481328"/>
          <a:ext cx="11057837" cy="4462264"/>
        </p:xfrm>
        <a:graphic>
          <a:graphicData uri="http://schemas.openxmlformats.org/drawingml/2006/table">
            <a:tbl>
              <a:tblPr firstRow="1">
                <a:tableStyleId>{5C22544A-7EE6-4342-B048-85BDC9FD1C3A}</a:tableStyleId>
              </a:tblPr>
              <a:tblGrid>
                <a:gridCol w="3174009"/>
                <a:gridCol w="1535810"/>
                <a:gridCol w="3993108"/>
                <a:gridCol w="2354910"/>
              </a:tblGrid>
              <a:tr h="347472">
                <a:tc>
                  <a:txBody>
                    <a:bodyPr wrap="square"/>
                    <a:lstStyle/>
                    <a:p>
                      <a:pPr algn="l">
                        <a:lnSpc>
                          <a:spcPct val="100000"/>
                        </a:lnSpc>
                        <a:buNone/>
                      </a:pPr>
                      <a:r>
                        <a:rPr sz="1000" b="1">
                          <a:solidFill>
                            <a:srgbClr val="FFFFFF"/>
                          </a:solidFill>
                          <a:latin typeface="Segoe UI"/>
                        </a:rPr>
                        <a:t>Dato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Símbolo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Cómo obtenerlo</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Ejemplo del curso</a:t>
                      </a:r>
                    </a:p>
                  </a:txBody>
                  <a:tcPr marL="82296" marR="82296" marT="27432" marB="27432" anchor="ctr">
                    <a:solidFill>
                      <a:srgbClr val="0B2545"/>
                    </a:solidFill>
                  </a:tcPr>
                </a:tc>
              </a:tr>
              <a:tr h="374072">
                <a:tc>
                  <a:txBody>
                    <a:bodyPr wrap="square"/>
                    <a:lstStyle/>
                    <a:p>
                      <a:pPr algn="l">
                        <a:lnSpc>
                          <a:spcPct val="100000"/>
                        </a:lnSpc>
                        <a:buNone/>
                      </a:pPr>
                      <a:r>
                        <a:rPr sz="1000" b="0">
                          <a:solidFill>
                            <a:srgbClr val="1C2430"/>
                          </a:solidFill>
                          <a:latin typeface="Segoe UI"/>
                        </a:rPr>
                        <a:t>Masa que se desplaza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 [kg]</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Plano de la máquina o báscula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400 kg</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Recorrido por ciclo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s [m]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Especificación del proceso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0,6 m</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Tiempo de movimiento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t [s]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Objetivo de producción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1,0 s</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Tiempo total de ciclo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T [s]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Cadencia exigida</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2,5 s</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Paso del husillo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 [m/vuelta]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Catálogo del husillo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0,020 m</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Diámetro y longitud del husillo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D, L [m]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Plano mecánico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40 mm × 1,5 m</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Relación de transmisión</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i</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Reductor o polea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1 : 1 (directo)</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Coeficiente de rozamiento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μ</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Tipo de guía (0,003-0,05)</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0,05</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Rendimiento mecánico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η</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Husillo + acoplamiento (0,85-0,95)</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0,90</a:t>
                      </a:r>
                    </a:p>
                  </a:txBody>
                  <a:tcPr marL="82296" marR="82296" marT="27432" marB="27432" anchor="ctr">
                    <a:solidFill>
                      <a:srgbClr val="FFFFFF"/>
                    </a:solidFill>
                  </a:tcPr>
                </a:tc>
              </a:tr>
              <a:tr h="374072">
                <a:tc>
                  <a:txBody>
                    <a:bodyPr wrap="square"/>
                    <a:lstStyle/>
                    <a:p>
                      <a:pPr algn="l">
                        <a:lnSpc>
                          <a:spcPct val="100000"/>
                        </a:lnSpc>
                        <a:buNone/>
                      </a:pPr>
                      <a:r>
                        <a:rPr sz="1000" b="0">
                          <a:solidFill>
                            <a:srgbClr val="1C2430"/>
                          </a:solidFill>
                          <a:latin typeface="Segoe UI"/>
                        </a:rPr>
                        <a:t>Fuerza de proceso</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F_p [N]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Corte, prensado, empuje</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0 (traslado libre)</a:t>
                      </a:r>
                    </a:p>
                  </a:txBody>
                  <a:tcPr marL="82296" marR="82296" marT="27432" marB="27432" anchor="ctr">
                    <a:solidFill>
                      <a:srgbClr val="F2F5F8"/>
                    </a:solidFill>
                  </a:tcPr>
                </a:tc>
              </a:tr>
              <a:tr h="374072">
                <a:tc>
                  <a:txBody>
                    <a:bodyPr wrap="square"/>
                    <a:lstStyle/>
                    <a:p>
                      <a:pPr algn="l">
                        <a:lnSpc>
                          <a:spcPct val="100000"/>
                        </a:lnSpc>
                        <a:buNone/>
                      </a:pPr>
                      <a:r>
                        <a:rPr sz="1000" b="0">
                          <a:solidFill>
                            <a:srgbClr val="1C2430"/>
                          </a:solidFill>
                          <a:latin typeface="Segoe UI"/>
                        </a:rPr>
                        <a:t>Orientación del eje</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Horizontal, vertical o inclinado</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Horizontal</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Si algún dato no se conoce, hay que estimarlo por exceso y dejarlo documentado como hipótesis: el cálculo se revisa cuando se confirme.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1 — Inercia reflejada al eje del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Todo se traduce a kg·m² en el eje del motor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40</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1100" b="1">
                <a:solidFill>
                  <a:srgbClr val="1B5EA8"/>
                </a:solidFill>
                <a:latin typeface="Segoe UI Semibold"/>
              </a:rPr>
              <a:t>La regla fundamental</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El motor sólo 'siente' la inercia </a:t>
            </a:r>
            <a:r>
              <a:rPr sz="1150" b="1">
                <a:solidFill>
                  <a:srgbClr val="1C2430"/>
                </a:solidFill>
                <a:latin typeface="Segoe UI"/>
              </a:rPr>
              <a:t>vista desde su eje</a:t>
            </a:r>
            <a:r>
              <a:rPr sz="1150" b="1">
                <a:solidFill>
                  <a:srgbClr val="1C2430"/>
                </a:solidFill>
                <a:latin typeface="Segoe UI"/>
              </a:rPr>
              <a:t>. Todo lo que hay detrás de una reducción de relación *i* se divide por *i²*.</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00" b="1">
                <a:solidFill>
                  <a:srgbClr val="1B5EA8"/>
                </a:solidFill>
                <a:latin typeface="Segoe UI Semibold"/>
              </a:rPr>
              <a:t>Fórmulas que necesitas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Masa en traslación con husillo</a:t>
            </a:r>
            <a:r>
              <a:rPr sz="1150" b="1">
                <a:solidFill>
                  <a:srgbClr val="1C2430"/>
                </a:solidFill>
                <a:latin typeface="Segoe UI"/>
              </a:rPr>
              <a:t>: </a:t>
            </a:r>
            <a:r>
              <a:rPr sz="1150" b="1">
                <a:solidFill>
                  <a:srgbClr val="1C2430"/>
                </a:solidFill>
                <a:latin typeface="Consolas"/>
              </a:rPr>
              <a:t>J = m · (p / 2π)²</a:t>
            </a:r>
            <a:r>
              <a:rPr sz="1150" b="1">
                <a:solidFill>
                  <a:srgbClr val="1C2430"/>
                </a:solidFill>
                <a:latin typeface="Segoe UI"/>
              </a:rPr>
              <a:t>  [kg·m²], con *p* en m/vuelta.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Cilindro macizo (husillo, rodillo, acoplamiento)</a:t>
            </a:r>
            <a:r>
              <a:rPr sz="1150" b="1">
                <a:solidFill>
                  <a:srgbClr val="1C2430"/>
                </a:solidFill>
                <a:latin typeface="Segoe UI"/>
              </a:rPr>
              <a:t>: </a:t>
            </a:r>
            <a:r>
              <a:rPr sz="1150" b="1">
                <a:solidFill>
                  <a:srgbClr val="1C2430"/>
                </a:solidFill>
                <a:latin typeface="Consolas"/>
              </a:rPr>
              <a:t>J = ½ · m · r²</a:t>
            </a:r>
            <a:r>
              <a:rPr sz="1150" b="1">
                <a:solidFill>
                  <a:srgbClr val="1C2430"/>
                </a:solidFill>
                <a:latin typeface="Segoe UI"/>
              </a:rPr>
              <a:t>, con </a:t>
            </a:r>
            <a:r>
              <a:rPr sz="1150" b="1">
                <a:solidFill>
                  <a:srgbClr val="1C2430"/>
                </a:solidFill>
                <a:latin typeface="Consolas"/>
              </a:rPr>
              <a:t>m = ρ · π · r² · L</a:t>
            </a:r>
            <a:r>
              <a:rPr sz="1150" b="1">
                <a:solidFill>
                  <a:srgbClr val="1C2430"/>
                </a:solidFill>
                <a:latin typeface="Segoe UI"/>
              </a:rPr>
              <a:t> y ρ(acero) = 7.850 kg/m³.</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A través de una reducción i:1</a:t>
            </a:r>
            <a:r>
              <a:rPr sz="1150" b="1">
                <a:solidFill>
                  <a:srgbClr val="1C2430"/>
                </a:solidFill>
                <a:latin typeface="Segoe UI"/>
              </a:rPr>
              <a:t>: </a:t>
            </a:r>
            <a:r>
              <a:rPr sz="1150" b="1">
                <a:solidFill>
                  <a:srgbClr val="1C2430"/>
                </a:solidFill>
                <a:latin typeface="Consolas"/>
              </a:rPr>
              <a:t>J_reflejada = J_carga / i²</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Correa/piñón-cremallera</a:t>
            </a:r>
            <a:r>
              <a:rPr sz="1150" b="1">
                <a:solidFill>
                  <a:srgbClr val="1C2430"/>
                </a:solidFill>
                <a:latin typeface="Segoe UI"/>
              </a:rPr>
              <a:t>: </a:t>
            </a:r>
            <a:r>
              <a:rPr sz="1150" b="1">
                <a:solidFill>
                  <a:srgbClr val="1C2430"/>
                </a:solidFill>
                <a:latin typeface="Consolas"/>
              </a:rPr>
              <a:t>J = m · r²</a:t>
            </a:r>
            <a:r>
              <a:rPr sz="1150" b="1">
                <a:solidFill>
                  <a:srgbClr val="1C2430"/>
                </a:solidFill>
                <a:latin typeface="Segoe UI"/>
              </a:rPr>
              <a:t> con *r* el radio primitivo del piñón motriz.</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00" b="1">
                <a:solidFill>
                  <a:srgbClr val="1B5EA8"/>
                </a:solidFill>
                <a:latin typeface="Segoe UI Semibold"/>
              </a:rPr>
              <a:t>Qué no hay que olvidar</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El </a:t>
            </a:r>
            <a:r>
              <a:rPr sz="1000" b="1">
                <a:solidFill>
                  <a:srgbClr val="333F4C"/>
                </a:solidFill>
                <a:latin typeface="Segoe UI"/>
              </a:rPr>
              <a:t>acoplamiento</a:t>
            </a:r>
            <a:r>
              <a:rPr sz="1000" b="0">
                <a:solidFill>
                  <a:srgbClr val="333F4C"/>
                </a:solidFill>
                <a:latin typeface="Segoe UI"/>
              </a:rPr>
              <a:t> y las poleas: en ejes rápidos pueden ser una parte importante del total.</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El propio </a:t>
            </a:r>
            <a:r>
              <a:rPr sz="1000" b="1">
                <a:solidFill>
                  <a:srgbClr val="333F4C"/>
                </a:solidFill>
                <a:latin typeface="Segoe UI"/>
              </a:rPr>
              <a:t>husillo</a:t>
            </a:r>
            <a:r>
              <a:rPr sz="1000" b="0">
                <a:solidFill>
                  <a:srgbClr val="333F4C"/>
                </a:solidFill>
                <a:latin typeface="Segoe UI"/>
              </a:rPr>
              <a:t>: en husillos largos y gruesos puede superar a la carga.</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El </a:t>
            </a:r>
            <a:r>
              <a:rPr sz="1000" b="1">
                <a:solidFill>
                  <a:srgbClr val="333F4C"/>
                </a:solidFill>
                <a:latin typeface="Segoe UI"/>
              </a:rPr>
              <a:t>freno de retención</a:t>
            </a:r>
            <a:r>
              <a:rPr sz="1000" b="0">
                <a:solidFill>
                  <a:srgbClr val="333F4C"/>
                </a:solidFill>
                <a:latin typeface="Segoe UI"/>
              </a:rPr>
              <a:t>, si el motor lo lleva: suma inercia al rotor.</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La </a:t>
            </a:r>
            <a:r>
              <a:rPr sz="1000" b="1">
                <a:solidFill>
                  <a:srgbClr val="333F4C"/>
                </a:solidFill>
                <a:latin typeface="Segoe UI"/>
              </a:rPr>
              <a:t>carga transportada variable</a:t>
            </a:r>
            <a:r>
              <a:rPr sz="1000" b="0">
                <a:solidFill>
                  <a:srgbClr val="333F4C"/>
                </a:solidFill>
                <a:latin typeface="Segoe UI"/>
              </a:rPr>
              <a:t>: calcula con el caso más desfavorable.</a:t>
            </a:r>
          </a:p>
        </p:txBody>
      </p:sp>
      <p:sp>
        <p:nvSpPr>
          <p:cNvPr id="10" name="Rectangle 9"/>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La reducción es la herramienta más potente que tienes</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Una reducción 3:1 multiplica el par por 3 y divide la inercia reflejada por 9. Es la forma habitual de convertir un eje imposible de sintonizar en uno cómodo… a cambio de holgura, coste y mantenimiento.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2 — La relación de inercias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indicador que predice si el eje va a dar guerra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41</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es y cómo se calcula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Consolas"/>
              </a:rPr>
              <a:t>R = J_carga reflejada / J_rotor del motor</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Es el parámetro que mejor predice si un eje va a ser fácil o difícil de sintonizar.</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SERVOPACK lo necesita: se guarda en </a:t>
            </a:r>
            <a:r>
              <a:rPr sz="1225" b="1">
                <a:solidFill>
                  <a:srgbClr val="1C2430"/>
                </a:solidFill>
                <a:latin typeface="Consolas"/>
              </a:rPr>
              <a:t>Pn103</a:t>
            </a:r>
            <a:r>
              <a:rPr sz="1225" b="1">
                <a:solidFill>
                  <a:srgbClr val="1C2430"/>
                </a:solidFill>
                <a:latin typeface="Segoe UI"/>
              </a:rPr>
              <a:t> (relación de inercias, en %). El autotuning lo estima automáticamente.</a:t>
            </a:r>
          </a:p>
          <a:p>
            <a:pPr marL="566928" indent="-201168">
              <a:lnSpc>
                <a:spcPct val="106000"/>
              </a:lnSpc>
              <a:spcAft>
                <a:spcPts val="500"/>
              </a:spcAft>
              <a:buClr>
                <a:srgbClr val="00A9CE"/>
              </a:buClr>
              <a:buSzPct val="90000"/>
              <a:buFont typeface="Arial"/>
              <a:buChar char="▸"/>
            </a:pPr>
            <a:r>
              <a:rPr sz="1075" b="0">
                <a:solidFill>
                  <a:srgbClr val="333F4C"/>
                </a:solidFill>
                <a:latin typeface="Consolas"/>
              </a:rPr>
              <a:t>Pn103</a:t>
            </a:r>
            <a:r>
              <a:rPr sz="1075" b="0">
                <a:solidFill>
                  <a:srgbClr val="333F4C"/>
                </a:solidFill>
                <a:latin typeface="Segoe UI"/>
              </a:rPr>
              <a:t> = 100 significa que la carga tiene la misma inercia que el rotor (relación 1:1).</a:t>
            </a:r>
          </a:p>
          <a:p>
            <a:pPr marL="0" indent="0">
              <a:lnSpc>
                <a:spcPct val="106000"/>
              </a:lnSpc>
              <a:spcBef>
                <a:spcPts val="800"/>
              </a:spcBef>
              <a:spcAft>
                <a:spcPts val="900"/>
              </a:spcAft>
              <a:buNone/>
            </a:pPr>
            <a:r>
              <a:rPr sz="1175" b="1">
                <a:solidFill>
                  <a:srgbClr val="1B5EA8"/>
                </a:solidFill>
                <a:latin typeface="Segoe UI Semibold"/>
              </a:rPr>
              <a:t>Por qué importa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Con inercia de carga muy superior, la elasticidad del acoplamiento hace que motor y carga oscilen entre sí: aparece </a:t>
            </a:r>
            <a:r>
              <a:rPr sz="1225" b="1">
                <a:solidFill>
                  <a:srgbClr val="1C2430"/>
                </a:solidFill>
                <a:latin typeface="Segoe UI"/>
              </a:rPr>
              <a:t>resonancia</a:t>
            </a:r>
            <a:r>
              <a:rPr sz="1225" b="1">
                <a:solidFill>
                  <a:srgbClr val="1C2430"/>
                </a:solidFill>
                <a:latin typeface="Segoe UI"/>
              </a:rPr>
              <a:t> y el límite de ganancia baja mucho.</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Valores de referencia</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25" b="1">
                <a:solidFill>
                  <a:srgbClr val="1C2430"/>
                </a:solidFill>
                <a:latin typeface="Segoe UI"/>
              </a:rPr>
              <a:t>Hasta 3:1</a:t>
            </a:r>
            <a:r>
              <a:rPr sz="1125" b="1">
                <a:solidFill>
                  <a:srgbClr val="1C2430"/>
                </a:solidFill>
                <a:latin typeface="Segoe UI"/>
              </a:rPr>
              <a:t> — Excelente. Sintonización trivial, dinámica máxima.</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De 3:1 a 10:1</a:t>
            </a:r>
            <a:r>
              <a:rPr sz="1125" b="1">
                <a:solidFill>
                  <a:srgbClr val="1C2430"/>
                </a:solidFill>
                <a:latin typeface="Segoe UI"/>
              </a:rPr>
              <a:t> — Zona normal de trabajo. Se ajusta bien con autotuning.</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De 10:1 a 20:1</a:t>
            </a:r>
            <a:r>
              <a:rPr sz="1125" b="1">
                <a:solidFill>
                  <a:srgbClr val="1C2430"/>
                </a:solidFill>
                <a:latin typeface="Segoe UI"/>
              </a:rPr>
              <a:t> — Exigente. Requiere acoplamiento muy rígido, filtros notch y ajuste manual.</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Más de 20:1</a:t>
            </a:r>
            <a:r>
              <a:rPr sz="1125" b="1">
                <a:solidFill>
                  <a:srgbClr val="1C2430"/>
                </a:solidFill>
                <a:latin typeface="Segoe UI"/>
              </a:rPr>
              <a:t> — Sólo con motores de alta inercia (SGM7G), mecánica muy rígida y expectativas de dinámica moderadas.</a:t>
            </a:r>
          </a:p>
          <a:p>
            <a:pPr marL="0" indent="0">
              <a:lnSpc>
                <a:spcPct val="106000"/>
              </a:lnSpc>
              <a:spcBef>
                <a:spcPts val="800"/>
              </a:spcBef>
              <a:spcAft>
                <a:spcPts val="900"/>
              </a:spcAft>
              <a:buNone/>
            </a:pPr>
            <a:r>
              <a:rPr sz="1075" b="1">
                <a:solidFill>
                  <a:srgbClr val="1B5EA8"/>
                </a:solidFill>
                <a:latin typeface="Segoe UI Semibold"/>
              </a:rPr>
              <a:t>Cómo mejorar una relación mala</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Añadir o aumentar la </a:t>
            </a:r>
            <a:r>
              <a:rPr sz="975" b="1">
                <a:solidFill>
                  <a:srgbClr val="333F4C"/>
                </a:solidFill>
                <a:latin typeface="Segoe UI"/>
              </a:rPr>
              <a:t>reducción</a:t>
            </a:r>
            <a:r>
              <a:rPr sz="975" b="0">
                <a:solidFill>
                  <a:srgbClr val="333F4C"/>
                </a:solidFill>
                <a:latin typeface="Segoe UI"/>
              </a:rPr>
              <a:t> (efecto i²).</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Cambiar a un motor de </a:t>
            </a:r>
            <a:r>
              <a:rPr sz="975" b="1">
                <a:solidFill>
                  <a:srgbClr val="333F4C"/>
                </a:solidFill>
                <a:latin typeface="Segoe UI"/>
              </a:rPr>
              <a:t>mayor inercia de rotor</a:t>
            </a:r>
            <a:r>
              <a:rPr sz="975"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Aumentar la </a:t>
            </a:r>
            <a:r>
              <a:rPr sz="975" b="1">
                <a:solidFill>
                  <a:srgbClr val="333F4C"/>
                </a:solidFill>
                <a:latin typeface="Segoe UI"/>
              </a:rPr>
              <a:t>rigidez</a:t>
            </a:r>
            <a:r>
              <a:rPr sz="975" b="0">
                <a:solidFill>
                  <a:srgbClr val="333F4C"/>
                </a:solidFill>
                <a:latin typeface="Segoe UI"/>
              </a:rPr>
              <a:t> del acoplamiento y de los soportes.</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Reducir la masa desplazada.</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Matiz importante</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Los límites anteriores son orientativos: con una mecánica muy rígida se trabajan bien relaciones de 15:1, y con una mecánica elástica una relación de 5:1 ya puede resonar. La rigidez importa tanto como la relación.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3 — Perfil de movimiento y par requerido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par sigue a la aceleración, no a la velocidad</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42</a:t>
            </a:r>
          </a:p>
        </p:txBody>
      </p:sp>
      <p:cxnSp>
        <p:nvCxnSpPr>
          <p:cNvPr id="9" name="Connector 8"/>
          <p:cNvCxnSpPr/>
          <p:nvPr/>
        </p:nvCxnSpPr>
        <p:spPr>
          <a:xfrm>
            <a:off x="1417320" y="2788920"/>
            <a:ext cx="6537960"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417320" y="1508760"/>
            <a:ext cx="0" cy="128016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37160" y="1234440"/>
            <a:ext cx="2377440" cy="237744"/>
          </a:xfrm>
          <a:prstGeom prst="rect">
            <a:avLst/>
          </a:prstGeom>
          <a:noFill/>
        </p:spPr>
        <p:txBody>
          <a:bodyPr wrap="square" lIns="0" rIns="0" tIns="0" bIns="0" anchor="t">
            <a:spAutoFit/>
          </a:bodyPr>
          <a:lstStyle/>
          <a:p>
            <a:pPr algn="l">
              <a:lnSpc>
                <a:spcPct val="100000"/>
              </a:lnSpc>
              <a:buNone/>
            </a:pPr>
            <a:r>
              <a:rPr sz="1050" b="1">
                <a:solidFill>
                  <a:srgbClr val="1C2430"/>
                </a:solidFill>
                <a:latin typeface="Segoe UI"/>
              </a:rPr>
              <a:t>Velocidad  [rpm]</a:t>
            </a:r>
          </a:p>
        </p:txBody>
      </p:sp>
      <p:sp>
        <p:nvSpPr>
          <p:cNvPr id="12" name="Freeform 11"/>
          <p:cNvSpPr/>
          <p:nvPr/>
        </p:nvSpPr>
        <p:spPr>
          <a:xfrm>
            <a:off x="1417320" y="1737360"/>
            <a:ext cx="3730752" cy="1051560"/>
          </a:xfrm>
          <a:custGeom>
            <a:avLst/>
            <a:gdLst/>
            <a:ahLst/>
            <a:cxnLst/>
            <a:rect l="l" t="t" r="r" b="b"/>
            <a:pathLst>
              <a:path w="3730752" h="1051560">
                <a:moveTo>
                  <a:pt x="0" y="1051560"/>
                </a:moveTo>
                <a:lnTo>
                  <a:pt x="621792" y="0"/>
                </a:lnTo>
                <a:lnTo>
                  <a:pt x="2487168" y="0"/>
                </a:lnTo>
                <a:lnTo>
                  <a:pt x="3730752" y="1051560"/>
                </a:lnTo>
                <a:lnTo>
                  <a:pt x="0" y="1051560"/>
                </a:lnTo>
                <a:close/>
              </a:path>
            </a:pathLst>
          </a:custGeom>
          <a:solidFill>
            <a:srgbClr val="E4EEF7"/>
          </a:solidFill>
          <a:ln w="22225">
            <a:solidFill>
              <a:srgbClr val="1B5E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90472" y="1444752"/>
            <a:ext cx="2011680" cy="237744"/>
          </a:xfrm>
          <a:prstGeom prst="rect">
            <a:avLst/>
          </a:prstGeom>
          <a:noFill/>
        </p:spPr>
        <p:txBody>
          <a:bodyPr wrap="square" lIns="0" rIns="0" tIns="0" bIns="0" anchor="t">
            <a:spAutoFit/>
          </a:bodyPr>
          <a:lstStyle/>
          <a:p>
            <a:pPr algn="l">
              <a:lnSpc>
                <a:spcPct val="100000"/>
              </a:lnSpc>
              <a:buNone/>
            </a:pPr>
            <a:r>
              <a:rPr sz="1000" b="1">
                <a:solidFill>
                  <a:srgbClr val="1B5EA8"/>
                </a:solidFill>
                <a:latin typeface="Segoe UI"/>
              </a:rPr>
              <a:t>2.400 rpm</a:t>
            </a:r>
          </a:p>
        </p:txBody>
      </p:sp>
      <p:cxnSp>
        <p:nvCxnSpPr>
          <p:cNvPr id="14" name="Connector 13"/>
          <p:cNvCxnSpPr/>
          <p:nvPr/>
        </p:nvCxnSpPr>
        <p:spPr>
          <a:xfrm>
            <a:off x="1417320" y="5257800"/>
            <a:ext cx="6537960" cy="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417320" y="4160520"/>
            <a:ext cx="0" cy="1874520"/>
          </a:xfrm>
          <a:prstGeom prst="line">
            <a:avLst/>
          </a:prstGeom>
          <a:ln w="15875">
            <a:solidFill>
              <a:srgbClr val="1C243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7160" y="3886200"/>
            <a:ext cx="2377440" cy="237744"/>
          </a:xfrm>
          <a:prstGeom prst="rect">
            <a:avLst/>
          </a:prstGeom>
          <a:noFill/>
        </p:spPr>
        <p:txBody>
          <a:bodyPr wrap="square" lIns="0" rIns="0" tIns="0" bIns="0" anchor="t">
            <a:spAutoFit/>
          </a:bodyPr>
          <a:lstStyle/>
          <a:p>
            <a:pPr algn="l">
              <a:lnSpc>
                <a:spcPct val="100000"/>
              </a:lnSpc>
              <a:buNone/>
            </a:pPr>
            <a:r>
              <a:rPr sz="1050" b="1">
                <a:solidFill>
                  <a:srgbClr val="1C2430"/>
                </a:solidFill>
                <a:latin typeface="Segoe UI"/>
              </a:rPr>
              <a:t>Par  [N·m]</a:t>
            </a:r>
          </a:p>
        </p:txBody>
      </p:sp>
      <p:sp>
        <p:nvSpPr>
          <p:cNvPr id="17" name="Rectangle 16"/>
          <p:cNvSpPr/>
          <p:nvPr/>
        </p:nvSpPr>
        <p:spPr>
          <a:xfrm>
            <a:off x="1417320" y="4389120"/>
            <a:ext cx="621792" cy="86868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71600" y="4114800"/>
            <a:ext cx="1463040" cy="237744"/>
          </a:xfrm>
          <a:prstGeom prst="rect">
            <a:avLst/>
          </a:prstGeom>
          <a:noFill/>
        </p:spPr>
        <p:txBody>
          <a:bodyPr wrap="square" lIns="0" rIns="0" tIns="0" bIns="0" anchor="t">
            <a:spAutoFit/>
          </a:bodyPr>
          <a:lstStyle/>
          <a:p>
            <a:pPr algn="ctr">
              <a:lnSpc>
                <a:spcPct val="100000"/>
              </a:lnSpc>
              <a:buNone/>
            </a:pPr>
            <a:r>
              <a:rPr sz="950" b="1">
                <a:solidFill>
                  <a:srgbClr val="C0392B"/>
                </a:solidFill>
                <a:latin typeface="Segoe UI"/>
              </a:rPr>
              <a:t>+10,95 N·m</a:t>
            </a:r>
          </a:p>
        </p:txBody>
      </p:sp>
      <p:sp>
        <p:nvSpPr>
          <p:cNvPr id="19" name="Rectangle 18"/>
          <p:cNvSpPr/>
          <p:nvPr/>
        </p:nvSpPr>
        <p:spPr>
          <a:xfrm>
            <a:off x="2039112" y="5111496"/>
            <a:ext cx="1865376" cy="146304"/>
          </a:xfrm>
          <a:prstGeom prst="rect">
            <a:avLst/>
          </a:prstGeom>
          <a:solidFill>
            <a:srgbClr val="2E8B57"/>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9112" y="4818888"/>
            <a:ext cx="1737360" cy="237744"/>
          </a:xfrm>
          <a:prstGeom prst="rect">
            <a:avLst/>
          </a:prstGeom>
          <a:noFill/>
        </p:spPr>
        <p:txBody>
          <a:bodyPr wrap="square" lIns="0" rIns="0" tIns="0" bIns="0" anchor="t">
            <a:spAutoFit/>
          </a:bodyPr>
          <a:lstStyle/>
          <a:p>
            <a:pPr algn="l">
              <a:lnSpc>
                <a:spcPct val="100000"/>
              </a:lnSpc>
              <a:buNone/>
            </a:pPr>
            <a:r>
              <a:rPr sz="950" b="1">
                <a:solidFill>
                  <a:srgbClr val="2E8B57"/>
                </a:solidFill>
                <a:latin typeface="Segoe UI"/>
              </a:rPr>
              <a:t>+1,0 N·m (fricción)</a:t>
            </a:r>
          </a:p>
        </p:txBody>
      </p:sp>
      <p:sp>
        <p:nvSpPr>
          <p:cNvPr id="21" name="Rectangle 20"/>
          <p:cNvSpPr/>
          <p:nvPr/>
        </p:nvSpPr>
        <p:spPr>
          <a:xfrm>
            <a:off x="3904488" y="5257800"/>
            <a:ext cx="1243584" cy="712317"/>
          </a:xfrm>
          <a:prstGeom prst="rect">
            <a:avLst/>
          </a:prstGeom>
          <a:solidFill>
            <a:srgbClr val="E89B1F"/>
          </a:solidFill>
          <a:ln w="12700">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904488" y="6006693"/>
            <a:ext cx="1554480" cy="237744"/>
          </a:xfrm>
          <a:prstGeom prst="rect">
            <a:avLst/>
          </a:prstGeom>
          <a:noFill/>
        </p:spPr>
        <p:txBody>
          <a:bodyPr wrap="square" lIns="0" rIns="0" tIns="0" bIns="0" anchor="t">
            <a:spAutoFit/>
          </a:bodyPr>
          <a:lstStyle/>
          <a:p>
            <a:pPr algn="l">
              <a:lnSpc>
                <a:spcPct val="100000"/>
              </a:lnSpc>
              <a:buNone/>
            </a:pPr>
            <a:r>
              <a:rPr sz="950" b="1">
                <a:solidFill>
                  <a:srgbClr val="E89B1F"/>
                </a:solidFill>
                <a:latin typeface="Segoe UI"/>
              </a:rPr>
              <a:t>−8,96 N·m</a:t>
            </a:r>
          </a:p>
        </p:txBody>
      </p:sp>
      <p:sp>
        <p:nvSpPr>
          <p:cNvPr id="23" name="TextBox 22"/>
          <p:cNvSpPr txBox="1"/>
          <p:nvPr/>
        </p:nvSpPr>
        <p:spPr>
          <a:xfrm>
            <a:off x="5239512" y="4873752"/>
            <a:ext cx="2377440" cy="237744"/>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reposo: par ≈ 0</a:t>
            </a:r>
          </a:p>
        </p:txBody>
      </p:sp>
      <p:cxnSp>
        <p:nvCxnSpPr>
          <p:cNvPr id="24" name="Connector 23"/>
          <p:cNvCxnSpPr/>
          <p:nvPr/>
        </p:nvCxnSpPr>
        <p:spPr>
          <a:xfrm>
            <a:off x="1417320"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14400"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0</a:t>
            </a:r>
          </a:p>
        </p:txBody>
      </p:sp>
      <p:cxnSp>
        <p:nvCxnSpPr>
          <p:cNvPr id="26" name="Connector 25"/>
          <p:cNvCxnSpPr/>
          <p:nvPr/>
        </p:nvCxnSpPr>
        <p:spPr>
          <a:xfrm>
            <a:off x="2039112"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536192"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0,25 s</a:t>
            </a:r>
          </a:p>
        </p:txBody>
      </p:sp>
      <p:cxnSp>
        <p:nvCxnSpPr>
          <p:cNvPr id="28" name="Connector 27"/>
          <p:cNvCxnSpPr/>
          <p:nvPr/>
        </p:nvCxnSpPr>
        <p:spPr>
          <a:xfrm>
            <a:off x="3904488"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401568"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0,75 s</a:t>
            </a:r>
          </a:p>
        </p:txBody>
      </p:sp>
      <p:cxnSp>
        <p:nvCxnSpPr>
          <p:cNvPr id="30" name="Connector 29"/>
          <p:cNvCxnSpPr/>
          <p:nvPr/>
        </p:nvCxnSpPr>
        <p:spPr>
          <a:xfrm>
            <a:off x="5148072"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645152"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1,0 s</a:t>
            </a:r>
          </a:p>
        </p:txBody>
      </p:sp>
      <p:cxnSp>
        <p:nvCxnSpPr>
          <p:cNvPr id="32" name="Connector 31"/>
          <p:cNvCxnSpPr/>
          <p:nvPr/>
        </p:nvCxnSpPr>
        <p:spPr>
          <a:xfrm>
            <a:off x="7955280" y="6007608"/>
            <a:ext cx="0" cy="91440"/>
          </a:xfrm>
          <a:prstGeom prst="line">
            <a:avLst/>
          </a:prstGeom>
          <a:ln w="15875">
            <a:solidFill>
              <a:srgbClr val="5A6B7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52360" y="6117336"/>
            <a:ext cx="1005840" cy="237744"/>
          </a:xfrm>
          <a:prstGeom prst="rect">
            <a:avLst/>
          </a:prstGeom>
          <a:noFill/>
        </p:spPr>
        <p:txBody>
          <a:bodyPr wrap="square" lIns="0" rIns="0" tIns="0" bIns="0" anchor="t">
            <a:spAutoFit/>
          </a:bodyPr>
          <a:lstStyle/>
          <a:p>
            <a:pPr algn="ctr">
              <a:lnSpc>
                <a:spcPct val="100000"/>
              </a:lnSpc>
              <a:buNone/>
            </a:pPr>
            <a:r>
              <a:rPr sz="900" b="0">
                <a:solidFill>
                  <a:srgbClr val="5A6B7B"/>
                </a:solidFill>
                <a:latin typeface="Segoe UI"/>
              </a:rPr>
              <a:t>2,5 s</a:t>
            </a:r>
          </a:p>
        </p:txBody>
      </p:sp>
      <p:sp>
        <p:nvSpPr>
          <p:cNvPr id="34" name="TextBox 33"/>
          <p:cNvSpPr txBox="1"/>
          <p:nvPr/>
        </p:nvSpPr>
        <p:spPr>
          <a:xfrm>
            <a:off x="1417320" y="6373368"/>
            <a:ext cx="6217920" cy="237744"/>
          </a:xfrm>
          <a:prstGeom prst="rect">
            <a:avLst/>
          </a:prstGeom>
          <a:noFill/>
        </p:spPr>
        <p:txBody>
          <a:bodyPr wrap="square" lIns="0" rIns="0" tIns="0" bIns="0" anchor="t">
            <a:spAutoFit/>
          </a:bodyPr>
          <a:lstStyle/>
          <a:p>
            <a:pPr algn="l">
              <a:lnSpc>
                <a:spcPct val="100000"/>
              </a:lnSpc>
              <a:buNone/>
            </a:pPr>
            <a:r>
              <a:rPr sz="1000" b="1">
                <a:solidFill>
                  <a:srgbClr val="1C2430"/>
                </a:solidFill>
                <a:latin typeface="Segoe UI"/>
              </a:rPr>
              <a:t>tiempo →</a:t>
            </a:r>
          </a:p>
        </p:txBody>
      </p:sp>
      <p:sp>
        <p:nvSpPr>
          <p:cNvPr id="35" name="Rectangle 34"/>
          <p:cNvSpPr/>
          <p:nvPr/>
        </p:nvSpPr>
        <p:spPr>
          <a:xfrm>
            <a:off x="8275320" y="1572768"/>
            <a:ext cx="3337560" cy="452628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503920" y="1755648"/>
            <a:ext cx="2880360" cy="320040"/>
          </a:xfrm>
          <a:prstGeom prst="rect">
            <a:avLst/>
          </a:prstGeom>
          <a:noFill/>
        </p:spPr>
        <p:txBody>
          <a:bodyPr wrap="square" lIns="0" rIns="0" tIns="0" bIns="0" anchor="t">
            <a:spAutoFit/>
          </a:bodyPr>
          <a:lstStyle/>
          <a:p>
            <a:pPr algn="l">
              <a:lnSpc>
                <a:spcPct val="100000"/>
              </a:lnSpc>
              <a:buNone/>
            </a:pPr>
            <a:r>
              <a:rPr sz="1400" b="1">
                <a:solidFill>
                  <a:srgbClr val="0B2545"/>
                </a:solidFill>
                <a:latin typeface="Segoe UI"/>
              </a:rPr>
              <a:t>Los cuatro pares</a:t>
            </a:r>
          </a:p>
        </p:txBody>
      </p:sp>
      <p:sp>
        <p:nvSpPr>
          <p:cNvPr id="37" name="TextBox 36"/>
          <p:cNvSpPr txBox="1"/>
          <p:nvPr/>
        </p:nvSpPr>
        <p:spPr>
          <a:xfrm>
            <a:off x="8503920" y="2176272"/>
            <a:ext cx="2880360" cy="3749039"/>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Aceleración</a:t>
            </a:r>
            <a:r>
              <a:rPr sz="1100" b="1">
                <a:solidFill>
                  <a:srgbClr val="1C2430"/>
                </a:solidFill>
                <a:latin typeface="Segoe UI"/>
              </a:rPr>
              <a:t>: </a:t>
            </a:r>
            <a:r>
              <a:rPr sz="1100" b="1">
                <a:solidFill>
                  <a:srgbClr val="1C2430"/>
                </a:solidFill>
                <a:latin typeface="Consolas"/>
              </a:rPr>
              <a:t>T = J_total · α</a:t>
            </a:r>
            <a:r>
              <a:rPr sz="1100" b="1">
                <a:solidFill>
                  <a:srgbClr val="1C2430"/>
                </a:solidFill>
                <a:latin typeface="Segoe UI"/>
              </a:rPr>
              <a:t>  → el más alto del ciclo.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Fricción</a:t>
            </a:r>
            <a:r>
              <a:rPr sz="1100" b="1">
                <a:solidFill>
                  <a:srgbClr val="1C2430"/>
                </a:solidFill>
                <a:latin typeface="Segoe UI"/>
              </a:rPr>
              <a:t>: </a:t>
            </a:r>
            <a:r>
              <a:rPr sz="1100" b="1">
                <a:solidFill>
                  <a:srgbClr val="1C2430"/>
                </a:solidFill>
                <a:latin typeface="Consolas"/>
              </a:rPr>
              <a:t>T = μ·m·g·p / (2π·η)</a:t>
            </a:r>
            <a:r>
              <a:rPr sz="1100" b="1">
                <a:solidFill>
                  <a:srgbClr val="1C2430"/>
                </a:solidFill>
                <a:latin typeface="Segoe UI"/>
              </a:rPr>
              <a:t> → presente siempre que hay movimiento.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Gravedad</a:t>
            </a:r>
            <a:r>
              <a:rPr sz="1100" b="1">
                <a:solidFill>
                  <a:srgbClr val="1C2430"/>
                </a:solidFill>
                <a:latin typeface="Segoe UI"/>
              </a:rPr>
              <a:t> (ejes verticales): </a:t>
            </a:r>
            <a:r>
              <a:rPr sz="1100" b="1">
                <a:solidFill>
                  <a:srgbClr val="1C2430"/>
                </a:solidFill>
                <a:latin typeface="Consolas"/>
              </a:rPr>
              <a:t>T = m·g·p / (2π·η)</a:t>
            </a:r>
            <a:r>
              <a:rPr sz="1100" b="1">
                <a:solidFill>
                  <a:srgbClr val="1C2430"/>
                </a:solidFill>
                <a:latin typeface="Segoe UI"/>
              </a:rPr>
              <a:t> → presente </a:t>
            </a:r>
            <a:r>
              <a:rPr sz="1100" b="1">
                <a:solidFill>
                  <a:srgbClr val="1C2430"/>
                </a:solidFill>
                <a:latin typeface="Segoe UI"/>
              </a:rPr>
              <a:t>también en reposo</a:t>
            </a:r>
            <a:r>
              <a:rPr sz="11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Proceso</a:t>
            </a:r>
            <a:r>
              <a:rPr sz="1100" b="1">
                <a:solidFill>
                  <a:srgbClr val="1C2430"/>
                </a:solidFill>
                <a:latin typeface="Segoe UI"/>
              </a:rPr>
              <a:t>: corte, prensado o empuje, según la fase del ciclo.</a:t>
            </a:r>
          </a:p>
          <a:p>
            <a:pPr>
              <a:lnSpc>
                <a:spcPct val="106000"/>
              </a:lnSpc>
              <a:spcAft>
                <a:spcPts val="900"/>
              </a:spcAft>
              <a:buNone/>
            </a:pPr>
            <a:r>
              <a:rPr sz="600" b="0">
                <a:solidFill>
                  <a:srgbClr val="1C2430"/>
                </a:solidFill>
                <a:latin typeface="Segoe UI"/>
              </a:rPr>
              <a:t> </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El par que hay que comparar con el catálogo es la </a:t>
            </a:r>
            <a:r>
              <a:rPr sz="1100" b="1">
                <a:solidFill>
                  <a:srgbClr val="1C2430"/>
                </a:solidFill>
                <a:latin typeface="Segoe UI"/>
              </a:rPr>
              <a:t>suma</a:t>
            </a:r>
            <a:r>
              <a:rPr sz="1100" b="1">
                <a:solidFill>
                  <a:srgbClr val="1C2430"/>
                </a:solidFill>
                <a:latin typeface="Segoe UI"/>
              </a:rPr>
              <a:t> de los que actúan a la vez.</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Paso 4 — Par eficaz (RMS) y verificación térmica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comprobación que evita las alarmas </a:t>
            </a:r>
            <a:r>
              <a:rPr sz="1250" b="0">
                <a:solidFill>
                  <a:srgbClr val="A9C6E0"/>
                </a:solidFill>
                <a:latin typeface="Consolas"/>
              </a:rPr>
              <a:t>A.720</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43</a:t>
            </a:r>
          </a:p>
        </p:txBody>
      </p:sp>
      <p:sp>
        <p:nvSpPr>
          <p:cNvPr id="9" name="TextBox 8"/>
          <p:cNvSpPr txBox="1"/>
          <p:nvPr/>
        </p:nvSpPr>
        <p:spPr>
          <a:xfrm>
            <a:off x="566928" y="1481328"/>
            <a:ext cx="11057839" cy="4846320"/>
          </a:xfrm>
          <a:prstGeom prst="rect">
            <a:avLst/>
          </a:prstGeom>
          <a:noFill/>
        </p:spPr>
        <p:txBody>
          <a:bodyPr wrap="square" lIns="0" rIns="0" tIns="0" bIns="0">
            <a:spAutoFit/>
          </a:bodyPr>
          <a:lstStyle/>
          <a:p>
            <a:pPr marL="0" indent="0">
              <a:lnSpc>
                <a:spcPct val="106000"/>
              </a:lnSpc>
              <a:spcBef>
                <a:spcPts val="0"/>
              </a:spcBef>
              <a:spcAft>
                <a:spcPts val="900"/>
              </a:spcAft>
              <a:buNone/>
            </a:pPr>
            <a:r>
              <a:rPr sz="1175" b="1">
                <a:solidFill>
                  <a:srgbClr val="1B5EA8"/>
                </a:solidFill>
                <a:latin typeface="Segoe UI Semibold"/>
              </a:rPr>
              <a:t>Por qué el par RMS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motor puede dar un par muy alto durante poco tiempo, pero lo que determina su </a:t>
            </a:r>
            <a:r>
              <a:rPr sz="1225" b="1">
                <a:solidFill>
                  <a:srgbClr val="1C2430"/>
                </a:solidFill>
                <a:latin typeface="Segoe UI"/>
              </a:rPr>
              <a:t>calentamiento</a:t>
            </a:r>
            <a:r>
              <a:rPr sz="1225" b="1">
                <a:solidFill>
                  <a:srgbClr val="1C2430"/>
                </a:solidFill>
                <a:latin typeface="Segoe UI"/>
              </a:rPr>
              <a:t> es el valor eficaz del par a lo largo del ciclo completo, incluidas las paradas.</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Fórmula</a:t>
            </a:r>
          </a:p>
          <a:p>
            <a:pPr marL="274320" indent="-201168">
              <a:lnSpc>
                <a:spcPct val="106000"/>
              </a:lnSpc>
              <a:spcAft>
                <a:spcPts val="900"/>
              </a:spcAft>
              <a:buClr>
                <a:srgbClr val="1B5EA8"/>
              </a:buClr>
              <a:buSzPct val="90000"/>
              <a:buFont typeface="Arial"/>
              <a:buChar char="■"/>
            </a:pPr>
            <a:r>
              <a:rPr sz="1225" b="1">
                <a:solidFill>
                  <a:srgbClr val="1C2430"/>
                </a:solidFill>
                <a:latin typeface="Consolas"/>
              </a:rPr>
              <a:t>T_rms = √[ (T₁²·t₁ + T₂²·t₂ + … + Tₙ²·tₙ) / T_ciclo ]</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Los tiempos de parada </a:t>
            </a:r>
            <a:r>
              <a:rPr sz="1075" b="1">
                <a:solidFill>
                  <a:srgbClr val="333F4C"/>
                </a:solidFill>
                <a:latin typeface="Segoe UI"/>
              </a:rPr>
              <a:t>entran en el denominador</a:t>
            </a:r>
            <a:r>
              <a:rPr sz="1075" b="0">
                <a:solidFill>
                  <a:srgbClr val="333F4C"/>
                </a:solidFill>
                <a:latin typeface="Segoe UI"/>
              </a:rPr>
              <a:t> con par cero: alargar la pausa reduce el par eficaz. Por eso un mismo movimiento puede ser válido a 20 ciclos/min y no serlo a 40.</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Criterios de aceptación</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T_rms ≤ 0,8 × par nominal</a:t>
            </a:r>
            <a:r>
              <a:rPr sz="1225" b="1">
                <a:solidFill>
                  <a:srgbClr val="1C2430"/>
                </a:solidFill>
                <a:latin typeface="Segoe UI"/>
              </a:rPr>
              <a:t> del motor → margen del 20 % para desgaste, suciedad, temperatura ambiente y variación de la carga.</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T_pico ≤ 0,8 × par máximo</a:t>
            </a:r>
            <a:r>
              <a:rPr sz="1225" b="1">
                <a:solidFill>
                  <a:srgbClr val="1C2430"/>
                </a:solidFill>
                <a:latin typeface="Segoe UI"/>
              </a:rPr>
              <a:t> del motor.</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n_máx del ciclo ≤ 0,9 × velocidad máxima</a:t>
            </a:r>
            <a:r>
              <a:rPr sz="1225" b="1">
                <a:solidFill>
                  <a:srgbClr val="1C2430"/>
                </a:solidFill>
                <a:latin typeface="Segoe UI"/>
              </a:rPr>
              <a:t> del motor, y siempre dentro de la curva par-velocidad a la tensión mínima de red.</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1175" b="1">
                <a:solidFill>
                  <a:srgbClr val="1B5EA8"/>
                </a:solidFill>
                <a:latin typeface="Segoe UI Semibold"/>
              </a:rPr>
              <a:t>Correcciones que suelen olvidarse</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Temperatura ambiente elevada dentro del armario o junto a la máquina.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Altitud superior a 1.000 m (menor capacidad de refrigeración).</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Motor con freno o con reductor montado: más inercia y más pérdidas.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Ejemplo completo (1/2) — Datos y cálculo cinemático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Eje horizontal con husillo de bolas, 400 kg, 600 mm en 1 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44</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467451"/>
                <a:gridCol w="5391838"/>
                <a:gridCol w="3198548"/>
              </a:tblGrid>
              <a:tr h="347472">
                <a:tc>
                  <a:txBody>
                    <a:bodyPr wrap="square"/>
                    <a:lstStyle/>
                    <a:p>
                      <a:pPr algn="l">
                        <a:lnSpc>
                          <a:spcPct val="100000"/>
                        </a:lnSpc>
                        <a:buNone/>
                      </a:pPr>
                      <a:r>
                        <a:rPr sz="950" b="1">
                          <a:solidFill>
                            <a:srgbClr val="FFFFFF"/>
                          </a:solidFill>
                          <a:latin typeface="Segoe UI"/>
                        </a:rPr>
                        <a:t>Paso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Cálculo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Resultado</a:t>
                      </a:r>
                    </a:p>
                  </a:txBody>
                  <a:tcPr marL="82296" marR="82296" marT="27432" marB="27432" anchor="ctr">
                    <a:solidFill>
                      <a:srgbClr val="0B2545"/>
                    </a:solidFill>
                  </a:tcPr>
                </a:tc>
              </a:tr>
              <a:tr h="411480">
                <a:tc>
                  <a:txBody>
                    <a:bodyPr wrap="square"/>
                    <a:lstStyle/>
                    <a:p>
                      <a:pPr algn="l">
                        <a:lnSpc>
                          <a:spcPct val="100000"/>
                        </a:lnSpc>
                        <a:buNone/>
                      </a:pPr>
                      <a:r>
                        <a:rPr sz="950" b="0">
                          <a:solidFill>
                            <a:srgbClr val="1C2430"/>
                          </a:solidFill>
                          <a:latin typeface="Segoe UI"/>
                        </a:rPr>
                        <a:t>Perfil de movimiento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Trapezoidal simétrico: t_acel = t_decel = 0,25 s, t_const = 0,5 s, t_mov = 1,0 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Velocidad lineal máxima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 = s / (t_mov − t_acel) = 0,6 / 0,75</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0,8 m/s</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Aceleración lineal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 v / t_acel = 0,8 / 0,25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3,2 m/s²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Velocidad del motor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 = v / p × 60 = 0,8 / 0,020 × 60</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2.400 rpm</a:t>
                      </a:r>
                      <a:r>
                        <a:rPr sz="950" b="0">
                          <a:solidFill>
                            <a:srgbClr val="1C2430"/>
                          </a:solidFill>
                          <a:latin typeface="Segoe UI"/>
                        </a:rPr>
                        <a:t> (&lt; 3.000 ✔)</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Aceleración angular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α = 2π·n/60 / t_acel = 251,3 / 0,25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1.005 rad/s²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Inercia de la masa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J₁ = m·(p/2π)² = 400 × (0,020/6,2832)²</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40,5 × 10⁻⁴ kg·m²</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Inercia del husillo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m_h = ρ·π·r²·L = 14,8 kg → J₂ = ½·m_h·r² = ½ × 14,8 × 0,02²</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29,6 × 10⁻⁴ kg·m²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Acoplamiento (catálogo)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J₃</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2,0 × 10⁻⁴ kg·m²</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Segoe UI"/>
                        </a:rPr>
                        <a:t>Inercia total de carga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J_L = J₁ + J₂ + J₃</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72,1 × 10⁻⁴ kg·m²</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Segoe UI"/>
                        </a:rPr>
                        <a:t>Relación de inercias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 = J_L / J_rotor (≈ 19 × 10⁻⁴ kg·m² para el SGM7A-30A)</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3,8 : 1 ✔ zona cómoda</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inercia del rotor es un valor de catálogo que depende de la variante exacta del motor (con o sin freno): confírmala antes de dar el cálculo por bueno.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269" b="1">
                <a:solidFill>
                  <a:srgbClr val="FFFFFF"/>
                </a:solidFill>
                <a:latin typeface="Segoe UI Semibold"/>
              </a:rPr>
              <a:t>Ejemplo completo (2/2) — Par, verificación y regeneración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Conclusión: el conjunto SGD7S-200A + SGM7A-30A es adecuado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45</a:t>
            </a:r>
          </a:p>
        </p:txBody>
      </p:sp>
      <p:graphicFrame>
        <p:nvGraphicFramePr>
          <p:cNvPr id="9" name="Table 8"/>
          <p:cNvGraphicFramePr>
            <a:graphicFrameLocks noGrp="1"/>
          </p:cNvGraphicFramePr>
          <p:nvPr/>
        </p:nvGraphicFramePr>
        <p:xfrm>
          <a:off x="566928" y="1481328"/>
          <a:ext cx="11057837" cy="4462264"/>
        </p:xfrm>
        <a:graphic>
          <a:graphicData uri="http://schemas.openxmlformats.org/drawingml/2006/table">
            <a:tbl>
              <a:tblPr firstRow="1">
                <a:tableStyleId>{5C22544A-7EE6-4342-B048-85BDC9FD1C3A}</a:tableStyleId>
              </a:tblPr>
              <a:tblGrid>
                <a:gridCol w="2650225"/>
                <a:gridCol w="5483225"/>
                <a:gridCol w="2924387"/>
              </a:tblGrid>
              <a:tr h="347472">
                <a:tc>
                  <a:txBody>
                    <a:bodyPr wrap="square"/>
                    <a:lstStyle/>
                    <a:p>
                      <a:pPr algn="l">
                        <a:lnSpc>
                          <a:spcPct val="100000"/>
                        </a:lnSpc>
                        <a:buNone/>
                      </a:pPr>
                      <a:r>
                        <a:rPr sz="950" b="1">
                          <a:solidFill>
                            <a:srgbClr val="FFFFFF"/>
                          </a:solidFill>
                          <a:latin typeface="Segoe UI"/>
                        </a:rPr>
                        <a:t>Paso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Cálculo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Resultado</a:t>
                      </a:r>
                    </a:p>
                  </a:txBody>
                  <a:tcPr marL="82296" marR="82296" marT="27432" marB="27432" anchor="ctr">
                    <a:solidFill>
                      <a:srgbClr val="0B2545"/>
                    </a:solidFill>
                  </a:tcPr>
                </a:tc>
              </a:tr>
              <a:tr h="374072">
                <a:tc>
                  <a:txBody>
                    <a:bodyPr wrap="square"/>
                    <a:lstStyle/>
                    <a:p>
                      <a:pPr algn="l">
                        <a:lnSpc>
                          <a:spcPct val="100000"/>
                        </a:lnSpc>
                        <a:buNone/>
                      </a:pPr>
                      <a:r>
                        <a:rPr sz="950" b="0">
                          <a:solidFill>
                            <a:srgbClr val="1C2430"/>
                          </a:solidFill>
                          <a:latin typeface="Segoe UI"/>
                        </a:rPr>
                        <a:t>Par de fricción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 = μ·m·g = 0,05 × 400 × 9,81 = 196 N → T_f = F·p/(2π·η) + precarga</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1,0 N·m</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Par de aceleración de la carga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J_L·α/η = 72,1e-4 × 1005 / 0,9</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8,05 N·m</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Par de aceleración del rotor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J_rotor·α = 19e-4 × 1005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1,91 N·m</a:t>
                      </a:r>
                    </a:p>
                  </a:txBody>
                  <a:tcPr marL="82296" marR="82296" marT="27432" marB="27432" anchor="ctr">
                    <a:solidFill>
                      <a:srgbClr val="FFFFFF"/>
                    </a:solidFill>
                  </a:tcPr>
                </a:tc>
              </a:tr>
              <a:tr h="374072">
                <a:tc>
                  <a:txBody>
                    <a:bodyPr wrap="square"/>
                    <a:lstStyle/>
                    <a:p>
                      <a:pPr algn="l">
                        <a:lnSpc>
                          <a:spcPct val="100000"/>
                        </a:lnSpc>
                        <a:buNone/>
                      </a:pPr>
                      <a:r>
                        <a:rPr sz="950" b="1">
                          <a:solidFill>
                            <a:srgbClr val="1C2430"/>
                          </a:solidFill>
                          <a:latin typeface="Segoe UI"/>
                        </a:rPr>
                        <a:t>Par pico (aceleración)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T_pico = 8,05 + 1,91 + 1,0</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10,95 N·m</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Par a velocidad constante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Sólo fricción</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1,0 N·m</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Par de deceleración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−(8,05 + 1,91) + 1,0 (la fricción ayuda)</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−8,96 N·m</a:t>
                      </a:r>
                    </a:p>
                  </a:txBody>
                  <a:tcPr marL="82296" marR="82296" marT="27432" marB="27432" anchor="ctr">
                    <a:solidFill>
                      <a:srgbClr val="F2F5F8"/>
                    </a:solidFill>
                  </a:tcPr>
                </a:tc>
              </a:tr>
              <a:tr h="374072">
                <a:tc>
                  <a:txBody>
                    <a:bodyPr wrap="square"/>
                    <a:lstStyle/>
                    <a:p>
                      <a:pPr algn="l">
                        <a:lnSpc>
                          <a:spcPct val="100000"/>
                        </a:lnSpc>
                        <a:buNone/>
                      </a:pPr>
                      <a:r>
                        <a:rPr sz="950" b="1">
                          <a:solidFill>
                            <a:srgbClr val="1C2430"/>
                          </a:solidFill>
                          <a:latin typeface="Segoe UI"/>
                        </a:rPr>
                        <a:t>Par eficaz del ciclo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T_rms = √[(10,95²×0,25 + 1,0²×0,5 + 8,96²×0,25) / 2,5]</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4,5 N·m</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Verificación continua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4,5 N·m frente a 9,55 N·m nominales</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47 % ✔ margen amplio</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Verificación de pico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10,95 N·m frente a ≈ 28,6 N·m máximos</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38 % ✔</a:t>
                      </a:r>
                    </a:p>
                  </a:txBody>
                  <a:tcPr marL="82296" marR="82296" marT="27432" marB="27432" anchor="ctr">
                    <a:solidFill>
                      <a:srgbClr val="FFFFFF"/>
                    </a:solidFill>
                  </a:tcPr>
                </a:tc>
              </a:tr>
              <a:tr h="374072">
                <a:tc>
                  <a:txBody>
                    <a:bodyPr wrap="square"/>
                    <a:lstStyle/>
                    <a:p>
                      <a:pPr algn="l">
                        <a:lnSpc>
                          <a:spcPct val="100000"/>
                        </a:lnSpc>
                        <a:buNone/>
                      </a:pPr>
                      <a:r>
                        <a:rPr sz="950" b="0">
                          <a:solidFill>
                            <a:srgbClr val="1C2430"/>
                          </a:solidFill>
                          <a:latin typeface="Segoe UI"/>
                        </a:rPr>
                        <a:t>Energía cinética a frenar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 = ½·J_total·ω² = ½ × 91e-4 × 251,3²</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 288 J por frenado</a:t>
                      </a:r>
                    </a:p>
                  </a:txBody>
                  <a:tcPr marL="82296" marR="82296" marT="27432" marB="27432" anchor="ctr">
                    <a:solidFill>
                      <a:srgbClr val="F2F5F8"/>
                    </a:solidFill>
                  </a:tcPr>
                </a:tc>
              </a:tr>
              <a:tr h="374072">
                <a:tc>
                  <a:txBody>
                    <a:bodyPr wrap="square"/>
                    <a:lstStyle/>
                    <a:p>
                      <a:pPr algn="l">
                        <a:lnSpc>
                          <a:spcPct val="100000"/>
                        </a:lnSpc>
                        <a:buNone/>
                      </a:pPr>
                      <a:r>
                        <a:rPr sz="950" b="0">
                          <a:solidFill>
                            <a:srgbClr val="1C2430"/>
                          </a:solidFill>
                          <a:latin typeface="Segoe UI"/>
                        </a:rPr>
                        <a:t>Potencia media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Descontando fricción y pérdidas (≈ 60 %) y repartido en 2,5 s</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 70 W → resistencia interna suficiente</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porcentajes de utilización (47 % continuo y 38 % de pico) indican que incluso podría estudiarse un motor menor; conviene comprobar antes la relación de inercias resultante.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Regeneración: cuándo hace falta resistencia externa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Qué hacer con la energía que devuelve el motor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46</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Cuándo la interna no basta</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Ejes verticales</a:t>
            </a:r>
            <a:r>
              <a:rPr sz="1350" b="1">
                <a:solidFill>
                  <a:srgbClr val="1C2430"/>
                </a:solidFill>
                <a:latin typeface="Segoe UI"/>
              </a:rPr>
              <a:t> que bajan con carga: la gravedad inyecta energía durante todo el descenso.</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Grandes inercias</a:t>
            </a:r>
            <a:r>
              <a:rPr sz="1350" b="1">
                <a:solidFill>
                  <a:srgbClr val="1C2430"/>
                </a:solidFill>
                <a:latin typeface="Segoe UI"/>
              </a:rPr>
              <a:t> que frenan con frecuencia: volantes, bobinas, mesas rotativas pesadas.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Ciclos muy rápidos</a:t>
            </a:r>
            <a:r>
              <a:rPr sz="1350" b="1">
                <a:solidFill>
                  <a:srgbClr val="1C2430"/>
                </a:solidFill>
                <a:latin typeface="Segoe UI"/>
              </a:rPr>
              <a:t>: aunque cada frenado devuelva poca energía, la potencia media se acumula.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Frenados de emergencia</a:t>
            </a:r>
            <a:r>
              <a:rPr sz="1350" b="1">
                <a:solidFill>
                  <a:srgbClr val="1C2430"/>
                </a:solidFill>
                <a:latin typeface="Segoe UI"/>
              </a:rPr>
              <a:t> repetidos desde velocidad máxima.</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Síntoma inequívoco: alarma </a:t>
            </a:r>
            <a:r>
              <a:rPr sz="1200" b="0">
                <a:solidFill>
                  <a:srgbClr val="333F4C"/>
                </a:solidFill>
                <a:latin typeface="Consolas"/>
              </a:rPr>
              <a:t>A.400</a:t>
            </a:r>
            <a:r>
              <a:rPr sz="1200" b="0">
                <a:solidFill>
                  <a:srgbClr val="333F4C"/>
                </a:solidFill>
                <a:latin typeface="Segoe UI"/>
              </a:rPr>
              <a:t> (sobretensión) al frenar, o </a:t>
            </a:r>
            <a:r>
              <a:rPr sz="1200" b="0">
                <a:solidFill>
                  <a:srgbClr val="333F4C"/>
                </a:solidFill>
                <a:latin typeface="Consolas"/>
              </a:rPr>
              <a:t>A.320</a:t>
            </a:r>
            <a:r>
              <a:rPr sz="1200" b="0">
                <a:solidFill>
                  <a:srgbClr val="333F4C"/>
                </a:solidFill>
                <a:latin typeface="Segoe UI"/>
              </a:rPr>
              <a:t> (sobrecarga de regeneración).</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se resuelve</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Retirar el puente </a:t>
            </a:r>
            <a:r>
              <a:rPr sz="1350" b="1">
                <a:solidFill>
                  <a:srgbClr val="1C2430"/>
                </a:solidFill>
                <a:latin typeface="Consolas"/>
              </a:rPr>
              <a:t>B2</a:t>
            </a:r>
            <a:r>
              <a:rPr sz="1350" b="1">
                <a:solidFill>
                  <a:srgbClr val="1C2430"/>
                </a:solidFill>
                <a:latin typeface="Segoe UI"/>
              </a:rPr>
              <a:t>-</a:t>
            </a:r>
            <a:r>
              <a:rPr sz="1350" b="1">
                <a:solidFill>
                  <a:srgbClr val="1C2430"/>
                </a:solidFill>
                <a:latin typeface="Consolas"/>
              </a:rPr>
              <a:t>B3</a:t>
            </a:r>
            <a:r>
              <a:rPr sz="1350" b="1">
                <a:solidFill>
                  <a:srgbClr val="1C2430"/>
                </a:solidFill>
                <a:latin typeface="Segoe UI"/>
              </a:rPr>
              <a:t> y conectar la resistencia externa entre </a:t>
            </a:r>
            <a:r>
              <a:rPr sz="1350" b="1">
                <a:solidFill>
                  <a:srgbClr val="1C2430"/>
                </a:solidFill>
                <a:latin typeface="Consolas"/>
              </a:rPr>
              <a:t>B1/⊕</a:t>
            </a:r>
            <a:r>
              <a:rPr sz="1350" b="1">
                <a:solidFill>
                  <a:srgbClr val="1C2430"/>
                </a:solidFill>
                <a:latin typeface="Segoe UI"/>
              </a:rPr>
              <a:t> y </a:t>
            </a:r>
            <a:r>
              <a:rPr sz="1350" b="1">
                <a:solidFill>
                  <a:srgbClr val="1C2430"/>
                </a:solidFill>
                <a:latin typeface="Consolas"/>
              </a:rPr>
              <a:t>B2</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Configurar la capacidad de la resistencia en el parámetro correspondiente (</a:t>
            </a:r>
            <a:r>
              <a:rPr sz="1350" b="1">
                <a:solidFill>
                  <a:srgbClr val="1C2430"/>
                </a:solidFill>
                <a:latin typeface="Consolas"/>
              </a:rPr>
              <a:t>Pn600</a:t>
            </a:r>
            <a:r>
              <a:rPr sz="1350" b="1">
                <a:solidFill>
                  <a:srgbClr val="1C2430"/>
                </a:solidFill>
                <a:latin typeface="Segoe UI"/>
              </a:rPr>
              <a:t>, capacidad de regeneración) para que el cálculo térmico del drive sea correcto.</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Respetar la </a:t>
            </a:r>
            <a:r>
              <a:rPr sz="1200" b="1">
                <a:solidFill>
                  <a:srgbClr val="333F4C"/>
                </a:solidFill>
                <a:latin typeface="Segoe UI"/>
              </a:rPr>
              <a:t>resistencia mínima admisible</a:t>
            </a:r>
            <a:r>
              <a:rPr sz="1200" b="0">
                <a:solidFill>
                  <a:srgbClr val="333F4C"/>
                </a:solidFill>
                <a:latin typeface="Segoe UI"/>
              </a:rPr>
              <a:t> del amplificador: un valor menor daña el transistor de frenado.</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Montarla </a:t>
            </a:r>
            <a:r>
              <a:rPr sz="1200" b="1">
                <a:solidFill>
                  <a:srgbClr val="333F4C"/>
                </a:solidFill>
                <a:latin typeface="Segoe UI"/>
              </a:rPr>
              <a:t>fuera del armario</a:t>
            </a:r>
            <a:r>
              <a:rPr sz="1200" b="0">
                <a:solidFill>
                  <a:srgbClr val="333F4C"/>
                </a:solidFill>
                <a:latin typeface="Segoe UI"/>
              </a:rPr>
              <a:t> o con ventilación: disipa calor real y alcanza temperaturas altas.</a:t>
            </a:r>
          </a:p>
          <a:p>
            <a:pPr marL="566928" indent="-201168">
              <a:lnSpc>
                <a:spcPct val="106000"/>
              </a:lnSpc>
              <a:spcAft>
                <a:spcPts val="500"/>
              </a:spcAft>
              <a:buClr>
                <a:srgbClr val="00A9CE"/>
              </a:buClr>
              <a:buSzPct val="90000"/>
              <a:buFont typeface="Arial"/>
              <a:buChar char="▸"/>
            </a:pPr>
            <a:r>
              <a:rPr sz="1200" b="0">
                <a:solidFill>
                  <a:srgbClr val="333F4C"/>
                </a:solidFill>
                <a:latin typeface="Segoe UI"/>
              </a:rPr>
              <a:t>Prever </a:t>
            </a:r>
            <a:r>
              <a:rPr sz="1200" b="1">
                <a:solidFill>
                  <a:srgbClr val="333F4C"/>
                </a:solidFill>
                <a:latin typeface="Segoe UI"/>
              </a:rPr>
              <a:t>termostato de seguridad</a:t>
            </a:r>
            <a:r>
              <a:rPr sz="1200" b="0">
                <a:solidFill>
                  <a:srgbClr val="333F4C"/>
                </a:solidFill>
                <a:latin typeface="Segoe UI"/>
              </a:rPr>
              <a:t> en serie con el circuito de parada.</a:t>
            </a:r>
          </a:p>
          <a:p>
            <a:pPr marL="0" indent="0">
              <a:lnSpc>
                <a:spcPct val="106000"/>
              </a:lnSpc>
              <a:spcBef>
                <a:spcPts val="800"/>
              </a:spcBef>
              <a:spcAft>
                <a:spcPts val="900"/>
              </a:spcAft>
              <a:buNone/>
            </a:pPr>
            <a:r>
              <a:rPr sz="1300" b="1">
                <a:solidFill>
                  <a:srgbClr val="1B5EA8"/>
                </a:solidFill>
                <a:latin typeface="Segoe UI Semibold"/>
              </a:rPr>
              <a:t>Alternativa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En ejes de gran potencia con regeneración continua, valorar una unidad de realimentación a red en lugar de quemar la energía.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Procedimiento de dimensionamiento en 8 pasos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secuencia que hay que seguir siempre, en este orden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04</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47</a:t>
            </a:r>
          </a:p>
        </p:txBody>
      </p:sp>
      <p:sp>
        <p:nvSpPr>
          <p:cNvPr id="9" name="Rectangle 8"/>
          <p:cNvSpPr/>
          <p:nvPr/>
        </p:nvSpPr>
        <p:spPr>
          <a:xfrm>
            <a:off x="566928" y="1481328"/>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Recoger los datos de la máquina</a:t>
            </a:r>
          </a:p>
        </p:txBody>
      </p:sp>
      <p:sp>
        <p:nvSpPr>
          <p:cNvPr id="13" name="TextBox 12"/>
          <p:cNvSpPr txBox="1"/>
          <p:nvPr/>
        </p:nvSpPr>
        <p:spPr>
          <a:xfrm>
            <a:off x="1435608" y="1757045"/>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Masa, recorrido, tiempos, transmisión, fricción, orientación y fuerza de proceso. Documenta las hipótesis.</a:t>
            </a:r>
          </a:p>
        </p:txBody>
      </p:sp>
      <p:sp>
        <p:nvSpPr>
          <p:cNvPr id="14" name="Rectangle 13"/>
          <p:cNvSpPr/>
          <p:nvPr/>
        </p:nvSpPr>
        <p:spPr>
          <a:xfrm>
            <a:off x="566928" y="1980819"/>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1980819"/>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1980819"/>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2</a:t>
            </a:r>
          </a:p>
        </p:txBody>
      </p:sp>
      <p:sp>
        <p:nvSpPr>
          <p:cNvPr id="17" name="TextBox 16"/>
          <p:cNvSpPr txBox="1"/>
          <p:nvPr/>
        </p:nvSpPr>
        <p:spPr>
          <a:xfrm>
            <a:off x="1435608" y="2072259"/>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Definir el perfil de movimiento</a:t>
            </a:r>
          </a:p>
        </p:txBody>
      </p:sp>
      <p:sp>
        <p:nvSpPr>
          <p:cNvPr id="18" name="TextBox 17"/>
          <p:cNvSpPr txBox="1"/>
          <p:nvPr/>
        </p:nvSpPr>
        <p:spPr>
          <a:xfrm>
            <a:off x="1435608" y="2256536"/>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Trapezoidal o en S. Calcular velocidad máxima, aceleración y velocidad del motor.</a:t>
            </a:r>
          </a:p>
        </p:txBody>
      </p:sp>
      <p:sp>
        <p:nvSpPr>
          <p:cNvPr id="19" name="Rectangle 18"/>
          <p:cNvSpPr/>
          <p:nvPr/>
        </p:nvSpPr>
        <p:spPr>
          <a:xfrm>
            <a:off x="566928" y="2480310"/>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480310"/>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480310"/>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3</a:t>
            </a:r>
          </a:p>
        </p:txBody>
      </p:sp>
      <p:sp>
        <p:nvSpPr>
          <p:cNvPr id="22" name="TextBox 21"/>
          <p:cNvSpPr txBox="1"/>
          <p:nvPr/>
        </p:nvSpPr>
        <p:spPr>
          <a:xfrm>
            <a:off x="1435608" y="2571750"/>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Calcular la inercia reflejada</a:t>
            </a:r>
          </a:p>
        </p:txBody>
      </p:sp>
      <p:sp>
        <p:nvSpPr>
          <p:cNvPr id="23" name="TextBox 22"/>
          <p:cNvSpPr txBox="1"/>
          <p:nvPr/>
        </p:nvSpPr>
        <p:spPr>
          <a:xfrm>
            <a:off x="1435608" y="2756027"/>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Sumar carga, husillo, acoplamiento y transmisión, todo referido al eje del motor.</a:t>
            </a:r>
          </a:p>
        </p:txBody>
      </p:sp>
      <p:sp>
        <p:nvSpPr>
          <p:cNvPr id="24" name="Rectangle 23"/>
          <p:cNvSpPr/>
          <p:nvPr/>
        </p:nvSpPr>
        <p:spPr>
          <a:xfrm>
            <a:off x="566928" y="2979801"/>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2979801"/>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2979801"/>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4</a:t>
            </a:r>
          </a:p>
        </p:txBody>
      </p:sp>
      <p:sp>
        <p:nvSpPr>
          <p:cNvPr id="27" name="TextBox 26"/>
          <p:cNvSpPr txBox="1"/>
          <p:nvPr/>
        </p:nvSpPr>
        <p:spPr>
          <a:xfrm>
            <a:off x="1435608" y="3071241"/>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Preseleccionar el motor</a:t>
            </a:r>
          </a:p>
        </p:txBody>
      </p:sp>
      <p:sp>
        <p:nvSpPr>
          <p:cNvPr id="28" name="TextBox 27"/>
          <p:cNvSpPr txBox="1"/>
          <p:nvPr/>
        </p:nvSpPr>
        <p:spPr>
          <a:xfrm>
            <a:off x="1435608" y="3255518"/>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Por par nominal ≈ par RMS estimado y por velocidad máxima. Comprobar la relación de inercias.</a:t>
            </a:r>
          </a:p>
        </p:txBody>
      </p:sp>
      <p:sp>
        <p:nvSpPr>
          <p:cNvPr id="29" name="Rectangle 28"/>
          <p:cNvSpPr/>
          <p:nvPr/>
        </p:nvSpPr>
        <p:spPr>
          <a:xfrm>
            <a:off x="566928" y="3479292"/>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479292"/>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479292"/>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5</a:t>
            </a:r>
          </a:p>
        </p:txBody>
      </p:sp>
      <p:sp>
        <p:nvSpPr>
          <p:cNvPr id="32" name="TextBox 31"/>
          <p:cNvSpPr txBox="1"/>
          <p:nvPr/>
        </p:nvSpPr>
        <p:spPr>
          <a:xfrm>
            <a:off x="1435608" y="3570732"/>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Calcular los pares del ciclo</a:t>
            </a:r>
          </a:p>
        </p:txBody>
      </p:sp>
      <p:sp>
        <p:nvSpPr>
          <p:cNvPr id="33" name="TextBox 32"/>
          <p:cNvSpPr txBox="1"/>
          <p:nvPr/>
        </p:nvSpPr>
        <p:spPr>
          <a:xfrm>
            <a:off x="1435608" y="3755009"/>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Aceleración, régimen constante, deceleración y mantenimiento. Incluir fricción, gravedad y proceso.</a:t>
            </a:r>
          </a:p>
        </p:txBody>
      </p:sp>
      <p:sp>
        <p:nvSpPr>
          <p:cNvPr id="34" name="Rectangle 33"/>
          <p:cNvSpPr/>
          <p:nvPr/>
        </p:nvSpPr>
        <p:spPr>
          <a:xfrm>
            <a:off x="566928" y="3978783"/>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3978783"/>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3978783"/>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6</a:t>
            </a:r>
          </a:p>
        </p:txBody>
      </p:sp>
      <p:sp>
        <p:nvSpPr>
          <p:cNvPr id="37" name="TextBox 36"/>
          <p:cNvSpPr txBox="1"/>
          <p:nvPr/>
        </p:nvSpPr>
        <p:spPr>
          <a:xfrm>
            <a:off x="1435608" y="4070223"/>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Verificar pico y RMS contra la curva</a:t>
            </a:r>
          </a:p>
        </p:txBody>
      </p:sp>
      <p:sp>
        <p:nvSpPr>
          <p:cNvPr id="38" name="TextBox 37"/>
          <p:cNvSpPr txBox="1"/>
          <p:nvPr/>
        </p:nvSpPr>
        <p:spPr>
          <a:xfrm>
            <a:off x="1435608" y="4254500"/>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T_pico ≤ 80 % del máximo y T_rms ≤ 80 % del nominal, a la tensión mínima de red.</a:t>
            </a:r>
          </a:p>
        </p:txBody>
      </p:sp>
      <p:sp>
        <p:nvSpPr>
          <p:cNvPr id="39" name="Rectangle 38"/>
          <p:cNvSpPr/>
          <p:nvPr/>
        </p:nvSpPr>
        <p:spPr>
          <a:xfrm>
            <a:off x="566928" y="4478274"/>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478274"/>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478274"/>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7</a:t>
            </a:r>
          </a:p>
        </p:txBody>
      </p:sp>
      <p:sp>
        <p:nvSpPr>
          <p:cNvPr id="42" name="TextBox 41"/>
          <p:cNvSpPr txBox="1"/>
          <p:nvPr/>
        </p:nvSpPr>
        <p:spPr>
          <a:xfrm>
            <a:off x="1435608" y="4569714"/>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Comprobar la regeneración</a:t>
            </a:r>
          </a:p>
        </p:txBody>
      </p:sp>
      <p:sp>
        <p:nvSpPr>
          <p:cNvPr id="43" name="TextBox 42"/>
          <p:cNvSpPr txBox="1"/>
          <p:nvPr/>
        </p:nvSpPr>
        <p:spPr>
          <a:xfrm>
            <a:off x="1435608" y="4753991"/>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Energía por frenado y potencia media; decidir si hace falta resistencia externa.</a:t>
            </a:r>
          </a:p>
        </p:txBody>
      </p:sp>
      <p:sp>
        <p:nvSpPr>
          <p:cNvPr id="44" name="Rectangle 43"/>
          <p:cNvSpPr/>
          <p:nvPr/>
        </p:nvSpPr>
        <p:spPr>
          <a:xfrm>
            <a:off x="566928" y="4977765"/>
            <a:ext cx="11057839" cy="389763"/>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4977765"/>
            <a:ext cx="658368" cy="389763"/>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66928" y="4977765"/>
            <a:ext cx="658368" cy="389763"/>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8</a:t>
            </a:r>
          </a:p>
        </p:txBody>
      </p:sp>
      <p:sp>
        <p:nvSpPr>
          <p:cNvPr id="47" name="TextBox 46"/>
          <p:cNvSpPr txBox="1"/>
          <p:nvPr/>
        </p:nvSpPr>
        <p:spPr>
          <a:xfrm>
            <a:off x="1435608" y="5069205"/>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Documentar y validar en la puesta en marcha</a:t>
            </a:r>
          </a:p>
        </p:txBody>
      </p:sp>
      <p:sp>
        <p:nvSpPr>
          <p:cNvPr id="48" name="TextBox 47"/>
          <p:cNvSpPr txBox="1"/>
          <p:nvPr/>
        </p:nvSpPr>
        <p:spPr>
          <a:xfrm>
            <a:off x="1435608" y="5253482"/>
            <a:ext cx="9869119" cy="114046"/>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Guardar la hoja de cálculo y comparar después con el par real medido (</a:t>
            </a:r>
            <a:r>
              <a:rPr sz="750" b="0">
                <a:solidFill>
                  <a:srgbClr val="3A4654"/>
                </a:solidFill>
                <a:latin typeface="Consolas"/>
              </a:rPr>
              <a:t>Un002</a:t>
            </a:r>
            <a:r>
              <a:rPr sz="750" b="0">
                <a:solidFill>
                  <a:srgbClr val="3A4654"/>
                </a:solidFill>
                <a:latin typeface="Segoe UI"/>
              </a:rPr>
              <a:t>) y con la traza de SigmaWin+.</a:t>
            </a:r>
          </a:p>
        </p:txBody>
      </p:sp>
      <p:sp>
        <p:nvSpPr>
          <p:cNvPr id="49" name="Rectangle 48"/>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Herramientas que ahorran tiempo</a:t>
            </a:r>
          </a:p>
        </p:txBody>
      </p:sp>
      <p:sp>
        <p:nvSpPr>
          <p:cNvPr id="52" name="TextBox 5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YASKAWA ofrece software de selección (familia SigmaSelect / SigmaSize) que automatiza estos cálculos y propone la combinación motor-drive. Úsalo, pero </a:t>
            </a:r>
            <a:r>
              <a:rPr sz="1150" b="1">
                <a:solidFill>
                  <a:srgbClr val="2B3644"/>
                </a:solidFill>
                <a:latin typeface="Segoe UI"/>
              </a:rPr>
              <a:t>entiende primero el cálculo a mano</a:t>
            </a:r>
            <a:r>
              <a:rPr sz="1150" b="0">
                <a:solidFill>
                  <a:srgbClr val="2B3644"/>
                </a:solidFill>
                <a:latin typeface="Segoe UI"/>
              </a:rPr>
              <a:t>: sólo así puedes detectar cuándo el resultado no tiene sentido.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05</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Instalación mecánica y eléctrica</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Montaje en armario: espacio, orientación y temperatura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esquema de potencia completo, borne a borne</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Protecciones, contactor y secuencia de energizado</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Compatibilidad electromagnética: filtro, tierra y apantallamiento</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Resistencia de regeneración y freno de retención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Acoplamiento y alineación del motor</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Montaje en el armario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Temperatura y limpieza son las dos variables que marcan la vida útil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49</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Reglas de montaje</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50" b="1">
                <a:solidFill>
                  <a:srgbClr val="1C2430"/>
                </a:solidFill>
                <a:latin typeface="Segoe UI"/>
              </a:rPr>
              <a:t>Montaje </a:t>
            </a:r>
            <a:r>
              <a:rPr sz="1250" b="1">
                <a:solidFill>
                  <a:srgbClr val="1C2430"/>
                </a:solidFill>
                <a:latin typeface="Segoe UI"/>
              </a:rPr>
              <a:t>vertical</a:t>
            </a:r>
            <a:r>
              <a:rPr sz="1250" b="1">
                <a:solidFill>
                  <a:srgbClr val="1C2430"/>
                </a:solidFill>
                <a:latin typeface="Segoe UI"/>
              </a:rPr>
              <a:t>, con los bornes hacia abajo y la etiqueta legible: el ventilador está diseñado para tiro vertical.</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Fijación sobre placa metálica </a:t>
            </a:r>
            <a:r>
              <a:rPr sz="1250" b="1">
                <a:solidFill>
                  <a:srgbClr val="1C2430"/>
                </a:solidFill>
                <a:latin typeface="Segoe UI"/>
              </a:rPr>
              <a:t>desnuda</a:t>
            </a:r>
            <a:r>
              <a:rPr sz="1250" b="1">
                <a:solidFill>
                  <a:srgbClr val="1C2430"/>
                </a:solidFill>
                <a:latin typeface="Segoe UI"/>
              </a:rPr>
              <a:t> (sin pintura en la zona de contacto) para asegurar la continuidad de masa.</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Distancias mínimas orientativas: </a:t>
            </a:r>
            <a:r>
              <a:rPr sz="1250" b="1">
                <a:solidFill>
                  <a:srgbClr val="1C2430"/>
                </a:solidFill>
                <a:latin typeface="Segoe UI"/>
              </a:rPr>
              <a:t>40 mm</a:t>
            </a:r>
            <a:r>
              <a:rPr sz="1250" b="1">
                <a:solidFill>
                  <a:srgbClr val="1C2430"/>
                </a:solidFill>
                <a:latin typeface="Segoe UI"/>
              </a:rPr>
              <a:t> a los lados, </a:t>
            </a:r>
            <a:r>
              <a:rPr sz="1250" b="1">
                <a:solidFill>
                  <a:srgbClr val="1C2430"/>
                </a:solidFill>
                <a:latin typeface="Segoe UI"/>
              </a:rPr>
              <a:t>50 mm</a:t>
            </a:r>
            <a:r>
              <a:rPr sz="1250" b="1">
                <a:solidFill>
                  <a:srgbClr val="1C2430"/>
                </a:solidFill>
                <a:latin typeface="Segoe UI"/>
              </a:rPr>
              <a:t> arriba y abajo entre unidades; más si hay varios amplificadores en fila.</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Nunca por encima de elementos que generen calor (resistencias de frenado, transformadores).</a:t>
            </a:r>
          </a:p>
          <a:p>
            <a:pPr marL="274320" indent="-201168">
              <a:lnSpc>
                <a:spcPct val="106000"/>
              </a:lnSpc>
              <a:spcAft>
                <a:spcPts val="900"/>
              </a:spcAft>
              <a:buClr>
                <a:srgbClr val="1B5EA8"/>
              </a:buClr>
              <a:buSzPct val="90000"/>
              <a:buFont typeface="Arial"/>
              <a:buChar char="■"/>
            </a:pPr>
            <a:r>
              <a:rPr sz="1250" b="1">
                <a:solidFill>
                  <a:srgbClr val="1C2430"/>
                </a:solidFill>
                <a:latin typeface="Segoe UI"/>
              </a:rPr>
              <a:t>Deja acceso frontal a </a:t>
            </a:r>
            <a:r>
              <a:rPr sz="1250" b="1">
                <a:solidFill>
                  <a:srgbClr val="1C2430"/>
                </a:solidFill>
                <a:latin typeface="Consolas"/>
              </a:rPr>
              <a:t>CN7</a:t>
            </a:r>
            <a:r>
              <a:rPr sz="1250" b="1">
                <a:solidFill>
                  <a:srgbClr val="1C2430"/>
                </a:solidFill>
                <a:latin typeface="Segoe UI"/>
              </a:rPr>
              <a:t> (USB) y al display: los necesitarás en cada intervención.</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Condiciones ambientales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75" b="1">
                <a:solidFill>
                  <a:srgbClr val="1C2430"/>
                </a:solidFill>
                <a:latin typeface="Segoe UI"/>
              </a:rPr>
              <a:t>Temperatura de servicio </a:t>
            </a:r>
            <a:r>
              <a:rPr sz="1275" b="1">
                <a:solidFill>
                  <a:srgbClr val="1C2430"/>
                </a:solidFill>
                <a:latin typeface="Segoe UI"/>
              </a:rPr>
              <a:t>0 a 55 °C</a:t>
            </a:r>
            <a:r>
              <a:rPr sz="1275" b="1">
                <a:solidFill>
                  <a:srgbClr val="1C2430"/>
                </a:solidFill>
                <a:latin typeface="Segoe UI"/>
              </a:rPr>
              <a:t>; por encima de 45 °C hay que reducir la carga (derating).</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Humedad hasta el 90 % </a:t>
            </a:r>
            <a:r>
              <a:rPr sz="1275" b="1">
                <a:solidFill>
                  <a:srgbClr val="1C2430"/>
                </a:solidFill>
                <a:latin typeface="Segoe UI"/>
              </a:rPr>
              <a:t>sin condensación</a:t>
            </a:r>
            <a:r>
              <a:rPr sz="1275" b="1">
                <a:solidFill>
                  <a:srgbClr val="1C2430"/>
                </a:solidFill>
                <a:latin typeface="Segoe UI"/>
              </a:rPr>
              <a:t>. Ojo con las máquinas que se paran el fin de semana en naves frías.</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Altitud hasta 1.000 m sin corrección; por encima, menor capacidad de disipación y de aislamiento.</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Ambiente </a:t>
            </a:r>
            <a:r>
              <a:rPr sz="1275" b="1">
                <a:solidFill>
                  <a:srgbClr val="1C2430"/>
                </a:solidFill>
                <a:latin typeface="Segoe UI"/>
              </a:rPr>
              <a:t>sin polvo conductor, niebla de aceite ni gases corrosivos</a:t>
            </a:r>
            <a:r>
              <a:rPr sz="1275" b="1">
                <a:solidFill>
                  <a:srgbClr val="1C2430"/>
                </a:solidFill>
                <a:latin typeface="Segoe UI"/>
              </a:rPr>
              <a:t>: el amplificador es IP20.</a:t>
            </a:r>
          </a:p>
          <a:p>
            <a:pPr marL="274320" indent="-201168">
              <a:lnSpc>
                <a:spcPct val="106000"/>
              </a:lnSpc>
              <a:spcAft>
                <a:spcPts val="900"/>
              </a:spcAft>
              <a:buClr>
                <a:srgbClr val="1B5EA8"/>
              </a:buClr>
              <a:buSzPct val="90000"/>
              <a:buFont typeface="Arial"/>
              <a:buChar char="■"/>
            </a:pPr>
            <a:r>
              <a:rPr sz="1275" b="1">
                <a:solidFill>
                  <a:srgbClr val="1C2430"/>
                </a:solidFill>
                <a:latin typeface="Segoe UI"/>
              </a:rPr>
              <a:t>Vibración: montar sobre estructura rígida, alejado de prensas y punzonadoras.</a:t>
            </a:r>
          </a:p>
          <a:p>
            <a:pPr marL="566928" indent="-201168">
              <a:lnSpc>
                <a:spcPct val="106000"/>
              </a:lnSpc>
              <a:spcAft>
                <a:spcPts val="500"/>
              </a:spcAft>
              <a:buClr>
                <a:srgbClr val="00A9CE"/>
              </a:buClr>
              <a:buSzPct val="90000"/>
              <a:buFont typeface="Arial"/>
              <a:buChar char="▸"/>
            </a:pPr>
            <a:r>
              <a:rPr sz="1125" b="0">
                <a:solidFill>
                  <a:srgbClr val="333F4C"/>
                </a:solidFill>
                <a:latin typeface="Segoe UI"/>
              </a:rPr>
              <a:t>En ambientes agresivos, armario cerrado con intercambiador o climatizador, nunca ventilación directa del exterior.</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Cálculo rápido de disipación</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Estima las pérdidas del amplificador en torno al 5-8 % de la potencia que entrega. Para 3 kW trabajando al 50 % son aproximadamente 100-150 W que hay que evacuar del armario, más la resistencia de regeneración si es interna.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Esquema de potencia, borne a borne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Arquitectura recomendada: potencia conmutada, control permanente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50</a:t>
            </a:r>
          </a:p>
        </p:txBody>
      </p:sp>
      <p:sp>
        <p:nvSpPr>
          <p:cNvPr id="9" name="Rounded Rectangle 8"/>
          <p:cNvSpPr/>
          <p:nvPr/>
        </p:nvSpPr>
        <p:spPr>
          <a:xfrm>
            <a:off x="566928" y="2103120"/>
            <a:ext cx="1170432" cy="86868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RED</a:t>
            </a:r>
          </a:p>
          <a:p>
            <a:pPr algn="ctr">
              <a:lnSpc>
                <a:spcPct val="100000"/>
              </a:lnSpc>
              <a:buNone/>
            </a:pPr>
            <a:r>
              <a:rPr sz="950" b="1">
                <a:solidFill>
                  <a:srgbClr val="FFFFFF"/>
                </a:solidFill>
                <a:latin typeface="Segoe UI"/>
              </a:rPr>
              <a:t>3~ 200-240 V</a:t>
            </a:r>
          </a:p>
        </p:txBody>
      </p:sp>
      <p:sp>
        <p:nvSpPr>
          <p:cNvPr id="10" name="Right Arrow 9"/>
          <p:cNvSpPr/>
          <p:nvPr/>
        </p:nvSpPr>
        <p:spPr>
          <a:xfrm>
            <a:off x="17647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1938528" y="2103120"/>
            <a:ext cx="1170432" cy="86868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INTERRUPTOR</a:t>
            </a:r>
          </a:p>
          <a:p>
            <a:pPr algn="ctr">
              <a:lnSpc>
                <a:spcPct val="100000"/>
              </a:lnSpc>
              <a:buNone/>
            </a:pPr>
            <a:r>
              <a:rPr sz="950" b="1">
                <a:solidFill>
                  <a:srgbClr val="FFFFFF"/>
                </a:solidFill>
                <a:latin typeface="Segoe UI"/>
              </a:rPr>
              <a:t>automático</a:t>
            </a:r>
          </a:p>
        </p:txBody>
      </p:sp>
      <p:sp>
        <p:nvSpPr>
          <p:cNvPr id="12" name="Right Arrow 11"/>
          <p:cNvSpPr/>
          <p:nvPr/>
        </p:nvSpPr>
        <p:spPr>
          <a:xfrm>
            <a:off x="31363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3310128" y="2103120"/>
            <a:ext cx="1170432" cy="86868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CONTACTOR</a:t>
            </a:r>
          </a:p>
          <a:p>
            <a:pPr algn="ctr">
              <a:lnSpc>
                <a:spcPct val="100000"/>
              </a:lnSpc>
              <a:buNone/>
            </a:pPr>
            <a:r>
              <a:rPr sz="950" b="1">
                <a:solidFill>
                  <a:srgbClr val="FFFFFF"/>
                </a:solidFill>
                <a:latin typeface="Segoe UI"/>
              </a:rPr>
              <a:t>de línea</a:t>
            </a:r>
          </a:p>
        </p:txBody>
      </p:sp>
      <p:sp>
        <p:nvSpPr>
          <p:cNvPr id="14" name="Right Arrow 13"/>
          <p:cNvSpPr/>
          <p:nvPr/>
        </p:nvSpPr>
        <p:spPr>
          <a:xfrm>
            <a:off x="45079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4681728" y="2103120"/>
            <a:ext cx="1170432" cy="86868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FILTRO EMC</a:t>
            </a:r>
          </a:p>
        </p:txBody>
      </p:sp>
      <p:sp>
        <p:nvSpPr>
          <p:cNvPr id="16" name="Right Arrow 15"/>
          <p:cNvSpPr/>
          <p:nvPr/>
        </p:nvSpPr>
        <p:spPr>
          <a:xfrm>
            <a:off x="5879592" y="2464308"/>
            <a:ext cx="146304"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053328" y="1783080"/>
            <a:ext cx="2331720" cy="3246120"/>
          </a:xfrm>
          <a:prstGeom prst="rect">
            <a:avLst/>
          </a:prstGeom>
          <a:solidFill>
            <a:srgbClr val="F2F5F8"/>
          </a:solidFill>
          <a:ln w="254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53328" y="1883664"/>
            <a:ext cx="2331720" cy="274320"/>
          </a:xfrm>
          <a:prstGeom prst="rect">
            <a:avLst/>
          </a:prstGeom>
          <a:noFill/>
        </p:spPr>
        <p:txBody>
          <a:bodyPr wrap="square" lIns="0" rIns="0" tIns="0" bIns="0" anchor="t">
            <a:spAutoFit/>
          </a:bodyPr>
          <a:lstStyle/>
          <a:p>
            <a:pPr algn="ctr">
              <a:lnSpc>
                <a:spcPct val="100000"/>
              </a:lnSpc>
              <a:buNone/>
            </a:pPr>
            <a:r>
              <a:rPr sz="1300" b="1">
                <a:solidFill>
                  <a:srgbClr val="0B2545"/>
                </a:solidFill>
                <a:latin typeface="Segoe UI"/>
              </a:rPr>
              <a:t>SGD7S-200A</a:t>
            </a:r>
          </a:p>
        </p:txBody>
      </p:sp>
      <p:sp>
        <p:nvSpPr>
          <p:cNvPr id="19" name="Rounded Rectangle 18"/>
          <p:cNvSpPr/>
          <p:nvPr/>
        </p:nvSpPr>
        <p:spPr>
          <a:xfrm>
            <a:off x="6217920" y="2240280"/>
            <a:ext cx="2002536" cy="347472"/>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L1</a:t>
            </a:r>
            <a:r>
              <a:rPr sz="1000" b="1">
                <a:solidFill>
                  <a:srgbClr val="FFFFFF"/>
                </a:solidFill>
                <a:latin typeface="Segoe UI"/>
              </a:rPr>
              <a:t> </a:t>
            </a:r>
            <a:r>
              <a:rPr sz="1000" b="1">
                <a:solidFill>
                  <a:srgbClr val="FFFFFF"/>
                </a:solidFill>
                <a:latin typeface="Consolas"/>
              </a:rPr>
              <a:t>L2</a:t>
            </a:r>
            <a:r>
              <a:rPr sz="1000" b="1">
                <a:solidFill>
                  <a:srgbClr val="FFFFFF"/>
                </a:solidFill>
                <a:latin typeface="Segoe UI"/>
              </a:rPr>
              <a:t> </a:t>
            </a:r>
            <a:r>
              <a:rPr sz="1000" b="1">
                <a:solidFill>
                  <a:srgbClr val="FFFFFF"/>
                </a:solidFill>
                <a:latin typeface="Consolas"/>
              </a:rPr>
              <a:t>L3</a:t>
            </a:r>
          </a:p>
        </p:txBody>
      </p:sp>
      <p:sp>
        <p:nvSpPr>
          <p:cNvPr id="20" name="Rounded Rectangle 19"/>
          <p:cNvSpPr/>
          <p:nvPr/>
        </p:nvSpPr>
        <p:spPr>
          <a:xfrm>
            <a:off x="6217920" y="2743200"/>
            <a:ext cx="2002536" cy="347472"/>
          </a:xfrm>
          <a:prstGeom prst="roundRect">
            <a:avLst>
              <a:gd name="adj" fmla="val 12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L1C</a:t>
            </a:r>
            <a:r>
              <a:rPr sz="1000" b="1">
                <a:solidFill>
                  <a:srgbClr val="FFFFFF"/>
                </a:solidFill>
                <a:latin typeface="Segoe UI"/>
              </a:rPr>
              <a:t> </a:t>
            </a:r>
            <a:r>
              <a:rPr sz="1000" b="1">
                <a:solidFill>
                  <a:srgbClr val="FFFFFF"/>
                </a:solidFill>
                <a:latin typeface="Consolas"/>
              </a:rPr>
              <a:t>L2C</a:t>
            </a:r>
          </a:p>
        </p:txBody>
      </p:sp>
      <p:sp>
        <p:nvSpPr>
          <p:cNvPr id="21" name="Rounded Rectangle 20"/>
          <p:cNvSpPr/>
          <p:nvPr/>
        </p:nvSpPr>
        <p:spPr>
          <a:xfrm>
            <a:off x="6217920" y="3246120"/>
            <a:ext cx="2002536" cy="347472"/>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B1/⊕</a:t>
            </a:r>
            <a:r>
              <a:rPr sz="1000" b="1">
                <a:solidFill>
                  <a:srgbClr val="FFFFFF"/>
                </a:solidFill>
                <a:latin typeface="Segoe UI"/>
              </a:rPr>
              <a:t> </a:t>
            </a:r>
            <a:r>
              <a:rPr sz="1000" b="1">
                <a:solidFill>
                  <a:srgbClr val="FFFFFF"/>
                </a:solidFill>
                <a:latin typeface="Consolas"/>
              </a:rPr>
              <a:t>B2</a:t>
            </a:r>
            <a:r>
              <a:rPr sz="1000" b="1">
                <a:solidFill>
                  <a:srgbClr val="FFFFFF"/>
                </a:solidFill>
                <a:latin typeface="Segoe UI"/>
              </a:rPr>
              <a:t> </a:t>
            </a:r>
            <a:r>
              <a:rPr sz="1000" b="1">
                <a:solidFill>
                  <a:srgbClr val="FFFFFF"/>
                </a:solidFill>
                <a:latin typeface="Consolas"/>
              </a:rPr>
              <a:t>B3</a:t>
            </a:r>
          </a:p>
        </p:txBody>
      </p:sp>
      <p:sp>
        <p:nvSpPr>
          <p:cNvPr id="22" name="Rounded Rectangle 21"/>
          <p:cNvSpPr/>
          <p:nvPr/>
        </p:nvSpPr>
        <p:spPr>
          <a:xfrm>
            <a:off x="6217920" y="3749039"/>
            <a:ext cx="2002536" cy="347472"/>
          </a:xfrm>
          <a:prstGeom prst="roundRect">
            <a:avLst>
              <a:gd name="adj" fmla="val 12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U</a:t>
            </a:r>
            <a:r>
              <a:rPr sz="1000" b="1">
                <a:solidFill>
                  <a:srgbClr val="FFFFFF"/>
                </a:solidFill>
                <a:latin typeface="Segoe UI"/>
              </a:rPr>
              <a:t> </a:t>
            </a:r>
            <a:r>
              <a:rPr sz="1000" b="1">
                <a:solidFill>
                  <a:srgbClr val="FFFFFF"/>
                </a:solidFill>
                <a:latin typeface="Consolas"/>
              </a:rPr>
              <a:t>V</a:t>
            </a:r>
            <a:r>
              <a:rPr sz="1000" b="1">
                <a:solidFill>
                  <a:srgbClr val="FFFFFF"/>
                </a:solidFill>
                <a:latin typeface="Segoe UI"/>
              </a:rPr>
              <a:t> </a:t>
            </a:r>
            <a:r>
              <a:rPr sz="1000" b="1">
                <a:solidFill>
                  <a:srgbClr val="FFFFFF"/>
                </a:solidFill>
                <a:latin typeface="Consolas"/>
              </a:rPr>
              <a:t>W</a:t>
            </a:r>
          </a:p>
        </p:txBody>
      </p:sp>
      <p:sp>
        <p:nvSpPr>
          <p:cNvPr id="23" name="Rounded Rectangle 22"/>
          <p:cNvSpPr/>
          <p:nvPr/>
        </p:nvSpPr>
        <p:spPr>
          <a:xfrm>
            <a:off x="6217920" y="4251960"/>
            <a:ext cx="2002536" cy="347472"/>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a:t>
            </a:r>
          </a:p>
        </p:txBody>
      </p:sp>
      <p:sp>
        <p:nvSpPr>
          <p:cNvPr id="24" name="Rounded Rectangle 23"/>
          <p:cNvSpPr/>
          <p:nvPr/>
        </p:nvSpPr>
        <p:spPr>
          <a:xfrm>
            <a:off x="6217920" y="4617720"/>
            <a:ext cx="2002536" cy="347472"/>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CN2</a:t>
            </a:r>
            <a:r>
              <a:rPr sz="1000" b="1">
                <a:solidFill>
                  <a:srgbClr val="FFFFFF"/>
                </a:solidFill>
                <a:latin typeface="Segoe UI"/>
              </a:rPr>
              <a:t> encoder</a:t>
            </a:r>
          </a:p>
        </p:txBody>
      </p:sp>
      <p:sp>
        <p:nvSpPr>
          <p:cNvPr id="25" name="Rounded Rectangle 24"/>
          <p:cNvSpPr/>
          <p:nvPr/>
        </p:nvSpPr>
        <p:spPr>
          <a:xfrm>
            <a:off x="8887968" y="3520440"/>
            <a:ext cx="2331720" cy="91440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50" b="1">
                <a:solidFill>
                  <a:srgbClr val="FFFFFF"/>
                </a:solidFill>
                <a:latin typeface="Segoe UI"/>
              </a:rPr>
              <a:t>SERVOMOTOR</a:t>
            </a:r>
          </a:p>
          <a:p>
            <a:pPr algn="ctr">
              <a:lnSpc>
                <a:spcPct val="100000"/>
              </a:lnSpc>
              <a:buNone/>
            </a:pPr>
            <a:r>
              <a:rPr sz="1150" b="1">
                <a:solidFill>
                  <a:srgbClr val="FFFFFF"/>
                </a:solidFill>
                <a:latin typeface="Segoe UI"/>
              </a:rPr>
              <a:t>SGM7A-30A</a:t>
            </a:r>
          </a:p>
        </p:txBody>
      </p:sp>
      <p:sp>
        <p:nvSpPr>
          <p:cNvPr id="26" name="Right Arrow 25"/>
          <p:cNvSpPr/>
          <p:nvPr/>
        </p:nvSpPr>
        <p:spPr>
          <a:xfrm>
            <a:off x="8430768" y="3831336"/>
            <a:ext cx="384048" cy="182880"/>
          </a:xfrm>
          <a:prstGeom prst="rightArrow">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8887968" y="4617720"/>
            <a:ext cx="2331720" cy="41148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ENCODER 24 bits</a:t>
            </a:r>
          </a:p>
        </p:txBody>
      </p:sp>
      <p:cxnSp>
        <p:nvCxnSpPr>
          <p:cNvPr id="28" name="Connector 27"/>
          <p:cNvCxnSpPr/>
          <p:nvPr/>
        </p:nvCxnSpPr>
        <p:spPr>
          <a:xfrm>
            <a:off x="8385048" y="4818888"/>
            <a:ext cx="502920" cy="0"/>
          </a:xfrm>
          <a:prstGeom prst="line">
            <a:avLst/>
          </a:prstGeom>
          <a:ln w="19050">
            <a:solidFill>
              <a:srgbClr val="2E8B57"/>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87968" y="2331720"/>
            <a:ext cx="2331720" cy="77724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RESISTENCIA DE</a:t>
            </a:r>
          </a:p>
          <a:p>
            <a:pPr algn="ctr">
              <a:lnSpc>
                <a:spcPct val="100000"/>
              </a:lnSpc>
              <a:buNone/>
            </a:pPr>
            <a:r>
              <a:rPr sz="950" b="1">
                <a:solidFill>
                  <a:srgbClr val="FFFFFF"/>
                </a:solidFill>
                <a:latin typeface="Segoe UI"/>
              </a:rPr>
              <a:t>REGENERACIÓN</a:t>
            </a:r>
          </a:p>
          <a:p>
            <a:pPr algn="ctr">
              <a:lnSpc>
                <a:spcPct val="100000"/>
              </a:lnSpc>
              <a:buNone/>
            </a:pPr>
            <a:r>
              <a:rPr sz="950" b="1">
                <a:solidFill>
                  <a:srgbClr val="FFFFFF"/>
                </a:solidFill>
                <a:latin typeface="Segoe UI"/>
              </a:rPr>
              <a:t>(si el cálculo lo exige)</a:t>
            </a:r>
          </a:p>
        </p:txBody>
      </p:sp>
      <p:cxnSp>
        <p:nvCxnSpPr>
          <p:cNvPr id="30" name="Connector 29"/>
          <p:cNvCxnSpPr/>
          <p:nvPr/>
        </p:nvCxnSpPr>
        <p:spPr>
          <a:xfrm flipV="1">
            <a:off x="8385048" y="2724912"/>
            <a:ext cx="502920" cy="694944"/>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36976" y="2971800"/>
            <a:ext cx="0" cy="2560320"/>
          </a:xfrm>
          <a:prstGeom prst="line">
            <a:avLst/>
          </a:prstGeom>
          <a:ln w="19050">
            <a:solidFill>
              <a:srgbClr val="143A6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236976" y="5532120"/>
            <a:ext cx="3182112" cy="0"/>
          </a:xfrm>
          <a:prstGeom prst="line">
            <a:avLst/>
          </a:prstGeom>
          <a:ln w="19050">
            <a:solidFill>
              <a:srgbClr val="143A6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419088" y="3090672"/>
            <a:ext cx="0" cy="2441448"/>
          </a:xfrm>
          <a:prstGeom prst="line">
            <a:avLst/>
          </a:prstGeom>
          <a:ln w="19050">
            <a:solidFill>
              <a:srgbClr val="143A63"/>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374136" y="5577840"/>
            <a:ext cx="4754880" cy="237744"/>
          </a:xfrm>
          <a:prstGeom prst="rect">
            <a:avLst/>
          </a:prstGeom>
          <a:noFill/>
        </p:spPr>
        <p:txBody>
          <a:bodyPr wrap="square" lIns="0" rIns="0" tIns="0" bIns="0" anchor="t">
            <a:spAutoFit/>
          </a:bodyPr>
          <a:lstStyle/>
          <a:p>
            <a:pPr algn="l">
              <a:lnSpc>
                <a:spcPct val="100000"/>
              </a:lnSpc>
              <a:buNone/>
            </a:pPr>
            <a:r>
              <a:rPr sz="950" b="0">
                <a:solidFill>
                  <a:srgbClr val="143A63"/>
                </a:solidFill>
                <a:latin typeface="Segoe UI"/>
              </a:rPr>
              <a:t>Alimentación del control tomada </a:t>
            </a:r>
            <a:r>
              <a:rPr sz="950" b="1">
                <a:solidFill>
                  <a:srgbClr val="143A63"/>
                </a:solidFill>
                <a:latin typeface="Segoe UI"/>
              </a:rPr>
              <a:t>antes</a:t>
            </a:r>
            <a:r>
              <a:rPr sz="950" b="0">
                <a:solidFill>
                  <a:srgbClr val="143A63"/>
                </a:solidFill>
                <a:latin typeface="Segoe UI"/>
              </a:rPr>
              <a:t> del contactor: el drive sigue vivo con la potencia cortada</a:t>
            </a:r>
          </a:p>
        </p:txBody>
      </p:sp>
      <p:sp>
        <p:nvSpPr>
          <p:cNvPr id="35" name="Rounded Rectangle 34"/>
          <p:cNvSpPr/>
          <p:nvPr/>
        </p:nvSpPr>
        <p:spPr>
          <a:xfrm>
            <a:off x="566928" y="5989320"/>
            <a:ext cx="11064240" cy="329184"/>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TIERRA EN ESTRELLA A LA PLACA DE MONTAJE — amplificador, motor, filtro y pantallas de todos los cables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Protecciones y cables para el SGD7S-200A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Valores de partida que hay que confirmar con el manual y la norma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51</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2467451"/>
                <a:gridCol w="4660742"/>
                <a:gridCol w="3929645"/>
              </a:tblGrid>
              <a:tr h="347472">
                <a:tc>
                  <a:txBody>
                    <a:bodyPr wrap="square"/>
                    <a:lstStyle/>
                    <a:p>
                      <a:pPr algn="l">
                        <a:lnSpc>
                          <a:spcPct val="100000"/>
                        </a:lnSpc>
                        <a:buNone/>
                      </a:pPr>
                      <a:r>
                        <a:rPr sz="95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selección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Valor orientativo para 3 kW</a:t>
                      </a:r>
                    </a:p>
                  </a:txBody>
                  <a:tcPr marL="82296" marR="82296" marT="27432" marB="27432" anchor="ctr">
                    <a:solidFill>
                      <a:srgbClr val="0B2545"/>
                    </a:solidFill>
                  </a:tcPr>
                </a:tc>
              </a:tr>
              <a:tr h="457200">
                <a:tc>
                  <a:txBody>
                    <a:bodyPr wrap="square"/>
                    <a:lstStyle/>
                    <a:p>
                      <a:pPr algn="l">
                        <a:lnSpc>
                          <a:spcPct val="100000"/>
                        </a:lnSpc>
                        <a:buNone/>
                      </a:pPr>
                      <a:r>
                        <a:rPr sz="950" b="0">
                          <a:solidFill>
                            <a:srgbClr val="1C2430"/>
                          </a:solidFill>
                          <a:latin typeface="Segoe UI"/>
                        </a:rPr>
                        <a:t>Interruptor automático / fusibles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Protección de cortocircuito de la línea; coordinar con la corriente de entrada (≈ 21 A) y con la corriente de arranque de precarga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Curva D o fusibles tipo gG; consulta la tabla del manual</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Sección del cable de red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Corriente de entrada continua y caída de tensión admisible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Del orden de 4 mm² (verificar según norma, longitud y agrupamiento)</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Contactor de línea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Categoría AC-1/AC-3 según el criterio de la instalación; debe cortar el circuito principal, no el de control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Dimensionado para ≥ 25 A</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Sección del cable de motor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Corriente nominal del motor (≈ 18,5 A) y pico (≈ 55 A) de corta duración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Del orden de 4 mm², </a:t>
                      </a:r>
                      <a:r>
                        <a:rPr sz="950" b="1">
                          <a:solidFill>
                            <a:srgbClr val="1C2430"/>
                          </a:solidFill>
                          <a:latin typeface="Segoe UI"/>
                        </a:rPr>
                        <a:t>apantallado</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Cable de encoder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Cable original apantallado y confeccionado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No fabricarlo artesanalmente</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Cable de E/S (</a:t>
                      </a:r>
                      <a:r>
                        <a:rPr sz="950" b="0">
                          <a:solidFill>
                            <a:srgbClr val="1C2430"/>
                          </a:solidFill>
                          <a:latin typeface="Consolas"/>
                        </a:rPr>
                        <a:t>CN1</a:t>
                      </a:r>
                      <a:r>
                        <a:rPr sz="950" b="0">
                          <a:solidFill>
                            <a:srgbClr val="1C2430"/>
                          </a:solidFill>
                          <a:latin typeface="Segoe UI"/>
                        </a:rPr>
                        <a:t>)</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Par trenzado apantallado, señales de 24 V</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0,2-0,5 mm²</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Fuente de 24 V CC</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Alimenta E/S y, en su caso, el freno del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Fuente independiente y dimensionada con margen</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Segoe UI"/>
                        </a:rPr>
                        <a:t>Filtro de red EMC</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Corriente nominal ≥ corriente de entrada; modelo recomendado por el fabricante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 25 A, monofásico o trifásico según el caso</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Segoe UI"/>
                        </a:rPr>
                        <a:t>Diferencial (si procede)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Tipo B (sensible a corriente continua) por los armónicos del inversor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Sensibilidad ≥ 300 mA para evitar disparos intempestivos</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selección definitiva de protecciones depende del régimen de neutro, de la norma aplicable y del estudio de cortocircuito de la instalación. Consulta la guía de periféricos de YASKAWA.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Secuencia de energizado y de parada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orden correcto evita alarmas y protege el equipo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52</a:t>
            </a:r>
          </a:p>
        </p:txBody>
      </p:sp>
      <p:sp>
        <p:nvSpPr>
          <p:cNvPr id="9" name="Rounded Rectangle 8"/>
          <p:cNvSpPr/>
          <p:nvPr/>
        </p:nvSpPr>
        <p:spPr>
          <a:xfrm>
            <a:off x="566928" y="1783080"/>
            <a:ext cx="5349240" cy="41148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SECUENCIA DE ARRANQUE</a:t>
            </a:r>
          </a:p>
        </p:txBody>
      </p:sp>
      <p:sp>
        <p:nvSpPr>
          <p:cNvPr id="10" name="Rectangle 9"/>
          <p:cNvSpPr/>
          <p:nvPr/>
        </p:nvSpPr>
        <p:spPr>
          <a:xfrm>
            <a:off x="566928" y="2350008"/>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2350008"/>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66928" y="2560320"/>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1</a:t>
            </a:r>
          </a:p>
        </p:txBody>
      </p:sp>
      <p:sp>
        <p:nvSpPr>
          <p:cNvPr id="13" name="TextBox 12"/>
          <p:cNvSpPr txBox="1"/>
          <p:nvPr/>
        </p:nvSpPr>
        <p:spPr>
          <a:xfrm>
            <a:off x="1097280" y="2450592"/>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Conectar la alimentación de </a:t>
            </a:r>
            <a:r>
              <a:rPr sz="1100" b="1">
                <a:solidFill>
                  <a:srgbClr val="0B2545"/>
                </a:solidFill>
                <a:latin typeface="Segoe UI"/>
              </a:rPr>
              <a:t>control</a:t>
            </a:r>
            <a:r>
              <a:rPr sz="1100" b="1">
                <a:solidFill>
                  <a:srgbClr val="0B2545"/>
                </a:solidFill>
                <a:latin typeface="Segoe UI"/>
              </a:rPr>
              <a:t> </a:t>
            </a:r>
            <a:r>
              <a:rPr sz="1100" b="1">
                <a:solidFill>
                  <a:srgbClr val="0B2545"/>
                </a:solidFill>
                <a:latin typeface="Consolas"/>
              </a:rPr>
              <a:t>L1C</a:t>
            </a:r>
            <a:r>
              <a:rPr sz="1100" b="1">
                <a:solidFill>
                  <a:srgbClr val="0B2545"/>
                </a:solidFill>
                <a:latin typeface="Segoe UI"/>
              </a:rPr>
              <a:t> </a:t>
            </a:r>
            <a:r>
              <a:rPr sz="1100" b="1">
                <a:solidFill>
                  <a:srgbClr val="0B2545"/>
                </a:solidFill>
                <a:latin typeface="Consolas"/>
              </a:rPr>
              <a:t>L2C</a:t>
            </a:r>
          </a:p>
        </p:txBody>
      </p:sp>
      <p:sp>
        <p:nvSpPr>
          <p:cNvPr id="14" name="TextBox 13"/>
          <p:cNvSpPr txBox="1"/>
          <p:nvPr/>
        </p:nvSpPr>
        <p:spPr>
          <a:xfrm>
            <a:off x="1097280" y="2743200"/>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display se ilumina; el drive arranca su electrónica</a:t>
            </a:r>
          </a:p>
        </p:txBody>
      </p:sp>
      <p:sp>
        <p:nvSpPr>
          <p:cNvPr id="15" name="Rectangle 14"/>
          <p:cNvSpPr/>
          <p:nvPr/>
        </p:nvSpPr>
        <p:spPr>
          <a:xfrm>
            <a:off x="566928" y="3136392"/>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3136392"/>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6928" y="3346704"/>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2</a:t>
            </a:r>
          </a:p>
        </p:txBody>
      </p:sp>
      <p:sp>
        <p:nvSpPr>
          <p:cNvPr id="18" name="TextBox 17"/>
          <p:cNvSpPr txBox="1"/>
          <p:nvPr/>
        </p:nvSpPr>
        <p:spPr>
          <a:xfrm>
            <a:off x="1097280" y="3236976"/>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Conectar la alimentación de </a:t>
            </a:r>
            <a:r>
              <a:rPr sz="1100" b="1">
                <a:solidFill>
                  <a:srgbClr val="0B2545"/>
                </a:solidFill>
                <a:latin typeface="Segoe UI"/>
              </a:rPr>
              <a:t>potencia</a:t>
            </a:r>
            <a:r>
              <a:rPr sz="1100" b="1">
                <a:solidFill>
                  <a:srgbClr val="0B2545"/>
                </a:solidFill>
                <a:latin typeface="Segoe UI"/>
              </a:rPr>
              <a:t> </a:t>
            </a:r>
            <a:r>
              <a:rPr sz="1100" b="1">
                <a:solidFill>
                  <a:srgbClr val="0B2545"/>
                </a:solidFill>
                <a:latin typeface="Consolas"/>
              </a:rPr>
              <a:t>L1</a:t>
            </a:r>
            <a:r>
              <a:rPr sz="1100" b="1">
                <a:solidFill>
                  <a:srgbClr val="0B2545"/>
                </a:solidFill>
                <a:latin typeface="Segoe UI"/>
              </a:rPr>
              <a:t> </a:t>
            </a:r>
            <a:r>
              <a:rPr sz="1100" b="1">
                <a:solidFill>
                  <a:srgbClr val="0B2545"/>
                </a:solidFill>
                <a:latin typeface="Consolas"/>
              </a:rPr>
              <a:t>L2</a:t>
            </a:r>
            <a:r>
              <a:rPr sz="1100" b="1">
                <a:solidFill>
                  <a:srgbClr val="0B2545"/>
                </a:solidFill>
                <a:latin typeface="Segoe UI"/>
              </a:rPr>
              <a:t> </a:t>
            </a:r>
            <a:r>
              <a:rPr sz="1100" b="1">
                <a:solidFill>
                  <a:srgbClr val="0B2545"/>
                </a:solidFill>
                <a:latin typeface="Consolas"/>
              </a:rPr>
              <a:t>L3</a:t>
            </a:r>
          </a:p>
        </p:txBody>
      </p:sp>
      <p:sp>
        <p:nvSpPr>
          <p:cNvPr id="19" name="TextBox 18"/>
          <p:cNvSpPr txBox="1"/>
          <p:nvPr/>
        </p:nvSpPr>
        <p:spPr>
          <a:xfrm>
            <a:off x="1097280" y="3529584"/>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Se cargan los condensadores del bus (precarga)</a:t>
            </a:r>
          </a:p>
        </p:txBody>
      </p:sp>
      <p:sp>
        <p:nvSpPr>
          <p:cNvPr id="20" name="Rectangle 19"/>
          <p:cNvSpPr/>
          <p:nvPr/>
        </p:nvSpPr>
        <p:spPr>
          <a:xfrm>
            <a:off x="566928" y="3922776"/>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6928" y="3922776"/>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6928" y="4133088"/>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3</a:t>
            </a:r>
          </a:p>
        </p:txBody>
      </p:sp>
      <p:sp>
        <p:nvSpPr>
          <p:cNvPr id="23" name="TextBox 22"/>
          <p:cNvSpPr txBox="1"/>
          <p:nvPr/>
        </p:nvSpPr>
        <p:spPr>
          <a:xfrm>
            <a:off x="1097280" y="4023360"/>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Esperar a que el drive esté </a:t>
            </a:r>
            <a:r>
              <a:rPr sz="1100" b="1">
                <a:solidFill>
                  <a:srgbClr val="0B2545"/>
                </a:solidFill>
                <a:latin typeface="Segoe UI"/>
              </a:rPr>
              <a:t>listo</a:t>
            </a:r>
            <a:r>
              <a:rPr sz="1100" b="1">
                <a:solidFill>
                  <a:srgbClr val="0B2545"/>
                </a:solidFill>
                <a:latin typeface="Segoe UI"/>
              </a:rPr>
              <a:t> (</a:t>
            </a:r>
            <a:r>
              <a:rPr sz="1100" b="1">
                <a:solidFill>
                  <a:srgbClr val="0B2545"/>
                </a:solidFill>
                <a:latin typeface="Consolas"/>
              </a:rPr>
              <a:t>/S-RDY</a:t>
            </a:r>
            <a:r>
              <a:rPr sz="1100" b="1">
                <a:solidFill>
                  <a:srgbClr val="0B2545"/>
                </a:solidFill>
                <a:latin typeface="Segoe UI"/>
              </a:rPr>
              <a:t>)</a:t>
            </a:r>
          </a:p>
        </p:txBody>
      </p:sp>
      <p:sp>
        <p:nvSpPr>
          <p:cNvPr id="24" name="TextBox 23"/>
          <p:cNvSpPr txBox="1"/>
          <p:nvPr/>
        </p:nvSpPr>
        <p:spPr>
          <a:xfrm>
            <a:off x="1097280" y="4315968"/>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Unas décimas de segundo; no fuerces el paso</a:t>
            </a:r>
          </a:p>
        </p:txBody>
      </p:sp>
      <p:sp>
        <p:nvSpPr>
          <p:cNvPr id="25" name="Rectangle 24"/>
          <p:cNvSpPr/>
          <p:nvPr/>
        </p:nvSpPr>
        <p:spPr>
          <a:xfrm>
            <a:off x="566928" y="4709160"/>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566928" y="4709160"/>
            <a:ext cx="384048" cy="7315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6928" y="4919472"/>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4</a:t>
            </a:r>
          </a:p>
        </p:txBody>
      </p:sp>
      <p:sp>
        <p:nvSpPr>
          <p:cNvPr id="28" name="TextBox 27"/>
          <p:cNvSpPr txBox="1"/>
          <p:nvPr/>
        </p:nvSpPr>
        <p:spPr>
          <a:xfrm>
            <a:off x="1097280" y="4809744"/>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Servo ON</a:t>
            </a:r>
            <a:r>
              <a:rPr sz="1100" b="1">
                <a:solidFill>
                  <a:srgbClr val="0B2545"/>
                </a:solidFill>
                <a:latin typeface="Segoe UI"/>
              </a:rPr>
              <a:t> (</a:t>
            </a:r>
            <a:r>
              <a:rPr sz="1100" b="1">
                <a:solidFill>
                  <a:srgbClr val="0B2545"/>
                </a:solidFill>
                <a:latin typeface="Consolas"/>
              </a:rPr>
              <a:t>/S-ON</a:t>
            </a:r>
            <a:r>
              <a:rPr sz="1100" b="1">
                <a:solidFill>
                  <a:srgbClr val="0B2545"/>
                </a:solidFill>
                <a:latin typeface="Segoe UI"/>
              </a:rPr>
              <a:t>), liberar el freno y mover</a:t>
            </a:r>
          </a:p>
        </p:txBody>
      </p:sp>
      <p:sp>
        <p:nvSpPr>
          <p:cNvPr id="29" name="TextBox 28"/>
          <p:cNvSpPr txBox="1"/>
          <p:nvPr/>
        </p:nvSpPr>
        <p:spPr>
          <a:xfrm>
            <a:off x="1097280" y="5102352"/>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Primero el motor sostiene la carga, después se libera el freno</a:t>
            </a:r>
          </a:p>
        </p:txBody>
      </p:sp>
      <p:sp>
        <p:nvSpPr>
          <p:cNvPr id="30" name="Rounded Rectangle 29"/>
          <p:cNvSpPr/>
          <p:nvPr/>
        </p:nvSpPr>
        <p:spPr>
          <a:xfrm>
            <a:off x="6291072" y="1783080"/>
            <a:ext cx="5349240" cy="411480"/>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SECUENCIA DE PARADA</a:t>
            </a:r>
          </a:p>
        </p:txBody>
      </p:sp>
      <p:sp>
        <p:nvSpPr>
          <p:cNvPr id="31" name="Rectangle 30"/>
          <p:cNvSpPr/>
          <p:nvPr/>
        </p:nvSpPr>
        <p:spPr>
          <a:xfrm>
            <a:off x="6291072" y="2350008"/>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91072" y="2350008"/>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91072" y="2560320"/>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1</a:t>
            </a:r>
          </a:p>
        </p:txBody>
      </p:sp>
      <p:sp>
        <p:nvSpPr>
          <p:cNvPr id="34" name="TextBox 33"/>
          <p:cNvSpPr txBox="1"/>
          <p:nvPr/>
        </p:nvSpPr>
        <p:spPr>
          <a:xfrm>
            <a:off x="6821424" y="2450592"/>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Llevar la consigna a </a:t>
            </a:r>
            <a:r>
              <a:rPr sz="1100" b="1">
                <a:solidFill>
                  <a:srgbClr val="0B2545"/>
                </a:solidFill>
                <a:latin typeface="Segoe UI"/>
              </a:rPr>
              <a:t>cero</a:t>
            </a:r>
            <a:r>
              <a:rPr sz="1100" b="1">
                <a:solidFill>
                  <a:srgbClr val="0B2545"/>
                </a:solidFill>
                <a:latin typeface="Segoe UI"/>
              </a:rPr>
              <a:t> y esperar velocidad cero</a:t>
            </a:r>
          </a:p>
        </p:txBody>
      </p:sp>
      <p:sp>
        <p:nvSpPr>
          <p:cNvPr id="35" name="TextBox 34"/>
          <p:cNvSpPr txBox="1"/>
          <p:nvPr/>
        </p:nvSpPr>
        <p:spPr>
          <a:xfrm>
            <a:off x="6821424" y="2743200"/>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Nunca cortar en movimiento si puede evitarse</a:t>
            </a:r>
          </a:p>
        </p:txBody>
      </p:sp>
      <p:sp>
        <p:nvSpPr>
          <p:cNvPr id="36" name="Rectangle 35"/>
          <p:cNvSpPr/>
          <p:nvPr/>
        </p:nvSpPr>
        <p:spPr>
          <a:xfrm>
            <a:off x="6291072" y="3136392"/>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291072" y="3136392"/>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291072" y="3346704"/>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2</a:t>
            </a:r>
          </a:p>
        </p:txBody>
      </p:sp>
      <p:sp>
        <p:nvSpPr>
          <p:cNvPr id="39" name="TextBox 38"/>
          <p:cNvSpPr txBox="1"/>
          <p:nvPr/>
        </p:nvSpPr>
        <p:spPr>
          <a:xfrm>
            <a:off x="6821424" y="3236976"/>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Aplicar el freno</a:t>
            </a:r>
            <a:r>
              <a:rPr sz="1100" b="1">
                <a:solidFill>
                  <a:srgbClr val="0B2545"/>
                </a:solidFill>
                <a:latin typeface="Segoe UI"/>
              </a:rPr>
              <a:t> (</a:t>
            </a:r>
            <a:r>
              <a:rPr sz="1100" b="1">
                <a:solidFill>
                  <a:srgbClr val="0B2545"/>
                </a:solidFill>
                <a:latin typeface="Consolas"/>
              </a:rPr>
              <a:t>/BK</a:t>
            </a:r>
            <a:r>
              <a:rPr sz="1100" b="1">
                <a:solidFill>
                  <a:srgbClr val="0B2545"/>
                </a:solidFill>
                <a:latin typeface="Segoe UI"/>
              </a:rPr>
              <a:t>) y esperar a que agarre</a:t>
            </a:r>
          </a:p>
        </p:txBody>
      </p:sp>
      <p:sp>
        <p:nvSpPr>
          <p:cNvPr id="40" name="TextBox 39"/>
          <p:cNvSpPr txBox="1"/>
          <p:nvPr/>
        </p:nvSpPr>
        <p:spPr>
          <a:xfrm>
            <a:off x="6821424" y="3529584"/>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Consolas"/>
              </a:rPr>
              <a:t>Pn507</a:t>
            </a:r>
            <a:r>
              <a:rPr sz="950" b="0">
                <a:solidFill>
                  <a:srgbClr val="5A6B7B"/>
                </a:solidFill>
                <a:latin typeface="Segoe UI"/>
              </a:rPr>
              <a:t> fija el umbral de velocidad; </a:t>
            </a:r>
            <a:r>
              <a:rPr sz="950" b="0">
                <a:solidFill>
                  <a:srgbClr val="5A6B7B"/>
                </a:solidFill>
                <a:latin typeface="Consolas"/>
              </a:rPr>
              <a:t>Pn508</a:t>
            </a:r>
            <a:r>
              <a:rPr sz="950" b="0">
                <a:solidFill>
                  <a:srgbClr val="5A6B7B"/>
                </a:solidFill>
                <a:latin typeface="Segoe UI"/>
              </a:rPr>
              <a:t>, la espera</a:t>
            </a:r>
          </a:p>
        </p:txBody>
      </p:sp>
      <p:sp>
        <p:nvSpPr>
          <p:cNvPr id="41" name="Rectangle 40"/>
          <p:cNvSpPr/>
          <p:nvPr/>
        </p:nvSpPr>
        <p:spPr>
          <a:xfrm>
            <a:off x="6291072" y="3922776"/>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6291072" y="3922776"/>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291072" y="4133088"/>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3</a:t>
            </a:r>
          </a:p>
        </p:txBody>
      </p:sp>
      <p:sp>
        <p:nvSpPr>
          <p:cNvPr id="44" name="TextBox 43"/>
          <p:cNvSpPr txBox="1"/>
          <p:nvPr/>
        </p:nvSpPr>
        <p:spPr>
          <a:xfrm>
            <a:off x="6821424" y="4023360"/>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Desactivar </a:t>
            </a:r>
            <a:r>
              <a:rPr sz="1100" b="1">
                <a:solidFill>
                  <a:srgbClr val="0B2545"/>
                </a:solidFill>
                <a:latin typeface="Segoe UI"/>
              </a:rPr>
              <a:t>servo OFF</a:t>
            </a:r>
          </a:p>
        </p:txBody>
      </p:sp>
      <p:sp>
        <p:nvSpPr>
          <p:cNvPr id="45" name="TextBox 44"/>
          <p:cNvSpPr txBox="1"/>
          <p:nvPr/>
        </p:nvSpPr>
        <p:spPr>
          <a:xfrm>
            <a:off x="6821424" y="4315968"/>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motor deja de dar par; el freno sostiene la carga</a:t>
            </a:r>
          </a:p>
        </p:txBody>
      </p:sp>
      <p:sp>
        <p:nvSpPr>
          <p:cNvPr id="46" name="Rectangle 45"/>
          <p:cNvSpPr/>
          <p:nvPr/>
        </p:nvSpPr>
        <p:spPr>
          <a:xfrm>
            <a:off x="6291072" y="4709160"/>
            <a:ext cx="5349240" cy="7315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6291072" y="4709160"/>
            <a:ext cx="384048" cy="7315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291072" y="4919472"/>
            <a:ext cx="384048" cy="274320"/>
          </a:xfrm>
          <a:prstGeom prst="rect">
            <a:avLst/>
          </a:prstGeom>
          <a:noFill/>
        </p:spPr>
        <p:txBody>
          <a:bodyPr wrap="square" lIns="0" rIns="0" tIns="0" bIns="0" anchor="t">
            <a:spAutoFit/>
          </a:bodyPr>
          <a:lstStyle/>
          <a:p>
            <a:pPr algn="ctr">
              <a:lnSpc>
                <a:spcPct val="100000"/>
              </a:lnSpc>
              <a:buNone/>
            </a:pPr>
            <a:r>
              <a:rPr sz="1400" b="1">
                <a:solidFill>
                  <a:srgbClr val="FFFFFF"/>
                </a:solidFill>
                <a:latin typeface="Segoe UI"/>
              </a:rPr>
              <a:t>4</a:t>
            </a:r>
          </a:p>
        </p:txBody>
      </p:sp>
      <p:sp>
        <p:nvSpPr>
          <p:cNvPr id="49" name="TextBox 48"/>
          <p:cNvSpPr txBox="1"/>
          <p:nvPr/>
        </p:nvSpPr>
        <p:spPr>
          <a:xfrm>
            <a:off x="6821424" y="4809744"/>
            <a:ext cx="4663440"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a:rPr>
              <a:t>Cortar la </a:t>
            </a:r>
            <a:r>
              <a:rPr sz="1100" b="1">
                <a:solidFill>
                  <a:srgbClr val="0B2545"/>
                </a:solidFill>
                <a:latin typeface="Segoe UI"/>
              </a:rPr>
              <a:t>potencia</a:t>
            </a:r>
            <a:r>
              <a:rPr sz="1100" b="1">
                <a:solidFill>
                  <a:srgbClr val="0B2545"/>
                </a:solidFill>
                <a:latin typeface="Segoe UI"/>
              </a:rPr>
              <a:t> y, por último, el </a:t>
            </a:r>
            <a:r>
              <a:rPr sz="1100" b="1">
                <a:solidFill>
                  <a:srgbClr val="0B2545"/>
                </a:solidFill>
                <a:latin typeface="Segoe UI"/>
              </a:rPr>
              <a:t>control</a:t>
            </a:r>
          </a:p>
        </p:txBody>
      </p:sp>
      <p:sp>
        <p:nvSpPr>
          <p:cNvPr id="50" name="TextBox 49"/>
          <p:cNvSpPr txBox="1"/>
          <p:nvPr/>
        </p:nvSpPr>
        <p:spPr>
          <a:xfrm>
            <a:off x="6821424" y="5102352"/>
            <a:ext cx="4663440" cy="27432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control se corta al final para no perder el diagnóstico</a:t>
            </a:r>
          </a:p>
        </p:txBody>
      </p:sp>
      <p:sp>
        <p:nvSpPr>
          <p:cNvPr id="51" name="Rectangle 50"/>
          <p:cNvSpPr/>
          <p:nvPr/>
        </p:nvSpPr>
        <p:spPr>
          <a:xfrm>
            <a:off x="566928" y="5577840"/>
            <a:ext cx="11064240" cy="749808"/>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566928" y="5577840"/>
            <a:ext cx="68580" cy="74980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41248" y="5715000"/>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Dos errores de secuencia muy frecuentes</a:t>
            </a:r>
          </a:p>
        </p:txBody>
      </p:sp>
      <p:sp>
        <p:nvSpPr>
          <p:cNvPr id="54" name="TextBox 53"/>
          <p:cNvSpPr txBox="1"/>
          <p:nvPr/>
        </p:nvSpPr>
        <p:spPr>
          <a:xfrm>
            <a:off x="841248" y="5989320"/>
            <a:ext cx="10561320" cy="246888"/>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Dar servo ON inmediatamente después de la potencia (alarma de subtensión o de secuencia inválida) · Cortar el contactor de línea con el motor girando como forma habitual de parar la máquina (desgasta el circuito de precarga y provoca paradas por freno dinámico).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Compatibilidad electromagnética: reglas de oro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apantallamiento no es opcional: es parte del diseño eléctrico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53</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875" b="1">
                <a:solidFill>
                  <a:srgbClr val="1B5EA8"/>
                </a:solidFill>
                <a:latin typeface="Segoe UI Semibold"/>
              </a:rPr>
              <a:t>El problema</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El inversor conmuta cientos de amperios en decenas de nanosegundos. Esos flancos generan interferencias que se acoplan a los cables cercanos y a la red.</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75" b="1">
                <a:solidFill>
                  <a:srgbClr val="1B5EA8"/>
                </a:solidFill>
                <a:latin typeface="Segoe UI Semibold"/>
              </a:rPr>
              <a:t>Las siete reglas que resuelven el 95 % de los casos</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1. Filtro de red</a:t>
            </a:r>
            <a:r>
              <a:rPr sz="925" b="1">
                <a:solidFill>
                  <a:srgbClr val="1C2430"/>
                </a:solidFill>
                <a:latin typeface="Segoe UI"/>
              </a:rPr>
              <a:t> en la entrada, montado </a:t>
            </a:r>
            <a:r>
              <a:rPr sz="925" b="1">
                <a:solidFill>
                  <a:srgbClr val="1C2430"/>
                </a:solidFill>
                <a:latin typeface="Segoe UI"/>
              </a:rPr>
              <a:t>junto al amplificador</a:t>
            </a:r>
            <a:r>
              <a:rPr sz="925" b="1">
                <a:solidFill>
                  <a:srgbClr val="1C2430"/>
                </a:solidFill>
                <a:latin typeface="Segoe UI"/>
              </a:rPr>
              <a:t> y con la carcasa en contacto metal-metal con la placa.</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2. Cable de motor apantallado</a:t>
            </a:r>
            <a:r>
              <a:rPr sz="925" b="1">
                <a:solidFill>
                  <a:srgbClr val="1C2430"/>
                </a:solidFill>
                <a:latin typeface="Segoe UI"/>
              </a:rPr>
              <a:t>, con la malla conectada a tierra en </a:t>
            </a:r>
            <a:r>
              <a:rPr sz="925" b="1">
                <a:solidFill>
                  <a:srgbClr val="1C2430"/>
                </a:solidFill>
                <a:latin typeface="Segoe UI"/>
              </a:rPr>
              <a:t>ambos extremos</a:t>
            </a:r>
            <a:r>
              <a:rPr sz="925" b="1">
                <a:solidFill>
                  <a:srgbClr val="1C2430"/>
                </a:solidFill>
                <a:latin typeface="Segoe UI"/>
              </a:rPr>
              <a:t> y por </a:t>
            </a:r>
            <a:r>
              <a:rPr sz="925" b="1">
                <a:solidFill>
                  <a:srgbClr val="1C2430"/>
                </a:solidFill>
                <a:latin typeface="Segoe UI"/>
              </a:rPr>
              <a:t>360°</a:t>
            </a:r>
            <a:r>
              <a:rPr sz="925" b="1">
                <a:solidFill>
                  <a:srgbClr val="1C2430"/>
                </a:solidFill>
                <a:latin typeface="Segoe UI"/>
              </a:rPr>
              <a:t> (abrazadera EMC), no con un latiguillo.</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3. Separación física</a:t>
            </a:r>
            <a:r>
              <a:rPr sz="925" b="1">
                <a:solidFill>
                  <a:srgbClr val="1C2430"/>
                </a:solidFill>
                <a:latin typeface="Segoe UI"/>
              </a:rPr>
              <a:t>: mínimo </a:t>
            </a:r>
            <a:r>
              <a:rPr sz="925" b="1">
                <a:solidFill>
                  <a:srgbClr val="1C2430"/>
                </a:solidFill>
                <a:latin typeface="Segoe UI"/>
              </a:rPr>
              <a:t>30 cm</a:t>
            </a:r>
            <a:r>
              <a:rPr sz="925" b="1">
                <a:solidFill>
                  <a:srgbClr val="1C2430"/>
                </a:solidFill>
                <a:latin typeface="Segoe UI"/>
              </a:rPr>
              <a:t> entre cables de potencia y cables de señal/encoder que discurran en paralelo.</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4. Cruces a 90°</a:t>
            </a:r>
            <a:r>
              <a:rPr sz="925" b="1">
                <a:solidFill>
                  <a:srgbClr val="1C2430"/>
                </a:solidFill>
                <a:latin typeface="Segoe UI"/>
              </a:rPr>
              <a:t> cuando sea inevitable que se crucen.</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5. Canaletas metálicas separadas</a:t>
            </a:r>
            <a:r>
              <a:rPr sz="925" b="1">
                <a:solidFill>
                  <a:srgbClr val="1C2430"/>
                </a:solidFill>
                <a:latin typeface="Segoe UI"/>
              </a:rPr>
              <a:t> para potencia y para señal, conectadas a tierra.</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6. Cable de motor lo más corto posible</a:t>
            </a:r>
            <a:r>
              <a:rPr sz="925" b="1">
                <a:solidFill>
                  <a:srgbClr val="1C2430"/>
                </a:solidFill>
                <a:latin typeface="Segoe UI"/>
              </a:rPr>
              <a:t>: la longitud aumenta las corrientes de fuga y la emisión.</a:t>
            </a:r>
          </a:p>
          <a:p>
            <a:pPr marL="274320" indent="-201168">
              <a:lnSpc>
                <a:spcPct val="106000"/>
              </a:lnSpc>
              <a:spcAft>
                <a:spcPts val="900"/>
              </a:spcAft>
              <a:buClr>
                <a:srgbClr val="1B5EA8"/>
              </a:buClr>
              <a:buSzPct val="90000"/>
              <a:buFont typeface="Arial"/>
              <a:buChar char="■"/>
            </a:pPr>
            <a:r>
              <a:rPr sz="925" b="1">
                <a:solidFill>
                  <a:srgbClr val="1C2430"/>
                </a:solidFill>
                <a:latin typeface="Segoe UI"/>
              </a:rPr>
              <a:t>7. Un único punto de referencia de masa</a:t>
            </a:r>
            <a:r>
              <a:rPr sz="925" b="1">
                <a:solidFill>
                  <a:srgbClr val="1C2430"/>
                </a:solidFill>
                <a:latin typeface="Segoe UI"/>
              </a:rPr>
              <a:t> en el armario: placa de montaje desnuda, con todas las tierras en estrella hacia ella.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75" b="1">
                <a:solidFill>
                  <a:srgbClr val="1B5EA8"/>
                </a:solidFill>
                <a:latin typeface="Segoe UI Semibold"/>
              </a:rPr>
              <a:t>Cómo se manifiesta un problema de EMC</a:t>
            </a:r>
          </a:p>
          <a:p>
            <a:pPr marL="566928" indent="-201168">
              <a:lnSpc>
                <a:spcPct val="106000"/>
              </a:lnSpc>
              <a:spcAft>
                <a:spcPts val="500"/>
              </a:spcAft>
              <a:buClr>
                <a:srgbClr val="00A9CE"/>
              </a:buClr>
              <a:buSzPct val="90000"/>
              <a:buFont typeface="Arial"/>
              <a:buChar char="▸"/>
            </a:pPr>
            <a:r>
              <a:rPr sz="775" b="0">
                <a:solidFill>
                  <a:srgbClr val="333F4C"/>
                </a:solidFill>
                <a:latin typeface="Segoe UI"/>
              </a:rPr>
              <a:t>Alarmas intermitentes de encoder (</a:t>
            </a:r>
            <a:r>
              <a:rPr sz="775" b="0">
                <a:solidFill>
                  <a:srgbClr val="333F4C"/>
                </a:solidFill>
                <a:latin typeface="Consolas"/>
              </a:rPr>
              <a:t>A.C90</a:t>
            </a:r>
            <a:r>
              <a:rPr sz="775" b="0">
                <a:solidFill>
                  <a:srgbClr val="333F4C"/>
                </a:solidFill>
                <a:latin typeface="Segoe UI"/>
              </a:rPr>
              <a:t>, </a:t>
            </a:r>
            <a:r>
              <a:rPr sz="775" b="0">
                <a:solidFill>
                  <a:srgbClr val="333F4C"/>
                </a:solidFill>
                <a:latin typeface="Consolas"/>
              </a:rPr>
              <a:t>A.840</a:t>
            </a:r>
            <a:r>
              <a:rPr sz="775" b="0">
                <a:solidFill>
                  <a:srgbClr val="333F4C"/>
                </a:solidFill>
                <a:latin typeface="Segoe UI"/>
              </a:rPr>
              <a:t>) que 'aparecen y desaparecen' sin patrón.</a:t>
            </a:r>
          </a:p>
          <a:p>
            <a:pPr marL="566928" indent="-201168">
              <a:lnSpc>
                <a:spcPct val="106000"/>
              </a:lnSpc>
              <a:spcAft>
                <a:spcPts val="500"/>
              </a:spcAft>
              <a:buClr>
                <a:srgbClr val="00A9CE"/>
              </a:buClr>
              <a:buSzPct val="90000"/>
              <a:buFont typeface="Arial"/>
              <a:buChar char="▸"/>
            </a:pPr>
            <a:r>
              <a:rPr sz="775" b="0">
                <a:solidFill>
                  <a:srgbClr val="333F4C"/>
                </a:solidFill>
                <a:latin typeface="Segoe UI"/>
              </a:rPr>
              <a:t>Ruido en la medida de velocidad, entradas digitales que conmutan solas, pérdidas de comunicación de bus.</a:t>
            </a:r>
          </a:p>
        </p:txBody>
      </p:sp>
      <p:sp>
        <p:nvSpPr>
          <p:cNvPr id="10" name="Rectangle 9"/>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El error más frecuente</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Conectar la malla del cable de motor sólo en un extremo, o hacerlo con un cable trenzado largo hasta el borne de tierra. A alta frecuencia ese latiguillo es una inductancia: hay que usar abrazadera de 360°.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487" b="1">
                <a:solidFill>
                  <a:srgbClr val="FFFFFF"/>
                </a:solidFill>
                <a:latin typeface="Segoe UI Semibold"/>
              </a:rPr>
              <a:t>Conexión de la regeneración y del freno de retención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detalles de cableado que provocan muchas averías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54</a:t>
            </a:r>
          </a:p>
        </p:txBody>
      </p:sp>
      <p:sp>
        <p:nvSpPr>
          <p:cNvPr id="9" name="Rectangle 8"/>
          <p:cNvSpPr/>
          <p:nvPr/>
        </p:nvSpPr>
        <p:spPr>
          <a:xfrm>
            <a:off x="566928" y="1645920"/>
            <a:ext cx="5394960" cy="3977639"/>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1810512"/>
            <a:ext cx="4846320" cy="320040"/>
          </a:xfrm>
          <a:prstGeom prst="rect">
            <a:avLst/>
          </a:prstGeom>
          <a:noFill/>
        </p:spPr>
        <p:txBody>
          <a:bodyPr wrap="square" lIns="0" rIns="0" tIns="0" bIns="0" anchor="t">
            <a:spAutoFit/>
          </a:bodyPr>
          <a:lstStyle/>
          <a:p>
            <a:pPr algn="l">
              <a:lnSpc>
                <a:spcPct val="100000"/>
              </a:lnSpc>
              <a:buNone/>
            </a:pPr>
            <a:r>
              <a:rPr sz="1400" b="1">
                <a:solidFill>
                  <a:srgbClr val="C0392B"/>
                </a:solidFill>
                <a:latin typeface="Segoe UI"/>
              </a:rPr>
              <a:t>1 · Resistencia de regeneración</a:t>
            </a:r>
          </a:p>
        </p:txBody>
      </p:sp>
      <p:sp>
        <p:nvSpPr>
          <p:cNvPr id="11" name="Rounded Rectangle 10"/>
          <p:cNvSpPr/>
          <p:nvPr/>
        </p:nvSpPr>
        <p:spPr>
          <a:xfrm>
            <a:off x="914400" y="2331720"/>
            <a:ext cx="1965960" cy="1417320"/>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SERVOPACK</a:t>
            </a:r>
          </a:p>
          <a:p>
            <a:pPr algn="ctr">
              <a:lnSpc>
                <a:spcPct val="100000"/>
              </a:lnSpc>
              <a:buNone/>
            </a:pPr>
          </a:p>
          <a:p>
            <a:pPr algn="ctr">
              <a:lnSpc>
                <a:spcPct val="100000"/>
              </a:lnSpc>
              <a:buNone/>
            </a:pPr>
            <a:r>
              <a:rPr sz="1050" b="1">
                <a:solidFill>
                  <a:srgbClr val="FFFFFF"/>
                </a:solidFill>
                <a:latin typeface="Consolas"/>
              </a:rPr>
              <a:t>B1/⊕</a:t>
            </a:r>
          </a:p>
          <a:p>
            <a:pPr algn="ctr">
              <a:lnSpc>
                <a:spcPct val="100000"/>
              </a:lnSpc>
              <a:buNone/>
            </a:pPr>
            <a:r>
              <a:rPr sz="1050" b="1">
                <a:solidFill>
                  <a:srgbClr val="FFFFFF"/>
                </a:solidFill>
                <a:latin typeface="Consolas"/>
              </a:rPr>
              <a:t>B2</a:t>
            </a:r>
          </a:p>
          <a:p>
            <a:pPr algn="ctr">
              <a:lnSpc>
                <a:spcPct val="100000"/>
              </a:lnSpc>
              <a:buNone/>
            </a:pPr>
            <a:r>
              <a:rPr sz="1050" b="1">
                <a:solidFill>
                  <a:srgbClr val="FFFFFF"/>
                </a:solidFill>
                <a:latin typeface="Consolas"/>
              </a:rPr>
              <a:t>B3</a:t>
            </a:r>
          </a:p>
        </p:txBody>
      </p:sp>
      <p:sp>
        <p:nvSpPr>
          <p:cNvPr id="12" name="Rounded Rectangle 11"/>
          <p:cNvSpPr/>
          <p:nvPr/>
        </p:nvSpPr>
        <p:spPr>
          <a:xfrm>
            <a:off x="3520440" y="2331720"/>
            <a:ext cx="2148840" cy="621792"/>
          </a:xfrm>
          <a:prstGeom prst="roundRect">
            <a:avLst>
              <a:gd name="adj" fmla="val 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CONFIGURACIÓN DE FÁBRICA</a:t>
            </a:r>
          </a:p>
          <a:p>
            <a:pPr algn="ctr">
              <a:lnSpc>
                <a:spcPct val="100000"/>
              </a:lnSpc>
              <a:buNone/>
            </a:pPr>
            <a:r>
              <a:rPr sz="950" b="1">
                <a:solidFill>
                  <a:srgbClr val="FFFFFF"/>
                </a:solidFill>
                <a:latin typeface="Segoe UI"/>
              </a:rPr>
              <a:t>puente </a:t>
            </a:r>
            <a:r>
              <a:rPr sz="950" b="1">
                <a:solidFill>
                  <a:srgbClr val="FFFFFF"/>
                </a:solidFill>
                <a:latin typeface="Consolas"/>
              </a:rPr>
              <a:t>B2</a:t>
            </a:r>
            <a:r>
              <a:rPr sz="950" b="1">
                <a:solidFill>
                  <a:srgbClr val="FFFFFF"/>
                </a:solidFill>
                <a:latin typeface="Segoe UI"/>
              </a:rPr>
              <a:t>-</a:t>
            </a:r>
            <a:r>
              <a:rPr sz="950" b="1">
                <a:solidFill>
                  <a:srgbClr val="FFFFFF"/>
                </a:solidFill>
                <a:latin typeface="Consolas"/>
              </a:rPr>
              <a:t>B3</a:t>
            </a:r>
            <a:r>
              <a:rPr sz="950" b="1">
                <a:solidFill>
                  <a:srgbClr val="FFFFFF"/>
                </a:solidFill>
                <a:latin typeface="Segoe UI"/>
              </a:rPr>
              <a:t> colocado</a:t>
            </a:r>
          </a:p>
        </p:txBody>
      </p:sp>
      <p:sp>
        <p:nvSpPr>
          <p:cNvPr id="13" name="Rounded Rectangle 12"/>
          <p:cNvSpPr/>
          <p:nvPr/>
        </p:nvSpPr>
        <p:spPr>
          <a:xfrm>
            <a:off x="3520440" y="3127248"/>
            <a:ext cx="2148840" cy="621792"/>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RESISTENCIA EXTERNA</a:t>
            </a:r>
          </a:p>
          <a:p>
            <a:pPr algn="ctr">
              <a:lnSpc>
                <a:spcPct val="100000"/>
              </a:lnSpc>
              <a:buNone/>
            </a:pPr>
            <a:r>
              <a:rPr sz="950" b="1">
                <a:solidFill>
                  <a:srgbClr val="FFFFFF"/>
                </a:solidFill>
                <a:latin typeface="Segoe UI"/>
              </a:rPr>
              <a:t>retirar el puente y conectar </a:t>
            </a:r>
            <a:r>
              <a:rPr sz="950" b="1">
                <a:solidFill>
                  <a:srgbClr val="FFFFFF"/>
                </a:solidFill>
                <a:latin typeface="Consolas"/>
              </a:rPr>
              <a:t>B1</a:t>
            </a:r>
            <a:r>
              <a:rPr sz="950" b="1">
                <a:solidFill>
                  <a:srgbClr val="FFFFFF"/>
                </a:solidFill>
                <a:latin typeface="Segoe UI"/>
              </a:rPr>
              <a:t>-</a:t>
            </a:r>
            <a:r>
              <a:rPr sz="950" b="1">
                <a:solidFill>
                  <a:srgbClr val="FFFFFF"/>
                </a:solidFill>
                <a:latin typeface="Consolas"/>
              </a:rPr>
              <a:t>B2</a:t>
            </a:r>
          </a:p>
        </p:txBody>
      </p:sp>
      <p:cxnSp>
        <p:nvCxnSpPr>
          <p:cNvPr id="14" name="Connector 13"/>
          <p:cNvCxnSpPr/>
          <p:nvPr/>
        </p:nvCxnSpPr>
        <p:spPr>
          <a:xfrm>
            <a:off x="2880360" y="2642616"/>
            <a:ext cx="640080" cy="0"/>
          </a:xfrm>
          <a:prstGeom prst="line">
            <a:avLst/>
          </a:prstGeom>
          <a:ln w="1905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80360" y="3438144"/>
            <a:ext cx="64008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8680" y="3931920"/>
            <a:ext cx="4800600" cy="16002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Retira </a:t>
            </a:r>
            <a:r>
              <a:rPr sz="1050" b="1">
                <a:solidFill>
                  <a:srgbClr val="1C2430"/>
                </a:solidFill>
                <a:latin typeface="Segoe UI"/>
              </a:rPr>
              <a:t>siempre</a:t>
            </a:r>
            <a:r>
              <a:rPr sz="1050" b="1">
                <a:solidFill>
                  <a:srgbClr val="1C2430"/>
                </a:solidFill>
                <a:latin typeface="Segoe UI"/>
              </a:rPr>
              <a:t> el puente antes de conectar una resistencia externa.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Respeta la </a:t>
            </a:r>
            <a:r>
              <a:rPr sz="1050" b="1">
                <a:solidFill>
                  <a:srgbClr val="1C2430"/>
                </a:solidFill>
                <a:latin typeface="Segoe UI"/>
              </a:rPr>
              <a:t>resistencia mínima admisible</a:t>
            </a:r>
            <a:r>
              <a:rPr sz="1050" b="1">
                <a:solidFill>
                  <a:srgbClr val="1C2430"/>
                </a:solidFill>
                <a:latin typeface="Segoe UI"/>
              </a:rPr>
              <a:t> del amplificador.</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Declara la capacidad en </a:t>
            </a:r>
            <a:r>
              <a:rPr sz="1050" b="1">
                <a:solidFill>
                  <a:srgbClr val="1C2430"/>
                </a:solidFill>
                <a:latin typeface="Consolas"/>
              </a:rPr>
              <a:t>Pn600</a:t>
            </a:r>
            <a:r>
              <a:rPr sz="1050" b="1">
                <a:solidFill>
                  <a:srgbClr val="1C2430"/>
                </a:solidFill>
                <a:latin typeface="Segoe UI"/>
              </a:rPr>
              <a:t> para que la protección térmica funcione.</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Móntala ventilada y con termostato de seguridad: alcanza temperaturas muy altas.</a:t>
            </a:r>
          </a:p>
        </p:txBody>
      </p:sp>
      <p:sp>
        <p:nvSpPr>
          <p:cNvPr id="17" name="Rectangle 16"/>
          <p:cNvSpPr/>
          <p:nvPr/>
        </p:nvSpPr>
        <p:spPr>
          <a:xfrm>
            <a:off x="6236208" y="1645920"/>
            <a:ext cx="5394960" cy="3977639"/>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92240" y="1810512"/>
            <a:ext cx="4846320" cy="320040"/>
          </a:xfrm>
          <a:prstGeom prst="rect">
            <a:avLst/>
          </a:prstGeom>
          <a:noFill/>
        </p:spPr>
        <p:txBody>
          <a:bodyPr wrap="square" lIns="0" rIns="0" tIns="0" bIns="0" anchor="t">
            <a:spAutoFit/>
          </a:bodyPr>
          <a:lstStyle/>
          <a:p>
            <a:pPr algn="l">
              <a:lnSpc>
                <a:spcPct val="100000"/>
              </a:lnSpc>
              <a:buNone/>
            </a:pPr>
            <a:r>
              <a:rPr sz="1400" b="1">
                <a:solidFill>
                  <a:srgbClr val="2E8B57"/>
                </a:solidFill>
                <a:latin typeface="Segoe UI"/>
              </a:rPr>
              <a:t>2 · Freno de retención del motor</a:t>
            </a:r>
          </a:p>
        </p:txBody>
      </p:sp>
      <p:sp>
        <p:nvSpPr>
          <p:cNvPr id="19" name="Rounded Rectangle 18"/>
          <p:cNvSpPr/>
          <p:nvPr/>
        </p:nvSpPr>
        <p:spPr>
          <a:xfrm>
            <a:off x="6537960" y="2331720"/>
            <a:ext cx="1691640" cy="658368"/>
          </a:xfrm>
          <a:prstGeom prst="roundRect">
            <a:avLst>
              <a:gd name="adj" fmla="val 8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Salida </a:t>
            </a:r>
            <a:r>
              <a:rPr sz="1000" b="1">
                <a:solidFill>
                  <a:srgbClr val="FFFFFF"/>
                </a:solidFill>
                <a:latin typeface="Consolas"/>
              </a:rPr>
              <a:t>/BK</a:t>
            </a:r>
          </a:p>
          <a:p>
            <a:pPr algn="ctr">
              <a:lnSpc>
                <a:spcPct val="100000"/>
              </a:lnSpc>
              <a:buNone/>
            </a:pPr>
            <a:r>
              <a:rPr sz="1000" b="1">
                <a:solidFill>
                  <a:srgbClr val="FFFFFF"/>
                </a:solidFill>
                <a:latin typeface="Segoe UI"/>
              </a:rPr>
              <a:t>del </a:t>
            </a:r>
            <a:r>
              <a:rPr sz="1000" b="1">
                <a:solidFill>
                  <a:srgbClr val="FFFFFF"/>
                </a:solidFill>
                <a:latin typeface="Consolas"/>
              </a:rPr>
              <a:t>CN1</a:t>
            </a:r>
          </a:p>
        </p:txBody>
      </p:sp>
      <p:sp>
        <p:nvSpPr>
          <p:cNvPr id="20" name="Right Arrow 19"/>
          <p:cNvSpPr/>
          <p:nvPr/>
        </p:nvSpPr>
        <p:spPr>
          <a:xfrm>
            <a:off x="8275320" y="2578608"/>
            <a:ext cx="32004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8641080" y="2331720"/>
            <a:ext cx="1463040" cy="658368"/>
          </a:xfrm>
          <a:prstGeom prst="roundRect">
            <a:avLst>
              <a:gd name="adj" fmla="val 8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RELÉ</a:t>
            </a:r>
          </a:p>
          <a:p>
            <a:pPr algn="ctr">
              <a:lnSpc>
                <a:spcPct val="100000"/>
              </a:lnSpc>
              <a:buNone/>
            </a:pPr>
            <a:r>
              <a:rPr sz="1000" b="1">
                <a:solidFill>
                  <a:srgbClr val="FFFFFF"/>
                </a:solidFill>
                <a:latin typeface="Segoe UI"/>
              </a:rPr>
              <a:t>intermedio</a:t>
            </a:r>
          </a:p>
        </p:txBody>
      </p:sp>
      <p:sp>
        <p:nvSpPr>
          <p:cNvPr id="22" name="Right Arrow 21"/>
          <p:cNvSpPr/>
          <p:nvPr/>
        </p:nvSpPr>
        <p:spPr>
          <a:xfrm>
            <a:off x="10149840" y="2578608"/>
            <a:ext cx="32004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10515600" y="2331720"/>
            <a:ext cx="960120" cy="658368"/>
          </a:xfrm>
          <a:prstGeom prst="roundRect">
            <a:avLst>
              <a:gd name="adj" fmla="val 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Segoe UI"/>
              </a:rPr>
              <a:t>FRENO</a:t>
            </a:r>
          </a:p>
          <a:p>
            <a:pPr algn="ctr">
              <a:lnSpc>
                <a:spcPct val="100000"/>
              </a:lnSpc>
              <a:buNone/>
            </a:pPr>
            <a:r>
              <a:rPr sz="1000" b="1">
                <a:solidFill>
                  <a:srgbClr val="FFFFFF"/>
                </a:solidFill>
                <a:latin typeface="Segoe UI"/>
              </a:rPr>
              <a:t>24 V</a:t>
            </a:r>
          </a:p>
        </p:txBody>
      </p:sp>
      <p:sp>
        <p:nvSpPr>
          <p:cNvPr id="24" name="Rounded Rectangle 23"/>
          <p:cNvSpPr/>
          <p:nvPr/>
        </p:nvSpPr>
        <p:spPr>
          <a:xfrm>
            <a:off x="8641080" y="3154680"/>
            <a:ext cx="1463040" cy="5029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00" b="1">
                <a:solidFill>
                  <a:srgbClr val="FFFFFF"/>
                </a:solidFill>
                <a:latin typeface="Segoe UI"/>
              </a:rPr>
              <a:t>Supresor</a:t>
            </a:r>
          </a:p>
          <a:p>
            <a:pPr algn="ctr">
              <a:lnSpc>
                <a:spcPct val="100000"/>
              </a:lnSpc>
              <a:buNone/>
            </a:pPr>
            <a:r>
              <a:rPr sz="900" b="1">
                <a:solidFill>
                  <a:srgbClr val="FFFFFF"/>
                </a:solidFill>
                <a:latin typeface="Segoe UI"/>
              </a:rPr>
              <a:t>(varistor/diodo)</a:t>
            </a:r>
          </a:p>
        </p:txBody>
      </p:sp>
      <p:cxnSp>
        <p:nvCxnSpPr>
          <p:cNvPr id="25" name="Connector 24"/>
          <p:cNvCxnSpPr/>
          <p:nvPr/>
        </p:nvCxnSpPr>
        <p:spPr>
          <a:xfrm>
            <a:off x="9372600" y="2990088"/>
            <a:ext cx="0" cy="164592"/>
          </a:xfrm>
          <a:prstGeom prst="line">
            <a:avLst/>
          </a:prstGeom>
          <a:ln w="15875">
            <a:solidFill>
              <a:srgbClr val="C0392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37960" y="3886200"/>
            <a:ext cx="4800600" cy="164592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Alimentación de 24 V </a:t>
            </a:r>
            <a:r>
              <a:rPr sz="1050" b="1">
                <a:solidFill>
                  <a:srgbClr val="1C2430"/>
                </a:solidFill>
                <a:latin typeface="Segoe UI"/>
              </a:rPr>
              <a:t>independiente</a:t>
            </a:r>
            <a:r>
              <a:rPr sz="1050" b="1">
                <a:solidFill>
                  <a:srgbClr val="1C2430"/>
                </a:solidFill>
                <a:latin typeface="Segoe UI"/>
              </a:rPr>
              <a:t> de la de las E/S.</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Supresor de sobretensión </a:t>
            </a:r>
            <a:r>
              <a:rPr sz="1050" b="1">
                <a:solidFill>
                  <a:srgbClr val="1C2430"/>
                </a:solidFill>
                <a:latin typeface="Segoe UI"/>
              </a:rPr>
              <a:t>obligatorio</a:t>
            </a:r>
            <a:r>
              <a:rPr sz="1050" b="1">
                <a:solidFill>
                  <a:srgbClr val="1C2430"/>
                </a:solidFill>
                <a:latin typeface="Segoe UI"/>
              </a:rPr>
              <a:t> en la bobina.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Asigna la señal </a:t>
            </a:r>
            <a:r>
              <a:rPr sz="1050" b="1">
                <a:solidFill>
                  <a:srgbClr val="1C2430"/>
                </a:solidFill>
                <a:latin typeface="Consolas"/>
              </a:rPr>
              <a:t>/BK</a:t>
            </a:r>
            <a:r>
              <a:rPr sz="1050" b="1">
                <a:solidFill>
                  <a:srgbClr val="1C2430"/>
                </a:solidFill>
                <a:latin typeface="Segoe UI"/>
              </a:rPr>
              <a:t> a una salida física con </a:t>
            </a:r>
            <a:r>
              <a:rPr sz="1050" b="1">
                <a:solidFill>
                  <a:srgbClr val="1C2430"/>
                </a:solidFill>
                <a:latin typeface="Consolas"/>
              </a:rPr>
              <a:t>Pn50F</a:t>
            </a:r>
            <a:r>
              <a:rPr sz="10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Ajusta </a:t>
            </a:r>
            <a:r>
              <a:rPr sz="1050" b="1">
                <a:solidFill>
                  <a:srgbClr val="1C2430"/>
                </a:solidFill>
                <a:latin typeface="Consolas"/>
              </a:rPr>
              <a:t>Pn506</a:t>
            </a:r>
            <a:r>
              <a:rPr sz="1050" b="1">
                <a:solidFill>
                  <a:srgbClr val="1C2430"/>
                </a:solidFill>
                <a:latin typeface="Segoe UI"/>
              </a:rPr>
              <a:t>, </a:t>
            </a:r>
            <a:r>
              <a:rPr sz="1050" b="1">
                <a:solidFill>
                  <a:srgbClr val="1C2430"/>
                </a:solidFill>
                <a:latin typeface="Consolas"/>
              </a:rPr>
              <a:t>Pn507</a:t>
            </a:r>
            <a:r>
              <a:rPr sz="1050" b="1">
                <a:solidFill>
                  <a:srgbClr val="1C2430"/>
                </a:solidFill>
                <a:latin typeface="Segoe UI"/>
              </a:rPr>
              <a:t> y </a:t>
            </a:r>
            <a:r>
              <a:rPr sz="1050" b="1">
                <a:solidFill>
                  <a:srgbClr val="1C2430"/>
                </a:solidFill>
                <a:latin typeface="Consolas"/>
              </a:rPr>
              <a:t>Pn508</a:t>
            </a:r>
            <a:r>
              <a:rPr sz="1050" b="1">
                <a:solidFill>
                  <a:srgbClr val="1C2430"/>
                </a:solidFill>
                <a:latin typeface="Segoe UI"/>
              </a:rPr>
              <a:t> según el eje (ver Módulo 03).</a:t>
            </a:r>
          </a:p>
        </p:txBody>
      </p:sp>
      <p:sp>
        <p:nvSpPr>
          <p:cNvPr id="27" name="Rectangle 26"/>
          <p:cNvSpPr/>
          <p:nvPr/>
        </p:nvSpPr>
        <p:spPr>
          <a:xfrm>
            <a:off x="566928" y="5669280"/>
            <a:ext cx="11064240" cy="658368"/>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566928" y="5669280"/>
            <a:ext cx="68580" cy="65836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41248" y="5806440"/>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Comprobación en la puesta en marcha</a:t>
            </a:r>
          </a:p>
        </p:txBody>
      </p:sp>
      <p:sp>
        <p:nvSpPr>
          <p:cNvPr id="30" name="TextBox 29"/>
          <p:cNvSpPr txBox="1"/>
          <p:nvPr/>
        </p:nvSpPr>
        <p:spPr>
          <a:xfrm>
            <a:off x="841248" y="6080760"/>
            <a:ext cx="10561320" cy="155448"/>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 el eje asegurado mecánicamente, verifica que el freno </a:t>
            </a:r>
            <a:r>
              <a:rPr sz="1150" b="1">
                <a:solidFill>
                  <a:srgbClr val="2B3644"/>
                </a:solidFill>
                <a:latin typeface="Segoe UI"/>
              </a:rPr>
              <a:t>agarra</a:t>
            </a:r>
            <a:r>
              <a:rPr sz="1150" b="0">
                <a:solidFill>
                  <a:srgbClr val="2B3644"/>
                </a:solidFill>
                <a:latin typeface="Segoe UI"/>
              </a:rPr>
              <a:t> al quitar los 24 V y que </a:t>
            </a:r>
            <a:r>
              <a:rPr sz="1150" b="1">
                <a:solidFill>
                  <a:srgbClr val="2B3644"/>
                </a:solidFill>
                <a:latin typeface="Segoe UI"/>
              </a:rPr>
              <a:t>no arrastra</a:t>
            </a:r>
            <a:r>
              <a:rPr sz="1150" b="0">
                <a:solidFill>
                  <a:srgbClr val="2B3644"/>
                </a:solidFill>
                <a:latin typeface="Segoe UI"/>
              </a:rPr>
              <a:t> con el motor en movimiento.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Instalación mecánica del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mecánica define el techo de lo que podrás sintonizar después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55</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Verificar el eje y la brida antes de montar</a:t>
            </a:r>
          </a:p>
        </p:txBody>
      </p:sp>
      <p:sp>
        <p:nvSpPr>
          <p:cNvPr id="13" name="TextBox 12"/>
          <p:cNvSpPr txBox="1"/>
          <p:nvPr/>
        </p:nvSpPr>
        <p:spPr>
          <a:xfrm>
            <a:off x="1435608" y="175704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Limpieza, ausencia de golpes y presencia de la chaveta correcta. Nunca golpear el eje con martillo: se daña el rodamiento y el encoder.</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2</a:t>
            </a:r>
          </a:p>
        </p:txBody>
      </p:sp>
      <p:sp>
        <p:nvSpPr>
          <p:cNvPr id="17" name="TextBox 16"/>
          <p:cNvSpPr txBox="1"/>
          <p:nvPr/>
        </p:nvSpPr>
        <p:spPr>
          <a:xfrm>
            <a:off x="1435608" y="2143614"/>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Montar el acoplamiento sin esfuerzo axial</a:t>
            </a:r>
          </a:p>
        </p:txBody>
      </p:sp>
      <p:sp>
        <p:nvSpPr>
          <p:cNvPr id="18" name="TextBox 17"/>
          <p:cNvSpPr txBox="1"/>
          <p:nvPr/>
        </p:nvSpPr>
        <p:spPr>
          <a:xfrm>
            <a:off x="1435608" y="2327891"/>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Calentar el buje o usar extractor. Comprobar la carga axial y radial máxima admisible del motor en el catálogo.</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3</a:t>
            </a:r>
          </a:p>
        </p:txBody>
      </p:sp>
      <p:sp>
        <p:nvSpPr>
          <p:cNvPr id="22" name="TextBox 21"/>
          <p:cNvSpPr txBox="1"/>
          <p:nvPr/>
        </p:nvSpPr>
        <p:spPr>
          <a:xfrm>
            <a:off x="1435608" y="2714461"/>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Alinear con precisión</a:t>
            </a:r>
          </a:p>
        </p:txBody>
      </p:sp>
      <p:sp>
        <p:nvSpPr>
          <p:cNvPr id="23" name="TextBox 22"/>
          <p:cNvSpPr txBox="1"/>
          <p:nvPr/>
        </p:nvSpPr>
        <p:spPr>
          <a:xfrm>
            <a:off x="1435608" y="2898738"/>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La desalineación genera par pulsante, ruido y desgaste prematuro del rodamiento. Usar comparador o alineador láser; seguir la tolerancia del acoplamiento.</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4</a:t>
            </a:r>
          </a:p>
        </p:txBody>
      </p:sp>
      <p:sp>
        <p:nvSpPr>
          <p:cNvPr id="27" name="TextBox 26"/>
          <p:cNvSpPr txBox="1"/>
          <p:nvPr/>
        </p:nvSpPr>
        <p:spPr>
          <a:xfrm>
            <a:off x="1435608" y="328530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Elegir bien el acoplamiento</a:t>
            </a:r>
          </a:p>
        </p:txBody>
      </p:sp>
      <p:sp>
        <p:nvSpPr>
          <p:cNvPr id="28" name="TextBox 27"/>
          <p:cNvSpPr txBox="1"/>
          <p:nvPr/>
        </p:nvSpPr>
        <p:spPr>
          <a:xfrm>
            <a:off x="1435608" y="346958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Rígido o de fuelle metálico para máxima rigidez torsional; los elastoméricos introducen elasticidad que limita la ganancia alcanzable.</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5</a:t>
            </a:r>
          </a:p>
        </p:txBody>
      </p:sp>
      <p:sp>
        <p:nvSpPr>
          <p:cNvPr id="32" name="TextBox 31"/>
          <p:cNvSpPr txBox="1"/>
          <p:nvPr/>
        </p:nvSpPr>
        <p:spPr>
          <a:xfrm>
            <a:off x="1435608" y="3856155"/>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Cuidar la posición de los conectores</a:t>
            </a:r>
          </a:p>
        </p:txBody>
      </p:sp>
      <p:sp>
        <p:nvSpPr>
          <p:cNvPr id="33" name="TextBox 32"/>
          <p:cNvSpPr txBox="1"/>
          <p:nvPr/>
        </p:nvSpPr>
        <p:spPr>
          <a:xfrm>
            <a:off x="1435608" y="4040432"/>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Orientados hacia abajo si hay riesgo de goteo, con bucle de goteo antes del conector y sin tensión mecánica en el cable.</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6</a:t>
            </a:r>
          </a:p>
        </p:txBody>
      </p:sp>
      <p:sp>
        <p:nvSpPr>
          <p:cNvPr id="37" name="TextBox 36"/>
          <p:cNvSpPr txBox="1"/>
          <p:nvPr/>
        </p:nvSpPr>
        <p:spPr>
          <a:xfrm>
            <a:off x="1435608" y="4427002"/>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Prever el radio de curvatura y el movimiento</a:t>
            </a:r>
          </a:p>
        </p:txBody>
      </p:sp>
      <p:sp>
        <p:nvSpPr>
          <p:cNvPr id="38" name="TextBox 37"/>
          <p:cNvSpPr txBox="1"/>
          <p:nvPr/>
        </p:nvSpPr>
        <p:spPr>
          <a:xfrm>
            <a:off x="1435608" y="4611279"/>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En ejes móviles, cable de cadena portacables específico. Un cable estándar en cadena falla en meses.</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7</a:t>
            </a:r>
          </a:p>
        </p:txBody>
      </p:sp>
      <p:sp>
        <p:nvSpPr>
          <p:cNvPr id="42" name="TextBox 41"/>
          <p:cNvSpPr txBox="1"/>
          <p:nvPr/>
        </p:nvSpPr>
        <p:spPr>
          <a:xfrm>
            <a:off x="1435608" y="4997849"/>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Conectar la tierra del motor</a:t>
            </a:r>
          </a:p>
        </p:txBody>
      </p:sp>
      <p:sp>
        <p:nvSpPr>
          <p:cNvPr id="43" name="TextBox 42"/>
          <p:cNvSpPr txBox="1"/>
          <p:nvPr/>
        </p:nvSpPr>
        <p:spPr>
          <a:xfrm>
            <a:off x="1435608" y="5182126"/>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Al borne de tierra del amplificador, con la sección adecuada. Es requisito de seguridad y de EMC.</a:t>
            </a:r>
          </a:p>
        </p:txBody>
      </p:sp>
      <p:sp>
        <p:nvSpPr>
          <p:cNvPr id="44" name="Rectangle 43"/>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Por qué el acoplamiento importa tanto</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acoplamiento y el eje forman un sistema masa-muelle con la carga. Su frecuencia de resonancia marca el límite superior de las ganancias: cuanto más rígido, más alta la resonancia y más rápido puede ser el eje.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Lista de verificación antes de energizar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Imprime esta lista y fírmala: es tu registro de instalación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05</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56</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536788"/>
                <a:gridCol w="4616379"/>
                <a:gridCol w="5904671"/>
              </a:tblGrid>
              <a:tr h="347472">
                <a:tc>
                  <a:txBody>
                    <a:bodyPr wrap="square"/>
                    <a:lstStyle/>
                    <a:p>
                      <a:pPr algn="ctr">
                        <a:lnSpc>
                          <a:spcPct val="100000"/>
                        </a:lnSpc>
                        <a:buNone/>
                      </a:pPr>
                      <a:r>
                        <a:rPr sz="9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Comprobación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aceptación</a:t>
                      </a:r>
                    </a:p>
                  </a:txBody>
                  <a:tcPr marL="82296" marR="82296" marT="27432" marB="27432" anchor="ctr">
                    <a:solidFill>
                      <a:srgbClr val="0B2545"/>
                    </a:solidFill>
                  </a:tcPr>
                </a:tc>
              </a:tr>
              <a:tr h="374904">
                <a:tc>
                  <a:txBody>
                    <a:bodyPr wrap="square"/>
                    <a:lstStyle/>
                    <a:p>
                      <a:pPr algn="ctr">
                        <a:lnSpc>
                          <a:spcPct val="100000"/>
                        </a:lnSpc>
                        <a:buNone/>
                      </a:pPr>
                      <a:r>
                        <a:rPr sz="9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Modelo de amplificador y de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Combinación homologada; coinciden con el proyecto</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Tensión de red medida en el armario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Dentro de 200-240 V CA, −15 % / +10 %, equilibrada</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Conexión </a:t>
                      </a:r>
                      <a:r>
                        <a:rPr sz="950" b="0">
                          <a:solidFill>
                            <a:srgbClr val="1C2430"/>
                          </a:solidFill>
                          <a:latin typeface="Consolas"/>
                        </a:rPr>
                        <a:t>L1</a:t>
                      </a:r>
                      <a:r>
                        <a:rPr sz="950" b="0">
                          <a:solidFill>
                            <a:srgbClr val="1C2430"/>
                          </a:solidFill>
                          <a:latin typeface="Segoe UI"/>
                        </a:rPr>
                        <a:t> </a:t>
                      </a:r>
                      <a:r>
                        <a:rPr sz="950" b="0">
                          <a:solidFill>
                            <a:srgbClr val="1C2430"/>
                          </a:solidFill>
                          <a:latin typeface="Consolas"/>
                        </a:rPr>
                        <a:t>L2</a:t>
                      </a:r>
                      <a:r>
                        <a:rPr sz="950" b="0">
                          <a:solidFill>
                            <a:srgbClr val="1C2430"/>
                          </a:solidFill>
                          <a:latin typeface="Segoe UI"/>
                        </a:rPr>
                        <a:t> </a:t>
                      </a:r>
                      <a:r>
                        <a:rPr sz="950" b="0">
                          <a:solidFill>
                            <a:srgbClr val="1C2430"/>
                          </a:solidFill>
                          <a:latin typeface="Consolas"/>
                        </a:rPr>
                        <a:t>L3</a:t>
                      </a:r>
                      <a:r>
                        <a:rPr sz="950" b="0">
                          <a:solidFill>
                            <a:srgbClr val="1C2430"/>
                          </a:solidFill>
                          <a:latin typeface="Segoe UI"/>
                        </a:rPr>
                        <a:t> y </a:t>
                      </a:r>
                      <a:r>
                        <a:rPr sz="950" b="0">
                          <a:solidFill>
                            <a:srgbClr val="1C2430"/>
                          </a:solidFill>
                          <a:latin typeface="Consolas"/>
                        </a:rPr>
                        <a:t>L1C</a:t>
                      </a:r>
                      <a:r>
                        <a:rPr sz="950" b="0">
                          <a:solidFill>
                            <a:srgbClr val="1C2430"/>
                          </a:solidFill>
                          <a:latin typeface="Segoe UI"/>
                        </a:rPr>
                        <a:t> </a:t>
                      </a:r>
                      <a:r>
                        <a:rPr sz="950" b="0">
                          <a:solidFill>
                            <a:srgbClr val="1C2430"/>
                          </a:solidFill>
                          <a:latin typeface="Consolas"/>
                        </a:rPr>
                        <a:t>L2C</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Apriete al par indicado; ninguna fase en </a:t>
                      </a:r>
                      <a:r>
                        <a:rPr sz="950" b="0">
                          <a:solidFill>
                            <a:srgbClr val="1C2430"/>
                          </a:solidFill>
                          <a:latin typeface="Consolas"/>
                        </a:rPr>
                        <a:t>U</a:t>
                      </a:r>
                      <a:r>
                        <a:rPr sz="950" b="0">
                          <a:solidFill>
                            <a:srgbClr val="1C2430"/>
                          </a:solidFill>
                          <a:latin typeface="Segoe UI"/>
                        </a:rPr>
                        <a:t> </a:t>
                      </a:r>
                      <a:r>
                        <a:rPr sz="950" b="0">
                          <a:solidFill>
                            <a:srgbClr val="1C2430"/>
                          </a:solidFill>
                          <a:latin typeface="Consolas"/>
                        </a:rPr>
                        <a:t>V</a:t>
                      </a:r>
                      <a:r>
                        <a:rPr sz="950" b="0">
                          <a:solidFill>
                            <a:srgbClr val="1C2430"/>
                          </a:solidFill>
                          <a:latin typeface="Segoe UI"/>
                        </a:rPr>
                        <a:t> </a:t>
                      </a:r>
                      <a:r>
                        <a:rPr sz="950" b="0">
                          <a:solidFill>
                            <a:srgbClr val="1C2430"/>
                          </a:solidFill>
                          <a:latin typeface="Consolas"/>
                        </a:rPr>
                        <a:t>W</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Conexión </a:t>
                      </a:r>
                      <a:r>
                        <a:rPr sz="950" b="0">
                          <a:solidFill>
                            <a:srgbClr val="1C2430"/>
                          </a:solidFill>
                          <a:latin typeface="Consolas"/>
                        </a:rPr>
                        <a:t>U</a:t>
                      </a:r>
                      <a:r>
                        <a:rPr sz="950" b="0">
                          <a:solidFill>
                            <a:srgbClr val="1C2430"/>
                          </a:solidFill>
                          <a:latin typeface="Segoe UI"/>
                        </a:rPr>
                        <a:t> </a:t>
                      </a:r>
                      <a:r>
                        <a:rPr sz="950" b="0">
                          <a:solidFill>
                            <a:srgbClr val="1C2430"/>
                          </a:solidFill>
                          <a:latin typeface="Consolas"/>
                        </a:rPr>
                        <a:t>V</a:t>
                      </a:r>
                      <a:r>
                        <a:rPr sz="950" b="0">
                          <a:solidFill>
                            <a:srgbClr val="1C2430"/>
                          </a:solidFill>
                          <a:latin typeface="Segoe UI"/>
                        </a:rPr>
                        <a:t> </a:t>
                      </a:r>
                      <a:r>
                        <a:rPr sz="950" b="0">
                          <a:solidFill>
                            <a:srgbClr val="1C2430"/>
                          </a:solidFill>
                          <a:latin typeface="Consolas"/>
                        </a:rPr>
                        <a:t>W</a:t>
                      </a:r>
                      <a:r>
                        <a:rPr sz="950" b="0">
                          <a:solidFill>
                            <a:srgbClr val="1C2430"/>
                          </a:solidFill>
                          <a:latin typeface="Segoe UI"/>
                        </a:rPr>
                        <a:t> al motor</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Orden correcto y misma fase en ambos extremos</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Tierra del amplificador y del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Continuidad verificada con multímetro; &lt; 100 Ω a tierra de instalación</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Puente </a:t>
                      </a:r>
                      <a:r>
                        <a:rPr sz="950" b="0">
                          <a:solidFill>
                            <a:srgbClr val="1C2430"/>
                          </a:solidFill>
                          <a:latin typeface="Consolas"/>
                        </a:rPr>
                        <a:t>B2</a:t>
                      </a:r>
                      <a:r>
                        <a:rPr sz="950" b="0">
                          <a:solidFill>
                            <a:srgbClr val="1C2430"/>
                          </a:solidFill>
                          <a:latin typeface="Segoe UI"/>
                        </a:rPr>
                        <a:t>-</a:t>
                      </a:r>
                      <a:r>
                        <a:rPr sz="950" b="0">
                          <a:solidFill>
                            <a:srgbClr val="1C2430"/>
                          </a:solidFill>
                          <a:latin typeface="Consolas"/>
                        </a:rPr>
                        <a:t>B3</a:t>
                      </a:r>
                      <a:r>
                        <a:rPr sz="950" b="0">
                          <a:solidFill>
                            <a:srgbClr val="1C2430"/>
                          </a:solidFill>
                          <a:latin typeface="Segoe UI"/>
                        </a:rPr>
                        <a:t> o resistencia externa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Coherente con el cálculo de regeneración y con </a:t>
                      </a:r>
                      <a:r>
                        <a:rPr sz="950" b="0">
                          <a:solidFill>
                            <a:srgbClr val="1C2430"/>
                          </a:solidFill>
                          <a:latin typeface="Consolas"/>
                        </a:rPr>
                        <a:t>Pn600</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Cable de encoder en </a:t>
                      </a:r>
                      <a:r>
                        <a:rPr sz="950" b="0">
                          <a:solidFill>
                            <a:srgbClr val="1C2430"/>
                          </a:solidFill>
                          <a:latin typeface="Consolas"/>
                        </a:rPr>
                        <a:t>CN2</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Conector encajado, malla a tierra, sin compartir canaleta con potencia</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Cableado de </a:t>
                      </a:r>
                      <a:r>
                        <a:rPr sz="950" b="0">
                          <a:solidFill>
                            <a:srgbClr val="1C2430"/>
                          </a:solidFill>
                          <a:latin typeface="Consolas"/>
                        </a:rPr>
                        <a:t>CN1</a:t>
                      </a:r>
                      <a:r>
                        <a:rPr sz="950" b="0">
                          <a:solidFill>
                            <a:srgbClr val="1C2430"/>
                          </a:solidFill>
                          <a:latin typeface="Segoe UI"/>
                        </a:rPr>
                        <a:t> y fuente de 24 V</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Polaridad correcta; </a:t>
                      </a:r>
                      <a:r>
                        <a:rPr sz="950" b="0">
                          <a:solidFill>
                            <a:srgbClr val="1C2430"/>
                          </a:solidFill>
                          <a:latin typeface="Consolas"/>
                        </a:rPr>
                        <a:t>+24VIN</a:t>
                      </a:r>
                      <a:r>
                        <a:rPr sz="950" b="0">
                          <a:solidFill>
                            <a:srgbClr val="1C2430"/>
                          </a:solidFill>
                          <a:latin typeface="Segoe UI"/>
                        </a:rPr>
                        <a:t> alimentado</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Conector </a:t>
                      </a:r>
                      <a:r>
                        <a:rPr sz="950" b="0">
                          <a:solidFill>
                            <a:srgbClr val="1C2430"/>
                          </a:solidFill>
                          <a:latin typeface="Consolas"/>
                        </a:rPr>
                        <a:t>CN8</a:t>
                      </a:r>
                      <a:r>
                        <a:rPr sz="950" b="0">
                          <a:solidFill>
                            <a:srgbClr val="1C2430"/>
                          </a:solidFill>
                          <a:latin typeface="Segoe UI"/>
                        </a:rPr>
                        <a:t> de seguridad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Puente original colocado </a:t>
                      </a:r>
                      <a:r>
                        <a:rPr sz="950" b="1">
                          <a:solidFill>
                            <a:srgbClr val="1C2430"/>
                          </a:solidFill>
                          <a:latin typeface="Segoe UI"/>
                        </a:rPr>
                        <a:t>o</a:t>
                      </a:r>
                      <a:r>
                        <a:rPr sz="950" b="0">
                          <a:solidFill>
                            <a:srgbClr val="1C2430"/>
                          </a:solidFill>
                          <a:latin typeface="Segoe UI"/>
                        </a:rPr>
                        <a:t> circuito HWBB correctamente cableado</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Freno de retención (si existe)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Alimentación propia de 24 V; eje mecánicamente asegurado</a:t>
                      </a:r>
                    </a:p>
                  </a:txBody>
                  <a:tcPr marL="82296" marR="82296" marT="27432" marB="27432" anchor="ctr">
                    <a:solidFill>
                      <a:srgbClr val="F2F5F8"/>
                    </a:solidFill>
                  </a:tcPr>
                </a:tc>
              </a:tr>
              <a:tr h="374904">
                <a:tc>
                  <a:txBody>
                    <a:bodyPr wrap="square"/>
                    <a:lstStyle/>
                    <a:p>
                      <a:pPr algn="ctr">
                        <a:lnSpc>
                          <a:spcPct val="100000"/>
                        </a:lnSpc>
                        <a:buNone/>
                      </a:pPr>
                      <a:r>
                        <a:rPr sz="950" b="0">
                          <a:solidFill>
                            <a:srgbClr val="1C2430"/>
                          </a:solidFill>
                          <a:latin typeface="Segoe UI"/>
                        </a:rPr>
                        <a:t>11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Zona mecánica despejada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Sin herramientas, chavetas sueltas ni personas en el recorrido</a:t>
                      </a:r>
                    </a:p>
                  </a:txBody>
                  <a:tcPr marL="82296" marR="82296" marT="27432" marB="27432" anchor="ctr">
                    <a:solidFill>
                      <a:srgbClr val="FFFFFF"/>
                    </a:solidFill>
                  </a:tcPr>
                </a:tc>
              </a:tr>
              <a:tr h="374904">
                <a:tc>
                  <a:txBody>
                    <a:bodyPr wrap="square"/>
                    <a:lstStyle/>
                    <a:p>
                      <a:pPr algn="ctr">
                        <a:lnSpc>
                          <a:spcPct val="100000"/>
                        </a:lnSpc>
                        <a:buNone/>
                      </a:pPr>
                      <a:r>
                        <a:rPr sz="950" b="0">
                          <a:solidFill>
                            <a:srgbClr val="1C2430"/>
                          </a:solidFill>
                          <a:latin typeface="Segoe UI"/>
                        </a:rPr>
                        <a:t>12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Finales de carrera y parada de emergencia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Probados eléctricamente antes de dar potencia</a:t>
                      </a:r>
                    </a:p>
                  </a:txBody>
                  <a:tcPr marL="82296" marR="82296" marT="27432" marB="27432" anchor="ctr">
                    <a:solidFill>
                      <a:srgbClr val="F2F5F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06</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Interfaz de control: CN1, analógico, pulsos y bus</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Para qué sirve cada conector del amplificador</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Entradas y salidas digitales de </a:t>
            </a:r>
            <a:r>
              <a:rPr sz="1350" b="0">
                <a:solidFill>
                  <a:srgbClr val="C9DCEE"/>
                </a:solidFill>
                <a:latin typeface="Consolas"/>
              </a:rPr>
              <a:t>CN1</a:t>
            </a:r>
            <a:r>
              <a:rPr sz="1350" b="0">
                <a:solidFill>
                  <a:srgbClr val="C9DCEE"/>
                </a:solidFill>
                <a:latin typeface="Segoe UI"/>
              </a:rPr>
              <a:t>: asignación y remapeo</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Consigna analógica de velocidad y de par</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Consigna por tren de pulsos y salida de encoder</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Finales de carrera y métodos de parada</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Buses de movimiento: MECHATROLINK-III y EtherCAT (CiA 402)</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395" b="1">
                <a:solidFill>
                  <a:srgbClr val="FFFFFF"/>
                </a:solidFill>
                <a:latin typeface="Segoe UI Semibold"/>
              </a:rPr>
              <a:t>Los conectores del SERVOPACK y para qué sirve cada uno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Mapa mental del frontal del amplificador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58</a:t>
            </a:r>
          </a:p>
        </p:txBody>
      </p:sp>
      <p:graphicFrame>
        <p:nvGraphicFramePr>
          <p:cNvPr id="9" name="Table 8"/>
          <p:cNvGraphicFramePr>
            <a:graphicFrameLocks noGrp="1"/>
          </p:cNvGraphicFramePr>
          <p:nvPr/>
        </p:nvGraphicFramePr>
        <p:xfrm>
          <a:off x="566928" y="1481328"/>
          <a:ext cx="11057838" cy="4462268"/>
        </p:xfrm>
        <a:graphic>
          <a:graphicData uri="http://schemas.openxmlformats.org/drawingml/2006/table">
            <a:tbl>
              <a:tblPr firstRow="1">
                <a:tableStyleId>{5C22544A-7EE6-4342-B048-85BDC9FD1C3A}</a:tableStyleId>
              </a:tblPr>
              <a:tblGrid>
                <a:gridCol w="1290081"/>
                <a:gridCol w="2395865"/>
                <a:gridCol w="3685946"/>
                <a:gridCol w="3685946"/>
              </a:tblGrid>
              <a:tr h="347472">
                <a:tc>
                  <a:txBody>
                    <a:bodyPr wrap="square"/>
                    <a:lstStyle/>
                    <a:p>
                      <a:pPr algn="l">
                        <a:lnSpc>
                          <a:spcPct val="100000"/>
                        </a:lnSpc>
                        <a:buNone/>
                      </a:pPr>
                      <a:r>
                        <a:rPr sz="950" b="1">
                          <a:solidFill>
                            <a:srgbClr val="FFFFFF"/>
                          </a:solidFill>
                          <a:latin typeface="Segoe UI"/>
                        </a:rPr>
                        <a:t>Conector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Función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se conecta</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Cuándo lo usarás</a:t>
                      </a:r>
                    </a:p>
                  </a:txBody>
                  <a:tcPr marL="82296" marR="82296" marT="27432" marB="27432" anchor="ctr">
                    <a:solidFill>
                      <a:srgbClr val="0B2545"/>
                    </a:solidFill>
                  </a:tcPr>
                </a:tc>
              </a:tr>
              <a:tr h="587828">
                <a:tc>
                  <a:txBody>
                    <a:bodyPr wrap="square"/>
                    <a:lstStyle/>
                    <a:p>
                      <a:pPr algn="l">
                        <a:lnSpc>
                          <a:spcPct val="100000"/>
                        </a:lnSpc>
                        <a:buNone/>
                      </a:pPr>
                      <a:r>
                        <a:rPr sz="950" b="0">
                          <a:solidFill>
                            <a:srgbClr val="1C2430"/>
                          </a:solidFill>
                          <a:latin typeface="Consolas"/>
                        </a:rPr>
                        <a:t>CN1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Entradas y salidas de control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Servo ON, finales de carrera, reset de alarma, salidas de estado, consigna analógica y tren de pulsos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Siempre en variantes analógicas/pulsos; parcialmente en variantes de bus</a:t>
                      </a:r>
                    </a:p>
                  </a:txBody>
                  <a:tcPr marL="82296" marR="82296" marT="27432" marB="27432" anchor="ctr">
                    <a:solidFill>
                      <a:srgbClr val="FFFFFF"/>
                    </a:solidFill>
                  </a:tcPr>
                </a:tc>
              </a:tr>
              <a:tr h="587828">
                <a:tc>
                  <a:txBody>
                    <a:bodyPr wrap="square"/>
                    <a:lstStyle/>
                    <a:p>
                      <a:pPr algn="l">
                        <a:lnSpc>
                          <a:spcPct val="100000"/>
                        </a:lnSpc>
                        <a:buNone/>
                      </a:pPr>
                      <a:r>
                        <a:rPr sz="950" b="0">
                          <a:solidFill>
                            <a:srgbClr val="1C2430"/>
                          </a:solidFill>
                          <a:latin typeface="Consolas"/>
                        </a:rPr>
                        <a:t>CN2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Realimentación del encoder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 de encoder del motor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Siempre</a:t>
                      </a:r>
                    </a:p>
                  </a:txBody>
                  <a:tcPr marL="82296" marR="82296" marT="27432" marB="27432" anchor="ctr">
                    <a:solidFill>
                      <a:srgbClr val="F2F5F8"/>
                    </a:solidFill>
                  </a:tcPr>
                </a:tc>
              </a:tr>
              <a:tr h="587828">
                <a:tc>
                  <a:txBody>
                    <a:bodyPr wrap="square"/>
                    <a:lstStyle/>
                    <a:p>
                      <a:pPr algn="l">
                        <a:lnSpc>
                          <a:spcPct val="100000"/>
                        </a:lnSpc>
                        <a:buNone/>
                      </a:pPr>
                      <a:r>
                        <a:rPr sz="950" b="0">
                          <a:solidFill>
                            <a:srgbClr val="1C2430"/>
                          </a:solidFill>
                          <a:latin typeface="Consolas"/>
                        </a:rPr>
                        <a:t>CN3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Operador digital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Consola JUSP-OP05A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Opcional</a:t>
                      </a:r>
                    </a:p>
                  </a:txBody>
                  <a:tcPr marL="82296" marR="82296" marT="27432" marB="27432" anchor="ctr">
                    <a:solidFill>
                      <a:srgbClr val="FFFFFF"/>
                    </a:solidFill>
                  </a:tcPr>
                </a:tc>
              </a:tr>
              <a:tr h="587828">
                <a:tc>
                  <a:txBody>
                    <a:bodyPr wrap="square"/>
                    <a:lstStyle/>
                    <a:p>
                      <a:pPr algn="l">
                        <a:lnSpc>
                          <a:spcPct val="100000"/>
                        </a:lnSpc>
                        <a:buNone/>
                      </a:pPr>
                      <a:r>
                        <a:rPr sz="950" b="0">
                          <a:solidFill>
                            <a:srgbClr val="1C2430"/>
                          </a:solidFill>
                          <a:latin typeface="Consolas"/>
                        </a:rPr>
                        <a:t>CN5</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Monitor analógico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Osciloscopio para ver velocidad, par o error en tiempo real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Muy útil en sintonización avanzada</a:t>
                      </a:r>
                    </a:p>
                  </a:txBody>
                  <a:tcPr marL="82296" marR="82296" marT="27432" marB="27432" anchor="ctr">
                    <a:solidFill>
                      <a:srgbClr val="F2F5F8"/>
                    </a:solidFill>
                  </a:tcPr>
                </a:tc>
              </a:tr>
              <a:tr h="587828">
                <a:tc>
                  <a:txBody>
                    <a:bodyPr wrap="square"/>
                    <a:lstStyle/>
                    <a:p>
                      <a:pPr algn="l">
                        <a:lnSpc>
                          <a:spcPct val="100000"/>
                        </a:lnSpc>
                        <a:buNone/>
                      </a:pPr>
                      <a:r>
                        <a:rPr sz="950" b="0">
                          <a:solidFill>
                            <a:srgbClr val="1C2430"/>
                          </a:solidFill>
                          <a:latin typeface="Consolas"/>
                        </a:rPr>
                        <a:t>CN6</a:t>
                      </a:r>
                      <a:r>
                        <a:rPr sz="950" b="0">
                          <a:solidFill>
                            <a:srgbClr val="1C2430"/>
                          </a:solidFill>
                          <a:latin typeface="Segoe UI"/>
                        </a:rPr>
                        <a:t> / </a:t>
                      </a:r>
                      <a:r>
                        <a:rPr sz="950" b="0">
                          <a:solidFill>
                            <a:srgbClr val="1C2430"/>
                          </a:solidFill>
                          <a:latin typeface="Consolas"/>
                        </a:rPr>
                        <a:t>CN6A-B</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Comunicación de bus (en variantes de bus)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MECHATROLINK-III o EtherCAT (entrada y salida)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 arquitecturas con bus de movimiento</a:t>
                      </a:r>
                    </a:p>
                  </a:txBody>
                  <a:tcPr marL="82296" marR="82296" marT="27432" marB="27432" anchor="ctr">
                    <a:solidFill>
                      <a:srgbClr val="FFFFFF"/>
                    </a:solidFill>
                  </a:tcPr>
                </a:tc>
              </a:tr>
              <a:tr h="587828">
                <a:tc>
                  <a:txBody>
                    <a:bodyPr wrap="square"/>
                    <a:lstStyle/>
                    <a:p>
                      <a:pPr algn="l">
                        <a:lnSpc>
                          <a:spcPct val="100000"/>
                        </a:lnSpc>
                        <a:buNone/>
                      </a:pPr>
                      <a:r>
                        <a:rPr sz="950" b="0">
                          <a:solidFill>
                            <a:srgbClr val="1C2430"/>
                          </a:solidFill>
                          <a:latin typeface="Consolas"/>
                        </a:rPr>
                        <a:t>CN7</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USB</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PC con SigmaWin+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En puesta en marcha, ajuste y diagnóstico</a:t>
                      </a:r>
                    </a:p>
                  </a:txBody>
                  <a:tcPr marL="82296" marR="82296" marT="27432" marB="27432" anchor="ctr">
                    <a:solidFill>
                      <a:srgbClr val="F2F5F8"/>
                    </a:solidFill>
                  </a:tcPr>
                </a:tc>
              </a:tr>
              <a:tr h="587828">
                <a:tc>
                  <a:txBody>
                    <a:bodyPr wrap="square"/>
                    <a:lstStyle/>
                    <a:p>
                      <a:pPr algn="l">
                        <a:lnSpc>
                          <a:spcPct val="100000"/>
                        </a:lnSpc>
                        <a:buNone/>
                      </a:pPr>
                      <a:r>
                        <a:rPr sz="950" b="0">
                          <a:solidFill>
                            <a:srgbClr val="1C2430"/>
                          </a:solidFill>
                          <a:latin typeface="Consolas"/>
                        </a:rPr>
                        <a:t>CN8</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Seguridad funcional (HWBB)</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Relé o módulo de seguridad; sale con puente de fábrica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Siempre que la máquina requiera STO</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disponibilidad y el número exacto de conectores varía según la variante de interfaz: comprueba el frontal de tu equipo.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Cableado típico de </a:t>
            </a:r>
            <a:r>
              <a:rPr sz="2500" b="1">
                <a:solidFill>
                  <a:srgbClr val="FFFFFF"/>
                </a:solidFill>
                <a:latin typeface="Consolas"/>
              </a:rPr>
              <a:t>CN1</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Entradas por optoacoplador, salidas por transistor, todo referido a 24 V</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59</a:t>
            </a:r>
          </a:p>
        </p:txBody>
      </p:sp>
      <p:sp>
        <p:nvSpPr>
          <p:cNvPr id="9" name="Rounded Rectangle 8"/>
          <p:cNvSpPr/>
          <p:nvPr/>
        </p:nvSpPr>
        <p:spPr>
          <a:xfrm>
            <a:off x="566928" y="1874519"/>
            <a:ext cx="2103120" cy="77724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FUENTE 24 V CC</a:t>
            </a:r>
          </a:p>
          <a:p>
            <a:pPr algn="ctr">
              <a:lnSpc>
                <a:spcPct val="100000"/>
              </a:lnSpc>
              <a:buNone/>
            </a:pPr>
            <a:r>
              <a:rPr sz="1100" b="1">
                <a:solidFill>
                  <a:srgbClr val="FFFFFF"/>
                </a:solidFill>
                <a:latin typeface="Segoe UI"/>
              </a:rPr>
              <a:t>de las E/S</a:t>
            </a:r>
          </a:p>
        </p:txBody>
      </p:sp>
      <p:sp>
        <p:nvSpPr>
          <p:cNvPr id="10" name="Rectangle 9"/>
          <p:cNvSpPr/>
          <p:nvPr/>
        </p:nvSpPr>
        <p:spPr>
          <a:xfrm>
            <a:off x="4526280" y="1645920"/>
            <a:ext cx="3108960" cy="4160520"/>
          </a:xfrm>
          <a:prstGeom prst="rect">
            <a:avLst/>
          </a:prstGeom>
          <a:solidFill>
            <a:srgbClr val="F2F5F8"/>
          </a:solidFill>
          <a:ln w="254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26280" y="1755648"/>
            <a:ext cx="3108960" cy="274320"/>
          </a:xfrm>
          <a:prstGeom prst="rect">
            <a:avLst/>
          </a:prstGeom>
          <a:noFill/>
        </p:spPr>
        <p:txBody>
          <a:bodyPr wrap="square" lIns="0" rIns="0" tIns="0" bIns="0" anchor="t">
            <a:spAutoFit/>
          </a:bodyPr>
          <a:lstStyle/>
          <a:p>
            <a:pPr algn="ctr">
              <a:lnSpc>
                <a:spcPct val="100000"/>
              </a:lnSpc>
              <a:buNone/>
            </a:pPr>
            <a:r>
              <a:rPr sz="1300" b="1">
                <a:solidFill>
                  <a:srgbClr val="0B2545"/>
                </a:solidFill>
                <a:latin typeface="Consolas"/>
              </a:rPr>
              <a:t>CN1</a:t>
            </a:r>
            <a:r>
              <a:rPr sz="1300" b="1">
                <a:solidFill>
                  <a:srgbClr val="0B2545"/>
                </a:solidFill>
                <a:latin typeface="Segoe UI"/>
              </a:rPr>
              <a:t> del SERVOPACK</a:t>
            </a:r>
          </a:p>
        </p:txBody>
      </p:sp>
      <p:sp>
        <p:nvSpPr>
          <p:cNvPr id="12" name="Rounded Rectangle 11"/>
          <p:cNvSpPr/>
          <p:nvPr/>
        </p:nvSpPr>
        <p:spPr>
          <a:xfrm>
            <a:off x="4709160" y="2148840"/>
            <a:ext cx="2743200" cy="384048"/>
          </a:xfrm>
          <a:prstGeom prst="roundRect">
            <a:avLst>
              <a:gd name="adj" fmla="val 12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+24VIN</a:t>
            </a:r>
            <a:r>
              <a:rPr sz="1000" b="1">
                <a:solidFill>
                  <a:srgbClr val="FFFFFF"/>
                </a:solidFill>
                <a:latin typeface="Segoe UI"/>
              </a:rPr>
              <a:t>  común de entradas</a:t>
            </a:r>
          </a:p>
        </p:txBody>
      </p:sp>
      <p:sp>
        <p:nvSpPr>
          <p:cNvPr id="13" name="Rounded Rectangle 12"/>
          <p:cNvSpPr/>
          <p:nvPr/>
        </p:nvSpPr>
        <p:spPr>
          <a:xfrm>
            <a:off x="4709160" y="263347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/S-ON</a:t>
            </a:r>
            <a:r>
              <a:rPr sz="950" b="1">
                <a:solidFill>
                  <a:srgbClr val="FFFFFF"/>
                </a:solidFill>
                <a:latin typeface="Segoe UI"/>
              </a:rPr>
              <a:t>  servo ON</a:t>
            </a:r>
          </a:p>
        </p:txBody>
      </p:sp>
      <p:sp>
        <p:nvSpPr>
          <p:cNvPr id="14" name="Rounded Rectangle 13"/>
          <p:cNvSpPr/>
          <p:nvPr/>
        </p:nvSpPr>
        <p:spPr>
          <a:xfrm>
            <a:off x="4709160" y="299923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P-OT</a:t>
            </a:r>
            <a:r>
              <a:rPr sz="950" b="1">
                <a:solidFill>
                  <a:srgbClr val="FFFFFF"/>
                </a:solidFill>
                <a:latin typeface="Segoe UI"/>
              </a:rPr>
              <a:t> / </a:t>
            </a:r>
            <a:r>
              <a:rPr sz="950" b="1">
                <a:solidFill>
                  <a:srgbClr val="FFFFFF"/>
                </a:solidFill>
                <a:latin typeface="Consolas"/>
              </a:rPr>
              <a:t>N-OT</a:t>
            </a:r>
            <a:r>
              <a:rPr sz="950" b="1">
                <a:solidFill>
                  <a:srgbClr val="FFFFFF"/>
                </a:solidFill>
                <a:latin typeface="Segoe UI"/>
              </a:rPr>
              <a:t>  finales de carrera</a:t>
            </a:r>
          </a:p>
        </p:txBody>
      </p:sp>
      <p:sp>
        <p:nvSpPr>
          <p:cNvPr id="15" name="Rounded Rectangle 14"/>
          <p:cNvSpPr/>
          <p:nvPr/>
        </p:nvSpPr>
        <p:spPr>
          <a:xfrm>
            <a:off x="4709160" y="336499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/ALM-RST</a:t>
            </a:r>
            <a:r>
              <a:rPr sz="950" b="1">
                <a:solidFill>
                  <a:srgbClr val="FFFFFF"/>
                </a:solidFill>
                <a:latin typeface="Segoe UI"/>
              </a:rPr>
              <a:t>  reset de alarma</a:t>
            </a:r>
          </a:p>
        </p:txBody>
      </p:sp>
      <p:sp>
        <p:nvSpPr>
          <p:cNvPr id="16" name="Rounded Rectangle 15"/>
          <p:cNvSpPr/>
          <p:nvPr/>
        </p:nvSpPr>
        <p:spPr>
          <a:xfrm>
            <a:off x="4709160" y="3730752"/>
            <a:ext cx="2743200" cy="310896"/>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/P-CL</a:t>
            </a:r>
            <a:r>
              <a:rPr sz="950" b="1">
                <a:solidFill>
                  <a:srgbClr val="FFFFFF"/>
                </a:solidFill>
                <a:latin typeface="Segoe UI"/>
              </a:rPr>
              <a:t> / </a:t>
            </a:r>
            <a:r>
              <a:rPr sz="950" b="1">
                <a:solidFill>
                  <a:srgbClr val="FFFFFF"/>
                </a:solidFill>
                <a:latin typeface="Consolas"/>
              </a:rPr>
              <a:t>/N-CL</a:t>
            </a:r>
            <a:r>
              <a:rPr sz="950" b="1">
                <a:solidFill>
                  <a:srgbClr val="FFFFFF"/>
                </a:solidFill>
                <a:latin typeface="Segoe UI"/>
              </a:rPr>
              <a:t>  límite de par</a:t>
            </a:r>
          </a:p>
        </p:txBody>
      </p:sp>
      <p:sp>
        <p:nvSpPr>
          <p:cNvPr id="17" name="Rounded Rectangle 16"/>
          <p:cNvSpPr/>
          <p:nvPr/>
        </p:nvSpPr>
        <p:spPr>
          <a:xfrm>
            <a:off x="4709160" y="418795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ALM</a:t>
            </a:r>
            <a:r>
              <a:rPr sz="950" b="1">
                <a:solidFill>
                  <a:srgbClr val="FFFFFF"/>
                </a:solidFill>
                <a:latin typeface="Segoe UI"/>
              </a:rPr>
              <a:t>  alarma</a:t>
            </a:r>
          </a:p>
        </p:txBody>
      </p:sp>
      <p:sp>
        <p:nvSpPr>
          <p:cNvPr id="18" name="Rounded Rectangle 17"/>
          <p:cNvSpPr/>
          <p:nvPr/>
        </p:nvSpPr>
        <p:spPr>
          <a:xfrm>
            <a:off x="4709160" y="455371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/S-RDY</a:t>
            </a:r>
            <a:r>
              <a:rPr sz="950" b="1">
                <a:solidFill>
                  <a:srgbClr val="FFFFFF"/>
                </a:solidFill>
                <a:latin typeface="Segoe UI"/>
              </a:rPr>
              <a:t>  servo listo</a:t>
            </a:r>
          </a:p>
        </p:txBody>
      </p:sp>
      <p:sp>
        <p:nvSpPr>
          <p:cNvPr id="19" name="Rounded Rectangle 18"/>
          <p:cNvSpPr/>
          <p:nvPr/>
        </p:nvSpPr>
        <p:spPr>
          <a:xfrm>
            <a:off x="4709160" y="491947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/COIN</a:t>
            </a:r>
            <a:r>
              <a:rPr sz="950" b="1">
                <a:solidFill>
                  <a:srgbClr val="FFFFFF"/>
                </a:solidFill>
                <a:latin typeface="Segoe UI"/>
              </a:rPr>
              <a:t>  en posición</a:t>
            </a:r>
          </a:p>
        </p:txBody>
      </p:sp>
      <p:sp>
        <p:nvSpPr>
          <p:cNvPr id="20" name="Rounded Rectangle 19"/>
          <p:cNvSpPr/>
          <p:nvPr/>
        </p:nvSpPr>
        <p:spPr>
          <a:xfrm>
            <a:off x="4709160" y="5285232"/>
            <a:ext cx="2743200" cy="31089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Consolas"/>
              </a:rPr>
              <a:t>/BK</a:t>
            </a:r>
            <a:r>
              <a:rPr sz="950" b="1">
                <a:solidFill>
                  <a:srgbClr val="FFFFFF"/>
                </a:solidFill>
                <a:latin typeface="Segoe UI"/>
              </a:rPr>
              <a:t>  mando de freno</a:t>
            </a:r>
          </a:p>
        </p:txBody>
      </p:sp>
      <p:sp>
        <p:nvSpPr>
          <p:cNvPr id="21" name="Rectangle 20"/>
          <p:cNvSpPr/>
          <p:nvPr/>
        </p:nvSpPr>
        <p:spPr>
          <a:xfrm>
            <a:off x="566928" y="2926080"/>
            <a:ext cx="3429000" cy="28803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7240" y="3063240"/>
            <a:ext cx="3017520" cy="274320"/>
          </a:xfrm>
          <a:prstGeom prst="rect">
            <a:avLst/>
          </a:prstGeom>
          <a:noFill/>
        </p:spPr>
        <p:txBody>
          <a:bodyPr wrap="square" lIns="0" rIns="0" tIns="0" bIns="0" anchor="t">
            <a:spAutoFit/>
          </a:bodyPr>
          <a:lstStyle/>
          <a:p>
            <a:pPr algn="l">
              <a:lnSpc>
                <a:spcPct val="100000"/>
              </a:lnSpc>
              <a:buNone/>
            </a:pPr>
            <a:r>
              <a:rPr sz="1150" b="1">
                <a:solidFill>
                  <a:srgbClr val="0B2545"/>
                </a:solidFill>
                <a:latin typeface="Segoe UI"/>
              </a:rPr>
              <a:t>Contactos y mandos externos</a:t>
            </a:r>
          </a:p>
        </p:txBody>
      </p:sp>
      <p:sp>
        <p:nvSpPr>
          <p:cNvPr id="23" name="TextBox 22"/>
          <p:cNvSpPr txBox="1"/>
          <p:nvPr/>
        </p:nvSpPr>
        <p:spPr>
          <a:xfrm>
            <a:off x="777240" y="3401568"/>
            <a:ext cx="3017520" cy="22860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Salida digital del PLC o contacto de relé para </a:t>
            </a:r>
            <a:r>
              <a:rPr sz="1050" b="1">
                <a:solidFill>
                  <a:srgbClr val="1C2430"/>
                </a:solidFill>
                <a:latin typeface="Consolas"/>
              </a:rPr>
              <a:t>/S-ON</a:t>
            </a:r>
            <a:r>
              <a:rPr sz="10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Finales de carrera </a:t>
            </a:r>
            <a:r>
              <a:rPr sz="1050" b="1">
                <a:solidFill>
                  <a:srgbClr val="1C2430"/>
                </a:solidFill>
                <a:latin typeface="Segoe UI"/>
              </a:rPr>
              <a:t>con contacto normalmente cerrado</a:t>
            </a:r>
            <a:r>
              <a:rPr sz="10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Pulsador o salida del PLC para el reset de alarma.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Todo con cable </a:t>
            </a:r>
            <a:r>
              <a:rPr sz="1050" b="1">
                <a:solidFill>
                  <a:srgbClr val="1C2430"/>
                </a:solidFill>
                <a:latin typeface="Segoe UI"/>
              </a:rPr>
              <a:t>apantallado</a:t>
            </a:r>
            <a:r>
              <a:rPr sz="1050" b="1">
                <a:solidFill>
                  <a:srgbClr val="1C2430"/>
                </a:solidFill>
                <a:latin typeface="Segoe UI"/>
              </a:rPr>
              <a:t> y separado de la potencia.</a:t>
            </a:r>
          </a:p>
        </p:txBody>
      </p:sp>
      <p:sp>
        <p:nvSpPr>
          <p:cNvPr id="24" name="Right Arrow 23"/>
          <p:cNvSpPr/>
          <p:nvPr/>
        </p:nvSpPr>
        <p:spPr>
          <a:xfrm>
            <a:off x="4069080" y="2267712"/>
            <a:ext cx="384048" cy="146304"/>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ight Arrow 24"/>
          <p:cNvSpPr/>
          <p:nvPr/>
        </p:nvSpPr>
        <p:spPr>
          <a:xfrm>
            <a:off x="4069080" y="3840480"/>
            <a:ext cx="384048" cy="146304"/>
          </a:xfrm>
          <a:prstGeom prst="rightArrow">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092440" y="2926080"/>
            <a:ext cx="3520440" cy="28803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21040" y="3063240"/>
            <a:ext cx="3063240" cy="274320"/>
          </a:xfrm>
          <a:prstGeom prst="rect">
            <a:avLst/>
          </a:prstGeom>
          <a:noFill/>
        </p:spPr>
        <p:txBody>
          <a:bodyPr wrap="square" lIns="0" rIns="0" tIns="0" bIns="0" anchor="t">
            <a:spAutoFit/>
          </a:bodyPr>
          <a:lstStyle/>
          <a:p>
            <a:pPr algn="l">
              <a:lnSpc>
                <a:spcPct val="100000"/>
              </a:lnSpc>
              <a:buNone/>
            </a:pPr>
            <a:r>
              <a:rPr sz="1150" b="1">
                <a:solidFill>
                  <a:srgbClr val="0B2545"/>
                </a:solidFill>
                <a:latin typeface="Segoe UI"/>
              </a:rPr>
              <a:t>Reglas de las salidas</a:t>
            </a:r>
          </a:p>
        </p:txBody>
      </p:sp>
      <p:sp>
        <p:nvSpPr>
          <p:cNvPr id="28" name="TextBox 27"/>
          <p:cNvSpPr txBox="1"/>
          <p:nvPr/>
        </p:nvSpPr>
        <p:spPr>
          <a:xfrm>
            <a:off x="8321040" y="3401568"/>
            <a:ext cx="3063240" cy="228600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Son transistores de </a:t>
            </a:r>
            <a:r>
              <a:rPr sz="1050" b="1">
                <a:solidFill>
                  <a:srgbClr val="1C2430"/>
                </a:solidFill>
                <a:latin typeface="Segoe UI"/>
              </a:rPr>
              <a:t>baja capacidad</a:t>
            </a:r>
            <a:r>
              <a:rPr sz="1050" b="1">
                <a:solidFill>
                  <a:srgbClr val="1C2430"/>
                </a:solidFill>
                <a:latin typeface="Segoe UI"/>
              </a:rPr>
              <a:t>: usa siempre relé intermedio para cargas reales.</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Supresor (diodo o varistor) en toda bobina.</a:t>
            </a:r>
          </a:p>
          <a:p>
            <a:pPr marL="274320" indent="-201168">
              <a:lnSpc>
                <a:spcPct val="106000"/>
              </a:lnSpc>
              <a:spcAft>
                <a:spcPts val="900"/>
              </a:spcAft>
              <a:buClr>
                <a:srgbClr val="1B5EA8"/>
              </a:buClr>
              <a:buSzPct val="90000"/>
              <a:buFont typeface="Arial"/>
              <a:buChar char="■"/>
            </a:pPr>
            <a:r>
              <a:rPr sz="1050" b="1">
                <a:solidFill>
                  <a:srgbClr val="1C2430"/>
                </a:solidFill>
                <a:latin typeface="Consolas"/>
              </a:rPr>
              <a:t>ALM</a:t>
            </a:r>
            <a:r>
              <a:rPr sz="1050" b="1">
                <a:solidFill>
                  <a:srgbClr val="1C2430"/>
                </a:solidFill>
                <a:latin typeface="Segoe UI"/>
              </a:rPr>
              <a:t> en serie con la bobina del contactor de línea.</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Respeta la polaridad: son salidas de colector abierto, no contactos libres de potencial.</a:t>
            </a:r>
          </a:p>
        </p:txBody>
      </p:sp>
      <p:sp>
        <p:nvSpPr>
          <p:cNvPr id="29" name="Right Arrow 28"/>
          <p:cNvSpPr/>
          <p:nvPr/>
        </p:nvSpPr>
        <p:spPr>
          <a:xfrm>
            <a:off x="7699248" y="4617720"/>
            <a:ext cx="329184" cy="146304"/>
          </a:xfrm>
          <a:prstGeom prst="right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5961888"/>
            <a:ext cx="11064240" cy="384048"/>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566928" y="5961888"/>
            <a:ext cx="68580"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41248" y="6099048"/>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Sin </a:t>
            </a:r>
            <a:r>
              <a:rPr sz="1200" b="1">
                <a:solidFill>
                  <a:srgbClr val="C0392B"/>
                </a:solidFill>
                <a:latin typeface="Consolas"/>
              </a:rPr>
              <a:t>+24VIN</a:t>
            </a:r>
            <a:r>
              <a:rPr sz="1200" b="1">
                <a:solidFill>
                  <a:srgbClr val="C0392B"/>
                </a:solidFill>
                <a:latin typeface="Segoe UI Semibold"/>
              </a:rPr>
              <a:t> alimentado, ninguna entrada digital funciona — y el drive no da ninguna alarma por ello.</a:t>
            </a:r>
          </a:p>
        </p:txBody>
      </p:sp>
      <p:sp>
        <p:nvSpPr>
          <p:cNvPr id="33" name="TextBox 32"/>
          <p:cNvSpPr txBox="1"/>
          <p:nvPr/>
        </p:nvSpPr>
        <p:spPr>
          <a:xfrm>
            <a:off x="841248" y="6373368"/>
            <a:ext cx="10561320" cy="-118872"/>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Entradas digitales: asignación de fábrica y remapeo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 reasignan con </a:t>
            </a:r>
            <a:r>
              <a:rPr sz="1250" b="0">
                <a:solidFill>
                  <a:srgbClr val="A9C6E0"/>
                </a:solidFill>
                <a:latin typeface="Consolas"/>
              </a:rPr>
              <a:t>Pn50A</a:t>
            </a:r>
            <a:r>
              <a:rPr sz="1250" b="0">
                <a:solidFill>
                  <a:srgbClr val="A9C6E0"/>
                </a:solidFill>
                <a:latin typeface="Segoe UI"/>
              </a:rPr>
              <a:t> y </a:t>
            </a:r>
            <a:r>
              <a:rPr sz="1250" b="0">
                <a:solidFill>
                  <a:srgbClr val="A9C6E0"/>
                </a:solidFill>
                <a:latin typeface="Consolas"/>
              </a:rPr>
              <a:t>Pn50B</a:t>
            </a:r>
            <a:r>
              <a:rPr sz="1250" b="0">
                <a:solidFill>
                  <a:srgbClr val="A9C6E0"/>
                </a:solidFill>
                <a:latin typeface="Segoe UI"/>
              </a:rPr>
              <a:t> (selección de señales de entrada)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60</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1935121"/>
                <a:gridCol w="3778094"/>
                <a:gridCol w="5344622"/>
              </a:tblGrid>
              <a:tr h="347472">
                <a:tc>
                  <a:txBody>
                    <a:bodyPr wrap="square"/>
                    <a:lstStyle/>
                    <a:p>
                      <a:pPr algn="l">
                        <a:lnSpc>
                          <a:spcPct val="100000"/>
                        </a:lnSpc>
                        <a:buNone/>
                      </a:pPr>
                      <a:r>
                        <a:rPr sz="950" b="1">
                          <a:solidFill>
                            <a:srgbClr val="FFFFFF"/>
                          </a:solidFill>
                          <a:latin typeface="Segoe UI"/>
                        </a:rPr>
                        <a:t>Señal</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Notas de uso</a:t>
                      </a:r>
                    </a:p>
                  </a:txBody>
                  <a:tcPr marL="82296" marR="82296" marT="27432" marB="27432" anchor="ctr">
                    <a:solidFill>
                      <a:srgbClr val="0B2545"/>
                    </a:solidFill>
                  </a:tcPr>
                </a:tc>
              </a:tr>
              <a:tr h="457200">
                <a:tc>
                  <a:txBody>
                    <a:bodyPr wrap="square"/>
                    <a:lstStyle/>
                    <a:p>
                      <a:pPr algn="l">
                        <a:lnSpc>
                          <a:spcPct val="100000"/>
                        </a:lnSpc>
                        <a:buNone/>
                      </a:pPr>
                      <a:r>
                        <a:rPr sz="950" b="0">
                          <a:solidFill>
                            <a:srgbClr val="1C2430"/>
                          </a:solidFill>
                          <a:latin typeface="Consolas"/>
                        </a:rPr>
                        <a:t>/S-ON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Servo ON: habilita el par en 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Sin esta señal el eje está libre. Es la señal maestra</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P-OT</a:t>
                      </a:r>
                      <a:r>
                        <a:rPr sz="950" b="0">
                          <a:solidFill>
                            <a:srgbClr val="1C2430"/>
                          </a:solidFill>
                          <a:latin typeface="Segoe UI"/>
                        </a:rPr>
                        <a:t> / </a:t>
                      </a:r>
                      <a:r>
                        <a:rPr sz="950" b="0">
                          <a:solidFill>
                            <a:srgbClr val="1C2430"/>
                          </a:solidFill>
                          <a:latin typeface="Consolas"/>
                        </a:rPr>
                        <a:t>N-OT</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Finales de carrera de sobrerrecorrido en sentido positivo y negativo</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Activas a nivel bajo</a:t>
                      </a:r>
                      <a:r>
                        <a:rPr sz="950" b="0">
                          <a:solidFill>
                            <a:srgbClr val="1C2430"/>
                          </a:solidFill>
                          <a:latin typeface="Segoe UI"/>
                        </a:rPr>
                        <a:t>: si no se cablean, el drive las considera en alarma. Se pueden deshabilitar por parámetro (bajo tu responsabilidad)</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/ALM-RST</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Reinicio de alarma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Sólo funciona si la causa ha desaparecido; algunas alarmas exigen ciclo de alimentación</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/P-CL</a:t>
                      </a:r>
                      <a:r>
                        <a:rPr sz="950" b="0">
                          <a:solidFill>
                            <a:srgbClr val="1C2430"/>
                          </a:solidFill>
                          <a:latin typeface="Segoe UI"/>
                        </a:rPr>
                        <a:t> / </a:t>
                      </a:r>
                      <a:r>
                        <a:rPr sz="950" b="0">
                          <a:solidFill>
                            <a:srgbClr val="1C2430"/>
                          </a:solidFill>
                          <a:latin typeface="Consolas"/>
                        </a:rPr>
                        <a:t>/N-CL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Limitación externa de par en cada sentido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Muy útil en apriete controlado y en topes mecánicos</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/P-CON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Conmutación de función (P/PI, modo de control, sentido…)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Su efecto depende de </a:t>
                      </a:r>
                      <a:r>
                        <a:rPr sz="950" b="0">
                          <a:solidFill>
                            <a:srgbClr val="1C2430"/>
                          </a:solidFill>
                          <a:latin typeface="Consolas"/>
                        </a:rPr>
                        <a:t>Pn000</a:t>
                      </a:r>
                      <a:r>
                        <a:rPr sz="950" b="0">
                          <a:solidFill>
                            <a:srgbClr val="1C2430"/>
                          </a:solidFill>
                          <a:latin typeface="Segoe UI"/>
                        </a:rPr>
                        <a:t> y del modo configurado</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/SPD-A</a:t>
                      </a:r>
                      <a:r>
                        <a:rPr sz="950" b="0">
                          <a:solidFill>
                            <a:srgbClr val="1C2430"/>
                          </a:solidFill>
                          <a:latin typeface="Segoe UI"/>
                        </a:rPr>
                        <a:t> </a:t>
                      </a:r>
                      <a:r>
                        <a:rPr sz="950" b="0">
                          <a:solidFill>
                            <a:srgbClr val="1C2430"/>
                          </a:solidFill>
                          <a:latin typeface="Consolas"/>
                        </a:rPr>
                        <a:t>/SPD-B</a:t>
                      </a:r>
                      <a:r>
                        <a:rPr sz="950" b="0">
                          <a:solidFill>
                            <a:srgbClr val="1C2430"/>
                          </a:solidFill>
                          <a:latin typeface="Segoe UI"/>
                        </a:rPr>
                        <a:t> </a:t>
                      </a:r>
                      <a:r>
                        <a:rPr sz="950" b="0">
                          <a:solidFill>
                            <a:srgbClr val="1C2430"/>
                          </a:solidFill>
                          <a:latin typeface="Consolas"/>
                        </a:rPr>
                        <a:t>/SPD-D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Selección de velocidades internas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Permite trabajar sin consigna analógica</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/C-SEL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Conmutación de modo de control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 modos combinados (velocidad↔par, por ejemplo)</a:t>
                      </a:r>
                    </a:p>
                  </a:txBody>
                  <a:tcPr marL="82296" marR="82296" marT="27432" marB="27432" anchor="ctr">
                    <a:solidFill>
                      <a:srgbClr val="FFFFFF"/>
                    </a:solidFill>
                  </a:tcPr>
                </a:tc>
              </a:tr>
              <a:tr h="457200">
                <a:tc>
                  <a:txBody>
                    <a:bodyPr wrap="square"/>
                    <a:lstStyle/>
                    <a:p>
                      <a:pPr algn="l">
                        <a:lnSpc>
                          <a:spcPct val="100000"/>
                        </a:lnSpc>
                        <a:buNone/>
                      </a:pPr>
                      <a:r>
                        <a:rPr sz="950" b="0">
                          <a:solidFill>
                            <a:srgbClr val="1C2430"/>
                          </a:solidFill>
                          <a:latin typeface="Consolas"/>
                        </a:rPr>
                        <a:t>/ZCLAMP</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Fijación a velocidad cero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Evita deriva con consigna analógica próxima a 0 V</a:t>
                      </a:r>
                    </a:p>
                  </a:txBody>
                  <a:tcPr marL="82296" marR="82296" marT="27432" marB="27432" anchor="ctr">
                    <a:solidFill>
                      <a:srgbClr val="F2F5F8"/>
                    </a:solidFill>
                  </a:tcPr>
                </a:tc>
              </a:tr>
              <a:tr h="457200">
                <a:tc>
                  <a:txBody>
                    <a:bodyPr wrap="square"/>
                    <a:lstStyle/>
                    <a:p>
                      <a:pPr algn="l">
                        <a:lnSpc>
                          <a:spcPct val="100000"/>
                        </a:lnSpc>
                        <a:buNone/>
                      </a:pPr>
                      <a:r>
                        <a:rPr sz="950" b="0">
                          <a:solidFill>
                            <a:srgbClr val="1C2430"/>
                          </a:solidFill>
                          <a:latin typeface="Consolas"/>
                        </a:rPr>
                        <a:t>/INHIBIT</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Inhibición del tren de pulsos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Congela la consigna de posición sin desactivar el servo</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parámetros de asignación usan dígitos hexadecimales por señal: cada dígito indica a qué terminal físico se asocia, o si la señal se fuerza a activa o inactiva permanentemente.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Salidas digitales y señales de estado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 que el drive le cuenta al PLC</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61</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Las salidas más utilizadas</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50" b="1">
                <a:solidFill>
                  <a:srgbClr val="1C2430"/>
                </a:solidFill>
                <a:latin typeface="Consolas"/>
              </a:rPr>
              <a:t>ALM</a:t>
            </a:r>
            <a:r>
              <a:rPr sz="1250" b="1">
                <a:solidFill>
                  <a:srgbClr val="1C2430"/>
                </a:solidFill>
                <a:latin typeface="Segoe UI"/>
              </a:rPr>
              <a:t> — </a:t>
            </a:r>
            <a:r>
              <a:rPr sz="1250" b="1">
                <a:solidFill>
                  <a:srgbClr val="1C2430"/>
                </a:solidFill>
                <a:latin typeface="Segoe UI"/>
              </a:rPr>
              <a:t>Alarma</a:t>
            </a:r>
            <a:r>
              <a:rPr sz="1250" b="1">
                <a:solidFill>
                  <a:srgbClr val="1C2430"/>
                </a:solidFill>
                <a:latin typeface="Segoe UI"/>
              </a:rPr>
              <a:t>. Contacto que se abre ante cualquier fallo grave. Se cablea en serie con la bobina del contactor de línea y se lleva al PLC.</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/S-RDY</a:t>
            </a:r>
            <a:r>
              <a:rPr sz="1250" b="1">
                <a:solidFill>
                  <a:srgbClr val="1C2430"/>
                </a:solidFill>
                <a:latin typeface="Segoe UI"/>
              </a:rPr>
              <a:t> — </a:t>
            </a:r>
            <a:r>
              <a:rPr sz="1250" b="1">
                <a:solidFill>
                  <a:srgbClr val="1C2430"/>
                </a:solidFill>
                <a:latin typeface="Segoe UI"/>
              </a:rPr>
              <a:t>Servo listo</a:t>
            </a:r>
            <a:r>
              <a:rPr sz="1250" b="1">
                <a:solidFill>
                  <a:srgbClr val="1C2430"/>
                </a:solidFill>
                <a:latin typeface="Segoe UI"/>
              </a:rPr>
              <a:t>: el drive tiene potencia y está preparado para recibir servo ON.</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/COIN</a:t>
            </a:r>
            <a:r>
              <a:rPr sz="1250" b="1">
                <a:solidFill>
                  <a:srgbClr val="1C2430"/>
                </a:solidFill>
                <a:latin typeface="Segoe UI"/>
              </a:rPr>
              <a:t> — </a:t>
            </a:r>
            <a:r>
              <a:rPr sz="1250" b="1">
                <a:solidFill>
                  <a:srgbClr val="1C2430"/>
                </a:solidFill>
                <a:latin typeface="Segoe UI"/>
              </a:rPr>
              <a:t>Posicionado completado</a:t>
            </a:r>
            <a:r>
              <a:rPr sz="1250" b="1">
                <a:solidFill>
                  <a:srgbClr val="1C2430"/>
                </a:solidFill>
                <a:latin typeface="Segoe UI"/>
              </a:rPr>
              <a:t>: la posición real está dentro de la ventana </a:t>
            </a:r>
            <a:r>
              <a:rPr sz="1250" b="1">
                <a:solidFill>
                  <a:srgbClr val="1C2430"/>
                </a:solidFill>
                <a:latin typeface="Consolas"/>
              </a:rPr>
              <a:t>Pn522</a:t>
            </a:r>
            <a:r>
              <a:rPr sz="1250" b="1">
                <a:solidFill>
                  <a:srgbClr val="1C2430"/>
                </a:solidFill>
                <a:latin typeface="Segoe UI"/>
              </a:rPr>
              <a:t>. Es la señal que espera el PLC para continuar el ciclo.</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/V-CMP</a:t>
            </a:r>
            <a:r>
              <a:rPr sz="1250" b="1">
                <a:solidFill>
                  <a:srgbClr val="1C2430"/>
                </a:solidFill>
                <a:latin typeface="Segoe UI"/>
              </a:rPr>
              <a:t> — Velocidad alcanzada (en modo velocidad).</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/TGON</a:t>
            </a:r>
            <a:r>
              <a:rPr sz="1250" b="1">
                <a:solidFill>
                  <a:srgbClr val="1C2430"/>
                </a:solidFill>
                <a:latin typeface="Segoe UI"/>
              </a:rPr>
              <a:t> — El motor está girando por encima del umbral </a:t>
            </a:r>
            <a:r>
              <a:rPr sz="1250" b="1">
                <a:solidFill>
                  <a:srgbClr val="1C2430"/>
                </a:solidFill>
                <a:latin typeface="Consolas"/>
              </a:rPr>
              <a:t>Pn502</a:t>
            </a:r>
            <a:r>
              <a:rPr sz="12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/BK</a:t>
            </a:r>
            <a:r>
              <a:rPr sz="1250" b="1">
                <a:solidFill>
                  <a:srgbClr val="1C2430"/>
                </a:solidFill>
                <a:latin typeface="Segoe UI"/>
              </a:rPr>
              <a:t> — </a:t>
            </a:r>
            <a:r>
              <a:rPr sz="1250" b="1">
                <a:solidFill>
                  <a:srgbClr val="1C2430"/>
                </a:solidFill>
                <a:latin typeface="Segoe UI"/>
              </a:rPr>
              <a:t>Mando del freno</a:t>
            </a:r>
            <a:r>
              <a:rPr sz="1250" b="1">
                <a:solidFill>
                  <a:srgbClr val="1C2430"/>
                </a:solidFill>
                <a:latin typeface="Segoe UI"/>
              </a:rPr>
              <a:t> de retención.</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/WARN</a:t>
            </a:r>
            <a:r>
              <a:rPr sz="1250" b="1">
                <a:solidFill>
                  <a:srgbClr val="1C2430"/>
                </a:solidFill>
                <a:latin typeface="Segoe UI"/>
              </a:rPr>
              <a:t> — Aviso previo a la alarma (sobrecarga, batería…).</a:t>
            </a:r>
          </a:p>
          <a:p>
            <a:pPr marL="274320" indent="-201168">
              <a:lnSpc>
                <a:spcPct val="106000"/>
              </a:lnSpc>
              <a:spcAft>
                <a:spcPts val="900"/>
              </a:spcAft>
              <a:buClr>
                <a:srgbClr val="1B5EA8"/>
              </a:buClr>
              <a:buSzPct val="90000"/>
              <a:buFont typeface="Arial"/>
              <a:buChar char="■"/>
            </a:pPr>
            <a:r>
              <a:rPr sz="1250" b="1">
                <a:solidFill>
                  <a:srgbClr val="1C2430"/>
                </a:solidFill>
                <a:latin typeface="Consolas"/>
              </a:rPr>
              <a:t>/NEAR</a:t>
            </a:r>
            <a:r>
              <a:rPr sz="1250" b="1">
                <a:solidFill>
                  <a:srgbClr val="1C2430"/>
                </a:solidFill>
                <a:latin typeface="Segoe UI"/>
              </a:rPr>
              <a:t> — Proximidad al destino: permite al PLC anticipar la siguiente acción.</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se configuran y se usan</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Se asignan a los terminales físicos con </a:t>
            </a:r>
            <a:r>
              <a:rPr sz="1350" b="1">
                <a:solidFill>
                  <a:srgbClr val="1C2430"/>
                </a:solidFill>
                <a:latin typeface="Consolas"/>
              </a:rPr>
              <a:t>Pn50E</a:t>
            </a:r>
            <a:r>
              <a:rPr sz="1350" b="1">
                <a:solidFill>
                  <a:srgbClr val="1C2430"/>
                </a:solidFill>
                <a:latin typeface="Segoe UI"/>
              </a:rPr>
              <a:t>, </a:t>
            </a:r>
            <a:r>
              <a:rPr sz="1350" b="1">
                <a:solidFill>
                  <a:srgbClr val="1C2430"/>
                </a:solidFill>
                <a:latin typeface="Consolas"/>
              </a:rPr>
              <a:t>Pn50F</a:t>
            </a:r>
            <a:r>
              <a:rPr sz="1350" b="1">
                <a:solidFill>
                  <a:srgbClr val="1C2430"/>
                </a:solidFill>
                <a:latin typeface="Segoe UI"/>
              </a:rPr>
              <a:t> y </a:t>
            </a:r>
            <a:r>
              <a:rPr sz="1350" b="1">
                <a:solidFill>
                  <a:srgbClr val="1C2430"/>
                </a:solidFill>
                <a:latin typeface="Consolas"/>
              </a:rPr>
              <a:t>Pn510</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Hay </a:t>
            </a:r>
            <a:r>
              <a:rPr sz="1350" b="1">
                <a:solidFill>
                  <a:srgbClr val="1C2430"/>
                </a:solidFill>
                <a:latin typeface="Segoe UI"/>
              </a:rPr>
              <a:t>menos salidas físicas que señales disponibles</a:t>
            </a:r>
            <a:r>
              <a:rPr sz="1350" b="1">
                <a:solidFill>
                  <a:srgbClr val="1C2430"/>
                </a:solidFill>
                <a:latin typeface="Segoe UI"/>
              </a:rPr>
              <a:t>: hay que elegir las tres o cuatro que realmente aporta valor cablear.</a:t>
            </a:r>
          </a:p>
          <a:p>
            <a:pPr marL="0" indent="0">
              <a:lnSpc>
                <a:spcPct val="106000"/>
              </a:lnSpc>
              <a:spcBef>
                <a:spcPts val="800"/>
              </a:spcBef>
              <a:spcAft>
                <a:spcPts val="900"/>
              </a:spcAft>
              <a:buNone/>
            </a:pPr>
            <a:r>
              <a:rPr sz="1300" b="1">
                <a:solidFill>
                  <a:srgbClr val="1B5EA8"/>
                </a:solidFill>
                <a:latin typeface="Segoe UI Semibold"/>
              </a:rPr>
              <a:t>Selección típica en máquina automática</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ALM</a:t>
            </a:r>
            <a:r>
              <a:rPr sz="1200" b="0">
                <a:solidFill>
                  <a:srgbClr val="333F4C"/>
                </a:solidFill>
                <a:latin typeface="Segoe UI"/>
              </a:rPr>
              <a:t> al circuito de seguridad y al PLC.</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/COIN</a:t>
            </a:r>
            <a:r>
              <a:rPr sz="1200" b="0">
                <a:solidFill>
                  <a:srgbClr val="333F4C"/>
                </a:solidFill>
                <a:latin typeface="Segoe UI"/>
              </a:rPr>
              <a:t> al PLC para encadenar el ciclo.</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/BK</a:t>
            </a:r>
            <a:r>
              <a:rPr sz="1200" b="0">
                <a:solidFill>
                  <a:srgbClr val="333F4C"/>
                </a:solidFill>
                <a:latin typeface="Segoe UI"/>
              </a:rPr>
              <a:t> al relé del freno (si el eje lo lleva).</a:t>
            </a:r>
          </a:p>
          <a:p>
            <a:pPr marL="566928" indent="-201168">
              <a:lnSpc>
                <a:spcPct val="106000"/>
              </a:lnSpc>
              <a:spcAft>
                <a:spcPts val="500"/>
              </a:spcAft>
              <a:buClr>
                <a:srgbClr val="00A9CE"/>
              </a:buClr>
              <a:buSzPct val="90000"/>
              <a:buFont typeface="Arial"/>
              <a:buChar char="▸"/>
            </a:pPr>
            <a:r>
              <a:rPr sz="1200" b="0">
                <a:solidFill>
                  <a:srgbClr val="333F4C"/>
                </a:solidFill>
                <a:latin typeface="Consolas"/>
              </a:rPr>
              <a:t>/S-RDY</a:t>
            </a:r>
            <a:r>
              <a:rPr sz="1200" b="0">
                <a:solidFill>
                  <a:srgbClr val="333F4C"/>
                </a:solidFill>
                <a:latin typeface="Segoe UI"/>
              </a:rPr>
              <a:t> al PLC para la lógica de arranque.</a:t>
            </a:r>
          </a:p>
          <a:p>
            <a:pPr marL="0" indent="0">
              <a:lnSpc>
                <a:spcPct val="106000"/>
              </a:lnSpc>
              <a:spcBef>
                <a:spcPts val="800"/>
              </a:spcBef>
              <a:spcAft>
                <a:spcPts val="900"/>
              </a:spcAft>
              <a:buNone/>
            </a:pPr>
            <a:r>
              <a:rPr sz="1300" b="1">
                <a:solidFill>
                  <a:srgbClr val="1B5EA8"/>
                </a:solidFill>
                <a:latin typeface="Segoe UI Semibold"/>
              </a:rPr>
              <a:t>Cuidado con la ventana de posicionado</a:t>
            </a:r>
          </a:p>
          <a:p>
            <a:pPr marL="274320" indent="-201168">
              <a:lnSpc>
                <a:spcPct val="106000"/>
              </a:lnSpc>
              <a:spcAft>
                <a:spcPts val="900"/>
              </a:spcAft>
              <a:buClr>
                <a:srgbClr val="1B5EA8"/>
              </a:buClr>
              <a:buSzPct val="90000"/>
              <a:buFont typeface="Arial"/>
              <a:buChar char="■"/>
            </a:pPr>
            <a:r>
              <a:rPr sz="1350" b="1">
                <a:solidFill>
                  <a:srgbClr val="1C2430"/>
                </a:solidFill>
                <a:latin typeface="Consolas"/>
              </a:rPr>
              <a:t>Pn522</a:t>
            </a:r>
            <a:r>
              <a:rPr sz="1350" b="1">
                <a:solidFill>
                  <a:srgbClr val="1C2430"/>
                </a:solidFill>
                <a:latin typeface="Segoe UI"/>
              </a:rPr>
              <a:t> demasiado grande da un </a:t>
            </a:r>
            <a:r>
              <a:rPr sz="1350" b="1">
                <a:solidFill>
                  <a:srgbClr val="1C2430"/>
                </a:solidFill>
                <a:latin typeface="Consolas"/>
              </a:rPr>
              <a:t>/COIN</a:t>
            </a:r>
            <a:r>
              <a:rPr sz="1350" b="1">
                <a:solidFill>
                  <a:srgbClr val="1C2430"/>
                </a:solidFill>
                <a:latin typeface="Segoe UI"/>
              </a:rPr>
              <a:t> prematuro (la máquina avanza antes de tiempo); demasiado pequeña, y </a:t>
            </a:r>
            <a:r>
              <a:rPr sz="1350" b="1">
                <a:solidFill>
                  <a:srgbClr val="1C2430"/>
                </a:solidFill>
                <a:latin typeface="Consolas"/>
              </a:rPr>
              <a:t>/COIN</a:t>
            </a:r>
            <a:r>
              <a:rPr sz="1350" b="1">
                <a:solidFill>
                  <a:srgbClr val="1C2430"/>
                </a:solidFill>
                <a:latin typeface="Segoe UI"/>
              </a:rPr>
              <a:t> no llega nunca y el ciclo se cuelga.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Consigna analógica: velocidad y par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método clásico, todavía muy vivo en máquina-herramienta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62</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funciona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Dos entradas diferenciales de tensión: </a:t>
            </a:r>
            <a:r>
              <a:rPr sz="1350" b="1">
                <a:solidFill>
                  <a:srgbClr val="1C2430"/>
                </a:solidFill>
                <a:latin typeface="Consolas"/>
              </a:rPr>
              <a:t>V-REF</a:t>
            </a:r>
            <a:r>
              <a:rPr sz="1350" b="1">
                <a:solidFill>
                  <a:srgbClr val="1C2430"/>
                </a:solidFill>
                <a:latin typeface="Segoe UI"/>
              </a:rPr>
              <a:t> (velocidad) y </a:t>
            </a:r>
            <a:r>
              <a:rPr sz="1350" b="1">
                <a:solidFill>
                  <a:srgbClr val="1C2430"/>
                </a:solidFill>
                <a:latin typeface="Consolas"/>
              </a:rPr>
              <a:t>T-REF</a:t>
            </a:r>
            <a:r>
              <a:rPr sz="1350" b="1">
                <a:solidFill>
                  <a:srgbClr val="1C2430"/>
                </a:solidFill>
                <a:latin typeface="Segoe UI"/>
              </a:rPr>
              <a:t> (par), con rango típico </a:t>
            </a:r>
            <a:r>
              <a:rPr sz="1350" b="1">
                <a:solidFill>
                  <a:srgbClr val="1C2430"/>
                </a:solidFill>
                <a:latin typeface="Segoe UI"/>
              </a:rPr>
              <a:t>±10 V</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El signo de la tensión define el sentido de giro.</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Escalado de velocidad</a:t>
            </a:r>
            <a:r>
              <a:rPr sz="1350" b="1">
                <a:solidFill>
                  <a:srgbClr val="1C2430"/>
                </a:solidFill>
                <a:latin typeface="Segoe UI"/>
              </a:rPr>
              <a:t>: </a:t>
            </a:r>
            <a:r>
              <a:rPr sz="1350" b="1">
                <a:solidFill>
                  <a:srgbClr val="1C2430"/>
                </a:solidFill>
                <a:latin typeface="Consolas"/>
              </a:rPr>
              <a:t>Pn300</a:t>
            </a:r>
            <a:r>
              <a:rPr sz="1350" b="1">
                <a:solidFill>
                  <a:srgbClr val="1C2430"/>
                </a:solidFill>
                <a:latin typeface="Segoe UI"/>
              </a:rPr>
              <a:t> fija a cuántas rpm equivale la tensión nominal de consigna.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Escalado de par</a:t>
            </a:r>
            <a:r>
              <a:rPr sz="1350" b="1">
                <a:solidFill>
                  <a:srgbClr val="1C2430"/>
                </a:solidFill>
                <a:latin typeface="Segoe UI"/>
              </a:rPr>
              <a:t>: </a:t>
            </a:r>
            <a:r>
              <a:rPr sz="1350" b="1">
                <a:solidFill>
                  <a:srgbClr val="1C2430"/>
                </a:solidFill>
                <a:latin typeface="Consolas"/>
              </a:rPr>
              <a:t>Pn400</a:t>
            </a:r>
            <a:r>
              <a:rPr sz="1350" b="1">
                <a:solidFill>
                  <a:srgbClr val="1C2430"/>
                </a:solidFill>
                <a:latin typeface="Segoe UI"/>
              </a:rPr>
              <a:t> fija a qué porcentaje de par equivale la tensión nominal.</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Ajuste de offset</a:t>
            </a:r>
            <a:r>
              <a:rPr sz="1350" b="1">
                <a:solidFill>
                  <a:srgbClr val="1C2430"/>
                </a:solidFill>
                <a:latin typeface="Segoe UI"/>
              </a:rPr>
              <a:t>: siempre hay unos milivoltios de deriva. Se corrigen con la función de ajuste automático de offset o manualmente por parámetro.</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Ventajas, inconvenientes y trucos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0" indent="0">
              <a:lnSpc>
                <a:spcPct val="106000"/>
              </a:lnSpc>
              <a:spcBef>
                <a:spcPts val="0"/>
              </a:spcBef>
              <a:spcAft>
                <a:spcPts val="900"/>
              </a:spcAft>
              <a:buNone/>
            </a:pPr>
            <a:r>
              <a:rPr sz="1050" b="1">
                <a:solidFill>
                  <a:srgbClr val="1B5EA8"/>
                </a:solidFill>
                <a:latin typeface="Segoe UI Semibold"/>
              </a:rPr>
              <a:t>A favor</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Respuesta inmediata, sin latencia de red. Es la razón de que sobreviva en máquina-herramienta.</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Compatible con cualquier CNC o controlador antiguo.</a:t>
            </a:r>
          </a:p>
          <a:p>
            <a:pPr marL="0" indent="0">
              <a:lnSpc>
                <a:spcPct val="106000"/>
              </a:lnSpc>
              <a:spcBef>
                <a:spcPts val="800"/>
              </a:spcBef>
              <a:spcAft>
                <a:spcPts val="900"/>
              </a:spcAft>
              <a:buNone/>
            </a:pPr>
            <a:r>
              <a:rPr sz="1050" b="1">
                <a:solidFill>
                  <a:srgbClr val="1B5EA8"/>
                </a:solidFill>
                <a:latin typeface="Segoe UI Semibold"/>
              </a:rPr>
              <a:t>En contra</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Sensible al ruido: cable apantallado obligatorio y masa de señal bien referenciada.</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La deriva térmica del convertidor del controlador se traduce en movimiento lento del eje con consigna cero.</a:t>
            </a:r>
          </a:p>
          <a:p>
            <a:pPr marL="0" indent="0">
              <a:lnSpc>
                <a:spcPct val="106000"/>
              </a:lnSpc>
              <a:spcBef>
                <a:spcPts val="800"/>
              </a:spcBef>
              <a:spcAft>
                <a:spcPts val="900"/>
              </a:spcAft>
              <a:buNone/>
            </a:pPr>
            <a:r>
              <a:rPr sz="1050" b="1">
                <a:solidFill>
                  <a:srgbClr val="1B5EA8"/>
                </a:solidFill>
                <a:latin typeface="Segoe UI Semibold"/>
              </a:rPr>
              <a:t>Truco imprescindible</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Usa </a:t>
            </a:r>
            <a:r>
              <a:rPr sz="950" b="0">
                <a:solidFill>
                  <a:srgbClr val="333F4C"/>
                </a:solidFill>
                <a:latin typeface="Consolas"/>
              </a:rPr>
              <a:t>/ZCLAMP</a:t>
            </a:r>
            <a:r>
              <a:rPr sz="950" b="0">
                <a:solidFill>
                  <a:srgbClr val="333F4C"/>
                </a:solidFill>
                <a:latin typeface="Segoe UI"/>
              </a:rPr>
              <a:t> o una banda muerta para que el eje no derive con consigna próxima a cero.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Verifica el offset </a:t>
            </a:r>
            <a:r>
              <a:rPr sz="950" b="1">
                <a:solidFill>
                  <a:srgbClr val="333F4C"/>
                </a:solidFill>
                <a:latin typeface="Segoe UI"/>
              </a:rPr>
              <a:t>en frío y en caliente</a:t>
            </a:r>
            <a:r>
              <a:rPr sz="950" b="0">
                <a:solidFill>
                  <a:srgbClr val="333F4C"/>
                </a:solidFill>
                <a:latin typeface="Segoe UI"/>
              </a:rPr>
              <a:t>: cambia.</a:t>
            </a:r>
          </a:p>
        </p:txBody>
      </p:sp>
      <p:sp>
        <p:nvSpPr>
          <p:cNvPr id="17" name="Rectangle 16"/>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En modo analógico de velocidad, el lazo de posición lo cierra el CNC</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drive sólo regula velocidad. La precisión de posicionado depende entonces del CNC y de la calidad de la señal analógica, no del SERVOPACK.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Consigna por tren de pulsos y salida de encoder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método más extendido en máquina automática sin bus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63</a:t>
            </a:r>
          </a:p>
        </p:txBody>
      </p:sp>
      <p:sp>
        <p:nvSpPr>
          <p:cNvPr id="9" name="Rectangle 8"/>
          <p:cNvSpPr/>
          <p:nvPr/>
        </p:nvSpPr>
        <p:spPr>
          <a:xfrm>
            <a:off x="566928" y="1627632"/>
            <a:ext cx="5486400" cy="23317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1773936"/>
            <a:ext cx="502920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Entrada: </a:t>
            </a:r>
            <a:r>
              <a:rPr sz="1250" b="1">
                <a:solidFill>
                  <a:srgbClr val="0B2545"/>
                </a:solidFill>
                <a:latin typeface="Consolas"/>
              </a:rPr>
              <a:t>PULS</a:t>
            </a:r>
            <a:r>
              <a:rPr sz="1250" b="1">
                <a:solidFill>
                  <a:srgbClr val="0B2545"/>
                </a:solidFill>
                <a:latin typeface="Segoe UI"/>
              </a:rPr>
              <a:t> / </a:t>
            </a:r>
            <a:r>
              <a:rPr sz="1250" b="1">
                <a:solidFill>
                  <a:srgbClr val="0B2545"/>
                </a:solidFill>
                <a:latin typeface="Consolas"/>
              </a:rPr>
              <a:t>SIGN</a:t>
            </a:r>
            <a:r>
              <a:rPr sz="1250" b="1">
                <a:solidFill>
                  <a:srgbClr val="0B2545"/>
                </a:solidFill>
                <a:latin typeface="Segoe UI"/>
              </a:rPr>
              <a:t>  (</a:t>
            </a:r>
            <a:r>
              <a:rPr sz="1250" b="1">
                <a:solidFill>
                  <a:srgbClr val="0B2545"/>
                </a:solidFill>
                <a:latin typeface="Consolas"/>
              </a:rPr>
              <a:t>Pn200.0</a:t>
            </a:r>
            <a:r>
              <a:rPr sz="1250" b="1">
                <a:solidFill>
                  <a:srgbClr val="0B2545"/>
                </a:solidFill>
                <a:latin typeface="Segoe UI"/>
              </a:rPr>
              <a:t> selecciona el formato)</a:t>
            </a:r>
          </a:p>
        </p:txBody>
      </p:sp>
      <p:sp>
        <p:nvSpPr>
          <p:cNvPr id="11" name="Rectangle 10"/>
          <p:cNvSpPr/>
          <p:nvPr/>
        </p:nvSpPr>
        <p:spPr>
          <a:xfrm>
            <a:off x="804672" y="2176272"/>
            <a:ext cx="5029200" cy="530352"/>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4672" y="2176272"/>
            <a:ext cx="54864" cy="53035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87552" y="2231136"/>
            <a:ext cx="4663440" cy="219456"/>
          </a:xfrm>
          <a:prstGeom prst="rect">
            <a:avLst/>
          </a:prstGeom>
          <a:noFill/>
        </p:spPr>
        <p:txBody>
          <a:bodyPr wrap="square" lIns="0" rIns="0" tIns="0" bIns="0" anchor="t">
            <a:spAutoFit/>
          </a:bodyPr>
          <a:lstStyle/>
          <a:p>
            <a:pPr algn="l">
              <a:lnSpc>
                <a:spcPct val="100000"/>
              </a:lnSpc>
              <a:buNone/>
            </a:pPr>
            <a:r>
              <a:rPr sz="1050" b="1">
                <a:solidFill>
                  <a:srgbClr val="1B5EA8"/>
                </a:solidFill>
                <a:latin typeface="Segoe UI"/>
              </a:rPr>
              <a:t>Pulso + sentido</a:t>
            </a:r>
          </a:p>
        </p:txBody>
      </p:sp>
      <p:sp>
        <p:nvSpPr>
          <p:cNvPr id="14" name="TextBox 13"/>
          <p:cNvSpPr txBox="1"/>
          <p:nvPr/>
        </p:nvSpPr>
        <p:spPr>
          <a:xfrm>
            <a:off x="987552" y="2450592"/>
            <a:ext cx="4663440" cy="219456"/>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Un tren de pulsos marca el movimiento y una señal estática el sentido. El más habitual.</a:t>
            </a:r>
          </a:p>
        </p:txBody>
      </p:sp>
      <p:sp>
        <p:nvSpPr>
          <p:cNvPr id="15" name="Rectangle 14"/>
          <p:cNvSpPr/>
          <p:nvPr/>
        </p:nvSpPr>
        <p:spPr>
          <a:xfrm>
            <a:off x="804672" y="2761488"/>
            <a:ext cx="5029200" cy="530352"/>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 y="2761488"/>
            <a:ext cx="54864" cy="53035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87552" y="2816352"/>
            <a:ext cx="4663440" cy="219456"/>
          </a:xfrm>
          <a:prstGeom prst="rect">
            <a:avLst/>
          </a:prstGeom>
          <a:noFill/>
        </p:spPr>
        <p:txBody>
          <a:bodyPr wrap="square" lIns="0" rIns="0" tIns="0" bIns="0" anchor="t">
            <a:spAutoFit/>
          </a:bodyPr>
          <a:lstStyle/>
          <a:p>
            <a:pPr algn="l">
              <a:lnSpc>
                <a:spcPct val="100000"/>
              </a:lnSpc>
              <a:buNone/>
            </a:pPr>
            <a:r>
              <a:rPr sz="1050" b="1">
                <a:solidFill>
                  <a:srgbClr val="1B5EA8"/>
                </a:solidFill>
                <a:latin typeface="Segoe UI"/>
              </a:rPr>
              <a:t>CW / CCW</a:t>
            </a:r>
          </a:p>
        </p:txBody>
      </p:sp>
      <p:sp>
        <p:nvSpPr>
          <p:cNvPr id="18" name="TextBox 17"/>
          <p:cNvSpPr txBox="1"/>
          <p:nvPr/>
        </p:nvSpPr>
        <p:spPr>
          <a:xfrm>
            <a:off x="987552" y="3035808"/>
            <a:ext cx="4663440" cy="219456"/>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Dos trenes independientes, uno por sentido de giro.</a:t>
            </a:r>
          </a:p>
        </p:txBody>
      </p:sp>
      <p:sp>
        <p:nvSpPr>
          <p:cNvPr id="19" name="Rectangle 18"/>
          <p:cNvSpPr/>
          <p:nvPr/>
        </p:nvSpPr>
        <p:spPr>
          <a:xfrm>
            <a:off x="804672" y="3346704"/>
            <a:ext cx="5029200" cy="530352"/>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4672" y="3346704"/>
            <a:ext cx="54864" cy="53035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87552" y="3401568"/>
            <a:ext cx="4663440" cy="219456"/>
          </a:xfrm>
          <a:prstGeom prst="rect">
            <a:avLst/>
          </a:prstGeom>
          <a:noFill/>
        </p:spPr>
        <p:txBody>
          <a:bodyPr wrap="square" lIns="0" rIns="0" tIns="0" bIns="0" anchor="t">
            <a:spAutoFit/>
          </a:bodyPr>
          <a:lstStyle/>
          <a:p>
            <a:pPr algn="l">
              <a:lnSpc>
                <a:spcPct val="100000"/>
              </a:lnSpc>
              <a:buNone/>
            </a:pPr>
            <a:r>
              <a:rPr sz="1050" b="1">
                <a:solidFill>
                  <a:srgbClr val="1B5EA8"/>
                </a:solidFill>
                <a:latin typeface="Segoe UI"/>
              </a:rPr>
              <a:t>Cuadratura A/B (×1, ×2, ×4)</a:t>
            </a:r>
          </a:p>
        </p:txBody>
      </p:sp>
      <p:sp>
        <p:nvSpPr>
          <p:cNvPr id="22" name="TextBox 21"/>
          <p:cNvSpPr txBox="1"/>
          <p:nvPr/>
        </p:nvSpPr>
        <p:spPr>
          <a:xfrm>
            <a:off x="987552" y="3621024"/>
            <a:ext cx="4663440" cy="219456"/>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Dos señales desfasadas 90°; permite multiplicar la resolución por 4.</a:t>
            </a:r>
          </a:p>
        </p:txBody>
      </p:sp>
      <p:sp>
        <p:nvSpPr>
          <p:cNvPr id="23" name="Rectangle 22"/>
          <p:cNvSpPr/>
          <p:nvPr/>
        </p:nvSpPr>
        <p:spPr>
          <a:xfrm>
            <a:off x="6327648" y="1627632"/>
            <a:ext cx="5303520" cy="23317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65392" y="1773936"/>
            <a:ext cx="484632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Salida: </a:t>
            </a:r>
            <a:r>
              <a:rPr sz="1250" b="1">
                <a:solidFill>
                  <a:srgbClr val="0B2545"/>
                </a:solidFill>
                <a:latin typeface="Consolas"/>
              </a:rPr>
              <a:t>PAO</a:t>
            </a:r>
            <a:r>
              <a:rPr sz="1250" b="1">
                <a:solidFill>
                  <a:srgbClr val="0B2545"/>
                </a:solidFill>
                <a:latin typeface="Segoe UI"/>
              </a:rPr>
              <a:t> / </a:t>
            </a:r>
            <a:r>
              <a:rPr sz="1250" b="1">
                <a:solidFill>
                  <a:srgbClr val="0B2545"/>
                </a:solidFill>
                <a:latin typeface="Consolas"/>
              </a:rPr>
              <a:t>PBO</a:t>
            </a:r>
            <a:r>
              <a:rPr sz="1250" b="1">
                <a:solidFill>
                  <a:srgbClr val="0B2545"/>
                </a:solidFill>
                <a:latin typeface="Segoe UI"/>
              </a:rPr>
              <a:t> / </a:t>
            </a:r>
            <a:r>
              <a:rPr sz="1250" b="1">
                <a:solidFill>
                  <a:srgbClr val="0B2545"/>
                </a:solidFill>
                <a:latin typeface="Consolas"/>
              </a:rPr>
              <a:t>PCO</a:t>
            </a:r>
            <a:r>
              <a:rPr sz="1250" b="1">
                <a:solidFill>
                  <a:srgbClr val="0B2545"/>
                </a:solidFill>
                <a:latin typeface="Segoe UI"/>
              </a:rPr>
              <a:t>  (</a:t>
            </a:r>
            <a:r>
              <a:rPr sz="1250" b="1">
                <a:solidFill>
                  <a:srgbClr val="0B2545"/>
                </a:solidFill>
                <a:latin typeface="Consolas"/>
              </a:rPr>
              <a:t>Pn212</a:t>
            </a:r>
            <a:r>
              <a:rPr sz="1250" b="1">
                <a:solidFill>
                  <a:srgbClr val="0B2545"/>
                </a:solidFill>
                <a:latin typeface="Segoe UI"/>
              </a:rPr>
              <a:t> fija la resolución)</a:t>
            </a:r>
          </a:p>
        </p:txBody>
      </p:sp>
      <p:sp>
        <p:nvSpPr>
          <p:cNvPr id="25" name="TextBox 24"/>
          <p:cNvSpPr txBox="1"/>
          <p:nvPr/>
        </p:nvSpPr>
        <p:spPr>
          <a:xfrm>
            <a:off x="6565392" y="2176272"/>
            <a:ext cx="4846320" cy="173736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Consolas"/>
              </a:rPr>
              <a:t>PAO</a:t>
            </a:r>
            <a:r>
              <a:rPr sz="1050" b="1">
                <a:solidFill>
                  <a:srgbClr val="1C2430"/>
                </a:solidFill>
                <a:latin typeface="Segoe UI"/>
              </a:rPr>
              <a:t> y </a:t>
            </a:r>
            <a:r>
              <a:rPr sz="1050" b="1">
                <a:solidFill>
                  <a:srgbClr val="1C2430"/>
                </a:solidFill>
                <a:latin typeface="Consolas"/>
              </a:rPr>
              <a:t>PBO</a:t>
            </a:r>
            <a:r>
              <a:rPr sz="1050" b="1">
                <a:solidFill>
                  <a:srgbClr val="1C2430"/>
                </a:solidFill>
                <a:latin typeface="Segoe UI"/>
              </a:rPr>
              <a:t>: dos canales en cuadratura que reproducen el movimiento.</a:t>
            </a:r>
          </a:p>
          <a:p>
            <a:pPr marL="274320" indent="-201168">
              <a:lnSpc>
                <a:spcPct val="106000"/>
              </a:lnSpc>
              <a:spcAft>
                <a:spcPts val="900"/>
              </a:spcAft>
              <a:buClr>
                <a:srgbClr val="1B5EA8"/>
              </a:buClr>
              <a:buSzPct val="90000"/>
              <a:buFont typeface="Arial"/>
              <a:buChar char="■"/>
            </a:pPr>
            <a:r>
              <a:rPr sz="1050" b="1">
                <a:solidFill>
                  <a:srgbClr val="1C2430"/>
                </a:solidFill>
                <a:latin typeface="Consolas"/>
              </a:rPr>
              <a:t>PCO</a:t>
            </a:r>
            <a:r>
              <a:rPr sz="1050" b="1">
                <a:solidFill>
                  <a:srgbClr val="1C2430"/>
                </a:solidFill>
                <a:latin typeface="Segoe UI"/>
              </a:rPr>
              <a:t>: pulso de marca, </a:t>
            </a:r>
            <a:r>
              <a:rPr sz="1050" b="1">
                <a:solidFill>
                  <a:srgbClr val="1C2430"/>
                </a:solidFill>
                <a:latin typeface="Segoe UI"/>
              </a:rPr>
              <a:t>uno por vuelta</a:t>
            </a:r>
            <a:r>
              <a:rPr sz="1050" b="1">
                <a:solidFill>
                  <a:srgbClr val="1C2430"/>
                </a:solidFill>
                <a:latin typeface="Segoe UI"/>
              </a:rPr>
              <a:t>, para la búsqueda de origen.</a:t>
            </a:r>
          </a:p>
          <a:p>
            <a:pPr marL="274320" indent="-201168">
              <a:lnSpc>
                <a:spcPct val="106000"/>
              </a:lnSpc>
              <a:spcAft>
                <a:spcPts val="900"/>
              </a:spcAft>
              <a:buClr>
                <a:srgbClr val="1B5EA8"/>
              </a:buClr>
              <a:buSzPct val="90000"/>
              <a:buFont typeface="Arial"/>
              <a:buChar char="■"/>
            </a:pPr>
            <a:r>
              <a:rPr sz="1050" b="1">
                <a:solidFill>
                  <a:srgbClr val="1C2430"/>
                </a:solidFill>
                <a:latin typeface="Consolas"/>
              </a:rPr>
              <a:t>Pn212</a:t>
            </a:r>
            <a:r>
              <a:rPr sz="1050" b="1">
                <a:solidFill>
                  <a:srgbClr val="1C2430"/>
                </a:solidFill>
                <a:latin typeface="Segoe UI"/>
              </a:rPr>
              <a:t> define cuántos pulsos por vuelta se emiten (valor típico de fábrica: 2.048).</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Comprueba que la frecuencia resultante a velocidad máxima no supera el límite del amplificador ni el del controlador.</a:t>
            </a:r>
          </a:p>
        </p:txBody>
      </p:sp>
      <p:sp>
        <p:nvSpPr>
          <p:cNvPr id="26" name="Rectangle 25"/>
          <p:cNvSpPr/>
          <p:nvPr/>
        </p:nvSpPr>
        <p:spPr>
          <a:xfrm>
            <a:off x="566928" y="4160520"/>
            <a:ext cx="11064240" cy="14173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2960" y="4297680"/>
            <a:ext cx="1051560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Line driver frente a colector abierto: no es un detalle menor</a:t>
            </a:r>
          </a:p>
        </p:txBody>
      </p:sp>
      <p:sp>
        <p:nvSpPr>
          <p:cNvPr id="28" name="TextBox 27"/>
          <p:cNvSpPr txBox="1"/>
          <p:nvPr/>
        </p:nvSpPr>
        <p:spPr>
          <a:xfrm>
            <a:off x="822960" y="4617720"/>
            <a:ext cx="5120640" cy="914400"/>
          </a:xfrm>
          <a:prstGeom prst="rect">
            <a:avLst/>
          </a:prstGeom>
          <a:noFill/>
        </p:spPr>
        <p:txBody>
          <a:bodyPr wrap="square" lIns="0" rIns="0" tIns="0" bIns="0" anchor="t">
            <a:spAutoFit/>
          </a:bodyPr>
          <a:lstStyle/>
          <a:p>
            <a:pPr algn="l">
              <a:lnSpc>
                <a:spcPct val="110000"/>
              </a:lnSpc>
              <a:buNone/>
            </a:pPr>
            <a:r>
              <a:rPr sz="1100" b="1">
                <a:solidFill>
                  <a:srgbClr val="1C2430"/>
                </a:solidFill>
                <a:latin typeface="Segoe UI"/>
              </a:rPr>
              <a:t>Line driver (RS-422, diferencial)</a:t>
            </a:r>
          </a:p>
          <a:p>
            <a:pPr algn="l">
              <a:lnSpc>
                <a:spcPct val="110000"/>
              </a:lnSpc>
              <a:buNone/>
            </a:pPr>
            <a:r>
              <a:rPr sz="1100" b="0">
                <a:solidFill>
                  <a:srgbClr val="1C2430"/>
                </a:solidFill>
                <a:latin typeface="Segoe UI"/>
              </a:rPr>
              <a:t>Frecuencias altas, cables largos, gran inmunidad al ruido. Es la opción recomendada en cualquier eje exigente.</a:t>
            </a:r>
          </a:p>
        </p:txBody>
      </p:sp>
      <p:sp>
        <p:nvSpPr>
          <p:cNvPr id="29" name="TextBox 28"/>
          <p:cNvSpPr txBox="1"/>
          <p:nvPr/>
        </p:nvSpPr>
        <p:spPr>
          <a:xfrm>
            <a:off x="6355080" y="4617720"/>
            <a:ext cx="5029200" cy="914400"/>
          </a:xfrm>
          <a:prstGeom prst="rect">
            <a:avLst/>
          </a:prstGeom>
          <a:noFill/>
        </p:spPr>
        <p:txBody>
          <a:bodyPr wrap="square" lIns="0" rIns="0" tIns="0" bIns="0" anchor="t">
            <a:spAutoFit/>
          </a:bodyPr>
          <a:lstStyle/>
          <a:p>
            <a:pPr algn="l">
              <a:lnSpc>
                <a:spcPct val="110000"/>
              </a:lnSpc>
              <a:buNone/>
            </a:pPr>
            <a:r>
              <a:rPr sz="1100" b="1">
                <a:solidFill>
                  <a:srgbClr val="1C2430"/>
                </a:solidFill>
                <a:latin typeface="Segoe UI"/>
              </a:rPr>
              <a:t>Colector abierto</a:t>
            </a:r>
          </a:p>
          <a:p>
            <a:pPr algn="l">
              <a:lnSpc>
                <a:spcPct val="110000"/>
              </a:lnSpc>
              <a:buNone/>
            </a:pPr>
            <a:r>
              <a:rPr sz="1100" b="0">
                <a:solidFill>
                  <a:srgbClr val="1C2430"/>
                </a:solidFill>
                <a:latin typeface="Segoe UI"/>
              </a:rPr>
              <a:t>Más sencillo y barato, pero limita la frecuencia y la longitud del cable. Suele ser el origen de pérdidas de pulsos y de posiciones que 'se van'.</a:t>
            </a:r>
          </a:p>
        </p:txBody>
      </p:sp>
      <p:sp>
        <p:nvSpPr>
          <p:cNvPr id="30" name="Rectangle 29"/>
          <p:cNvSpPr/>
          <p:nvPr/>
        </p:nvSpPr>
        <p:spPr>
          <a:xfrm>
            <a:off x="566928" y="5632704"/>
            <a:ext cx="11064240" cy="694944"/>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566928" y="5632704"/>
            <a:ext cx="68580" cy="69494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41248" y="5769864"/>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Síntoma clásico de formato mal configurado</a:t>
            </a:r>
          </a:p>
        </p:txBody>
      </p:sp>
      <p:sp>
        <p:nvSpPr>
          <p:cNvPr id="33" name="TextBox 32"/>
          <p:cNvSpPr txBox="1"/>
          <p:nvPr/>
        </p:nvSpPr>
        <p:spPr>
          <a:xfrm>
            <a:off x="841248" y="6044184"/>
            <a:ext cx="10561320" cy="192024"/>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eje se mueve la mitad o el cuádruple de lo pedido, o siempre en el mismo sentido. Revisa </a:t>
            </a:r>
            <a:r>
              <a:rPr sz="1150" b="0">
                <a:solidFill>
                  <a:srgbClr val="2B3644"/>
                </a:solidFill>
                <a:latin typeface="Consolas"/>
              </a:rPr>
              <a:t>Pn200.0</a:t>
            </a:r>
            <a:r>
              <a:rPr sz="1150" b="0">
                <a:solidFill>
                  <a:srgbClr val="2B3644"/>
                </a:solidFill>
                <a:latin typeface="Segoe UI"/>
              </a:rPr>
              <a:t> y el engranaje electrónico antes de buscar problemas mecánicos.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Sobrerrecorrido, límites y métodos de parada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Consolas"/>
              </a:rPr>
              <a:t>Pn001</a:t>
            </a:r>
            <a:r>
              <a:rPr sz="1250" b="0">
                <a:solidFill>
                  <a:srgbClr val="A9C6E0"/>
                </a:solidFill>
                <a:latin typeface="Segoe UI"/>
              </a:rPr>
              <a:t> decide qué pasa cuando algo va mal</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64</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975" b="1">
                <a:solidFill>
                  <a:srgbClr val="1B5EA8"/>
                </a:solidFill>
                <a:latin typeface="Segoe UI Semibold"/>
              </a:rPr>
              <a:t>Las tres capas de protección de recorrido</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Límite software del controlador</a:t>
            </a:r>
            <a:r>
              <a:rPr sz="1025" b="1">
                <a:solidFill>
                  <a:srgbClr val="1C2430"/>
                </a:solidFill>
                <a:latin typeface="Segoe UI"/>
              </a:rPr>
              <a:t>: la primera barrera; el PLC o el CNC no genera consignas fuera del rango útil.</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Finales de carrera </a:t>
            </a:r>
            <a:r>
              <a:rPr sz="1025" b="1">
                <a:solidFill>
                  <a:srgbClr val="1C2430"/>
                </a:solidFill>
                <a:latin typeface="Consolas"/>
              </a:rPr>
              <a:t>P-OT</a:t>
            </a:r>
            <a:r>
              <a:rPr sz="1025" b="1">
                <a:solidFill>
                  <a:srgbClr val="1C2430"/>
                </a:solidFill>
                <a:latin typeface="Segoe UI"/>
              </a:rPr>
              <a:t> / </a:t>
            </a:r>
            <a:r>
              <a:rPr sz="1025" b="1">
                <a:solidFill>
                  <a:srgbClr val="1C2430"/>
                </a:solidFill>
                <a:latin typeface="Consolas"/>
              </a:rPr>
              <a:t>N-OT</a:t>
            </a:r>
            <a:r>
              <a:rPr sz="1025" b="1">
                <a:solidFill>
                  <a:srgbClr val="1C2430"/>
                </a:solidFill>
                <a:latin typeface="Segoe UI"/>
              </a:rPr>
              <a:t> cableados al drive: detienen el eje aunque el controlador falle.</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Topes mecánicos y finales de seguridad</a:t>
            </a:r>
            <a:r>
              <a:rPr sz="1025" b="1">
                <a:solidFill>
                  <a:srgbClr val="1C2430"/>
                </a:solidFill>
                <a:latin typeface="Segoe UI"/>
              </a:rPr>
              <a:t> independientes: la última barrera, dimensionada para absorber el impacto.</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75" b="1">
                <a:solidFill>
                  <a:srgbClr val="1B5EA8"/>
                </a:solidFill>
                <a:latin typeface="Segoe UI Semibold"/>
              </a:rPr>
              <a:t>Qué hace el drive al detectar sobrerrecorrido</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Detiene el movimiento en el sentido de la infracción, pero </a:t>
            </a:r>
            <a:r>
              <a:rPr sz="1025" b="1">
                <a:solidFill>
                  <a:srgbClr val="1C2430"/>
                </a:solidFill>
                <a:latin typeface="Segoe UI"/>
              </a:rPr>
              <a:t>permite salir</a:t>
            </a:r>
            <a:r>
              <a:rPr sz="1025" b="1">
                <a:solidFill>
                  <a:srgbClr val="1C2430"/>
                </a:solidFill>
                <a:latin typeface="Segoe UI"/>
              </a:rPr>
              <a:t> en sentido contrario: así puedes retirar el eje.</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El método de parada se configura en </a:t>
            </a:r>
            <a:r>
              <a:rPr sz="1025" b="1">
                <a:solidFill>
                  <a:srgbClr val="1C2430"/>
                </a:solidFill>
                <a:latin typeface="Consolas"/>
              </a:rPr>
              <a:t>Pn001</a:t>
            </a:r>
            <a:r>
              <a:rPr sz="1025" b="1">
                <a:solidFill>
                  <a:srgbClr val="1C2430"/>
                </a:solidFill>
                <a:latin typeface="Segoe UI"/>
              </a:rPr>
              <a:t>: parada por freno dinámico, parada por rampa de par o desactivación libre.</a:t>
            </a:r>
          </a:p>
          <a:p>
            <a:pPr marL="566928" indent="-201168">
              <a:lnSpc>
                <a:spcPct val="106000"/>
              </a:lnSpc>
              <a:spcAft>
                <a:spcPts val="500"/>
              </a:spcAft>
              <a:buClr>
                <a:srgbClr val="00A9CE"/>
              </a:buClr>
              <a:buSzPct val="90000"/>
              <a:buFont typeface="Arial"/>
              <a:buChar char="▸"/>
            </a:pPr>
            <a:r>
              <a:rPr sz="875" b="0">
                <a:solidFill>
                  <a:srgbClr val="333F4C"/>
                </a:solidFill>
                <a:latin typeface="Segoe UI"/>
              </a:rPr>
              <a:t>Tras la parada, el eje puede quedar </a:t>
            </a:r>
            <a:r>
              <a:rPr sz="875" b="1">
                <a:solidFill>
                  <a:srgbClr val="333F4C"/>
                </a:solidFill>
                <a:latin typeface="Segoe UI"/>
              </a:rPr>
              <a:t>enclavado</a:t>
            </a:r>
            <a:r>
              <a:rPr sz="875" b="0">
                <a:solidFill>
                  <a:srgbClr val="333F4C"/>
                </a:solidFill>
                <a:latin typeface="Segoe UI"/>
              </a:rPr>
              <a:t> (manteniendo posición) o </a:t>
            </a:r>
            <a:r>
              <a:rPr sz="875" b="1">
                <a:solidFill>
                  <a:srgbClr val="333F4C"/>
                </a:solidFill>
                <a:latin typeface="Segoe UI"/>
              </a:rPr>
              <a:t>libre</a:t>
            </a:r>
            <a:r>
              <a:rPr sz="875" b="0">
                <a:solidFill>
                  <a:srgbClr val="333F4C"/>
                </a:solidFill>
                <a:latin typeface="Segoe UI"/>
              </a:rPr>
              <a:t>, según la configuración.</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75" b="1">
                <a:solidFill>
                  <a:srgbClr val="1B5EA8"/>
                </a:solidFill>
                <a:latin typeface="Segoe UI Semibold"/>
              </a:rPr>
              <a:t>Métodos de parada disponibles y cuándo usarlos</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Freno dinámico</a:t>
            </a:r>
            <a:r>
              <a:rPr sz="1025" b="1">
                <a:solidFill>
                  <a:srgbClr val="1C2430"/>
                </a:solidFill>
                <a:latin typeface="Segoe UI"/>
              </a:rPr>
              <a:t> — parada rápida cortocircuitando las fases. Adecuado para emergencia; genera esfuerzo mecánico.</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Parada por par máximo (rampa)</a:t>
            </a:r>
            <a:r>
              <a:rPr sz="1025" b="1">
                <a:solidFill>
                  <a:srgbClr val="1C2430"/>
                </a:solidFill>
                <a:latin typeface="Segoe UI"/>
              </a:rPr>
              <a:t> — el motor frena de forma controlada. Es la más suave para la mecánica.</a:t>
            </a:r>
          </a:p>
          <a:p>
            <a:pPr marL="274320" indent="-201168">
              <a:lnSpc>
                <a:spcPct val="106000"/>
              </a:lnSpc>
              <a:spcAft>
                <a:spcPts val="900"/>
              </a:spcAft>
              <a:buClr>
                <a:srgbClr val="1B5EA8"/>
              </a:buClr>
              <a:buSzPct val="90000"/>
              <a:buFont typeface="Arial"/>
              <a:buChar char="■"/>
            </a:pPr>
            <a:r>
              <a:rPr sz="1025" b="1">
                <a:solidFill>
                  <a:srgbClr val="1C2430"/>
                </a:solidFill>
                <a:latin typeface="Segoe UI"/>
              </a:rPr>
              <a:t>Marcha libre (coast)</a:t>
            </a:r>
            <a:r>
              <a:rPr sz="1025" b="1">
                <a:solidFill>
                  <a:srgbClr val="1C2430"/>
                </a:solidFill>
                <a:latin typeface="Segoe UI"/>
              </a:rPr>
              <a:t> — el eje se detiene por rozamiento. Inaceptable en ejes verticales o de gran inercia.</a:t>
            </a:r>
          </a:p>
        </p:txBody>
      </p:sp>
      <p:sp>
        <p:nvSpPr>
          <p:cNvPr id="10" name="Rectangle 9"/>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Regla de seguridad</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Deshabilitar </a:t>
            </a:r>
            <a:r>
              <a:rPr sz="1150" b="0">
                <a:solidFill>
                  <a:srgbClr val="2B3644"/>
                </a:solidFill>
                <a:latin typeface="Consolas"/>
              </a:rPr>
              <a:t>P-OT</a:t>
            </a:r>
            <a:r>
              <a:rPr sz="1150" b="0">
                <a:solidFill>
                  <a:srgbClr val="2B3644"/>
                </a:solidFill>
                <a:latin typeface="Segoe UI"/>
              </a:rPr>
              <a:t>/</a:t>
            </a:r>
            <a:r>
              <a:rPr sz="1150" b="0">
                <a:solidFill>
                  <a:srgbClr val="2B3644"/>
                </a:solidFill>
                <a:latin typeface="Consolas"/>
              </a:rPr>
              <a:t>N-OT</a:t>
            </a:r>
            <a:r>
              <a:rPr sz="1150" b="0">
                <a:solidFill>
                  <a:srgbClr val="2B3644"/>
                </a:solidFill>
                <a:latin typeface="Segoe UI"/>
              </a:rPr>
              <a:t> por parámetro para 'facilitar las pruebas' y olvidarse de reactivarlos es una de las causas más habituales de colisiones caras. Documenta cualquier deshabilitación temporal.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Buses de movimiento: MECHATROLINK-III y EtherCAT</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En instalación nueva, el bus es casi siempre la mejor opción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65</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1842973"/>
                <a:gridCol w="4146689"/>
                <a:gridCol w="5068176"/>
              </a:tblGrid>
              <a:tr h="347472">
                <a:tc>
                  <a:txBody>
                    <a:bodyPr wrap="square"/>
                    <a:lstStyle/>
                    <a:p>
                      <a:pPr algn="l">
                        <a:lnSpc>
                          <a:spcPct val="100000"/>
                        </a:lnSpc>
                        <a:buNone/>
                      </a:pPr>
                      <a:r>
                        <a:rPr sz="950" b="1">
                          <a:solidFill>
                            <a:srgbClr val="FFFFFF"/>
                          </a:solidFill>
                          <a:latin typeface="Segoe UI"/>
                        </a:rPr>
                        <a:t>Aspecto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MECHATROLINK-III</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EtherCAT (CoE, perfil CiA 402)</a:t>
                      </a:r>
                    </a:p>
                  </a:txBody>
                  <a:tcPr marL="82296" marR="82296" marT="27432" marB="27432" anchor="ctr">
                    <a:solidFill>
                      <a:srgbClr val="0B2545"/>
                    </a:solidFill>
                  </a:tcPr>
                </a:tc>
              </a:tr>
              <a:tr h="514350">
                <a:tc>
                  <a:txBody>
                    <a:bodyPr wrap="square"/>
                    <a:lstStyle/>
                    <a:p>
                      <a:pPr algn="l">
                        <a:lnSpc>
                          <a:spcPct val="100000"/>
                        </a:lnSpc>
                        <a:buNone/>
                      </a:pPr>
                      <a:r>
                        <a:rPr sz="950" b="0">
                          <a:solidFill>
                            <a:srgbClr val="1C2430"/>
                          </a:solidFill>
                          <a:latin typeface="Segoe UI"/>
                        </a:rPr>
                        <a:t>Origen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Bus propietario YASKAWA para movimiento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Estándar abierto muy extendido en la industria</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Topología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Línea, con repetidores/switch dedicado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Línea o anillo sobre Ethernet industrial</a:t>
                      </a:r>
                    </a:p>
                  </a:txBody>
                  <a:tcPr marL="82296" marR="82296" marT="27432" marB="27432" anchor="ctr">
                    <a:solidFill>
                      <a:srgbClr val="F2F5F8"/>
                    </a:solidFill>
                  </a:tcPr>
                </a:tc>
              </a:tr>
              <a:tr h="514350">
                <a:tc>
                  <a:txBody>
                    <a:bodyPr wrap="square"/>
                    <a:lstStyle/>
                    <a:p>
                      <a:pPr algn="l">
                        <a:lnSpc>
                          <a:spcPct val="100000"/>
                        </a:lnSpc>
                        <a:buNone/>
                      </a:pPr>
                      <a:r>
                        <a:rPr sz="950" b="0">
                          <a:solidFill>
                            <a:srgbClr val="1C2430"/>
                          </a:solidFill>
                          <a:latin typeface="Segoe UI"/>
                        </a:rPr>
                        <a:t>Controlador típico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MP2000 / MP3000 de YASKAWA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Cualquier maestro EtherCAT (Beckhoff, Omron, Codesys, Yaskawa…)</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Modos de operación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Posición, velocidad, par, interpolación, búsqueda de origen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Modos CiA 402: </a:t>
                      </a:r>
                      <a:r>
                        <a:rPr sz="950" b="0">
                          <a:solidFill>
                            <a:srgbClr val="1C2430"/>
                          </a:solidFill>
                          <a:latin typeface="Consolas"/>
                        </a:rPr>
                        <a:t>csp</a:t>
                      </a:r>
                      <a:r>
                        <a:rPr sz="950" b="0">
                          <a:solidFill>
                            <a:srgbClr val="1C2430"/>
                          </a:solidFill>
                          <a:latin typeface="Segoe UI"/>
                        </a:rPr>
                        <a:t> (posición cíclica), </a:t>
                      </a:r>
                      <a:r>
                        <a:rPr sz="950" b="0">
                          <a:solidFill>
                            <a:srgbClr val="1C2430"/>
                          </a:solidFill>
                          <a:latin typeface="Consolas"/>
                        </a:rPr>
                        <a:t>csv</a:t>
                      </a:r>
                      <a:r>
                        <a:rPr sz="950" b="0">
                          <a:solidFill>
                            <a:srgbClr val="1C2430"/>
                          </a:solidFill>
                          <a:latin typeface="Segoe UI"/>
                        </a:rPr>
                        <a:t> (velocidad cíclica), </a:t>
                      </a:r>
                      <a:r>
                        <a:rPr sz="950" b="0">
                          <a:solidFill>
                            <a:srgbClr val="1C2430"/>
                          </a:solidFill>
                          <a:latin typeface="Consolas"/>
                        </a:rPr>
                        <a:t>cst</a:t>
                      </a:r>
                      <a:r>
                        <a:rPr sz="950" b="0">
                          <a:solidFill>
                            <a:srgbClr val="1C2430"/>
                          </a:solidFill>
                          <a:latin typeface="Segoe UI"/>
                        </a:rPr>
                        <a:t> (par cíclico), </a:t>
                      </a:r>
                      <a:r>
                        <a:rPr sz="950" b="0">
                          <a:solidFill>
                            <a:srgbClr val="1C2430"/>
                          </a:solidFill>
                          <a:latin typeface="Consolas"/>
                        </a:rPr>
                        <a:t>pp</a:t>
                      </a:r>
                      <a:r>
                        <a:rPr sz="950" b="0">
                          <a:solidFill>
                            <a:srgbClr val="1C2430"/>
                          </a:solidFill>
                          <a:latin typeface="Segoe UI"/>
                        </a:rPr>
                        <a:t>, </a:t>
                      </a:r>
                      <a:r>
                        <a:rPr sz="950" b="0">
                          <a:solidFill>
                            <a:srgbClr val="1C2430"/>
                          </a:solidFill>
                          <a:latin typeface="Consolas"/>
                        </a:rPr>
                        <a:t>hm</a:t>
                      </a:r>
                    </a:p>
                  </a:txBody>
                  <a:tcPr marL="82296" marR="82296" marT="27432" marB="27432" anchor="ctr">
                    <a:solidFill>
                      <a:srgbClr val="F2F5F8"/>
                    </a:solidFill>
                  </a:tcPr>
                </a:tc>
              </a:tr>
              <a:tr h="514350">
                <a:tc>
                  <a:txBody>
                    <a:bodyPr wrap="square"/>
                    <a:lstStyle/>
                    <a:p>
                      <a:pPr algn="l">
                        <a:lnSpc>
                          <a:spcPct val="100000"/>
                        </a:lnSpc>
                        <a:buNone/>
                      </a:pPr>
                      <a:r>
                        <a:rPr sz="950" b="0">
                          <a:solidFill>
                            <a:srgbClr val="1C2430"/>
                          </a:solidFill>
                          <a:latin typeface="Segoe UI"/>
                        </a:rPr>
                        <a:t>Ventajas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Integración total con el ecosistema YASKAWA; sincronismo excelente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Interoperabilidad, coste de infraestructura bajo, diagnóstico remoto</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Cableado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 específico del bus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 Ethernet industrial apantallado</a:t>
                      </a:r>
                    </a:p>
                  </a:txBody>
                  <a:tcPr marL="82296" marR="82296" marT="27432" marB="27432" anchor="ctr">
                    <a:solidFill>
                      <a:srgbClr val="F2F5F8"/>
                    </a:solidFill>
                  </a:tcPr>
                </a:tc>
              </a:tr>
              <a:tr h="514350">
                <a:tc>
                  <a:txBody>
                    <a:bodyPr wrap="square"/>
                    <a:lstStyle/>
                    <a:p>
                      <a:pPr algn="l">
                        <a:lnSpc>
                          <a:spcPct val="100000"/>
                        </a:lnSpc>
                        <a:buNone/>
                      </a:pPr>
                      <a:r>
                        <a:rPr sz="950" b="0">
                          <a:solidFill>
                            <a:srgbClr val="1C2430"/>
                          </a:solidFill>
                          <a:latin typeface="Segoe UI"/>
                        </a:rPr>
                        <a:t>Puesta en marcha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Direccionamiento por interruptores/parámetro y configuración en el controlador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Fichero ESI, mapeo PDO y configuración del maestro</a:t>
                      </a:r>
                    </a:p>
                  </a:txBody>
                  <a:tcPr marL="82296" marR="82296" marT="27432" marB="27432" anchor="ctr">
                    <a:solidFill>
                      <a:srgbClr val="FFFFFF"/>
                    </a:solidFill>
                  </a:tcPr>
                </a:tc>
              </a:tr>
              <a:tr h="514350">
                <a:tc>
                  <a:txBody>
                    <a:bodyPr wrap="square"/>
                    <a:lstStyle/>
                    <a:p>
                      <a:pPr algn="l">
                        <a:lnSpc>
                          <a:spcPct val="100000"/>
                        </a:lnSpc>
                        <a:buNone/>
                      </a:pPr>
                      <a:r>
                        <a:rPr sz="950" b="0">
                          <a:solidFill>
                            <a:srgbClr val="1C2430"/>
                          </a:solidFill>
                          <a:latin typeface="Segoe UI"/>
                        </a:rPr>
                        <a:t>Diagnóstico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Alarmas de comunicación específicas del bus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Contadores de error por puerto, muy útiles para localizar el cable malo</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Con bus desaparece casi todo el cableado de CN1: servo ON, consigna y estado viajan por telegrama. Los finales de carrera y la seguridad siguen siendo cableado físico.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elegir la arquitectura de control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Tres arquitecturas, tres contextos distintos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06</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66</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La decisión se toma al comprar el amplificador: forma parte del código de modelo y no se puede cambiar después.</a:t>
            </a:r>
          </a:p>
        </p:txBody>
      </p:sp>
      <p:sp>
        <p:nvSpPr>
          <p:cNvPr id="10" name="Rectangle 9"/>
          <p:cNvSpPr/>
          <p:nvPr/>
        </p:nvSpPr>
        <p:spPr>
          <a:xfrm>
            <a:off x="566928" y="1956816"/>
            <a:ext cx="3515258" cy="4370832"/>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Elige ANALÓGICA / PULSOS si…</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Sustituyes un drive antiguo y el controlador se queda.</a:t>
            </a:r>
          </a:p>
          <a:p>
            <a:pPr>
              <a:lnSpc>
                <a:spcPct val="105000"/>
              </a:lnSpc>
              <a:spcAft>
                <a:spcPts val="400"/>
              </a:spcAft>
              <a:buNone/>
            </a:pPr>
            <a:r>
              <a:rPr sz="1200" b="0">
                <a:solidFill>
                  <a:srgbClr val="2B3644"/>
                </a:solidFill>
                <a:latin typeface="Segoe UI"/>
              </a:rPr>
              <a:t>· El controlador sólo tiene salida de pulsos o ±10 V.</a:t>
            </a:r>
          </a:p>
          <a:p>
            <a:pPr>
              <a:lnSpc>
                <a:spcPct val="105000"/>
              </a:lnSpc>
              <a:spcAft>
                <a:spcPts val="400"/>
              </a:spcAft>
              <a:buNone/>
            </a:pPr>
            <a:r>
              <a:rPr sz="1200" b="0">
                <a:solidFill>
                  <a:srgbClr val="2B3644"/>
                </a:solidFill>
                <a:latin typeface="Segoe UI"/>
              </a:rPr>
              <a:t>· Hay uno o dos ejes y no se necesita diagnóstico remoto.</a:t>
            </a:r>
          </a:p>
          <a:p>
            <a:pPr>
              <a:lnSpc>
                <a:spcPct val="105000"/>
              </a:lnSpc>
              <a:spcAft>
                <a:spcPts val="400"/>
              </a:spcAft>
              <a:buNone/>
            </a:pPr>
            <a:r>
              <a:rPr sz="1200" b="0">
                <a:solidFill>
                  <a:srgbClr val="2B3644"/>
                </a:solidFill>
                <a:latin typeface="Segoe UI"/>
              </a:rPr>
              <a:t>· Se prioriza la latencia mínima sobre todo lo demás.</a:t>
            </a:r>
          </a:p>
        </p:txBody>
      </p:sp>
      <p:sp>
        <p:nvSpPr>
          <p:cNvPr id="14" name="Rectangle 13"/>
          <p:cNvSpPr/>
          <p:nvPr/>
        </p:nvSpPr>
        <p:spPr>
          <a:xfrm>
            <a:off x="433821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Elige BUS (EtherCAT / MECHATROLINK) si…</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Instalación nueva con más de dos ejes.</a:t>
            </a:r>
          </a:p>
          <a:p>
            <a:pPr>
              <a:lnSpc>
                <a:spcPct val="105000"/>
              </a:lnSpc>
              <a:spcAft>
                <a:spcPts val="400"/>
              </a:spcAft>
              <a:buNone/>
            </a:pPr>
            <a:r>
              <a:rPr sz="1200" b="0">
                <a:solidFill>
                  <a:srgbClr val="2B3644"/>
                </a:solidFill>
                <a:latin typeface="Segoe UI"/>
              </a:rPr>
              <a:t>· Se necesita sincronismo entre ejes (levas, gantry, corte al vuelo).</a:t>
            </a:r>
          </a:p>
          <a:p>
            <a:pPr>
              <a:lnSpc>
                <a:spcPct val="105000"/>
              </a:lnSpc>
              <a:spcAft>
                <a:spcPts val="400"/>
              </a:spcAft>
              <a:buNone/>
            </a:pPr>
            <a:r>
              <a:rPr sz="1200" b="0">
                <a:solidFill>
                  <a:srgbClr val="2B3644"/>
                </a:solidFill>
                <a:latin typeface="Segoe UI"/>
              </a:rPr>
              <a:t>· Quieres diagnóstico y parametrización remotos.</a:t>
            </a:r>
          </a:p>
          <a:p>
            <a:pPr>
              <a:lnSpc>
                <a:spcPct val="105000"/>
              </a:lnSpc>
              <a:spcAft>
                <a:spcPts val="400"/>
              </a:spcAft>
              <a:buNone/>
            </a:pPr>
            <a:r>
              <a:rPr sz="1200" b="0">
                <a:solidFill>
                  <a:srgbClr val="2B3644"/>
                </a:solidFill>
                <a:latin typeface="Segoe UI"/>
              </a:rPr>
              <a:t>· Quieres reducir cableado y errores de montaje.</a:t>
            </a:r>
          </a:p>
        </p:txBody>
      </p:sp>
      <p:sp>
        <p:nvSpPr>
          <p:cNvPr id="18" name="Rectangle 17"/>
          <p:cNvSpPr/>
          <p:nvPr/>
        </p:nvSpPr>
        <p:spPr>
          <a:xfrm>
            <a:off x="8109508" y="1956816"/>
            <a:ext cx="3515258" cy="4370832"/>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Elige POSICIONAMIENTO INTERNO si…</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0">
                <a:solidFill>
                  <a:srgbClr val="2B3644"/>
                </a:solidFill>
                <a:latin typeface="Segoe UI"/>
              </a:rPr>
              <a:t>· El movimiento se reduce a unas pocas posiciones fijas.</a:t>
            </a:r>
          </a:p>
          <a:p>
            <a:pPr>
              <a:lnSpc>
                <a:spcPct val="105000"/>
              </a:lnSpc>
              <a:spcAft>
                <a:spcPts val="400"/>
              </a:spcAft>
              <a:buNone/>
            </a:pPr>
            <a:r>
              <a:rPr sz="1200" b="0">
                <a:solidFill>
                  <a:srgbClr val="2B3644"/>
                </a:solidFill>
                <a:latin typeface="Segoe UI"/>
              </a:rPr>
              <a:t>· No hay PLC de movimiento y se quiere simplificar.</a:t>
            </a:r>
          </a:p>
          <a:p>
            <a:pPr>
              <a:lnSpc>
                <a:spcPct val="105000"/>
              </a:lnSpc>
              <a:spcAft>
                <a:spcPts val="400"/>
              </a:spcAft>
              <a:buNone/>
            </a:pPr>
            <a:r>
              <a:rPr sz="1200" b="0">
                <a:solidFill>
                  <a:srgbClr val="2B3644"/>
                </a:solidFill>
                <a:latin typeface="Segoe UI"/>
              </a:rPr>
              <a:t>· El ciclo se dispara con entradas digitales sencillas.</a:t>
            </a:r>
          </a:p>
          <a:p>
            <a:pPr>
              <a:lnSpc>
                <a:spcPct val="105000"/>
              </a:lnSpc>
              <a:spcAft>
                <a:spcPts val="400"/>
              </a:spcAft>
              <a:buNone/>
            </a:pPr>
            <a:r>
              <a:rPr sz="1200" b="0">
                <a:solidFill>
                  <a:srgbClr val="2B3644"/>
                </a:solidFill>
                <a:latin typeface="Segoe UI"/>
              </a:rPr>
              <a:t>· Se acepta menos flexibilidad a cambio de menos coste.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07</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Parámetros, panel y SigmaWin+</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panel frontal: leer el estado y navegar sin PC</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 lógica </a:t>
            </a:r>
            <a:r>
              <a:rPr sz="1350" b="0">
                <a:solidFill>
                  <a:srgbClr val="C9DCEE"/>
                </a:solidFill>
                <a:latin typeface="Consolas"/>
              </a:rPr>
              <a:t>Pn</a:t>
            </a:r>
            <a:r>
              <a:rPr sz="1350" b="0">
                <a:solidFill>
                  <a:srgbClr val="C9DCEE"/>
                </a:solidFill>
                <a:latin typeface="Segoe UI"/>
              </a:rPr>
              <a:t> / </a:t>
            </a:r>
            <a:r>
              <a:rPr sz="1350" b="0">
                <a:solidFill>
                  <a:srgbClr val="C9DCEE"/>
                </a:solidFill>
                <a:latin typeface="Consolas"/>
              </a:rPr>
              <a:t>Fn</a:t>
            </a:r>
            <a:r>
              <a:rPr sz="1350" b="0">
                <a:solidFill>
                  <a:srgbClr val="C9DCEE"/>
                </a:solidFill>
                <a:latin typeface="Segoe UI"/>
              </a:rPr>
              <a:t> / </a:t>
            </a:r>
            <a:r>
              <a:rPr sz="1350" b="0">
                <a:solidFill>
                  <a:srgbClr val="C9DCEE"/>
                </a:solidFill>
                <a:latin typeface="Consolas"/>
              </a:rPr>
              <a:t>Un</a:t>
            </a:r>
            <a:r>
              <a:rPr sz="1350" b="0">
                <a:solidFill>
                  <a:srgbClr val="C9DCEE"/>
                </a:solidFill>
                <a:latin typeface="Segoe UI"/>
              </a:rPr>
              <a:t> y cómo se editan los parámetros</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SigmaWin+: la herramienta que multiplica tu productividad</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engranaje electrónico explicado con números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Los parámetros que realmente vas a tocar</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Copia de seguridad y gestión de configuraciones</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panel frontal: leer el estado sin PC</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Cinco dígitos que te dicen casi todo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68</a:t>
            </a:r>
          </a:p>
        </p:txBody>
      </p:sp>
      <p:sp>
        <p:nvSpPr>
          <p:cNvPr id="9" name="Rectangle 8"/>
          <p:cNvSpPr/>
          <p:nvPr/>
        </p:nvSpPr>
        <p:spPr>
          <a:xfrm>
            <a:off x="731520" y="1737360"/>
            <a:ext cx="4206240" cy="2834640"/>
          </a:xfrm>
          <a:prstGeom prst="rect">
            <a:avLst/>
          </a:prstGeom>
          <a:solidFill>
            <a:srgbClr val="0B2545"/>
          </a:solidFill>
          <a:ln w="1270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1143000" y="2148840"/>
            <a:ext cx="3383280" cy="960120"/>
          </a:xfrm>
          <a:prstGeom prst="rect">
            <a:avLst/>
          </a:prstGeom>
          <a:solidFill>
            <a:srgbClr val="1C2430"/>
          </a:solidFill>
          <a:ln w="1905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43000" y="2304288"/>
            <a:ext cx="3383280" cy="640080"/>
          </a:xfrm>
          <a:prstGeom prst="rect">
            <a:avLst/>
          </a:prstGeom>
          <a:noFill/>
        </p:spPr>
        <p:txBody>
          <a:bodyPr wrap="square" lIns="0" rIns="0" tIns="0" bIns="0" anchor="t">
            <a:spAutoFit/>
          </a:bodyPr>
          <a:lstStyle/>
          <a:p>
            <a:pPr algn="ctr">
              <a:lnSpc>
                <a:spcPct val="100000"/>
              </a:lnSpc>
              <a:buNone/>
            </a:pPr>
            <a:r>
              <a:rPr sz="3400" b="1">
                <a:solidFill>
                  <a:srgbClr val="00A9CE"/>
                </a:solidFill>
                <a:latin typeface="Consolas"/>
              </a:rPr>
              <a:t>A.7 2 0</a:t>
            </a:r>
          </a:p>
        </p:txBody>
      </p:sp>
      <p:sp>
        <p:nvSpPr>
          <p:cNvPr id="12" name="Rounded Rectangle 11"/>
          <p:cNvSpPr/>
          <p:nvPr/>
        </p:nvSpPr>
        <p:spPr>
          <a:xfrm>
            <a:off x="1005840"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MODE/SET</a:t>
            </a:r>
          </a:p>
        </p:txBody>
      </p:sp>
      <p:sp>
        <p:nvSpPr>
          <p:cNvPr id="13" name="Rounded Rectangle 12"/>
          <p:cNvSpPr/>
          <p:nvPr/>
        </p:nvSpPr>
        <p:spPr>
          <a:xfrm>
            <a:off x="1984248"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a:t>
            </a:r>
          </a:p>
        </p:txBody>
      </p:sp>
      <p:sp>
        <p:nvSpPr>
          <p:cNvPr id="14" name="Rounded Rectangle 13"/>
          <p:cNvSpPr/>
          <p:nvPr/>
        </p:nvSpPr>
        <p:spPr>
          <a:xfrm>
            <a:off x="2962656"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a:t>
            </a:r>
          </a:p>
        </p:txBody>
      </p:sp>
      <p:sp>
        <p:nvSpPr>
          <p:cNvPr id="15" name="Rounded Rectangle 14"/>
          <p:cNvSpPr/>
          <p:nvPr/>
        </p:nvSpPr>
        <p:spPr>
          <a:xfrm>
            <a:off x="3941064" y="3429000"/>
            <a:ext cx="868680" cy="566928"/>
          </a:xfrm>
          <a:prstGeom prst="roundRect">
            <a:avLst>
              <a:gd name="adj" fmla="val 15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950" b="1">
                <a:solidFill>
                  <a:srgbClr val="FFFFFF"/>
                </a:solidFill>
                <a:latin typeface="Segoe UI"/>
              </a:rPr>
              <a:t>◀ / DATA</a:t>
            </a:r>
          </a:p>
        </p:txBody>
      </p:sp>
      <p:sp>
        <p:nvSpPr>
          <p:cNvPr id="16" name="TextBox 15"/>
          <p:cNvSpPr txBox="1"/>
          <p:nvPr/>
        </p:nvSpPr>
        <p:spPr>
          <a:xfrm>
            <a:off x="731520" y="4700016"/>
            <a:ext cx="4206240" cy="237744"/>
          </a:xfrm>
          <a:prstGeom prst="rect">
            <a:avLst/>
          </a:prstGeom>
          <a:noFill/>
        </p:spPr>
        <p:txBody>
          <a:bodyPr wrap="square" lIns="0" rIns="0" tIns="0" bIns="0" anchor="t">
            <a:spAutoFit/>
          </a:bodyPr>
          <a:lstStyle/>
          <a:p>
            <a:pPr algn="ctr">
              <a:lnSpc>
                <a:spcPct val="100000"/>
              </a:lnSpc>
              <a:buNone/>
            </a:pPr>
            <a:r>
              <a:rPr sz="1000" b="0">
                <a:solidFill>
                  <a:srgbClr val="5A6B7B"/>
                </a:solidFill>
                <a:latin typeface="Segoe UI"/>
              </a:rPr>
              <a:t>Display de 5 dígitos y 4 teclas de navegación</a:t>
            </a:r>
          </a:p>
        </p:txBody>
      </p:sp>
      <p:sp>
        <p:nvSpPr>
          <p:cNvPr id="17" name="Rectangle 16"/>
          <p:cNvSpPr/>
          <p:nvPr/>
        </p:nvSpPr>
        <p:spPr>
          <a:xfrm>
            <a:off x="5349240" y="1737360"/>
            <a:ext cx="6263640" cy="283464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77840" y="1874519"/>
            <a:ext cx="5760720" cy="274320"/>
          </a:xfrm>
          <a:prstGeom prst="rect">
            <a:avLst/>
          </a:prstGeom>
          <a:noFill/>
        </p:spPr>
        <p:txBody>
          <a:bodyPr wrap="square" lIns="0" rIns="0" tIns="0" bIns="0" anchor="t">
            <a:spAutoFit/>
          </a:bodyPr>
          <a:lstStyle/>
          <a:p>
            <a:pPr algn="l">
              <a:lnSpc>
                <a:spcPct val="100000"/>
              </a:lnSpc>
              <a:buNone/>
            </a:pPr>
            <a:r>
              <a:rPr sz="1300" b="1">
                <a:solidFill>
                  <a:srgbClr val="0B2545"/>
                </a:solidFill>
                <a:latin typeface="Segoe UI"/>
              </a:rPr>
              <a:t>Qué estás viendo en el display</a:t>
            </a:r>
          </a:p>
        </p:txBody>
      </p:sp>
      <p:sp>
        <p:nvSpPr>
          <p:cNvPr id="19" name="Rectangle 18"/>
          <p:cNvSpPr/>
          <p:nvPr/>
        </p:nvSpPr>
        <p:spPr>
          <a:xfrm>
            <a:off x="5577840" y="2286000"/>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577840" y="2286000"/>
            <a:ext cx="54864" cy="5029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779008" y="2331720"/>
            <a:ext cx="1737360" cy="228600"/>
          </a:xfrm>
          <a:prstGeom prst="rect">
            <a:avLst/>
          </a:prstGeom>
          <a:noFill/>
        </p:spPr>
        <p:txBody>
          <a:bodyPr wrap="square" lIns="0" rIns="0" tIns="0" bIns="0" anchor="t">
            <a:spAutoFit/>
          </a:bodyPr>
          <a:lstStyle/>
          <a:p>
            <a:pPr algn="l">
              <a:lnSpc>
                <a:spcPct val="100000"/>
              </a:lnSpc>
              <a:buNone/>
            </a:pPr>
            <a:r>
              <a:rPr sz="1000" b="1">
                <a:solidFill>
                  <a:srgbClr val="1B5EA8"/>
                </a:solidFill>
                <a:latin typeface="Segoe UI"/>
              </a:rPr>
              <a:t>Estado de funcionamiento</a:t>
            </a:r>
          </a:p>
        </p:txBody>
      </p:sp>
      <p:sp>
        <p:nvSpPr>
          <p:cNvPr id="22" name="TextBox 21"/>
          <p:cNvSpPr txBox="1"/>
          <p:nvPr/>
        </p:nvSpPr>
        <p:spPr>
          <a:xfrm>
            <a:off x="5779008" y="2542032"/>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El drive indica si está listo, con el servo activo o en baseblock</a:t>
            </a:r>
          </a:p>
        </p:txBody>
      </p:sp>
      <p:sp>
        <p:nvSpPr>
          <p:cNvPr id="23" name="Rectangle 22"/>
          <p:cNvSpPr/>
          <p:nvPr/>
        </p:nvSpPr>
        <p:spPr>
          <a:xfrm>
            <a:off x="5577840" y="2852928"/>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577840" y="2852928"/>
            <a:ext cx="54864"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779008" y="2898648"/>
            <a:ext cx="1737360" cy="228600"/>
          </a:xfrm>
          <a:prstGeom prst="rect">
            <a:avLst/>
          </a:prstGeom>
          <a:noFill/>
        </p:spPr>
        <p:txBody>
          <a:bodyPr wrap="square" lIns="0" rIns="0" tIns="0" bIns="0" anchor="t">
            <a:spAutoFit/>
          </a:bodyPr>
          <a:lstStyle/>
          <a:p>
            <a:pPr algn="l">
              <a:lnSpc>
                <a:spcPct val="100000"/>
              </a:lnSpc>
              <a:buNone/>
            </a:pPr>
            <a:r>
              <a:rPr sz="1000" b="1">
                <a:solidFill>
                  <a:srgbClr val="C0392B"/>
                </a:solidFill>
                <a:latin typeface="Consolas"/>
              </a:rPr>
              <a:t>A.___</a:t>
            </a:r>
          </a:p>
        </p:txBody>
      </p:sp>
      <p:sp>
        <p:nvSpPr>
          <p:cNvPr id="26" name="TextBox 25"/>
          <p:cNvSpPr txBox="1"/>
          <p:nvPr/>
        </p:nvSpPr>
        <p:spPr>
          <a:xfrm>
            <a:off x="5779008" y="3108960"/>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Código de </a:t>
            </a:r>
            <a:r>
              <a:rPr sz="950" b="1">
                <a:solidFill>
                  <a:srgbClr val="5A6B7B"/>
                </a:solidFill>
                <a:latin typeface="Segoe UI"/>
              </a:rPr>
              <a:t>alarma</a:t>
            </a:r>
            <a:r>
              <a:rPr sz="950" b="0">
                <a:solidFill>
                  <a:srgbClr val="5A6B7B"/>
                </a:solidFill>
                <a:latin typeface="Segoe UI"/>
              </a:rPr>
              <a:t>: el eje está parado y hay que actuar</a:t>
            </a:r>
          </a:p>
        </p:txBody>
      </p:sp>
      <p:sp>
        <p:nvSpPr>
          <p:cNvPr id="27" name="Rectangle 26"/>
          <p:cNvSpPr/>
          <p:nvPr/>
        </p:nvSpPr>
        <p:spPr>
          <a:xfrm>
            <a:off x="5577840" y="3419856"/>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5577840" y="3419856"/>
            <a:ext cx="54864" cy="5029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79008" y="3465576"/>
            <a:ext cx="1737360" cy="228600"/>
          </a:xfrm>
          <a:prstGeom prst="rect">
            <a:avLst/>
          </a:prstGeom>
          <a:noFill/>
        </p:spPr>
        <p:txBody>
          <a:bodyPr wrap="square" lIns="0" rIns="0" tIns="0" bIns="0" anchor="t">
            <a:spAutoFit/>
          </a:bodyPr>
          <a:lstStyle/>
          <a:p>
            <a:pPr algn="l">
              <a:lnSpc>
                <a:spcPct val="100000"/>
              </a:lnSpc>
              <a:buNone/>
            </a:pPr>
            <a:r>
              <a:rPr sz="1000" b="1">
                <a:solidFill>
                  <a:srgbClr val="E89B1F"/>
                </a:solidFill>
                <a:latin typeface="Consolas"/>
              </a:rPr>
              <a:t>A.9__</a:t>
            </a:r>
          </a:p>
        </p:txBody>
      </p:sp>
      <p:sp>
        <p:nvSpPr>
          <p:cNvPr id="30" name="TextBox 29"/>
          <p:cNvSpPr txBox="1"/>
          <p:nvPr/>
        </p:nvSpPr>
        <p:spPr>
          <a:xfrm>
            <a:off x="5779008" y="3675888"/>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Código de </a:t>
            </a:r>
            <a:r>
              <a:rPr sz="950" b="1">
                <a:solidFill>
                  <a:srgbClr val="5A6B7B"/>
                </a:solidFill>
                <a:latin typeface="Segoe UI"/>
              </a:rPr>
              <a:t>aviso</a:t>
            </a:r>
            <a:r>
              <a:rPr sz="950" b="0">
                <a:solidFill>
                  <a:srgbClr val="5A6B7B"/>
                </a:solidFill>
                <a:latin typeface="Segoe UI"/>
              </a:rPr>
              <a:t> (warning): el eje sigue funcionando, pero algo va mal</a:t>
            </a:r>
          </a:p>
        </p:txBody>
      </p:sp>
      <p:sp>
        <p:nvSpPr>
          <p:cNvPr id="31" name="Rectangle 30"/>
          <p:cNvSpPr/>
          <p:nvPr/>
        </p:nvSpPr>
        <p:spPr>
          <a:xfrm>
            <a:off x="5577840" y="3986784"/>
            <a:ext cx="5760720" cy="502920"/>
          </a:xfrm>
          <a:prstGeom prst="rect">
            <a:avLst/>
          </a:prstGeom>
          <a:solidFill>
            <a:srgbClr val="FFFFFF"/>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5577840" y="3986784"/>
            <a:ext cx="54864" cy="502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779008" y="4032504"/>
            <a:ext cx="1737360" cy="228600"/>
          </a:xfrm>
          <a:prstGeom prst="rect">
            <a:avLst/>
          </a:prstGeom>
          <a:noFill/>
        </p:spPr>
        <p:txBody>
          <a:bodyPr wrap="square" lIns="0" rIns="0" tIns="0" bIns="0" anchor="t">
            <a:spAutoFit/>
          </a:bodyPr>
          <a:lstStyle/>
          <a:p>
            <a:pPr algn="l">
              <a:lnSpc>
                <a:spcPct val="100000"/>
              </a:lnSpc>
              <a:buNone/>
            </a:pPr>
            <a:r>
              <a:rPr sz="1000" b="1">
                <a:solidFill>
                  <a:srgbClr val="2E8B57"/>
                </a:solidFill>
                <a:latin typeface="Segoe UI"/>
              </a:rPr>
              <a:t>Valor numérico</a:t>
            </a:r>
          </a:p>
        </p:txBody>
      </p:sp>
      <p:sp>
        <p:nvSpPr>
          <p:cNvPr id="34" name="TextBox 33"/>
          <p:cNvSpPr txBox="1"/>
          <p:nvPr/>
        </p:nvSpPr>
        <p:spPr>
          <a:xfrm>
            <a:off x="5779008" y="4242816"/>
            <a:ext cx="5394960" cy="228600"/>
          </a:xfrm>
          <a:prstGeom prst="rect">
            <a:avLst/>
          </a:prstGeom>
          <a:noFill/>
        </p:spPr>
        <p:txBody>
          <a:bodyPr wrap="square" lIns="0" rIns="0" tIns="0" bIns="0" anchor="t">
            <a:spAutoFit/>
          </a:bodyPr>
          <a:lstStyle/>
          <a:p>
            <a:pPr algn="l">
              <a:lnSpc>
                <a:spcPct val="100000"/>
              </a:lnSpc>
              <a:buNone/>
            </a:pPr>
            <a:r>
              <a:rPr sz="950" b="0">
                <a:solidFill>
                  <a:srgbClr val="5A6B7B"/>
                </a:solidFill>
                <a:latin typeface="Segoe UI"/>
              </a:rPr>
              <a:t>Monitor </a:t>
            </a:r>
            <a:r>
              <a:rPr sz="950" b="0">
                <a:solidFill>
                  <a:srgbClr val="5A6B7B"/>
                </a:solidFill>
                <a:latin typeface="Consolas"/>
              </a:rPr>
              <a:t>Un</a:t>
            </a:r>
            <a:r>
              <a:rPr sz="950" b="0">
                <a:solidFill>
                  <a:srgbClr val="5A6B7B"/>
                </a:solidFill>
                <a:latin typeface="Segoe UI"/>
              </a:rPr>
              <a:t> o parámetro </a:t>
            </a:r>
            <a:r>
              <a:rPr sz="950" b="0">
                <a:solidFill>
                  <a:srgbClr val="5A6B7B"/>
                </a:solidFill>
                <a:latin typeface="Consolas"/>
              </a:rPr>
              <a:t>Pn</a:t>
            </a:r>
            <a:r>
              <a:rPr sz="950" b="0">
                <a:solidFill>
                  <a:srgbClr val="5A6B7B"/>
                </a:solidFill>
                <a:latin typeface="Segoe UI"/>
              </a:rPr>
              <a:t> que estás consultando o editando</a:t>
            </a:r>
          </a:p>
        </p:txBody>
      </p:sp>
      <p:sp>
        <p:nvSpPr>
          <p:cNvPr id="35" name="Rectangle 34"/>
          <p:cNvSpPr/>
          <p:nvPr/>
        </p:nvSpPr>
        <p:spPr>
          <a:xfrm>
            <a:off x="731520" y="4892040"/>
            <a:ext cx="10881360" cy="96012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731520" y="4892040"/>
            <a:ext cx="68580" cy="96012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05840" y="5029200"/>
            <a:ext cx="10378440"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Los tres gestos que hay que dominar en el panel</a:t>
            </a:r>
          </a:p>
        </p:txBody>
      </p:sp>
      <p:sp>
        <p:nvSpPr>
          <p:cNvPr id="38" name="TextBox 37"/>
          <p:cNvSpPr txBox="1"/>
          <p:nvPr/>
        </p:nvSpPr>
        <p:spPr>
          <a:xfrm>
            <a:off x="1005840" y="5303520"/>
            <a:ext cx="10378440" cy="45720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1) Consultar un monitor </a:t>
            </a:r>
            <a:r>
              <a:rPr sz="1150" b="0">
                <a:solidFill>
                  <a:srgbClr val="2B3644"/>
                </a:solidFill>
                <a:latin typeface="Consolas"/>
              </a:rPr>
              <a:t>Un</a:t>
            </a:r>
            <a:r>
              <a:rPr sz="1150" b="0">
                <a:solidFill>
                  <a:srgbClr val="2B3644"/>
                </a:solidFill>
                <a:latin typeface="Segoe UI"/>
              </a:rPr>
              <a:t> para ver qué está pasando.   2) Leer el historial de alarmas con </a:t>
            </a:r>
            <a:r>
              <a:rPr sz="1150" b="0">
                <a:solidFill>
                  <a:srgbClr val="2B3644"/>
                </a:solidFill>
                <a:latin typeface="Consolas"/>
              </a:rPr>
              <a:t>Fn000</a:t>
            </a:r>
            <a:r>
              <a:rPr sz="1150" b="0">
                <a:solidFill>
                  <a:srgbClr val="2B3644"/>
                </a:solidFill>
                <a:latin typeface="Segoe UI"/>
              </a:rPr>
              <a:t> para saber qué pasó antes.   3) Ejecutar un JOG con </a:t>
            </a:r>
            <a:r>
              <a:rPr sz="1150" b="0">
                <a:solidFill>
                  <a:srgbClr val="2B3644"/>
                </a:solidFill>
                <a:latin typeface="Consolas"/>
              </a:rPr>
              <a:t>Fn002</a:t>
            </a:r>
            <a:r>
              <a:rPr sz="1150" b="0">
                <a:solidFill>
                  <a:srgbClr val="2B3644"/>
                </a:solidFill>
                <a:latin typeface="Segoe UI"/>
              </a:rPr>
              <a:t> para comprobar que el motor responde. Todo lo demás es más cómodo desde SigmaWin+.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 lógica de la Σ-7: </a:t>
            </a:r>
            <a:r>
              <a:rPr sz="2500" b="1">
                <a:solidFill>
                  <a:srgbClr val="FFFFFF"/>
                </a:solidFill>
                <a:latin typeface="Consolas"/>
              </a:rPr>
              <a:t>Pn</a:t>
            </a:r>
            <a:r>
              <a:rPr sz="2500" b="1">
                <a:solidFill>
                  <a:srgbClr val="FFFFFF"/>
                </a:solidFill>
                <a:latin typeface="Segoe UI Semibold"/>
              </a:rPr>
              <a:t>, </a:t>
            </a:r>
            <a:r>
              <a:rPr sz="2500" b="1">
                <a:solidFill>
                  <a:srgbClr val="FFFFFF"/>
                </a:solidFill>
                <a:latin typeface="Consolas"/>
              </a:rPr>
              <a:t>Fn</a:t>
            </a:r>
            <a:r>
              <a:rPr sz="2500" b="1">
                <a:solidFill>
                  <a:srgbClr val="FFFFFF"/>
                </a:solidFill>
                <a:latin typeface="Segoe UI Semibold"/>
              </a:rPr>
              <a:t> y </a:t>
            </a:r>
            <a:r>
              <a:rPr sz="2500" b="1">
                <a:solidFill>
                  <a:srgbClr val="FFFFFF"/>
                </a:solidFill>
                <a:latin typeface="Consolas"/>
              </a:rPr>
              <a:t>Un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Tres familias, tres propósitos distintos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69</a:t>
            </a:r>
          </a:p>
        </p:txBody>
      </p:sp>
      <p:sp>
        <p:nvSpPr>
          <p:cNvPr id="9" name="TextBox 8"/>
          <p:cNvSpPr txBox="1"/>
          <p:nvPr/>
        </p:nvSpPr>
        <p:spPr>
          <a:xfrm>
            <a:off x="566928" y="1481328"/>
            <a:ext cx="11057839" cy="365760"/>
          </a:xfrm>
          <a:prstGeom prst="rect">
            <a:avLst/>
          </a:prstGeom>
          <a:noFill/>
        </p:spPr>
        <p:txBody>
          <a:bodyPr wrap="square" lIns="0" rIns="0" tIns="0" bIns="0" anchor="t">
            <a:spAutoFit/>
          </a:bodyPr>
          <a:lstStyle/>
          <a:p>
            <a:pPr algn="l">
              <a:lnSpc>
                <a:spcPct val="100000"/>
              </a:lnSpc>
              <a:buNone/>
            </a:pPr>
            <a:r>
              <a:rPr sz="1350" b="0">
                <a:solidFill>
                  <a:srgbClr val="5A6B7B"/>
                </a:solidFill>
                <a:latin typeface="Segoe UI"/>
              </a:rPr>
              <a:t>Si entiendes esta clasificación, el manual deja de ser intimidante: sabes en qué capítulo buscar.</a:t>
            </a:r>
          </a:p>
        </p:txBody>
      </p:sp>
      <p:sp>
        <p:nvSpPr>
          <p:cNvPr id="10" name="Rectangle 9"/>
          <p:cNvSpPr/>
          <p:nvPr/>
        </p:nvSpPr>
        <p:spPr>
          <a:xfrm>
            <a:off x="566928" y="1956816"/>
            <a:ext cx="3515258" cy="437083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1956816"/>
            <a:ext cx="50292" cy="437083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Consolas"/>
              </a:rPr>
              <a:t>Pn___</a:t>
            </a:r>
            <a:r>
              <a:rPr sz="1400" b="1">
                <a:solidFill>
                  <a:srgbClr val="0B2545"/>
                </a:solidFill>
                <a:latin typeface="Segoe UI Semibold"/>
              </a:rPr>
              <a:t> — Parámetros</a:t>
            </a:r>
          </a:p>
        </p:txBody>
      </p:sp>
      <p:sp>
        <p:nvSpPr>
          <p:cNvPr id="13" name="TextBox 12"/>
          <p:cNvSpPr txBox="1"/>
          <p:nvPr/>
        </p:nvSpPr>
        <p:spPr>
          <a:xfrm>
            <a:off x="822960" y="2670048"/>
            <a:ext cx="3058058" cy="3502152"/>
          </a:xfrm>
          <a:prstGeom prst="rect">
            <a:avLst/>
          </a:prstGeom>
          <a:noFill/>
        </p:spPr>
        <p:txBody>
          <a:bodyPr wrap="square" lIns="0" rIns="0" tIns="0" bIns="0">
            <a:spAutoFit/>
          </a:bodyPr>
          <a:lstStyle/>
          <a:p>
            <a:pPr>
              <a:lnSpc>
                <a:spcPct val="105000"/>
              </a:lnSpc>
              <a:spcAft>
                <a:spcPts val="400"/>
              </a:spcAft>
              <a:buNone/>
            </a:pPr>
            <a:r>
              <a:rPr sz="1200" b="1">
                <a:solidFill>
                  <a:srgbClr val="2B3644"/>
                </a:solidFill>
                <a:latin typeface="Segoe UI"/>
              </a:rPr>
              <a:t>Configuran</a:t>
            </a:r>
            <a:r>
              <a:rPr sz="1200" b="0">
                <a:solidFill>
                  <a:srgbClr val="2B3644"/>
                </a:solidFill>
                <a:latin typeface="Segoe UI"/>
              </a:rPr>
              <a:t> el comportamiento del drive y se guardan en memoria no volátil.</a:t>
            </a:r>
          </a:p>
          <a:p>
            <a:pPr>
              <a:lnSpc>
                <a:spcPct val="105000"/>
              </a:lnSpc>
              <a:spcAft>
                <a:spcPts val="400"/>
              </a:spcAft>
              <a:buNone/>
            </a:pPr>
            <a:r>
              <a:rPr sz="1200" b="0">
                <a:solidFill>
                  <a:srgbClr val="2B3644"/>
                </a:solidFill>
                <a:latin typeface="Segoe UI"/>
              </a:rPr>
              <a:t>· Numéricos: </a:t>
            </a:r>
            <a:r>
              <a:rPr sz="1200" b="0">
                <a:solidFill>
                  <a:srgbClr val="2B3644"/>
                </a:solidFill>
                <a:latin typeface="Consolas"/>
              </a:rPr>
              <a:t>Pn100</a:t>
            </a:r>
            <a:r>
              <a:rPr sz="1200" b="0">
                <a:solidFill>
                  <a:srgbClr val="2B3644"/>
                </a:solidFill>
                <a:latin typeface="Segoe UI"/>
              </a:rPr>
              <a:t> = 40,0 Hz.</a:t>
            </a:r>
          </a:p>
          <a:p>
            <a:pPr>
              <a:lnSpc>
                <a:spcPct val="105000"/>
              </a:lnSpc>
              <a:spcAft>
                <a:spcPts val="400"/>
              </a:spcAft>
              <a:buNone/>
            </a:pPr>
            <a:r>
              <a:rPr sz="1200" b="0">
                <a:solidFill>
                  <a:srgbClr val="2B3644"/>
                </a:solidFill>
                <a:latin typeface="Segoe UI"/>
              </a:rPr>
              <a:t>· De selección por dígitos: </a:t>
            </a:r>
            <a:r>
              <a:rPr sz="1200" b="0">
                <a:solidFill>
                  <a:srgbClr val="2B3644"/>
                </a:solidFill>
                <a:latin typeface="Consolas"/>
              </a:rPr>
              <a:t>Pn000.1</a:t>
            </a:r>
            <a:r>
              <a:rPr sz="1200" b="0">
                <a:solidFill>
                  <a:srgbClr val="2B3644"/>
                </a:solidFill>
                <a:latin typeface="Segoe UI"/>
              </a:rPr>
              <a:t> selecciona el modo de control.</a:t>
            </a:r>
          </a:p>
          <a:p>
            <a:pPr>
              <a:lnSpc>
                <a:spcPct val="105000"/>
              </a:lnSpc>
              <a:spcAft>
                <a:spcPts val="400"/>
              </a:spcAft>
              <a:buNone/>
            </a:pPr>
            <a:r>
              <a:rPr sz="1200" b="0">
                <a:solidFill>
                  <a:srgbClr val="2B3644"/>
                </a:solidFill>
                <a:latin typeface="Segoe UI"/>
              </a:rPr>
              <a:t>· Algunos exigen apagar y encender para hacerse efectivos.</a:t>
            </a:r>
          </a:p>
        </p:txBody>
      </p:sp>
      <p:sp>
        <p:nvSpPr>
          <p:cNvPr id="14" name="Rectangle 13"/>
          <p:cNvSpPr/>
          <p:nvPr/>
        </p:nvSpPr>
        <p:spPr>
          <a:xfrm>
            <a:off x="4338218" y="1956816"/>
            <a:ext cx="3515258" cy="4370832"/>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38218" y="1956816"/>
            <a:ext cx="50292" cy="4370832"/>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9425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Consolas"/>
              </a:rPr>
              <a:t>Fn___</a:t>
            </a:r>
            <a:r>
              <a:rPr sz="1400" b="1">
                <a:solidFill>
                  <a:srgbClr val="0B2545"/>
                </a:solidFill>
                <a:latin typeface="Segoe UI Semibold"/>
              </a:rPr>
              <a:t> — Funciones de utilidad</a:t>
            </a:r>
          </a:p>
        </p:txBody>
      </p:sp>
      <p:sp>
        <p:nvSpPr>
          <p:cNvPr id="17" name="TextBox 16"/>
          <p:cNvSpPr txBox="1"/>
          <p:nvPr/>
        </p:nvSpPr>
        <p:spPr>
          <a:xfrm>
            <a:off x="4594250" y="2670048"/>
            <a:ext cx="3058058" cy="3502152"/>
          </a:xfrm>
          <a:prstGeom prst="rect">
            <a:avLst/>
          </a:prstGeom>
          <a:noFill/>
        </p:spPr>
        <p:txBody>
          <a:bodyPr wrap="square" lIns="0" rIns="0" tIns="0" bIns="0">
            <a:spAutoFit/>
          </a:bodyPr>
          <a:lstStyle/>
          <a:p>
            <a:pPr>
              <a:lnSpc>
                <a:spcPct val="105000"/>
              </a:lnSpc>
              <a:spcAft>
                <a:spcPts val="400"/>
              </a:spcAft>
              <a:buNone/>
            </a:pPr>
            <a:r>
              <a:rPr sz="1200" b="1">
                <a:solidFill>
                  <a:srgbClr val="2B3644"/>
                </a:solidFill>
                <a:latin typeface="Segoe UI"/>
              </a:rPr>
              <a:t>Ejecutan</a:t>
            </a:r>
            <a:r>
              <a:rPr sz="1200" b="0">
                <a:solidFill>
                  <a:srgbClr val="2B3644"/>
                </a:solidFill>
                <a:latin typeface="Segoe UI"/>
              </a:rPr>
              <a:t> una operación: no son valores, son acciones.</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Fn002</a:t>
            </a:r>
            <a:r>
              <a:rPr sz="1200" b="0">
                <a:solidFill>
                  <a:srgbClr val="2B3644"/>
                </a:solidFill>
                <a:latin typeface="Segoe UI"/>
              </a:rPr>
              <a:t> JOG · </a:t>
            </a:r>
            <a:r>
              <a:rPr sz="1200" b="0">
                <a:solidFill>
                  <a:srgbClr val="2B3644"/>
                </a:solidFill>
                <a:latin typeface="Consolas"/>
              </a:rPr>
              <a:t>Fn004</a:t>
            </a:r>
            <a:r>
              <a:rPr sz="1200" b="0">
                <a:solidFill>
                  <a:srgbClr val="2B3644"/>
                </a:solidFill>
                <a:latin typeface="Segoe UI"/>
              </a:rPr>
              <a:t> JOG programado.</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Fn005</a:t>
            </a:r>
            <a:r>
              <a:rPr sz="1200" b="0">
                <a:solidFill>
                  <a:srgbClr val="2B3644"/>
                </a:solidFill>
                <a:latin typeface="Segoe UI"/>
              </a:rPr>
              <a:t> inicialización de parámetros.</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Fn008</a:t>
            </a:r>
            <a:r>
              <a:rPr sz="1200" b="0">
                <a:solidFill>
                  <a:srgbClr val="2B3644"/>
                </a:solidFill>
                <a:latin typeface="Segoe UI"/>
              </a:rPr>
              <a:t> setup del encoder absoluto.</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Fn201</a:t>
            </a:r>
            <a:r>
              <a:rPr sz="1200" b="0">
                <a:solidFill>
                  <a:srgbClr val="2B3644"/>
                </a:solidFill>
                <a:latin typeface="Segoe UI"/>
              </a:rPr>
              <a:t> autoajuste avanzado.</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Fn000</a:t>
            </a:r>
            <a:r>
              <a:rPr sz="1200" b="0">
                <a:solidFill>
                  <a:srgbClr val="2B3644"/>
                </a:solidFill>
                <a:latin typeface="Segoe UI"/>
              </a:rPr>
              <a:t> historial de alarmas.</a:t>
            </a:r>
          </a:p>
        </p:txBody>
      </p:sp>
      <p:sp>
        <p:nvSpPr>
          <p:cNvPr id="18" name="Rectangle 17"/>
          <p:cNvSpPr/>
          <p:nvPr/>
        </p:nvSpPr>
        <p:spPr>
          <a:xfrm>
            <a:off x="8109508" y="1956816"/>
            <a:ext cx="3515258" cy="4370832"/>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109508" y="1956816"/>
            <a:ext cx="50292" cy="437083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65540" y="2139696"/>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Consolas"/>
              </a:rPr>
              <a:t>Un___</a:t>
            </a:r>
            <a:r>
              <a:rPr sz="1400" b="1">
                <a:solidFill>
                  <a:srgbClr val="0B2545"/>
                </a:solidFill>
                <a:latin typeface="Segoe UI Semibold"/>
              </a:rPr>
              <a:t> — Monitores</a:t>
            </a:r>
          </a:p>
        </p:txBody>
      </p:sp>
      <p:sp>
        <p:nvSpPr>
          <p:cNvPr id="21" name="TextBox 20"/>
          <p:cNvSpPr txBox="1"/>
          <p:nvPr/>
        </p:nvSpPr>
        <p:spPr>
          <a:xfrm>
            <a:off x="8365540" y="2670048"/>
            <a:ext cx="3058058" cy="3502152"/>
          </a:xfrm>
          <a:prstGeom prst="rect">
            <a:avLst/>
          </a:prstGeom>
          <a:noFill/>
        </p:spPr>
        <p:txBody>
          <a:bodyPr wrap="square" lIns="0" rIns="0" tIns="0" bIns="0">
            <a:spAutoFit/>
          </a:bodyPr>
          <a:lstStyle/>
          <a:p>
            <a:pPr>
              <a:lnSpc>
                <a:spcPct val="105000"/>
              </a:lnSpc>
              <a:spcAft>
                <a:spcPts val="400"/>
              </a:spcAft>
              <a:buNone/>
            </a:pPr>
            <a:r>
              <a:rPr sz="1200" b="1">
                <a:solidFill>
                  <a:srgbClr val="2B3644"/>
                </a:solidFill>
                <a:latin typeface="Segoe UI"/>
              </a:rPr>
              <a:t>Muestran</a:t>
            </a:r>
            <a:r>
              <a:rPr sz="1200" b="0">
                <a:solidFill>
                  <a:srgbClr val="2B3644"/>
                </a:solidFill>
                <a:latin typeface="Segoe UI"/>
              </a:rPr>
              <a:t> valores en tiempo real; son de sólo lectura.</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Un000</a:t>
            </a:r>
            <a:r>
              <a:rPr sz="1200" b="0">
                <a:solidFill>
                  <a:srgbClr val="2B3644"/>
                </a:solidFill>
                <a:latin typeface="Segoe UI"/>
              </a:rPr>
              <a:t> velocidad del motor.</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Un002</a:t>
            </a:r>
            <a:r>
              <a:rPr sz="1200" b="0">
                <a:solidFill>
                  <a:srgbClr val="2B3644"/>
                </a:solidFill>
                <a:latin typeface="Segoe UI"/>
              </a:rPr>
              <a:t> par (% del nominal).</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Un008</a:t>
            </a:r>
            <a:r>
              <a:rPr sz="1200" b="0">
                <a:solidFill>
                  <a:srgbClr val="2B3644"/>
                </a:solidFill>
                <a:latin typeface="Segoe UI"/>
              </a:rPr>
              <a:t> error de posición.</a:t>
            </a:r>
          </a:p>
          <a:p>
            <a:pPr>
              <a:lnSpc>
                <a:spcPct val="105000"/>
              </a:lnSpc>
              <a:spcAft>
                <a:spcPts val="400"/>
              </a:spcAft>
              <a:buNone/>
            </a:pPr>
            <a:r>
              <a:rPr sz="1200" b="0">
                <a:solidFill>
                  <a:srgbClr val="2B3644"/>
                </a:solidFill>
                <a:latin typeface="Segoe UI"/>
              </a:rPr>
              <a:t>· </a:t>
            </a:r>
            <a:r>
              <a:rPr sz="1200" b="0">
                <a:solidFill>
                  <a:srgbClr val="2B3644"/>
                </a:solidFill>
                <a:latin typeface="Consolas"/>
              </a:rPr>
              <a:t>Un005</a:t>
            </a:r>
            <a:r>
              <a:rPr sz="1200" b="0">
                <a:solidFill>
                  <a:srgbClr val="2B3644"/>
                </a:solidFill>
                <a:latin typeface="Segoe UI"/>
              </a:rPr>
              <a:t> / </a:t>
            </a:r>
            <a:r>
              <a:rPr sz="1200" b="0">
                <a:solidFill>
                  <a:srgbClr val="2B3644"/>
                </a:solidFill>
                <a:latin typeface="Consolas"/>
              </a:rPr>
              <a:t>Un006</a:t>
            </a:r>
            <a:r>
              <a:rPr sz="1200" b="0">
                <a:solidFill>
                  <a:srgbClr val="2B3644"/>
                </a:solidFill>
                <a:latin typeface="Segoe UI"/>
              </a:rPr>
              <a:t> estado de entradas y salidas.</a:t>
            </a:r>
          </a:p>
          <a:p>
            <a:pPr>
              <a:lnSpc>
                <a:spcPct val="105000"/>
              </a:lnSpc>
              <a:spcAft>
                <a:spcPts val="400"/>
              </a:spcAft>
              <a:buNone/>
            </a:pPr>
            <a:r>
              <a:rPr sz="1200" b="0">
                <a:solidFill>
                  <a:srgbClr val="2B3644"/>
                </a:solidFill>
                <a:latin typeface="Segoe UI"/>
              </a:rPr>
              <a:t>Son la base del diagnóstico rápido.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Editar un parámetro: procedimiento y precauciones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disciplina en el cambio de parámetros ahorra días de trabajo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70</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Anota el valor actual antes de cambiar nada</a:t>
            </a:r>
          </a:p>
        </p:txBody>
      </p:sp>
      <p:sp>
        <p:nvSpPr>
          <p:cNvPr id="13" name="TextBox 12"/>
          <p:cNvSpPr txBox="1"/>
          <p:nvPr/>
        </p:nvSpPr>
        <p:spPr>
          <a:xfrm>
            <a:off x="1435608" y="178181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Sin excepciones. Si el cambio empeora el comportamiento, tienes que poder volver atrás en segundos.</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2</a:t>
            </a:r>
          </a:p>
        </p:txBody>
      </p:sp>
      <p:sp>
        <p:nvSpPr>
          <p:cNvPr id="17" name="TextBox 16"/>
          <p:cNvSpPr txBox="1"/>
          <p:nvPr/>
        </p:nvSpPr>
        <p:spPr>
          <a:xfrm>
            <a:off x="1435608" y="2238756"/>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Comprueba si el parámetro se puede cambiar con el servo activo</a:t>
            </a:r>
          </a:p>
        </p:txBody>
      </p:sp>
      <p:sp>
        <p:nvSpPr>
          <p:cNvPr id="18" name="TextBox 17"/>
          <p:cNvSpPr txBox="1"/>
          <p:nvPr/>
        </p:nvSpPr>
        <p:spPr>
          <a:xfrm>
            <a:off x="1435608" y="2447798"/>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Muchos parámetros de configuración exigen servo OFF; el drive lo rechaza o avisa si no se cumple la condición.</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3</a:t>
            </a:r>
          </a:p>
        </p:txBody>
      </p:sp>
      <p:sp>
        <p:nvSpPr>
          <p:cNvPr id="22" name="TextBox 21"/>
          <p:cNvSpPr txBox="1"/>
          <p:nvPr/>
        </p:nvSpPr>
        <p:spPr>
          <a:xfrm>
            <a:off x="1435608" y="2904744"/>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Introduce el nuevo valor y confírmalo</a:t>
            </a:r>
          </a:p>
        </p:txBody>
      </p:sp>
      <p:sp>
        <p:nvSpPr>
          <p:cNvPr id="23" name="TextBox 22"/>
          <p:cNvSpPr txBox="1"/>
          <p:nvPr/>
        </p:nvSpPr>
        <p:spPr>
          <a:xfrm>
            <a:off x="1435608" y="3113786"/>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En el panel se navega con las teclas de flecha y se confirma con la tecla de datos; en SigmaWin+, escribiendo en la celda.</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4</a:t>
            </a:r>
          </a:p>
        </p:txBody>
      </p:sp>
      <p:sp>
        <p:nvSpPr>
          <p:cNvPr id="27" name="TextBox 26"/>
          <p:cNvSpPr txBox="1"/>
          <p:nvPr/>
        </p:nvSpPr>
        <p:spPr>
          <a:xfrm>
            <a:off x="1435608" y="3570732"/>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Verifica si requiere reinicio</a:t>
            </a:r>
          </a:p>
        </p:txBody>
      </p:sp>
      <p:sp>
        <p:nvSpPr>
          <p:cNvPr id="28" name="TextBox 27"/>
          <p:cNvSpPr txBox="1"/>
          <p:nvPr/>
        </p:nvSpPr>
        <p:spPr>
          <a:xfrm>
            <a:off x="1435608" y="3779774"/>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El drive lo indica con un aviso (familia </a:t>
            </a:r>
            <a:r>
              <a:rPr sz="900" b="0">
                <a:solidFill>
                  <a:srgbClr val="3A4654"/>
                </a:solidFill>
                <a:latin typeface="Consolas"/>
              </a:rPr>
              <a:t>A.941</a:t>
            </a:r>
            <a:r>
              <a:rPr sz="900" b="0">
                <a:solidFill>
                  <a:srgbClr val="3A4654"/>
                </a:solidFill>
                <a:latin typeface="Segoe UI"/>
              </a:rPr>
              <a:t>). Hasta que no se reinicie, el valor nuevo está escrito pero no aplicado.</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5</a:t>
            </a:r>
          </a:p>
        </p:txBody>
      </p:sp>
      <p:sp>
        <p:nvSpPr>
          <p:cNvPr id="32" name="TextBox 31"/>
          <p:cNvSpPr txBox="1"/>
          <p:nvPr/>
        </p:nvSpPr>
        <p:spPr>
          <a:xfrm>
            <a:off x="1435608" y="4236720"/>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Prueba el efecto de forma controlada</a:t>
            </a:r>
          </a:p>
        </p:txBody>
      </p:sp>
      <p:sp>
        <p:nvSpPr>
          <p:cNvPr id="33" name="TextBox 32"/>
          <p:cNvSpPr txBox="1"/>
          <p:nvPr/>
        </p:nvSpPr>
        <p:spPr>
          <a:xfrm>
            <a:off x="1435608" y="4445762"/>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Un cambio cada vez, y comprobando. Cambiar cinco parámetros a la vez hace imposible saber cuál ha sido el responsable.</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6</a:t>
            </a:r>
          </a:p>
        </p:txBody>
      </p:sp>
      <p:sp>
        <p:nvSpPr>
          <p:cNvPr id="37" name="TextBox 36"/>
          <p:cNvSpPr txBox="1"/>
          <p:nvPr/>
        </p:nvSpPr>
        <p:spPr>
          <a:xfrm>
            <a:off x="1435608" y="490270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Guarda la configuración completa</a:t>
            </a:r>
          </a:p>
        </p:txBody>
      </p:sp>
      <p:sp>
        <p:nvSpPr>
          <p:cNvPr id="38" name="TextBox 37"/>
          <p:cNvSpPr txBox="1"/>
          <p:nvPr/>
        </p:nvSpPr>
        <p:spPr>
          <a:xfrm>
            <a:off x="1435608" y="511175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Exporta el fichero de parámetros a disco con fecha y descripción del cambio. Es tu histórico de configuración.</a:t>
            </a:r>
          </a:p>
        </p:txBody>
      </p:sp>
      <p:sp>
        <p:nvSpPr>
          <p:cNvPr id="39" name="Rectangle 38"/>
          <p:cNvSpPr/>
          <p:nvPr/>
        </p:nvSpPr>
        <p:spPr>
          <a:xfrm>
            <a:off x="566928" y="5504688"/>
            <a:ext cx="11057839" cy="82296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Cuidado con </a:t>
            </a:r>
            <a:r>
              <a:rPr sz="1200" b="1">
                <a:solidFill>
                  <a:srgbClr val="C0392B"/>
                </a:solidFill>
                <a:latin typeface="Consolas"/>
              </a:rPr>
              <a:t>Fn005</a:t>
            </a:r>
            <a:r>
              <a:rPr sz="1200" b="1">
                <a:solidFill>
                  <a:srgbClr val="C0392B"/>
                </a:solidFill>
                <a:latin typeface="Segoe UI Semibold"/>
              </a:rPr>
              <a:t> (inicialización de parámetros)</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Devuelve el drive a valores de fábrica. Es útil cuando heredas un equipo con configuración desconocida, pero borra la sintonización y la asignación de E/S. Nunca lo ejecutes sin tener copia previa.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SigmaWin+: la herramienta imprescindible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 puede trabajar sin PC, pero es mucho más lento y más arriesgado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71</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te permite hacer</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075" b="1">
                <a:solidFill>
                  <a:srgbClr val="1C2430"/>
                </a:solidFill>
                <a:latin typeface="Segoe UI"/>
              </a:rPr>
              <a:t>Editar todos los parámetros</a:t>
            </a:r>
            <a:r>
              <a:rPr sz="1075" b="1">
                <a:solidFill>
                  <a:srgbClr val="1C2430"/>
                </a:solidFill>
                <a:latin typeface="Segoe UI"/>
              </a:rPr>
              <a:t> con descripción, rango y unidades a la vista, en lugar de números crípticos en un display de cinco dígitos.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Autoajuste guiado</a:t>
            </a:r>
            <a:r>
              <a:rPr sz="1075" b="1">
                <a:solidFill>
                  <a:srgbClr val="1C2430"/>
                </a:solidFill>
                <a:latin typeface="Segoe UI"/>
              </a:rPr>
              <a:t>: los asistentes de sintonización se manejan mucho mejor desde el PC que desde el panel.</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Traza (osciloscopio software)</a:t>
            </a:r>
            <a:r>
              <a:rPr sz="1075" b="1">
                <a:solidFill>
                  <a:srgbClr val="1C2430"/>
                </a:solidFill>
                <a:latin typeface="Segoe UI"/>
              </a:rPr>
              <a:t>: captura consigna, posición real, error, velocidad, par y corriente sincronizados. Es la herramienta de diagnóstico definitiva.</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Análisis mecánico</a:t>
            </a:r>
            <a:r>
              <a:rPr sz="1075" b="1">
                <a:solidFill>
                  <a:srgbClr val="1C2430"/>
                </a:solidFill>
                <a:latin typeface="Segoe UI"/>
              </a:rPr>
              <a:t>: excitación y respuesta en frecuencia para localizar resonancias.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Monitorización en vivo</a:t>
            </a:r>
            <a:r>
              <a:rPr sz="1075" b="1">
                <a:solidFill>
                  <a:srgbClr val="1C2430"/>
                </a:solidFill>
                <a:latin typeface="Segoe UI"/>
              </a:rPr>
              <a:t> de todas las variables y del estado de E/S.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Copia de seguridad y comparación</a:t>
            </a:r>
            <a:r>
              <a:rPr sz="1075" b="1">
                <a:solidFill>
                  <a:srgbClr val="1C2430"/>
                </a:solidFill>
                <a:latin typeface="Segoe UI"/>
              </a:rPr>
              <a:t> entre configuraciones.</a:t>
            </a:r>
          </a:p>
          <a:p>
            <a:pPr marL="274320" indent="-201168">
              <a:lnSpc>
                <a:spcPct val="106000"/>
              </a:lnSpc>
              <a:spcAft>
                <a:spcPts val="900"/>
              </a:spcAft>
              <a:buClr>
                <a:srgbClr val="1B5EA8"/>
              </a:buClr>
              <a:buSzPct val="90000"/>
              <a:buFont typeface="Arial"/>
              <a:buChar char="■"/>
            </a:pPr>
            <a:r>
              <a:rPr sz="1075" b="1">
                <a:solidFill>
                  <a:srgbClr val="1C2430"/>
                </a:solidFill>
                <a:latin typeface="Segoe UI"/>
              </a:rPr>
              <a:t>Historial de alarmas</a:t>
            </a:r>
            <a:r>
              <a:rPr sz="1075" b="1">
                <a:solidFill>
                  <a:srgbClr val="1C2430"/>
                </a:solidFill>
                <a:latin typeface="Segoe UI"/>
              </a:rPr>
              <a:t> con contexto.</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trabajar con él</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Conexión habitual por </a:t>
            </a:r>
            <a:r>
              <a:rPr sz="1100" b="1">
                <a:solidFill>
                  <a:srgbClr val="1C2430"/>
                </a:solidFill>
                <a:latin typeface="Segoe UI"/>
              </a:rPr>
              <a:t>USB al conector </a:t>
            </a:r>
            <a:r>
              <a:rPr sz="1100" b="1">
                <a:solidFill>
                  <a:srgbClr val="1C2430"/>
                </a:solidFill>
                <a:latin typeface="Consolas"/>
              </a:rPr>
              <a:t>CN7</a:t>
            </a:r>
            <a:r>
              <a:rPr sz="1100" b="1">
                <a:solidFill>
                  <a:srgbClr val="1C2430"/>
                </a:solidFill>
                <a:latin typeface="Segoe UI"/>
              </a:rPr>
              <a:t>; también por bus en las variantes de red.</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Instala el driver USB antes de conectar; el PC debe reconocer el drive como dispositivo.</a:t>
            </a:r>
          </a:p>
          <a:p>
            <a:pPr marL="0" indent="0">
              <a:lnSpc>
                <a:spcPct val="106000"/>
              </a:lnSpc>
              <a:spcBef>
                <a:spcPts val="800"/>
              </a:spcBef>
              <a:spcAft>
                <a:spcPts val="900"/>
              </a:spcAft>
              <a:buNone/>
            </a:pPr>
            <a:r>
              <a:rPr sz="1050" b="1">
                <a:solidFill>
                  <a:srgbClr val="1B5EA8"/>
                </a:solidFill>
                <a:latin typeface="Segoe UI Semibold"/>
              </a:rPr>
              <a:t>Flujo de trabajo recomendado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Abrir proyecto → leer parámetros del drive → </a:t>
            </a:r>
            <a:r>
              <a:rPr sz="950" b="1">
                <a:solidFill>
                  <a:srgbClr val="333F4C"/>
                </a:solidFill>
                <a:latin typeface="Segoe UI"/>
              </a:rPr>
              <a:t>guardar copia original</a:t>
            </a:r>
            <a:r>
              <a:rPr sz="9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Trabajar, ajustar y probar.</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Guardar la nueva versión con fecha y comentario.</a:t>
            </a:r>
          </a:p>
          <a:p>
            <a:pPr marL="566928" indent="-201168">
              <a:lnSpc>
                <a:spcPct val="106000"/>
              </a:lnSpc>
              <a:spcAft>
                <a:spcPts val="500"/>
              </a:spcAft>
              <a:buClr>
                <a:srgbClr val="00A9CE"/>
              </a:buClr>
              <a:buSzPct val="90000"/>
              <a:buFont typeface="Arial"/>
              <a:buChar char="▸"/>
            </a:pPr>
            <a:r>
              <a:rPr sz="950" b="0">
                <a:solidFill>
                  <a:srgbClr val="333F4C"/>
                </a:solidFill>
                <a:latin typeface="Segoe UI"/>
              </a:rPr>
              <a:t>Comparar antes/después con la función de comparación.</a:t>
            </a:r>
          </a:p>
          <a:p>
            <a:pPr marL="0" indent="0">
              <a:lnSpc>
                <a:spcPct val="106000"/>
              </a:lnSpc>
              <a:spcBef>
                <a:spcPts val="800"/>
              </a:spcBef>
              <a:spcAft>
                <a:spcPts val="900"/>
              </a:spcAft>
              <a:buNone/>
            </a:pPr>
            <a:r>
              <a:rPr sz="1050" b="1">
                <a:solidFill>
                  <a:srgbClr val="1B5EA8"/>
                </a:solidFill>
                <a:latin typeface="Segoe UI Semibold"/>
              </a:rPr>
              <a:t>Modo offline</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Permite preparar toda la configuración de una máquina </a:t>
            </a:r>
            <a:r>
              <a:rPr sz="1100" b="1">
                <a:solidFill>
                  <a:srgbClr val="1C2430"/>
                </a:solidFill>
                <a:latin typeface="Segoe UI"/>
              </a:rPr>
              <a:t>antes</a:t>
            </a:r>
            <a:r>
              <a:rPr sz="1100" b="1">
                <a:solidFill>
                  <a:srgbClr val="1C2430"/>
                </a:solidFill>
                <a:latin typeface="Segoe UI"/>
              </a:rPr>
              <a:t> de ir a planta, y volcarla en minutos durante la puesta en marcha.</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Consejo profesional</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Lleva siempre en el maletín: portátil con SigmaWin+ instalado y probado, cable USB de repuesto, y una carpeta con las copias de parámetros de todos los ejes de la planta. Los tres elementos juntos convierten una avería de un día en una de una hora.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engranaje electrónico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Convierte 'unidades del programador' en cuentas de encoder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72</a:t>
            </a:r>
          </a:p>
        </p:txBody>
      </p:sp>
      <p:sp>
        <p:nvSpPr>
          <p:cNvPr id="9" name="Rounded Rectangle 8"/>
          <p:cNvSpPr/>
          <p:nvPr/>
        </p:nvSpPr>
        <p:spPr>
          <a:xfrm>
            <a:off x="566928" y="2103120"/>
            <a:ext cx="2514600" cy="96012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CONTROLADOR</a:t>
            </a:r>
          </a:p>
          <a:p>
            <a:pPr algn="ctr">
              <a:lnSpc>
                <a:spcPct val="100000"/>
              </a:lnSpc>
              <a:buNone/>
            </a:pPr>
            <a:r>
              <a:rPr sz="1100" b="1">
                <a:solidFill>
                  <a:srgbClr val="FFFFFF"/>
                </a:solidFill>
                <a:latin typeface="Segoe UI"/>
              </a:rPr>
              <a:t>piensa en micras</a:t>
            </a:r>
          </a:p>
        </p:txBody>
      </p:sp>
      <p:sp>
        <p:nvSpPr>
          <p:cNvPr id="10" name="Right Arrow 9"/>
          <p:cNvSpPr/>
          <p:nvPr/>
        </p:nvSpPr>
        <p:spPr>
          <a:xfrm>
            <a:off x="3118104" y="2491740"/>
            <a:ext cx="182880" cy="18288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3337560" y="2103120"/>
            <a:ext cx="2514600" cy="960120"/>
          </a:xfrm>
          <a:prstGeom prst="roundRect">
            <a:avLst>
              <a:gd name="adj" fmla="val 10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ENGRANAJE</a:t>
            </a:r>
          </a:p>
          <a:p>
            <a:pPr algn="ctr">
              <a:lnSpc>
                <a:spcPct val="100000"/>
              </a:lnSpc>
              <a:buNone/>
            </a:pPr>
            <a:r>
              <a:rPr sz="1100" b="1">
                <a:solidFill>
                  <a:srgbClr val="FFFFFF"/>
                </a:solidFill>
                <a:latin typeface="Segoe UI"/>
              </a:rPr>
              <a:t>ELECTRÓNICO</a:t>
            </a:r>
          </a:p>
          <a:p>
            <a:pPr algn="ctr">
              <a:lnSpc>
                <a:spcPct val="100000"/>
              </a:lnSpc>
              <a:buNone/>
            </a:pPr>
            <a:r>
              <a:rPr sz="1100" b="1">
                <a:solidFill>
                  <a:srgbClr val="FFFFFF"/>
                </a:solidFill>
                <a:latin typeface="Consolas"/>
              </a:rPr>
              <a:t>Pn20E</a:t>
            </a:r>
            <a:r>
              <a:rPr sz="1100" b="1">
                <a:solidFill>
                  <a:srgbClr val="FFFFFF"/>
                </a:solidFill>
                <a:latin typeface="Segoe UI"/>
              </a:rPr>
              <a:t> / </a:t>
            </a:r>
            <a:r>
              <a:rPr sz="1100" b="1">
                <a:solidFill>
                  <a:srgbClr val="FFFFFF"/>
                </a:solidFill>
                <a:latin typeface="Consolas"/>
              </a:rPr>
              <a:t>Pn210</a:t>
            </a:r>
          </a:p>
        </p:txBody>
      </p:sp>
      <p:sp>
        <p:nvSpPr>
          <p:cNvPr id="12" name="Right Arrow 11"/>
          <p:cNvSpPr/>
          <p:nvPr/>
        </p:nvSpPr>
        <p:spPr>
          <a:xfrm>
            <a:off x="5888736" y="2491740"/>
            <a:ext cx="182880" cy="18288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108192" y="2103120"/>
            <a:ext cx="2514600" cy="96012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DRIVE</a:t>
            </a:r>
          </a:p>
          <a:p>
            <a:pPr algn="ctr">
              <a:lnSpc>
                <a:spcPct val="100000"/>
              </a:lnSpc>
              <a:buNone/>
            </a:pPr>
            <a:r>
              <a:rPr sz="1100" b="1">
                <a:solidFill>
                  <a:srgbClr val="FFFFFF"/>
                </a:solidFill>
                <a:latin typeface="Segoe UI"/>
              </a:rPr>
              <a:t>piensa en cuentas</a:t>
            </a:r>
          </a:p>
          <a:p>
            <a:pPr algn="ctr">
              <a:lnSpc>
                <a:spcPct val="100000"/>
              </a:lnSpc>
              <a:buNone/>
            </a:pPr>
            <a:r>
              <a:rPr sz="1100" b="1">
                <a:solidFill>
                  <a:srgbClr val="FFFFFF"/>
                </a:solidFill>
                <a:latin typeface="Segoe UI"/>
              </a:rPr>
              <a:t>de encoder</a:t>
            </a:r>
          </a:p>
        </p:txBody>
      </p:sp>
      <p:sp>
        <p:nvSpPr>
          <p:cNvPr id="14" name="Right Arrow 13"/>
          <p:cNvSpPr/>
          <p:nvPr/>
        </p:nvSpPr>
        <p:spPr>
          <a:xfrm>
            <a:off x="8659368" y="2491740"/>
            <a:ext cx="182880" cy="18288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8878824" y="2103120"/>
            <a:ext cx="2514600" cy="960120"/>
          </a:xfrm>
          <a:prstGeom prst="roundRect">
            <a:avLst>
              <a:gd name="adj" fmla="val 10000"/>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100" b="1">
                <a:solidFill>
                  <a:srgbClr val="FFFFFF"/>
                </a:solidFill>
                <a:latin typeface="Segoe UI"/>
              </a:rPr>
              <a:t>MOTOR + HUSILLO</a:t>
            </a:r>
          </a:p>
          <a:p>
            <a:pPr algn="ctr">
              <a:lnSpc>
                <a:spcPct val="100000"/>
              </a:lnSpc>
              <a:buNone/>
            </a:pPr>
            <a:r>
              <a:rPr sz="1100" b="1">
                <a:solidFill>
                  <a:srgbClr val="FFFFFF"/>
                </a:solidFill>
                <a:latin typeface="Segoe UI"/>
              </a:rPr>
              <a:t>se mueve en mm</a:t>
            </a:r>
          </a:p>
        </p:txBody>
      </p:sp>
      <p:sp>
        <p:nvSpPr>
          <p:cNvPr id="16" name="Rectangle 15"/>
          <p:cNvSpPr/>
          <p:nvPr/>
        </p:nvSpPr>
        <p:spPr>
          <a:xfrm>
            <a:off x="566928" y="3520440"/>
            <a:ext cx="11064240" cy="10515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6928" y="3657600"/>
            <a:ext cx="11064240" cy="320040"/>
          </a:xfrm>
          <a:prstGeom prst="rect">
            <a:avLst/>
          </a:prstGeom>
          <a:noFill/>
        </p:spPr>
        <p:txBody>
          <a:bodyPr wrap="square" lIns="0" rIns="0" tIns="0" bIns="0" anchor="t">
            <a:spAutoFit/>
          </a:bodyPr>
          <a:lstStyle/>
          <a:p>
            <a:pPr algn="ctr">
              <a:lnSpc>
                <a:spcPct val="100000"/>
              </a:lnSpc>
              <a:buNone/>
            </a:pPr>
            <a:r>
              <a:rPr sz="1400" b="1">
                <a:solidFill>
                  <a:srgbClr val="0B2545"/>
                </a:solidFill>
                <a:latin typeface="Segoe UI"/>
              </a:rPr>
              <a:t>B / A  =  (resolución del encoder × relación de transmisión)  /  (unidades de referencia por vuelta del eje de carga)</a:t>
            </a:r>
          </a:p>
        </p:txBody>
      </p:sp>
      <p:sp>
        <p:nvSpPr>
          <p:cNvPr id="18" name="TextBox 17"/>
          <p:cNvSpPr txBox="1"/>
          <p:nvPr/>
        </p:nvSpPr>
        <p:spPr>
          <a:xfrm>
            <a:off x="566928" y="4069080"/>
            <a:ext cx="11064240" cy="365760"/>
          </a:xfrm>
          <a:prstGeom prst="rect">
            <a:avLst/>
          </a:prstGeom>
          <a:noFill/>
        </p:spPr>
        <p:txBody>
          <a:bodyPr wrap="square" lIns="0" rIns="0" tIns="0" bIns="0" anchor="t">
            <a:spAutoFit/>
          </a:bodyPr>
          <a:lstStyle/>
          <a:p>
            <a:pPr algn="ctr">
              <a:lnSpc>
                <a:spcPct val="100000"/>
              </a:lnSpc>
              <a:buNone/>
            </a:pPr>
            <a:r>
              <a:rPr sz="1200" b="0">
                <a:solidFill>
                  <a:srgbClr val="5A6B7B"/>
                </a:solidFill>
                <a:latin typeface="Segoe UI"/>
              </a:rPr>
              <a:t>B = </a:t>
            </a:r>
            <a:r>
              <a:rPr sz="1200" b="0">
                <a:solidFill>
                  <a:srgbClr val="5A6B7B"/>
                </a:solidFill>
                <a:latin typeface="Consolas"/>
              </a:rPr>
              <a:t>Pn20E</a:t>
            </a:r>
            <a:r>
              <a:rPr sz="1200" b="0">
                <a:solidFill>
                  <a:srgbClr val="5A6B7B"/>
                </a:solidFill>
                <a:latin typeface="Segoe UI"/>
              </a:rPr>
              <a:t> (numerador)          A = </a:t>
            </a:r>
            <a:r>
              <a:rPr sz="1200" b="0">
                <a:solidFill>
                  <a:srgbClr val="5A6B7B"/>
                </a:solidFill>
                <a:latin typeface="Consolas"/>
              </a:rPr>
              <a:t>Pn210</a:t>
            </a:r>
            <a:r>
              <a:rPr sz="1200" b="0">
                <a:solidFill>
                  <a:srgbClr val="5A6B7B"/>
                </a:solidFill>
                <a:latin typeface="Segoe UI"/>
              </a:rPr>
              <a:t> (denominador)</a:t>
            </a:r>
          </a:p>
        </p:txBody>
      </p:sp>
      <p:sp>
        <p:nvSpPr>
          <p:cNvPr id="19" name="Rectangle 18"/>
          <p:cNvSpPr/>
          <p:nvPr/>
        </p:nvSpPr>
        <p:spPr>
          <a:xfrm>
            <a:off x="566928" y="4754880"/>
            <a:ext cx="11064240" cy="15727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68680" y="4892040"/>
            <a:ext cx="1042416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Ejemplo del curso: husillo de 20 mm de paso, acoplamiento directo, programar en micras</a:t>
            </a:r>
          </a:p>
        </p:txBody>
      </p:sp>
      <p:sp>
        <p:nvSpPr>
          <p:cNvPr id="21" name="TextBox 20"/>
          <p:cNvSpPr txBox="1"/>
          <p:nvPr/>
        </p:nvSpPr>
        <p:spPr>
          <a:xfrm>
            <a:off x="868680" y="5230368"/>
            <a:ext cx="10424160" cy="960120"/>
          </a:xfrm>
          <a:prstGeom prst="rect">
            <a:avLst/>
          </a:prstGeom>
          <a:noFill/>
        </p:spPr>
        <p:txBody>
          <a:bodyPr wrap="square" lIns="0" rIns="0" tIns="0" bIns="0" anchor="t">
            <a:spAutoFit/>
          </a:bodyPr>
          <a:lstStyle/>
          <a:p>
            <a:pPr algn="l">
              <a:lnSpc>
                <a:spcPct val="115000"/>
              </a:lnSpc>
              <a:buNone/>
            </a:pPr>
            <a:r>
              <a:rPr sz="1150" b="0">
                <a:solidFill>
                  <a:srgbClr val="1C2430"/>
                </a:solidFill>
                <a:latin typeface="Segoe UI"/>
              </a:rPr>
              <a:t>Una vuelta de motor = 20 mm = </a:t>
            </a:r>
            <a:r>
              <a:rPr sz="1150" b="1">
                <a:solidFill>
                  <a:srgbClr val="1C2430"/>
                </a:solidFill>
                <a:latin typeface="Segoe UI"/>
              </a:rPr>
              <a:t>20.000 unidades de referencia</a:t>
            </a:r>
            <a:r>
              <a:rPr sz="1150" b="0">
                <a:solidFill>
                  <a:srgbClr val="1C2430"/>
                </a:solidFill>
                <a:latin typeface="Segoe UI"/>
              </a:rPr>
              <a:t> de 1 µm.</a:t>
            </a:r>
          </a:p>
          <a:p>
            <a:pPr algn="l">
              <a:lnSpc>
                <a:spcPct val="115000"/>
              </a:lnSpc>
              <a:buNone/>
            </a:pPr>
            <a:r>
              <a:rPr sz="1150" b="0">
                <a:solidFill>
                  <a:srgbClr val="1C2430"/>
                </a:solidFill>
                <a:latin typeface="Segoe UI"/>
              </a:rPr>
              <a:t>B / A = 16.777.216 / 20.000  →  se simplifica antes de escribirlo en los parámetros.</a:t>
            </a:r>
          </a:p>
          <a:p>
            <a:pPr algn="l">
              <a:lnSpc>
                <a:spcPct val="115000"/>
              </a:lnSpc>
              <a:buNone/>
            </a:pPr>
            <a:r>
              <a:rPr sz="1150" b="1">
                <a:solidFill>
                  <a:srgbClr val="1C2430"/>
                </a:solidFill>
                <a:latin typeface="Segoe UI"/>
              </a:rPr>
              <a:t>Comprobación obligatoria</a:t>
            </a:r>
            <a:r>
              <a:rPr sz="1150" b="0">
                <a:solidFill>
                  <a:srgbClr val="1C2430"/>
                </a:solidFill>
                <a:latin typeface="Segoe UI"/>
              </a:rPr>
              <a:t>: ordena un desplazamiento de 100 mm y mídelo con un comparador. Si no coincide, el engranaje está mal calculado.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Engranaje electrónico: tres ejemplos resueltos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Consolas"/>
              </a:rPr>
              <a:t>Pn20E</a:t>
            </a:r>
            <a:r>
              <a:rPr sz="1250" b="0">
                <a:solidFill>
                  <a:srgbClr val="A9C6E0"/>
                </a:solidFill>
                <a:latin typeface="Segoe UI"/>
              </a:rPr>
              <a:t> (numerador B) y </a:t>
            </a:r>
            <a:r>
              <a:rPr sz="1250" b="0">
                <a:solidFill>
                  <a:srgbClr val="A9C6E0"/>
                </a:solidFill>
                <a:latin typeface="Consolas"/>
              </a:rPr>
              <a:t>Pn210</a:t>
            </a:r>
            <a:r>
              <a:rPr sz="1250" b="0">
                <a:solidFill>
                  <a:srgbClr val="A9C6E0"/>
                </a:solidFill>
                <a:latin typeface="Segoe UI"/>
              </a:rPr>
              <a:t> (denominador 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73</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697033"/>
                <a:gridCol w="2337429"/>
                <a:gridCol w="3775847"/>
                <a:gridCol w="2247528"/>
              </a:tblGrid>
              <a:tr h="347472">
                <a:tc>
                  <a:txBody>
                    <a:bodyPr wrap="square"/>
                    <a:lstStyle/>
                    <a:p>
                      <a:pPr algn="l">
                        <a:lnSpc>
                          <a:spcPct val="100000"/>
                        </a:lnSpc>
                        <a:buNone/>
                      </a:pPr>
                      <a:r>
                        <a:rPr sz="950" b="1">
                          <a:solidFill>
                            <a:srgbClr val="FFFFFF"/>
                          </a:solidFill>
                          <a:latin typeface="Segoe UI"/>
                        </a:rPr>
                        <a:t>Aplicación</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Unidad de referencia deseada</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Cálculo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Resultado</a:t>
                      </a:r>
                    </a:p>
                  </a:txBody>
                  <a:tcPr marL="82296" marR="82296" marT="27432" marB="27432" anchor="ctr">
                    <a:solidFill>
                      <a:srgbClr val="0B2545"/>
                    </a:solidFill>
                  </a:tcPr>
                </a:tc>
              </a:tr>
              <a:tr h="1371600">
                <a:tc>
                  <a:txBody>
                    <a:bodyPr wrap="square"/>
                    <a:lstStyle/>
                    <a:p>
                      <a:pPr algn="l">
                        <a:lnSpc>
                          <a:spcPct val="100000"/>
                        </a:lnSpc>
                        <a:buNone/>
                      </a:pPr>
                      <a:r>
                        <a:rPr sz="950" b="0">
                          <a:solidFill>
                            <a:srgbClr val="1C2430"/>
                          </a:solidFill>
                          <a:latin typeface="Segoe UI"/>
                        </a:rPr>
                        <a:t>Husillo de 20 mm de paso, acoplamiento directo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1 unidad = 0,001 mm (1 µm)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Vueltas por 1 mm = 1/20. Unidades por vuelta = 20 mm × 1.000 = 20.000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B/A</a:t>
                      </a:r>
                      <a:r>
                        <a:rPr sz="950" b="0">
                          <a:solidFill>
                            <a:srgbClr val="1C2430"/>
                          </a:solidFill>
                          <a:latin typeface="Segoe UI"/>
                        </a:rPr>
                        <a:t> = 16.777.216 / 20.000</a:t>
                      </a:r>
                    </a:p>
                  </a:txBody>
                  <a:tcPr marL="82296" marR="82296" marT="27432" marB="27432" anchor="ctr">
                    <a:solidFill>
                      <a:srgbClr val="FFFFFF"/>
                    </a:solidFill>
                  </a:tcPr>
                </a:tc>
              </a:tr>
              <a:tr h="1371600">
                <a:tc>
                  <a:txBody>
                    <a:bodyPr wrap="square"/>
                    <a:lstStyle/>
                    <a:p>
                      <a:pPr algn="l">
                        <a:lnSpc>
                          <a:spcPct val="100000"/>
                        </a:lnSpc>
                        <a:buNone/>
                      </a:pPr>
                      <a:r>
                        <a:rPr sz="950" b="0">
                          <a:solidFill>
                            <a:srgbClr val="1C2430"/>
                          </a:solidFill>
                          <a:latin typeface="Segoe UI"/>
                        </a:rPr>
                        <a:t>Mesa rotativa con reductor 10:1</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1 unidad = 0,001° (360.000 unidades por vuelta de mesa)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Una vuelta de mesa = 10 vueltas de motor = 167.772.160 cuentas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B/A</a:t>
                      </a:r>
                      <a:r>
                        <a:rPr sz="950" b="0">
                          <a:solidFill>
                            <a:srgbClr val="1C2430"/>
                          </a:solidFill>
                          <a:latin typeface="Segoe UI"/>
                        </a:rPr>
                        <a:t> = 167.772.160 / 360.000</a:t>
                      </a:r>
                    </a:p>
                  </a:txBody>
                  <a:tcPr marL="82296" marR="82296" marT="27432" marB="27432" anchor="ctr">
                    <a:solidFill>
                      <a:srgbClr val="F2F5F8"/>
                    </a:solidFill>
                  </a:tcPr>
                </a:tc>
              </a:tr>
              <a:tr h="1371600">
                <a:tc>
                  <a:txBody>
                    <a:bodyPr wrap="square"/>
                    <a:lstStyle/>
                    <a:p>
                      <a:pPr algn="l">
                        <a:lnSpc>
                          <a:spcPct val="100000"/>
                        </a:lnSpc>
                        <a:buNone/>
                      </a:pPr>
                      <a:r>
                        <a:rPr sz="950" b="0">
                          <a:solidFill>
                            <a:srgbClr val="1C2430"/>
                          </a:solidFill>
                          <a:latin typeface="Segoe UI"/>
                        </a:rPr>
                        <a:t>Cinta con polea de 100 mm de diámetro, reductor 5:1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1 unidad = 0,01 mm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Perímetro = 314,16 mm por vuelta de polea = 5 vueltas de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B/A</a:t>
                      </a:r>
                      <a:r>
                        <a:rPr sz="950" b="0">
                          <a:solidFill>
                            <a:srgbClr val="1C2430"/>
                          </a:solidFill>
                          <a:latin typeface="Segoe UI"/>
                        </a:rPr>
                        <a:t> = (16.777.216 × 5) / 31.416</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Simplifica siempre la fracción antes de escribirla y comprueba que numerador y denominador caben en el rango admitido por los parámetros. Si no es exacta, quedará un error de redondeo acumulativo.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parámetros que más vas a tocar (1/2)</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Configuración básica del eje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74</a:t>
            </a:r>
          </a:p>
        </p:txBody>
      </p:sp>
      <p:graphicFrame>
        <p:nvGraphicFramePr>
          <p:cNvPr id="9" name="Table 8"/>
          <p:cNvGraphicFramePr>
            <a:graphicFrameLocks noGrp="1"/>
          </p:cNvGraphicFramePr>
          <p:nvPr/>
        </p:nvGraphicFramePr>
        <p:xfrm>
          <a:off x="566928" y="1481328"/>
          <a:ext cx="11057837" cy="4846312"/>
        </p:xfrm>
        <a:graphic>
          <a:graphicData uri="http://schemas.openxmlformats.org/drawingml/2006/table">
            <a:tbl>
              <a:tblPr firstRow="1">
                <a:tableStyleId>{5C22544A-7EE6-4342-B048-85BDC9FD1C3A}</a:tableStyleId>
              </a:tblPr>
              <a:tblGrid>
                <a:gridCol w="2303716"/>
                <a:gridCol w="4054540"/>
                <a:gridCol w="4699581"/>
              </a:tblGrid>
              <a:tr h="347472">
                <a:tc>
                  <a:txBody>
                    <a:bodyPr wrap="square"/>
                    <a:lstStyle/>
                    <a:p>
                      <a:pPr algn="l">
                        <a:lnSpc>
                          <a:spcPct val="100000"/>
                        </a:lnSpc>
                        <a:buNone/>
                      </a:pPr>
                      <a:r>
                        <a:rPr sz="950" b="1">
                          <a:solidFill>
                            <a:srgbClr val="FFFFFF"/>
                          </a:solidFill>
                          <a:latin typeface="Segoe UI"/>
                        </a:rPr>
                        <a:t>Parámetro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Comentario práctico</a:t>
                      </a:r>
                    </a:p>
                  </a:txBody>
                  <a:tcPr marL="82296" marR="82296" marT="27432" marB="27432" anchor="ctr">
                    <a:solidFill>
                      <a:srgbClr val="0B2545"/>
                    </a:solidFill>
                  </a:tcPr>
                </a:tc>
              </a:tr>
              <a:tr h="449884">
                <a:tc>
                  <a:txBody>
                    <a:bodyPr wrap="square"/>
                    <a:lstStyle/>
                    <a:p>
                      <a:pPr algn="l">
                        <a:lnSpc>
                          <a:spcPct val="100000"/>
                        </a:lnSpc>
                        <a:buNone/>
                      </a:pPr>
                      <a:r>
                        <a:rPr sz="950" b="0">
                          <a:solidFill>
                            <a:srgbClr val="1C2430"/>
                          </a:solidFill>
                          <a:latin typeface="Consolas"/>
                        </a:rPr>
                        <a:t>Pn000.0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Sentido de giro (rotación inversa)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 cambia aquí, </a:t>
                      </a:r>
                      <a:r>
                        <a:rPr sz="950" b="1">
                          <a:solidFill>
                            <a:srgbClr val="1C2430"/>
                          </a:solidFill>
                          <a:latin typeface="Segoe UI"/>
                        </a:rPr>
                        <a:t>no</a:t>
                      </a:r>
                      <a:r>
                        <a:rPr sz="950" b="0">
                          <a:solidFill>
                            <a:srgbClr val="1C2430"/>
                          </a:solidFill>
                          <a:latin typeface="Segoe UI"/>
                        </a:rPr>
                        <a:t> intercambiando fases del motor</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Pn000.1</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Selección del modo de control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Par, velocidad, posición o combinados</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Pn001.0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Método de parada ante alarma o servo OFF</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Freno dinámico, rampa o marcha libre</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 / </a:t>
                      </a:r>
                      <a:r>
                        <a:rPr sz="950" b="0">
                          <a:solidFill>
                            <a:srgbClr val="1C2430"/>
                          </a:solidFill>
                          <a:latin typeface="Consolas"/>
                        </a:rPr>
                        <a:t>Pn210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Engranaje electrónico (numerador/denominador)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Define la unidad de referencia de todo el eje</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Pn212</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Pulsos de salida del encoder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Sólo si el controlador necesita realimentación</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Pn50A</a:t>
                      </a:r>
                      <a:r>
                        <a:rPr sz="950" b="0">
                          <a:solidFill>
                            <a:srgbClr val="1C2430"/>
                          </a:solidFill>
                          <a:latin typeface="Segoe UI"/>
                        </a:rPr>
                        <a:t> / </a:t>
                      </a:r>
                      <a:r>
                        <a:rPr sz="950" b="0">
                          <a:solidFill>
                            <a:srgbClr val="1C2430"/>
                          </a:solidFill>
                          <a:latin typeface="Consolas"/>
                        </a:rPr>
                        <a:t>Pn50B</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Asignación de entradas digitales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Permite forzar señales sin cablearlas: úsalo con cabeza</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Pn50E</a:t>
                      </a:r>
                      <a:r>
                        <a:rPr sz="950" b="0">
                          <a:solidFill>
                            <a:srgbClr val="1C2430"/>
                          </a:solidFill>
                          <a:latin typeface="Segoe UI"/>
                        </a:rPr>
                        <a:t> / </a:t>
                      </a:r>
                      <a:r>
                        <a:rPr sz="950" b="0">
                          <a:solidFill>
                            <a:srgbClr val="1C2430"/>
                          </a:solidFill>
                          <a:latin typeface="Consolas"/>
                        </a:rPr>
                        <a:t>Pn50F</a:t>
                      </a:r>
                      <a:r>
                        <a:rPr sz="950" b="0">
                          <a:solidFill>
                            <a:srgbClr val="1C2430"/>
                          </a:solidFill>
                          <a:latin typeface="Segoe UI"/>
                        </a:rPr>
                        <a:t> / </a:t>
                      </a:r>
                      <a:r>
                        <a:rPr sz="950" b="0">
                          <a:solidFill>
                            <a:srgbClr val="1C2430"/>
                          </a:solidFill>
                          <a:latin typeface="Consolas"/>
                        </a:rPr>
                        <a:t>Pn510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Asignación de salidas digitales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Aquí se asigna </a:t>
                      </a:r>
                      <a:r>
                        <a:rPr sz="950" b="0">
                          <a:solidFill>
                            <a:srgbClr val="1C2430"/>
                          </a:solidFill>
                          <a:latin typeface="Consolas"/>
                        </a:rPr>
                        <a:t>/BK</a:t>
                      </a:r>
                      <a:r>
                        <a:rPr sz="950" b="0">
                          <a:solidFill>
                            <a:srgbClr val="1C2430"/>
                          </a:solidFill>
                          <a:latin typeface="Segoe UI"/>
                        </a:rPr>
                        <a:t>, </a:t>
                      </a:r>
                      <a:r>
                        <a:rPr sz="950" b="0">
                          <a:solidFill>
                            <a:srgbClr val="1C2430"/>
                          </a:solidFill>
                          <a:latin typeface="Consolas"/>
                        </a:rPr>
                        <a:t>/COIN</a:t>
                      </a:r>
                      <a:r>
                        <a:rPr sz="950" b="0">
                          <a:solidFill>
                            <a:srgbClr val="1C2430"/>
                          </a:solidFill>
                          <a:latin typeface="Segoe UI"/>
                        </a:rPr>
                        <a:t>, </a:t>
                      </a:r>
                      <a:r>
                        <a:rPr sz="950" b="0">
                          <a:solidFill>
                            <a:srgbClr val="1C2430"/>
                          </a:solidFill>
                          <a:latin typeface="Consolas"/>
                        </a:rPr>
                        <a:t>/S-RDY</a:t>
                      </a:r>
                      <a:r>
                        <a:rPr sz="950" b="0">
                          <a:solidFill>
                            <a:srgbClr val="1C2430"/>
                          </a:solidFill>
                          <a:latin typeface="Segoe UI"/>
                        </a:rPr>
                        <a:t>…</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Pn522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Ventana de posicionado (</a:t>
                      </a:r>
                      <a:r>
                        <a:rPr sz="950" b="0">
                          <a:solidFill>
                            <a:srgbClr val="1C2430"/>
                          </a:solidFill>
                          <a:latin typeface="Consolas"/>
                        </a:rPr>
                        <a:t>/COIN</a:t>
                      </a:r>
                      <a:r>
                        <a:rPr sz="950" b="0">
                          <a:solidFill>
                            <a:srgbClr val="1C2430"/>
                          </a:solidFill>
                          <a:latin typeface="Segoe UI"/>
                        </a:rPr>
                        <a:t>)</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Determina cuándo el PLC recibe 'posición alcanzada'</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Consolas"/>
                        </a:rPr>
                        <a:t>Pn520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Nivel de alarma por exceso de error de posición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Protege la mecánica; si salta, revisa dimensionamiento o ganancias</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Consolas"/>
                        </a:rPr>
                        <a:t>Pn506</a:t>
                      </a:r>
                      <a:r>
                        <a:rPr sz="950" b="0">
                          <a:solidFill>
                            <a:srgbClr val="1C2430"/>
                          </a:solidFill>
                          <a:latin typeface="Segoe UI"/>
                        </a:rPr>
                        <a:t> / </a:t>
                      </a:r>
                      <a:r>
                        <a:rPr sz="950" b="0">
                          <a:solidFill>
                            <a:srgbClr val="1C2430"/>
                          </a:solidFill>
                          <a:latin typeface="Consolas"/>
                        </a:rPr>
                        <a:t>Pn507</a:t>
                      </a:r>
                      <a:r>
                        <a:rPr sz="950" b="0">
                          <a:solidFill>
                            <a:srgbClr val="1C2430"/>
                          </a:solidFill>
                          <a:latin typeface="Segoe UI"/>
                        </a:rPr>
                        <a:t> / </a:t>
                      </a:r>
                      <a:r>
                        <a:rPr sz="950" b="0">
                          <a:solidFill>
                            <a:srgbClr val="1C2430"/>
                          </a:solidFill>
                          <a:latin typeface="Consolas"/>
                        </a:rPr>
                        <a:t>Pn508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Temporización del freno de retención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Críticos en ejes verticales</a:t>
                      </a:r>
                    </a:p>
                  </a:txBody>
                  <a:tcPr marL="82296" marR="82296" marT="27432" marB="27432" anchor="ctr">
                    <a:solidFill>
                      <a:srgbClr val="F2F5F8"/>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parámetros que más vas a tocar (2/2)</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Sintonización, filtros y pruebas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75</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303716"/>
                <a:gridCol w="4054540"/>
                <a:gridCol w="4699581"/>
              </a:tblGrid>
              <a:tr h="347472">
                <a:tc>
                  <a:txBody>
                    <a:bodyPr wrap="square"/>
                    <a:lstStyle/>
                    <a:p>
                      <a:pPr algn="l">
                        <a:lnSpc>
                          <a:spcPct val="100000"/>
                        </a:lnSpc>
                        <a:buNone/>
                      </a:pPr>
                      <a:r>
                        <a:rPr sz="950" b="1">
                          <a:solidFill>
                            <a:srgbClr val="FFFFFF"/>
                          </a:solidFill>
                          <a:latin typeface="Segoe UI"/>
                        </a:rPr>
                        <a:t>Parámetro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Comentario práctico</a:t>
                      </a:r>
                    </a:p>
                  </a:txBody>
                  <a:tcPr marL="82296" marR="82296" marT="27432" marB="27432" anchor="ctr">
                    <a:solidFill>
                      <a:srgbClr val="0B2545"/>
                    </a:solidFill>
                  </a:tcPr>
                </a:tc>
              </a:tr>
              <a:tr h="342900">
                <a:tc>
                  <a:txBody>
                    <a:bodyPr wrap="square"/>
                    <a:lstStyle/>
                    <a:p>
                      <a:pPr algn="l">
                        <a:lnSpc>
                          <a:spcPct val="100000"/>
                        </a:lnSpc>
                        <a:buNone/>
                      </a:pPr>
                      <a:r>
                        <a:rPr sz="950" b="0">
                          <a:solidFill>
                            <a:srgbClr val="1C2430"/>
                          </a:solidFill>
                          <a:latin typeface="Consolas"/>
                        </a:rPr>
                        <a:t>Pn100</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del lazo de velocidad [Hz]</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El parámetro central de la sintonización</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Pn101</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Constante de tiempo integral de velocidad [ms]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 baja para más rigidez; demasiado bajo, oscila</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Pn102</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del lazo de posición [1/s]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Determina el error de seguimiento</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Pn103</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Relación de inercias [%]</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Ajústalo primero</a:t>
                      </a:r>
                      <a:r>
                        <a:rPr sz="950" b="0">
                          <a:solidFill>
                            <a:srgbClr val="1C2430"/>
                          </a:solidFill>
                          <a:latin typeface="Segoe UI"/>
                        </a:rPr>
                        <a:t>: el resto de ganancias se escalan con él</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Pn401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Constante de tiempo del filtro de par [ms]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Suaviza el ruido; demasiado alto, resta rapidez</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Pn408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Habilitación de filtros notch y de fricción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Bits de activación de las funciones de filtrado</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Pn409</a:t>
                      </a:r>
                      <a:r>
                        <a:rPr sz="950" b="0">
                          <a:solidFill>
                            <a:srgbClr val="1C2430"/>
                          </a:solidFill>
                          <a:latin typeface="Segoe UI"/>
                        </a:rPr>
                        <a:t> / </a:t>
                      </a:r>
                      <a:r>
                        <a:rPr sz="950" b="0">
                          <a:solidFill>
                            <a:srgbClr val="1C2430"/>
                          </a:solidFill>
                          <a:latin typeface="Consolas"/>
                        </a:rPr>
                        <a:t>Pn40A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Frecuencia y factor Q del 1.er filtro notch</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Contra resonancia mecánica de alta frecuencia</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Pn140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Control por modelo de referencia (MFC)</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Mejora el seguimiento sin sacrificar estabilidad</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Pn14A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Frecuencia de supresión de vibración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Contra oscilación de baja frecuencia de la estructura</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Pn170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Función de ajuste sin sintonizar (tuning-less)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Activa de fábrica; desactívala al pasar a ajuste manual</a:t>
                      </a:r>
                    </a:p>
                  </a:txBody>
                  <a:tcPr marL="82296" marR="82296" marT="27432" marB="27432" anchor="ctr">
                    <a:solidFill>
                      <a:srgbClr val="F2F5F8"/>
                    </a:solidFill>
                  </a:tcPr>
                </a:tc>
              </a:tr>
              <a:tr h="342900">
                <a:tc>
                  <a:txBody>
                    <a:bodyPr wrap="square"/>
                    <a:lstStyle/>
                    <a:p>
                      <a:pPr algn="l">
                        <a:lnSpc>
                          <a:spcPct val="100000"/>
                        </a:lnSpc>
                        <a:buNone/>
                      </a:pPr>
                      <a:r>
                        <a:rPr sz="950" b="0">
                          <a:solidFill>
                            <a:srgbClr val="1C2430"/>
                          </a:solidFill>
                          <a:latin typeface="Consolas"/>
                        </a:rPr>
                        <a:t>Pn304</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Velocidad de JOG [rpm]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Ponla baja (50-100 rpm) para las primeras pruebas</a:t>
                      </a:r>
                    </a:p>
                  </a:txBody>
                  <a:tcPr marL="82296" marR="82296" marT="27432" marB="27432" anchor="ctr">
                    <a:solidFill>
                      <a:srgbClr val="FFFFFF"/>
                    </a:solidFill>
                  </a:tcPr>
                </a:tc>
              </a:tr>
              <a:tr h="342900">
                <a:tc>
                  <a:txBody>
                    <a:bodyPr wrap="square"/>
                    <a:lstStyle/>
                    <a:p>
                      <a:pPr algn="l">
                        <a:lnSpc>
                          <a:spcPct val="100000"/>
                        </a:lnSpc>
                        <a:buNone/>
                      </a:pPr>
                      <a:r>
                        <a:rPr sz="950" b="0">
                          <a:solidFill>
                            <a:srgbClr val="1C2430"/>
                          </a:solidFill>
                          <a:latin typeface="Consolas"/>
                        </a:rPr>
                        <a:t>Pn600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Capacidad de la resistencia de regeneración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Declara la resistencia externa si la instalas</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Estos parámetros se explican en detalle en el Módulo 09. Aquí sólo interesa saber que existen y dónde están.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Monitores </a:t>
            </a:r>
            <a:r>
              <a:rPr sz="2500" b="1">
                <a:solidFill>
                  <a:srgbClr val="FFFFFF"/>
                </a:solidFill>
                <a:latin typeface="Consolas"/>
              </a:rPr>
              <a:t>Un</a:t>
            </a:r>
            <a:r>
              <a:rPr sz="2500" b="1">
                <a:solidFill>
                  <a:srgbClr val="FFFFFF"/>
                </a:solidFill>
                <a:latin typeface="Segoe UI Semibold"/>
              </a:rPr>
              <a:t> para diagnóstico rápido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Diagnóstico sin PC, directamente en el display</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76</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1566527"/>
                <a:gridCol w="3962392"/>
                <a:gridCol w="5528919"/>
              </a:tblGrid>
              <a:tr h="347472">
                <a:tc>
                  <a:txBody>
                    <a:bodyPr wrap="square"/>
                    <a:lstStyle/>
                    <a:p>
                      <a:pPr algn="l">
                        <a:lnSpc>
                          <a:spcPct val="100000"/>
                        </a:lnSpc>
                        <a:buNone/>
                      </a:pPr>
                      <a:r>
                        <a:rPr sz="1000" b="1">
                          <a:solidFill>
                            <a:srgbClr val="FFFFFF"/>
                          </a:solidFill>
                          <a:latin typeface="Segoe UI"/>
                        </a:rPr>
                        <a:t>Monitor</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Qué muestra</a:t>
                      </a:r>
                    </a:p>
                  </a:txBody>
                  <a:tcPr marL="82296" marR="82296" marT="27432" marB="27432" anchor="ctr">
                    <a:solidFill>
                      <a:srgbClr val="0B2545"/>
                    </a:solidFill>
                  </a:tcPr>
                </a:tc>
                <a:tc>
                  <a:txBody>
                    <a:bodyPr wrap="square"/>
                    <a:lstStyle/>
                    <a:p>
                      <a:pPr algn="l">
                        <a:lnSpc>
                          <a:spcPct val="100000"/>
                        </a:lnSpc>
                        <a:buNone/>
                      </a:pPr>
                      <a:r>
                        <a:rPr sz="1000" b="1">
                          <a:solidFill>
                            <a:srgbClr val="FFFFFF"/>
                          </a:solidFill>
                          <a:latin typeface="Segoe UI"/>
                        </a:rPr>
                        <a:t>Cómo se usa en la práctica</a:t>
                      </a:r>
                    </a:p>
                  </a:txBody>
                  <a:tcPr marL="82296" marR="82296" marT="27432" marB="27432" anchor="ctr">
                    <a:solidFill>
                      <a:srgbClr val="0B2545"/>
                    </a:solidFill>
                  </a:tcPr>
                </a:tc>
              </a:tr>
              <a:tr h="457200">
                <a:tc>
                  <a:txBody>
                    <a:bodyPr wrap="square"/>
                    <a:lstStyle/>
                    <a:p>
                      <a:pPr algn="l">
                        <a:lnSpc>
                          <a:spcPct val="100000"/>
                        </a:lnSpc>
                        <a:buNone/>
                      </a:pPr>
                      <a:r>
                        <a:rPr sz="1000" b="0">
                          <a:solidFill>
                            <a:srgbClr val="1C2430"/>
                          </a:solidFill>
                          <a:latin typeface="Consolas"/>
                        </a:rPr>
                        <a:t>Un000</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Velocidad real del motor [rpm]</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Comprobar que el eje se mueve a la velocidad esperada</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Un001</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Consigna de velocidad [rpm]</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Comparar con </a:t>
                      </a:r>
                      <a:r>
                        <a:rPr sz="1000" b="0">
                          <a:solidFill>
                            <a:srgbClr val="1C2430"/>
                          </a:solidFill>
                          <a:latin typeface="Consolas"/>
                        </a:rPr>
                        <a:t>Un000</a:t>
                      </a:r>
                      <a:r>
                        <a:rPr sz="1000" b="0">
                          <a:solidFill>
                            <a:srgbClr val="1C2430"/>
                          </a:solidFill>
                          <a:latin typeface="Segoe UI"/>
                        </a:rPr>
                        <a:t>: si difieren mucho, el eje no sigue</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Un002</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Par actual [% del nominal]</a:t>
                      </a:r>
                    </a:p>
                  </a:txBody>
                  <a:tcPr marL="82296" marR="82296" marT="27432" marB="27432" anchor="ctr">
                    <a:solidFill>
                      <a:srgbClr val="FFFFFF"/>
                    </a:solidFill>
                  </a:tcPr>
                </a:tc>
                <a:tc>
                  <a:txBody>
                    <a:bodyPr wrap="square"/>
                    <a:lstStyle/>
                    <a:p>
                      <a:pPr algn="l">
                        <a:lnSpc>
                          <a:spcPct val="100000"/>
                        </a:lnSpc>
                        <a:buNone/>
                      </a:pPr>
                      <a:r>
                        <a:rPr sz="1000" b="1">
                          <a:solidFill>
                            <a:srgbClr val="1C2430"/>
                          </a:solidFill>
                          <a:latin typeface="Segoe UI"/>
                        </a:rPr>
                        <a:t>El monitor más útil</a:t>
                      </a:r>
                      <a:r>
                        <a:rPr sz="1000" b="0">
                          <a:solidFill>
                            <a:srgbClr val="1C2430"/>
                          </a:solidFill>
                          <a:latin typeface="Segoe UI"/>
                        </a:rPr>
                        <a:t>: valida el dimensionamiento en la máquina real</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Un005</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Estado de las entradas digitales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¿Llega el servo ON? ¿Están los finales de carrera cerrados?</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Un006</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Estado de las salidas digitales</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¿Se está dando la orden de freno? ¿Está activa la alarma?</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Un007</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Velocidad de la consigna de pulsos</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Verifica que el controlador está enviando pulsos</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Un008</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Error de posición [unidades de referencia]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Mide la calidad del seguimiento; base del ajuste de </a:t>
                      </a:r>
                      <a:r>
                        <a:rPr sz="1000" b="0">
                          <a:solidFill>
                            <a:srgbClr val="1C2430"/>
                          </a:solidFill>
                          <a:latin typeface="Consolas"/>
                        </a:rPr>
                        <a:t>Pn522</a:t>
                      </a:r>
                    </a:p>
                  </a:txBody>
                  <a:tcPr marL="82296" marR="82296" marT="27432" marB="27432" anchor="ctr">
                    <a:solidFill>
                      <a:srgbClr val="FFFFFF"/>
                    </a:solidFill>
                  </a:tcPr>
                </a:tc>
              </a:tr>
              <a:tr h="457200">
                <a:tc>
                  <a:txBody>
                    <a:bodyPr wrap="square"/>
                    <a:lstStyle/>
                    <a:p>
                      <a:pPr algn="l">
                        <a:lnSpc>
                          <a:spcPct val="100000"/>
                        </a:lnSpc>
                        <a:buNone/>
                      </a:pPr>
                      <a:r>
                        <a:rPr sz="1000" b="0">
                          <a:solidFill>
                            <a:srgbClr val="1C2430"/>
                          </a:solidFill>
                          <a:latin typeface="Consolas"/>
                        </a:rPr>
                        <a:t>Un00D</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Contador de realimentación de posición</a:t>
                      </a:r>
                    </a:p>
                  </a:txBody>
                  <a:tcPr marL="82296" marR="82296" marT="27432" marB="27432" anchor="ctr">
                    <a:solidFill>
                      <a:srgbClr val="F2F5F8"/>
                    </a:solidFill>
                  </a:tcPr>
                </a:tc>
                <a:tc>
                  <a:txBody>
                    <a:bodyPr wrap="square"/>
                    <a:lstStyle/>
                    <a:p>
                      <a:pPr algn="l">
                        <a:lnSpc>
                          <a:spcPct val="100000"/>
                        </a:lnSpc>
                        <a:buNone/>
                      </a:pPr>
                      <a:r>
                        <a:rPr sz="1000" b="0">
                          <a:solidFill>
                            <a:srgbClr val="1C2430"/>
                          </a:solidFill>
                          <a:latin typeface="Segoe UI"/>
                        </a:rPr>
                        <a:t>Comprobar repetibilidad tras un ciclo completo</a:t>
                      </a:r>
                    </a:p>
                  </a:txBody>
                  <a:tcPr marL="82296" marR="82296" marT="27432" marB="27432" anchor="ctr">
                    <a:solidFill>
                      <a:srgbClr val="F2F5F8"/>
                    </a:solidFill>
                  </a:tcPr>
                </a:tc>
              </a:tr>
              <a:tr h="457200">
                <a:tc>
                  <a:txBody>
                    <a:bodyPr wrap="square"/>
                    <a:lstStyle/>
                    <a:p>
                      <a:pPr algn="l">
                        <a:lnSpc>
                          <a:spcPct val="100000"/>
                        </a:lnSpc>
                        <a:buNone/>
                      </a:pPr>
                      <a:r>
                        <a:rPr sz="1000" b="0">
                          <a:solidFill>
                            <a:srgbClr val="1C2430"/>
                          </a:solidFill>
                          <a:latin typeface="Consolas"/>
                        </a:rPr>
                        <a:t>Un00B</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Relación de carga / tasa de sobrecarga acumulada</a:t>
                      </a:r>
                    </a:p>
                  </a:txBody>
                  <a:tcPr marL="82296" marR="82296" marT="27432" marB="27432" anchor="ctr">
                    <a:solidFill>
                      <a:srgbClr val="FFFFFF"/>
                    </a:solidFill>
                  </a:tcPr>
                </a:tc>
                <a:tc>
                  <a:txBody>
                    <a:bodyPr wrap="square"/>
                    <a:lstStyle/>
                    <a:p>
                      <a:pPr algn="l">
                        <a:lnSpc>
                          <a:spcPct val="100000"/>
                        </a:lnSpc>
                        <a:buNone/>
                      </a:pPr>
                      <a:r>
                        <a:rPr sz="1000" b="0">
                          <a:solidFill>
                            <a:srgbClr val="1C2430"/>
                          </a:solidFill>
                          <a:latin typeface="Segoe UI"/>
                        </a:rPr>
                        <a:t>Anticipa alarmas </a:t>
                      </a:r>
                      <a:r>
                        <a:rPr sz="1000" b="0">
                          <a:solidFill>
                            <a:srgbClr val="1C2430"/>
                          </a:solidFill>
                          <a:latin typeface="Consolas"/>
                        </a:rPr>
                        <a:t>A.720</a:t>
                      </a:r>
                      <a:r>
                        <a:rPr sz="1000" b="0">
                          <a:solidFill>
                            <a:srgbClr val="1C2430"/>
                          </a:solidFill>
                          <a:latin typeface="Segoe UI"/>
                        </a:rPr>
                        <a:t> antes de que ocurran</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 numeración concreta de algunos monitores varía entre series: consulta la lista del manual de tu equipo.</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Copia de seguridad y gestión de configuraciones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copia que no existe es la que siempre hace falta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07</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77</a:t>
            </a:r>
          </a:p>
        </p:txBody>
      </p:sp>
      <p:sp>
        <p:nvSpPr>
          <p:cNvPr id="9" name="Rectangle 8"/>
          <p:cNvSpPr/>
          <p:nvPr/>
        </p:nvSpPr>
        <p:spPr>
          <a:xfrm>
            <a:off x="566928" y="1481328"/>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689457"/>
          </a:xfrm>
          <a:prstGeom prst="rect">
            <a:avLst/>
          </a:prstGeom>
          <a:noFill/>
        </p:spPr>
        <p:txBody>
          <a:bodyPr wrap="square" lIns="0" rIns="0" tIns="0" bIns="0" anchor="ctr">
            <a:spAutoFit/>
          </a:bodyPr>
          <a:lstStyle/>
          <a:p>
            <a:pPr algn="ctr">
              <a:lnSpc>
                <a:spcPct val="100000"/>
              </a:lnSpc>
              <a:buNone/>
            </a:pPr>
            <a:r>
              <a:rPr sz="19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Copia inicial en la puesta en marcha</a:t>
            </a:r>
          </a:p>
        </p:txBody>
      </p:sp>
      <p:sp>
        <p:nvSpPr>
          <p:cNvPr id="13" name="TextBox 12"/>
          <p:cNvSpPr txBox="1"/>
          <p:nvPr/>
        </p:nvSpPr>
        <p:spPr>
          <a:xfrm>
            <a:off x="1435608" y="1823085"/>
            <a:ext cx="9869119" cy="34770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Antes de tocar nada y después de terminar el ajuste. Dos ficheros: 'como llegó' y 'como quedó'.</a:t>
            </a:r>
          </a:p>
        </p:txBody>
      </p:sp>
      <p:sp>
        <p:nvSpPr>
          <p:cNvPr id="14" name="Rectangle 13"/>
          <p:cNvSpPr/>
          <p:nvPr/>
        </p:nvSpPr>
        <p:spPr>
          <a:xfrm>
            <a:off x="566928" y="2280513"/>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280513"/>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280513"/>
            <a:ext cx="658368" cy="689457"/>
          </a:xfrm>
          <a:prstGeom prst="rect">
            <a:avLst/>
          </a:prstGeom>
          <a:noFill/>
        </p:spPr>
        <p:txBody>
          <a:bodyPr wrap="square" lIns="0" rIns="0" tIns="0" bIns="0" anchor="ctr">
            <a:spAutoFit/>
          </a:bodyPr>
          <a:lstStyle/>
          <a:p>
            <a:pPr algn="ctr">
              <a:lnSpc>
                <a:spcPct val="100000"/>
              </a:lnSpc>
              <a:buNone/>
            </a:pPr>
            <a:r>
              <a:rPr sz="1950" b="1">
                <a:solidFill>
                  <a:srgbClr val="00A9CE"/>
                </a:solidFill>
                <a:latin typeface="Segoe UI Semibold"/>
              </a:rPr>
              <a:t>2</a:t>
            </a:r>
          </a:p>
        </p:txBody>
      </p:sp>
      <p:sp>
        <p:nvSpPr>
          <p:cNvPr id="17" name="TextBox 16"/>
          <p:cNvSpPr txBox="1"/>
          <p:nvPr/>
        </p:nvSpPr>
        <p:spPr>
          <a:xfrm>
            <a:off x="1435608" y="2371953"/>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Copia tras cada intervención</a:t>
            </a:r>
          </a:p>
        </p:txBody>
      </p:sp>
      <p:sp>
        <p:nvSpPr>
          <p:cNvPr id="18" name="TextBox 17"/>
          <p:cNvSpPr txBox="1"/>
          <p:nvPr/>
        </p:nvSpPr>
        <p:spPr>
          <a:xfrm>
            <a:off x="1435608" y="2622270"/>
            <a:ext cx="9869119" cy="34770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Con fecha, autor y motivo del cambio en el nombre del fichero o en un comentario del proyecto.</a:t>
            </a:r>
          </a:p>
        </p:txBody>
      </p:sp>
      <p:sp>
        <p:nvSpPr>
          <p:cNvPr id="19" name="Rectangle 18"/>
          <p:cNvSpPr/>
          <p:nvPr/>
        </p:nvSpPr>
        <p:spPr>
          <a:xfrm>
            <a:off x="566928" y="3079699"/>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3079699"/>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3079699"/>
            <a:ext cx="658368" cy="689457"/>
          </a:xfrm>
          <a:prstGeom prst="rect">
            <a:avLst/>
          </a:prstGeom>
          <a:noFill/>
        </p:spPr>
        <p:txBody>
          <a:bodyPr wrap="square" lIns="0" rIns="0" tIns="0" bIns="0" anchor="ctr">
            <a:spAutoFit/>
          </a:bodyPr>
          <a:lstStyle/>
          <a:p>
            <a:pPr algn="ctr">
              <a:lnSpc>
                <a:spcPct val="100000"/>
              </a:lnSpc>
              <a:buNone/>
            </a:pPr>
            <a:r>
              <a:rPr sz="1950" b="1">
                <a:solidFill>
                  <a:srgbClr val="00A9CE"/>
                </a:solidFill>
                <a:latin typeface="Segoe UI Semibold"/>
              </a:rPr>
              <a:t>3</a:t>
            </a:r>
          </a:p>
        </p:txBody>
      </p:sp>
      <p:sp>
        <p:nvSpPr>
          <p:cNvPr id="22" name="TextBox 21"/>
          <p:cNvSpPr txBox="1"/>
          <p:nvPr/>
        </p:nvSpPr>
        <p:spPr>
          <a:xfrm>
            <a:off x="1435608" y="3171139"/>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Archivo centralizado y accesible</a:t>
            </a:r>
          </a:p>
        </p:txBody>
      </p:sp>
      <p:sp>
        <p:nvSpPr>
          <p:cNvPr id="23" name="TextBox 22"/>
          <p:cNvSpPr txBox="1"/>
          <p:nvPr/>
        </p:nvSpPr>
        <p:spPr>
          <a:xfrm>
            <a:off x="1435608" y="3421456"/>
            <a:ext cx="9869119" cy="34770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En el servidor de mantenimiento, no en el portátil de una persona. Debe estar disponible a las 3 de la mañana.</a:t>
            </a:r>
          </a:p>
        </p:txBody>
      </p:sp>
      <p:sp>
        <p:nvSpPr>
          <p:cNvPr id="24" name="Rectangle 23"/>
          <p:cNvSpPr/>
          <p:nvPr/>
        </p:nvSpPr>
        <p:spPr>
          <a:xfrm>
            <a:off x="566928" y="3878884"/>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878884"/>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878884"/>
            <a:ext cx="658368" cy="689457"/>
          </a:xfrm>
          <a:prstGeom prst="rect">
            <a:avLst/>
          </a:prstGeom>
          <a:noFill/>
        </p:spPr>
        <p:txBody>
          <a:bodyPr wrap="square" lIns="0" rIns="0" tIns="0" bIns="0" anchor="ctr">
            <a:spAutoFit/>
          </a:bodyPr>
          <a:lstStyle/>
          <a:p>
            <a:pPr algn="ctr">
              <a:lnSpc>
                <a:spcPct val="100000"/>
              </a:lnSpc>
              <a:buNone/>
            </a:pPr>
            <a:r>
              <a:rPr sz="1950" b="1">
                <a:solidFill>
                  <a:srgbClr val="00A9CE"/>
                </a:solidFill>
                <a:latin typeface="Segoe UI Semibold"/>
              </a:rPr>
              <a:t>4</a:t>
            </a:r>
          </a:p>
        </p:txBody>
      </p:sp>
      <p:sp>
        <p:nvSpPr>
          <p:cNvPr id="27" name="TextBox 26"/>
          <p:cNvSpPr txBox="1"/>
          <p:nvPr/>
        </p:nvSpPr>
        <p:spPr>
          <a:xfrm>
            <a:off x="1435608" y="3970324"/>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Documento de eje en papel dentro del armario</a:t>
            </a:r>
          </a:p>
        </p:txBody>
      </p:sp>
      <p:sp>
        <p:nvSpPr>
          <p:cNvPr id="28" name="TextBox 27"/>
          <p:cNvSpPr txBox="1"/>
          <p:nvPr/>
        </p:nvSpPr>
        <p:spPr>
          <a:xfrm>
            <a:off x="1435608" y="4220641"/>
            <a:ext cx="9869119" cy="34770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Modelo de drive y motor, parámetros críticos, valor de origen y fecha de la última sintonización.</a:t>
            </a:r>
          </a:p>
        </p:txBody>
      </p:sp>
      <p:sp>
        <p:nvSpPr>
          <p:cNvPr id="29" name="Rectangle 28"/>
          <p:cNvSpPr/>
          <p:nvPr/>
        </p:nvSpPr>
        <p:spPr>
          <a:xfrm>
            <a:off x="566928" y="4678070"/>
            <a:ext cx="11057839" cy="689457"/>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678070"/>
            <a:ext cx="658368" cy="689457"/>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678070"/>
            <a:ext cx="658368" cy="689457"/>
          </a:xfrm>
          <a:prstGeom prst="rect">
            <a:avLst/>
          </a:prstGeom>
          <a:noFill/>
        </p:spPr>
        <p:txBody>
          <a:bodyPr wrap="square" lIns="0" rIns="0" tIns="0" bIns="0" anchor="ctr">
            <a:spAutoFit/>
          </a:bodyPr>
          <a:lstStyle/>
          <a:p>
            <a:pPr algn="ctr">
              <a:lnSpc>
                <a:spcPct val="100000"/>
              </a:lnSpc>
              <a:buNone/>
            </a:pPr>
            <a:r>
              <a:rPr sz="1950" b="1">
                <a:solidFill>
                  <a:srgbClr val="00A9CE"/>
                </a:solidFill>
                <a:latin typeface="Segoe UI Semibold"/>
              </a:rPr>
              <a:t>5</a:t>
            </a:r>
          </a:p>
        </p:txBody>
      </p:sp>
      <p:sp>
        <p:nvSpPr>
          <p:cNvPr id="32" name="TextBox 31"/>
          <p:cNvSpPr txBox="1"/>
          <p:nvPr/>
        </p:nvSpPr>
        <p:spPr>
          <a:xfrm>
            <a:off x="1435608" y="4769510"/>
            <a:ext cx="9869119" cy="274320"/>
          </a:xfrm>
          <a:prstGeom prst="rect">
            <a:avLst/>
          </a:prstGeom>
          <a:noFill/>
        </p:spPr>
        <p:txBody>
          <a:bodyPr wrap="square" lIns="0" rIns="0" tIns="0" bIns="0" anchor="t">
            <a:spAutoFit/>
          </a:bodyPr>
          <a:lstStyle/>
          <a:p>
            <a:pPr algn="l">
              <a:lnSpc>
                <a:spcPct val="100000"/>
              </a:lnSpc>
              <a:buNone/>
            </a:pPr>
            <a:r>
              <a:rPr sz="1350" b="1">
                <a:solidFill>
                  <a:srgbClr val="0B2545"/>
                </a:solidFill>
                <a:latin typeface="Segoe UI Semibold"/>
              </a:rPr>
              <a:t>Procedimiento de sustitución probado</a:t>
            </a:r>
          </a:p>
        </p:txBody>
      </p:sp>
      <p:sp>
        <p:nvSpPr>
          <p:cNvPr id="33" name="TextBox 32"/>
          <p:cNvSpPr txBox="1"/>
          <p:nvPr/>
        </p:nvSpPr>
        <p:spPr>
          <a:xfrm>
            <a:off x="1435608" y="5019827"/>
            <a:ext cx="9869119" cy="347700"/>
          </a:xfrm>
          <a:prstGeom prst="rect">
            <a:avLst/>
          </a:prstGeom>
          <a:noFill/>
        </p:spPr>
        <p:txBody>
          <a:bodyPr wrap="square" lIns="0" rIns="0" tIns="0" bIns="0" anchor="t">
            <a:spAutoFit/>
          </a:bodyPr>
          <a:lstStyle/>
          <a:p>
            <a:pPr algn="l">
              <a:lnSpc>
                <a:spcPct val="105000"/>
              </a:lnSpc>
              <a:buNone/>
            </a:pPr>
            <a:r>
              <a:rPr sz="1150" b="0">
                <a:solidFill>
                  <a:srgbClr val="3A4654"/>
                </a:solidFill>
                <a:latin typeface="Segoe UI"/>
              </a:rPr>
              <a:t>Cargar parámetros en el drive nuevo, ejecutar </a:t>
            </a:r>
            <a:r>
              <a:rPr sz="1150" b="0">
                <a:solidFill>
                  <a:srgbClr val="3A4654"/>
                </a:solidFill>
                <a:latin typeface="Consolas"/>
              </a:rPr>
              <a:t>Fn008</a:t>
            </a:r>
            <a:r>
              <a:rPr sz="1150" b="0">
                <a:solidFill>
                  <a:srgbClr val="3A4654"/>
                </a:solidFill>
                <a:latin typeface="Segoe UI"/>
              </a:rPr>
              <a:t> si el encoder es absoluto, rehacer origen y verificar el ciclo.</a:t>
            </a:r>
          </a:p>
        </p:txBody>
      </p:sp>
      <p:sp>
        <p:nvSpPr>
          <p:cNvPr id="34" name="Rectangle 33"/>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Detalle que se olvida siempre</a:t>
            </a:r>
          </a:p>
        </p:txBody>
      </p:sp>
      <p:sp>
        <p:nvSpPr>
          <p:cNvPr id="37" name="TextBox 3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fichero de parámetros </a:t>
            </a:r>
            <a:r>
              <a:rPr sz="1150" b="1">
                <a:solidFill>
                  <a:srgbClr val="2B3644"/>
                </a:solidFill>
                <a:latin typeface="Segoe UI"/>
              </a:rPr>
              <a:t>no</a:t>
            </a:r>
            <a:r>
              <a:rPr sz="1150" b="0">
                <a:solidFill>
                  <a:srgbClr val="2B3644"/>
                </a:solidFill>
                <a:latin typeface="Segoe UI"/>
              </a:rPr>
              <a:t> contiene el origen de la máquina ni la posición absoluta del encoder. Tras sustituir un drive o un motor, hay que rehacer el origen aunque los parámetros sean idénticos.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08</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Puesta en marcha paso a paso</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 filosofía: avanzar por fases, sin saltarse ninguna</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Primer energizado y verificación del amplificador</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Prueba de JOG sin carga: el momento de la verdad</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Sentido de giro, límites y señales de estado</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Encoder absoluto y establecimiento del origen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Acoplar la carga, probar el ciclo y documentar</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5 h (con equipo)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método: seis fases, sin saltos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Cada fase se supera antes de empezar la siguiente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79</a:t>
            </a:r>
          </a:p>
        </p:txBody>
      </p:sp>
      <p:sp>
        <p:nvSpPr>
          <p:cNvPr id="9" name="Rectangle 8"/>
          <p:cNvSpPr/>
          <p:nvPr/>
        </p:nvSpPr>
        <p:spPr>
          <a:xfrm>
            <a:off x="566928" y="2057400"/>
            <a:ext cx="1691640" cy="1920240"/>
          </a:xfrm>
          <a:prstGeom prst="rect">
            <a:avLst/>
          </a:prstGeom>
          <a:solidFill>
            <a:srgbClr val="F2F5F8"/>
          </a:solidFill>
          <a:ln w="19050">
            <a:solidFill>
              <a:srgbClr val="5A6B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2057400"/>
            <a:ext cx="1691640" cy="475488"/>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0</a:t>
            </a:r>
          </a:p>
        </p:txBody>
      </p:sp>
      <p:sp>
        <p:nvSpPr>
          <p:cNvPr id="12" name="TextBox 11"/>
          <p:cNvSpPr txBox="1"/>
          <p:nvPr/>
        </p:nvSpPr>
        <p:spPr>
          <a:xfrm>
            <a:off x="658368"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5A6B7B"/>
                </a:solidFill>
                <a:latin typeface="Segoe UI"/>
              </a:rPr>
              <a:t>VERIFICAR</a:t>
            </a:r>
          </a:p>
        </p:txBody>
      </p:sp>
      <p:sp>
        <p:nvSpPr>
          <p:cNvPr id="13" name="TextBox 12"/>
          <p:cNvSpPr txBox="1"/>
          <p:nvPr/>
        </p:nvSpPr>
        <p:spPr>
          <a:xfrm>
            <a:off x="658368"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Lista de comprobación</a:t>
            </a:r>
          </a:p>
          <a:p>
            <a:pPr algn="ctr">
              <a:lnSpc>
                <a:spcPct val="110000"/>
              </a:lnSpc>
              <a:buNone/>
            </a:pPr>
            <a:r>
              <a:rPr sz="1000" b="0">
                <a:solidFill>
                  <a:srgbClr val="5A6B7B"/>
                </a:solidFill>
                <a:latin typeface="Segoe UI"/>
              </a:rPr>
              <a:t>de instalación</a:t>
            </a:r>
          </a:p>
        </p:txBody>
      </p:sp>
      <p:sp>
        <p:nvSpPr>
          <p:cNvPr id="14" name="Right Arrow 13"/>
          <p:cNvSpPr/>
          <p:nvPr/>
        </p:nvSpPr>
        <p:spPr>
          <a:xfrm>
            <a:off x="2276856"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432304" y="2057400"/>
            <a:ext cx="1691640" cy="1920240"/>
          </a:xfrm>
          <a:prstGeom prst="rect">
            <a:avLst/>
          </a:prstGeom>
          <a:solidFill>
            <a:srgbClr val="F2F5F8"/>
          </a:solidFill>
          <a:ln w="19050">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432304" y="2057400"/>
            <a:ext cx="1691640" cy="47548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32304"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1</a:t>
            </a:r>
          </a:p>
        </p:txBody>
      </p:sp>
      <p:sp>
        <p:nvSpPr>
          <p:cNvPr id="18" name="TextBox 17"/>
          <p:cNvSpPr txBox="1"/>
          <p:nvPr/>
        </p:nvSpPr>
        <p:spPr>
          <a:xfrm>
            <a:off x="2523744"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0B2545"/>
                </a:solidFill>
                <a:latin typeface="Segoe UI"/>
              </a:rPr>
              <a:t>ENERGIZAR</a:t>
            </a:r>
          </a:p>
        </p:txBody>
      </p:sp>
      <p:sp>
        <p:nvSpPr>
          <p:cNvPr id="19" name="TextBox 18"/>
          <p:cNvSpPr txBox="1"/>
          <p:nvPr/>
        </p:nvSpPr>
        <p:spPr>
          <a:xfrm>
            <a:off x="2523744"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Control, potencia</a:t>
            </a:r>
          </a:p>
          <a:p>
            <a:pPr algn="ctr">
              <a:lnSpc>
                <a:spcPct val="110000"/>
              </a:lnSpc>
              <a:buNone/>
            </a:pPr>
            <a:r>
              <a:rPr sz="1000" b="0">
                <a:solidFill>
                  <a:srgbClr val="5A6B7B"/>
                </a:solidFill>
                <a:latin typeface="Segoe UI"/>
              </a:rPr>
              <a:t>y estado del drive</a:t>
            </a:r>
          </a:p>
        </p:txBody>
      </p:sp>
      <p:sp>
        <p:nvSpPr>
          <p:cNvPr id="20" name="Right Arrow 19"/>
          <p:cNvSpPr/>
          <p:nvPr/>
        </p:nvSpPr>
        <p:spPr>
          <a:xfrm>
            <a:off x="4142232"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297680" y="2057400"/>
            <a:ext cx="1691640" cy="1920240"/>
          </a:xfrm>
          <a:prstGeom prst="rect">
            <a:avLst/>
          </a:prstGeom>
          <a:solidFill>
            <a:srgbClr val="F2F5F8"/>
          </a:solidFill>
          <a:ln w="19050">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297680" y="2057400"/>
            <a:ext cx="1691640" cy="475488"/>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297680"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2</a:t>
            </a:r>
          </a:p>
        </p:txBody>
      </p:sp>
      <p:sp>
        <p:nvSpPr>
          <p:cNvPr id="24" name="TextBox 23"/>
          <p:cNvSpPr txBox="1"/>
          <p:nvPr/>
        </p:nvSpPr>
        <p:spPr>
          <a:xfrm>
            <a:off x="4389120"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1B5EA8"/>
                </a:solidFill>
                <a:latin typeface="Segoe UI"/>
              </a:rPr>
              <a:t>JOG SIN CARGA</a:t>
            </a:r>
          </a:p>
        </p:txBody>
      </p:sp>
      <p:sp>
        <p:nvSpPr>
          <p:cNvPr id="25" name="TextBox 24"/>
          <p:cNvSpPr txBox="1"/>
          <p:nvPr/>
        </p:nvSpPr>
        <p:spPr>
          <a:xfrm>
            <a:off x="4389120"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El motor gira</a:t>
            </a:r>
          </a:p>
          <a:p>
            <a:pPr algn="ctr">
              <a:lnSpc>
                <a:spcPct val="110000"/>
              </a:lnSpc>
              <a:buNone/>
            </a:pPr>
            <a:r>
              <a:rPr sz="1000" b="0">
                <a:solidFill>
                  <a:srgbClr val="5A6B7B"/>
                </a:solidFill>
                <a:latin typeface="Segoe UI"/>
              </a:rPr>
              <a:t>suave y silencioso</a:t>
            </a:r>
          </a:p>
        </p:txBody>
      </p:sp>
      <p:sp>
        <p:nvSpPr>
          <p:cNvPr id="26" name="Right Arrow 25"/>
          <p:cNvSpPr/>
          <p:nvPr/>
        </p:nvSpPr>
        <p:spPr>
          <a:xfrm>
            <a:off x="6007608"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057400"/>
            <a:ext cx="1691640" cy="1920240"/>
          </a:xfrm>
          <a:prstGeom prst="rect">
            <a:avLst/>
          </a:prstGeom>
          <a:solidFill>
            <a:srgbClr val="F2F5F8"/>
          </a:solidFill>
          <a:ln w="1905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163056" y="2057400"/>
            <a:ext cx="1691640" cy="47548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63056"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3</a:t>
            </a:r>
          </a:p>
        </p:txBody>
      </p:sp>
      <p:sp>
        <p:nvSpPr>
          <p:cNvPr id="30" name="TextBox 29"/>
          <p:cNvSpPr txBox="1"/>
          <p:nvPr/>
        </p:nvSpPr>
        <p:spPr>
          <a:xfrm>
            <a:off x="6254496"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00A9CE"/>
                </a:solidFill>
                <a:latin typeface="Segoe UI"/>
              </a:rPr>
              <a:t>CONFIGURAR</a:t>
            </a:r>
          </a:p>
        </p:txBody>
      </p:sp>
      <p:sp>
        <p:nvSpPr>
          <p:cNvPr id="31" name="TextBox 30"/>
          <p:cNvSpPr txBox="1"/>
          <p:nvPr/>
        </p:nvSpPr>
        <p:spPr>
          <a:xfrm>
            <a:off x="6254496"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Modo, engranaje,</a:t>
            </a:r>
          </a:p>
          <a:p>
            <a:pPr algn="ctr">
              <a:lnSpc>
                <a:spcPct val="110000"/>
              </a:lnSpc>
              <a:buNone/>
            </a:pPr>
            <a:r>
              <a:rPr sz="1000" b="0">
                <a:solidFill>
                  <a:srgbClr val="5A6B7B"/>
                </a:solidFill>
                <a:latin typeface="Segoe UI"/>
              </a:rPr>
              <a:t>E/S y límites</a:t>
            </a:r>
          </a:p>
        </p:txBody>
      </p:sp>
      <p:sp>
        <p:nvSpPr>
          <p:cNvPr id="32" name="Right Arrow 31"/>
          <p:cNvSpPr/>
          <p:nvPr/>
        </p:nvSpPr>
        <p:spPr>
          <a:xfrm>
            <a:off x="7872984"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8028432" y="2057400"/>
            <a:ext cx="1691640" cy="1920240"/>
          </a:xfrm>
          <a:prstGeom prst="rect">
            <a:avLst/>
          </a:prstGeom>
          <a:solidFill>
            <a:srgbClr val="F2F5F8"/>
          </a:solidFill>
          <a:ln w="1905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8028432" y="2057400"/>
            <a:ext cx="1691640" cy="4754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28432"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4</a:t>
            </a:r>
          </a:p>
        </p:txBody>
      </p:sp>
      <p:sp>
        <p:nvSpPr>
          <p:cNvPr id="36" name="TextBox 35"/>
          <p:cNvSpPr txBox="1"/>
          <p:nvPr/>
        </p:nvSpPr>
        <p:spPr>
          <a:xfrm>
            <a:off x="8119872"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2E8B57"/>
                </a:solidFill>
                <a:latin typeface="Segoe UI"/>
              </a:rPr>
              <a:t>ORIGEN</a:t>
            </a:r>
          </a:p>
        </p:txBody>
      </p:sp>
      <p:sp>
        <p:nvSpPr>
          <p:cNvPr id="37" name="TextBox 36"/>
          <p:cNvSpPr txBox="1"/>
          <p:nvPr/>
        </p:nvSpPr>
        <p:spPr>
          <a:xfrm>
            <a:off x="8119872"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Encoder absoluto</a:t>
            </a:r>
          </a:p>
          <a:p>
            <a:pPr algn="ctr">
              <a:lnSpc>
                <a:spcPct val="110000"/>
              </a:lnSpc>
              <a:buNone/>
            </a:pPr>
            <a:r>
              <a:rPr sz="1000" b="0">
                <a:solidFill>
                  <a:srgbClr val="5A6B7B"/>
                </a:solidFill>
                <a:latin typeface="Segoe UI"/>
              </a:rPr>
              <a:t>y cero de máquina</a:t>
            </a:r>
          </a:p>
        </p:txBody>
      </p:sp>
      <p:sp>
        <p:nvSpPr>
          <p:cNvPr id="38" name="Right Arrow 37"/>
          <p:cNvSpPr/>
          <p:nvPr/>
        </p:nvSpPr>
        <p:spPr>
          <a:xfrm>
            <a:off x="9738360" y="2944368"/>
            <a:ext cx="137160" cy="146304"/>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893808" y="2057400"/>
            <a:ext cx="1691640" cy="1920240"/>
          </a:xfrm>
          <a:prstGeom prst="rect">
            <a:avLst/>
          </a:prstGeom>
          <a:solidFill>
            <a:srgbClr val="F2F5F8"/>
          </a:solidFill>
          <a:ln w="19050">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9893808" y="2057400"/>
            <a:ext cx="1691640" cy="47548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893808" y="2167128"/>
            <a:ext cx="1691640" cy="274320"/>
          </a:xfrm>
          <a:prstGeom prst="rect">
            <a:avLst/>
          </a:prstGeom>
          <a:noFill/>
        </p:spPr>
        <p:txBody>
          <a:bodyPr wrap="square" lIns="0" rIns="0" tIns="0" bIns="0" anchor="t">
            <a:spAutoFit/>
          </a:bodyPr>
          <a:lstStyle/>
          <a:p>
            <a:pPr algn="ctr">
              <a:lnSpc>
                <a:spcPct val="100000"/>
              </a:lnSpc>
              <a:buNone/>
            </a:pPr>
            <a:r>
              <a:rPr sz="1100" b="1">
                <a:solidFill>
                  <a:srgbClr val="FFFFFF"/>
                </a:solidFill>
                <a:latin typeface="Segoe UI"/>
              </a:rPr>
              <a:t>FASE 5</a:t>
            </a:r>
          </a:p>
        </p:txBody>
      </p:sp>
      <p:sp>
        <p:nvSpPr>
          <p:cNvPr id="42" name="TextBox 41"/>
          <p:cNvSpPr txBox="1"/>
          <p:nvPr/>
        </p:nvSpPr>
        <p:spPr>
          <a:xfrm>
            <a:off x="9985248" y="2715768"/>
            <a:ext cx="1508760" cy="365760"/>
          </a:xfrm>
          <a:prstGeom prst="rect">
            <a:avLst/>
          </a:prstGeom>
          <a:noFill/>
        </p:spPr>
        <p:txBody>
          <a:bodyPr wrap="square" lIns="0" rIns="0" tIns="0" bIns="0" anchor="t">
            <a:spAutoFit/>
          </a:bodyPr>
          <a:lstStyle/>
          <a:p>
            <a:pPr algn="ctr">
              <a:lnSpc>
                <a:spcPct val="100000"/>
              </a:lnSpc>
              <a:buNone/>
            </a:pPr>
            <a:r>
              <a:rPr sz="1200" b="1">
                <a:solidFill>
                  <a:srgbClr val="E89B1F"/>
                </a:solidFill>
                <a:latin typeface="Segoe UI"/>
              </a:rPr>
              <a:t>CARGA Y CICLO</a:t>
            </a:r>
          </a:p>
        </p:txBody>
      </p:sp>
      <p:sp>
        <p:nvSpPr>
          <p:cNvPr id="43" name="TextBox 42"/>
          <p:cNvSpPr txBox="1"/>
          <p:nvPr/>
        </p:nvSpPr>
        <p:spPr>
          <a:xfrm>
            <a:off x="9985248" y="3136392"/>
            <a:ext cx="1508760" cy="731520"/>
          </a:xfrm>
          <a:prstGeom prst="rect">
            <a:avLst/>
          </a:prstGeom>
          <a:noFill/>
        </p:spPr>
        <p:txBody>
          <a:bodyPr wrap="square" lIns="0" rIns="0" tIns="0" bIns="0" anchor="t">
            <a:spAutoFit/>
          </a:bodyPr>
          <a:lstStyle/>
          <a:p>
            <a:pPr algn="ctr">
              <a:lnSpc>
                <a:spcPct val="110000"/>
              </a:lnSpc>
              <a:buNone/>
            </a:pPr>
            <a:r>
              <a:rPr sz="1000" b="0">
                <a:solidFill>
                  <a:srgbClr val="5A6B7B"/>
                </a:solidFill>
                <a:latin typeface="Segoe UI"/>
              </a:rPr>
              <a:t>Autoajuste y</a:t>
            </a:r>
          </a:p>
          <a:p>
            <a:pPr algn="ctr">
              <a:lnSpc>
                <a:spcPct val="110000"/>
              </a:lnSpc>
              <a:buNone/>
            </a:pPr>
            <a:r>
              <a:rPr sz="1000" b="0">
                <a:solidFill>
                  <a:srgbClr val="5A6B7B"/>
                </a:solidFill>
                <a:latin typeface="Segoe UI"/>
              </a:rPr>
              <a:t>producción real</a:t>
            </a:r>
          </a:p>
        </p:txBody>
      </p:sp>
      <p:sp>
        <p:nvSpPr>
          <p:cNvPr id="44" name="Rectangle 43"/>
          <p:cNvSpPr/>
          <p:nvPr/>
        </p:nvSpPr>
        <p:spPr>
          <a:xfrm>
            <a:off x="566928" y="4315968"/>
            <a:ext cx="11064240"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4315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4453128"/>
            <a:ext cx="10561320"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La regla que hace que este método funcione</a:t>
            </a:r>
          </a:p>
        </p:txBody>
      </p:sp>
      <p:sp>
        <p:nvSpPr>
          <p:cNvPr id="47" name="TextBox 46"/>
          <p:cNvSpPr txBox="1"/>
          <p:nvPr/>
        </p:nvSpPr>
        <p:spPr>
          <a:xfrm>
            <a:off x="841248" y="4727448"/>
            <a:ext cx="10561320"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cambio cada vez. Si modificas tres cosas y el eje empieza a comportarse mal, no sabrás cuál ha sido. Y si el eje mejora, tampoco sabrás por qué.</a:t>
            </a:r>
          </a:p>
        </p:txBody>
      </p:sp>
      <p:sp>
        <p:nvSpPr>
          <p:cNvPr id="48" name="Rectangle 47"/>
          <p:cNvSpPr/>
          <p:nvPr/>
        </p:nvSpPr>
        <p:spPr>
          <a:xfrm>
            <a:off x="566928" y="5376672"/>
            <a:ext cx="11064240" cy="932688"/>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566928" y="5376672"/>
            <a:ext cx="68580" cy="93268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41248" y="5513832"/>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Condiciones de seguridad durante toda la puesta en marcha</a:t>
            </a:r>
          </a:p>
        </p:txBody>
      </p:sp>
      <p:sp>
        <p:nvSpPr>
          <p:cNvPr id="51" name="TextBox 50"/>
          <p:cNvSpPr txBox="1"/>
          <p:nvPr/>
        </p:nvSpPr>
        <p:spPr>
          <a:xfrm>
            <a:off x="841248" y="5788152"/>
            <a:ext cx="10561320" cy="429768"/>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Zona despejada y señalizada · Parada de emergencia accesible y probada · Velocidades reducidas hasta validar el comportamiento · Nadie en el recorrido del eje · Chavetas y herramientas retiradas del eje del motor.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1 — Primer energizado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Objetivo: comprobar que el amplificador está sano antes de mover nada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80</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Con el motor </a:t>
            </a:r>
            <a:r>
              <a:rPr sz="1100" b="1">
                <a:solidFill>
                  <a:srgbClr val="0B2545"/>
                </a:solidFill>
                <a:latin typeface="Segoe UI Semibold"/>
              </a:rPr>
              <a:t>desacoplado</a:t>
            </a:r>
            <a:r>
              <a:rPr sz="1100" b="1">
                <a:solidFill>
                  <a:srgbClr val="0B2545"/>
                </a:solidFill>
                <a:latin typeface="Segoe UI Semibold"/>
              </a:rPr>
              <a:t> de la máquina</a:t>
            </a:r>
          </a:p>
        </p:txBody>
      </p:sp>
      <p:sp>
        <p:nvSpPr>
          <p:cNvPr id="13" name="TextBox 12"/>
          <p:cNvSpPr txBox="1"/>
          <p:nvPr/>
        </p:nvSpPr>
        <p:spPr>
          <a:xfrm>
            <a:off x="1435608" y="178181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Si no se puede desacoplar, asegura el eje mecánicamente y despeja la zona. Nunca hagas la primera prueba con la máquina cargada.</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2</a:t>
            </a:r>
          </a:p>
        </p:txBody>
      </p:sp>
      <p:sp>
        <p:nvSpPr>
          <p:cNvPr id="17" name="TextBox 16"/>
          <p:cNvSpPr txBox="1"/>
          <p:nvPr/>
        </p:nvSpPr>
        <p:spPr>
          <a:xfrm>
            <a:off x="1435608" y="2238756"/>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Conectar sólo la alimentación de </a:t>
            </a:r>
            <a:r>
              <a:rPr sz="1100" b="1">
                <a:solidFill>
                  <a:srgbClr val="0B2545"/>
                </a:solidFill>
                <a:latin typeface="Segoe UI Semibold"/>
              </a:rPr>
              <a:t>control</a:t>
            </a:r>
            <a:r>
              <a:rPr sz="1100" b="1">
                <a:solidFill>
                  <a:srgbClr val="0B2545"/>
                </a:solidFill>
                <a:latin typeface="Segoe UI Semibold"/>
              </a:rPr>
              <a:t> </a:t>
            </a:r>
            <a:r>
              <a:rPr sz="1100" b="1">
                <a:solidFill>
                  <a:srgbClr val="0B2545"/>
                </a:solidFill>
                <a:latin typeface="Consolas"/>
              </a:rPr>
              <a:t>L1C</a:t>
            </a:r>
            <a:r>
              <a:rPr sz="1100" b="1">
                <a:solidFill>
                  <a:srgbClr val="0B2545"/>
                </a:solidFill>
                <a:latin typeface="Segoe UI Semibold"/>
              </a:rPr>
              <a:t> </a:t>
            </a:r>
            <a:r>
              <a:rPr sz="1100" b="1">
                <a:solidFill>
                  <a:srgbClr val="0B2545"/>
                </a:solidFill>
                <a:latin typeface="Consolas"/>
              </a:rPr>
              <a:t>L2C</a:t>
            </a:r>
          </a:p>
        </p:txBody>
      </p:sp>
      <p:sp>
        <p:nvSpPr>
          <p:cNvPr id="18" name="TextBox 17"/>
          <p:cNvSpPr txBox="1"/>
          <p:nvPr/>
        </p:nvSpPr>
        <p:spPr>
          <a:xfrm>
            <a:off x="1435608" y="2447798"/>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El display se enciende. Comprueba que no aparece ninguna alarma y anota la versión de firmware.</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3</a:t>
            </a:r>
          </a:p>
        </p:txBody>
      </p:sp>
      <p:sp>
        <p:nvSpPr>
          <p:cNvPr id="22" name="TextBox 21"/>
          <p:cNvSpPr txBox="1"/>
          <p:nvPr/>
        </p:nvSpPr>
        <p:spPr>
          <a:xfrm>
            <a:off x="1435608" y="2904744"/>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Verificar la identificación del motor</a:t>
            </a:r>
          </a:p>
        </p:txBody>
      </p:sp>
      <p:sp>
        <p:nvSpPr>
          <p:cNvPr id="23" name="TextBox 22"/>
          <p:cNvSpPr txBox="1"/>
          <p:nvPr/>
        </p:nvSpPr>
        <p:spPr>
          <a:xfrm>
            <a:off x="1435608" y="3113786"/>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El drive lee el motor por el encoder. Si la combinación no es válida, aparece una alarma de combinación (familia </a:t>
            </a:r>
            <a:r>
              <a:rPr sz="900" b="0">
                <a:solidFill>
                  <a:srgbClr val="3A4654"/>
                </a:solidFill>
                <a:latin typeface="Consolas"/>
              </a:rPr>
              <a:t>A.05_</a:t>
            </a:r>
            <a:r>
              <a:rPr sz="900" b="0">
                <a:solidFill>
                  <a:srgbClr val="3A4654"/>
                </a:solidFill>
                <a:latin typeface="Segoe UI"/>
              </a:rPr>
              <a:t>).</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4</a:t>
            </a:r>
          </a:p>
        </p:txBody>
      </p:sp>
      <p:sp>
        <p:nvSpPr>
          <p:cNvPr id="27" name="TextBox 26"/>
          <p:cNvSpPr txBox="1"/>
          <p:nvPr/>
        </p:nvSpPr>
        <p:spPr>
          <a:xfrm>
            <a:off x="1435608" y="3570732"/>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Conectar la alimentación de </a:t>
            </a:r>
            <a:r>
              <a:rPr sz="1100" b="1">
                <a:solidFill>
                  <a:srgbClr val="0B2545"/>
                </a:solidFill>
                <a:latin typeface="Segoe UI Semibold"/>
              </a:rPr>
              <a:t>potencia</a:t>
            </a:r>
            <a:r>
              <a:rPr sz="1100" b="1">
                <a:solidFill>
                  <a:srgbClr val="0B2545"/>
                </a:solidFill>
                <a:latin typeface="Segoe UI Semibold"/>
              </a:rPr>
              <a:t> </a:t>
            </a:r>
            <a:r>
              <a:rPr sz="1100" b="1">
                <a:solidFill>
                  <a:srgbClr val="0B2545"/>
                </a:solidFill>
                <a:latin typeface="Consolas"/>
              </a:rPr>
              <a:t>L1</a:t>
            </a:r>
            <a:r>
              <a:rPr sz="1100" b="1">
                <a:solidFill>
                  <a:srgbClr val="0B2545"/>
                </a:solidFill>
                <a:latin typeface="Segoe UI Semibold"/>
              </a:rPr>
              <a:t> </a:t>
            </a:r>
            <a:r>
              <a:rPr sz="1100" b="1">
                <a:solidFill>
                  <a:srgbClr val="0B2545"/>
                </a:solidFill>
                <a:latin typeface="Consolas"/>
              </a:rPr>
              <a:t>L2</a:t>
            </a:r>
            <a:r>
              <a:rPr sz="1100" b="1">
                <a:solidFill>
                  <a:srgbClr val="0B2545"/>
                </a:solidFill>
                <a:latin typeface="Segoe UI Semibold"/>
              </a:rPr>
              <a:t> </a:t>
            </a:r>
            <a:r>
              <a:rPr sz="1100" b="1">
                <a:solidFill>
                  <a:srgbClr val="0B2545"/>
                </a:solidFill>
                <a:latin typeface="Consolas"/>
              </a:rPr>
              <a:t>L3</a:t>
            </a:r>
          </a:p>
        </p:txBody>
      </p:sp>
      <p:sp>
        <p:nvSpPr>
          <p:cNvPr id="28" name="TextBox 27"/>
          <p:cNvSpPr txBox="1"/>
          <p:nvPr/>
        </p:nvSpPr>
        <p:spPr>
          <a:xfrm>
            <a:off x="1435608" y="3779774"/>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Comprueba la tensión entre fases antes y verifica que el LED CHARGE se enciende. </a:t>
            </a:r>
            <a:r>
              <a:rPr sz="900" b="0">
                <a:solidFill>
                  <a:srgbClr val="3A4654"/>
                </a:solidFill>
                <a:latin typeface="Consolas"/>
              </a:rPr>
              <a:t>A.F10</a:t>
            </a:r>
            <a:r>
              <a:rPr sz="900" b="0">
                <a:solidFill>
                  <a:srgbClr val="3A4654"/>
                </a:solidFill>
                <a:latin typeface="Segoe UI"/>
              </a:rPr>
              <a:t> indica falta de fase.</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5</a:t>
            </a:r>
          </a:p>
        </p:txBody>
      </p:sp>
      <p:sp>
        <p:nvSpPr>
          <p:cNvPr id="32" name="TextBox 31"/>
          <p:cNvSpPr txBox="1"/>
          <p:nvPr/>
        </p:nvSpPr>
        <p:spPr>
          <a:xfrm>
            <a:off x="1435608" y="4236720"/>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Comprobar señales de entrada con </a:t>
            </a:r>
            <a:r>
              <a:rPr sz="1100" b="1">
                <a:solidFill>
                  <a:srgbClr val="0B2545"/>
                </a:solidFill>
                <a:latin typeface="Consolas"/>
              </a:rPr>
              <a:t>Un005</a:t>
            </a:r>
          </a:p>
        </p:txBody>
      </p:sp>
      <p:sp>
        <p:nvSpPr>
          <p:cNvPr id="33" name="TextBox 32"/>
          <p:cNvSpPr txBox="1"/>
          <p:nvPr/>
        </p:nvSpPr>
        <p:spPr>
          <a:xfrm>
            <a:off x="1435608" y="4445762"/>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¿Están cerrados </a:t>
            </a:r>
            <a:r>
              <a:rPr sz="900" b="0">
                <a:solidFill>
                  <a:srgbClr val="3A4654"/>
                </a:solidFill>
                <a:latin typeface="Consolas"/>
              </a:rPr>
              <a:t>P-OT</a:t>
            </a:r>
            <a:r>
              <a:rPr sz="900" b="0">
                <a:solidFill>
                  <a:srgbClr val="3A4654"/>
                </a:solidFill>
                <a:latin typeface="Segoe UI"/>
              </a:rPr>
              <a:t> y </a:t>
            </a:r>
            <a:r>
              <a:rPr sz="900" b="0">
                <a:solidFill>
                  <a:srgbClr val="3A4654"/>
                </a:solidFill>
                <a:latin typeface="Consolas"/>
              </a:rPr>
              <a:t>N-OT</a:t>
            </a:r>
            <a:r>
              <a:rPr sz="900" b="0">
                <a:solidFill>
                  <a:srgbClr val="3A4654"/>
                </a:solidFill>
                <a:latin typeface="Segoe UI"/>
              </a:rPr>
              <a:t>? ¿Llega </a:t>
            </a:r>
            <a:r>
              <a:rPr sz="900" b="0">
                <a:solidFill>
                  <a:srgbClr val="3A4654"/>
                </a:solidFill>
                <a:latin typeface="Consolas"/>
              </a:rPr>
              <a:t>/S-ON</a:t>
            </a:r>
            <a:r>
              <a:rPr sz="900" b="0">
                <a:solidFill>
                  <a:srgbClr val="3A4654"/>
                </a:solidFill>
                <a:latin typeface="Segoe UI"/>
              </a:rPr>
              <a:t> cuando el PLC lo activa? Se ve en el monitor sin necesidad de multímetro.</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6</a:t>
            </a:r>
          </a:p>
        </p:txBody>
      </p:sp>
      <p:sp>
        <p:nvSpPr>
          <p:cNvPr id="37" name="TextBox 36"/>
          <p:cNvSpPr txBox="1"/>
          <p:nvPr/>
        </p:nvSpPr>
        <p:spPr>
          <a:xfrm>
            <a:off x="1435608" y="490270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Verificar que </a:t>
            </a:r>
            <a:r>
              <a:rPr sz="1100" b="1">
                <a:solidFill>
                  <a:srgbClr val="0B2545"/>
                </a:solidFill>
                <a:latin typeface="Consolas"/>
              </a:rPr>
              <a:t>/S-RDY</a:t>
            </a:r>
            <a:r>
              <a:rPr sz="1100" b="1">
                <a:solidFill>
                  <a:srgbClr val="0B2545"/>
                </a:solidFill>
                <a:latin typeface="Segoe UI Semibold"/>
              </a:rPr>
              <a:t> se activa</a:t>
            </a:r>
          </a:p>
        </p:txBody>
      </p:sp>
      <p:sp>
        <p:nvSpPr>
          <p:cNvPr id="38" name="TextBox 37"/>
          <p:cNvSpPr txBox="1"/>
          <p:nvPr/>
        </p:nvSpPr>
        <p:spPr>
          <a:xfrm>
            <a:off x="1435608" y="511175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Si el drive no está 'listo', no sigas: hay un problema de alimentación, de seguridad (</a:t>
            </a:r>
            <a:r>
              <a:rPr sz="900" b="0">
                <a:solidFill>
                  <a:srgbClr val="3A4654"/>
                </a:solidFill>
                <a:latin typeface="Consolas"/>
              </a:rPr>
              <a:t>CN8</a:t>
            </a:r>
            <a:r>
              <a:rPr sz="900" b="0">
                <a:solidFill>
                  <a:srgbClr val="3A4654"/>
                </a:solidFill>
                <a:latin typeface="Segoe UI"/>
              </a:rPr>
              <a:t>) o de configuración.</a:t>
            </a:r>
          </a:p>
        </p:txBody>
      </p:sp>
      <p:sp>
        <p:nvSpPr>
          <p:cNvPr id="39" name="Rectangle 38"/>
          <p:cNvSpPr/>
          <p:nvPr/>
        </p:nvSpPr>
        <p:spPr>
          <a:xfrm>
            <a:off x="566928" y="5504688"/>
            <a:ext cx="11057839" cy="82296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Si aparece cualquier alarma en esta fase, párate</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Resuélvela antes de continuar. Avanzar con una alarma 'que se puede resetear' es la forma más rápida de acabar con una avería mayor.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2 — Prueba de JOG sin carga (</a:t>
            </a:r>
            <a:r>
              <a:rPr sz="2500" b="1">
                <a:solidFill>
                  <a:srgbClr val="FFFFFF"/>
                </a:solidFill>
                <a:latin typeface="Consolas"/>
              </a:rPr>
              <a:t>Fn002</a:t>
            </a:r>
            <a:r>
              <a:rPr sz="2500" b="1">
                <a:solidFill>
                  <a:srgbClr val="FFFFFF"/>
                </a:solidFill>
                <a:latin typeface="Segoe UI Semibold"/>
              </a:rPr>
              <a:t>)</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 el motor gira bien aquí, el 60 % del trabajo está hecho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81</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Reducir la velocidad de JOG con </a:t>
            </a:r>
            <a:r>
              <a:rPr sz="1100" b="1">
                <a:solidFill>
                  <a:srgbClr val="0B2545"/>
                </a:solidFill>
                <a:latin typeface="Consolas"/>
              </a:rPr>
              <a:t>Pn304</a:t>
            </a:r>
          </a:p>
        </p:txBody>
      </p:sp>
      <p:sp>
        <p:nvSpPr>
          <p:cNvPr id="13" name="TextBox 12"/>
          <p:cNvSpPr txBox="1"/>
          <p:nvPr/>
        </p:nvSpPr>
        <p:spPr>
          <a:xfrm>
            <a:off x="1435608" y="178181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Ponla en 50-100 rpm para la primera prueba. La velocidad de fábrica puede ser demasiado alta para un primer arranque.</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2</a:t>
            </a:r>
          </a:p>
        </p:txBody>
      </p:sp>
      <p:sp>
        <p:nvSpPr>
          <p:cNvPr id="17" name="TextBox 16"/>
          <p:cNvSpPr txBox="1"/>
          <p:nvPr/>
        </p:nvSpPr>
        <p:spPr>
          <a:xfrm>
            <a:off x="1435608" y="2238756"/>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Entrar en la función </a:t>
            </a:r>
            <a:r>
              <a:rPr sz="1100" b="1">
                <a:solidFill>
                  <a:srgbClr val="0B2545"/>
                </a:solidFill>
                <a:latin typeface="Consolas"/>
              </a:rPr>
              <a:t>Fn002</a:t>
            </a:r>
            <a:r>
              <a:rPr sz="1100" b="1">
                <a:solidFill>
                  <a:srgbClr val="0B2545"/>
                </a:solidFill>
                <a:latin typeface="Segoe UI Semibold"/>
              </a:rPr>
              <a:t> desde el panel o SigmaWin+</a:t>
            </a:r>
          </a:p>
        </p:txBody>
      </p:sp>
      <p:sp>
        <p:nvSpPr>
          <p:cNvPr id="18" name="TextBox 17"/>
          <p:cNvSpPr txBox="1"/>
          <p:nvPr/>
        </p:nvSpPr>
        <p:spPr>
          <a:xfrm>
            <a:off x="1435608" y="2447798"/>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En modo JOG el drive ignora la consigna externa: el movimiento lo controlas tú. Es el modo más seguro para la primera prueba.</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3</a:t>
            </a:r>
          </a:p>
        </p:txBody>
      </p:sp>
      <p:sp>
        <p:nvSpPr>
          <p:cNvPr id="22" name="TextBox 21"/>
          <p:cNvSpPr txBox="1"/>
          <p:nvPr/>
        </p:nvSpPr>
        <p:spPr>
          <a:xfrm>
            <a:off x="1435608" y="2904744"/>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Activar el servo y girar en sentido positivo</a:t>
            </a:r>
          </a:p>
        </p:txBody>
      </p:sp>
      <p:sp>
        <p:nvSpPr>
          <p:cNvPr id="23" name="TextBox 22"/>
          <p:cNvSpPr txBox="1"/>
          <p:nvPr/>
        </p:nvSpPr>
        <p:spPr>
          <a:xfrm>
            <a:off x="1435608" y="3113786"/>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El motor debe girar suave, sin ruido anómalo, sin vibración y sin tirones. Observa y </a:t>
            </a:r>
            <a:r>
              <a:rPr sz="900" b="1">
                <a:solidFill>
                  <a:srgbClr val="3A4654"/>
                </a:solidFill>
                <a:latin typeface="Segoe UI"/>
              </a:rPr>
              <a:t>escucha</a:t>
            </a:r>
            <a:r>
              <a:rPr sz="900" b="0">
                <a:solidFill>
                  <a:srgbClr val="3A4654"/>
                </a:solidFill>
                <a:latin typeface="Segoe UI"/>
              </a:rPr>
              <a:t>.</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4</a:t>
            </a:r>
          </a:p>
        </p:txBody>
      </p:sp>
      <p:sp>
        <p:nvSpPr>
          <p:cNvPr id="27" name="TextBox 26"/>
          <p:cNvSpPr txBox="1"/>
          <p:nvPr/>
        </p:nvSpPr>
        <p:spPr>
          <a:xfrm>
            <a:off x="1435608" y="3570732"/>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Girar en sentido negativo y comparar</a:t>
            </a:r>
          </a:p>
        </p:txBody>
      </p:sp>
      <p:sp>
        <p:nvSpPr>
          <p:cNvPr id="28" name="TextBox 27"/>
          <p:cNvSpPr txBox="1"/>
          <p:nvPr/>
        </p:nvSpPr>
        <p:spPr>
          <a:xfrm>
            <a:off x="1435608" y="3779774"/>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El comportamiento debe ser simétrico. Una asimetría clara indica problema mecánico o de fase.</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5</a:t>
            </a:r>
          </a:p>
        </p:txBody>
      </p:sp>
      <p:sp>
        <p:nvSpPr>
          <p:cNvPr id="32" name="TextBox 31"/>
          <p:cNvSpPr txBox="1"/>
          <p:nvPr/>
        </p:nvSpPr>
        <p:spPr>
          <a:xfrm>
            <a:off x="1435608" y="4236720"/>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Comprobar </a:t>
            </a:r>
            <a:r>
              <a:rPr sz="1100" b="1">
                <a:solidFill>
                  <a:srgbClr val="0B2545"/>
                </a:solidFill>
                <a:latin typeface="Consolas"/>
              </a:rPr>
              <a:t>Un000</a:t>
            </a:r>
            <a:r>
              <a:rPr sz="1100" b="1">
                <a:solidFill>
                  <a:srgbClr val="0B2545"/>
                </a:solidFill>
                <a:latin typeface="Segoe UI Semibold"/>
              </a:rPr>
              <a:t> (velocidad) y </a:t>
            </a:r>
            <a:r>
              <a:rPr sz="1100" b="1">
                <a:solidFill>
                  <a:srgbClr val="0B2545"/>
                </a:solidFill>
                <a:latin typeface="Consolas"/>
              </a:rPr>
              <a:t>Un002</a:t>
            </a:r>
            <a:r>
              <a:rPr sz="1100" b="1">
                <a:solidFill>
                  <a:srgbClr val="0B2545"/>
                </a:solidFill>
                <a:latin typeface="Segoe UI Semibold"/>
              </a:rPr>
              <a:t> (par)</a:t>
            </a:r>
          </a:p>
        </p:txBody>
      </p:sp>
      <p:sp>
        <p:nvSpPr>
          <p:cNvPr id="33" name="TextBox 32"/>
          <p:cNvSpPr txBox="1"/>
          <p:nvPr/>
        </p:nvSpPr>
        <p:spPr>
          <a:xfrm>
            <a:off x="1435608" y="4445762"/>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La velocidad debe coincidir con </a:t>
            </a:r>
            <a:r>
              <a:rPr sz="900" b="0">
                <a:solidFill>
                  <a:srgbClr val="3A4654"/>
                </a:solidFill>
                <a:latin typeface="Consolas"/>
              </a:rPr>
              <a:t>Pn304</a:t>
            </a:r>
            <a:r>
              <a:rPr sz="900" b="0">
                <a:solidFill>
                  <a:srgbClr val="3A4654"/>
                </a:solidFill>
                <a:latin typeface="Segoe UI"/>
              </a:rPr>
              <a:t>. Sin carga, el par debe ser muy bajo (unos pocos por ciento). Un par alto en vacío es señal de alarma.</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6</a:t>
            </a:r>
          </a:p>
        </p:txBody>
      </p:sp>
      <p:sp>
        <p:nvSpPr>
          <p:cNvPr id="37" name="TextBox 36"/>
          <p:cNvSpPr txBox="1"/>
          <p:nvPr/>
        </p:nvSpPr>
        <p:spPr>
          <a:xfrm>
            <a:off x="1435608" y="490270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Verificar el sentido de giro respecto a la máquina</a:t>
            </a:r>
          </a:p>
        </p:txBody>
      </p:sp>
      <p:sp>
        <p:nvSpPr>
          <p:cNvPr id="38" name="TextBox 37"/>
          <p:cNvSpPr txBox="1"/>
          <p:nvPr/>
        </p:nvSpPr>
        <p:spPr>
          <a:xfrm>
            <a:off x="1435608" y="511175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Si es el contrario del deseado, cámbialo con </a:t>
            </a:r>
            <a:r>
              <a:rPr sz="900" b="0">
                <a:solidFill>
                  <a:srgbClr val="3A4654"/>
                </a:solidFill>
                <a:latin typeface="Consolas"/>
              </a:rPr>
              <a:t>Pn000.0</a:t>
            </a:r>
            <a:r>
              <a:rPr sz="900" b="0">
                <a:solidFill>
                  <a:srgbClr val="3A4654"/>
                </a:solidFill>
                <a:latin typeface="Segoe UI"/>
              </a:rPr>
              <a:t>. </a:t>
            </a:r>
            <a:r>
              <a:rPr sz="900" b="1">
                <a:solidFill>
                  <a:srgbClr val="3A4654"/>
                </a:solidFill>
                <a:latin typeface="Segoe UI"/>
              </a:rPr>
              <a:t>Nunca</a:t>
            </a:r>
            <a:r>
              <a:rPr sz="900" b="0">
                <a:solidFill>
                  <a:srgbClr val="3A4654"/>
                </a:solidFill>
                <a:latin typeface="Segoe UI"/>
              </a:rPr>
              <a:t> intercambiando fases del motor.</a:t>
            </a:r>
          </a:p>
        </p:txBody>
      </p:sp>
      <p:sp>
        <p:nvSpPr>
          <p:cNvPr id="39" name="Rectangle 38"/>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Qué observar además de los números</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Ruido metálico o zumbido agudo (posible resonancia o ganancia excesiva), vibración a baja velocidad (posible problema de acoplamiento o de encoder) y calentamiento anómalo tras unos minutos.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3 — Configuración básica del eje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Ahora el drive ya sabe qué máquina tiene delante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82</a:t>
            </a:r>
          </a:p>
        </p:txBody>
      </p:sp>
      <p:sp>
        <p:nvSpPr>
          <p:cNvPr id="9" name="Rectangle 8"/>
          <p:cNvSpPr/>
          <p:nvPr/>
        </p:nvSpPr>
        <p:spPr>
          <a:xfrm>
            <a:off x="566928" y="1481328"/>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98278"/>
          </a:xfrm>
          <a:prstGeom prst="rect">
            <a:avLst/>
          </a:prstGeom>
          <a:noFill/>
        </p:spPr>
        <p:txBody>
          <a:bodyPr wrap="square" lIns="0" rIns="0" tIns="0" bIns="0" anchor="ctr">
            <a:spAutoFit/>
          </a:bodyPr>
          <a:lstStyle/>
          <a:p>
            <a:pPr algn="ctr">
              <a:lnSpc>
                <a:spcPct val="100000"/>
              </a:lnSpc>
              <a:buNone/>
            </a:pPr>
            <a:r>
              <a:rPr sz="18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Semibold"/>
              </a:rPr>
              <a:t>Modo de control (</a:t>
            </a:r>
            <a:r>
              <a:rPr sz="1250" b="1">
                <a:solidFill>
                  <a:srgbClr val="0B2545"/>
                </a:solidFill>
                <a:latin typeface="Consolas"/>
              </a:rPr>
              <a:t>Pn000.1</a:t>
            </a:r>
            <a:r>
              <a:rPr sz="1250" b="1">
                <a:solidFill>
                  <a:srgbClr val="0B2545"/>
                </a:solidFill>
                <a:latin typeface="Segoe UI Semibold"/>
              </a:rPr>
              <a:t>)</a:t>
            </a:r>
          </a:p>
        </p:txBody>
      </p:sp>
      <p:sp>
        <p:nvSpPr>
          <p:cNvPr id="13" name="TextBox 12"/>
          <p:cNvSpPr txBox="1"/>
          <p:nvPr/>
        </p:nvSpPr>
        <p:spPr>
          <a:xfrm>
            <a:off x="1435608" y="1806575"/>
            <a:ext cx="9869119" cy="273031"/>
          </a:xfrm>
          <a:prstGeom prst="rect">
            <a:avLst/>
          </a:prstGeom>
          <a:noFill/>
        </p:spPr>
        <p:txBody>
          <a:bodyPr wrap="square" lIns="0" rIns="0" tIns="0" bIns="0" anchor="t">
            <a:spAutoFit/>
          </a:bodyPr>
          <a:lstStyle/>
          <a:p>
            <a:pPr algn="l">
              <a:lnSpc>
                <a:spcPct val="105000"/>
              </a:lnSpc>
              <a:buNone/>
            </a:pPr>
            <a:r>
              <a:rPr sz="1050" b="0">
                <a:solidFill>
                  <a:srgbClr val="3A4654"/>
                </a:solidFill>
                <a:latin typeface="Segoe UI"/>
              </a:rPr>
              <a:t>Posición, velocidad o par, según la arquitectura decidida en el Módulo 06.</a:t>
            </a:r>
          </a:p>
        </p:txBody>
      </p:sp>
      <p:sp>
        <p:nvSpPr>
          <p:cNvPr id="14" name="Rectangle 13"/>
          <p:cNvSpPr/>
          <p:nvPr/>
        </p:nvSpPr>
        <p:spPr>
          <a:xfrm>
            <a:off x="566928" y="2189334"/>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89334"/>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89334"/>
            <a:ext cx="658368" cy="598278"/>
          </a:xfrm>
          <a:prstGeom prst="rect">
            <a:avLst/>
          </a:prstGeom>
          <a:noFill/>
        </p:spPr>
        <p:txBody>
          <a:bodyPr wrap="square" lIns="0" rIns="0" tIns="0" bIns="0" anchor="ctr">
            <a:spAutoFit/>
          </a:bodyPr>
          <a:lstStyle/>
          <a:p>
            <a:pPr algn="ctr">
              <a:lnSpc>
                <a:spcPct val="100000"/>
              </a:lnSpc>
              <a:buNone/>
            </a:pPr>
            <a:r>
              <a:rPr sz="1850" b="1">
                <a:solidFill>
                  <a:srgbClr val="00A9CE"/>
                </a:solidFill>
                <a:latin typeface="Segoe UI Semibold"/>
              </a:rPr>
              <a:t>2</a:t>
            </a:r>
          </a:p>
        </p:txBody>
      </p:sp>
      <p:sp>
        <p:nvSpPr>
          <p:cNvPr id="17" name="TextBox 16"/>
          <p:cNvSpPr txBox="1"/>
          <p:nvPr/>
        </p:nvSpPr>
        <p:spPr>
          <a:xfrm>
            <a:off x="1435608" y="2280774"/>
            <a:ext cx="9869119"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Semibold"/>
              </a:rPr>
              <a:t>Engranaje electrónico (</a:t>
            </a:r>
            <a:r>
              <a:rPr sz="1250" b="1">
                <a:solidFill>
                  <a:srgbClr val="0B2545"/>
                </a:solidFill>
                <a:latin typeface="Consolas"/>
              </a:rPr>
              <a:t>Pn20E</a:t>
            </a:r>
            <a:r>
              <a:rPr sz="1250" b="1">
                <a:solidFill>
                  <a:srgbClr val="0B2545"/>
                </a:solidFill>
                <a:latin typeface="Segoe UI Semibold"/>
              </a:rPr>
              <a:t> / </a:t>
            </a:r>
            <a:r>
              <a:rPr sz="1250" b="1">
                <a:solidFill>
                  <a:srgbClr val="0B2545"/>
                </a:solidFill>
                <a:latin typeface="Consolas"/>
              </a:rPr>
              <a:t>Pn210</a:t>
            </a:r>
            <a:r>
              <a:rPr sz="1250" b="1">
                <a:solidFill>
                  <a:srgbClr val="0B2545"/>
                </a:solidFill>
                <a:latin typeface="Segoe UI Semibold"/>
              </a:rPr>
              <a:t>)</a:t>
            </a:r>
          </a:p>
        </p:txBody>
      </p:sp>
      <p:sp>
        <p:nvSpPr>
          <p:cNvPr id="18" name="TextBox 17"/>
          <p:cNvSpPr txBox="1"/>
          <p:nvPr/>
        </p:nvSpPr>
        <p:spPr>
          <a:xfrm>
            <a:off x="1435608" y="2514581"/>
            <a:ext cx="9869119" cy="273031"/>
          </a:xfrm>
          <a:prstGeom prst="rect">
            <a:avLst/>
          </a:prstGeom>
          <a:noFill/>
        </p:spPr>
        <p:txBody>
          <a:bodyPr wrap="square" lIns="0" rIns="0" tIns="0" bIns="0" anchor="t">
            <a:spAutoFit/>
          </a:bodyPr>
          <a:lstStyle/>
          <a:p>
            <a:pPr algn="l">
              <a:lnSpc>
                <a:spcPct val="105000"/>
              </a:lnSpc>
              <a:buNone/>
            </a:pPr>
            <a:r>
              <a:rPr sz="1050" b="0">
                <a:solidFill>
                  <a:srgbClr val="3A4654"/>
                </a:solidFill>
                <a:latin typeface="Segoe UI"/>
              </a:rPr>
              <a:t>Define la unidad de referencia. Calcúlalo, escríbelo y </a:t>
            </a:r>
            <a:r>
              <a:rPr sz="1050" b="1">
                <a:solidFill>
                  <a:srgbClr val="3A4654"/>
                </a:solidFill>
                <a:latin typeface="Segoe UI"/>
              </a:rPr>
              <a:t>compruébalo midiendo</a:t>
            </a:r>
            <a:r>
              <a:rPr sz="1050" b="0">
                <a:solidFill>
                  <a:srgbClr val="3A4654"/>
                </a:solidFill>
                <a:latin typeface="Segoe UI"/>
              </a:rPr>
              <a:t> un desplazamiento conocido.</a:t>
            </a:r>
          </a:p>
        </p:txBody>
      </p:sp>
      <p:sp>
        <p:nvSpPr>
          <p:cNvPr id="19" name="Rectangle 18"/>
          <p:cNvSpPr/>
          <p:nvPr/>
        </p:nvSpPr>
        <p:spPr>
          <a:xfrm>
            <a:off x="566928" y="2897341"/>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97341"/>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97341"/>
            <a:ext cx="658368" cy="598278"/>
          </a:xfrm>
          <a:prstGeom prst="rect">
            <a:avLst/>
          </a:prstGeom>
          <a:noFill/>
        </p:spPr>
        <p:txBody>
          <a:bodyPr wrap="square" lIns="0" rIns="0" tIns="0" bIns="0" anchor="ctr">
            <a:spAutoFit/>
          </a:bodyPr>
          <a:lstStyle/>
          <a:p>
            <a:pPr algn="ctr">
              <a:lnSpc>
                <a:spcPct val="100000"/>
              </a:lnSpc>
              <a:buNone/>
            </a:pPr>
            <a:r>
              <a:rPr sz="1850" b="1">
                <a:solidFill>
                  <a:srgbClr val="00A9CE"/>
                </a:solidFill>
                <a:latin typeface="Segoe UI Semibold"/>
              </a:rPr>
              <a:t>3</a:t>
            </a:r>
          </a:p>
        </p:txBody>
      </p:sp>
      <p:sp>
        <p:nvSpPr>
          <p:cNvPr id="22" name="TextBox 21"/>
          <p:cNvSpPr txBox="1"/>
          <p:nvPr/>
        </p:nvSpPr>
        <p:spPr>
          <a:xfrm>
            <a:off x="1435608" y="2988781"/>
            <a:ext cx="9869119"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Semibold"/>
              </a:rPr>
              <a:t>Formato de la consigna (</a:t>
            </a:r>
            <a:r>
              <a:rPr sz="1250" b="1">
                <a:solidFill>
                  <a:srgbClr val="0B2545"/>
                </a:solidFill>
                <a:latin typeface="Consolas"/>
              </a:rPr>
              <a:t>Pn200.0</a:t>
            </a:r>
            <a:r>
              <a:rPr sz="1250" b="1">
                <a:solidFill>
                  <a:srgbClr val="0B2545"/>
                </a:solidFill>
                <a:latin typeface="Segoe UI Semibold"/>
              </a:rPr>
              <a:t> si es tren de pulsos)</a:t>
            </a:r>
          </a:p>
        </p:txBody>
      </p:sp>
      <p:sp>
        <p:nvSpPr>
          <p:cNvPr id="23" name="TextBox 22"/>
          <p:cNvSpPr txBox="1"/>
          <p:nvPr/>
        </p:nvSpPr>
        <p:spPr>
          <a:xfrm>
            <a:off x="1435608" y="3222588"/>
            <a:ext cx="9869119" cy="273031"/>
          </a:xfrm>
          <a:prstGeom prst="rect">
            <a:avLst/>
          </a:prstGeom>
          <a:noFill/>
        </p:spPr>
        <p:txBody>
          <a:bodyPr wrap="square" lIns="0" rIns="0" tIns="0" bIns="0" anchor="t">
            <a:spAutoFit/>
          </a:bodyPr>
          <a:lstStyle/>
          <a:p>
            <a:pPr algn="l">
              <a:lnSpc>
                <a:spcPct val="105000"/>
              </a:lnSpc>
              <a:buNone/>
            </a:pPr>
            <a:r>
              <a:rPr sz="1050" b="0">
                <a:solidFill>
                  <a:srgbClr val="3A4654"/>
                </a:solidFill>
                <a:latin typeface="Segoe UI"/>
              </a:rPr>
              <a:t>Debe coincidir exactamente con lo que emite el controlador.</a:t>
            </a:r>
          </a:p>
        </p:txBody>
      </p:sp>
      <p:sp>
        <p:nvSpPr>
          <p:cNvPr id="24" name="Rectangle 23"/>
          <p:cNvSpPr/>
          <p:nvPr/>
        </p:nvSpPr>
        <p:spPr>
          <a:xfrm>
            <a:off x="566928" y="3605348"/>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605348"/>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605348"/>
            <a:ext cx="658368" cy="598278"/>
          </a:xfrm>
          <a:prstGeom prst="rect">
            <a:avLst/>
          </a:prstGeom>
          <a:noFill/>
        </p:spPr>
        <p:txBody>
          <a:bodyPr wrap="square" lIns="0" rIns="0" tIns="0" bIns="0" anchor="ctr">
            <a:spAutoFit/>
          </a:bodyPr>
          <a:lstStyle/>
          <a:p>
            <a:pPr algn="ctr">
              <a:lnSpc>
                <a:spcPct val="100000"/>
              </a:lnSpc>
              <a:buNone/>
            </a:pPr>
            <a:r>
              <a:rPr sz="1850" b="1">
                <a:solidFill>
                  <a:srgbClr val="00A9CE"/>
                </a:solidFill>
                <a:latin typeface="Segoe UI Semibold"/>
              </a:rPr>
              <a:t>4</a:t>
            </a:r>
          </a:p>
        </p:txBody>
      </p:sp>
      <p:sp>
        <p:nvSpPr>
          <p:cNvPr id="27" name="TextBox 26"/>
          <p:cNvSpPr txBox="1"/>
          <p:nvPr/>
        </p:nvSpPr>
        <p:spPr>
          <a:xfrm>
            <a:off x="1435608" y="3696788"/>
            <a:ext cx="9869119"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Semibold"/>
              </a:rPr>
              <a:t>Asignación de entradas y salidas (</a:t>
            </a:r>
            <a:r>
              <a:rPr sz="1250" b="1">
                <a:solidFill>
                  <a:srgbClr val="0B2545"/>
                </a:solidFill>
                <a:latin typeface="Consolas"/>
              </a:rPr>
              <a:t>Pn50A</a:t>
            </a:r>
            <a:r>
              <a:rPr sz="1250" b="1">
                <a:solidFill>
                  <a:srgbClr val="0B2545"/>
                </a:solidFill>
                <a:latin typeface="Segoe UI Semibold"/>
              </a:rPr>
              <a:t>…</a:t>
            </a:r>
            <a:r>
              <a:rPr sz="1250" b="1">
                <a:solidFill>
                  <a:srgbClr val="0B2545"/>
                </a:solidFill>
                <a:latin typeface="Consolas"/>
              </a:rPr>
              <a:t>Pn510</a:t>
            </a:r>
            <a:r>
              <a:rPr sz="1250" b="1">
                <a:solidFill>
                  <a:srgbClr val="0B2545"/>
                </a:solidFill>
                <a:latin typeface="Segoe UI Semibold"/>
              </a:rPr>
              <a:t>)</a:t>
            </a:r>
          </a:p>
        </p:txBody>
      </p:sp>
      <p:sp>
        <p:nvSpPr>
          <p:cNvPr id="28" name="TextBox 27"/>
          <p:cNvSpPr txBox="1"/>
          <p:nvPr/>
        </p:nvSpPr>
        <p:spPr>
          <a:xfrm>
            <a:off x="1435608" y="3930595"/>
            <a:ext cx="9869119" cy="273031"/>
          </a:xfrm>
          <a:prstGeom prst="rect">
            <a:avLst/>
          </a:prstGeom>
          <a:noFill/>
        </p:spPr>
        <p:txBody>
          <a:bodyPr wrap="square" lIns="0" rIns="0" tIns="0" bIns="0" anchor="t">
            <a:spAutoFit/>
          </a:bodyPr>
          <a:lstStyle/>
          <a:p>
            <a:pPr algn="l">
              <a:lnSpc>
                <a:spcPct val="105000"/>
              </a:lnSpc>
              <a:buNone/>
            </a:pPr>
            <a:r>
              <a:rPr sz="1050" b="0">
                <a:solidFill>
                  <a:srgbClr val="3A4654"/>
                </a:solidFill>
                <a:latin typeface="Segoe UI"/>
              </a:rPr>
              <a:t>Servo ON, finales de carrera, reset, </a:t>
            </a:r>
            <a:r>
              <a:rPr sz="1050" b="0">
                <a:solidFill>
                  <a:srgbClr val="3A4654"/>
                </a:solidFill>
                <a:latin typeface="Consolas"/>
              </a:rPr>
              <a:t>/COIN</a:t>
            </a:r>
            <a:r>
              <a:rPr sz="1050" b="0">
                <a:solidFill>
                  <a:srgbClr val="3A4654"/>
                </a:solidFill>
                <a:latin typeface="Segoe UI"/>
              </a:rPr>
              <a:t>, </a:t>
            </a:r>
            <a:r>
              <a:rPr sz="1050" b="0">
                <a:solidFill>
                  <a:srgbClr val="3A4654"/>
                </a:solidFill>
                <a:latin typeface="Consolas"/>
              </a:rPr>
              <a:t>ALM</a:t>
            </a:r>
            <a:r>
              <a:rPr sz="1050" b="0">
                <a:solidFill>
                  <a:srgbClr val="3A4654"/>
                </a:solidFill>
                <a:latin typeface="Segoe UI"/>
              </a:rPr>
              <a:t>, </a:t>
            </a:r>
            <a:r>
              <a:rPr sz="1050" b="0">
                <a:solidFill>
                  <a:srgbClr val="3A4654"/>
                </a:solidFill>
                <a:latin typeface="Consolas"/>
              </a:rPr>
              <a:t>/BK</a:t>
            </a:r>
            <a:r>
              <a:rPr sz="1050" b="0">
                <a:solidFill>
                  <a:srgbClr val="3A4654"/>
                </a:solidFill>
                <a:latin typeface="Segoe UI"/>
              </a:rPr>
              <a:t>. Documenta cada asignación en el esquema eléctrico.</a:t>
            </a:r>
          </a:p>
        </p:txBody>
      </p:sp>
      <p:sp>
        <p:nvSpPr>
          <p:cNvPr id="29" name="Rectangle 28"/>
          <p:cNvSpPr/>
          <p:nvPr/>
        </p:nvSpPr>
        <p:spPr>
          <a:xfrm>
            <a:off x="566928" y="4313355"/>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313355"/>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313355"/>
            <a:ext cx="658368" cy="598278"/>
          </a:xfrm>
          <a:prstGeom prst="rect">
            <a:avLst/>
          </a:prstGeom>
          <a:noFill/>
        </p:spPr>
        <p:txBody>
          <a:bodyPr wrap="square" lIns="0" rIns="0" tIns="0" bIns="0" anchor="ctr">
            <a:spAutoFit/>
          </a:bodyPr>
          <a:lstStyle/>
          <a:p>
            <a:pPr algn="ctr">
              <a:lnSpc>
                <a:spcPct val="100000"/>
              </a:lnSpc>
              <a:buNone/>
            </a:pPr>
            <a:r>
              <a:rPr sz="1850" b="1">
                <a:solidFill>
                  <a:srgbClr val="00A9CE"/>
                </a:solidFill>
                <a:latin typeface="Segoe UI Semibold"/>
              </a:rPr>
              <a:t>5</a:t>
            </a:r>
          </a:p>
        </p:txBody>
      </p:sp>
      <p:sp>
        <p:nvSpPr>
          <p:cNvPr id="32" name="TextBox 31"/>
          <p:cNvSpPr txBox="1"/>
          <p:nvPr/>
        </p:nvSpPr>
        <p:spPr>
          <a:xfrm>
            <a:off x="1435608" y="4404795"/>
            <a:ext cx="9869119"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Semibold"/>
              </a:rPr>
              <a:t>Límites de protección (</a:t>
            </a:r>
            <a:r>
              <a:rPr sz="1250" b="1">
                <a:solidFill>
                  <a:srgbClr val="0B2545"/>
                </a:solidFill>
                <a:latin typeface="Consolas"/>
              </a:rPr>
              <a:t>Pn520</a:t>
            </a:r>
            <a:r>
              <a:rPr sz="1250" b="1">
                <a:solidFill>
                  <a:srgbClr val="0B2545"/>
                </a:solidFill>
                <a:latin typeface="Segoe UI Semibold"/>
              </a:rPr>
              <a:t>, </a:t>
            </a:r>
            <a:r>
              <a:rPr sz="1250" b="1">
                <a:solidFill>
                  <a:srgbClr val="0B2545"/>
                </a:solidFill>
                <a:latin typeface="Consolas"/>
              </a:rPr>
              <a:t>Pn522</a:t>
            </a:r>
            <a:r>
              <a:rPr sz="1250" b="1">
                <a:solidFill>
                  <a:srgbClr val="0B2545"/>
                </a:solidFill>
                <a:latin typeface="Segoe UI Semibold"/>
              </a:rPr>
              <a:t>)</a:t>
            </a:r>
          </a:p>
        </p:txBody>
      </p:sp>
      <p:sp>
        <p:nvSpPr>
          <p:cNvPr id="33" name="TextBox 32"/>
          <p:cNvSpPr txBox="1"/>
          <p:nvPr/>
        </p:nvSpPr>
        <p:spPr>
          <a:xfrm>
            <a:off x="1435608" y="4638602"/>
            <a:ext cx="9869119" cy="273031"/>
          </a:xfrm>
          <a:prstGeom prst="rect">
            <a:avLst/>
          </a:prstGeom>
          <a:noFill/>
        </p:spPr>
        <p:txBody>
          <a:bodyPr wrap="square" lIns="0" rIns="0" tIns="0" bIns="0" anchor="t">
            <a:spAutoFit/>
          </a:bodyPr>
          <a:lstStyle/>
          <a:p>
            <a:pPr algn="l">
              <a:lnSpc>
                <a:spcPct val="105000"/>
              </a:lnSpc>
              <a:buNone/>
            </a:pPr>
            <a:r>
              <a:rPr sz="1050" b="0">
                <a:solidFill>
                  <a:srgbClr val="3A4654"/>
                </a:solidFill>
                <a:latin typeface="Segoe UI"/>
              </a:rPr>
              <a:t>Error de posición admisible y ventana de posicionado, coherentes con la tolerancia mecánica de la aplicación.</a:t>
            </a:r>
          </a:p>
        </p:txBody>
      </p:sp>
      <p:sp>
        <p:nvSpPr>
          <p:cNvPr id="34" name="Rectangle 33"/>
          <p:cNvSpPr/>
          <p:nvPr/>
        </p:nvSpPr>
        <p:spPr>
          <a:xfrm>
            <a:off x="566928" y="5021362"/>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021362"/>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5021362"/>
            <a:ext cx="658368" cy="598278"/>
          </a:xfrm>
          <a:prstGeom prst="rect">
            <a:avLst/>
          </a:prstGeom>
          <a:noFill/>
        </p:spPr>
        <p:txBody>
          <a:bodyPr wrap="square" lIns="0" rIns="0" tIns="0" bIns="0" anchor="ctr">
            <a:spAutoFit/>
          </a:bodyPr>
          <a:lstStyle/>
          <a:p>
            <a:pPr algn="ctr">
              <a:lnSpc>
                <a:spcPct val="100000"/>
              </a:lnSpc>
              <a:buNone/>
            </a:pPr>
            <a:r>
              <a:rPr sz="1850" b="1">
                <a:solidFill>
                  <a:srgbClr val="00A9CE"/>
                </a:solidFill>
                <a:latin typeface="Segoe UI Semibold"/>
              </a:rPr>
              <a:t>6</a:t>
            </a:r>
          </a:p>
        </p:txBody>
      </p:sp>
      <p:sp>
        <p:nvSpPr>
          <p:cNvPr id="37" name="TextBox 36"/>
          <p:cNvSpPr txBox="1"/>
          <p:nvPr/>
        </p:nvSpPr>
        <p:spPr>
          <a:xfrm>
            <a:off x="1435608" y="5112802"/>
            <a:ext cx="9869119"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Semibold"/>
              </a:rPr>
              <a:t>Freno de retención (</a:t>
            </a:r>
            <a:r>
              <a:rPr sz="1250" b="1">
                <a:solidFill>
                  <a:srgbClr val="0B2545"/>
                </a:solidFill>
                <a:latin typeface="Consolas"/>
              </a:rPr>
              <a:t>Pn506</a:t>
            </a:r>
            <a:r>
              <a:rPr sz="1250" b="1">
                <a:solidFill>
                  <a:srgbClr val="0B2545"/>
                </a:solidFill>
                <a:latin typeface="Segoe UI Semibold"/>
              </a:rPr>
              <a:t> / </a:t>
            </a:r>
            <a:r>
              <a:rPr sz="1250" b="1">
                <a:solidFill>
                  <a:srgbClr val="0B2545"/>
                </a:solidFill>
                <a:latin typeface="Consolas"/>
              </a:rPr>
              <a:t>Pn507</a:t>
            </a:r>
            <a:r>
              <a:rPr sz="1250" b="1">
                <a:solidFill>
                  <a:srgbClr val="0B2545"/>
                </a:solidFill>
                <a:latin typeface="Segoe UI Semibold"/>
              </a:rPr>
              <a:t> / </a:t>
            </a:r>
            <a:r>
              <a:rPr sz="1250" b="1">
                <a:solidFill>
                  <a:srgbClr val="0B2545"/>
                </a:solidFill>
                <a:latin typeface="Consolas"/>
              </a:rPr>
              <a:t>Pn508</a:t>
            </a:r>
            <a:r>
              <a:rPr sz="1250" b="1">
                <a:solidFill>
                  <a:srgbClr val="0B2545"/>
                </a:solidFill>
                <a:latin typeface="Segoe UI Semibold"/>
              </a:rPr>
              <a:t>)</a:t>
            </a:r>
          </a:p>
        </p:txBody>
      </p:sp>
      <p:sp>
        <p:nvSpPr>
          <p:cNvPr id="38" name="TextBox 37"/>
          <p:cNvSpPr txBox="1"/>
          <p:nvPr/>
        </p:nvSpPr>
        <p:spPr>
          <a:xfrm>
            <a:off x="1435608" y="5346609"/>
            <a:ext cx="9869119" cy="273031"/>
          </a:xfrm>
          <a:prstGeom prst="rect">
            <a:avLst/>
          </a:prstGeom>
          <a:noFill/>
        </p:spPr>
        <p:txBody>
          <a:bodyPr wrap="square" lIns="0" rIns="0" tIns="0" bIns="0" anchor="t">
            <a:spAutoFit/>
          </a:bodyPr>
          <a:lstStyle/>
          <a:p>
            <a:pPr algn="l">
              <a:lnSpc>
                <a:spcPct val="105000"/>
              </a:lnSpc>
              <a:buNone/>
            </a:pPr>
            <a:r>
              <a:rPr sz="1050" b="0">
                <a:solidFill>
                  <a:srgbClr val="3A4654"/>
                </a:solidFill>
                <a:latin typeface="Segoe UI"/>
              </a:rPr>
              <a:t>Sólo si el motor lo lleva. Verifica la secuencia con el eje asegurado antes de confiar en ella.</a:t>
            </a:r>
          </a:p>
        </p:txBody>
      </p:sp>
      <p:sp>
        <p:nvSpPr>
          <p:cNvPr id="39" name="Rectangle 38"/>
          <p:cNvSpPr/>
          <p:nvPr/>
        </p:nvSpPr>
        <p:spPr>
          <a:xfrm>
            <a:off x="566928" y="5729369"/>
            <a:ext cx="11057839" cy="59827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729369"/>
            <a:ext cx="658368" cy="59827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5729369"/>
            <a:ext cx="658368" cy="598278"/>
          </a:xfrm>
          <a:prstGeom prst="rect">
            <a:avLst/>
          </a:prstGeom>
          <a:noFill/>
        </p:spPr>
        <p:txBody>
          <a:bodyPr wrap="square" lIns="0" rIns="0" tIns="0" bIns="0" anchor="ctr">
            <a:spAutoFit/>
          </a:bodyPr>
          <a:lstStyle/>
          <a:p>
            <a:pPr algn="ctr">
              <a:lnSpc>
                <a:spcPct val="100000"/>
              </a:lnSpc>
              <a:buNone/>
            </a:pPr>
            <a:r>
              <a:rPr sz="1850" b="1">
                <a:solidFill>
                  <a:srgbClr val="00A9CE"/>
                </a:solidFill>
                <a:latin typeface="Segoe UI Semibold"/>
              </a:rPr>
              <a:t>7</a:t>
            </a:r>
          </a:p>
        </p:txBody>
      </p:sp>
      <p:sp>
        <p:nvSpPr>
          <p:cNvPr id="42" name="TextBox 41"/>
          <p:cNvSpPr txBox="1"/>
          <p:nvPr/>
        </p:nvSpPr>
        <p:spPr>
          <a:xfrm>
            <a:off x="1435608" y="5820809"/>
            <a:ext cx="9869119"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Semibold"/>
              </a:rPr>
              <a:t>Guardar la configuración</a:t>
            </a:r>
          </a:p>
        </p:txBody>
      </p:sp>
      <p:sp>
        <p:nvSpPr>
          <p:cNvPr id="43" name="TextBox 42"/>
          <p:cNvSpPr txBox="1"/>
          <p:nvPr/>
        </p:nvSpPr>
        <p:spPr>
          <a:xfrm>
            <a:off x="1435608" y="6054616"/>
            <a:ext cx="9869119" cy="273031"/>
          </a:xfrm>
          <a:prstGeom prst="rect">
            <a:avLst/>
          </a:prstGeom>
          <a:noFill/>
        </p:spPr>
        <p:txBody>
          <a:bodyPr wrap="square" lIns="0" rIns="0" tIns="0" bIns="0" anchor="t">
            <a:spAutoFit/>
          </a:bodyPr>
          <a:lstStyle/>
          <a:p>
            <a:pPr algn="l">
              <a:lnSpc>
                <a:spcPct val="105000"/>
              </a:lnSpc>
              <a:buNone/>
            </a:pPr>
            <a:r>
              <a:rPr sz="1050" b="0">
                <a:solidFill>
                  <a:srgbClr val="3A4654"/>
                </a:solidFill>
                <a:latin typeface="Segoe UI"/>
              </a:rPr>
              <a:t>Exporta el fichero antes de continuar: es tu punto de retorno.</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4 — Encoder absoluto y origen de máquina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paso que elimina el homing… y que hay que documentar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83</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Verificar que la batería está instalada y en buen estado</a:t>
            </a:r>
          </a:p>
        </p:txBody>
      </p:sp>
      <p:sp>
        <p:nvSpPr>
          <p:cNvPr id="13" name="TextBox 12"/>
          <p:cNvSpPr txBox="1"/>
          <p:nvPr/>
        </p:nvSpPr>
        <p:spPr>
          <a:xfrm>
            <a:off x="1435608" y="178181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Sin batería, el encoder absoluto pierde el contaje multivuelta al cortar la alimentación.</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2</a:t>
            </a:r>
          </a:p>
        </p:txBody>
      </p:sp>
      <p:sp>
        <p:nvSpPr>
          <p:cNvPr id="17" name="TextBox 16"/>
          <p:cNvSpPr txBox="1"/>
          <p:nvPr/>
        </p:nvSpPr>
        <p:spPr>
          <a:xfrm>
            <a:off x="1435608" y="2238756"/>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Ejecutar el setup del encoder absoluto (</a:t>
            </a:r>
            <a:r>
              <a:rPr sz="1100" b="1">
                <a:solidFill>
                  <a:srgbClr val="0B2545"/>
                </a:solidFill>
                <a:latin typeface="Consolas"/>
              </a:rPr>
              <a:t>Fn008</a:t>
            </a:r>
            <a:r>
              <a:rPr sz="1100" b="1">
                <a:solidFill>
                  <a:srgbClr val="0B2545"/>
                </a:solidFill>
                <a:latin typeface="Segoe UI Semibold"/>
              </a:rPr>
              <a:t>)</a:t>
            </a:r>
          </a:p>
        </p:txBody>
      </p:sp>
      <p:sp>
        <p:nvSpPr>
          <p:cNvPr id="18" name="TextBox 17"/>
          <p:cNvSpPr txBox="1"/>
          <p:nvPr/>
        </p:nvSpPr>
        <p:spPr>
          <a:xfrm>
            <a:off x="1435608" y="2447798"/>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Se hace una única vez en la instalación, o tras un fallo de respaldo (</a:t>
            </a:r>
            <a:r>
              <a:rPr sz="900" b="0">
                <a:solidFill>
                  <a:srgbClr val="3A4654"/>
                </a:solidFill>
                <a:latin typeface="Consolas"/>
              </a:rPr>
              <a:t>A.810</a:t>
            </a:r>
            <a:r>
              <a:rPr sz="900" b="0">
                <a:solidFill>
                  <a:srgbClr val="3A4654"/>
                </a:solidFill>
                <a:latin typeface="Segoe UI"/>
              </a:rPr>
              <a:t>) o un cambio de motor. Requiere confirmación explícita.</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3</a:t>
            </a:r>
          </a:p>
        </p:txBody>
      </p:sp>
      <p:sp>
        <p:nvSpPr>
          <p:cNvPr id="22" name="TextBox 21"/>
          <p:cNvSpPr txBox="1"/>
          <p:nvPr/>
        </p:nvSpPr>
        <p:spPr>
          <a:xfrm>
            <a:off x="1435608" y="2904744"/>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Configurar el límite multivuelta (</a:t>
            </a:r>
            <a:r>
              <a:rPr sz="1100" b="1">
                <a:solidFill>
                  <a:srgbClr val="0B2545"/>
                </a:solidFill>
                <a:latin typeface="Consolas"/>
              </a:rPr>
              <a:t>Pn205</a:t>
            </a:r>
            <a:r>
              <a:rPr sz="1100" b="1">
                <a:solidFill>
                  <a:srgbClr val="0B2545"/>
                </a:solidFill>
                <a:latin typeface="Segoe UI Semibold"/>
              </a:rPr>
              <a:t>) si procede</a:t>
            </a:r>
          </a:p>
        </p:txBody>
      </p:sp>
      <p:sp>
        <p:nvSpPr>
          <p:cNvPr id="23" name="TextBox 22"/>
          <p:cNvSpPr txBox="1"/>
          <p:nvPr/>
        </p:nvSpPr>
        <p:spPr>
          <a:xfrm>
            <a:off x="1435608" y="3113786"/>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Sólo en ejes rotativos infinitos. Debe ser coherente con la relación de transmisión para que no haya salto al desbordar.</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4</a:t>
            </a:r>
          </a:p>
        </p:txBody>
      </p:sp>
      <p:sp>
        <p:nvSpPr>
          <p:cNvPr id="27" name="TextBox 26"/>
          <p:cNvSpPr txBox="1"/>
          <p:nvPr/>
        </p:nvSpPr>
        <p:spPr>
          <a:xfrm>
            <a:off x="1435608" y="3570732"/>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Llevar el eje a la posición de origen mecánico</a:t>
            </a:r>
          </a:p>
        </p:txBody>
      </p:sp>
      <p:sp>
        <p:nvSpPr>
          <p:cNvPr id="28" name="TextBox 27"/>
          <p:cNvSpPr txBox="1"/>
          <p:nvPr/>
        </p:nvSpPr>
        <p:spPr>
          <a:xfrm>
            <a:off x="1435608" y="3779774"/>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Con JOG a baja velocidad, contra el tope o el detector de referencia de la máquina.</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5</a:t>
            </a:r>
          </a:p>
        </p:txBody>
      </p:sp>
      <p:sp>
        <p:nvSpPr>
          <p:cNvPr id="32" name="TextBox 31"/>
          <p:cNvSpPr txBox="1"/>
          <p:nvPr/>
        </p:nvSpPr>
        <p:spPr>
          <a:xfrm>
            <a:off x="1435608" y="4236720"/>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Registrar el desplazamiento de origen en el controlador</a:t>
            </a:r>
          </a:p>
        </p:txBody>
      </p:sp>
      <p:sp>
        <p:nvSpPr>
          <p:cNvPr id="33" name="TextBox 32"/>
          <p:cNvSpPr txBox="1"/>
          <p:nvPr/>
        </p:nvSpPr>
        <p:spPr>
          <a:xfrm>
            <a:off x="1435608" y="4445762"/>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El drive da posición absoluta; el offset entre esa posición y el cero de la máquina lo guarda el PLC o el CNC.</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6</a:t>
            </a:r>
          </a:p>
        </p:txBody>
      </p:sp>
      <p:sp>
        <p:nvSpPr>
          <p:cNvPr id="37" name="TextBox 36"/>
          <p:cNvSpPr txBox="1"/>
          <p:nvPr/>
        </p:nvSpPr>
        <p:spPr>
          <a:xfrm>
            <a:off x="1435608" y="490270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Documentar el valor de origen</a:t>
            </a:r>
          </a:p>
        </p:txBody>
      </p:sp>
      <p:sp>
        <p:nvSpPr>
          <p:cNvPr id="38" name="TextBox 37"/>
          <p:cNvSpPr txBox="1"/>
          <p:nvPr/>
        </p:nvSpPr>
        <p:spPr>
          <a:xfrm>
            <a:off x="1435608" y="511175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Anótalo en el documento del eje y en el archivo de la máquina. Este número no está en el fichero de parámetros del drive.</a:t>
            </a:r>
          </a:p>
        </p:txBody>
      </p:sp>
      <p:sp>
        <p:nvSpPr>
          <p:cNvPr id="39" name="Rectangle 38"/>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El detalle que arruina una sustitución de equipo</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fichero de parámetros </a:t>
            </a:r>
            <a:r>
              <a:rPr sz="1150" b="1">
                <a:solidFill>
                  <a:srgbClr val="2B3644"/>
                </a:solidFill>
                <a:latin typeface="Segoe UI"/>
              </a:rPr>
              <a:t>no</a:t>
            </a:r>
            <a:r>
              <a:rPr sz="1150" b="0">
                <a:solidFill>
                  <a:srgbClr val="2B3644"/>
                </a:solidFill>
                <a:latin typeface="Segoe UI"/>
              </a:rPr>
              <a:t> guarda el origen de la máquina. Si sustituyes drive o motor sin haber anotado el offset de origen, tendrás que rehacer la referencia mecánica del eje con la máquina parada.</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Fase 5 — Acoplar la carga y probar el ciclo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 la prueba a la producción, sin saltos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84</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Acoplar la carga con el eje sin tensión</a:t>
            </a:r>
          </a:p>
        </p:txBody>
      </p:sp>
      <p:sp>
        <p:nvSpPr>
          <p:cNvPr id="13" name="TextBox 12"/>
          <p:cNvSpPr txBox="1"/>
          <p:nvPr/>
        </p:nvSpPr>
        <p:spPr>
          <a:xfrm>
            <a:off x="1435608" y="175704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Verifica la alineación y el apriete del acoplamiento antes de energizar.</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2</a:t>
            </a:r>
          </a:p>
        </p:txBody>
      </p:sp>
      <p:sp>
        <p:nvSpPr>
          <p:cNvPr id="17" name="TextBox 16"/>
          <p:cNvSpPr txBox="1"/>
          <p:nvPr/>
        </p:nvSpPr>
        <p:spPr>
          <a:xfrm>
            <a:off x="1435608" y="2143614"/>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Repetir el JOG, ahora con carga y a baja velocidad</a:t>
            </a:r>
          </a:p>
        </p:txBody>
      </p:sp>
      <p:sp>
        <p:nvSpPr>
          <p:cNvPr id="18" name="TextBox 17"/>
          <p:cNvSpPr txBox="1"/>
          <p:nvPr/>
        </p:nvSpPr>
        <p:spPr>
          <a:xfrm>
            <a:off x="1435608" y="2327891"/>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Compara </a:t>
            </a:r>
            <a:r>
              <a:rPr sz="750" b="0">
                <a:solidFill>
                  <a:srgbClr val="3A4654"/>
                </a:solidFill>
                <a:latin typeface="Consolas"/>
              </a:rPr>
              <a:t>Un002</a:t>
            </a:r>
            <a:r>
              <a:rPr sz="750" b="0">
                <a:solidFill>
                  <a:srgbClr val="3A4654"/>
                </a:solidFill>
                <a:latin typeface="Segoe UI"/>
              </a:rPr>
              <a:t> (par) con el valor calculado en el dimensionamiento. Una desviación grande indica fricción o desalineación.</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3</a:t>
            </a:r>
          </a:p>
        </p:txBody>
      </p:sp>
      <p:sp>
        <p:nvSpPr>
          <p:cNvPr id="22" name="TextBox 21"/>
          <p:cNvSpPr txBox="1"/>
          <p:nvPr/>
        </p:nvSpPr>
        <p:spPr>
          <a:xfrm>
            <a:off x="1435608" y="2714461"/>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Recorrer todo el rango de movimiento a baja velocidad</a:t>
            </a:r>
          </a:p>
        </p:txBody>
      </p:sp>
      <p:sp>
        <p:nvSpPr>
          <p:cNvPr id="23" name="TextBox 22"/>
          <p:cNvSpPr txBox="1"/>
          <p:nvPr/>
        </p:nvSpPr>
        <p:spPr>
          <a:xfrm>
            <a:off x="1435608" y="2898738"/>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Comprueba que el par es uniforme en todo el recorrido: un aumento local delata un punto duro mecánico.</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4</a:t>
            </a:r>
          </a:p>
        </p:txBody>
      </p:sp>
      <p:sp>
        <p:nvSpPr>
          <p:cNvPr id="27" name="TextBox 26"/>
          <p:cNvSpPr txBox="1"/>
          <p:nvPr/>
        </p:nvSpPr>
        <p:spPr>
          <a:xfrm>
            <a:off x="1435608" y="328530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Probar físicamente los finales de carrera</a:t>
            </a:r>
          </a:p>
        </p:txBody>
      </p:sp>
      <p:sp>
        <p:nvSpPr>
          <p:cNvPr id="28" name="TextBox 27"/>
          <p:cNvSpPr txBox="1"/>
          <p:nvPr/>
        </p:nvSpPr>
        <p:spPr>
          <a:xfrm>
            <a:off x="1435608" y="346958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Acciónalos a mano y comprueba que el eje se detiene y que puede retirarse en sentido contrario.</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5</a:t>
            </a:r>
          </a:p>
        </p:txBody>
      </p:sp>
      <p:sp>
        <p:nvSpPr>
          <p:cNvPr id="32" name="TextBox 31"/>
          <p:cNvSpPr txBox="1"/>
          <p:nvPr/>
        </p:nvSpPr>
        <p:spPr>
          <a:xfrm>
            <a:off x="1435608" y="3856155"/>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Ejecutar el autoajuste (Módulo 09)</a:t>
            </a:r>
          </a:p>
        </p:txBody>
      </p:sp>
      <p:sp>
        <p:nvSpPr>
          <p:cNvPr id="33" name="TextBox 32"/>
          <p:cNvSpPr txBox="1"/>
          <p:nvPr/>
        </p:nvSpPr>
        <p:spPr>
          <a:xfrm>
            <a:off x="1435608" y="4040432"/>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Con la carga real acoplada; nunca en vacío, porque la inercia medida no sería la de trabajo.</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6</a:t>
            </a:r>
          </a:p>
        </p:txBody>
      </p:sp>
      <p:sp>
        <p:nvSpPr>
          <p:cNvPr id="37" name="TextBox 36"/>
          <p:cNvSpPr txBox="1"/>
          <p:nvPr/>
        </p:nvSpPr>
        <p:spPr>
          <a:xfrm>
            <a:off x="1435608" y="4427002"/>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Subir progresivamente hasta la velocidad y aceleración del ciclo</a:t>
            </a:r>
          </a:p>
        </p:txBody>
      </p:sp>
      <p:sp>
        <p:nvSpPr>
          <p:cNvPr id="38" name="TextBox 37"/>
          <p:cNvSpPr txBox="1"/>
          <p:nvPr/>
        </p:nvSpPr>
        <p:spPr>
          <a:xfrm>
            <a:off x="1435608" y="4611279"/>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Por escalones, observando par, error de seguimiento y ruido en cada escalón.</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7</a:t>
            </a:r>
          </a:p>
        </p:txBody>
      </p:sp>
      <p:sp>
        <p:nvSpPr>
          <p:cNvPr id="42" name="TextBox 41"/>
          <p:cNvSpPr txBox="1"/>
          <p:nvPr/>
        </p:nvSpPr>
        <p:spPr>
          <a:xfrm>
            <a:off x="1435608" y="4997849"/>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Ejecutar el ciclo real durante un tiempo prolongado</a:t>
            </a:r>
          </a:p>
        </p:txBody>
      </p:sp>
      <p:sp>
        <p:nvSpPr>
          <p:cNvPr id="43" name="TextBox 42"/>
          <p:cNvSpPr txBox="1"/>
          <p:nvPr/>
        </p:nvSpPr>
        <p:spPr>
          <a:xfrm>
            <a:off x="1435608" y="5182126"/>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Vigila la temperatura del motor y del amplificador, y la tasa de sobrecarga acumulada.</a:t>
            </a:r>
          </a:p>
        </p:txBody>
      </p:sp>
      <p:sp>
        <p:nvSpPr>
          <p:cNvPr id="44" name="Rectangle 43"/>
          <p:cNvSpPr/>
          <p:nvPr/>
        </p:nvSpPr>
        <p:spPr>
          <a:xfrm>
            <a:off x="566928" y="5504688"/>
            <a:ext cx="11057839" cy="82296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La comprobación que valida todo el diseño</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Comparar el par medido en la máquina real con el par calculado en el Módulo 04. Si coinciden razonablemente, el dimensionamiento era correcto y el eje tiene el margen previsto.</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Acta de puesta en marcha del eje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Documenta o repetirás el trabajo dentro de seis meses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85</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2376064"/>
                <a:gridCol w="8681774"/>
              </a:tblGrid>
              <a:tr h="347472">
                <a:tc>
                  <a:txBody>
                    <a:bodyPr wrap="square"/>
                    <a:lstStyle/>
                    <a:p>
                      <a:pPr algn="l">
                        <a:lnSpc>
                          <a:spcPct val="100000"/>
                        </a:lnSpc>
                        <a:buNone/>
                      </a:pPr>
                      <a:r>
                        <a:rPr sz="1050" b="1">
                          <a:solidFill>
                            <a:srgbClr val="FFFFFF"/>
                          </a:solidFill>
                          <a:latin typeface="Segoe UI"/>
                        </a:rPr>
                        <a:t>Apartado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Qué se registra</a:t>
                      </a:r>
                    </a:p>
                  </a:txBody>
                  <a:tcPr marL="82296" marR="82296" marT="27432" marB="27432" anchor="ctr">
                    <a:solidFill>
                      <a:srgbClr val="0B2545"/>
                    </a:solidFill>
                  </a:tcPr>
                </a:tc>
              </a:tr>
              <a:tr h="514350">
                <a:tc>
                  <a:txBody>
                    <a:bodyPr wrap="square"/>
                    <a:lstStyle/>
                    <a:p>
                      <a:pPr algn="l">
                        <a:lnSpc>
                          <a:spcPct val="100000"/>
                        </a:lnSpc>
                        <a:buNone/>
                      </a:pPr>
                      <a:r>
                        <a:rPr sz="1050" b="0">
                          <a:solidFill>
                            <a:srgbClr val="1C2430"/>
                          </a:solidFill>
                          <a:latin typeface="Segoe UI"/>
                        </a:rPr>
                        <a:t>Identificación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Máquina, eje, modelo de SERVOPACK y de motor, números de serie, versión de firmware</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Instalación</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Fecha, responsable, lista de verificación de instalación firmada</a:t>
                      </a:r>
                    </a:p>
                  </a:txBody>
                  <a:tcPr marL="82296" marR="82296" marT="27432" marB="27432" anchor="ctr">
                    <a:solidFill>
                      <a:srgbClr val="F2F5F8"/>
                    </a:solidFill>
                  </a:tcPr>
                </a:tc>
              </a:tr>
              <a:tr h="514350">
                <a:tc>
                  <a:txBody>
                    <a:bodyPr wrap="square"/>
                    <a:lstStyle/>
                    <a:p>
                      <a:pPr algn="l">
                        <a:lnSpc>
                          <a:spcPct val="100000"/>
                        </a:lnSpc>
                        <a:buNone/>
                      </a:pPr>
                      <a:r>
                        <a:rPr sz="1050" b="0">
                          <a:solidFill>
                            <a:srgbClr val="1C2430"/>
                          </a:solidFill>
                          <a:latin typeface="Segoe UI"/>
                        </a:rPr>
                        <a:t>Configuración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Modo de control, engranaje electrónico, asignación de E/S, ficheros de parámetros (nombre y ubicación)</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Encoder absoluto</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Fecha de ejecución de </a:t>
                      </a:r>
                      <a:r>
                        <a:rPr sz="1050" b="0">
                          <a:solidFill>
                            <a:srgbClr val="1C2430"/>
                          </a:solidFill>
                          <a:latin typeface="Consolas"/>
                        </a:rPr>
                        <a:t>Fn008</a:t>
                      </a:r>
                      <a:r>
                        <a:rPr sz="1050" b="0">
                          <a:solidFill>
                            <a:srgbClr val="1C2430"/>
                          </a:solidFill>
                          <a:latin typeface="Segoe UI"/>
                        </a:rPr>
                        <a:t>, valor de origen, fecha de instalación de la batería</a:t>
                      </a:r>
                    </a:p>
                  </a:txBody>
                  <a:tcPr marL="82296" marR="82296" marT="27432" marB="27432" anchor="ctr">
                    <a:solidFill>
                      <a:srgbClr val="F2F5F8"/>
                    </a:solidFill>
                  </a:tcPr>
                </a:tc>
              </a:tr>
              <a:tr h="514350">
                <a:tc>
                  <a:txBody>
                    <a:bodyPr wrap="square"/>
                    <a:lstStyle/>
                    <a:p>
                      <a:pPr algn="l">
                        <a:lnSpc>
                          <a:spcPct val="100000"/>
                        </a:lnSpc>
                        <a:buNone/>
                      </a:pPr>
                      <a:r>
                        <a:rPr sz="1050" b="0">
                          <a:solidFill>
                            <a:srgbClr val="1C2430"/>
                          </a:solidFill>
                          <a:latin typeface="Segoe UI"/>
                        </a:rPr>
                        <a:t>Sintonización</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Método empleado, </a:t>
                      </a:r>
                      <a:r>
                        <a:rPr sz="1050" b="0">
                          <a:solidFill>
                            <a:srgbClr val="1C2430"/>
                          </a:solidFill>
                          <a:latin typeface="Consolas"/>
                        </a:rPr>
                        <a:t>Pn103</a:t>
                      </a:r>
                      <a:r>
                        <a:rPr sz="1050" b="0">
                          <a:solidFill>
                            <a:srgbClr val="1C2430"/>
                          </a:solidFill>
                          <a:latin typeface="Segoe UI"/>
                        </a:rPr>
                        <a:t>, </a:t>
                      </a:r>
                      <a:r>
                        <a:rPr sz="1050" b="0">
                          <a:solidFill>
                            <a:srgbClr val="1C2430"/>
                          </a:solidFill>
                          <a:latin typeface="Consolas"/>
                        </a:rPr>
                        <a:t>Pn100</a:t>
                      </a:r>
                      <a:r>
                        <a:rPr sz="1050" b="0">
                          <a:solidFill>
                            <a:srgbClr val="1C2430"/>
                          </a:solidFill>
                          <a:latin typeface="Segoe UI"/>
                        </a:rPr>
                        <a:t>, </a:t>
                      </a:r>
                      <a:r>
                        <a:rPr sz="1050" b="0">
                          <a:solidFill>
                            <a:srgbClr val="1C2430"/>
                          </a:solidFill>
                          <a:latin typeface="Consolas"/>
                        </a:rPr>
                        <a:t>Pn101</a:t>
                      </a:r>
                      <a:r>
                        <a:rPr sz="1050" b="0">
                          <a:solidFill>
                            <a:srgbClr val="1C2430"/>
                          </a:solidFill>
                          <a:latin typeface="Segoe UI"/>
                        </a:rPr>
                        <a:t>, </a:t>
                      </a:r>
                      <a:r>
                        <a:rPr sz="1050" b="0">
                          <a:solidFill>
                            <a:srgbClr val="1C2430"/>
                          </a:solidFill>
                          <a:latin typeface="Consolas"/>
                        </a:rPr>
                        <a:t>Pn102</a:t>
                      </a:r>
                      <a:r>
                        <a:rPr sz="1050" b="0">
                          <a:solidFill>
                            <a:srgbClr val="1C2430"/>
                          </a:solidFill>
                          <a:latin typeface="Segoe UI"/>
                        </a:rPr>
                        <a:t>, filtros activos y capturas de la traza</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Verificación de prestaciones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Tiempo de ciclo alcanzado, par RMS medido, par pico medido, error de seguimiento máximo, temperaturas</a:t>
                      </a:r>
                    </a:p>
                  </a:txBody>
                  <a:tcPr marL="82296" marR="82296" marT="27432" marB="27432" anchor="ctr">
                    <a:solidFill>
                      <a:srgbClr val="F2F5F8"/>
                    </a:solidFill>
                  </a:tcPr>
                </a:tc>
              </a:tr>
              <a:tr h="514350">
                <a:tc>
                  <a:txBody>
                    <a:bodyPr wrap="square"/>
                    <a:lstStyle/>
                    <a:p>
                      <a:pPr algn="l">
                        <a:lnSpc>
                          <a:spcPct val="100000"/>
                        </a:lnSpc>
                        <a:buNone/>
                      </a:pPr>
                      <a:r>
                        <a:rPr sz="1050" b="0">
                          <a:solidFill>
                            <a:srgbClr val="1C2430"/>
                          </a:solidFill>
                          <a:latin typeface="Segoe UI"/>
                        </a:rPr>
                        <a:t>Seguridad</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Prueba de finales de carrera, prueba de HWBB/STO, prueba del freno de retención</a:t>
                      </a:r>
                    </a:p>
                  </a:txBody>
                  <a:tcPr marL="82296" marR="82296" marT="27432" marB="27432" anchor="ctr">
                    <a:solidFill>
                      <a:srgbClr val="FFFFFF"/>
                    </a:solidFill>
                  </a:tcPr>
                </a:tc>
              </a:tr>
              <a:tr h="514350">
                <a:tc>
                  <a:txBody>
                    <a:bodyPr wrap="square"/>
                    <a:lstStyle/>
                    <a:p>
                      <a:pPr algn="l">
                        <a:lnSpc>
                          <a:spcPct val="100000"/>
                        </a:lnSpc>
                        <a:buNone/>
                      </a:pPr>
                      <a:r>
                        <a:rPr sz="1050" b="0">
                          <a:solidFill>
                            <a:srgbClr val="1C2430"/>
                          </a:solidFill>
                          <a:latin typeface="Segoe UI"/>
                        </a:rPr>
                        <a:t>Observaciones y pendientes</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Todo lo que quedó por hacer o por revisar, con responsable y fecha</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Este documento es lo que permite que otra persona (o tú mismo dentro de un año) entienda la instalación sin tener que reconstruirla.</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diez errores más frecuentes en puesta en marcha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Aprende de los errores ajenos: salen más baratos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08</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86</a:t>
            </a:r>
          </a:p>
        </p:txBody>
      </p:sp>
      <p:graphicFrame>
        <p:nvGraphicFramePr>
          <p:cNvPr id="9" name="Table 8"/>
          <p:cNvGraphicFramePr>
            <a:graphicFrameLocks noGrp="1"/>
          </p:cNvGraphicFramePr>
          <p:nvPr/>
        </p:nvGraphicFramePr>
        <p:xfrm>
          <a:off x="566928" y="1481328"/>
          <a:ext cx="11057837" cy="4846312"/>
        </p:xfrm>
        <a:graphic>
          <a:graphicData uri="http://schemas.openxmlformats.org/drawingml/2006/table">
            <a:tbl>
              <a:tblPr firstRow="1">
                <a:tableStyleId>{5C22544A-7EE6-4342-B048-85BDC9FD1C3A}</a:tableStyleId>
              </a:tblPr>
              <a:tblGrid>
                <a:gridCol w="511936"/>
                <a:gridCol w="4505045"/>
                <a:gridCol w="6040856"/>
              </a:tblGrid>
              <a:tr h="347472">
                <a:tc>
                  <a:txBody>
                    <a:bodyPr wrap="square"/>
                    <a:lstStyle/>
                    <a:p>
                      <a:pPr algn="ctr">
                        <a:lnSpc>
                          <a:spcPct val="100000"/>
                        </a:lnSpc>
                        <a:buNone/>
                      </a:pPr>
                      <a:r>
                        <a:rPr sz="9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Error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Consecuencia y cómo evitarlo</a:t>
                      </a:r>
                    </a:p>
                  </a:txBody>
                  <a:tcPr marL="82296" marR="82296" marT="27432" marB="27432" anchor="ctr">
                    <a:solidFill>
                      <a:srgbClr val="0B2545"/>
                    </a:solidFill>
                  </a:tcPr>
                </a:tc>
              </a:tr>
              <a:tr h="449884">
                <a:tc>
                  <a:txBody>
                    <a:bodyPr wrap="square"/>
                    <a:lstStyle/>
                    <a:p>
                      <a:pPr algn="ctr">
                        <a:lnSpc>
                          <a:spcPct val="100000"/>
                        </a:lnSpc>
                        <a:buNone/>
                      </a:pPr>
                      <a:r>
                        <a:rPr sz="9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Probar con la carga acoplada desde el primer arranque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Colisión o rotura. Desacopla siempre en la primera prueba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No verificar </a:t>
                      </a:r>
                      <a:r>
                        <a:rPr sz="950" b="0">
                          <a:solidFill>
                            <a:srgbClr val="1C2430"/>
                          </a:solidFill>
                          <a:latin typeface="Consolas"/>
                        </a:rPr>
                        <a:t>CN8</a:t>
                      </a:r>
                      <a:r>
                        <a:rPr sz="950" b="0">
                          <a:solidFill>
                            <a:srgbClr val="1C2430"/>
                          </a:solidFill>
                          <a:latin typeface="Segoe UI"/>
                        </a:rPr>
                        <a:t> (puente o circuito de seguridad)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El eje no da par y parece averiado. Compruébalo antes de nada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Invertir el sentido de giro cambiando fases del motor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Realimentación invertida: embalamiento o alarma. Usa </a:t>
                      </a:r>
                      <a:r>
                        <a:rPr sz="950" b="0">
                          <a:solidFill>
                            <a:srgbClr val="1C2430"/>
                          </a:solidFill>
                          <a:latin typeface="Consolas"/>
                        </a:rPr>
                        <a:t>Pn000.0</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No comprobar el engranaje electrónico midiendo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El eje se mueve el doble o la mitad. Mide 100 mm reales</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Ejecutar el autoajuste sin la carga real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La inercia estimada no es la de trabajo y el ajuste no sirve</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Dejar </a:t>
                      </a:r>
                      <a:r>
                        <a:rPr sz="950" b="0">
                          <a:solidFill>
                            <a:srgbClr val="1C2430"/>
                          </a:solidFill>
                          <a:latin typeface="Consolas"/>
                        </a:rPr>
                        <a:t>P-OT</a:t>
                      </a:r>
                      <a:r>
                        <a:rPr sz="950" b="0">
                          <a:solidFill>
                            <a:srgbClr val="1C2430"/>
                          </a:solidFill>
                          <a:latin typeface="Segoe UI"/>
                        </a:rPr>
                        <a:t>/</a:t>
                      </a:r>
                      <a:r>
                        <a:rPr sz="950" b="0">
                          <a:solidFill>
                            <a:srgbClr val="1C2430"/>
                          </a:solidFill>
                          <a:latin typeface="Consolas"/>
                        </a:rPr>
                        <a:t>N-OT</a:t>
                      </a:r>
                      <a:r>
                        <a:rPr sz="950" b="0">
                          <a:solidFill>
                            <a:srgbClr val="1C2430"/>
                          </a:solidFill>
                          <a:latin typeface="Segoe UI"/>
                        </a:rPr>
                        <a:t> deshabilitados tras las pruebas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Colisión contra tope a velocidad plena. Documenta y revierte</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No guardar el fichero de parámetros original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Imposible volver atrás. Guarda antes de tocar nada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Olvidar </a:t>
                      </a:r>
                      <a:r>
                        <a:rPr sz="950" b="0">
                          <a:solidFill>
                            <a:srgbClr val="1C2430"/>
                          </a:solidFill>
                          <a:latin typeface="Consolas"/>
                        </a:rPr>
                        <a:t>Fn008</a:t>
                      </a:r>
                      <a:r>
                        <a:rPr sz="950" b="0">
                          <a:solidFill>
                            <a:srgbClr val="1C2430"/>
                          </a:solidFill>
                          <a:latin typeface="Segoe UI"/>
                        </a:rPr>
                        <a:t> tras cambiar motor o batería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Alarma </a:t>
                      </a:r>
                      <a:r>
                        <a:rPr sz="950" b="0">
                          <a:solidFill>
                            <a:srgbClr val="1C2430"/>
                          </a:solidFill>
                          <a:latin typeface="Consolas"/>
                        </a:rPr>
                        <a:t>A.810</a:t>
                      </a:r>
                      <a:r>
                        <a:rPr sz="950" b="0">
                          <a:solidFill>
                            <a:srgbClr val="1C2430"/>
                          </a:solidFill>
                          <a:latin typeface="Segoe UI"/>
                        </a:rPr>
                        <a:t> y posición absoluta perdida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No probar el ciclo de forma prolongada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A.720</a:t>
                      </a:r>
                      <a:r>
                        <a:rPr sz="950" b="0">
                          <a:solidFill>
                            <a:srgbClr val="1C2430"/>
                          </a:solidFill>
                          <a:latin typeface="Segoe UI"/>
                        </a:rPr>
                        <a:t> en producción. Prueba al menos media hora a ritmo real</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No anotar el valor de origen de la máquina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Sustitución de equipo convertida en un día de parada</a:t>
                      </a:r>
                    </a:p>
                  </a:txBody>
                  <a:tcPr marL="82296" marR="82296" marT="27432" marB="27432" anchor="ctr">
                    <a:solidFill>
                      <a:srgbClr val="F2F5F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09</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Sintonización del lazo de control</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significa 'estar bien sintonizado' y cómo se mide</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herramientas de ajuste de la Σ-7 y cuándo usar cada una</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Autoajuste: sin parámetros, avanzado y con referencia</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Ajuste manual: el orden correcto de las ganancias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Resonancia mecánica: filtros notch y análisis en frecuencia</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Vibración de baja frecuencia y control por modelo</a:t>
            </a:r>
          </a:p>
        </p:txBody>
      </p:sp>
      <p:sp>
        <p:nvSpPr>
          <p:cNvPr id="19" name="Rectangle 18"/>
          <p:cNvSpPr/>
          <p:nvPr/>
        </p:nvSpPr>
        <p:spPr>
          <a:xfrm>
            <a:off x="1051560" y="63413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325880" y="62636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Diagnóstico por síntomas: qué tocar en cada caso</a:t>
            </a:r>
          </a:p>
        </p:txBody>
      </p:sp>
      <p:sp>
        <p:nvSpPr>
          <p:cNvPr id="21" name="TextBox 20"/>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6 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Cómo se ve una sintonización buena y una mala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Respuesta del eje ante un escalón de consigna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88</a:t>
            </a:r>
          </a:p>
        </p:txBody>
      </p:sp>
      <p:sp>
        <p:nvSpPr>
          <p:cNvPr id="9" name="Rectangle 8"/>
          <p:cNvSpPr/>
          <p:nvPr/>
        </p:nvSpPr>
        <p:spPr>
          <a:xfrm>
            <a:off x="594360" y="1645920"/>
            <a:ext cx="3520440" cy="35661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94360" y="1645920"/>
            <a:ext cx="3520440" cy="402336"/>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737360"/>
            <a:ext cx="3520440" cy="274320"/>
          </a:xfrm>
          <a:prstGeom prst="rect">
            <a:avLst/>
          </a:prstGeom>
          <a:noFill/>
        </p:spPr>
        <p:txBody>
          <a:bodyPr wrap="square" lIns="0" rIns="0" tIns="0" bIns="0" anchor="t">
            <a:spAutoFit/>
          </a:bodyPr>
          <a:lstStyle/>
          <a:p>
            <a:pPr algn="ctr">
              <a:lnSpc>
                <a:spcPct val="100000"/>
              </a:lnSpc>
              <a:buNone/>
            </a:pPr>
            <a:r>
              <a:rPr sz="1200" b="1">
                <a:solidFill>
                  <a:srgbClr val="FFFFFF"/>
                </a:solidFill>
                <a:latin typeface="Segoe UI"/>
              </a:rPr>
              <a:t>SOBREAMORTIGUADO</a:t>
            </a:r>
          </a:p>
        </p:txBody>
      </p:sp>
      <p:sp>
        <p:nvSpPr>
          <p:cNvPr id="12" name="TextBox 11"/>
          <p:cNvSpPr txBox="1"/>
          <p:nvPr/>
        </p:nvSpPr>
        <p:spPr>
          <a:xfrm>
            <a:off x="594360" y="2121408"/>
            <a:ext cx="3520440" cy="274320"/>
          </a:xfrm>
          <a:prstGeom prst="rect">
            <a:avLst/>
          </a:prstGeom>
          <a:noFill/>
        </p:spPr>
        <p:txBody>
          <a:bodyPr wrap="square" lIns="0" rIns="0" tIns="0" bIns="0" anchor="t">
            <a:spAutoFit/>
          </a:bodyPr>
          <a:lstStyle/>
          <a:p>
            <a:pPr algn="ctr">
              <a:lnSpc>
                <a:spcPct val="100000"/>
              </a:lnSpc>
              <a:buNone/>
            </a:pPr>
            <a:r>
              <a:rPr sz="1050" b="1">
                <a:solidFill>
                  <a:srgbClr val="5A6B7B"/>
                </a:solidFill>
                <a:latin typeface="Segoe UI"/>
              </a:rPr>
              <a:t>Ganancia baja</a:t>
            </a:r>
          </a:p>
        </p:txBody>
      </p:sp>
      <p:cxnSp>
        <p:nvCxnSpPr>
          <p:cNvPr id="13" name="Connector 12"/>
          <p:cNvCxnSpPr/>
          <p:nvPr/>
        </p:nvCxnSpPr>
        <p:spPr>
          <a:xfrm>
            <a:off x="1005840" y="4956048"/>
            <a:ext cx="2834640" cy="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005840" y="3127248"/>
            <a:ext cx="0" cy="182880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05840" y="3738067"/>
            <a:ext cx="2834640" cy="0"/>
          </a:xfrm>
          <a:prstGeom prst="line">
            <a:avLst/>
          </a:prstGeom>
          <a:ln w="12700">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971800" y="3500323"/>
            <a:ext cx="868680" cy="237744"/>
          </a:xfrm>
          <a:prstGeom prst="rect">
            <a:avLst/>
          </a:prstGeom>
          <a:noFill/>
        </p:spPr>
        <p:txBody>
          <a:bodyPr wrap="square" lIns="0" rIns="0" tIns="0" bIns="0" anchor="t">
            <a:spAutoFit/>
          </a:bodyPr>
          <a:lstStyle/>
          <a:p>
            <a:pPr algn="r">
              <a:lnSpc>
                <a:spcPct val="100000"/>
              </a:lnSpc>
              <a:buNone/>
            </a:pPr>
            <a:r>
              <a:rPr sz="800" b="0">
                <a:solidFill>
                  <a:srgbClr val="5A6B7B"/>
                </a:solidFill>
                <a:latin typeface="Segoe UI"/>
              </a:rPr>
              <a:t>consigna</a:t>
            </a:r>
          </a:p>
        </p:txBody>
      </p:sp>
      <p:cxnSp>
        <p:nvCxnSpPr>
          <p:cNvPr id="17" name="Connector 16"/>
          <p:cNvCxnSpPr/>
          <p:nvPr/>
        </p:nvCxnSpPr>
        <p:spPr>
          <a:xfrm flipV="1">
            <a:off x="1005840" y="4736811"/>
            <a:ext cx="283464" cy="219237"/>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289304" y="4444496"/>
            <a:ext cx="283464" cy="292315"/>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572768" y="4200899"/>
            <a:ext cx="283464" cy="243597"/>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856232" y="4030382"/>
            <a:ext cx="283464" cy="170517"/>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139696" y="3920764"/>
            <a:ext cx="283464" cy="109618"/>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423160" y="3847685"/>
            <a:ext cx="283464" cy="73079"/>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706624" y="3798966"/>
            <a:ext cx="283464" cy="48719"/>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990088" y="3774606"/>
            <a:ext cx="283464" cy="24360"/>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273552" y="3750247"/>
            <a:ext cx="283464" cy="24359"/>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57016" y="3738067"/>
            <a:ext cx="283464" cy="12180"/>
          </a:xfrm>
          <a:prstGeom prst="line">
            <a:avLst/>
          </a:prstGeom>
          <a:ln w="25400">
            <a:solidFill>
              <a:srgbClr val="5A6B7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2487168"/>
            <a:ext cx="2971800" cy="640080"/>
          </a:xfrm>
          <a:prstGeom prst="rect">
            <a:avLst/>
          </a:prstGeom>
          <a:noFill/>
        </p:spPr>
        <p:txBody>
          <a:bodyPr wrap="square" lIns="0" rIns="0" tIns="0" bIns="0" anchor="t">
            <a:spAutoFit/>
          </a:bodyPr>
          <a:lstStyle/>
          <a:p>
            <a:pPr algn="ctr">
              <a:lnSpc>
                <a:spcPct val="115000"/>
              </a:lnSpc>
              <a:buNone/>
            </a:pPr>
            <a:r>
              <a:rPr sz="1050" b="0">
                <a:solidFill>
                  <a:srgbClr val="5A6B7B"/>
                </a:solidFill>
                <a:latin typeface="Segoe UI"/>
              </a:rPr>
              <a:t>Llega tarde, sin pasarse.</a:t>
            </a:r>
          </a:p>
          <a:p>
            <a:pPr algn="ctr">
              <a:lnSpc>
                <a:spcPct val="115000"/>
              </a:lnSpc>
              <a:buNone/>
            </a:pPr>
            <a:r>
              <a:rPr sz="1050" b="0">
                <a:solidFill>
                  <a:srgbClr val="5A6B7B"/>
                </a:solidFill>
                <a:latin typeface="Segoe UI"/>
              </a:rPr>
              <a:t>Seguro pero lento.</a:t>
            </a:r>
          </a:p>
        </p:txBody>
      </p:sp>
      <p:sp>
        <p:nvSpPr>
          <p:cNvPr id="28" name="Rectangle 27"/>
          <p:cNvSpPr/>
          <p:nvPr/>
        </p:nvSpPr>
        <p:spPr>
          <a:xfrm>
            <a:off x="4389120" y="1645920"/>
            <a:ext cx="3520440" cy="35661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389120" y="1645920"/>
            <a:ext cx="3520440" cy="40233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89120" y="1737360"/>
            <a:ext cx="3520440" cy="274320"/>
          </a:xfrm>
          <a:prstGeom prst="rect">
            <a:avLst/>
          </a:prstGeom>
          <a:noFill/>
        </p:spPr>
        <p:txBody>
          <a:bodyPr wrap="square" lIns="0" rIns="0" tIns="0" bIns="0" anchor="t">
            <a:spAutoFit/>
          </a:bodyPr>
          <a:lstStyle/>
          <a:p>
            <a:pPr algn="ctr">
              <a:lnSpc>
                <a:spcPct val="100000"/>
              </a:lnSpc>
              <a:buNone/>
            </a:pPr>
            <a:r>
              <a:rPr sz="1200" b="1">
                <a:solidFill>
                  <a:srgbClr val="FFFFFF"/>
                </a:solidFill>
                <a:latin typeface="Segoe UI"/>
              </a:rPr>
              <a:t>ÓPTIMO</a:t>
            </a:r>
          </a:p>
        </p:txBody>
      </p:sp>
      <p:sp>
        <p:nvSpPr>
          <p:cNvPr id="31" name="TextBox 30"/>
          <p:cNvSpPr txBox="1"/>
          <p:nvPr/>
        </p:nvSpPr>
        <p:spPr>
          <a:xfrm>
            <a:off x="4389120" y="2121408"/>
            <a:ext cx="3520440" cy="274320"/>
          </a:xfrm>
          <a:prstGeom prst="rect">
            <a:avLst/>
          </a:prstGeom>
          <a:noFill/>
        </p:spPr>
        <p:txBody>
          <a:bodyPr wrap="square" lIns="0" rIns="0" tIns="0" bIns="0" anchor="t">
            <a:spAutoFit/>
          </a:bodyPr>
          <a:lstStyle/>
          <a:p>
            <a:pPr algn="ctr">
              <a:lnSpc>
                <a:spcPct val="100000"/>
              </a:lnSpc>
              <a:buNone/>
            </a:pPr>
            <a:r>
              <a:rPr sz="1050" b="1">
                <a:solidFill>
                  <a:srgbClr val="2E8B57"/>
                </a:solidFill>
                <a:latin typeface="Segoe UI"/>
              </a:rPr>
              <a:t>Ganancia adecuada</a:t>
            </a:r>
          </a:p>
        </p:txBody>
      </p:sp>
      <p:cxnSp>
        <p:nvCxnSpPr>
          <p:cNvPr id="32" name="Connector 31"/>
          <p:cNvCxnSpPr/>
          <p:nvPr/>
        </p:nvCxnSpPr>
        <p:spPr>
          <a:xfrm>
            <a:off x="4800600" y="4956048"/>
            <a:ext cx="2834640" cy="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800600" y="3127248"/>
            <a:ext cx="0" cy="182880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738067"/>
            <a:ext cx="2834640" cy="0"/>
          </a:xfrm>
          <a:prstGeom prst="line">
            <a:avLst/>
          </a:prstGeom>
          <a:ln w="12700">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766560" y="3500323"/>
            <a:ext cx="868680" cy="237744"/>
          </a:xfrm>
          <a:prstGeom prst="rect">
            <a:avLst/>
          </a:prstGeom>
          <a:noFill/>
        </p:spPr>
        <p:txBody>
          <a:bodyPr wrap="square" lIns="0" rIns="0" tIns="0" bIns="0" anchor="t">
            <a:spAutoFit/>
          </a:bodyPr>
          <a:lstStyle/>
          <a:p>
            <a:pPr algn="r">
              <a:lnSpc>
                <a:spcPct val="100000"/>
              </a:lnSpc>
              <a:buNone/>
            </a:pPr>
            <a:r>
              <a:rPr sz="800" b="0">
                <a:solidFill>
                  <a:srgbClr val="5A6B7B"/>
                </a:solidFill>
                <a:latin typeface="Segoe UI"/>
              </a:rPr>
              <a:t>consigna</a:t>
            </a:r>
          </a:p>
        </p:txBody>
      </p:sp>
      <p:cxnSp>
        <p:nvCxnSpPr>
          <p:cNvPr id="36" name="Connector 35"/>
          <p:cNvCxnSpPr/>
          <p:nvPr/>
        </p:nvCxnSpPr>
        <p:spPr>
          <a:xfrm flipV="1">
            <a:off x="4800600" y="4444496"/>
            <a:ext cx="283464" cy="511552"/>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084064" y="4006022"/>
            <a:ext cx="283464" cy="438474"/>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367528" y="3786786"/>
            <a:ext cx="283464" cy="219236"/>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650992" y="3713707"/>
            <a:ext cx="283464" cy="73079"/>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34456" y="3713707"/>
            <a:ext cx="283464" cy="1218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17920" y="3725887"/>
            <a:ext cx="283464" cy="1218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501384"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784848"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068312"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51776" y="3738067"/>
            <a:ext cx="283464" cy="0"/>
          </a:xfrm>
          <a:prstGeom prst="line">
            <a:avLst/>
          </a:prstGeom>
          <a:ln w="25400">
            <a:solidFill>
              <a:srgbClr val="2E8B57"/>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663440" y="2487168"/>
            <a:ext cx="2971800" cy="640080"/>
          </a:xfrm>
          <a:prstGeom prst="rect">
            <a:avLst/>
          </a:prstGeom>
          <a:noFill/>
        </p:spPr>
        <p:txBody>
          <a:bodyPr wrap="square" lIns="0" rIns="0" tIns="0" bIns="0" anchor="t">
            <a:spAutoFit/>
          </a:bodyPr>
          <a:lstStyle/>
          <a:p>
            <a:pPr algn="ctr">
              <a:lnSpc>
                <a:spcPct val="115000"/>
              </a:lnSpc>
              <a:buNone/>
            </a:pPr>
            <a:r>
              <a:rPr sz="1050" b="0">
                <a:solidFill>
                  <a:srgbClr val="5A6B7B"/>
                </a:solidFill>
                <a:latin typeface="Segoe UI"/>
              </a:rPr>
              <a:t>Rápido, sin apenas</a:t>
            </a:r>
          </a:p>
          <a:p>
            <a:pPr algn="ctr">
              <a:lnSpc>
                <a:spcPct val="115000"/>
              </a:lnSpc>
              <a:buNone/>
            </a:pPr>
            <a:r>
              <a:rPr sz="1050" b="0">
                <a:solidFill>
                  <a:srgbClr val="5A6B7B"/>
                </a:solidFill>
                <a:latin typeface="Segoe UI"/>
              </a:rPr>
              <a:t>sobrepasamiento.</a:t>
            </a:r>
          </a:p>
        </p:txBody>
      </p:sp>
      <p:sp>
        <p:nvSpPr>
          <p:cNvPr id="47" name="Rectangle 46"/>
          <p:cNvSpPr/>
          <p:nvPr/>
        </p:nvSpPr>
        <p:spPr>
          <a:xfrm>
            <a:off x="8183880" y="1645920"/>
            <a:ext cx="3520440" cy="356616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8183880" y="1645920"/>
            <a:ext cx="3520440" cy="40233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183880" y="1737360"/>
            <a:ext cx="3520440" cy="274320"/>
          </a:xfrm>
          <a:prstGeom prst="rect">
            <a:avLst/>
          </a:prstGeom>
          <a:noFill/>
        </p:spPr>
        <p:txBody>
          <a:bodyPr wrap="square" lIns="0" rIns="0" tIns="0" bIns="0" anchor="t">
            <a:spAutoFit/>
          </a:bodyPr>
          <a:lstStyle/>
          <a:p>
            <a:pPr algn="ctr">
              <a:lnSpc>
                <a:spcPct val="100000"/>
              </a:lnSpc>
              <a:buNone/>
            </a:pPr>
            <a:r>
              <a:rPr sz="1200" b="1">
                <a:solidFill>
                  <a:srgbClr val="FFFFFF"/>
                </a:solidFill>
                <a:latin typeface="Segoe UI"/>
              </a:rPr>
              <a:t>SUBAMORTIGUADO</a:t>
            </a:r>
          </a:p>
        </p:txBody>
      </p:sp>
      <p:sp>
        <p:nvSpPr>
          <p:cNvPr id="50" name="TextBox 49"/>
          <p:cNvSpPr txBox="1"/>
          <p:nvPr/>
        </p:nvSpPr>
        <p:spPr>
          <a:xfrm>
            <a:off x="8183880" y="2121408"/>
            <a:ext cx="3520440" cy="274320"/>
          </a:xfrm>
          <a:prstGeom prst="rect">
            <a:avLst/>
          </a:prstGeom>
          <a:noFill/>
        </p:spPr>
        <p:txBody>
          <a:bodyPr wrap="square" lIns="0" rIns="0" tIns="0" bIns="0" anchor="t">
            <a:spAutoFit/>
          </a:bodyPr>
          <a:lstStyle/>
          <a:p>
            <a:pPr algn="ctr">
              <a:lnSpc>
                <a:spcPct val="100000"/>
              </a:lnSpc>
              <a:buNone/>
            </a:pPr>
            <a:r>
              <a:rPr sz="1050" b="1">
                <a:solidFill>
                  <a:srgbClr val="C0392B"/>
                </a:solidFill>
                <a:latin typeface="Segoe UI"/>
              </a:rPr>
              <a:t>Ganancia excesiva</a:t>
            </a:r>
          </a:p>
        </p:txBody>
      </p:sp>
      <p:cxnSp>
        <p:nvCxnSpPr>
          <p:cNvPr id="51" name="Connector 50"/>
          <p:cNvCxnSpPr/>
          <p:nvPr/>
        </p:nvCxnSpPr>
        <p:spPr>
          <a:xfrm>
            <a:off x="8595360" y="4956048"/>
            <a:ext cx="2834640" cy="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8595360" y="3127248"/>
            <a:ext cx="0" cy="1828800"/>
          </a:xfrm>
          <a:prstGeom prst="line">
            <a:avLst/>
          </a:prstGeom>
          <a:ln w="13970">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595360" y="3738067"/>
            <a:ext cx="2834640" cy="0"/>
          </a:xfrm>
          <a:prstGeom prst="line">
            <a:avLst/>
          </a:prstGeom>
          <a:ln w="12700">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0561320" y="3500323"/>
            <a:ext cx="868680" cy="237744"/>
          </a:xfrm>
          <a:prstGeom prst="rect">
            <a:avLst/>
          </a:prstGeom>
          <a:noFill/>
        </p:spPr>
        <p:txBody>
          <a:bodyPr wrap="square" lIns="0" rIns="0" tIns="0" bIns="0" anchor="t">
            <a:spAutoFit/>
          </a:bodyPr>
          <a:lstStyle/>
          <a:p>
            <a:pPr algn="r">
              <a:lnSpc>
                <a:spcPct val="100000"/>
              </a:lnSpc>
              <a:buNone/>
            </a:pPr>
            <a:r>
              <a:rPr sz="800" b="0">
                <a:solidFill>
                  <a:srgbClr val="5A6B7B"/>
                </a:solidFill>
                <a:latin typeface="Segoe UI"/>
              </a:rPr>
              <a:t>consigna</a:t>
            </a:r>
          </a:p>
        </p:txBody>
      </p:sp>
      <p:cxnSp>
        <p:nvCxnSpPr>
          <p:cNvPr id="55" name="Connector 54"/>
          <p:cNvCxnSpPr/>
          <p:nvPr/>
        </p:nvCxnSpPr>
        <p:spPr>
          <a:xfrm flipV="1">
            <a:off x="8595360" y="4200899"/>
            <a:ext cx="283464" cy="75514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8878824" y="3555370"/>
            <a:ext cx="283464" cy="64552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9162288" y="3397032"/>
            <a:ext cx="283464" cy="158338"/>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445752" y="3397032"/>
            <a:ext cx="283464" cy="280136"/>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9216" y="3677168"/>
            <a:ext cx="283464" cy="231416"/>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10012680" y="3798966"/>
            <a:ext cx="283464" cy="109618"/>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10296144" y="3664988"/>
            <a:ext cx="283464" cy="133978"/>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579608" y="3664988"/>
            <a:ext cx="283464" cy="4871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863072" y="3713707"/>
            <a:ext cx="283464" cy="4871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11146536" y="3738067"/>
            <a:ext cx="283464" cy="24359"/>
          </a:xfrm>
          <a:prstGeom prst="line">
            <a:avLst/>
          </a:prstGeom>
          <a:ln w="25400">
            <a:solidFill>
              <a:srgbClr val="C0392B"/>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8458200" y="2487168"/>
            <a:ext cx="2971800" cy="640080"/>
          </a:xfrm>
          <a:prstGeom prst="rect">
            <a:avLst/>
          </a:prstGeom>
          <a:noFill/>
        </p:spPr>
        <p:txBody>
          <a:bodyPr wrap="square" lIns="0" rIns="0" tIns="0" bIns="0" anchor="t">
            <a:spAutoFit/>
          </a:bodyPr>
          <a:lstStyle/>
          <a:p>
            <a:pPr algn="ctr">
              <a:lnSpc>
                <a:spcPct val="115000"/>
              </a:lnSpc>
              <a:buNone/>
            </a:pPr>
            <a:r>
              <a:rPr sz="1050" b="0">
                <a:solidFill>
                  <a:srgbClr val="5A6B7B"/>
                </a:solidFill>
                <a:latin typeface="Segoe UI"/>
              </a:rPr>
              <a:t>Se pasa y oscila.</a:t>
            </a:r>
          </a:p>
          <a:p>
            <a:pPr algn="ctr">
              <a:lnSpc>
                <a:spcPct val="115000"/>
              </a:lnSpc>
              <a:buNone/>
            </a:pPr>
            <a:r>
              <a:rPr sz="1050" b="0">
                <a:solidFill>
                  <a:srgbClr val="5A6B7B"/>
                </a:solidFill>
                <a:latin typeface="Segoe UI"/>
              </a:rPr>
              <a:t>Ruidoso y más lento.</a:t>
            </a:r>
          </a:p>
        </p:txBody>
      </p:sp>
      <p:sp>
        <p:nvSpPr>
          <p:cNvPr id="66" name="Rectangle 65"/>
          <p:cNvSpPr/>
          <p:nvPr/>
        </p:nvSpPr>
        <p:spPr>
          <a:xfrm>
            <a:off x="594360" y="5779008"/>
            <a:ext cx="11018520" cy="54864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594360" y="5779008"/>
            <a:ext cx="68580" cy="54864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68680" y="5916168"/>
            <a:ext cx="1051560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Lo que hay que retener: pasarse de ganancia no acelera la máquina, la ralentiza.</a:t>
            </a:r>
          </a:p>
        </p:txBody>
      </p:sp>
      <p:sp>
        <p:nvSpPr>
          <p:cNvPr id="69" name="TextBox 68"/>
          <p:cNvSpPr txBox="1"/>
          <p:nvPr/>
        </p:nvSpPr>
        <p:spPr>
          <a:xfrm>
            <a:off x="868680" y="6190488"/>
            <a:ext cx="10515600" cy="45720"/>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Los criterios: qué es un eje bien sintonizado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Sin criterio de medida no hay ajuste, sólo opinión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89</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950" b="1">
                <a:solidFill>
                  <a:srgbClr val="1B5EA8"/>
                </a:solidFill>
                <a:latin typeface="Segoe UI Semibold"/>
              </a:rPr>
              <a:t>Los cuatro indicadores objetivos</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Error de seguimiento</a:t>
            </a:r>
            <a:r>
              <a:rPr sz="1000" b="1">
                <a:solidFill>
                  <a:srgbClr val="1C2430"/>
                </a:solidFill>
                <a:latin typeface="Segoe UI"/>
              </a:rPr>
              <a:t> durante el movimiento (</a:t>
            </a:r>
            <a:r>
              <a:rPr sz="1000" b="1">
                <a:solidFill>
                  <a:srgbClr val="1C2430"/>
                </a:solidFill>
                <a:latin typeface="Consolas"/>
              </a:rPr>
              <a:t>Un008</a:t>
            </a:r>
            <a:r>
              <a:rPr sz="1000" b="1">
                <a:solidFill>
                  <a:srgbClr val="1C2430"/>
                </a:solidFill>
                <a:latin typeface="Segoe UI"/>
              </a:rPr>
              <a:t>): cuánto se retrasa la posición real respecto a la consigna. Depende sobre todo de </a:t>
            </a:r>
            <a:r>
              <a:rPr sz="1000" b="1">
                <a:solidFill>
                  <a:srgbClr val="1C2430"/>
                </a:solidFill>
                <a:latin typeface="Consolas"/>
              </a:rPr>
              <a:t>Pn102</a:t>
            </a:r>
            <a:r>
              <a:rPr sz="1000" b="1">
                <a:solidFill>
                  <a:srgbClr val="1C2430"/>
                </a:solidFill>
                <a:latin typeface="Segoe UI"/>
              </a:rPr>
              <a:t> y de la prealimentación.</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Tiempo de estabilización</a:t>
            </a:r>
            <a:r>
              <a:rPr sz="1000" b="1">
                <a:solidFill>
                  <a:srgbClr val="1C2430"/>
                </a:solidFill>
                <a:latin typeface="Segoe UI"/>
              </a:rPr>
              <a:t>: cuánto tarda el eje en entrar en la ventana de posicionado y quedarse dentro.</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Sobrepasamiento (overshoot)</a:t>
            </a:r>
            <a:r>
              <a:rPr sz="1000" b="1">
                <a:solidFill>
                  <a:srgbClr val="1C2430"/>
                </a:solidFill>
                <a:latin typeface="Segoe UI"/>
              </a:rPr>
              <a:t>: cuánto se pasa del destino antes de volver. En muchas aplicaciones debe ser prácticamente nulo.</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Rigidez en parado</a:t>
            </a:r>
            <a:r>
              <a:rPr sz="1000" b="1">
                <a:solidFill>
                  <a:srgbClr val="1C2430"/>
                </a:solidFill>
                <a:latin typeface="Segoe UI"/>
              </a:rPr>
              <a:t>: cuánto se desvía el eje al aplicarle una perturbación externa, y cuánto tarda en recuperar.</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50" b="1">
                <a:solidFill>
                  <a:srgbClr val="1B5EA8"/>
                </a:solidFill>
                <a:latin typeface="Segoe UI Semibold"/>
              </a:rPr>
              <a:t>El compromiso que hay que negociar</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Subir ganancias → más rapidez y más rigidez, pero </a:t>
            </a:r>
            <a:r>
              <a:rPr sz="1000" b="1">
                <a:solidFill>
                  <a:srgbClr val="1C2430"/>
                </a:solidFill>
                <a:latin typeface="Segoe UI"/>
              </a:rPr>
              <a:t>menos margen de estabilidad</a:t>
            </a:r>
            <a:r>
              <a:rPr sz="1000" b="1">
                <a:solidFill>
                  <a:srgbClr val="1C2430"/>
                </a:solidFill>
                <a:latin typeface="Segoe UI"/>
              </a:rPr>
              <a:t>: ruido audible, vibración y, en el límite, oscilación.</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Bajar ganancias → más suavidad y silencio, pero </a:t>
            </a:r>
            <a:r>
              <a:rPr sz="1000" b="1">
                <a:solidFill>
                  <a:srgbClr val="1C2430"/>
                </a:solidFill>
                <a:latin typeface="Segoe UI"/>
              </a:rPr>
              <a:t>más error de seguimiento</a:t>
            </a:r>
            <a:r>
              <a:rPr sz="1000" b="1">
                <a:solidFill>
                  <a:srgbClr val="1C2430"/>
                </a:solidFill>
                <a:latin typeface="Segoe UI"/>
              </a:rPr>
              <a:t> y ciclos más lentos.</a:t>
            </a:r>
          </a:p>
          <a:p>
            <a:pPr marL="566928" indent="-201168">
              <a:lnSpc>
                <a:spcPct val="106000"/>
              </a:lnSpc>
              <a:spcAft>
                <a:spcPts val="500"/>
              </a:spcAft>
              <a:buClr>
                <a:srgbClr val="00A9CE"/>
              </a:buClr>
              <a:buSzPct val="90000"/>
              <a:buFont typeface="Arial"/>
              <a:buChar char="▸"/>
            </a:pPr>
            <a:r>
              <a:rPr sz="850" b="0">
                <a:solidFill>
                  <a:srgbClr val="333F4C"/>
                </a:solidFill>
                <a:latin typeface="Segoe UI"/>
              </a:rPr>
              <a:t>No existe un ajuste 'correcto' universal: una rectificadora y una paletizadora piden cosas opuestas.</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950" b="1">
                <a:solidFill>
                  <a:srgbClr val="1B5EA8"/>
                </a:solidFill>
                <a:latin typeface="Segoe UI Semibold"/>
              </a:rPr>
              <a:t>Cómo se mide en la práctica</a:t>
            </a:r>
          </a:p>
          <a:p>
            <a:pPr marL="274320" indent="-201168">
              <a:lnSpc>
                <a:spcPct val="106000"/>
              </a:lnSpc>
              <a:spcAft>
                <a:spcPts val="900"/>
              </a:spcAft>
              <a:buClr>
                <a:srgbClr val="1B5EA8"/>
              </a:buClr>
              <a:buSzPct val="90000"/>
              <a:buFont typeface="Arial"/>
              <a:buChar char="■"/>
            </a:pPr>
            <a:r>
              <a:rPr sz="1000" b="1">
                <a:solidFill>
                  <a:srgbClr val="1C2430"/>
                </a:solidFill>
                <a:latin typeface="Segoe UI"/>
              </a:rPr>
              <a:t>Con la </a:t>
            </a:r>
            <a:r>
              <a:rPr sz="1000" b="1">
                <a:solidFill>
                  <a:srgbClr val="1C2430"/>
                </a:solidFill>
                <a:latin typeface="Segoe UI"/>
              </a:rPr>
              <a:t>traza de SigmaWin+</a:t>
            </a:r>
            <a:r>
              <a:rPr sz="1000" b="1">
                <a:solidFill>
                  <a:srgbClr val="1C2430"/>
                </a:solidFill>
                <a:latin typeface="Segoe UI"/>
              </a:rPr>
              <a:t>: consigna, posición real, error, velocidad y par en la misma captura y con la misma base de tiempos.</a:t>
            </a:r>
          </a:p>
          <a:p>
            <a:pPr marL="566928" indent="-201168">
              <a:lnSpc>
                <a:spcPct val="106000"/>
              </a:lnSpc>
              <a:spcAft>
                <a:spcPts val="500"/>
              </a:spcAft>
              <a:buClr>
                <a:srgbClr val="00A9CE"/>
              </a:buClr>
              <a:buSzPct val="90000"/>
              <a:buFont typeface="Arial"/>
              <a:buChar char="▸"/>
            </a:pPr>
            <a:r>
              <a:rPr sz="850" b="0">
                <a:solidFill>
                  <a:srgbClr val="333F4C"/>
                </a:solidFill>
                <a:latin typeface="Segoe UI"/>
              </a:rPr>
              <a:t>Guarda las capturas de antes y después: son la prueba objetiva de la mejora y la referencia para el futuro.</a:t>
            </a:r>
          </a:p>
        </p:txBody>
      </p:sp>
      <p:sp>
        <p:nvSpPr>
          <p:cNvPr id="10" name="Rectangle 9"/>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Pregunta que hay que hacerse antes de empezar</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¿Qué necesita esta máquina: precisión final, velocidad de ciclo o suavidad? El ajuste óptimo es distinto en cada caso, y conviene acordarlo con el responsable del proceso antes de tocar nada.</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Las herramientas de ajuste de la Σ-7</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Seis niveles, del automático total al control absoluto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90</a:t>
            </a:r>
          </a:p>
        </p:txBody>
      </p:sp>
      <p:sp>
        <p:nvSpPr>
          <p:cNvPr id="9" name="Rectangle 8"/>
          <p:cNvSpPr/>
          <p:nvPr/>
        </p:nvSpPr>
        <p:spPr>
          <a:xfrm>
            <a:off x="566928" y="1481328"/>
            <a:ext cx="3515258" cy="2295144"/>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0292" cy="229514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Ajuste sin sintonizar (tuning-less)</a:t>
            </a:r>
          </a:p>
        </p:txBody>
      </p:sp>
      <p:sp>
        <p:nvSpPr>
          <p:cNvPr id="12" name="TextBox 11"/>
          <p:cNvSpPr txBox="1"/>
          <p:nvPr/>
        </p:nvSpPr>
        <p:spPr>
          <a:xfrm>
            <a:off x="822960" y="2194560"/>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Consolas"/>
              </a:rPr>
              <a:t>Pn170</a:t>
            </a:r>
            <a:r>
              <a:rPr sz="1050" b="0">
                <a:solidFill>
                  <a:srgbClr val="2B3644"/>
                </a:solidFill>
                <a:latin typeface="Segoe UI"/>
              </a:rPr>
              <a:t>. Activo de fábrica.</a:t>
            </a:r>
          </a:p>
          <a:p>
            <a:pPr>
              <a:lnSpc>
                <a:spcPct val="105000"/>
              </a:lnSpc>
              <a:spcAft>
                <a:spcPts val="400"/>
              </a:spcAft>
              <a:buNone/>
            </a:pPr>
            <a:r>
              <a:rPr sz="1050" b="0">
                <a:solidFill>
                  <a:srgbClr val="2B3644"/>
                </a:solidFill>
                <a:latin typeface="Segoe UI"/>
              </a:rPr>
              <a:t>El drive se adapta solo a la carga sin necesidad de conocer la inercia.</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el eje funciona razonablemente nada más arrancar.</a:t>
            </a:r>
          </a:p>
          <a:p>
            <a:pPr>
              <a:lnSpc>
                <a:spcPct val="105000"/>
              </a:lnSpc>
              <a:spcAft>
                <a:spcPts val="400"/>
              </a:spcAft>
              <a:buNone/>
            </a:pPr>
            <a:r>
              <a:rPr sz="1050" b="1">
                <a:solidFill>
                  <a:srgbClr val="2B3644"/>
                </a:solidFill>
                <a:latin typeface="Segoe UI"/>
              </a:rPr>
              <a:t>Límite</a:t>
            </a:r>
            <a:r>
              <a:rPr sz="1050" b="0">
                <a:solidFill>
                  <a:srgbClr val="2B3644"/>
                </a:solidFill>
                <a:latin typeface="Segoe UI"/>
              </a:rPr>
              <a:t>: no alcanza las prestaciones de un ajuste específico. Hay que desactivarlo al pasar a ajuste manual.</a:t>
            </a:r>
          </a:p>
        </p:txBody>
      </p:sp>
      <p:sp>
        <p:nvSpPr>
          <p:cNvPr id="13" name="Rectangle 12"/>
          <p:cNvSpPr/>
          <p:nvPr/>
        </p:nvSpPr>
        <p:spPr>
          <a:xfrm>
            <a:off x="4338218" y="1481328"/>
            <a:ext cx="3515258" cy="2295144"/>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38218" y="1481328"/>
            <a:ext cx="50292" cy="229514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9425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Autoajuste avanzado (</a:t>
            </a:r>
            <a:r>
              <a:rPr sz="1400" b="1">
                <a:solidFill>
                  <a:srgbClr val="0B2545"/>
                </a:solidFill>
                <a:latin typeface="Consolas"/>
              </a:rPr>
              <a:t>Fn201</a:t>
            </a:r>
            <a:r>
              <a:rPr sz="1400" b="1">
                <a:solidFill>
                  <a:srgbClr val="0B2545"/>
                </a:solidFill>
                <a:latin typeface="Segoe UI Semibold"/>
              </a:rPr>
              <a:t>)</a:t>
            </a:r>
          </a:p>
        </p:txBody>
      </p:sp>
      <p:sp>
        <p:nvSpPr>
          <p:cNvPr id="16" name="TextBox 15"/>
          <p:cNvSpPr txBox="1"/>
          <p:nvPr/>
        </p:nvSpPr>
        <p:spPr>
          <a:xfrm>
            <a:off x="4594250" y="2194560"/>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El drive mueve el eje él mismo con un patrón interno, mide la inercia y calcula ganancias y filtros.</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rápido y sorprendentemente bueno.</a:t>
            </a:r>
          </a:p>
          <a:p>
            <a:pPr>
              <a:lnSpc>
                <a:spcPct val="105000"/>
              </a:lnSpc>
              <a:spcAft>
                <a:spcPts val="400"/>
              </a:spcAft>
              <a:buNone/>
            </a:pPr>
            <a:r>
              <a:rPr sz="1050" b="1">
                <a:solidFill>
                  <a:srgbClr val="2B3644"/>
                </a:solidFill>
                <a:latin typeface="Segoe UI"/>
              </a:rPr>
              <a:t>Requisito</a:t>
            </a:r>
            <a:r>
              <a:rPr sz="1050" b="0">
                <a:solidFill>
                  <a:srgbClr val="2B3644"/>
                </a:solidFill>
                <a:latin typeface="Segoe UI"/>
              </a:rPr>
              <a:t>: espacio de movimiento libre y carga real acoplada.</a:t>
            </a:r>
          </a:p>
        </p:txBody>
      </p:sp>
      <p:sp>
        <p:nvSpPr>
          <p:cNvPr id="17" name="Rectangle 16"/>
          <p:cNvSpPr/>
          <p:nvPr/>
        </p:nvSpPr>
        <p:spPr>
          <a:xfrm>
            <a:off x="8109508" y="1481328"/>
            <a:ext cx="3515258" cy="2295144"/>
          </a:xfrm>
          <a:prstGeom prst="rect">
            <a:avLst/>
          </a:prstGeom>
          <a:solidFill>
            <a:srgbClr val="E0F5FA"/>
          </a:solidFill>
          <a:ln w="9525">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109508" y="1481328"/>
            <a:ext cx="50292" cy="2295144"/>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65540" y="1664208"/>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Autoajuste con referencia (</a:t>
            </a:r>
            <a:r>
              <a:rPr sz="1400" b="1">
                <a:solidFill>
                  <a:srgbClr val="0B2545"/>
                </a:solidFill>
                <a:latin typeface="Consolas"/>
              </a:rPr>
              <a:t>Fn202</a:t>
            </a:r>
            <a:r>
              <a:rPr sz="1400" b="1">
                <a:solidFill>
                  <a:srgbClr val="0B2545"/>
                </a:solidFill>
                <a:latin typeface="Segoe UI Semibold"/>
              </a:rPr>
              <a:t>)</a:t>
            </a:r>
          </a:p>
        </p:txBody>
      </p:sp>
      <p:sp>
        <p:nvSpPr>
          <p:cNvPr id="20" name="TextBox 19"/>
          <p:cNvSpPr txBox="1"/>
          <p:nvPr/>
        </p:nvSpPr>
        <p:spPr>
          <a:xfrm>
            <a:off x="8365540" y="2194560"/>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Igual que el anterior, pero usando el </a:t>
            </a:r>
            <a:r>
              <a:rPr sz="1050" b="1">
                <a:solidFill>
                  <a:srgbClr val="2B3644"/>
                </a:solidFill>
                <a:latin typeface="Segoe UI"/>
              </a:rPr>
              <a:t>movimiento real</a:t>
            </a:r>
            <a:r>
              <a:rPr sz="1050" b="0">
                <a:solidFill>
                  <a:srgbClr val="2B3644"/>
                </a:solidFill>
                <a:latin typeface="Segoe UI"/>
              </a:rPr>
              <a:t> que envía el controlador.</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ajusta para el ciclo que la máquina hace de verdad.</a:t>
            </a:r>
          </a:p>
          <a:p>
            <a:pPr>
              <a:lnSpc>
                <a:spcPct val="105000"/>
              </a:lnSpc>
              <a:spcAft>
                <a:spcPts val="400"/>
              </a:spcAft>
              <a:buNone/>
            </a:pPr>
            <a:r>
              <a:rPr sz="1050" b="1">
                <a:solidFill>
                  <a:srgbClr val="2B3644"/>
                </a:solidFill>
                <a:latin typeface="Segoe UI"/>
              </a:rPr>
              <a:t>Uso</a:t>
            </a:r>
            <a:r>
              <a:rPr sz="1050" b="0">
                <a:solidFill>
                  <a:srgbClr val="2B3644"/>
                </a:solidFill>
                <a:latin typeface="Segoe UI"/>
              </a:rPr>
              <a:t>: cuando no hay recorrido libre para el patrón interno.</a:t>
            </a:r>
          </a:p>
        </p:txBody>
      </p:sp>
      <p:sp>
        <p:nvSpPr>
          <p:cNvPr id="21" name="Rectangle 20"/>
          <p:cNvSpPr/>
          <p:nvPr/>
        </p:nvSpPr>
        <p:spPr>
          <a:xfrm>
            <a:off x="566928" y="4032504"/>
            <a:ext cx="3515258" cy="2295144"/>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4032504"/>
            <a:ext cx="50292" cy="229514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4215384"/>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Ajuste de un parámetro (</a:t>
            </a:r>
            <a:r>
              <a:rPr sz="1400" b="1">
                <a:solidFill>
                  <a:srgbClr val="0B2545"/>
                </a:solidFill>
                <a:latin typeface="Consolas"/>
              </a:rPr>
              <a:t>Fn203</a:t>
            </a:r>
            <a:r>
              <a:rPr sz="1400" b="1">
                <a:solidFill>
                  <a:srgbClr val="0B2545"/>
                </a:solidFill>
                <a:latin typeface="Segoe UI Semibold"/>
              </a:rPr>
              <a:t>)</a:t>
            </a:r>
          </a:p>
        </p:txBody>
      </p:sp>
      <p:sp>
        <p:nvSpPr>
          <p:cNvPr id="24" name="TextBox 23"/>
          <p:cNvSpPr txBox="1"/>
          <p:nvPr/>
        </p:nvSpPr>
        <p:spPr>
          <a:xfrm>
            <a:off x="822960" y="4745736"/>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Un único mando de 'rigidez' que escala todas las ganancias de forma coordinada.</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muy intuitivo para afinar después del autoajuste.</a:t>
            </a:r>
          </a:p>
          <a:p>
            <a:pPr>
              <a:lnSpc>
                <a:spcPct val="105000"/>
              </a:lnSpc>
              <a:spcAft>
                <a:spcPts val="400"/>
              </a:spcAft>
              <a:buNone/>
            </a:pPr>
            <a:r>
              <a:rPr sz="1050" b="1">
                <a:solidFill>
                  <a:srgbClr val="2B3644"/>
                </a:solidFill>
                <a:latin typeface="Segoe UI"/>
              </a:rPr>
              <a:t>Uso típico</a:t>
            </a:r>
            <a:r>
              <a:rPr sz="1050" b="0">
                <a:solidFill>
                  <a:srgbClr val="2B3644"/>
                </a:solidFill>
                <a:latin typeface="Segoe UI"/>
              </a:rPr>
              <a:t>: subir rigidez hasta que aparece ruido y retroceder un escalón.</a:t>
            </a:r>
          </a:p>
        </p:txBody>
      </p:sp>
      <p:sp>
        <p:nvSpPr>
          <p:cNvPr id="25" name="Rectangle 24"/>
          <p:cNvSpPr/>
          <p:nvPr/>
        </p:nvSpPr>
        <p:spPr>
          <a:xfrm>
            <a:off x="4338218" y="4032504"/>
            <a:ext cx="3515258" cy="2295144"/>
          </a:xfrm>
          <a:prstGeom prst="rect">
            <a:avLst/>
          </a:prstGeom>
          <a:solidFill>
            <a:srgbClr val="F2F5F8"/>
          </a:solidFill>
          <a:ln w="9525">
            <a:solidFill>
              <a:srgbClr val="5A6B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38218" y="4032504"/>
            <a:ext cx="50292" cy="2295144"/>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94250" y="4215384"/>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Ajuste manual</a:t>
            </a:r>
          </a:p>
        </p:txBody>
      </p:sp>
      <p:sp>
        <p:nvSpPr>
          <p:cNvPr id="28" name="TextBox 27"/>
          <p:cNvSpPr txBox="1"/>
          <p:nvPr/>
        </p:nvSpPr>
        <p:spPr>
          <a:xfrm>
            <a:off x="4594250" y="4745736"/>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Control total sobre </a:t>
            </a:r>
            <a:r>
              <a:rPr sz="1050" b="0">
                <a:solidFill>
                  <a:srgbClr val="2B3644"/>
                </a:solidFill>
                <a:latin typeface="Consolas"/>
              </a:rPr>
              <a:t>Pn103</a:t>
            </a:r>
            <a:r>
              <a:rPr sz="1050" b="0">
                <a:solidFill>
                  <a:srgbClr val="2B3644"/>
                </a:solidFill>
                <a:latin typeface="Segoe UI"/>
              </a:rPr>
              <a:t>, </a:t>
            </a:r>
            <a:r>
              <a:rPr sz="1050" b="0">
                <a:solidFill>
                  <a:srgbClr val="2B3644"/>
                </a:solidFill>
                <a:latin typeface="Consolas"/>
              </a:rPr>
              <a:t>Pn100</a:t>
            </a:r>
            <a:r>
              <a:rPr sz="1050" b="0">
                <a:solidFill>
                  <a:srgbClr val="2B3644"/>
                </a:solidFill>
                <a:latin typeface="Segoe UI"/>
              </a:rPr>
              <a:t>, </a:t>
            </a:r>
            <a:r>
              <a:rPr sz="1050" b="0">
                <a:solidFill>
                  <a:srgbClr val="2B3644"/>
                </a:solidFill>
                <a:latin typeface="Consolas"/>
              </a:rPr>
              <a:t>Pn101</a:t>
            </a:r>
            <a:r>
              <a:rPr sz="1050" b="0">
                <a:solidFill>
                  <a:srgbClr val="2B3644"/>
                </a:solidFill>
                <a:latin typeface="Segoe UI"/>
              </a:rPr>
              <a:t>, </a:t>
            </a:r>
            <a:r>
              <a:rPr sz="1050" b="0">
                <a:solidFill>
                  <a:srgbClr val="2B3644"/>
                </a:solidFill>
                <a:latin typeface="Consolas"/>
              </a:rPr>
              <a:t>Pn102</a:t>
            </a:r>
            <a:r>
              <a:rPr sz="1050" b="0">
                <a:solidFill>
                  <a:srgbClr val="2B3644"/>
                </a:solidFill>
                <a:latin typeface="Segoe UI"/>
              </a:rPr>
              <a:t> y </a:t>
            </a:r>
            <a:r>
              <a:rPr sz="1050" b="0">
                <a:solidFill>
                  <a:srgbClr val="2B3644"/>
                </a:solidFill>
                <a:latin typeface="Consolas"/>
              </a:rPr>
              <a:t>Pn401</a:t>
            </a:r>
            <a:r>
              <a:rPr sz="1050" b="0">
                <a:solidFill>
                  <a:srgbClr val="2B3644"/>
                </a:solidFill>
                <a:latin typeface="Segoe UI"/>
              </a:rPr>
              <a:t>.</a:t>
            </a:r>
          </a:p>
          <a:p>
            <a:pPr>
              <a:lnSpc>
                <a:spcPct val="105000"/>
              </a:lnSpc>
              <a:spcAft>
                <a:spcPts val="400"/>
              </a:spcAft>
              <a:buNone/>
            </a:pPr>
            <a:r>
              <a:rPr sz="1050" b="1">
                <a:solidFill>
                  <a:srgbClr val="2B3644"/>
                </a:solidFill>
                <a:latin typeface="Segoe UI"/>
              </a:rPr>
              <a:t>Ventaja</a:t>
            </a:r>
            <a:r>
              <a:rPr sz="1050" b="0">
                <a:solidFill>
                  <a:srgbClr val="2B3644"/>
                </a:solidFill>
                <a:latin typeface="Segoe UI"/>
              </a:rPr>
              <a:t>: es la única vía para exprimir un eje difícil.</a:t>
            </a:r>
          </a:p>
          <a:p>
            <a:pPr>
              <a:lnSpc>
                <a:spcPct val="105000"/>
              </a:lnSpc>
              <a:spcAft>
                <a:spcPts val="400"/>
              </a:spcAft>
              <a:buNone/>
            </a:pPr>
            <a:r>
              <a:rPr sz="1050" b="1">
                <a:solidFill>
                  <a:srgbClr val="2B3644"/>
                </a:solidFill>
                <a:latin typeface="Segoe UI"/>
              </a:rPr>
              <a:t>Requisito</a:t>
            </a:r>
            <a:r>
              <a:rPr sz="1050" b="0">
                <a:solidFill>
                  <a:srgbClr val="2B3644"/>
                </a:solidFill>
                <a:latin typeface="Segoe UI"/>
              </a:rPr>
              <a:t>: entender el orden de ajuste y disponer de traza para medir.</a:t>
            </a:r>
          </a:p>
        </p:txBody>
      </p:sp>
      <p:sp>
        <p:nvSpPr>
          <p:cNvPr id="29" name="Rectangle 28"/>
          <p:cNvSpPr/>
          <p:nvPr/>
        </p:nvSpPr>
        <p:spPr>
          <a:xfrm>
            <a:off x="8109508" y="4032504"/>
            <a:ext cx="3515258" cy="2295144"/>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109508" y="4032504"/>
            <a:ext cx="50292" cy="229514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65540" y="4215384"/>
            <a:ext cx="3058058" cy="457200"/>
          </a:xfrm>
          <a:prstGeom prst="rect">
            <a:avLst/>
          </a:prstGeom>
          <a:noFill/>
        </p:spPr>
        <p:txBody>
          <a:bodyPr wrap="square" lIns="0" rIns="0" tIns="0" bIns="0" anchor="t">
            <a:spAutoFit/>
          </a:bodyPr>
          <a:lstStyle/>
          <a:p>
            <a:pPr algn="l">
              <a:lnSpc>
                <a:spcPct val="102000"/>
              </a:lnSpc>
              <a:buNone/>
            </a:pPr>
            <a:r>
              <a:rPr sz="1400" b="1">
                <a:solidFill>
                  <a:srgbClr val="0B2545"/>
                </a:solidFill>
                <a:latin typeface="Segoe UI Semibold"/>
              </a:rPr>
              <a:t>Herramientas complementarias</a:t>
            </a:r>
          </a:p>
        </p:txBody>
      </p:sp>
      <p:sp>
        <p:nvSpPr>
          <p:cNvPr id="32" name="TextBox 31"/>
          <p:cNvSpPr txBox="1"/>
          <p:nvPr/>
        </p:nvSpPr>
        <p:spPr>
          <a:xfrm>
            <a:off x="8365540" y="4745736"/>
            <a:ext cx="3058058" cy="1426464"/>
          </a:xfrm>
          <a:prstGeom prst="rect">
            <a:avLst/>
          </a:prstGeom>
          <a:noFill/>
        </p:spPr>
        <p:txBody>
          <a:bodyPr wrap="square" lIns="0" rIns="0" tIns="0" bIns="0">
            <a:spAutoFit/>
          </a:bodyPr>
          <a:lstStyle/>
          <a:p>
            <a:pPr>
              <a:lnSpc>
                <a:spcPct val="105000"/>
              </a:lnSpc>
              <a:spcAft>
                <a:spcPts val="400"/>
              </a:spcAft>
              <a:buNone/>
            </a:pPr>
            <a:r>
              <a:rPr sz="1050" b="0">
                <a:solidFill>
                  <a:srgbClr val="2B3644"/>
                </a:solidFill>
                <a:latin typeface="Segoe UI"/>
              </a:rPr>
              <a:t>· </a:t>
            </a:r>
            <a:r>
              <a:rPr sz="1050" b="0">
                <a:solidFill>
                  <a:srgbClr val="2B3644"/>
                </a:solidFill>
                <a:latin typeface="Consolas"/>
              </a:rPr>
              <a:t>Fn206</a:t>
            </a:r>
            <a:r>
              <a:rPr sz="1050" b="0">
                <a:solidFill>
                  <a:srgbClr val="2B3644"/>
                </a:solidFill>
                <a:latin typeface="Segoe UI"/>
              </a:rPr>
              <a:t> análisis en frecuencia para localizar resonancias.</a:t>
            </a:r>
          </a:p>
          <a:p>
            <a:pPr>
              <a:lnSpc>
                <a:spcPct val="105000"/>
              </a:lnSpc>
              <a:spcAft>
                <a:spcPts val="400"/>
              </a:spcAft>
              <a:buNone/>
            </a:pPr>
            <a:r>
              <a:rPr sz="1050" b="0">
                <a:solidFill>
                  <a:srgbClr val="2B3644"/>
                </a:solidFill>
                <a:latin typeface="Segoe UI"/>
              </a:rPr>
              <a:t>· </a:t>
            </a:r>
            <a:r>
              <a:rPr sz="1050" b="0">
                <a:solidFill>
                  <a:srgbClr val="2B3644"/>
                </a:solidFill>
                <a:latin typeface="Consolas"/>
              </a:rPr>
              <a:t>Fn205</a:t>
            </a:r>
            <a:r>
              <a:rPr sz="1050" b="0">
                <a:solidFill>
                  <a:srgbClr val="2B3644"/>
                </a:solidFill>
                <a:latin typeface="Segoe UI"/>
              </a:rPr>
              <a:t> supresión de vibración de baja frecuencia.</a:t>
            </a:r>
          </a:p>
          <a:p>
            <a:pPr>
              <a:lnSpc>
                <a:spcPct val="105000"/>
              </a:lnSpc>
              <a:spcAft>
                <a:spcPts val="400"/>
              </a:spcAft>
              <a:buNone/>
            </a:pPr>
            <a:r>
              <a:rPr sz="1050" b="0">
                <a:solidFill>
                  <a:srgbClr val="2B3644"/>
                </a:solidFill>
                <a:latin typeface="Segoe UI"/>
              </a:rPr>
              <a:t>· </a:t>
            </a:r>
            <a:r>
              <a:rPr sz="1050" b="0">
                <a:solidFill>
                  <a:srgbClr val="2B3644"/>
                </a:solidFill>
                <a:latin typeface="Consolas"/>
              </a:rPr>
              <a:t>Fn204</a:t>
            </a:r>
            <a:r>
              <a:rPr sz="1050" b="0">
                <a:solidFill>
                  <a:srgbClr val="2B3644"/>
                </a:solidFill>
                <a:latin typeface="Segoe UI"/>
              </a:rPr>
              <a:t> ajuste de antirresonancia.</a:t>
            </a:r>
          </a:p>
          <a:p>
            <a:pPr>
              <a:lnSpc>
                <a:spcPct val="105000"/>
              </a:lnSpc>
              <a:spcAft>
                <a:spcPts val="400"/>
              </a:spcAft>
              <a:buNone/>
            </a:pPr>
            <a:r>
              <a:rPr sz="1050" b="0">
                <a:solidFill>
                  <a:srgbClr val="2B3644"/>
                </a:solidFill>
                <a:latin typeface="Segoe UI"/>
              </a:rPr>
              <a:t>· Filtros notch (</a:t>
            </a:r>
            <a:r>
              <a:rPr sz="1050" b="0">
                <a:solidFill>
                  <a:srgbClr val="2B3644"/>
                </a:solidFill>
                <a:latin typeface="Consolas"/>
              </a:rPr>
              <a:t>Pn409</a:t>
            </a:r>
            <a:r>
              <a:rPr sz="1050" b="0">
                <a:solidFill>
                  <a:srgbClr val="2B3644"/>
                </a:solidFill>
                <a:latin typeface="Segoe UI"/>
              </a:rPr>
              <a:t>) y control por modelo (</a:t>
            </a:r>
            <a:r>
              <a:rPr sz="1050" b="0">
                <a:solidFill>
                  <a:srgbClr val="2B3644"/>
                </a:solidFill>
                <a:latin typeface="Consolas"/>
              </a:rPr>
              <a:t>Pn140</a:t>
            </a:r>
            <a:r>
              <a:rPr sz="1050" b="0">
                <a:solidFill>
                  <a:srgbClr val="2B3644"/>
                </a:solidFill>
                <a:latin typeface="Segoe UI"/>
              </a:rPr>
              <a: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Procedimiento de autoajuste avanzado (</a:t>
            </a:r>
            <a:r>
              <a:rPr sz="2500" b="1">
                <a:solidFill>
                  <a:srgbClr val="FFFFFF"/>
                </a:solidFill>
                <a:latin typeface="Consolas"/>
              </a:rPr>
              <a:t>Fn201</a:t>
            </a:r>
            <a:r>
              <a:rPr sz="2500" b="1">
                <a:solidFill>
                  <a:srgbClr val="FFFFFF"/>
                </a:solidFill>
                <a:latin typeface="Segoe UI Semibold"/>
              </a:rPr>
              <a:t>)</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Diez minutos que suelen dar el 90 % del resultado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91</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Preparar el eje</a:t>
            </a:r>
          </a:p>
        </p:txBody>
      </p:sp>
      <p:sp>
        <p:nvSpPr>
          <p:cNvPr id="13" name="TextBox 12"/>
          <p:cNvSpPr txBox="1"/>
          <p:nvPr/>
        </p:nvSpPr>
        <p:spPr>
          <a:xfrm>
            <a:off x="1435608" y="175704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Carga real acoplada, recorrido libre y suficiente, finales de carrera operativos y zona despejada. Guarda antes el fichero de parámetros.</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2</a:t>
            </a:r>
          </a:p>
        </p:txBody>
      </p:sp>
      <p:sp>
        <p:nvSpPr>
          <p:cNvPr id="17" name="TextBox 16"/>
          <p:cNvSpPr txBox="1"/>
          <p:nvPr/>
        </p:nvSpPr>
        <p:spPr>
          <a:xfrm>
            <a:off x="1435608" y="2143614"/>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Elegir el modo de ajuste</a:t>
            </a:r>
          </a:p>
        </p:txBody>
      </p:sp>
      <p:sp>
        <p:nvSpPr>
          <p:cNvPr id="18" name="TextBox 17"/>
          <p:cNvSpPr txBox="1"/>
          <p:nvPr/>
        </p:nvSpPr>
        <p:spPr>
          <a:xfrm>
            <a:off x="1435608" y="2327891"/>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El asistente pregunta si se quiere ajustar sólo la ganancia, también los filtros de resonancia o además la supresión de vibración.</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3</a:t>
            </a:r>
          </a:p>
        </p:txBody>
      </p:sp>
      <p:sp>
        <p:nvSpPr>
          <p:cNvPr id="22" name="TextBox 21"/>
          <p:cNvSpPr txBox="1"/>
          <p:nvPr/>
        </p:nvSpPr>
        <p:spPr>
          <a:xfrm>
            <a:off x="1435608" y="2714461"/>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Indicar el tipo de mecánica</a:t>
            </a:r>
          </a:p>
        </p:txBody>
      </p:sp>
      <p:sp>
        <p:nvSpPr>
          <p:cNvPr id="23" name="TextBox 22"/>
          <p:cNvSpPr txBox="1"/>
          <p:nvPr/>
        </p:nvSpPr>
        <p:spPr>
          <a:xfrm>
            <a:off x="1435608" y="2898738"/>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Correa, husillo o accionamiento directo. El drive usa este dato para elegir un punto de partida razonable.</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4</a:t>
            </a:r>
          </a:p>
        </p:txBody>
      </p:sp>
      <p:sp>
        <p:nvSpPr>
          <p:cNvPr id="27" name="TextBox 26"/>
          <p:cNvSpPr txBox="1"/>
          <p:nvPr/>
        </p:nvSpPr>
        <p:spPr>
          <a:xfrm>
            <a:off x="1435608" y="328530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Definir la amplitud del movimiento de prueba</a:t>
            </a:r>
          </a:p>
        </p:txBody>
      </p:sp>
      <p:sp>
        <p:nvSpPr>
          <p:cNvPr id="28" name="TextBox 27"/>
          <p:cNvSpPr txBox="1"/>
          <p:nvPr/>
        </p:nvSpPr>
        <p:spPr>
          <a:xfrm>
            <a:off x="1435608" y="346958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El drive moverá el eje varias vueltas en ambos sentidos. Comprueba que cabe en el recorrido disponible.</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5</a:t>
            </a:r>
          </a:p>
        </p:txBody>
      </p:sp>
      <p:sp>
        <p:nvSpPr>
          <p:cNvPr id="32" name="TextBox 31"/>
          <p:cNvSpPr txBox="1"/>
          <p:nvPr/>
        </p:nvSpPr>
        <p:spPr>
          <a:xfrm>
            <a:off x="1435608" y="3856155"/>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Ejecutar y observar</a:t>
            </a:r>
          </a:p>
        </p:txBody>
      </p:sp>
      <p:sp>
        <p:nvSpPr>
          <p:cNvPr id="33" name="TextBox 32"/>
          <p:cNvSpPr txBox="1"/>
          <p:nvPr/>
        </p:nvSpPr>
        <p:spPr>
          <a:xfrm>
            <a:off x="1435608" y="4040432"/>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El eje se mueve solo, con ruido y vibración perceptibles: es normal, el drive está explorando el límite de estabilidad.</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6</a:t>
            </a:r>
          </a:p>
        </p:txBody>
      </p:sp>
      <p:sp>
        <p:nvSpPr>
          <p:cNvPr id="37" name="TextBox 36"/>
          <p:cNvSpPr txBox="1"/>
          <p:nvPr/>
        </p:nvSpPr>
        <p:spPr>
          <a:xfrm>
            <a:off x="1435608" y="4427002"/>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Revisar los resultados</a:t>
            </a:r>
          </a:p>
        </p:txBody>
      </p:sp>
      <p:sp>
        <p:nvSpPr>
          <p:cNvPr id="38" name="TextBox 37"/>
          <p:cNvSpPr txBox="1"/>
          <p:nvPr/>
        </p:nvSpPr>
        <p:spPr>
          <a:xfrm>
            <a:off x="1435608" y="4611279"/>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El asistente propone </a:t>
            </a:r>
            <a:r>
              <a:rPr sz="750" b="0">
                <a:solidFill>
                  <a:srgbClr val="3A4654"/>
                </a:solidFill>
                <a:latin typeface="Consolas"/>
              </a:rPr>
              <a:t>Pn103</a:t>
            </a:r>
            <a:r>
              <a:rPr sz="750" b="0">
                <a:solidFill>
                  <a:srgbClr val="3A4654"/>
                </a:solidFill>
                <a:latin typeface="Segoe UI"/>
              </a:rPr>
              <a:t> (inercia medida), ganancias y filtros. Anota especialmente la relación de inercias: valida tu cálculo.</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7</a:t>
            </a:r>
          </a:p>
        </p:txBody>
      </p:sp>
      <p:sp>
        <p:nvSpPr>
          <p:cNvPr id="42" name="TextBox 41"/>
          <p:cNvSpPr txBox="1"/>
          <p:nvPr/>
        </p:nvSpPr>
        <p:spPr>
          <a:xfrm>
            <a:off x="1435608" y="4997849"/>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Aceptar, guardar y verificar con el ciclo real</a:t>
            </a:r>
          </a:p>
        </p:txBody>
      </p:sp>
      <p:sp>
        <p:nvSpPr>
          <p:cNvPr id="43" name="TextBox 42"/>
          <p:cNvSpPr txBox="1"/>
          <p:nvPr/>
        </p:nvSpPr>
        <p:spPr>
          <a:xfrm>
            <a:off x="1435608" y="5182126"/>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Ejecuta el ciclo de producción y captura la traza. Compara con la situación anterior.</a:t>
            </a:r>
          </a:p>
        </p:txBody>
      </p:sp>
      <p:sp>
        <p:nvSpPr>
          <p:cNvPr id="44" name="Rectangle 43"/>
          <p:cNvSpPr/>
          <p:nvPr/>
        </p:nvSpPr>
        <p:spPr>
          <a:xfrm>
            <a:off x="566928" y="5504688"/>
            <a:ext cx="11057839" cy="82296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Precauciones antes de lanzar un autoajuste</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eje se moverá de forma autónoma y con vibración deliberada. Nunca lo ejecutes en un eje vertical sin freno verificado, ni en una máquina con personas cerca, ni con recorrido insuficiente.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Ajuste manual: el orden es innegociable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 dentro hacia fuera: inercia → velocidad → posición → filtros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92</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Desactivar el ajuste automático</a:t>
            </a:r>
          </a:p>
        </p:txBody>
      </p:sp>
      <p:sp>
        <p:nvSpPr>
          <p:cNvPr id="13" name="TextBox 12"/>
          <p:cNvSpPr txBox="1"/>
          <p:nvPr/>
        </p:nvSpPr>
        <p:spPr>
          <a:xfrm>
            <a:off x="1435608" y="175704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Consolas"/>
              </a:rPr>
              <a:t>Pn170</a:t>
            </a:r>
            <a:r>
              <a:rPr sz="750" b="0">
                <a:solidFill>
                  <a:srgbClr val="3A4654"/>
                </a:solidFill>
                <a:latin typeface="Segoe UI"/>
              </a:rPr>
              <a:t> (tuning-less) debe estar desactivado; si no, tus cambios quedarán enmascarados por la adaptación automática.</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2</a:t>
            </a:r>
          </a:p>
        </p:txBody>
      </p:sp>
      <p:sp>
        <p:nvSpPr>
          <p:cNvPr id="17" name="TextBox 16"/>
          <p:cNvSpPr txBox="1"/>
          <p:nvPr/>
        </p:nvSpPr>
        <p:spPr>
          <a:xfrm>
            <a:off x="1435608" y="2143614"/>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Fijar la relación de inercias </a:t>
            </a:r>
            <a:r>
              <a:rPr sz="950" b="1">
                <a:solidFill>
                  <a:srgbClr val="0B2545"/>
                </a:solidFill>
                <a:latin typeface="Consolas"/>
              </a:rPr>
              <a:t>Pn103</a:t>
            </a:r>
          </a:p>
        </p:txBody>
      </p:sp>
      <p:sp>
        <p:nvSpPr>
          <p:cNvPr id="18" name="TextBox 17"/>
          <p:cNvSpPr txBox="1"/>
          <p:nvPr/>
        </p:nvSpPr>
        <p:spPr>
          <a:xfrm>
            <a:off x="1435608" y="2327891"/>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Con el valor medido por el autoajuste o el calculado. </a:t>
            </a:r>
            <a:r>
              <a:rPr sz="750" b="1">
                <a:solidFill>
                  <a:srgbClr val="3A4654"/>
                </a:solidFill>
                <a:latin typeface="Segoe UI"/>
              </a:rPr>
              <a:t>Todo lo demás se escala con este número</a:t>
            </a:r>
            <a:r>
              <a:rPr sz="750" b="0">
                <a:solidFill>
                  <a:srgbClr val="3A4654"/>
                </a:solidFill>
                <a:latin typeface="Segoe UI"/>
              </a:rPr>
              <a:t>: si está mal, nada funcionará bien.</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3</a:t>
            </a:r>
          </a:p>
        </p:txBody>
      </p:sp>
      <p:sp>
        <p:nvSpPr>
          <p:cNvPr id="22" name="TextBox 21"/>
          <p:cNvSpPr txBox="1"/>
          <p:nvPr/>
        </p:nvSpPr>
        <p:spPr>
          <a:xfrm>
            <a:off x="1435608" y="2714461"/>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Ajustar la ganancia del lazo de velocidad </a:t>
            </a:r>
            <a:r>
              <a:rPr sz="950" b="1">
                <a:solidFill>
                  <a:srgbClr val="0B2545"/>
                </a:solidFill>
                <a:latin typeface="Consolas"/>
              </a:rPr>
              <a:t>Pn100</a:t>
            </a:r>
          </a:p>
        </p:txBody>
      </p:sp>
      <p:sp>
        <p:nvSpPr>
          <p:cNvPr id="23" name="TextBox 22"/>
          <p:cNvSpPr txBox="1"/>
          <p:nvPr/>
        </p:nvSpPr>
        <p:spPr>
          <a:xfrm>
            <a:off x="1435608" y="2898738"/>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Súbela progresivamente hasta que aparezca ruido o vibración; después retrocede entre un 10 y un 20 %.</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4</a:t>
            </a:r>
          </a:p>
        </p:txBody>
      </p:sp>
      <p:sp>
        <p:nvSpPr>
          <p:cNvPr id="27" name="TextBox 26"/>
          <p:cNvSpPr txBox="1"/>
          <p:nvPr/>
        </p:nvSpPr>
        <p:spPr>
          <a:xfrm>
            <a:off x="1435608" y="328530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Ajustar la integral de velocidad </a:t>
            </a:r>
            <a:r>
              <a:rPr sz="950" b="1">
                <a:solidFill>
                  <a:srgbClr val="0B2545"/>
                </a:solidFill>
                <a:latin typeface="Consolas"/>
              </a:rPr>
              <a:t>Pn101</a:t>
            </a:r>
          </a:p>
        </p:txBody>
      </p:sp>
      <p:sp>
        <p:nvSpPr>
          <p:cNvPr id="28" name="TextBox 27"/>
          <p:cNvSpPr txBox="1"/>
          <p:nvPr/>
        </p:nvSpPr>
        <p:spPr>
          <a:xfrm>
            <a:off x="1435608" y="346958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Bájala para eliminar el error en régimen y ganar rigidez. Demasiado baja produce oscilación lenta y sobrepasamiento.</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5</a:t>
            </a:r>
          </a:p>
        </p:txBody>
      </p:sp>
      <p:sp>
        <p:nvSpPr>
          <p:cNvPr id="32" name="TextBox 31"/>
          <p:cNvSpPr txBox="1"/>
          <p:nvPr/>
        </p:nvSpPr>
        <p:spPr>
          <a:xfrm>
            <a:off x="1435608" y="3856155"/>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Ajustar la ganancia de posición </a:t>
            </a:r>
            <a:r>
              <a:rPr sz="950" b="1">
                <a:solidFill>
                  <a:srgbClr val="0B2545"/>
                </a:solidFill>
                <a:latin typeface="Consolas"/>
              </a:rPr>
              <a:t>Pn102</a:t>
            </a:r>
          </a:p>
        </p:txBody>
      </p:sp>
      <p:sp>
        <p:nvSpPr>
          <p:cNvPr id="33" name="TextBox 32"/>
          <p:cNvSpPr txBox="1"/>
          <p:nvPr/>
        </p:nvSpPr>
        <p:spPr>
          <a:xfrm>
            <a:off x="1435608" y="4040432"/>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Súbela hasta reducir el error de seguimiento a lo necesario. Regla práctica: debe quedar claramente por debajo de la del lazo de velocidad.</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6</a:t>
            </a:r>
          </a:p>
        </p:txBody>
      </p:sp>
      <p:sp>
        <p:nvSpPr>
          <p:cNvPr id="37" name="TextBox 36"/>
          <p:cNvSpPr txBox="1"/>
          <p:nvPr/>
        </p:nvSpPr>
        <p:spPr>
          <a:xfrm>
            <a:off x="1435608" y="4427002"/>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Ajustar el filtro de par </a:t>
            </a:r>
            <a:r>
              <a:rPr sz="950" b="1">
                <a:solidFill>
                  <a:srgbClr val="0B2545"/>
                </a:solidFill>
                <a:latin typeface="Consolas"/>
              </a:rPr>
              <a:t>Pn401</a:t>
            </a:r>
          </a:p>
        </p:txBody>
      </p:sp>
      <p:sp>
        <p:nvSpPr>
          <p:cNvPr id="38" name="TextBox 37"/>
          <p:cNvSpPr txBox="1"/>
          <p:nvPr/>
        </p:nvSpPr>
        <p:spPr>
          <a:xfrm>
            <a:off x="1435608" y="4611279"/>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Súbelo un poco si hay ruido de alta frecuencia; pero cada milisegundo de filtro resta rapidez al lazo.</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7</a:t>
            </a:r>
          </a:p>
        </p:txBody>
      </p:sp>
      <p:sp>
        <p:nvSpPr>
          <p:cNvPr id="42" name="TextBox 41"/>
          <p:cNvSpPr txBox="1"/>
          <p:nvPr/>
        </p:nvSpPr>
        <p:spPr>
          <a:xfrm>
            <a:off x="1435608" y="4997849"/>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Verificar con la traza y guardar</a:t>
            </a:r>
          </a:p>
        </p:txBody>
      </p:sp>
      <p:sp>
        <p:nvSpPr>
          <p:cNvPr id="43" name="TextBox 42"/>
          <p:cNvSpPr txBox="1"/>
          <p:nvPr/>
        </p:nvSpPr>
        <p:spPr>
          <a:xfrm>
            <a:off x="1435608" y="5182126"/>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Captura el ciclo real, comprueba error y sobrepasamiento, y guarda la configuración con fecha.</a:t>
            </a:r>
          </a:p>
        </p:txBody>
      </p:sp>
      <p:sp>
        <p:nvSpPr>
          <p:cNvPr id="44" name="Rectangle 43"/>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Por qué el orden importa tanto</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El lazo de posición se apoya en el de velocidad. Subir </a:t>
            </a:r>
            <a:r>
              <a:rPr sz="1150" b="0">
                <a:solidFill>
                  <a:srgbClr val="2B3644"/>
                </a:solidFill>
                <a:latin typeface="Consolas"/>
              </a:rPr>
              <a:t>Pn102</a:t>
            </a:r>
            <a:r>
              <a:rPr sz="1150" b="0">
                <a:solidFill>
                  <a:srgbClr val="2B3644"/>
                </a:solidFill>
                <a:latin typeface="Segoe UI"/>
              </a:rPr>
              <a:t> con un lazo de velocidad mal ajustado sólo produce inestabilidad, y llevará a la conclusión equivocada de que 'el eje no da más'.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Resonancia mecánica y filtros notch</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Cuando el problema no está en las ganancias sino en la mecánica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93</a:t>
            </a:r>
          </a:p>
        </p:txBody>
      </p:sp>
      <p:cxnSp>
        <p:nvCxnSpPr>
          <p:cNvPr id="9" name="Connector 8"/>
          <p:cNvCxnSpPr/>
          <p:nvPr/>
        </p:nvCxnSpPr>
        <p:spPr>
          <a:xfrm>
            <a:off x="1234440" y="4617720"/>
            <a:ext cx="5669280" cy="0"/>
          </a:xfrm>
          <a:prstGeom prst="line">
            <a:avLst/>
          </a:prstGeom>
          <a:ln w="17145">
            <a:solidFill>
              <a:srgbClr val="1C243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234440" y="1828800"/>
            <a:ext cx="0" cy="2788920"/>
          </a:xfrm>
          <a:prstGeom prst="line">
            <a:avLst/>
          </a:prstGeom>
          <a:ln w="17145">
            <a:solidFill>
              <a:srgbClr val="1C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34440" y="4745736"/>
            <a:ext cx="5669280" cy="237744"/>
          </a:xfrm>
          <a:prstGeom prst="rect">
            <a:avLst/>
          </a:prstGeom>
          <a:noFill/>
        </p:spPr>
        <p:txBody>
          <a:bodyPr wrap="square" lIns="0" rIns="0" tIns="0" bIns="0" anchor="t">
            <a:spAutoFit/>
          </a:bodyPr>
          <a:lstStyle/>
          <a:p>
            <a:pPr algn="ctr">
              <a:lnSpc>
                <a:spcPct val="100000"/>
              </a:lnSpc>
              <a:buNone/>
            </a:pPr>
            <a:r>
              <a:rPr sz="1050" b="1">
                <a:solidFill>
                  <a:srgbClr val="1C2430"/>
                </a:solidFill>
                <a:latin typeface="Segoe UI"/>
              </a:rPr>
              <a:t>Frecuencia  [Hz]  →</a:t>
            </a:r>
          </a:p>
        </p:txBody>
      </p:sp>
      <p:sp>
        <p:nvSpPr>
          <p:cNvPr id="12" name="TextBox 11"/>
          <p:cNvSpPr txBox="1"/>
          <p:nvPr/>
        </p:nvSpPr>
        <p:spPr>
          <a:xfrm>
            <a:off x="182880" y="1536192"/>
            <a:ext cx="2560320" cy="237744"/>
          </a:xfrm>
          <a:prstGeom prst="rect">
            <a:avLst/>
          </a:prstGeom>
          <a:noFill/>
        </p:spPr>
        <p:txBody>
          <a:bodyPr wrap="square" lIns="0" rIns="0" tIns="0" bIns="0" anchor="t">
            <a:spAutoFit/>
          </a:bodyPr>
          <a:lstStyle/>
          <a:p>
            <a:pPr algn="l">
              <a:lnSpc>
                <a:spcPct val="100000"/>
              </a:lnSpc>
              <a:buNone/>
            </a:pPr>
            <a:r>
              <a:rPr sz="1050" b="1">
                <a:solidFill>
                  <a:srgbClr val="1C2430"/>
                </a:solidFill>
                <a:latin typeface="Segoe UI"/>
              </a:rPr>
              <a:t>Ganancia  ↑</a:t>
            </a:r>
          </a:p>
        </p:txBody>
      </p:sp>
      <p:cxnSp>
        <p:nvCxnSpPr>
          <p:cNvPr id="13" name="Connector 12"/>
          <p:cNvCxnSpPr/>
          <p:nvPr/>
        </p:nvCxnSpPr>
        <p:spPr>
          <a:xfrm>
            <a:off x="1234440" y="3835908"/>
            <a:ext cx="472440" cy="0"/>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06880" y="3809847"/>
            <a:ext cx="472440" cy="2606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179320" y="3757726"/>
            <a:ext cx="472440" cy="5212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651760" y="3627424"/>
            <a:ext cx="472440" cy="130302"/>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24200" y="3184398"/>
            <a:ext cx="472440" cy="443026"/>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596640" y="2220163"/>
            <a:ext cx="472440" cy="964235"/>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069080" y="2220163"/>
            <a:ext cx="472440" cy="964235"/>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41520" y="3184398"/>
            <a:ext cx="472440" cy="495147"/>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013960" y="3679545"/>
            <a:ext cx="472440" cy="156363"/>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486400" y="3835908"/>
            <a:ext cx="472440" cy="10424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58840" y="3940149"/>
            <a:ext cx="472440" cy="104242"/>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431280" y="4044391"/>
            <a:ext cx="472440" cy="104241"/>
          </a:xfrm>
          <a:prstGeom prst="line">
            <a:avLst/>
          </a:prstGeom>
          <a:ln w="28575">
            <a:solidFill>
              <a:srgbClr val="C0392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1909267"/>
            <a:ext cx="2194560" cy="237744"/>
          </a:xfrm>
          <a:prstGeom prst="rect">
            <a:avLst/>
          </a:prstGeom>
          <a:noFill/>
        </p:spPr>
        <p:txBody>
          <a:bodyPr wrap="square" lIns="0" rIns="0" tIns="0" bIns="0" anchor="t">
            <a:spAutoFit/>
          </a:bodyPr>
          <a:lstStyle/>
          <a:p>
            <a:pPr algn="ctr">
              <a:lnSpc>
                <a:spcPct val="100000"/>
              </a:lnSpc>
              <a:buNone/>
            </a:pPr>
            <a:r>
              <a:rPr sz="950" b="1">
                <a:solidFill>
                  <a:srgbClr val="C0392B"/>
                </a:solidFill>
                <a:latin typeface="Segoe UI"/>
              </a:rPr>
              <a:t>pico de resonancia</a:t>
            </a:r>
          </a:p>
        </p:txBody>
      </p:sp>
      <p:cxnSp>
        <p:nvCxnSpPr>
          <p:cNvPr id="26" name="Connector 25"/>
          <p:cNvCxnSpPr/>
          <p:nvPr/>
        </p:nvCxnSpPr>
        <p:spPr>
          <a:xfrm>
            <a:off x="1234440" y="3835908"/>
            <a:ext cx="472440" cy="0"/>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706880" y="3809847"/>
            <a:ext cx="472440" cy="2606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179320" y="3757726"/>
            <a:ext cx="472440" cy="5212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51760" y="3679545"/>
            <a:ext cx="472440" cy="7818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124200" y="3679545"/>
            <a:ext cx="472440" cy="5212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640" y="3731666"/>
            <a:ext cx="472440" cy="573329"/>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069080" y="3731666"/>
            <a:ext cx="472440" cy="573329"/>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541520" y="3731666"/>
            <a:ext cx="472440" cy="0"/>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013960" y="3731666"/>
            <a:ext cx="472440" cy="104242"/>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486400" y="3835908"/>
            <a:ext cx="472440" cy="10424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58840" y="3940149"/>
            <a:ext cx="472440" cy="104242"/>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431280" y="4044391"/>
            <a:ext cx="472440" cy="104241"/>
          </a:xfrm>
          <a:prstGeom prst="line">
            <a:avLst/>
          </a:prstGeom>
          <a:ln w="28575">
            <a:solidFill>
              <a:srgbClr val="2E8B57"/>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886200" y="4323283"/>
            <a:ext cx="2377440" cy="237744"/>
          </a:xfrm>
          <a:prstGeom prst="rect">
            <a:avLst/>
          </a:prstGeom>
          <a:noFill/>
        </p:spPr>
        <p:txBody>
          <a:bodyPr wrap="square" lIns="0" rIns="0" tIns="0" bIns="0" anchor="t">
            <a:spAutoFit/>
          </a:bodyPr>
          <a:lstStyle/>
          <a:p>
            <a:pPr algn="l">
              <a:lnSpc>
                <a:spcPct val="100000"/>
              </a:lnSpc>
              <a:buNone/>
            </a:pPr>
            <a:r>
              <a:rPr sz="950" b="1">
                <a:solidFill>
                  <a:srgbClr val="2E8B57"/>
                </a:solidFill>
                <a:latin typeface="Segoe UI"/>
              </a:rPr>
              <a:t>con filtro notch</a:t>
            </a:r>
          </a:p>
        </p:txBody>
      </p:sp>
      <p:sp>
        <p:nvSpPr>
          <p:cNvPr id="39" name="Rectangle 38"/>
          <p:cNvSpPr/>
          <p:nvPr/>
        </p:nvSpPr>
        <p:spPr>
          <a:xfrm>
            <a:off x="7452360" y="1627632"/>
            <a:ext cx="4160520" cy="411480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708392" y="1792224"/>
            <a:ext cx="3657600" cy="320040"/>
          </a:xfrm>
          <a:prstGeom prst="rect">
            <a:avLst/>
          </a:prstGeom>
          <a:noFill/>
        </p:spPr>
        <p:txBody>
          <a:bodyPr wrap="square" lIns="0" rIns="0" tIns="0" bIns="0" anchor="t">
            <a:spAutoFit/>
          </a:bodyPr>
          <a:lstStyle/>
          <a:p>
            <a:pPr algn="l">
              <a:lnSpc>
                <a:spcPct val="100000"/>
              </a:lnSpc>
              <a:buNone/>
            </a:pPr>
            <a:r>
              <a:rPr sz="1400" b="1">
                <a:solidFill>
                  <a:srgbClr val="0B2545"/>
                </a:solidFill>
                <a:latin typeface="Segoe UI"/>
              </a:rPr>
              <a:t>Procedimiento</a:t>
            </a:r>
          </a:p>
        </p:txBody>
      </p:sp>
      <p:sp>
        <p:nvSpPr>
          <p:cNvPr id="41" name="TextBox 40"/>
          <p:cNvSpPr txBox="1"/>
          <p:nvPr/>
        </p:nvSpPr>
        <p:spPr>
          <a:xfrm>
            <a:off x="7708392" y="2212848"/>
            <a:ext cx="3657600" cy="338328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100" b="1">
                <a:solidFill>
                  <a:srgbClr val="1C2430"/>
                </a:solidFill>
                <a:latin typeface="Segoe UI"/>
              </a:rPr>
              <a:t>Detectar</a:t>
            </a:r>
            <a:r>
              <a:rPr sz="1100" b="1">
                <a:solidFill>
                  <a:srgbClr val="1C2430"/>
                </a:solidFill>
                <a:latin typeface="Segoe UI"/>
              </a:rPr>
              <a:t>: ruido agudo constante, normalmente entre cientos de hercios y algunos kilohercios.</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Medir</a:t>
            </a:r>
            <a:r>
              <a:rPr sz="1100" b="1">
                <a:solidFill>
                  <a:srgbClr val="1C2430"/>
                </a:solidFill>
                <a:latin typeface="Segoe UI"/>
              </a:rPr>
              <a:t>: análisis en frecuencia (</a:t>
            </a:r>
            <a:r>
              <a:rPr sz="1100" b="1">
                <a:solidFill>
                  <a:srgbClr val="1C2430"/>
                </a:solidFill>
                <a:latin typeface="Consolas"/>
              </a:rPr>
              <a:t>Fn206</a:t>
            </a:r>
            <a:r>
              <a:rPr sz="1100" b="1">
                <a:solidFill>
                  <a:srgbClr val="1C2430"/>
                </a:solidFill>
                <a:latin typeface="Segoe UI"/>
              </a:rPr>
              <a:t> o análisis mecánico de SigmaWin+) para localizar el pico.</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Filtrar</a:t>
            </a:r>
            <a:r>
              <a:rPr sz="1100" b="1">
                <a:solidFill>
                  <a:srgbClr val="1C2430"/>
                </a:solidFill>
                <a:latin typeface="Segoe UI"/>
              </a:rPr>
              <a:t>: introducir la frecuencia en </a:t>
            </a:r>
            <a:r>
              <a:rPr sz="1100" b="1">
                <a:solidFill>
                  <a:srgbClr val="1C2430"/>
                </a:solidFill>
                <a:latin typeface="Consolas"/>
              </a:rPr>
              <a:t>Pn409</a:t>
            </a:r>
            <a:r>
              <a:rPr sz="1100" b="1">
                <a:solidFill>
                  <a:srgbClr val="1C2430"/>
                </a:solidFill>
                <a:latin typeface="Segoe UI"/>
              </a:rPr>
              <a:t> y habilitar el filtro con </a:t>
            </a:r>
            <a:r>
              <a:rPr sz="1100" b="1">
                <a:solidFill>
                  <a:srgbClr val="1C2430"/>
                </a:solidFill>
                <a:latin typeface="Consolas"/>
              </a:rPr>
              <a:t>Pn408</a:t>
            </a:r>
            <a:r>
              <a:rPr sz="110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Afinar</a:t>
            </a:r>
            <a:r>
              <a:rPr sz="1100" b="1">
                <a:solidFill>
                  <a:srgbClr val="1C2430"/>
                </a:solidFill>
                <a:latin typeface="Segoe UI"/>
              </a:rPr>
              <a:t>: factor Q (</a:t>
            </a:r>
            <a:r>
              <a:rPr sz="1100" b="1">
                <a:solidFill>
                  <a:srgbClr val="1C2430"/>
                </a:solidFill>
                <a:latin typeface="Consolas"/>
              </a:rPr>
              <a:t>Pn40A</a:t>
            </a:r>
            <a:r>
              <a:rPr sz="1100" b="1">
                <a:solidFill>
                  <a:srgbClr val="1C2430"/>
                </a:solidFill>
                <a:latin typeface="Segoe UI"/>
              </a:rPr>
              <a:t>) y profundidad (</a:t>
            </a:r>
            <a:r>
              <a:rPr sz="1100" b="1">
                <a:solidFill>
                  <a:srgbClr val="1C2430"/>
                </a:solidFill>
                <a:latin typeface="Consolas"/>
              </a:rPr>
              <a:t>Pn40B</a:t>
            </a:r>
            <a:r>
              <a:rPr sz="1100" b="1">
                <a:solidFill>
                  <a:srgbClr val="1C2430"/>
                </a:solidFill>
                <a:latin typeface="Segoe UI"/>
              </a:rPr>
              <a:t>). Hay un segundo filtro disponible para otra resonancia.</a:t>
            </a:r>
          </a:p>
          <a:p>
            <a:pPr marL="274320" indent="-201168">
              <a:lnSpc>
                <a:spcPct val="106000"/>
              </a:lnSpc>
              <a:spcAft>
                <a:spcPts val="900"/>
              </a:spcAft>
              <a:buClr>
                <a:srgbClr val="1B5EA8"/>
              </a:buClr>
              <a:buSzPct val="90000"/>
              <a:buFont typeface="Arial"/>
              <a:buChar char="■"/>
            </a:pPr>
            <a:r>
              <a:rPr sz="1100" b="1">
                <a:solidFill>
                  <a:srgbClr val="1C2430"/>
                </a:solidFill>
                <a:latin typeface="Segoe UI"/>
              </a:rPr>
              <a:t>Verificar</a:t>
            </a:r>
            <a:r>
              <a:rPr sz="1100" b="1">
                <a:solidFill>
                  <a:srgbClr val="1C2430"/>
                </a:solidFill>
                <a:latin typeface="Segoe UI"/>
              </a:rPr>
              <a:t>: volver a subir la ganancia y comprobar que el ruido no reaparece.</a:t>
            </a:r>
          </a:p>
        </p:txBody>
      </p:sp>
      <p:sp>
        <p:nvSpPr>
          <p:cNvPr id="42" name="Rectangle 41"/>
          <p:cNvSpPr/>
          <p:nvPr/>
        </p:nvSpPr>
        <p:spPr>
          <a:xfrm>
            <a:off x="566928" y="5760720"/>
            <a:ext cx="11064240" cy="566928"/>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566928" y="5760720"/>
            <a:ext cx="68580" cy="5669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41248" y="5897880"/>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El filtro notch no repara la mecánica: enmascara el síntoma. Si la resonancia procede de un acoplamiento flojo, arréglalo.</a:t>
            </a:r>
          </a:p>
        </p:txBody>
      </p:sp>
      <p:sp>
        <p:nvSpPr>
          <p:cNvPr id="45" name="TextBox 44"/>
          <p:cNvSpPr txBox="1"/>
          <p:nvPr/>
        </p:nvSpPr>
        <p:spPr>
          <a:xfrm>
            <a:off x="841248" y="6172200"/>
            <a:ext cx="10561320" cy="64008"/>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Vibración de baja frecuencia y control por modelo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herramientas que resuelven problemas que las ganancias no pueden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94</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Vibración de baja frecuencia (estructura)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00" b="1">
                <a:solidFill>
                  <a:srgbClr val="1C2430"/>
                </a:solidFill>
                <a:latin typeface="Segoe UI"/>
              </a:rPr>
              <a:t>Síntoma: el eje llega al destino y la </a:t>
            </a:r>
            <a:r>
              <a:rPr sz="1200" b="1">
                <a:solidFill>
                  <a:srgbClr val="1C2430"/>
                </a:solidFill>
                <a:latin typeface="Segoe UI"/>
              </a:rPr>
              <a:t>máquina entera oscila</a:t>
            </a:r>
            <a:r>
              <a:rPr sz="1200" b="1">
                <a:solidFill>
                  <a:srgbClr val="1C2430"/>
                </a:solidFill>
                <a:latin typeface="Segoe UI"/>
              </a:rPr>
              <a:t> durante unas décimas de segundo antes de quedarse quieta.</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Causa: la estructura (pórtico, brazo, torre) tiene una frecuencia propia baja, típicamente entre 1 y 100 Hz, que el movimiento excita.</a:t>
            </a:r>
          </a:p>
          <a:p>
            <a:pPr marL="0" indent="0">
              <a:lnSpc>
                <a:spcPct val="106000"/>
              </a:lnSpc>
              <a:spcBef>
                <a:spcPts val="800"/>
              </a:spcBef>
              <a:spcAft>
                <a:spcPts val="900"/>
              </a:spcAft>
              <a:buNone/>
            </a:pPr>
            <a:r>
              <a:rPr sz="1150" b="1">
                <a:solidFill>
                  <a:srgbClr val="1B5EA8"/>
                </a:solidFill>
                <a:latin typeface="Segoe UI Semibold"/>
              </a:rPr>
              <a:t>Solución en el drive</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Función de supresión de vibración (</a:t>
            </a:r>
            <a:r>
              <a:rPr sz="1050" b="0">
                <a:solidFill>
                  <a:srgbClr val="333F4C"/>
                </a:solidFill>
                <a:latin typeface="Consolas"/>
              </a:rPr>
              <a:t>Fn205</a:t>
            </a:r>
            <a:r>
              <a:rPr sz="1050" b="0">
                <a:solidFill>
                  <a:srgbClr val="333F4C"/>
                </a:solidFill>
                <a:latin typeface="Segoe UI"/>
              </a:rPr>
              <a:t>) y parámetro de frecuencia </a:t>
            </a:r>
            <a:r>
              <a:rPr sz="1050" b="0">
                <a:solidFill>
                  <a:srgbClr val="333F4C"/>
                </a:solidFill>
                <a:latin typeface="Consolas"/>
              </a:rPr>
              <a:t>Pn14A</a:t>
            </a:r>
            <a:r>
              <a:rPr sz="10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El drive conforma la consigna para no excitar esa frecuencia.</a:t>
            </a:r>
          </a:p>
          <a:p>
            <a:pPr marL="0" indent="0">
              <a:lnSpc>
                <a:spcPct val="106000"/>
              </a:lnSpc>
              <a:spcBef>
                <a:spcPts val="800"/>
              </a:spcBef>
              <a:spcAft>
                <a:spcPts val="900"/>
              </a:spcAft>
              <a:buNone/>
            </a:pPr>
            <a:r>
              <a:rPr sz="1150" b="1">
                <a:solidFill>
                  <a:srgbClr val="1B5EA8"/>
                </a:solidFill>
                <a:latin typeface="Segoe UI Semibold"/>
              </a:rPr>
              <a:t>Solución mecánica</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Rigidizar la estructura o usar perfiles de movimiento en S que limiten el 'jerk'.</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Control por modelo de referencia (</a:t>
            </a:r>
            <a:r>
              <a:rPr sz="1350" b="1">
                <a:solidFill>
                  <a:srgbClr val="FFFFFF"/>
                </a:solidFill>
                <a:latin typeface="Consolas"/>
              </a:rPr>
              <a:t>Pn140</a:t>
            </a:r>
            <a:r>
              <a:rPr sz="1350" b="1">
                <a:solidFill>
                  <a:srgbClr val="FFFFFF"/>
                </a:solidFill>
                <a:latin typeface="Segoe UI Semibold"/>
              </a:rPr>
              <a:t>)</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El drive calcula internamente cómo </a:t>
            </a:r>
            <a:r>
              <a:rPr sz="1225" b="1">
                <a:solidFill>
                  <a:srgbClr val="1C2430"/>
                </a:solidFill>
                <a:latin typeface="Segoe UI"/>
              </a:rPr>
              <a:t>debería</a:t>
            </a:r>
            <a:r>
              <a:rPr sz="1225" b="1">
                <a:solidFill>
                  <a:srgbClr val="1C2430"/>
                </a:solidFill>
                <a:latin typeface="Segoe UI"/>
              </a:rPr>
              <a:t> moverse el eje ideal y usa ese modelo para anticipar el mando.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Permite </a:t>
            </a:r>
            <a:r>
              <a:rPr sz="1225" b="1">
                <a:solidFill>
                  <a:srgbClr val="1C2430"/>
                </a:solidFill>
                <a:latin typeface="Segoe UI"/>
              </a:rPr>
              <a:t>reducir mucho el error de seguimiento sin subir las ganancias</a:t>
            </a:r>
            <a:r>
              <a:rPr sz="1225" b="1">
                <a:solidFill>
                  <a:srgbClr val="1C2430"/>
                </a:solidFill>
                <a:latin typeface="Segoe UI"/>
              </a:rPr>
              <a:t> del lazo de realimentación, que son las que provocan inestabilidad.</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Es la razón principal de que un eje Σ-7 bien configurado posicione más rápido que uno de generación anterior con las mismas ganancias.</a:t>
            </a:r>
          </a:p>
          <a:p>
            <a:pPr marL="0" indent="0">
              <a:lnSpc>
                <a:spcPct val="106000"/>
              </a:lnSpc>
              <a:spcBef>
                <a:spcPts val="800"/>
              </a:spcBef>
              <a:spcAft>
                <a:spcPts val="900"/>
              </a:spcAft>
              <a:buNone/>
            </a:pPr>
            <a:r>
              <a:rPr sz="1175" b="1">
                <a:solidFill>
                  <a:srgbClr val="1B5EA8"/>
                </a:solidFill>
                <a:latin typeface="Segoe UI Semibold"/>
              </a:rPr>
              <a:t>Cuándo usarlo</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En posicionado punto a punto: muy recomendable.</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En interpolación con varios ejes: hay que verificar que </a:t>
            </a:r>
            <a:r>
              <a:rPr sz="1075" b="1">
                <a:solidFill>
                  <a:srgbClr val="333F4C"/>
                </a:solidFill>
                <a:latin typeface="Segoe UI"/>
              </a:rPr>
              <a:t>todos</a:t>
            </a:r>
            <a:r>
              <a:rPr sz="1075" b="0">
                <a:solidFill>
                  <a:srgbClr val="333F4C"/>
                </a:solidFill>
                <a:latin typeface="Segoe UI"/>
              </a:rPr>
              <a:t> los ejes se comportan igual, o aparecerán errores de contorno.</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Cómo identificar la frecuencia de la vibración</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Con la traza de SigmaWin+: captura la señal de par o de velocidad al final del posicionado, mide el periodo de la oscilación y calcula su inversa. Ese es el número que hay que introducir.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Diagnóstico por síntomas: qué tocar en cada caso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tabla que hay que llevar encima al ajustar un eje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95</a:t>
            </a:r>
          </a:p>
        </p:txBody>
      </p:sp>
      <p:graphicFrame>
        <p:nvGraphicFramePr>
          <p:cNvPr id="9" name="Table 8"/>
          <p:cNvGraphicFramePr>
            <a:graphicFrameLocks noGrp="1"/>
          </p:cNvGraphicFramePr>
          <p:nvPr/>
        </p:nvGraphicFramePr>
        <p:xfrm>
          <a:off x="566928" y="1481328"/>
          <a:ext cx="11057837" cy="4846320"/>
        </p:xfrm>
        <a:graphic>
          <a:graphicData uri="http://schemas.openxmlformats.org/drawingml/2006/table">
            <a:tbl>
              <a:tblPr firstRow="1">
                <a:tableStyleId>{5C22544A-7EE6-4342-B048-85BDC9FD1C3A}</a:tableStyleId>
              </a:tblPr>
              <a:tblGrid>
                <a:gridCol w="3198548"/>
                <a:gridCol w="3564096"/>
                <a:gridCol w="4295193"/>
              </a:tblGrid>
              <a:tr h="347472">
                <a:tc>
                  <a:txBody>
                    <a:bodyPr wrap="square"/>
                    <a:lstStyle/>
                    <a:p>
                      <a:pPr algn="l">
                        <a:lnSpc>
                          <a:spcPct val="100000"/>
                        </a:lnSpc>
                        <a:buNone/>
                      </a:pPr>
                      <a:r>
                        <a:rPr sz="950" b="1">
                          <a:solidFill>
                            <a:srgbClr val="FFFFFF"/>
                          </a:solidFill>
                          <a:latin typeface="Segoe UI"/>
                        </a:rPr>
                        <a:t>Síntoma observado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Causa más probable</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hacer</a:t>
                      </a:r>
                    </a:p>
                  </a:txBody>
                  <a:tcPr marL="82296" marR="82296" marT="27432" marB="27432" anchor="ctr">
                    <a:solidFill>
                      <a:srgbClr val="0B2545"/>
                    </a:solidFill>
                  </a:tcPr>
                </a:tc>
              </a:tr>
              <a:tr h="499872">
                <a:tc>
                  <a:txBody>
                    <a:bodyPr wrap="square"/>
                    <a:lstStyle/>
                    <a:p>
                      <a:pPr algn="l">
                        <a:lnSpc>
                          <a:spcPct val="100000"/>
                        </a:lnSpc>
                        <a:buNone/>
                      </a:pPr>
                      <a:r>
                        <a:rPr sz="950" b="0">
                          <a:solidFill>
                            <a:srgbClr val="1C2430"/>
                          </a:solidFill>
                          <a:latin typeface="Segoe UI"/>
                        </a:rPr>
                        <a:t>Zumbido agudo continuo con el eje parado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 velocidad demasiado alta o resonancia mecánica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Bajar </a:t>
                      </a:r>
                      <a:r>
                        <a:rPr sz="950" b="0">
                          <a:solidFill>
                            <a:srgbClr val="1C2430"/>
                          </a:solidFill>
                          <a:latin typeface="Consolas"/>
                        </a:rPr>
                        <a:t>Pn100</a:t>
                      </a:r>
                      <a:r>
                        <a:rPr sz="950" b="0">
                          <a:solidFill>
                            <a:srgbClr val="1C2430"/>
                          </a:solidFill>
                          <a:latin typeface="Segoe UI"/>
                        </a:rPr>
                        <a:t>; si persiste, buscar la frecuencia con </a:t>
                      </a:r>
                      <a:r>
                        <a:rPr sz="950" b="0">
                          <a:solidFill>
                            <a:srgbClr val="1C2430"/>
                          </a:solidFill>
                          <a:latin typeface="Consolas"/>
                        </a:rPr>
                        <a:t>Fn206</a:t>
                      </a:r>
                      <a:r>
                        <a:rPr sz="950" b="0">
                          <a:solidFill>
                            <a:srgbClr val="1C2430"/>
                          </a:solidFill>
                          <a:latin typeface="Segoe UI"/>
                        </a:rPr>
                        <a:t> y poner notch</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El eje oscila lentamente al llegar al destino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Integral demasiado agresiva o relación de inercias mal ajustada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Revisar </a:t>
                      </a:r>
                      <a:r>
                        <a:rPr sz="950" b="0">
                          <a:solidFill>
                            <a:srgbClr val="1C2430"/>
                          </a:solidFill>
                          <a:latin typeface="Consolas"/>
                        </a:rPr>
                        <a:t>Pn103</a:t>
                      </a:r>
                      <a:r>
                        <a:rPr sz="950" b="0">
                          <a:solidFill>
                            <a:srgbClr val="1C2430"/>
                          </a:solidFill>
                          <a:latin typeface="Segoe UI"/>
                        </a:rPr>
                        <a:t>; subir </a:t>
                      </a:r>
                      <a:r>
                        <a:rPr sz="950" b="0">
                          <a:solidFill>
                            <a:srgbClr val="1C2430"/>
                          </a:solidFill>
                          <a:latin typeface="Consolas"/>
                        </a:rPr>
                        <a:t>Pn101</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Sobrepasamiento del destino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Ganancia de posición alta respecto a la de velocidad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Bajar </a:t>
                      </a:r>
                      <a:r>
                        <a:rPr sz="950" b="0">
                          <a:solidFill>
                            <a:srgbClr val="1C2430"/>
                          </a:solidFill>
                          <a:latin typeface="Consolas"/>
                        </a:rPr>
                        <a:t>Pn102</a:t>
                      </a:r>
                      <a:r>
                        <a:rPr sz="950" b="0">
                          <a:solidFill>
                            <a:srgbClr val="1C2430"/>
                          </a:solidFill>
                          <a:latin typeface="Segoe UI"/>
                        </a:rPr>
                        <a:t> o subir </a:t>
                      </a:r>
                      <a:r>
                        <a:rPr sz="950" b="0">
                          <a:solidFill>
                            <a:srgbClr val="1C2430"/>
                          </a:solidFill>
                          <a:latin typeface="Consolas"/>
                        </a:rPr>
                        <a:t>Pn100</a:t>
                      </a:r>
                      <a:r>
                        <a:rPr sz="950" b="0">
                          <a:solidFill>
                            <a:srgbClr val="1C2430"/>
                          </a:solidFill>
                          <a:latin typeface="Segoe UI"/>
                        </a:rPr>
                        <a:t>; activar control por modelo </a:t>
                      </a:r>
                      <a:r>
                        <a:rPr sz="950" b="0">
                          <a:solidFill>
                            <a:srgbClr val="1C2430"/>
                          </a:solidFill>
                          <a:latin typeface="Consolas"/>
                        </a:rPr>
                        <a:t>Pn140</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Error de seguimiento grande durante el movimiento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Ganancia de posición baja o falta de prealimentación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Subir </a:t>
                      </a:r>
                      <a:r>
                        <a:rPr sz="950" b="0">
                          <a:solidFill>
                            <a:srgbClr val="1C2430"/>
                          </a:solidFill>
                          <a:latin typeface="Consolas"/>
                        </a:rPr>
                        <a:t>Pn102</a:t>
                      </a:r>
                      <a:r>
                        <a:rPr sz="950" b="0">
                          <a:solidFill>
                            <a:srgbClr val="1C2430"/>
                          </a:solidFill>
                          <a:latin typeface="Segoe UI"/>
                        </a:rPr>
                        <a:t>; activar </a:t>
                      </a:r>
                      <a:r>
                        <a:rPr sz="950" b="0">
                          <a:solidFill>
                            <a:srgbClr val="1C2430"/>
                          </a:solidFill>
                          <a:latin typeface="Consolas"/>
                        </a:rPr>
                        <a:t>Pn140</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El eje 'tiembla' a muy baja velocidad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Fricción de arranque (stick-slip) o ganancia insuficiente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Compensación de fricción; revisar mecánica y lubricación</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Toda la máquina oscila tras el posicionado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Vibración de baja frecuencia de la estructura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Fn205</a:t>
                      </a:r>
                      <a:r>
                        <a:rPr sz="950" b="0">
                          <a:solidFill>
                            <a:srgbClr val="1C2430"/>
                          </a:solidFill>
                          <a:latin typeface="Segoe UI"/>
                        </a:rPr>
                        <a:t> / </a:t>
                      </a:r>
                      <a:r>
                        <a:rPr sz="950" b="0">
                          <a:solidFill>
                            <a:srgbClr val="1C2430"/>
                          </a:solidFill>
                          <a:latin typeface="Consolas"/>
                        </a:rPr>
                        <a:t>Pn14A</a:t>
                      </a:r>
                      <a:r>
                        <a:rPr sz="950" b="0">
                          <a:solidFill>
                            <a:srgbClr val="1C2430"/>
                          </a:solidFill>
                          <a:latin typeface="Segoe UI"/>
                        </a:rPr>
                        <a:t>; considerar perfil en S</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Ruido que aparece sólo con carga acoplada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Resonancia del conjunto acoplamiento-carga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Filtro notch; valorar acoplamiento más rígido</a:t>
                      </a:r>
                    </a:p>
                  </a:txBody>
                  <a:tcPr marL="82296" marR="82296" marT="27432" marB="27432" anchor="ctr">
                    <a:solidFill>
                      <a:srgbClr val="FFFFFF"/>
                    </a:solidFill>
                  </a:tcPr>
                </a:tc>
              </a:tr>
              <a:tr h="499872">
                <a:tc>
                  <a:txBody>
                    <a:bodyPr wrap="square"/>
                    <a:lstStyle/>
                    <a:p>
                      <a:pPr algn="l">
                        <a:lnSpc>
                          <a:spcPct val="100000"/>
                        </a:lnSpc>
                        <a:buNone/>
                      </a:pPr>
                      <a:r>
                        <a:rPr sz="950" b="0">
                          <a:solidFill>
                            <a:srgbClr val="1C2430"/>
                          </a:solidFill>
                          <a:latin typeface="Segoe UI"/>
                        </a:rPr>
                        <a:t>El comportamiento cambia según la posición del eje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Rigidez variable del conjunto mecánico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Conmutación de ganancias; ajustar para el caso más desfavorable</a:t>
                      </a:r>
                    </a:p>
                  </a:txBody>
                  <a:tcPr marL="82296" marR="82296" marT="27432" marB="27432" anchor="ctr">
                    <a:solidFill>
                      <a:srgbClr val="F2F5F8"/>
                    </a:solidFill>
                  </a:tcPr>
                </a:tc>
              </a:tr>
              <a:tr h="499872">
                <a:tc>
                  <a:txBody>
                    <a:bodyPr wrap="square"/>
                    <a:lstStyle/>
                    <a:p>
                      <a:pPr algn="l">
                        <a:lnSpc>
                          <a:spcPct val="100000"/>
                        </a:lnSpc>
                        <a:buNone/>
                      </a:pPr>
                      <a:r>
                        <a:rPr sz="950" b="0">
                          <a:solidFill>
                            <a:srgbClr val="1C2430"/>
                          </a:solidFill>
                          <a:latin typeface="Segoe UI"/>
                        </a:rPr>
                        <a:t>El eje empeora con los meses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Desgaste, holgura o lubricación deficiente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Revisión mecánica </a:t>
                      </a:r>
                      <a:r>
                        <a:rPr sz="950" b="1">
                          <a:solidFill>
                            <a:srgbClr val="1C2430"/>
                          </a:solidFill>
                          <a:latin typeface="Segoe UI"/>
                        </a:rPr>
                        <a:t>antes</a:t>
                      </a:r>
                      <a:r>
                        <a:rPr sz="950" b="0">
                          <a:solidFill>
                            <a:srgbClr val="1C2430"/>
                          </a:solidFill>
                          <a:latin typeface="Segoe UI"/>
                        </a:rPr>
                        <a:t> de retocar ganancias</a:t>
                      </a:r>
                    </a:p>
                  </a:txBody>
                  <a:tcPr marL="82296" marR="82296" marT="27432" marB="27432" anchor="ctr">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Errores frecuentes al sintonizar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 que separa un ajuste que dura de uno que dura una semana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09</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96</a:t>
            </a:r>
          </a:p>
        </p:txBody>
      </p:sp>
      <p:sp>
        <p:nvSpPr>
          <p:cNvPr id="9" name="TextBox 8"/>
          <p:cNvSpPr txBox="1"/>
          <p:nvPr/>
        </p:nvSpPr>
        <p:spPr>
          <a:xfrm>
            <a:off x="566928" y="1481328"/>
            <a:ext cx="11057839" cy="3822192"/>
          </a:xfrm>
          <a:prstGeom prst="rect">
            <a:avLst/>
          </a:prstGeom>
          <a:noFill/>
        </p:spPr>
        <p:txBody>
          <a:bodyPr wrap="square" lIns="0" rIns="0" tIns="0" bIns="0">
            <a:spAutoFit/>
          </a:bodyPr>
          <a:lstStyle/>
          <a:p>
            <a:pPr marL="0" indent="0">
              <a:lnSpc>
                <a:spcPct val="106000"/>
              </a:lnSpc>
              <a:spcBef>
                <a:spcPts val="0"/>
              </a:spcBef>
              <a:spcAft>
                <a:spcPts val="900"/>
              </a:spcAft>
              <a:buNone/>
            </a:pPr>
            <a:r>
              <a:rPr sz="850" b="1">
                <a:solidFill>
                  <a:srgbClr val="1B5EA8"/>
                </a:solidFill>
                <a:latin typeface="Segoe UI Semibold"/>
              </a:rPr>
              <a:t>De método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Cambiar varios parámetros a la vez</a:t>
            </a:r>
            <a:r>
              <a:rPr sz="900" b="1">
                <a:solidFill>
                  <a:srgbClr val="1C2430"/>
                </a:solidFill>
                <a:latin typeface="Segoe UI"/>
              </a:rPr>
              <a:t>: imposible saber qué ha funcionado.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Ajustar sin medir</a:t>
            </a:r>
            <a:r>
              <a:rPr sz="900" b="1">
                <a:solidFill>
                  <a:srgbClr val="1C2430"/>
                </a:solidFill>
                <a:latin typeface="Segoe UI"/>
              </a:rPr>
              <a:t>: sin traza sólo hay impresiones subjetivas.</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Ajustar en vacío</a:t>
            </a:r>
            <a:r>
              <a:rPr sz="900" b="1">
                <a:solidFill>
                  <a:srgbClr val="1C2430"/>
                </a:solidFill>
                <a:latin typeface="Segoe UI"/>
              </a:rPr>
              <a:t> y suponer que valdrá con carga.</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No guardar el punto de partida</a:t>
            </a:r>
            <a:r>
              <a:rPr sz="900" b="1">
                <a:solidFill>
                  <a:srgbClr val="1C2430"/>
                </a:solidFill>
                <a:latin typeface="Segoe UI"/>
              </a:rPr>
              <a:t>: quedarse sin marcha atrás.</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50" b="1">
                <a:solidFill>
                  <a:srgbClr val="1B5EA8"/>
                </a:solidFill>
                <a:latin typeface="Segoe UI Semibold"/>
              </a:rPr>
              <a:t>De concepto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Empezar por el lazo de posición</a:t>
            </a:r>
            <a:r>
              <a:rPr sz="900" b="1">
                <a:solidFill>
                  <a:srgbClr val="1C2430"/>
                </a:solidFill>
                <a:latin typeface="Segoe UI"/>
              </a:rPr>
              <a:t> en lugar de por el de velocidad.</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Olvidar </a:t>
            </a:r>
            <a:r>
              <a:rPr sz="900" b="1">
                <a:solidFill>
                  <a:srgbClr val="1C2430"/>
                </a:solidFill>
                <a:latin typeface="Consolas"/>
              </a:rPr>
              <a:t>Pn103</a:t>
            </a:r>
            <a:r>
              <a:rPr sz="900" b="1">
                <a:solidFill>
                  <a:srgbClr val="1C2430"/>
                </a:solidFill>
                <a:latin typeface="Segoe UI"/>
              </a:rPr>
              <a:t>: con la relación de inercias mal puesta, ningún ajuste posterior es coherente.</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Dejar activo el tuning-less</a:t>
            </a:r>
            <a:r>
              <a:rPr sz="900" b="1">
                <a:solidFill>
                  <a:srgbClr val="1C2430"/>
                </a:solidFill>
                <a:latin typeface="Segoe UI"/>
              </a:rPr>
              <a:t> mientras se ajusta a mano.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Subir ganancias para tapar un problema mecánico</a:t>
            </a:r>
            <a:r>
              <a:rPr sz="900" b="1">
                <a:solidFill>
                  <a:srgbClr val="1C2430"/>
                </a:solidFill>
                <a:latin typeface="Segoe UI"/>
              </a:rPr>
              <a:t>: el ruido desaparece un tiempo y el desgaste se acelera.</a:t>
            </a:r>
          </a:p>
          <a:p>
            <a:pPr>
              <a:lnSpc>
                <a:spcPct val="106000"/>
              </a:lnSpc>
              <a:spcAft>
                <a:spcPts val="900"/>
              </a:spcAft>
              <a:buNone/>
            </a:pPr>
            <a:r>
              <a:rPr sz="600" b="0">
                <a:solidFill>
                  <a:srgbClr val="1C2430"/>
                </a:solidFill>
                <a:latin typeface="Segoe UI"/>
              </a:rPr>
              <a:t> </a:t>
            </a:r>
          </a:p>
          <a:p>
            <a:pPr marL="0" indent="0">
              <a:lnSpc>
                <a:spcPct val="106000"/>
              </a:lnSpc>
              <a:spcBef>
                <a:spcPts val="800"/>
              </a:spcBef>
              <a:spcAft>
                <a:spcPts val="900"/>
              </a:spcAft>
              <a:buNone/>
            </a:pPr>
            <a:r>
              <a:rPr sz="850" b="1">
                <a:solidFill>
                  <a:srgbClr val="1B5EA8"/>
                </a:solidFill>
                <a:latin typeface="Segoe UI Semibold"/>
              </a:rPr>
              <a:t>De criterio</a:t>
            </a:r>
          </a:p>
          <a:p>
            <a:pPr marL="274320" indent="-201168">
              <a:lnSpc>
                <a:spcPct val="106000"/>
              </a:lnSpc>
              <a:spcAft>
                <a:spcPts val="900"/>
              </a:spcAft>
              <a:buClr>
                <a:srgbClr val="1B5EA8"/>
              </a:buClr>
              <a:buSzPct val="90000"/>
              <a:buFont typeface="Arial"/>
              <a:buChar char="■"/>
            </a:pPr>
            <a:r>
              <a:rPr sz="900" b="1">
                <a:solidFill>
                  <a:srgbClr val="1C2430"/>
                </a:solidFill>
                <a:latin typeface="Segoe UI"/>
              </a:rPr>
              <a:t>Buscar el máximo de ganancia</a:t>
            </a:r>
            <a:r>
              <a:rPr sz="900" b="1">
                <a:solidFill>
                  <a:srgbClr val="1C2430"/>
                </a:solidFill>
                <a:latin typeface="Segoe UI"/>
              </a:rPr>
              <a:t> en lugar del ajuste adecuado a la aplicación. Un eje al límite de estabilidad hoy será inestable cuando cambien la temperatura, la lubricación o la carga.</a:t>
            </a:r>
          </a:p>
          <a:p>
            <a:pPr marL="566928" indent="-201168">
              <a:lnSpc>
                <a:spcPct val="106000"/>
              </a:lnSpc>
              <a:spcAft>
                <a:spcPts val="500"/>
              </a:spcAft>
              <a:buClr>
                <a:srgbClr val="00A9CE"/>
              </a:buClr>
              <a:buSzPct val="90000"/>
              <a:buFont typeface="Arial"/>
              <a:buChar char="▸"/>
            </a:pPr>
            <a:r>
              <a:rPr sz="750" b="0">
                <a:solidFill>
                  <a:srgbClr val="333F4C"/>
                </a:solidFill>
                <a:latin typeface="Segoe UI"/>
              </a:rPr>
              <a:t>Deja siempre un </a:t>
            </a:r>
            <a:r>
              <a:rPr sz="750" b="1">
                <a:solidFill>
                  <a:srgbClr val="333F4C"/>
                </a:solidFill>
                <a:latin typeface="Segoe UI"/>
              </a:rPr>
              <a:t>margen de estabilidad</a:t>
            </a:r>
            <a:r>
              <a:rPr sz="750" b="0">
                <a:solidFill>
                  <a:srgbClr val="333F4C"/>
                </a:solidFill>
                <a:latin typeface="Segoe UI"/>
              </a:rPr>
              <a:t> razonable: la máquina tiene que funcionar en agosto y en enero, nueva y con dos años de uso.</a:t>
            </a:r>
          </a:p>
        </p:txBody>
      </p:sp>
      <p:sp>
        <p:nvSpPr>
          <p:cNvPr id="10" name="Rectangle 9"/>
          <p:cNvSpPr/>
          <p:nvPr/>
        </p:nvSpPr>
        <p:spPr>
          <a:xfrm>
            <a:off x="566928" y="5458968"/>
            <a:ext cx="11057839" cy="86868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58968"/>
            <a:ext cx="68580" cy="86868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El criterio del profesional</a:t>
            </a:r>
          </a:p>
        </p:txBody>
      </p:sp>
      <p:sp>
        <p:nvSpPr>
          <p:cNvPr id="13" name="TextBox 12"/>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eje bien sintonizado no es el más rápido posible: es el que cumple el ciclo con margen, sin ruido, sin desgaste anómalo y sin volver a dar problemas en dos años.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10</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Seguridad funcional: STO / HWBB</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El marco normativo en dos diapositivas</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Qué es realmente la función HWBB del SERVOPACK</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Cableado de </a:t>
            </a:r>
            <a:r>
              <a:rPr sz="1350" b="0">
                <a:solidFill>
                  <a:srgbClr val="C9DCEE"/>
                </a:solidFill>
                <a:latin typeface="Consolas"/>
              </a:rPr>
              <a:t>CN8</a:t>
            </a:r>
            <a:r>
              <a:rPr sz="1350" b="0">
                <a:solidFill>
                  <a:srgbClr val="C9DCEE"/>
                </a:solidFill>
                <a:latin typeface="Segoe UI"/>
              </a:rPr>
              <a:t> y señal de vigilancia EDM</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STO no es parada de emergencia: diferencias y límites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Validación, documentación y pruebas periódicas</a:t>
            </a:r>
          </a:p>
        </p:txBody>
      </p:sp>
      <p:sp>
        <p:nvSpPr>
          <p:cNvPr id="17" name="TextBox 16"/>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2,5 h</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marco normativo, en lo que afecta al servo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familias de normas, un objetivo común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98</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Las normas que vas a oír nombrar</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50" b="1">
                <a:solidFill>
                  <a:srgbClr val="1C2430"/>
                </a:solidFill>
                <a:latin typeface="Segoe UI"/>
              </a:rPr>
              <a:t>EN ISO 12100</a:t>
            </a:r>
            <a:r>
              <a:rPr sz="1350" b="1">
                <a:solidFill>
                  <a:srgbClr val="1C2430"/>
                </a:solidFill>
                <a:latin typeface="Segoe UI"/>
              </a:rPr>
              <a:t> — Principios generales para el diseño y la evaluación de riesgos de las máquinas.</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EN ISO 13849-1</a:t>
            </a:r>
            <a:r>
              <a:rPr sz="1350" b="1">
                <a:solidFill>
                  <a:srgbClr val="1C2430"/>
                </a:solidFill>
                <a:latin typeface="Segoe UI"/>
              </a:rPr>
              <a:t> — Partes de los sistemas de mando relativas a la seguridad. Habla de </a:t>
            </a:r>
            <a:r>
              <a:rPr sz="1350" b="1">
                <a:solidFill>
                  <a:srgbClr val="1C2430"/>
                </a:solidFill>
                <a:latin typeface="Segoe UI"/>
              </a:rPr>
              <a:t>niveles de prestaciones (PL a … PL e)</a:t>
            </a:r>
            <a:r>
              <a:rPr sz="1350" b="1">
                <a:solidFill>
                  <a:srgbClr val="1C2430"/>
                </a:solidFill>
                <a:latin typeface="Segoe UI"/>
              </a:rPr>
              <a:t> y de categorías de arquitectura.</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IEC 61508 / IEC 62061</a:t>
            </a:r>
            <a:r>
              <a:rPr sz="1350" b="1">
                <a:solidFill>
                  <a:srgbClr val="1C2430"/>
                </a:solidFill>
                <a:latin typeface="Segoe UI"/>
              </a:rPr>
              <a:t> — Enfoque de seguridad funcional electrónica. Habla de </a:t>
            </a:r>
            <a:r>
              <a:rPr sz="1350" b="1">
                <a:solidFill>
                  <a:srgbClr val="1C2430"/>
                </a:solidFill>
                <a:latin typeface="Segoe UI"/>
              </a:rPr>
              <a:t>niveles de integridad (SIL 1 … SIL 3)</a:t>
            </a:r>
            <a:r>
              <a:rPr sz="13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350" b="1">
                <a:solidFill>
                  <a:srgbClr val="1C2430"/>
                </a:solidFill>
                <a:latin typeface="Segoe UI"/>
              </a:rPr>
              <a:t>IEC 61800-5-2</a:t>
            </a:r>
            <a:r>
              <a:rPr sz="1350" b="1">
                <a:solidFill>
                  <a:srgbClr val="1C2430"/>
                </a:solidFill>
                <a:latin typeface="Segoe UI"/>
              </a:rPr>
              <a:t> — Define las funciones de seguridad específicas de los accionamientos: STO, SS1, SS2, SLS, SOS…</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Lo que aporta el SERVOPACK</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La función </a:t>
            </a:r>
            <a:r>
              <a:rPr sz="1225" b="1">
                <a:solidFill>
                  <a:srgbClr val="1C2430"/>
                </a:solidFill>
                <a:latin typeface="Segoe UI"/>
              </a:rPr>
              <a:t>STO (Safe Torque Off)</a:t>
            </a:r>
            <a:r>
              <a:rPr sz="1225" b="1">
                <a:solidFill>
                  <a:srgbClr val="1C2430"/>
                </a:solidFill>
                <a:latin typeface="Segoe UI"/>
              </a:rPr>
              <a:t>, implementada en la Σ-7 como </a:t>
            </a:r>
            <a:r>
              <a:rPr sz="1225" b="1">
                <a:solidFill>
                  <a:srgbClr val="1C2430"/>
                </a:solidFill>
                <a:latin typeface="Segoe UI"/>
              </a:rPr>
              <a:t>HWBB (Hard Wire Baseblock)</a:t>
            </a:r>
            <a:r>
              <a:rPr sz="1225"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Capacidad típica declarada de </a:t>
            </a:r>
            <a:r>
              <a:rPr sz="1225" b="1">
                <a:solidFill>
                  <a:srgbClr val="1C2430"/>
                </a:solidFill>
                <a:latin typeface="Segoe UI"/>
              </a:rPr>
              <a:t>SIL 3</a:t>
            </a:r>
            <a:r>
              <a:rPr sz="1225" b="1">
                <a:solidFill>
                  <a:srgbClr val="1C2430"/>
                </a:solidFill>
                <a:latin typeface="Segoe UI"/>
              </a:rPr>
              <a:t> (IEC 61508) y </a:t>
            </a:r>
            <a:r>
              <a:rPr sz="1225" b="1">
                <a:solidFill>
                  <a:srgbClr val="1C2430"/>
                </a:solidFill>
                <a:latin typeface="Segoe UI"/>
              </a:rPr>
              <a:t>PL e / categoría 3</a:t>
            </a:r>
            <a:r>
              <a:rPr sz="1225" b="1">
                <a:solidFill>
                  <a:srgbClr val="1C2430"/>
                </a:solidFill>
                <a:latin typeface="Segoe UI"/>
              </a:rPr>
              <a:t> (ISO 13849-1) cuando se cablea correctamente.</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Dos canales independientes de desactivación y una salida de vigilancia (</a:t>
            </a:r>
            <a:r>
              <a:rPr sz="1225" b="1">
                <a:solidFill>
                  <a:srgbClr val="1C2430"/>
                </a:solidFill>
                <a:latin typeface="Segoe UI"/>
              </a:rPr>
              <a:t>EDM</a:t>
            </a:r>
            <a:r>
              <a:rPr sz="1225" b="1">
                <a:solidFill>
                  <a:srgbClr val="1C2430"/>
                </a:solidFill>
                <a:latin typeface="Segoe UI"/>
              </a:rPr>
              <a:t>) para que el módulo de seguridad compruebe que el drive ha respondido.</a:t>
            </a:r>
          </a:p>
          <a:p>
            <a:pPr marL="0" indent="0">
              <a:lnSpc>
                <a:spcPct val="106000"/>
              </a:lnSpc>
              <a:spcBef>
                <a:spcPts val="800"/>
              </a:spcBef>
              <a:spcAft>
                <a:spcPts val="900"/>
              </a:spcAft>
              <a:buNone/>
            </a:pPr>
            <a:r>
              <a:rPr sz="1175" b="1">
                <a:solidFill>
                  <a:srgbClr val="1B5EA8"/>
                </a:solidFill>
                <a:latin typeface="Segoe UI Semibold"/>
              </a:rPr>
              <a:t>Qué NO aporta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No es una parada de emergencia por sí sola.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No mantiene la carga en un eje vertical.</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No garantiza que el eje esté parado: garantiza que </a:t>
            </a:r>
            <a:r>
              <a:rPr sz="1075" b="1">
                <a:solidFill>
                  <a:srgbClr val="333F4C"/>
                </a:solidFill>
                <a:latin typeface="Segoe UI"/>
              </a:rPr>
              <a:t>no habrá par</a:t>
            </a:r>
            <a:r>
              <a:rPr sz="1075" b="0">
                <a:solidFill>
                  <a:srgbClr val="333F4C"/>
                </a:solidFill>
                <a:latin typeface="Segoe UI"/>
              </a:rPr>
              <a:t>.</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El nivel de seguridad es del sistema, no del componente</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Que el drive sea apto para SIL 3 / PL e no significa que tu máquina lo sea. El nivel resultante depende de toda la cadena: sensor, lógica de seguridad, cableado y actuador, y de su diagnóstico.</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La función HWBB y el conector </a:t>
            </a:r>
            <a:r>
              <a:rPr sz="2500" b="1">
                <a:solidFill>
                  <a:srgbClr val="FFFFFF"/>
                </a:solidFill>
                <a:latin typeface="Consolas"/>
              </a:rPr>
              <a:t>CN8</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Dos canales de desactivación y una señal de vigilancia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99</a:t>
            </a:r>
          </a:p>
        </p:txBody>
      </p:sp>
      <p:sp>
        <p:nvSpPr>
          <p:cNvPr id="9" name="Rounded Rectangle 8"/>
          <p:cNvSpPr/>
          <p:nvPr/>
        </p:nvSpPr>
        <p:spPr>
          <a:xfrm>
            <a:off x="566928" y="2011680"/>
            <a:ext cx="2377440" cy="96012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DISPOSITIVO</a:t>
            </a:r>
          </a:p>
          <a:p>
            <a:pPr algn="ctr">
              <a:lnSpc>
                <a:spcPct val="100000"/>
              </a:lnSpc>
              <a:buNone/>
            </a:pPr>
            <a:r>
              <a:rPr sz="1050" b="1">
                <a:solidFill>
                  <a:srgbClr val="FFFFFF"/>
                </a:solidFill>
                <a:latin typeface="Segoe UI"/>
              </a:rPr>
              <a:t>DE SEGURIDAD</a:t>
            </a:r>
          </a:p>
          <a:p>
            <a:pPr algn="ctr">
              <a:lnSpc>
                <a:spcPct val="100000"/>
              </a:lnSpc>
              <a:buNone/>
            </a:pPr>
            <a:r>
              <a:rPr sz="1050" b="1">
                <a:solidFill>
                  <a:srgbClr val="FFFFFF"/>
                </a:solidFill>
                <a:latin typeface="Segoe UI"/>
              </a:rPr>
              <a:t>seta, barrera, puerta</a:t>
            </a:r>
          </a:p>
        </p:txBody>
      </p:sp>
      <p:sp>
        <p:nvSpPr>
          <p:cNvPr id="10" name="Right Arrow 9"/>
          <p:cNvSpPr/>
          <p:nvPr/>
        </p:nvSpPr>
        <p:spPr>
          <a:xfrm>
            <a:off x="2990088" y="2409444"/>
            <a:ext cx="22860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3264408" y="2011680"/>
            <a:ext cx="2377440" cy="96012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MÓDULO O PLC</a:t>
            </a:r>
          </a:p>
          <a:p>
            <a:pPr algn="ctr">
              <a:lnSpc>
                <a:spcPct val="100000"/>
              </a:lnSpc>
              <a:buNone/>
            </a:pPr>
            <a:r>
              <a:rPr sz="1050" b="1">
                <a:solidFill>
                  <a:srgbClr val="FFFFFF"/>
                </a:solidFill>
                <a:latin typeface="Segoe UI"/>
              </a:rPr>
              <a:t>DE SEGURIDAD</a:t>
            </a:r>
          </a:p>
          <a:p>
            <a:pPr algn="ctr">
              <a:lnSpc>
                <a:spcPct val="100000"/>
              </a:lnSpc>
              <a:buNone/>
            </a:pPr>
            <a:r>
              <a:rPr sz="1050" b="1">
                <a:solidFill>
                  <a:srgbClr val="FFFFFF"/>
                </a:solidFill>
                <a:latin typeface="Segoe UI"/>
              </a:rPr>
              <a:t>dos canales</a:t>
            </a:r>
          </a:p>
        </p:txBody>
      </p:sp>
      <p:sp>
        <p:nvSpPr>
          <p:cNvPr id="12" name="Right Arrow 11"/>
          <p:cNvSpPr/>
          <p:nvPr/>
        </p:nvSpPr>
        <p:spPr>
          <a:xfrm>
            <a:off x="5687568" y="2409444"/>
            <a:ext cx="22860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961888" y="2011680"/>
            <a:ext cx="2651760" cy="960120"/>
          </a:xfrm>
          <a:prstGeom prst="roundRect">
            <a:avLst>
              <a:gd name="adj" fmla="val 10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Consolas"/>
              </a:rPr>
              <a:t>CN8</a:t>
            </a:r>
            <a:r>
              <a:rPr sz="1050" b="1">
                <a:solidFill>
                  <a:srgbClr val="FFFFFF"/>
                </a:solidFill>
                <a:latin typeface="Segoe UI"/>
              </a:rPr>
              <a:t> del SERVOPACK</a:t>
            </a:r>
          </a:p>
          <a:p>
            <a:pPr algn="ctr">
              <a:lnSpc>
                <a:spcPct val="100000"/>
              </a:lnSpc>
              <a:buNone/>
            </a:pPr>
            <a:r>
              <a:rPr sz="1050" b="1">
                <a:solidFill>
                  <a:srgbClr val="FFFFFF"/>
                </a:solidFill>
                <a:latin typeface="Segoe UI"/>
              </a:rPr>
              <a:t>entradas HWBB 1 y 2</a:t>
            </a:r>
          </a:p>
        </p:txBody>
      </p:sp>
      <p:sp>
        <p:nvSpPr>
          <p:cNvPr id="14" name="Right Arrow 13"/>
          <p:cNvSpPr/>
          <p:nvPr/>
        </p:nvSpPr>
        <p:spPr>
          <a:xfrm>
            <a:off x="8659368" y="2409444"/>
            <a:ext cx="228600" cy="164592"/>
          </a:xfrm>
          <a:prstGeom prst="rightArrow">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8933688" y="2011680"/>
            <a:ext cx="2651760" cy="960120"/>
          </a:xfrm>
          <a:prstGeom prst="roundRect">
            <a:avLst>
              <a:gd name="adj" fmla="val 10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ETAPA DE POTENCIA</a:t>
            </a:r>
          </a:p>
          <a:p>
            <a:pPr algn="ctr">
              <a:lnSpc>
                <a:spcPct val="100000"/>
              </a:lnSpc>
              <a:buNone/>
            </a:pPr>
            <a:r>
              <a:rPr sz="1050" b="1">
                <a:solidFill>
                  <a:srgbClr val="FFFFFF"/>
                </a:solidFill>
                <a:latin typeface="Segoe UI"/>
              </a:rPr>
              <a:t>bloqueada: par cero</a:t>
            </a:r>
          </a:p>
        </p:txBody>
      </p:sp>
      <p:cxnSp>
        <p:nvCxnSpPr>
          <p:cNvPr id="16" name="Connector 15"/>
          <p:cNvCxnSpPr/>
          <p:nvPr/>
        </p:nvCxnSpPr>
        <p:spPr>
          <a:xfrm>
            <a:off x="7287768" y="2971800"/>
            <a:ext cx="0" cy="64008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453128" y="3611880"/>
            <a:ext cx="2834640" cy="0"/>
          </a:xfrm>
          <a:prstGeom prst="line">
            <a:avLst/>
          </a:prstGeom>
          <a:ln w="22225">
            <a:solidFill>
              <a:srgbClr val="2E8B57"/>
            </a:solidFill>
          </a:ln>
        </p:spPr>
        <p:style>
          <a:lnRef idx="2">
            <a:schemeClr val="accent1"/>
          </a:lnRef>
          <a:fillRef idx="0">
            <a:schemeClr val="accent1"/>
          </a:fillRef>
          <a:effectRef idx="1">
            <a:schemeClr val="accent1"/>
          </a:effectRef>
          <a:fontRef idx="minor">
            <a:schemeClr val="tx1"/>
          </a:fontRef>
        </p:style>
      </p:cxnSp>
      <p:sp>
        <p:nvSpPr>
          <p:cNvPr id="18" name="Up Arrow 17"/>
          <p:cNvSpPr/>
          <p:nvPr/>
        </p:nvSpPr>
        <p:spPr>
          <a:xfrm>
            <a:off x="4352544" y="3108960"/>
            <a:ext cx="201168" cy="502920"/>
          </a:xfrm>
          <a:prstGeom prst="upArrow">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916168" y="3410712"/>
            <a:ext cx="2743200" cy="402336"/>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00" b="1">
                <a:solidFill>
                  <a:srgbClr val="FFFFFF"/>
                </a:solidFill>
                <a:latin typeface="Consolas"/>
              </a:rPr>
              <a:t>EDM1</a:t>
            </a:r>
            <a:r>
              <a:rPr sz="1000" b="1">
                <a:solidFill>
                  <a:srgbClr val="FFFFFF"/>
                </a:solidFill>
                <a:latin typeface="Segoe UI"/>
              </a:rPr>
              <a:t> — confirmación de estado seguro</a:t>
            </a:r>
          </a:p>
        </p:txBody>
      </p:sp>
      <p:sp>
        <p:nvSpPr>
          <p:cNvPr id="20" name="Rectangle 19"/>
          <p:cNvSpPr/>
          <p:nvPr/>
        </p:nvSpPr>
        <p:spPr>
          <a:xfrm>
            <a:off x="566928" y="4206240"/>
            <a:ext cx="5394960" cy="160020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4343400"/>
            <a:ext cx="484632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Señales del conector </a:t>
            </a:r>
            <a:r>
              <a:rPr sz="1250" b="1">
                <a:solidFill>
                  <a:srgbClr val="0B2545"/>
                </a:solidFill>
                <a:latin typeface="Consolas"/>
              </a:rPr>
              <a:t>CN8</a:t>
            </a:r>
          </a:p>
        </p:txBody>
      </p:sp>
      <p:sp>
        <p:nvSpPr>
          <p:cNvPr id="22" name="TextBox 21"/>
          <p:cNvSpPr txBox="1"/>
          <p:nvPr/>
        </p:nvSpPr>
        <p:spPr>
          <a:xfrm>
            <a:off x="822960" y="4663440"/>
            <a:ext cx="4846320" cy="109728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Canal 1</a:t>
            </a:r>
            <a:r>
              <a:rPr sz="1050" b="1">
                <a:solidFill>
                  <a:srgbClr val="1C2430"/>
                </a:solidFill>
                <a:latin typeface="Segoe UI"/>
              </a:rPr>
              <a:t> y </a:t>
            </a:r>
            <a:r>
              <a:rPr sz="1050" b="1">
                <a:solidFill>
                  <a:srgbClr val="1C2430"/>
                </a:solidFill>
                <a:latin typeface="Segoe UI"/>
              </a:rPr>
              <a:t>canal 2</a:t>
            </a:r>
            <a:r>
              <a:rPr sz="1050" b="1">
                <a:solidFill>
                  <a:srgbClr val="1C2430"/>
                </a:solidFill>
                <a:latin typeface="Segoe UI"/>
              </a:rPr>
              <a:t>: entradas independientes de desactivación del par.</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EDM</a:t>
            </a:r>
            <a:r>
              <a:rPr sz="1050" b="1">
                <a:solidFill>
                  <a:srgbClr val="1C2430"/>
                </a:solidFill>
                <a:latin typeface="Segoe UI"/>
              </a:rPr>
              <a:t>: salida de vigilancia hacia el módulo de seguridad.</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Consulta la asignación exacta de pines en el manual de tu modelo.</a:t>
            </a:r>
          </a:p>
        </p:txBody>
      </p:sp>
      <p:sp>
        <p:nvSpPr>
          <p:cNvPr id="23" name="Rectangle 22"/>
          <p:cNvSpPr/>
          <p:nvPr/>
        </p:nvSpPr>
        <p:spPr>
          <a:xfrm>
            <a:off x="6236208" y="4206240"/>
            <a:ext cx="5394960" cy="160020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2240" y="4343400"/>
            <a:ext cx="4846320" cy="274320"/>
          </a:xfrm>
          <a:prstGeom prst="rect">
            <a:avLst/>
          </a:prstGeom>
          <a:noFill/>
        </p:spPr>
        <p:txBody>
          <a:bodyPr wrap="square" lIns="0" rIns="0" tIns="0" bIns="0" anchor="t">
            <a:spAutoFit/>
          </a:bodyPr>
          <a:lstStyle/>
          <a:p>
            <a:pPr algn="l">
              <a:lnSpc>
                <a:spcPct val="100000"/>
              </a:lnSpc>
              <a:buNone/>
            </a:pPr>
            <a:r>
              <a:rPr sz="1250" b="1">
                <a:solidFill>
                  <a:srgbClr val="0B2545"/>
                </a:solidFill>
                <a:latin typeface="Segoe UI"/>
              </a:rPr>
              <a:t>Reglas de cableado</a:t>
            </a:r>
          </a:p>
        </p:txBody>
      </p:sp>
      <p:sp>
        <p:nvSpPr>
          <p:cNvPr id="25" name="TextBox 24"/>
          <p:cNvSpPr txBox="1"/>
          <p:nvPr/>
        </p:nvSpPr>
        <p:spPr>
          <a:xfrm>
            <a:off x="6492240" y="4663440"/>
            <a:ext cx="4846320" cy="1097280"/>
          </a:xfrm>
          <a:prstGeom prst="rect">
            <a:avLst/>
          </a:prstGeom>
          <a:noFill/>
        </p:spPr>
        <p:txBody>
          <a:bodyPr wrap="square">
            <a:spAutoFit/>
          </a:bodyPr>
          <a:lstStyle/>
          <a:p>
            <a:pPr marL="274320" indent="-201168">
              <a:lnSpc>
                <a:spcPct val="106000"/>
              </a:lnSpc>
              <a:spcAft>
                <a:spcPts val="900"/>
              </a:spcAft>
              <a:buClr>
                <a:srgbClr val="1B5EA8"/>
              </a:buClr>
              <a:buSzPct val="90000"/>
              <a:buFont typeface="Arial"/>
              <a:buChar char="■"/>
            </a:pPr>
            <a:r>
              <a:rPr sz="1050" b="1">
                <a:solidFill>
                  <a:srgbClr val="1C2430"/>
                </a:solidFill>
                <a:latin typeface="Segoe UI"/>
              </a:rPr>
              <a:t>Los dos canales, </a:t>
            </a:r>
            <a:r>
              <a:rPr sz="1050" b="1">
                <a:solidFill>
                  <a:srgbClr val="1C2430"/>
                </a:solidFill>
                <a:latin typeface="Segoe UI"/>
              </a:rPr>
              <a:t>físicamente independientes</a:t>
            </a:r>
            <a:r>
              <a:rPr sz="1050" b="1">
                <a:solidFill>
                  <a:srgbClr val="1C2430"/>
                </a:solidFill>
                <a:latin typeface="Segoe UI"/>
              </a:rPr>
              <a:t>: distinto conductor y, si es posible, distinta canalización.</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Nunca</a:t>
            </a:r>
            <a:r>
              <a:rPr sz="1050" b="1">
                <a:solidFill>
                  <a:srgbClr val="1C2430"/>
                </a:solidFill>
                <a:latin typeface="Segoe UI"/>
              </a:rPr>
              <a:t> puentear un canal 'para probar'.</a:t>
            </a:r>
          </a:p>
          <a:p>
            <a:pPr marL="274320" indent="-201168">
              <a:lnSpc>
                <a:spcPct val="106000"/>
              </a:lnSpc>
              <a:spcAft>
                <a:spcPts val="900"/>
              </a:spcAft>
              <a:buClr>
                <a:srgbClr val="1B5EA8"/>
              </a:buClr>
              <a:buSzPct val="90000"/>
              <a:buFont typeface="Arial"/>
              <a:buChar char="■"/>
            </a:pPr>
            <a:r>
              <a:rPr sz="1050" b="1">
                <a:solidFill>
                  <a:srgbClr val="1C2430"/>
                </a:solidFill>
                <a:latin typeface="Segoe UI"/>
              </a:rPr>
              <a:t>EDM conectado y vigilado: sin él se pierde el diagnóstico y el nivel de prestaciones.</a:t>
            </a:r>
          </a:p>
        </p:txBody>
      </p:sp>
      <p:sp>
        <p:nvSpPr>
          <p:cNvPr id="26" name="Rectangle 25"/>
          <p:cNvSpPr/>
          <p:nvPr/>
        </p:nvSpPr>
        <p:spPr>
          <a:xfrm>
            <a:off x="566928" y="5897880"/>
            <a:ext cx="11064240" cy="420624"/>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897880"/>
            <a:ext cx="68580"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41248" y="6035040"/>
            <a:ext cx="10561320"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Consolas"/>
              </a:rPr>
              <a:t>CN8</a:t>
            </a:r>
            <a:r>
              <a:rPr sz="1200" b="1">
                <a:solidFill>
                  <a:srgbClr val="C0392B"/>
                </a:solidFill>
                <a:latin typeface="Segoe UI Semibold"/>
              </a:rPr>
              <a:t> sale de fábrica con puente. Si lo retiras sin cablear la seguridad, el eje no dará par y no habrá alarma que lo explique.</a:t>
            </a:r>
          </a:p>
        </p:txBody>
      </p:sp>
      <p:sp>
        <p:nvSpPr>
          <p:cNvPr id="29" name="TextBox 28"/>
          <p:cNvSpPr txBox="1"/>
          <p:nvPr/>
        </p:nvSpPr>
        <p:spPr>
          <a:xfrm>
            <a:off x="841248" y="6309360"/>
            <a:ext cx="10561320" cy="-82296"/>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STO no es parada de emergencia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confusión más peligrosa del módulo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100</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hace exactamente STO / HWBB</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325" b="1">
                <a:solidFill>
                  <a:srgbClr val="1C2430"/>
                </a:solidFill>
                <a:latin typeface="Segoe UI"/>
              </a:rPr>
              <a:t>Corta por </a:t>
            </a:r>
            <a:r>
              <a:rPr sz="1325" b="1">
                <a:solidFill>
                  <a:srgbClr val="1C2430"/>
                </a:solidFill>
                <a:latin typeface="Segoe UI"/>
              </a:rPr>
              <a:t>hardware</a:t>
            </a:r>
            <a:r>
              <a:rPr sz="1325" b="1">
                <a:solidFill>
                  <a:srgbClr val="1C2430"/>
                </a:solidFill>
                <a:latin typeface="Segoe UI"/>
              </a:rPr>
              <a:t> las señales de disparo de los transistores de potencia: el motor deja de recibir par de forma segura.</a:t>
            </a:r>
          </a:p>
          <a:p>
            <a:pPr marL="274320" indent="-201168">
              <a:lnSpc>
                <a:spcPct val="106000"/>
              </a:lnSpc>
              <a:spcAft>
                <a:spcPts val="900"/>
              </a:spcAft>
              <a:buClr>
                <a:srgbClr val="1B5EA8"/>
              </a:buClr>
              <a:buSzPct val="90000"/>
              <a:buFont typeface="Arial"/>
              <a:buChar char="■"/>
            </a:pPr>
            <a:r>
              <a:rPr sz="1325" b="1">
                <a:solidFill>
                  <a:srgbClr val="1C2430"/>
                </a:solidFill>
                <a:latin typeface="Segoe UI"/>
              </a:rPr>
              <a:t>Actúa por </a:t>
            </a:r>
            <a:r>
              <a:rPr sz="1325" b="1">
                <a:solidFill>
                  <a:srgbClr val="1C2430"/>
                </a:solidFill>
                <a:latin typeface="Segoe UI"/>
              </a:rPr>
              <a:t>dos canales independientes</a:t>
            </a:r>
            <a:r>
              <a:rPr sz="1325" b="1">
                <a:solidFill>
                  <a:srgbClr val="1C2430"/>
                </a:solidFill>
                <a:latin typeface="Segoe UI"/>
              </a:rPr>
              <a:t>, de modo que un fallo en uno no impide la función.</a:t>
            </a:r>
          </a:p>
          <a:p>
            <a:pPr marL="274320" indent="-201168">
              <a:lnSpc>
                <a:spcPct val="106000"/>
              </a:lnSpc>
              <a:spcAft>
                <a:spcPts val="900"/>
              </a:spcAft>
              <a:buClr>
                <a:srgbClr val="1B5EA8"/>
              </a:buClr>
              <a:buSzPct val="90000"/>
              <a:buFont typeface="Arial"/>
              <a:buChar char="■"/>
            </a:pPr>
            <a:r>
              <a:rPr sz="1325" b="1">
                <a:solidFill>
                  <a:srgbClr val="1C2430"/>
                </a:solidFill>
                <a:latin typeface="Segoe UI"/>
              </a:rPr>
              <a:t>El eje queda </a:t>
            </a:r>
            <a:r>
              <a:rPr sz="1325" b="1">
                <a:solidFill>
                  <a:srgbClr val="1C2430"/>
                </a:solidFill>
                <a:latin typeface="Segoe UI"/>
              </a:rPr>
              <a:t>libre</a:t>
            </a:r>
            <a:r>
              <a:rPr sz="1325" b="1">
                <a:solidFill>
                  <a:srgbClr val="1C2430"/>
                </a:solidFill>
                <a:latin typeface="Segoe UI"/>
              </a:rPr>
              <a:t>: se detendrá por su propia inercia y rozamiento, o por el freno dinámico si está configurado.</a:t>
            </a:r>
          </a:p>
          <a:p>
            <a:pPr marL="274320" indent="-201168">
              <a:lnSpc>
                <a:spcPct val="106000"/>
              </a:lnSpc>
              <a:spcAft>
                <a:spcPts val="900"/>
              </a:spcAft>
              <a:buClr>
                <a:srgbClr val="1B5EA8"/>
              </a:buClr>
              <a:buSzPct val="90000"/>
              <a:buFont typeface="Arial"/>
              <a:buChar char="■"/>
            </a:pPr>
            <a:r>
              <a:rPr sz="1325" b="1">
                <a:solidFill>
                  <a:srgbClr val="1C2430"/>
                </a:solidFill>
                <a:latin typeface="Segoe UI"/>
              </a:rPr>
              <a:t>Es una función </a:t>
            </a:r>
            <a:r>
              <a:rPr sz="1325" b="1">
                <a:solidFill>
                  <a:srgbClr val="1C2430"/>
                </a:solidFill>
                <a:latin typeface="Segoe UI"/>
              </a:rPr>
              <a:t>de par cero</a:t>
            </a:r>
            <a:r>
              <a:rPr sz="1325" b="1">
                <a:solidFill>
                  <a:srgbClr val="1C2430"/>
                </a:solidFill>
                <a:latin typeface="Segoe UI"/>
              </a:rPr>
              <a:t>, no de posición ni de velocidad.</a:t>
            </a:r>
          </a:p>
          <a:p>
            <a:pPr marL="566928" indent="-201168">
              <a:lnSpc>
                <a:spcPct val="106000"/>
              </a:lnSpc>
              <a:spcAft>
                <a:spcPts val="500"/>
              </a:spcAft>
              <a:buClr>
                <a:srgbClr val="00A9CE"/>
              </a:buClr>
              <a:buSzPct val="90000"/>
              <a:buFont typeface="Arial"/>
              <a:buChar char="▸"/>
            </a:pPr>
            <a:r>
              <a:rPr sz="1175" b="0">
                <a:solidFill>
                  <a:srgbClr val="333F4C"/>
                </a:solidFill>
                <a:latin typeface="Segoe UI"/>
              </a:rPr>
              <a:t>Tiempo de respuesta muy corto, sin depender del software del drive.</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Qué NO hace y qué debes prever</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frena</a:t>
            </a:r>
            <a:r>
              <a:rPr sz="1225" b="1">
                <a:solidFill>
                  <a:srgbClr val="1C2430"/>
                </a:solidFill>
                <a:latin typeface="Segoe UI"/>
              </a:rPr>
              <a:t> el eje: en una máquina con gran inercia, el movimiento puede continuar durante segundos.</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sostiene</a:t>
            </a:r>
            <a:r>
              <a:rPr sz="1225" b="1">
                <a:solidFill>
                  <a:srgbClr val="1C2430"/>
                </a:solidFill>
                <a:latin typeface="Segoe UI"/>
              </a:rPr>
              <a:t> la carga: en un eje vertical, la carga cae. Hay que combinarlo con freno y con un análisis específico.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corta la tensión</a:t>
            </a:r>
            <a:r>
              <a:rPr sz="1225" b="1">
                <a:solidFill>
                  <a:srgbClr val="1C2430"/>
                </a:solidFill>
                <a:latin typeface="Segoe UI"/>
              </a:rPr>
              <a:t> del bus de continua: sigue habiendo energía peligrosa dentro del equipo.</a:t>
            </a:r>
          </a:p>
          <a:p>
            <a:pPr marL="274320" indent="-201168">
              <a:lnSpc>
                <a:spcPct val="106000"/>
              </a:lnSpc>
              <a:spcAft>
                <a:spcPts val="900"/>
              </a:spcAft>
              <a:buClr>
                <a:srgbClr val="1B5EA8"/>
              </a:buClr>
              <a:buSzPct val="90000"/>
              <a:buFont typeface="Arial"/>
              <a:buChar char="■"/>
            </a:pPr>
            <a:r>
              <a:rPr sz="1225" b="1">
                <a:solidFill>
                  <a:srgbClr val="1C2430"/>
                </a:solidFill>
                <a:latin typeface="Segoe UI"/>
              </a:rPr>
              <a:t>No sustituye</a:t>
            </a:r>
            <a:r>
              <a:rPr sz="1225" b="1">
                <a:solidFill>
                  <a:srgbClr val="1C2430"/>
                </a:solidFill>
                <a:latin typeface="Segoe UI"/>
              </a:rPr>
              <a:t> al seccionamiento para trabajos de mantenimiento: para intervenir hay que consignar la instalación.</a:t>
            </a:r>
          </a:p>
          <a:p>
            <a:pPr marL="0" indent="0">
              <a:lnSpc>
                <a:spcPct val="106000"/>
              </a:lnSpc>
              <a:spcBef>
                <a:spcPts val="800"/>
              </a:spcBef>
              <a:spcAft>
                <a:spcPts val="900"/>
              </a:spcAft>
              <a:buNone/>
            </a:pPr>
            <a:r>
              <a:rPr sz="1175" b="1">
                <a:solidFill>
                  <a:srgbClr val="1B5EA8"/>
                </a:solidFill>
                <a:latin typeface="Segoe UI Semibold"/>
              </a:rPr>
              <a:t>Cuando hace falta parada controlada</a:t>
            </a:r>
          </a:p>
          <a:p>
            <a:pPr marL="566928" indent="-201168">
              <a:lnSpc>
                <a:spcPct val="106000"/>
              </a:lnSpc>
              <a:spcAft>
                <a:spcPts val="500"/>
              </a:spcAft>
              <a:buClr>
                <a:srgbClr val="00A9CE"/>
              </a:buClr>
              <a:buSzPct val="90000"/>
              <a:buFont typeface="Arial"/>
              <a:buChar char="▸"/>
            </a:pPr>
            <a:r>
              <a:rPr sz="1075" b="0">
                <a:solidFill>
                  <a:srgbClr val="333F4C"/>
                </a:solidFill>
                <a:latin typeface="Segoe UI"/>
              </a:rPr>
              <a:t>Combinar con un módulo de seguridad temporizado: parada controlada por el drive y, transcurrido el tiempo, STO.</a:t>
            </a:r>
          </a:p>
        </p:txBody>
      </p:sp>
      <p:sp>
        <p:nvSpPr>
          <p:cNvPr id="17" name="Rectangle 16"/>
          <p:cNvSpPr/>
          <p:nvPr/>
        </p:nvSpPr>
        <p:spPr>
          <a:xfrm>
            <a:off x="566928" y="5458968"/>
            <a:ext cx="11057839" cy="868680"/>
          </a:xfrm>
          <a:prstGeom prst="rect">
            <a:avLst/>
          </a:prstGeom>
          <a:solidFill>
            <a:srgbClr val="FAE6E3"/>
          </a:solidFill>
          <a:ln w="952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C0392B"/>
                </a:solidFill>
                <a:latin typeface="Segoe UI Semibold"/>
              </a:rPr>
              <a:t>Escenario que hay que evitar</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eje vertical de 3 kW con carga suspendida y sólo STO como medida de seguridad. Al activarse, el motor deja de dar par y la carga cae. La protección de una zona bajo carga suspendida exige medidas adicionales (freno con vigilancia, bloqueo mecánico) definidas en el análisis de riesgos.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441" b="1">
                <a:solidFill>
                  <a:srgbClr val="FFFFFF"/>
                </a:solidFill>
                <a:latin typeface="Segoe UI Semibold"/>
              </a:rPr>
              <a:t>Validación y mantenimiento de la función de seguridad</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Una función de seguridad que no se prueba no es una función de seguridad</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10</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101</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Verificar el cableado antes de la primera puesta en servicio</a:t>
            </a:r>
          </a:p>
        </p:txBody>
      </p:sp>
      <p:sp>
        <p:nvSpPr>
          <p:cNvPr id="13" name="TextBox 12"/>
          <p:cNvSpPr txBox="1"/>
          <p:nvPr/>
        </p:nvSpPr>
        <p:spPr>
          <a:xfrm>
            <a:off x="1435608" y="178181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Los dos canales cableados de forma independiente, sin puentes, con la salida EDM conectada al módulo de seguridad.</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2</a:t>
            </a:r>
          </a:p>
        </p:txBody>
      </p:sp>
      <p:sp>
        <p:nvSpPr>
          <p:cNvPr id="17" name="TextBox 16"/>
          <p:cNvSpPr txBox="1"/>
          <p:nvPr/>
        </p:nvSpPr>
        <p:spPr>
          <a:xfrm>
            <a:off x="1435608" y="2238756"/>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Probar la activación de la función</a:t>
            </a:r>
          </a:p>
        </p:txBody>
      </p:sp>
      <p:sp>
        <p:nvSpPr>
          <p:cNvPr id="18" name="TextBox 17"/>
          <p:cNvSpPr txBox="1"/>
          <p:nvPr/>
        </p:nvSpPr>
        <p:spPr>
          <a:xfrm>
            <a:off x="1435608" y="2447798"/>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Con el motor girando en condiciones controladas, activar la seguridad y comprobar que el par desaparece de inmediato.</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3</a:t>
            </a:r>
          </a:p>
        </p:txBody>
      </p:sp>
      <p:sp>
        <p:nvSpPr>
          <p:cNvPr id="22" name="TextBox 21"/>
          <p:cNvSpPr txBox="1"/>
          <p:nvPr/>
        </p:nvSpPr>
        <p:spPr>
          <a:xfrm>
            <a:off x="1435608" y="2904744"/>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Probar el fallo de un solo canal</a:t>
            </a:r>
          </a:p>
        </p:txBody>
      </p:sp>
      <p:sp>
        <p:nvSpPr>
          <p:cNvPr id="23" name="TextBox 22"/>
          <p:cNvSpPr txBox="1"/>
          <p:nvPr/>
        </p:nvSpPr>
        <p:spPr>
          <a:xfrm>
            <a:off x="1435608" y="3113786"/>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Interrumpir un solo canal: el módulo de seguridad debe detectar la discrepancia mediante EDM y pasar a estado seguro.</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4</a:t>
            </a:r>
          </a:p>
        </p:txBody>
      </p:sp>
      <p:sp>
        <p:nvSpPr>
          <p:cNvPr id="27" name="TextBox 26"/>
          <p:cNvSpPr txBox="1"/>
          <p:nvPr/>
        </p:nvSpPr>
        <p:spPr>
          <a:xfrm>
            <a:off x="1435608" y="3570732"/>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Verificar el tiempo de parada real de la máquina</a:t>
            </a:r>
          </a:p>
        </p:txBody>
      </p:sp>
      <p:sp>
        <p:nvSpPr>
          <p:cNvPr id="28" name="TextBox 27"/>
          <p:cNvSpPr txBox="1"/>
          <p:nvPr/>
        </p:nvSpPr>
        <p:spPr>
          <a:xfrm>
            <a:off x="1435608" y="3779774"/>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Medirlo, no estimarlo. Es el dato que determina las distancias de seguridad de resguardos y barreras.</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5</a:t>
            </a:r>
          </a:p>
        </p:txBody>
      </p:sp>
      <p:sp>
        <p:nvSpPr>
          <p:cNvPr id="32" name="TextBox 31"/>
          <p:cNvSpPr txBox="1"/>
          <p:nvPr/>
        </p:nvSpPr>
        <p:spPr>
          <a:xfrm>
            <a:off x="1435608" y="4236720"/>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Documentar la prueba</a:t>
            </a:r>
          </a:p>
        </p:txBody>
      </p:sp>
      <p:sp>
        <p:nvSpPr>
          <p:cNvPr id="33" name="TextBox 32"/>
          <p:cNvSpPr txBox="1"/>
          <p:nvPr/>
        </p:nvSpPr>
        <p:spPr>
          <a:xfrm>
            <a:off x="1435608" y="4445762"/>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Fecha, responsable, resultado y condiciones. Forma parte del expediente técnico de la máquina.</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6</a:t>
            </a:r>
          </a:p>
        </p:txBody>
      </p:sp>
      <p:sp>
        <p:nvSpPr>
          <p:cNvPr id="37" name="TextBox 36"/>
          <p:cNvSpPr txBox="1"/>
          <p:nvPr/>
        </p:nvSpPr>
        <p:spPr>
          <a:xfrm>
            <a:off x="1435608" y="490270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Repetir periódicamente</a:t>
            </a:r>
          </a:p>
        </p:txBody>
      </p:sp>
      <p:sp>
        <p:nvSpPr>
          <p:cNvPr id="38" name="TextBox 37"/>
          <p:cNvSpPr txBox="1"/>
          <p:nvPr/>
        </p:nvSpPr>
        <p:spPr>
          <a:xfrm>
            <a:off x="1435608" y="511175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La frecuencia la determina el análisis de riesgos; en muchos casos, al menos una vez al año y tras cualquier intervención.</a:t>
            </a:r>
          </a:p>
        </p:txBody>
      </p:sp>
      <p:sp>
        <p:nvSpPr>
          <p:cNvPr id="39" name="Rectangle 38"/>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El error de instalación más frecuente</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Dejar el puente de fábrica de </a:t>
            </a:r>
            <a:r>
              <a:rPr sz="1150" b="0">
                <a:solidFill>
                  <a:srgbClr val="2B3644"/>
                </a:solidFill>
                <a:latin typeface="Consolas"/>
              </a:rPr>
              <a:t>CN8</a:t>
            </a:r>
            <a:r>
              <a:rPr sz="1150" b="0">
                <a:solidFill>
                  <a:srgbClr val="2B3644"/>
                </a:solidFill>
                <a:latin typeface="Segoe UI"/>
              </a:rPr>
              <a:t> y creer que la máquina tiene STO. El hardware está preparado, pero la función no está en servicio: el circuito de seguridad debe cablearse de verdad.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11</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Diagnóstico, alarmas y mantenimiento</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Un método de diagnóstico que funciona siempre</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Alarmas y avisos: cómo leerlos, cómo reiniciarlos</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Las alarmas que verás de verdad, ordenadas por familia</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Árboles de decisión para los tres fallos más frecuentes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Mantenimiento preventivo y vida útil de los componentes</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Sustitución de equipo sin perder un día de producción</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4 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Un método de diagnóstico que funciona siempre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Del síntoma a la causa en pasos verificables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103</a:t>
            </a:r>
          </a:p>
        </p:txBody>
      </p:sp>
      <p:sp>
        <p:nvSpPr>
          <p:cNvPr id="9" name="Rectangle 8"/>
          <p:cNvSpPr/>
          <p:nvPr/>
        </p:nvSpPr>
        <p:spPr>
          <a:xfrm>
            <a:off x="566928" y="1627632"/>
            <a:ext cx="11064240"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627632"/>
            <a:ext cx="566928" cy="65836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783080"/>
            <a:ext cx="566928" cy="365760"/>
          </a:xfrm>
          <a:prstGeom prst="rect">
            <a:avLst/>
          </a:prstGeom>
          <a:noFill/>
        </p:spPr>
        <p:txBody>
          <a:bodyPr wrap="square" lIns="0" rIns="0" tIns="0" bIns="0" anchor="t">
            <a:spAutoFit/>
          </a:bodyPr>
          <a:lstStyle/>
          <a:p>
            <a:pPr algn="ctr">
              <a:lnSpc>
                <a:spcPct val="100000"/>
              </a:lnSpc>
              <a:buNone/>
            </a:pPr>
            <a:r>
              <a:rPr sz="1800" b="1">
                <a:solidFill>
                  <a:srgbClr val="FFFFFF"/>
                </a:solidFill>
                <a:latin typeface="Segoe UI"/>
              </a:rPr>
              <a:t>1</a:t>
            </a:r>
          </a:p>
        </p:txBody>
      </p:sp>
      <p:sp>
        <p:nvSpPr>
          <p:cNvPr id="12" name="TextBox 11"/>
          <p:cNvSpPr txBox="1"/>
          <p:nvPr/>
        </p:nvSpPr>
        <p:spPr>
          <a:xfrm>
            <a:off x="1298448" y="1682496"/>
            <a:ext cx="2834640" cy="320040"/>
          </a:xfrm>
          <a:prstGeom prst="rect">
            <a:avLst/>
          </a:prstGeom>
          <a:noFill/>
        </p:spPr>
        <p:txBody>
          <a:bodyPr wrap="square" lIns="0" rIns="0" tIns="0" bIns="0" anchor="t">
            <a:spAutoFit/>
          </a:bodyPr>
          <a:lstStyle/>
          <a:p>
            <a:pPr algn="l">
              <a:lnSpc>
                <a:spcPct val="100000"/>
              </a:lnSpc>
              <a:buNone/>
            </a:pPr>
            <a:r>
              <a:rPr sz="1200" b="1">
                <a:solidFill>
                  <a:srgbClr val="0B2545"/>
                </a:solidFill>
                <a:latin typeface="Segoe UI"/>
              </a:rPr>
              <a:t>OBSERVAR</a:t>
            </a:r>
          </a:p>
        </p:txBody>
      </p:sp>
      <p:sp>
        <p:nvSpPr>
          <p:cNvPr id="13" name="TextBox 12"/>
          <p:cNvSpPr txBox="1"/>
          <p:nvPr/>
        </p:nvSpPr>
        <p:spPr>
          <a:xfrm>
            <a:off x="4206240" y="1691640"/>
            <a:ext cx="7223760" cy="548640"/>
          </a:xfrm>
          <a:prstGeom prst="rect">
            <a:avLst/>
          </a:prstGeom>
          <a:noFill/>
        </p:spPr>
        <p:txBody>
          <a:bodyPr wrap="square" lIns="0" rIns="0" tIns="0" bIns="0" anchor="t">
            <a:spAutoFit/>
          </a:bodyPr>
          <a:lstStyle/>
          <a:p>
            <a:pPr algn="l">
              <a:lnSpc>
                <a:spcPct val="108000"/>
              </a:lnSpc>
              <a:buNone/>
            </a:pPr>
            <a:r>
              <a:rPr sz="1000" b="0">
                <a:solidFill>
                  <a:srgbClr val="1C2430"/>
                </a:solidFill>
                <a:latin typeface="Segoe UI"/>
              </a:rPr>
              <a:t>¿Qué muestra el display? ¿Alarma, aviso o nada?</a:t>
            </a:r>
          </a:p>
          <a:p>
            <a:pPr algn="l">
              <a:lnSpc>
                <a:spcPct val="108000"/>
              </a:lnSpc>
              <a:buNone/>
            </a:pPr>
            <a:r>
              <a:rPr sz="1000" b="0">
                <a:solidFill>
                  <a:srgbClr val="1C2430"/>
                </a:solidFill>
                <a:latin typeface="Segoe UI"/>
              </a:rPr>
              <a:t>¿Qué estaba haciendo la máquina cuando falló?</a:t>
            </a:r>
          </a:p>
        </p:txBody>
      </p:sp>
      <p:sp>
        <p:nvSpPr>
          <p:cNvPr id="14" name="Rectangle 13"/>
          <p:cNvSpPr/>
          <p:nvPr/>
        </p:nvSpPr>
        <p:spPr>
          <a:xfrm>
            <a:off x="566928" y="2336292"/>
            <a:ext cx="11064240"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336292"/>
            <a:ext cx="566928" cy="658368"/>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491740"/>
            <a:ext cx="566928" cy="365760"/>
          </a:xfrm>
          <a:prstGeom prst="rect">
            <a:avLst/>
          </a:prstGeom>
          <a:noFill/>
        </p:spPr>
        <p:txBody>
          <a:bodyPr wrap="square" lIns="0" rIns="0" tIns="0" bIns="0" anchor="t">
            <a:spAutoFit/>
          </a:bodyPr>
          <a:lstStyle/>
          <a:p>
            <a:pPr algn="ctr">
              <a:lnSpc>
                <a:spcPct val="100000"/>
              </a:lnSpc>
              <a:buNone/>
            </a:pPr>
            <a:r>
              <a:rPr sz="1800" b="1">
                <a:solidFill>
                  <a:srgbClr val="FFFFFF"/>
                </a:solidFill>
                <a:latin typeface="Segoe UI"/>
              </a:rPr>
              <a:t>2</a:t>
            </a:r>
          </a:p>
        </p:txBody>
      </p:sp>
      <p:sp>
        <p:nvSpPr>
          <p:cNvPr id="17" name="TextBox 16"/>
          <p:cNvSpPr txBox="1"/>
          <p:nvPr/>
        </p:nvSpPr>
        <p:spPr>
          <a:xfrm>
            <a:off x="1298448" y="2391156"/>
            <a:ext cx="2834640" cy="320040"/>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a:rPr>
              <a:t>CONSULTAR EL HISTORIAL</a:t>
            </a:r>
          </a:p>
        </p:txBody>
      </p:sp>
      <p:sp>
        <p:nvSpPr>
          <p:cNvPr id="18" name="TextBox 17"/>
          <p:cNvSpPr txBox="1"/>
          <p:nvPr/>
        </p:nvSpPr>
        <p:spPr>
          <a:xfrm>
            <a:off x="4206240" y="2400300"/>
            <a:ext cx="7223760" cy="548640"/>
          </a:xfrm>
          <a:prstGeom prst="rect">
            <a:avLst/>
          </a:prstGeom>
          <a:noFill/>
        </p:spPr>
        <p:txBody>
          <a:bodyPr wrap="square" lIns="0" rIns="0" tIns="0" bIns="0" anchor="t">
            <a:spAutoFit/>
          </a:bodyPr>
          <a:lstStyle/>
          <a:p>
            <a:pPr algn="l">
              <a:lnSpc>
                <a:spcPct val="108000"/>
              </a:lnSpc>
              <a:buNone/>
            </a:pPr>
            <a:r>
              <a:rPr sz="1000" b="0">
                <a:solidFill>
                  <a:srgbClr val="1C2430"/>
                </a:solidFill>
                <a:latin typeface="Consolas"/>
              </a:rPr>
              <a:t>Fn000</a:t>
            </a:r>
            <a:r>
              <a:rPr sz="1000" b="0">
                <a:solidFill>
                  <a:srgbClr val="1C2430"/>
                </a:solidFill>
                <a:latin typeface="Segoe UI"/>
              </a:rPr>
              <a:t> o SigmaWin+: ¿hay alarmas previas?</a:t>
            </a:r>
          </a:p>
          <a:p>
            <a:pPr algn="l">
              <a:lnSpc>
                <a:spcPct val="108000"/>
              </a:lnSpc>
              <a:buNone/>
            </a:pPr>
            <a:r>
              <a:rPr sz="1000" b="0">
                <a:solidFill>
                  <a:srgbClr val="1C2430"/>
                </a:solidFill>
                <a:latin typeface="Segoe UI"/>
              </a:rPr>
              <a:t>¿Es la primera vez o se repite con un patrón?</a:t>
            </a:r>
          </a:p>
        </p:txBody>
      </p:sp>
      <p:sp>
        <p:nvSpPr>
          <p:cNvPr id="19" name="Rectangle 18"/>
          <p:cNvSpPr/>
          <p:nvPr/>
        </p:nvSpPr>
        <p:spPr>
          <a:xfrm>
            <a:off x="566928" y="3044952"/>
            <a:ext cx="11064240"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3044952"/>
            <a:ext cx="566928" cy="65836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3200400"/>
            <a:ext cx="566928" cy="365760"/>
          </a:xfrm>
          <a:prstGeom prst="rect">
            <a:avLst/>
          </a:prstGeom>
          <a:noFill/>
        </p:spPr>
        <p:txBody>
          <a:bodyPr wrap="square" lIns="0" rIns="0" tIns="0" bIns="0" anchor="t">
            <a:spAutoFit/>
          </a:bodyPr>
          <a:lstStyle/>
          <a:p>
            <a:pPr algn="ctr">
              <a:lnSpc>
                <a:spcPct val="100000"/>
              </a:lnSpc>
              <a:buNone/>
            </a:pPr>
            <a:r>
              <a:rPr sz="1800" b="1">
                <a:solidFill>
                  <a:srgbClr val="FFFFFF"/>
                </a:solidFill>
                <a:latin typeface="Segoe UI"/>
              </a:rPr>
              <a:t>3</a:t>
            </a:r>
          </a:p>
        </p:txBody>
      </p:sp>
      <p:sp>
        <p:nvSpPr>
          <p:cNvPr id="22" name="TextBox 21"/>
          <p:cNvSpPr txBox="1"/>
          <p:nvPr/>
        </p:nvSpPr>
        <p:spPr>
          <a:xfrm>
            <a:off x="1298448" y="3099816"/>
            <a:ext cx="2834640" cy="320040"/>
          </a:xfrm>
          <a:prstGeom prst="rect">
            <a:avLst/>
          </a:prstGeom>
          <a:noFill/>
        </p:spPr>
        <p:txBody>
          <a:bodyPr wrap="square" lIns="0" rIns="0" tIns="0" bIns="0" anchor="t">
            <a:spAutoFit/>
          </a:bodyPr>
          <a:lstStyle/>
          <a:p>
            <a:pPr algn="l">
              <a:lnSpc>
                <a:spcPct val="100000"/>
              </a:lnSpc>
              <a:buNone/>
            </a:pPr>
            <a:r>
              <a:rPr sz="1200" b="1">
                <a:solidFill>
                  <a:srgbClr val="00A9CE"/>
                </a:solidFill>
                <a:latin typeface="Segoe UI"/>
              </a:rPr>
              <a:t>MEDIR</a:t>
            </a:r>
          </a:p>
        </p:txBody>
      </p:sp>
      <p:sp>
        <p:nvSpPr>
          <p:cNvPr id="23" name="TextBox 22"/>
          <p:cNvSpPr txBox="1"/>
          <p:nvPr/>
        </p:nvSpPr>
        <p:spPr>
          <a:xfrm>
            <a:off x="4206240" y="3108960"/>
            <a:ext cx="7223760" cy="548640"/>
          </a:xfrm>
          <a:prstGeom prst="rect">
            <a:avLst/>
          </a:prstGeom>
          <a:noFill/>
        </p:spPr>
        <p:txBody>
          <a:bodyPr wrap="square" lIns="0" rIns="0" tIns="0" bIns="0" anchor="t">
            <a:spAutoFit/>
          </a:bodyPr>
          <a:lstStyle/>
          <a:p>
            <a:pPr algn="l">
              <a:lnSpc>
                <a:spcPct val="108000"/>
              </a:lnSpc>
              <a:buNone/>
            </a:pPr>
            <a:r>
              <a:rPr sz="1000" b="0">
                <a:solidFill>
                  <a:srgbClr val="1C2430"/>
                </a:solidFill>
                <a:latin typeface="Segoe UI"/>
              </a:rPr>
              <a:t>Monitores </a:t>
            </a:r>
            <a:r>
              <a:rPr sz="1000" b="0">
                <a:solidFill>
                  <a:srgbClr val="1C2430"/>
                </a:solidFill>
                <a:latin typeface="Consolas"/>
              </a:rPr>
              <a:t>Un</a:t>
            </a:r>
            <a:r>
              <a:rPr sz="1000" b="0">
                <a:solidFill>
                  <a:srgbClr val="1C2430"/>
                </a:solidFill>
                <a:latin typeface="Segoe UI"/>
              </a:rPr>
              <a:t>: entradas, salidas, par, error de posición.</a:t>
            </a:r>
          </a:p>
          <a:p>
            <a:pPr algn="l">
              <a:lnSpc>
                <a:spcPct val="108000"/>
              </a:lnSpc>
              <a:buNone/>
            </a:pPr>
            <a:r>
              <a:rPr sz="1000" b="0">
                <a:solidFill>
                  <a:srgbClr val="1C2430"/>
                </a:solidFill>
                <a:latin typeface="Segoe UI"/>
              </a:rPr>
              <a:t>Tensión de red, continuidad, aislamiento.</a:t>
            </a:r>
          </a:p>
        </p:txBody>
      </p:sp>
      <p:sp>
        <p:nvSpPr>
          <p:cNvPr id="24" name="Rectangle 23"/>
          <p:cNvSpPr/>
          <p:nvPr/>
        </p:nvSpPr>
        <p:spPr>
          <a:xfrm>
            <a:off x="566928" y="3753612"/>
            <a:ext cx="11064240"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753612"/>
            <a:ext cx="566928" cy="65836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909060"/>
            <a:ext cx="566928" cy="365760"/>
          </a:xfrm>
          <a:prstGeom prst="rect">
            <a:avLst/>
          </a:prstGeom>
          <a:noFill/>
        </p:spPr>
        <p:txBody>
          <a:bodyPr wrap="square" lIns="0" rIns="0" tIns="0" bIns="0" anchor="t">
            <a:spAutoFit/>
          </a:bodyPr>
          <a:lstStyle/>
          <a:p>
            <a:pPr algn="ctr">
              <a:lnSpc>
                <a:spcPct val="100000"/>
              </a:lnSpc>
              <a:buNone/>
            </a:pPr>
            <a:r>
              <a:rPr sz="1800" b="1">
                <a:solidFill>
                  <a:srgbClr val="FFFFFF"/>
                </a:solidFill>
                <a:latin typeface="Segoe UI"/>
              </a:rPr>
              <a:t>4</a:t>
            </a:r>
          </a:p>
        </p:txBody>
      </p:sp>
      <p:sp>
        <p:nvSpPr>
          <p:cNvPr id="27" name="TextBox 26"/>
          <p:cNvSpPr txBox="1"/>
          <p:nvPr/>
        </p:nvSpPr>
        <p:spPr>
          <a:xfrm>
            <a:off x="1298448" y="3808476"/>
            <a:ext cx="2834640" cy="320040"/>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a:rPr>
              <a:t>DIVIDIR EL SISTEMA</a:t>
            </a:r>
          </a:p>
        </p:txBody>
      </p:sp>
      <p:sp>
        <p:nvSpPr>
          <p:cNvPr id="28" name="TextBox 27"/>
          <p:cNvSpPr txBox="1"/>
          <p:nvPr/>
        </p:nvSpPr>
        <p:spPr>
          <a:xfrm>
            <a:off x="4206240" y="3817620"/>
            <a:ext cx="7223760" cy="548640"/>
          </a:xfrm>
          <a:prstGeom prst="rect">
            <a:avLst/>
          </a:prstGeom>
          <a:noFill/>
        </p:spPr>
        <p:txBody>
          <a:bodyPr wrap="square" lIns="0" rIns="0" tIns="0" bIns="0" anchor="t">
            <a:spAutoFit/>
          </a:bodyPr>
          <a:lstStyle/>
          <a:p>
            <a:pPr algn="l">
              <a:lnSpc>
                <a:spcPct val="108000"/>
              </a:lnSpc>
              <a:buNone/>
            </a:pPr>
            <a:r>
              <a:rPr sz="1000" b="0">
                <a:solidFill>
                  <a:srgbClr val="1C2430"/>
                </a:solidFill>
                <a:latin typeface="Segoe UI"/>
              </a:rPr>
              <a:t>JOG desde el panel: descarta controlador y cableado de mando.</a:t>
            </a:r>
          </a:p>
          <a:p>
            <a:pPr algn="l">
              <a:lnSpc>
                <a:spcPct val="108000"/>
              </a:lnSpc>
              <a:buNone/>
            </a:pPr>
            <a:r>
              <a:rPr sz="1000" b="0">
                <a:solidFill>
                  <a:srgbClr val="1C2430"/>
                </a:solidFill>
                <a:latin typeface="Segoe UI"/>
              </a:rPr>
              <a:t>Desacoplar la carga: separa drive+motor de la mecánica.</a:t>
            </a:r>
          </a:p>
        </p:txBody>
      </p:sp>
      <p:sp>
        <p:nvSpPr>
          <p:cNvPr id="29" name="Rectangle 28"/>
          <p:cNvSpPr/>
          <p:nvPr/>
        </p:nvSpPr>
        <p:spPr>
          <a:xfrm>
            <a:off x="566928" y="4462272"/>
            <a:ext cx="11064240"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462272"/>
            <a:ext cx="566928" cy="65836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617720"/>
            <a:ext cx="566928" cy="365760"/>
          </a:xfrm>
          <a:prstGeom prst="rect">
            <a:avLst/>
          </a:prstGeom>
          <a:noFill/>
        </p:spPr>
        <p:txBody>
          <a:bodyPr wrap="square" lIns="0" rIns="0" tIns="0" bIns="0" anchor="t">
            <a:spAutoFit/>
          </a:bodyPr>
          <a:lstStyle/>
          <a:p>
            <a:pPr algn="ctr">
              <a:lnSpc>
                <a:spcPct val="100000"/>
              </a:lnSpc>
              <a:buNone/>
            </a:pPr>
            <a:r>
              <a:rPr sz="1800" b="1">
                <a:solidFill>
                  <a:srgbClr val="FFFFFF"/>
                </a:solidFill>
                <a:latin typeface="Segoe UI"/>
              </a:rPr>
              <a:t>5</a:t>
            </a:r>
          </a:p>
        </p:txBody>
      </p:sp>
      <p:sp>
        <p:nvSpPr>
          <p:cNvPr id="32" name="TextBox 31"/>
          <p:cNvSpPr txBox="1"/>
          <p:nvPr/>
        </p:nvSpPr>
        <p:spPr>
          <a:xfrm>
            <a:off x="1298448" y="4517136"/>
            <a:ext cx="2834640" cy="320040"/>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a:rPr>
              <a:t>ACTUAR SOBRE UNA SOLA VARIABLE</a:t>
            </a:r>
          </a:p>
        </p:txBody>
      </p:sp>
      <p:sp>
        <p:nvSpPr>
          <p:cNvPr id="33" name="TextBox 32"/>
          <p:cNvSpPr txBox="1"/>
          <p:nvPr/>
        </p:nvSpPr>
        <p:spPr>
          <a:xfrm>
            <a:off x="4206240" y="4526280"/>
            <a:ext cx="7223760" cy="548640"/>
          </a:xfrm>
          <a:prstGeom prst="rect">
            <a:avLst/>
          </a:prstGeom>
          <a:noFill/>
        </p:spPr>
        <p:txBody>
          <a:bodyPr wrap="square" lIns="0" rIns="0" tIns="0" bIns="0" anchor="t">
            <a:spAutoFit/>
          </a:bodyPr>
          <a:lstStyle/>
          <a:p>
            <a:pPr algn="l">
              <a:lnSpc>
                <a:spcPct val="108000"/>
              </a:lnSpc>
              <a:buNone/>
            </a:pPr>
            <a:r>
              <a:rPr sz="1000" b="0">
                <a:solidFill>
                  <a:srgbClr val="1C2430"/>
                </a:solidFill>
                <a:latin typeface="Segoe UI"/>
              </a:rPr>
              <a:t>Un cambio cada vez, verificando el efecto antes del siguiente.</a:t>
            </a:r>
          </a:p>
        </p:txBody>
      </p:sp>
      <p:sp>
        <p:nvSpPr>
          <p:cNvPr id="34" name="Rectangle 33"/>
          <p:cNvSpPr/>
          <p:nvPr/>
        </p:nvSpPr>
        <p:spPr>
          <a:xfrm>
            <a:off x="566928" y="5170932"/>
            <a:ext cx="11064240"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170932"/>
            <a:ext cx="566928" cy="658368"/>
          </a:xfrm>
          <a:prstGeom prst="rect">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5326380"/>
            <a:ext cx="566928" cy="365760"/>
          </a:xfrm>
          <a:prstGeom prst="rect">
            <a:avLst/>
          </a:prstGeom>
          <a:noFill/>
        </p:spPr>
        <p:txBody>
          <a:bodyPr wrap="square" lIns="0" rIns="0" tIns="0" bIns="0" anchor="t">
            <a:spAutoFit/>
          </a:bodyPr>
          <a:lstStyle/>
          <a:p>
            <a:pPr algn="ctr">
              <a:lnSpc>
                <a:spcPct val="100000"/>
              </a:lnSpc>
              <a:buNone/>
            </a:pPr>
            <a:r>
              <a:rPr sz="1800" b="1">
                <a:solidFill>
                  <a:srgbClr val="FFFFFF"/>
                </a:solidFill>
                <a:latin typeface="Segoe UI"/>
              </a:rPr>
              <a:t>6</a:t>
            </a:r>
          </a:p>
        </p:txBody>
      </p:sp>
      <p:sp>
        <p:nvSpPr>
          <p:cNvPr id="37" name="TextBox 36"/>
          <p:cNvSpPr txBox="1"/>
          <p:nvPr/>
        </p:nvSpPr>
        <p:spPr>
          <a:xfrm>
            <a:off x="1298448" y="5225796"/>
            <a:ext cx="2834640" cy="320040"/>
          </a:xfrm>
          <a:prstGeom prst="rect">
            <a:avLst/>
          </a:prstGeom>
          <a:noFill/>
        </p:spPr>
        <p:txBody>
          <a:bodyPr wrap="square" lIns="0" rIns="0" tIns="0" bIns="0" anchor="t">
            <a:spAutoFit/>
          </a:bodyPr>
          <a:lstStyle/>
          <a:p>
            <a:pPr algn="l">
              <a:lnSpc>
                <a:spcPct val="100000"/>
              </a:lnSpc>
              <a:buNone/>
            </a:pPr>
            <a:r>
              <a:rPr sz="1200" b="1">
                <a:solidFill>
                  <a:srgbClr val="5A6B7B"/>
                </a:solidFill>
                <a:latin typeface="Segoe UI"/>
              </a:rPr>
              <a:t>DOCUMENTAR</a:t>
            </a:r>
          </a:p>
        </p:txBody>
      </p:sp>
      <p:sp>
        <p:nvSpPr>
          <p:cNvPr id="38" name="TextBox 37"/>
          <p:cNvSpPr txBox="1"/>
          <p:nvPr/>
        </p:nvSpPr>
        <p:spPr>
          <a:xfrm>
            <a:off x="4206240" y="5234940"/>
            <a:ext cx="7223760" cy="548640"/>
          </a:xfrm>
          <a:prstGeom prst="rect">
            <a:avLst/>
          </a:prstGeom>
          <a:noFill/>
        </p:spPr>
        <p:txBody>
          <a:bodyPr wrap="square" lIns="0" rIns="0" tIns="0" bIns="0" anchor="t">
            <a:spAutoFit/>
          </a:bodyPr>
          <a:lstStyle/>
          <a:p>
            <a:pPr algn="l">
              <a:lnSpc>
                <a:spcPct val="108000"/>
              </a:lnSpc>
              <a:buNone/>
            </a:pPr>
            <a:r>
              <a:rPr sz="1000" b="0">
                <a:solidFill>
                  <a:srgbClr val="1C2430"/>
                </a:solidFill>
                <a:latin typeface="Segoe UI"/>
              </a:rPr>
              <a:t>Causa, solución y medida preventiva.</a:t>
            </a:r>
          </a:p>
          <a:p>
            <a:pPr algn="l">
              <a:lnSpc>
                <a:spcPct val="108000"/>
              </a:lnSpc>
              <a:buNone/>
            </a:pPr>
            <a:r>
              <a:rPr sz="1000" b="0">
                <a:solidFill>
                  <a:srgbClr val="1C2430"/>
                </a:solidFill>
                <a:latin typeface="Segoe UI"/>
              </a:rPr>
              <a:t>La próxima vez, la avería durará diez minutos.</a:t>
            </a:r>
          </a:p>
        </p:txBody>
      </p:sp>
      <p:sp>
        <p:nvSpPr>
          <p:cNvPr id="39" name="Rectangle 38"/>
          <p:cNvSpPr/>
          <p:nvPr/>
        </p:nvSpPr>
        <p:spPr>
          <a:xfrm>
            <a:off x="566928" y="5870448"/>
            <a:ext cx="11064240" cy="438912"/>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870448"/>
            <a:ext cx="68580" cy="438912"/>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6007608"/>
            <a:ext cx="10561320"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Regla de oro: nunca sustituyas una pieza sin una hipótesis que explique el síntoma.</a:t>
            </a:r>
          </a:p>
        </p:txBody>
      </p:sp>
      <p:sp>
        <p:nvSpPr>
          <p:cNvPr id="42" name="TextBox 41"/>
          <p:cNvSpPr txBox="1"/>
          <p:nvPr/>
        </p:nvSpPr>
        <p:spPr>
          <a:xfrm>
            <a:off x="841248" y="6281928"/>
            <a:ext cx="10561320" cy="-64008"/>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Alarmas y avisos: cómo se comportan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diferencia entre reaccionar y anticiparse</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104</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Alarma (</a:t>
            </a:r>
            <a:r>
              <a:rPr sz="1350" b="1">
                <a:solidFill>
                  <a:srgbClr val="FFFFFF"/>
                </a:solidFill>
                <a:latin typeface="Consolas"/>
              </a:rPr>
              <a:t>A.___</a:t>
            </a:r>
            <a:r>
              <a:rPr sz="1350" b="1">
                <a:solidFill>
                  <a:srgbClr val="FFFFFF"/>
                </a:solidFill>
                <a:latin typeface="Segoe UI Semibold"/>
              </a:rPr>
              <a:t>)</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75" b="1">
                <a:solidFill>
                  <a:srgbClr val="1C2430"/>
                </a:solidFill>
                <a:latin typeface="Segoe UI"/>
              </a:rPr>
              <a:t>El drive </a:t>
            </a:r>
            <a:r>
              <a:rPr sz="1175" b="1">
                <a:solidFill>
                  <a:srgbClr val="1C2430"/>
                </a:solidFill>
                <a:latin typeface="Segoe UI"/>
              </a:rPr>
              <a:t>desactiva el par</a:t>
            </a:r>
            <a:r>
              <a:rPr sz="1175" b="1">
                <a:solidFill>
                  <a:srgbClr val="1C2430"/>
                </a:solidFill>
                <a:latin typeface="Segoe UI"/>
              </a:rPr>
              <a:t> y detiene el eje según el método configurado en </a:t>
            </a:r>
            <a:r>
              <a:rPr sz="1175" b="1">
                <a:solidFill>
                  <a:srgbClr val="1C2430"/>
                </a:solidFill>
                <a:latin typeface="Consolas"/>
              </a:rPr>
              <a:t>Pn001</a:t>
            </a:r>
            <a:r>
              <a:rPr sz="1175"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Se activa la salida </a:t>
            </a:r>
            <a:r>
              <a:rPr sz="1175" b="1">
                <a:solidFill>
                  <a:srgbClr val="1C2430"/>
                </a:solidFill>
                <a:latin typeface="Consolas"/>
              </a:rPr>
              <a:t>ALM</a:t>
            </a:r>
            <a:r>
              <a:rPr sz="1175" b="1">
                <a:solidFill>
                  <a:srgbClr val="1C2430"/>
                </a:solidFill>
                <a:latin typeface="Segoe UI"/>
              </a:rPr>
              <a:t>, que normalmente corta el contactor y avisa al PLC.</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Queda registrada en el </a:t>
            </a:r>
            <a:r>
              <a:rPr sz="1175" b="1">
                <a:solidFill>
                  <a:srgbClr val="1C2430"/>
                </a:solidFill>
                <a:latin typeface="Segoe UI"/>
              </a:rPr>
              <a:t>historial de alarmas</a:t>
            </a:r>
            <a:r>
              <a:rPr sz="1175" b="1">
                <a:solidFill>
                  <a:srgbClr val="1C2430"/>
                </a:solidFill>
                <a:latin typeface="Segoe UI"/>
              </a:rPr>
              <a:t> (</a:t>
            </a:r>
            <a:r>
              <a:rPr sz="1175" b="1">
                <a:solidFill>
                  <a:srgbClr val="1C2430"/>
                </a:solidFill>
                <a:latin typeface="Consolas"/>
              </a:rPr>
              <a:t>Fn000</a:t>
            </a:r>
            <a:r>
              <a:rPr sz="1175" b="1">
                <a:solidFill>
                  <a:srgbClr val="1C2430"/>
                </a:solidFill>
                <a:latin typeface="Segoe UI"/>
              </a:rPr>
              <a:t>), con las últimas ocurrencias.</a:t>
            </a:r>
          </a:p>
          <a:p>
            <a:pPr marL="0" indent="0">
              <a:lnSpc>
                <a:spcPct val="106000"/>
              </a:lnSpc>
              <a:spcBef>
                <a:spcPts val="800"/>
              </a:spcBef>
              <a:spcAft>
                <a:spcPts val="900"/>
              </a:spcAft>
              <a:buNone/>
            </a:pPr>
            <a:r>
              <a:rPr sz="1125" b="1">
                <a:solidFill>
                  <a:srgbClr val="1B5EA8"/>
                </a:solidFill>
                <a:latin typeface="Segoe UI Semibold"/>
              </a:rPr>
              <a:t>Cómo se reinicia</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Con </a:t>
            </a:r>
            <a:r>
              <a:rPr sz="1025" b="0">
                <a:solidFill>
                  <a:srgbClr val="333F4C"/>
                </a:solidFill>
                <a:latin typeface="Consolas"/>
              </a:rPr>
              <a:t>/ALM-RST</a:t>
            </a:r>
            <a:r>
              <a:rPr sz="1025" b="0">
                <a:solidFill>
                  <a:srgbClr val="333F4C"/>
                </a:solidFill>
                <a:latin typeface="Segoe UI"/>
              </a:rPr>
              <a:t> o desde el panel/SigmaWin+, </a:t>
            </a:r>
            <a:r>
              <a:rPr sz="1025" b="1">
                <a:solidFill>
                  <a:srgbClr val="333F4C"/>
                </a:solidFill>
                <a:latin typeface="Segoe UI"/>
              </a:rPr>
              <a:t>después</a:t>
            </a:r>
            <a:r>
              <a:rPr sz="1025" b="0">
                <a:solidFill>
                  <a:srgbClr val="333F4C"/>
                </a:solidFill>
                <a:latin typeface="Segoe UI"/>
              </a:rPr>
              <a:t> de eliminar la causa.</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Algunas alarmas graves exigen </a:t>
            </a:r>
            <a:r>
              <a:rPr sz="1025" b="1">
                <a:solidFill>
                  <a:srgbClr val="333F4C"/>
                </a:solidFill>
                <a:latin typeface="Segoe UI"/>
              </a:rPr>
              <a:t>ciclo completo de alimentación</a:t>
            </a:r>
            <a:r>
              <a:rPr sz="1025" b="0">
                <a:solidFill>
                  <a:srgbClr val="333F4C"/>
                </a:solidFill>
                <a:latin typeface="Segoe UI"/>
              </a:rPr>
              <a:t> (no basta el reset).</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Si la alarma vuelve inmediatamente, la causa sigue presente: no insistas con el reset.</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Aviso (</a:t>
            </a:r>
            <a:r>
              <a:rPr sz="1350" b="1">
                <a:solidFill>
                  <a:srgbClr val="FFFFFF"/>
                </a:solidFill>
                <a:latin typeface="Consolas"/>
              </a:rPr>
              <a:t>A.9__</a:t>
            </a:r>
            <a:r>
              <a:rPr sz="1350" b="1">
                <a:solidFill>
                  <a:srgbClr val="FFFFFF"/>
                </a:solidFill>
                <a:latin typeface="Segoe UI Semibold"/>
              </a:rPr>
              <a:t>)</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00" b="1">
                <a:solidFill>
                  <a:srgbClr val="1C2430"/>
                </a:solidFill>
                <a:latin typeface="Segoe UI"/>
              </a:rPr>
              <a:t>El eje </a:t>
            </a:r>
            <a:r>
              <a:rPr sz="1200" b="1">
                <a:solidFill>
                  <a:srgbClr val="1C2430"/>
                </a:solidFill>
                <a:latin typeface="Segoe UI"/>
              </a:rPr>
              <a:t>sigue funcionando</a:t>
            </a:r>
            <a:r>
              <a:rPr sz="1200" b="1">
                <a:solidFill>
                  <a:srgbClr val="1C2430"/>
                </a:solidFill>
                <a:latin typeface="Segoe UI"/>
              </a:rPr>
              <a:t>: es una advertencia anticipada.</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Se puede señalizar con la salida </a:t>
            </a:r>
            <a:r>
              <a:rPr sz="1200" b="1">
                <a:solidFill>
                  <a:srgbClr val="1C2430"/>
                </a:solidFill>
                <a:latin typeface="Consolas"/>
              </a:rPr>
              <a:t>/WARN</a:t>
            </a:r>
            <a:r>
              <a:rPr sz="1200" b="1">
                <a:solidFill>
                  <a:srgbClr val="1C2430"/>
                </a:solidFill>
                <a:latin typeface="Segoe UI"/>
              </a:rPr>
              <a:t> hacia el PLC.</a:t>
            </a:r>
          </a:p>
          <a:p>
            <a:pPr marL="0" indent="0">
              <a:lnSpc>
                <a:spcPct val="106000"/>
              </a:lnSpc>
              <a:spcBef>
                <a:spcPts val="800"/>
              </a:spcBef>
              <a:spcAft>
                <a:spcPts val="900"/>
              </a:spcAft>
              <a:buNone/>
            </a:pPr>
            <a:r>
              <a:rPr sz="1150" b="1">
                <a:solidFill>
                  <a:srgbClr val="1B5EA8"/>
                </a:solidFill>
                <a:latin typeface="Segoe UI Semibold"/>
              </a:rPr>
              <a:t>Ejemplos típicos</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sobrecarga: el modelo térmico se acerca al límite.</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batería del encoder: quedan semanas de margen.</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regeneración: la resistencia se está calentando.</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Aviso de cambio de parámetro pendiente de reinicio.</a:t>
            </a:r>
          </a:p>
          <a:p>
            <a:pPr marL="0" indent="0">
              <a:lnSpc>
                <a:spcPct val="106000"/>
              </a:lnSpc>
              <a:spcBef>
                <a:spcPts val="800"/>
              </a:spcBef>
              <a:spcAft>
                <a:spcPts val="900"/>
              </a:spcAft>
              <a:buNone/>
            </a:pPr>
            <a:r>
              <a:rPr sz="1150" b="1">
                <a:solidFill>
                  <a:srgbClr val="1B5EA8"/>
                </a:solidFill>
                <a:latin typeface="Segoe UI Semibold"/>
              </a:rPr>
              <a:t>Por qué importan</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Un aviso es una </a:t>
            </a:r>
            <a:r>
              <a:rPr sz="1200" b="1">
                <a:solidFill>
                  <a:srgbClr val="1C2430"/>
                </a:solidFill>
                <a:latin typeface="Segoe UI"/>
              </a:rPr>
              <a:t>oportunidad de intervenir con la máquina parada por producción</a:t>
            </a:r>
            <a:r>
              <a:rPr sz="1200" b="1">
                <a:solidFill>
                  <a:srgbClr val="1C2430"/>
                </a:solidFill>
                <a:latin typeface="Segoe UI"/>
              </a:rPr>
              <a:t> en lugar de sufrir una parada no planificada.</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Recomendación de integración</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Cablea o mapea la señal de aviso (</a:t>
            </a:r>
            <a:r>
              <a:rPr sz="1150" b="0">
                <a:solidFill>
                  <a:srgbClr val="2B3644"/>
                </a:solidFill>
                <a:latin typeface="Consolas"/>
              </a:rPr>
              <a:t>/WARN</a:t>
            </a:r>
            <a:r>
              <a:rPr sz="1150" b="0">
                <a:solidFill>
                  <a:srgbClr val="2B3644"/>
                </a:solidFill>
                <a:latin typeface="Segoe UI"/>
              </a:rPr>
              <a:t>) hacia el PLC y muéstrala en el HMI. La mayoría de las instalaciones ignoran los avisos, y son exactamente la información que evita las paradas.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192" b="1">
                <a:solidFill>
                  <a:srgbClr val="FFFFFF"/>
                </a:solidFill>
                <a:latin typeface="Segoe UI Semibold"/>
              </a:rPr>
              <a:t>Alarmas frecuentes (1/2): potencia, sobrecarga y movimiento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Los prefijos indican la familia: identifícala antes de buscar el código exacto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105</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1096645"/>
                <a:gridCol w="2650225"/>
                <a:gridCol w="3838258"/>
                <a:gridCol w="3472709"/>
              </a:tblGrid>
              <a:tr h="347472">
                <a:tc>
                  <a:txBody>
                    <a:bodyPr wrap="square"/>
                    <a:lstStyle/>
                    <a:p>
                      <a:pPr algn="l">
                        <a:lnSpc>
                          <a:spcPct val="100000"/>
                        </a:lnSpc>
                        <a:buNone/>
                      </a:pPr>
                      <a:r>
                        <a:rPr sz="900" b="1">
                          <a:solidFill>
                            <a:srgbClr val="FFFFFF"/>
                          </a:solidFill>
                          <a:latin typeface="Segoe UI"/>
                        </a:rPr>
                        <a:t>Familia</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Significado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Causas habituales</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Primeras comprobaciones</a:t>
                      </a:r>
                    </a:p>
                  </a:txBody>
                  <a:tcPr marL="82296" marR="82296" marT="27432" marB="27432" anchor="ctr">
                    <a:solidFill>
                      <a:srgbClr val="0B2545"/>
                    </a:solidFill>
                  </a:tcPr>
                </a:tc>
              </a:tr>
              <a:tr h="514350">
                <a:tc>
                  <a:txBody>
                    <a:bodyPr wrap="square"/>
                    <a:lstStyle/>
                    <a:p>
                      <a:pPr algn="l">
                        <a:lnSpc>
                          <a:spcPct val="100000"/>
                        </a:lnSpc>
                        <a:buNone/>
                      </a:pPr>
                      <a:r>
                        <a:rPr sz="900" b="0">
                          <a:solidFill>
                            <a:srgbClr val="1C2430"/>
                          </a:solidFill>
                          <a:latin typeface="Consolas"/>
                        </a:rPr>
                        <a:t>A.1__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Sobrecorriente / fallo de la etapa de potencia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Cortocircuito en el cable o en el motor, fases mal conectadas, amplificador dañado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Medir aislamiento y continuidad del motor con el cable desconectado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A.3__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Fallo de regeneración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Resistencia desconectada, puente </a:t>
                      </a:r>
                      <a:r>
                        <a:rPr sz="900" b="0">
                          <a:solidFill>
                            <a:srgbClr val="1C2430"/>
                          </a:solidFill>
                          <a:latin typeface="Consolas"/>
                        </a:rPr>
                        <a:t>B2</a:t>
                      </a:r>
                      <a:r>
                        <a:rPr sz="900" b="0">
                          <a:solidFill>
                            <a:srgbClr val="1C2430"/>
                          </a:solidFill>
                          <a:latin typeface="Segoe UI"/>
                        </a:rPr>
                        <a:t>-</a:t>
                      </a:r>
                      <a:r>
                        <a:rPr sz="900" b="0">
                          <a:solidFill>
                            <a:srgbClr val="1C2430"/>
                          </a:solidFill>
                          <a:latin typeface="Consolas"/>
                        </a:rPr>
                        <a:t>B3</a:t>
                      </a:r>
                      <a:r>
                        <a:rPr sz="900" b="0">
                          <a:solidFill>
                            <a:srgbClr val="1C2430"/>
                          </a:solidFill>
                          <a:latin typeface="Segoe UI"/>
                        </a:rPr>
                        <a:t> retirado por error, </a:t>
                      </a:r>
                      <a:r>
                        <a:rPr sz="900" b="0">
                          <a:solidFill>
                            <a:srgbClr val="1C2430"/>
                          </a:solidFill>
                          <a:latin typeface="Consolas"/>
                        </a:rPr>
                        <a:t>Pn600</a:t>
                      </a:r>
                      <a:r>
                        <a:rPr sz="900" b="0">
                          <a:solidFill>
                            <a:srgbClr val="1C2430"/>
                          </a:solidFill>
                          <a:latin typeface="Segoe UI"/>
                        </a:rPr>
                        <a:t> mal declarado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Verificar el cableado de </a:t>
                      </a:r>
                      <a:r>
                        <a:rPr sz="900" b="0">
                          <a:solidFill>
                            <a:srgbClr val="1C2430"/>
                          </a:solidFill>
                          <a:latin typeface="Consolas"/>
                        </a:rPr>
                        <a:t>B1</a:t>
                      </a:r>
                      <a:r>
                        <a:rPr sz="900" b="0">
                          <a:solidFill>
                            <a:srgbClr val="1C2430"/>
                          </a:solidFill>
                          <a:latin typeface="Segoe UI"/>
                        </a:rPr>
                        <a:t>/</a:t>
                      </a:r>
                      <a:r>
                        <a:rPr sz="900" b="0">
                          <a:solidFill>
                            <a:srgbClr val="1C2430"/>
                          </a:solidFill>
                          <a:latin typeface="Consolas"/>
                        </a:rPr>
                        <a:t>B2</a:t>
                      </a:r>
                      <a:r>
                        <a:rPr sz="900" b="0">
                          <a:solidFill>
                            <a:srgbClr val="1C2430"/>
                          </a:solidFill>
                          <a:latin typeface="Segoe UI"/>
                        </a:rPr>
                        <a:t>/</a:t>
                      </a:r>
                      <a:r>
                        <a:rPr sz="900" b="0">
                          <a:solidFill>
                            <a:srgbClr val="1C2430"/>
                          </a:solidFill>
                          <a:latin typeface="Consolas"/>
                        </a:rPr>
                        <a:t>B3</a:t>
                      </a:r>
                      <a:r>
                        <a:rPr sz="900" b="0">
                          <a:solidFill>
                            <a:srgbClr val="1C2430"/>
                          </a:solidFill>
                          <a:latin typeface="Segoe UI"/>
                        </a:rPr>
                        <a:t> y el valor de </a:t>
                      </a:r>
                      <a:r>
                        <a:rPr sz="900" b="0">
                          <a:solidFill>
                            <a:srgbClr val="1C2430"/>
                          </a:solidFill>
                          <a:latin typeface="Consolas"/>
                        </a:rPr>
                        <a:t>Pn600</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A.400</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Sobretensión del bus de continua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Frenado demasiado enérgico, regeneración insuficiente, tensión de red alta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Medir la red; revisar el cálculo de regeneración</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A.410</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Subtensión del bus de continua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Caída de red, falta de fase, servo ON demasiado pronto tras energizar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Medir tensión entre fases; revisar la secuencia de arranque</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A.51_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Sobrevelocidad</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Fases del motor intercambiadas, consigna errónea, engranaje electrónico mal calculado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Comprobar </a:t>
                      </a:r>
                      <a:r>
                        <a:rPr sz="900" b="0">
                          <a:solidFill>
                            <a:srgbClr val="1C2430"/>
                          </a:solidFill>
                          <a:latin typeface="Consolas"/>
                        </a:rPr>
                        <a:t>U</a:t>
                      </a:r>
                      <a:r>
                        <a:rPr sz="900" b="0">
                          <a:solidFill>
                            <a:srgbClr val="1C2430"/>
                          </a:solidFill>
                          <a:latin typeface="Segoe UI"/>
                        </a:rPr>
                        <a:t> </a:t>
                      </a:r>
                      <a:r>
                        <a:rPr sz="900" b="0">
                          <a:solidFill>
                            <a:srgbClr val="1C2430"/>
                          </a:solidFill>
                          <a:latin typeface="Consolas"/>
                        </a:rPr>
                        <a:t>V</a:t>
                      </a:r>
                      <a:r>
                        <a:rPr sz="900" b="0">
                          <a:solidFill>
                            <a:srgbClr val="1C2430"/>
                          </a:solidFill>
                          <a:latin typeface="Segoe UI"/>
                        </a:rPr>
                        <a:t> </a:t>
                      </a:r>
                      <a:r>
                        <a:rPr sz="900" b="0">
                          <a:solidFill>
                            <a:srgbClr val="1C2430"/>
                          </a:solidFill>
                          <a:latin typeface="Consolas"/>
                        </a:rPr>
                        <a:t>W</a:t>
                      </a:r>
                      <a:r>
                        <a:rPr sz="900" b="0">
                          <a:solidFill>
                            <a:srgbClr val="1C2430"/>
                          </a:solidFill>
                          <a:latin typeface="Segoe UI"/>
                        </a:rPr>
                        <a:t> y el engranaje</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A.7__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Sobrecarga (instantánea o continua)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Dimensionamiento insuficiente, fricción excesiva, freno sin liberar, colisión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Medir el par real con </a:t>
                      </a:r>
                      <a:r>
                        <a:rPr sz="900" b="0">
                          <a:solidFill>
                            <a:srgbClr val="1C2430"/>
                          </a:solidFill>
                          <a:latin typeface="Consolas"/>
                        </a:rPr>
                        <a:t>Un002</a:t>
                      </a:r>
                      <a:r>
                        <a:rPr sz="900" b="0">
                          <a:solidFill>
                            <a:srgbClr val="1C2430"/>
                          </a:solidFill>
                          <a:latin typeface="Segoe UI"/>
                        </a:rPr>
                        <a:t> y comparar con el cálculo</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A.7A_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Sobretemperatura del disipador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Ventilador parado, filtros del armario obstruidos, temperatura ambiente alta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Comprobar ventilador y ventilación del armario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A.d__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Exceso de error de posición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El eje no puede seguir la consigna: atasco, ganancia insuficiente o aceleración excesiva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Revisar mecánica primero; después sintonización</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Los códigos concretos y su comportamiento están en el capítulo de resolución de problemas del manual: tenlo siempre a mano en el portátil o en el móvil.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156" b="1">
                <a:solidFill>
                  <a:srgbClr val="FFFFFF"/>
                </a:solidFill>
                <a:latin typeface="Segoe UI Semibold"/>
              </a:rPr>
              <a:t>Alarmas frecuentes (2/2): encoder, parámetros y comunicación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La familia del encoder concentra las averías intermitentes más difíciles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106</a:t>
            </a:r>
          </a:p>
        </p:txBody>
      </p:sp>
      <p:graphicFrame>
        <p:nvGraphicFramePr>
          <p:cNvPr id="9" name="Table 8"/>
          <p:cNvGraphicFramePr>
            <a:graphicFrameLocks noGrp="1"/>
          </p:cNvGraphicFramePr>
          <p:nvPr/>
        </p:nvGraphicFramePr>
        <p:xfrm>
          <a:off x="566928" y="1481328"/>
          <a:ext cx="11057836" cy="4462272"/>
        </p:xfrm>
        <a:graphic>
          <a:graphicData uri="http://schemas.openxmlformats.org/drawingml/2006/table">
            <a:tbl>
              <a:tblPr firstRow="1">
                <a:tableStyleId>{5C22544A-7EE6-4342-B048-85BDC9FD1C3A}</a:tableStyleId>
              </a:tblPr>
              <a:tblGrid>
                <a:gridCol w="1279419"/>
                <a:gridCol w="2650225"/>
                <a:gridCol w="3655483"/>
                <a:gridCol w="3472709"/>
              </a:tblGrid>
              <a:tr h="347472">
                <a:tc>
                  <a:txBody>
                    <a:bodyPr wrap="square"/>
                    <a:lstStyle/>
                    <a:p>
                      <a:pPr algn="l">
                        <a:lnSpc>
                          <a:spcPct val="100000"/>
                        </a:lnSpc>
                        <a:buNone/>
                      </a:pPr>
                      <a:r>
                        <a:rPr sz="900" b="1">
                          <a:solidFill>
                            <a:srgbClr val="FFFFFF"/>
                          </a:solidFill>
                          <a:latin typeface="Segoe UI"/>
                        </a:rPr>
                        <a:t>Familia</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Significado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Causas habituales</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Primeras comprobaciones</a:t>
                      </a:r>
                    </a:p>
                  </a:txBody>
                  <a:tcPr marL="82296" marR="82296" marT="27432" marB="27432" anchor="ctr">
                    <a:solidFill>
                      <a:srgbClr val="0B2545"/>
                    </a:solidFill>
                  </a:tcPr>
                </a:tc>
              </a:tr>
              <a:tr h="514350">
                <a:tc>
                  <a:txBody>
                    <a:bodyPr wrap="square"/>
                    <a:lstStyle/>
                    <a:p>
                      <a:pPr algn="l">
                        <a:lnSpc>
                          <a:spcPct val="100000"/>
                        </a:lnSpc>
                        <a:buNone/>
                      </a:pPr>
                      <a:r>
                        <a:rPr sz="900" b="0">
                          <a:solidFill>
                            <a:srgbClr val="1C2430"/>
                          </a:solidFill>
                          <a:latin typeface="Consolas"/>
                        </a:rPr>
                        <a:t>A.0__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Error de parámetros o de memoria interna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Escritura interrumpida, memoria degradada, combinación no válida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Recargar la copia de parámetros; si persiste, el equipo puede estar dañado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A.05_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Combinación motor-amplificador no admitida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Motor de capacidad o tipo incompatible con el amplificador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Verificar códigos completos de ambos equipos</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A.81_</a:t>
                      </a:r>
                      <a:r>
                        <a:rPr sz="900" b="0">
                          <a:solidFill>
                            <a:srgbClr val="1C2430"/>
                          </a:solidFill>
                          <a:latin typeface="Segoe UI"/>
                        </a:rPr>
                        <a:t> / </a:t>
                      </a:r>
                      <a:r>
                        <a:rPr sz="900" b="0">
                          <a:solidFill>
                            <a:srgbClr val="1C2430"/>
                          </a:solidFill>
                          <a:latin typeface="Consolas"/>
                        </a:rPr>
                        <a:t>A.82_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Fallo de respaldo o de suma de verificación del encoder absoluto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Batería agotada con el equipo sin tensión, cable de encoder desconectado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Sustituir batería, ejecutar </a:t>
                      </a:r>
                      <a:r>
                        <a:rPr sz="900" b="0">
                          <a:solidFill>
                            <a:srgbClr val="1C2430"/>
                          </a:solidFill>
                          <a:latin typeface="Consolas"/>
                        </a:rPr>
                        <a:t>Fn008</a:t>
                      </a:r>
                      <a:r>
                        <a:rPr sz="900" b="0">
                          <a:solidFill>
                            <a:srgbClr val="1C2430"/>
                          </a:solidFill>
                          <a:latin typeface="Segoe UI"/>
                        </a:rPr>
                        <a:t> y </a:t>
                      </a:r>
                      <a:r>
                        <a:rPr sz="900" b="1">
                          <a:solidFill>
                            <a:srgbClr val="1C2430"/>
                          </a:solidFill>
                          <a:latin typeface="Segoe UI"/>
                        </a:rPr>
                        <a:t>rehacer el origen</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A.83_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Aviso o alarma de batería del encoder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Batería próxima al final de su vida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Sustituir </a:t>
                      </a:r>
                      <a:r>
                        <a:rPr sz="900" b="1">
                          <a:solidFill>
                            <a:srgbClr val="1C2430"/>
                          </a:solidFill>
                          <a:latin typeface="Segoe UI"/>
                        </a:rPr>
                        <a:t>con la alimentación de control conectada</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A.84_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Datos del encoder erróneos</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Ruido eléctrico, cable dañado, apantallamiento deficiente</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Revisar apantallamiento, separación de cables y estado del conector</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A.C__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Error de comunicación con el encoder</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Cable de encoder defectuoso, conector flojo, interferencias</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Sustituir el cable por uno original y revisar tierras</a:t>
                      </a:r>
                    </a:p>
                  </a:txBody>
                  <a:tcPr marL="82296" marR="82296" marT="27432" marB="27432" anchor="ctr">
                    <a:solidFill>
                      <a:srgbClr val="F2F5F8"/>
                    </a:solidFill>
                  </a:tcPr>
                </a:tc>
              </a:tr>
              <a:tr h="514350">
                <a:tc>
                  <a:txBody>
                    <a:bodyPr wrap="square"/>
                    <a:lstStyle/>
                    <a:p>
                      <a:pPr algn="l">
                        <a:lnSpc>
                          <a:spcPct val="100000"/>
                        </a:lnSpc>
                        <a:buNone/>
                      </a:pPr>
                      <a:r>
                        <a:rPr sz="900" b="0">
                          <a:solidFill>
                            <a:srgbClr val="1C2430"/>
                          </a:solidFill>
                          <a:latin typeface="Consolas"/>
                        </a:rPr>
                        <a:t>A.E__</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Error de comunicación de bus (MECHATROLINK / EtherCAT)</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Cable de red, configuración del maestro, ciclo mal ajustado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Contadores de error por puerto; sustituir latiguillo</a:t>
                      </a:r>
                    </a:p>
                  </a:txBody>
                  <a:tcPr marL="82296" marR="82296" marT="27432" marB="27432" anchor="ctr">
                    <a:solidFill>
                      <a:srgbClr val="FFFFFF"/>
                    </a:solidFill>
                  </a:tcPr>
                </a:tc>
              </a:tr>
              <a:tr h="514350">
                <a:tc>
                  <a:txBody>
                    <a:bodyPr wrap="square"/>
                    <a:lstStyle/>
                    <a:p>
                      <a:pPr algn="l">
                        <a:lnSpc>
                          <a:spcPct val="100000"/>
                        </a:lnSpc>
                        <a:buNone/>
                      </a:pPr>
                      <a:r>
                        <a:rPr sz="900" b="0">
                          <a:solidFill>
                            <a:srgbClr val="1C2430"/>
                          </a:solidFill>
                          <a:latin typeface="Consolas"/>
                        </a:rPr>
                        <a:t>A.F__</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Falta de fase en la alimentación principal</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Fusible fundido, contactor con un polo pegado, cable suelto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Medir las tres fases en los bornes del drive</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Las alarmas intermitentes del encoder casi siempre son un problema de cable, de conector o de apantallamiento, no del encoder en sí.</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Árbol de decisión: «el eje no se mueve»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fallo más reportado y el más rápido de acotar</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107</a:t>
            </a:r>
          </a:p>
        </p:txBody>
      </p:sp>
      <p:sp>
        <p:nvSpPr>
          <p:cNvPr id="9" name="Rounded Rectangle 8"/>
          <p:cNvSpPr/>
          <p:nvPr/>
        </p:nvSpPr>
        <p:spPr>
          <a:xfrm>
            <a:off x="566928" y="3063240"/>
            <a:ext cx="1920240" cy="868680"/>
          </a:xfrm>
          <a:prstGeom prst="roundRect">
            <a:avLst>
              <a:gd name="adj" fmla="val 1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200" b="1">
                <a:solidFill>
                  <a:srgbClr val="FFFFFF"/>
                </a:solidFill>
                <a:latin typeface="Segoe UI"/>
              </a:rPr>
              <a:t>EL EJE NO</a:t>
            </a:r>
          </a:p>
          <a:p>
            <a:pPr algn="ctr">
              <a:lnSpc>
                <a:spcPct val="100000"/>
              </a:lnSpc>
              <a:buNone/>
            </a:pPr>
            <a:r>
              <a:rPr sz="1200" b="1">
                <a:solidFill>
                  <a:srgbClr val="FFFFFF"/>
                </a:solidFill>
                <a:latin typeface="Segoe UI"/>
              </a:rPr>
              <a:t>SE MUEVE</a:t>
            </a:r>
          </a:p>
        </p:txBody>
      </p:sp>
      <p:cxnSp>
        <p:nvCxnSpPr>
          <p:cNvPr id="10" name="Connector 9"/>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788920" y="1965960"/>
            <a:ext cx="0" cy="1527048"/>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788920" y="196596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063240" y="1645920"/>
            <a:ext cx="3246120" cy="658368"/>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¿Hay ALARMA en el display?</a:t>
            </a:r>
          </a:p>
        </p:txBody>
      </p:sp>
      <p:sp>
        <p:nvSpPr>
          <p:cNvPr id="14" name="Rectangle 13"/>
          <p:cNvSpPr/>
          <p:nvPr/>
        </p:nvSpPr>
        <p:spPr>
          <a:xfrm>
            <a:off x="6537960" y="164592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20840" y="172821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Sí</a:t>
            </a:r>
            <a:r>
              <a:rPr sz="1000" b="0">
                <a:solidFill>
                  <a:srgbClr val="1C2430"/>
                </a:solidFill>
                <a:latin typeface="Segoe UI"/>
              </a:rPr>
              <a:t> → identifica la familia y aplica la tabla de alarmas. El drive ya ha diagnosticado por ti.</a:t>
            </a:r>
          </a:p>
        </p:txBody>
      </p:sp>
      <p:cxnSp>
        <p:nvCxnSpPr>
          <p:cNvPr id="16" name="Connector 15"/>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788920" y="3154680"/>
            <a:ext cx="0" cy="338328"/>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88920" y="315468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063240" y="2834640"/>
            <a:ext cx="3246120" cy="658368"/>
          </a:xfrm>
          <a:prstGeom prst="roundRect">
            <a:avLst>
              <a:gd name="adj" fmla="val 12000"/>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¿El motor tiene par (el eje está 'duro')?</a:t>
            </a:r>
          </a:p>
        </p:txBody>
      </p:sp>
      <p:sp>
        <p:nvSpPr>
          <p:cNvPr id="20" name="Rectangle 19"/>
          <p:cNvSpPr/>
          <p:nvPr/>
        </p:nvSpPr>
        <p:spPr>
          <a:xfrm>
            <a:off x="6537960" y="283464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0840" y="291693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No</a:t>
            </a:r>
            <a:r>
              <a:rPr sz="1000" b="0">
                <a:solidFill>
                  <a:srgbClr val="1C2430"/>
                </a:solidFill>
                <a:latin typeface="Segoe UI"/>
              </a:rPr>
              <a:t> → revisa </a:t>
            </a:r>
            <a:r>
              <a:rPr sz="1000" b="0">
                <a:solidFill>
                  <a:srgbClr val="1C2430"/>
                </a:solidFill>
                <a:latin typeface="Consolas"/>
              </a:rPr>
              <a:t>/S-ON</a:t>
            </a:r>
            <a:r>
              <a:rPr sz="1000" b="0">
                <a:solidFill>
                  <a:srgbClr val="1C2430"/>
                </a:solidFill>
                <a:latin typeface="Segoe UI"/>
              </a:rPr>
              <a:t> en </a:t>
            </a:r>
            <a:r>
              <a:rPr sz="1000" b="0">
                <a:solidFill>
                  <a:srgbClr val="1C2430"/>
                </a:solidFill>
                <a:latin typeface="Consolas"/>
              </a:rPr>
              <a:t>Un005</a:t>
            </a:r>
            <a:r>
              <a:rPr sz="1000" b="0">
                <a:solidFill>
                  <a:srgbClr val="1C2430"/>
                </a:solidFill>
                <a:latin typeface="Segoe UI"/>
              </a:rPr>
              <a:t>, el conector </a:t>
            </a:r>
            <a:r>
              <a:rPr sz="1000" b="0">
                <a:solidFill>
                  <a:srgbClr val="1C2430"/>
                </a:solidFill>
                <a:latin typeface="Consolas"/>
              </a:rPr>
              <a:t>CN8</a:t>
            </a:r>
            <a:r>
              <a:rPr sz="1000" b="0">
                <a:solidFill>
                  <a:srgbClr val="1C2430"/>
                </a:solidFill>
                <a:latin typeface="Segoe UI"/>
              </a:rPr>
              <a:t> de seguridad y la alimentación </a:t>
            </a:r>
            <a:r>
              <a:rPr sz="1000" b="0">
                <a:solidFill>
                  <a:srgbClr val="1C2430"/>
                </a:solidFill>
                <a:latin typeface="Consolas"/>
              </a:rPr>
              <a:t>+24VIN</a:t>
            </a:r>
            <a:r>
              <a:rPr sz="1000" b="0">
                <a:solidFill>
                  <a:srgbClr val="1C2430"/>
                </a:solidFill>
                <a:latin typeface="Segoe UI"/>
              </a:rPr>
              <a:t> de las entradas.</a:t>
            </a:r>
          </a:p>
        </p:txBody>
      </p:sp>
      <p:cxnSp>
        <p:nvCxnSpPr>
          <p:cNvPr id="22" name="Connector 21"/>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788920" y="3493008"/>
            <a:ext cx="0" cy="850392"/>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788920" y="434340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063240" y="4023360"/>
            <a:ext cx="3246120" cy="658368"/>
          </a:xfrm>
          <a:prstGeom prst="roundRect">
            <a:avLst>
              <a:gd name="adj" fmla="val 12000"/>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¿Llega consigna del controlador?</a:t>
            </a:r>
          </a:p>
        </p:txBody>
      </p:sp>
      <p:sp>
        <p:nvSpPr>
          <p:cNvPr id="26" name="Rectangle 25"/>
          <p:cNvSpPr/>
          <p:nvPr/>
        </p:nvSpPr>
        <p:spPr>
          <a:xfrm>
            <a:off x="6537960" y="402336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0840" y="410565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No</a:t>
            </a:r>
            <a:r>
              <a:rPr sz="1000" b="0">
                <a:solidFill>
                  <a:srgbClr val="1C2430"/>
                </a:solidFill>
                <a:latin typeface="Segoe UI"/>
              </a:rPr>
              <a:t> → comprueba </a:t>
            </a:r>
            <a:r>
              <a:rPr sz="1000" b="0">
                <a:solidFill>
                  <a:srgbClr val="1C2430"/>
                </a:solidFill>
                <a:latin typeface="Consolas"/>
              </a:rPr>
              <a:t>Un007</a:t>
            </a:r>
            <a:r>
              <a:rPr sz="1000" b="0">
                <a:solidFill>
                  <a:srgbClr val="1C2430"/>
                </a:solidFill>
                <a:latin typeface="Segoe UI"/>
              </a:rPr>
              <a:t> (pulsos) o el estado del bus. Revisa el programa del PLC y el modo de control </a:t>
            </a:r>
            <a:r>
              <a:rPr sz="1000" b="0">
                <a:solidFill>
                  <a:srgbClr val="1C2430"/>
                </a:solidFill>
                <a:latin typeface="Consolas"/>
              </a:rPr>
              <a:t>Pn000.1</a:t>
            </a:r>
            <a:r>
              <a:rPr sz="1000" b="0">
                <a:solidFill>
                  <a:srgbClr val="1C2430"/>
                </a:solidFill>
                <a:latin typeface="Segoe UI"/>
              </a:rPr>
              <a:t>.</a:t>
            </a:r>
          </a:p>
        </p:txBody>
      </p:sp>
      <p:cxnSp>
        <p:nvCxnSpPr>
          <p:cNvPr id="28" name="Connector 27"/>
          <p:cNvCxnSpPr/>
          <p:nvPr/>
        </p:nvCxnSpPr>
        <p:spPr>
          <a:xfrm>
            <a:off x="1527048" y="3493008"/>
            <a:ext cx="1261872"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788920" y="3493008"/>
            <a:ext cx="0" cy="2039112"/>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788920" y="5532120"/>
            <a:ext cx="274320" cy="0"/>
          </a:xfrm>
          <a:prstGeom prst="line">
            <a:avLst/>
          </a:prstGeom>
          <a:ln w="12700">
            <a:solidFill>
              <a:srgbClr val="5A6B7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063240" y="5212080"/>
            <a:ext cx="3246120" cy="658368"/>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lnSpc>
                <a:spcPct val="100000"/>
              </a:lnSpc>
              <a:buNone/>
            </a:pPr>
            <a:r>
              <a:rPr sz="1050" b="1">
                <a:solidFill>
                  <a:srgbClr val="FFFFFF"/>
                </a:solidFill>
                <a:latin typeface="Segoe UI"/>
              </a:rPr>
              <a:t>¿Están activos los finales de carrera?</a:t>
            </a:r>
          </a:p>
        </p:txBody>
      </p:sp>
      <p:sp>
        <p:nvSpPr>
          <p:cNvPr id="32" name="Rectangle 31"/>
          <p:cNvSpPr/>
          <p:nvPr/>
        </p:nvSpPr>
        <p:spPr>
          <a:xfrm>
            <a:off x="6537960" y="5212080"/>
            <a:ext cx="5093208" cy="658368"/>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0840" y="5294376"/>
            <a:ext cx="4754880" cy="548640"/>
          </a:xfrm>
          <a:prstGeom prst="rect">
            <a:avLst/>
          </a:prstGeom>
          <a:noFill/>
        </p:spPr>
        <p:txBody>
          <a:bodyPr wrap="square" lIns="0" rIns="0" tIns="0" bIns="0" anchor="t">
            <a:spAutoFit/>
          </a:bodyPr>
          <a:lstStyle/>
          <a:p>
            <a:pPr algn="l">
              <a:lnSpc>
                <a:spcPct val="110000"/>
              </a:lnSpc>
              <a:buNone/>
            </a:pPr>
            <a:r>
              <a:rPr sz="1000" b="1">
                <a:solidFill>
                  <a:srgbClr val="1C2430"/>
                </a:solidFill>
                <a:latin typeface="Segoe UI"/>
              </a:rPr>
              <a:t>Sí</a:t>
            </a:r>
            <a:r>
              <a:rPr sz="1000" b="0">
                <a:solidFill>
                  <a:srgbClr val="1C2430"/>
                </a:solidFill>
                <a:latin typeface="Segoe UI"/>
              </a:rPr>
              <a:t> → </a:t>
            </a:r>
            <a:r>
              <a:rPr sz="1000" b="0">
                <a:solidFill>
                  <a:srgbClr val="1C2430"/>
                </a:solidFill>
                <a:latin typeface="Consolas"/>
              </a:rPr>
              <a:t>P-OT</a:t>
            </a:r>
            <a:r>
              <a:rPr sz="1000" b="0">
                <a:solidFill>
                  <a:srgbClr val="1C2430"/>
                </a:solidFill>
                <a:latin typeface="Segoe UI"/>
              </a:rPr>
              <a:t>/</a:t>
            </a:r>
            <a:r>
              <a:rPr sz="1000" b="0">
                <a:solidFill>
                  <a:srgbClr val="1C2430"/>
                </a:solidFill>
                <a:latin typeface="Consolas"/>
              </a:rPr>
              <a:t>N-OT</a:t>
            </a:r>
            <a:r>
              <a:rPr sz="1000" b="0">
                <a:solidFill>
                  <a:srgbClr val="1C2430"/>
                </a:solidFill>
                <a:latin typeface="Segoe UI"/>
              </a:rPr>
              <a:t> abiertos detienen el eje en ese sentido. Míralo en </a:t>
            </a:r>
            <a:r>
              <a:rPr sz="1000" b="0">
                <a:solidFill>
                  <a:srgbClr val="1C2430"/>
                </a:solidFill>
                <a:latin typeface="Consolas"/>
              </a:rPr>
              <a:t>Un005</a:t>
            </a:r>
            <a:r>
              <a:rPr sz="1000" b="0">
                <a:solidFill>
                  <a:srgbClr val="1C2430"/>
                </a:solidFill>
                <a:latin typeface="Segoe UI"/>
              </a:rPr>
              <a:t> y retira el eje en sentido contrario.</a:t>
            </a:r>
          </a:p>
        </p:txBody>
      </p:sp>
      <p:sp>
        <p:nvSpPr>
          <p:cNvPr id="34" name="Rectangle 33"/>
          <p:cNvSpPr/>
          <p:nvPr/>
        </p:nvSpPr>
        <p:spPr>
          <a:xfrm>
            <a:off x="566928" y="5989320"/>
            <a:ext cx="11064240" cy="384048"/>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5989320"/>
            <a:ext cx="68580" cy="384048"/>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41248" y="6126480"/>
            <a:ext cx="10561320"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Si el par sube al máximo y el eje sigue sin moverse: bloqueo mecánico o freno sin liberar. Corta y comprueba a mano.</a:t>
            </a:r>
          </a:p>
        </p:txBody>
      </p:sp>
      <p:sp>
        <p:nvSpPr>
          <p:cNvPr id="37" name="TextBox 36"/>
          <p:cNvSpPr txBox="1"/>
          <p:nvPr/>
        </p:nvSpPr>
        <p:spPr>
          <a:xfrm>
            <a:off x="841248" y="6400800"/>
            <a:ext cx="10561320" cy="-118872"/>
          </a:xfrm>
          <a:prstGeom prst="rect">
            <a:avLst/>
          </a:prstGeom>
          <a:noFill/>
        </p:spPr>
        <p:txBody>
          <a:bodyPr wrap="square" lIns="0" rIns="0" tIns="0" bIns="0" anchor="t">
            <a:spAutoFit/>
          </a:bodyPr>
          <a:lstStyle/>
          <a:p>
            <a:pPr algn="l">
              <a:lnSpc>
                <a:spcPct val="106000"/>
              </a:lnSpc>
              <a:buNone/>
            </a:pP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Mantenimiento preventivo del conjunto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Un plan simple que evita la mayoría de las paradas no planificadas</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108</a:t>
            </a:r>
          </a:p>
        </p:txBody>
      </p:sp>
      <p:graphicFrame>
        <p:nvGraphicFramePr>
          <p:cNvPr id="9" name="Table 8"/>
          <p:cNvGraphicFramePr>
            <a:graphicFrameLocks noGrp="1"/>
          </p:cNvGraphicFramePr>
          <p:nvPr/>
        </p:nvGraphicFramePr>
        <p:xfrm>
          <a:off x="566928" y="1481328"/>
          <a:ext cx="11057837" cy="4462272"/>
        </p:xfrm>
        <a:graphic>
          <a:graphicData uri="http://schemas.openxmlformats.org/drawingml/2006/table">
            <a:tbl>
              <a:tblPr firstRow="1">
                <a:tableStyleId>{5C22544A-7EE6-4342-B048-85BDC9FD1C3A}</a:tableStyleId>
              </a:tblPr>
              <a:tblGrid>
                <a:gridCol w="2101903"/>
                <a:gridCol w="3015774"/>
                <a:gridCol w="2650225"/>
                <a:gridCol w="3289935"/>
              </a:tblGrid>
              <a:tr h="347472">
                <a:tc>
                  <a:txBody>
                    <a:bodyPr wrap="square"/>
                    <a:lstStyle/>
                    <a:p>
                      <a:pPr algn="l">
                        <a:lnSpc>
                          <a:spcPct val="100000"/>
                        </a:lnSpc>
                        <a:buNone/>
                      </a:pPr>
                      <a:r>
                        <a:rPr sz="900" b="1">
                          <a:solidFill>
                            <a:srgbClr val="FFFFFF"/>
                          </a:solidFill>
                          <a:latin typeface="Segoe UI"/>
                        </a:rPr>
                        <a:t>Elemento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Qué le pasa con el tiempo</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Periodicidad orientativa</a:t>
                      </a:r>
                    </a:p>
                  </a:txBody>
                  <a:tcPr marL="82296" marR="82296" marT="27432" marB="27432" anchor="ctr">
                    <a:solidFill>
                      <a:srgbClr val="0B2545"/>
                    </a:solidFill>
                  </a:tcPr>
                </a:tc>
                <a:tc>
                  <a:txBody>
                    <a:bodyPr wrap="square"/>
                    <a:lstStyle/>
                    <a:p>
                      <a:pPr algn="l">
                        <a:lnSpc>
                          <a:spcPct val="100000"/>
                        </a:lnSpc>
                        <a:buNone/>
                      </a:pPr>
                      <a:r>
                        <a:rPr sz="900" b="1">
                          <a:solidFill>
                            <a:srgbClr val="FFFFFF"/>
                          </a:solidFill>
                          <a:latin typeface="Segoe UI"/>
                        </a:rPr>
                        <a:t>Acción</a:t>
                      </a:r>
                    </a:p>
                  </a:txBody>
                  <a:tcPr marL="82296" marR="82296" marT="27432" marB="27432" anchor="ctr">
                    <a:solidFill>
                      <a:srgbClr val="0B2545"/>
                    </a:solidFill>
                  </a:tcPr>
                </a:tc>
              </a:tr>
              <a:tr h="457200">
                <a:tc>
                  <a:txBody>
                    <a:bodyPr wrap="square"/>
                    <a:lstStyle/>
                    <a:p>
                      <a:pPr algn="l">
                        <a:lnSpc>
                          <a:spcPct val="100000"/>
                        </a:lnSpc>
                        <a:buNone/>
                      </a:pPr>
                      <a:r>
                        <a:rPr sz="900" b="0">
                          <a:solidFill>
                            <a:srgbClr val="1C2430"/>
                          </a:solidFill>
                          <a:latin typeface="Segoe UI"/>
                        </a:rPr>
                        <a:t>Ventilador del amplificador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Rodamientos gastados, ruido, caudal insuficiente</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Revisar anualmente; sustituir según horas de servicio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Sustitución preventiva antes de que provoque </a:t>
                      </a:r>
                      <a:r>
                        <a:rPr sz="900" b="0">
                          <a:solidFill>
                            <a:srgbClr val="1C2430"/>
                          </a:solidFill>
                          <a:latin typeface="Consolas"/>
                        </a:rPr>
                        <a:t>A.7A_</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Condensadores del bus</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Envejecimiento por temperatura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Vigilar a partir de varios años de servicio continuo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Sustitución del equipo o revisión por el servicio técnico</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Batería del encoder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Descarga natural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Cada 2 años (preventivo)</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Cambio </a:t>
                      </a:r>
                      <a:r>
                        <a:rPr sz="900" b="1">
                          <a:solidFill>
                            <a:srgbClr val="1C2430"/>
                          </a:solidFill>
                          <a:latin typeface="Segoe UI"/>
                        </a:rPr>
                        <a:t>con la alimentación de control conectada</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Filtros y ventilación del armario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Obstrucción por polvo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Trimestral o según el entorno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Limpieza y sustitución de filtros</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Cables de motor y encoder</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Fatiga en cadena portacables, roce</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Inspección semestral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Sustitución preventiva en ejes móviles de alto ciclo</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Acoplamiento</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Desgaste del elemento elástico, holgura</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Inspección semestral</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Sustitución del elastómero; verificar alineación</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Freno de retención</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Desgaste del forro, pérdida de par de retención</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Prueba anual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Verificar par de retención según especificación</a:t>
                      </a:r>
                    </a:p>
                  </a:txBody>
                  <a:tcPr marL="82296" marR="82296" marT="27432" marB="27432" anchor="ctr">
                    <a:solidFill>
                      <a:srgbClr val="FFFFFF"/>
                    </a:solidFill>
                  </a:tcPr>
                </a:tc>
              </a:tr>
              <a:tr h="457200">
                <a:tc>
                  <a:txBody>
                    <a:bodyPr wrap="square"/>
                    <a:lstStyle/>
                    <a:p>
                      <a:pPr algn="l">
                        <a:lnSpc>
                          <a:spcPct val="100000"/>
                        </a:lnSpc>
                        <a:buNone/>
                      </a:pPr>
                      <a:r>
                        <a:rPr sz="900" b="0">
                          <a:solidFill>
                            <a:srgbClr val="1C2430"/>
                          </a:solidFill>
                          <a:latin typeface="Segoe UI"/>
                        </a:rPr>
                        <a:t>Resistencia de regeneración</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Envejecimiento térmico, aflojamiento de bornes</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Inspección anual</a:t>
                      </a:r>
                    </a:p>
                  </a:txBody>
                  <a:tcPr marL="82296" marR="82296" marT="27432" marB="27432" anchor="ctr">
                    <a:solidFill>
                      <a:srgbClr val="F2F5F8"/>
                    </a:solidFill>
                  </a:tcPr>
                </a:tc>
                <a:tc>
                  <a:txBody>
                    <a:bodyPr wrap="square"/>
                    <a:lstStyle/>
                    <a:p>
                      <a:pPr algn="l">
                        <a:lnSpc>
                          <a:spcPct val="100000"/>
                        </a:lnSpc>
                        <a:buNone/>
                      </a:pPr>
                      <a:r>
                        <a:rPr sz="900" b="0">
                          <a:solidFill>
                            <a:srgbClr val="1C2430"/>
                          </a:solidFill>
                          <a:latin typeface="Segoe UI"/>
                        </a:rPr>
                        <a:t>Verificar resistencia y estado de los terminales</a:t>
                      </a:r>
                    </a:p>
                  </a:txBody>
                  <a:tcPr marL="82296" marR="82296" marT="27432" marB="27432" anchor="ctr">
                    <a:solidFill>
                      <a:srgbClr val="F2F5F8"/>
                    </a:solidFill>
                  </a:tcPr>
                </a:tc>
              </a:tr>
              <a:tr h="457200">
                <a:tc>
                  <a:txBody>
                    <a:bodyPr wrap="square"/>
                    <a:lstStyle/>
                    <a:p>
                      <a:pPr algn="l">
                        <a:lnSpc>
                          <a:spcPct val="100000"/>
                        </a:lnSpc>
                        <a:buNone/>
                      </a:pPr>
                      <a:r>
                        <a:rPr sz="900" b="0">
                          <a:solidFill>
                            <a:srgbClr val="1C2430"/>
                          </a:solidFill>
                          <a:latin typeface="Segoe UI"/>
                        </a:rPr>
                        <a:t>Aprietes de bornes de potencia</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Aflojamiento por ciclos térmicos</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Anual</a:t>
                      </a:r>
                    </a:p>
                  </a:txBody>
                  <a:tcPr marL="82296" marR="82296" marT="27432" marB="27432" anchor="ctr">
                    <a:solidFill>
                      <a:srgbClr val="FFFFFF"/>
                    </a:solidFill>
                  </a:tcPr>
                </a:tc>
                <a:tc>
                  <a:txBody>
                    <a:bodyPr wrap="square"/>
                    <a:lstStyle/>
                    <a:p>
                      <a:pPr algn="l">
                        <a:lnSpc>
                          <a:spcPct val="100000"/>
                        </a:lnSpc>
                        <a:buNone/>
                      </a:pPr>
                      <a:r>
                        <a:rPr sz="900" b="0">
                          <a:solidFill>
                            <a:srgbClr val="1C2430"/>
                          </a:solidFill>
                          <a:latin typeface="Segoe UI"/>
                        </a:rPr>
                        <a:t>Reapriete al par indicado con la instalación consignada</a:t>
                      </a:r>
                    </a:p>
                  </a:txBody>
                  <a:tcPr marL="82296" marR="82296" marT="27432" marB="27432" anchor="ctr">
                    <a:solidFill>
                      <a:srgbClr val="FFFFFF"/>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Las periodicidades son orientativas: ajústalas al entorno real (temperatura, polvo, horas de servicio) y a las indicaciones del manual.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Sustitución de un SERVOPACK o de un motor</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Con preparación, una hora; sin preparación, un día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11</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109</a:t>
            </a:r>
          </a:p>
        </p:txBody>
      </p:sp>
      <p:sp>
        <p:nvSpPr>
          <p:cNvPr id="9" name="Rectangle 8"/>
          <p:cNvSpPr/>
          <p:nvPr/>
        </p:nvSpPr>
        <p:spPr>
          <a:xfrm>
            <a:off x="566928" y="148132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Consignar la instalación y esperar la descarga del bus</a:t>
            </a:r>
          </a:p>
        </p:txBody>
      </p:sp>
      <p:sp>
        <p:nvSpPr>
          <p:cNvPr id="13" name="TextBox 12"/>
          <p:cNvSpPr txBox="1"/>
          <p:nvPr/>
        </p:nvSpPr>
        <p:spPr>
          <a:xfrm>
            <a:off x="1435608" y="175704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LOTO, espera de al menos 5 minutos y verificación de ausencia de tensión. El LED CHARGE apagado no es suficiente.</a:t>
            </a:r>
          </a:p>
        </p:txBody>
      </p:sp>
      <p:sp>
        <p:nvSpPr>
          <p:cNvPr id="14" name="Rectangle 13"/>
          <p:cNvSpPr/>
          <p:nvPr/>
        </p:nvSpPr>
        <p:spPr>
          <a:xfrm>
            <a:off x="566928" y="2052174"/>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052174"/>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052174"/>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2</a:t>
            </a:r>
          </a:p>
        </p:txBody>
      </p:sp>
      <p:sp>
        <p:nvSpPr>
          <p:cNvPr id="17" name="TextBox 16"/>
          <p:cNvSpPr txBox="1"/>
          <p:nvPr/>
        </p:nvSpPr>
        <p:spPr>
          <a:xfrm>
            <a:off x="1435608" y="2143614"/>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Anotar y fotografiar todo antes de desmontar</a:t>
            </a:r>
          </a:p>
        </p:txBody>
      </p:sp>
      <p:sp>
        <p:nvSpPr>
          <p:cNvPr id="18" name="TextBox 17"/>
          <p:cNvSpPr txBox="1"/>
          <p:nvPr/>
        </p:nvSpPr>
        <p:spPr>
          <a:xfrm>
            <a:off x="1435608" y="2327891"/>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Etiquetas de los dos equipos, conexiones, posición de los cables y estado de los puentes (</a:t>
            </a:r>
            <a:r>
              <a:rPr sz="750" b="0">
                <a:solidFill>
                  <a:srgbClr val="3A4654"/>
                </a:solidFill>
                <a:latin typeface="Consolas"/>
              </a:rPr>
              <a:t>B2</a:t>
            </a:r>
            <a:r>
              <a:rPr sz="750" b="0">
                <a:solidFill>
                  <a:srgbClr val="3A4654"/>
                </a:solidFill>
                <a:latin typeface="Segoe UI"/>
              </a:rPr>
              <a:t>-</a:t>
            </a:r>
            <a:r>
              <a:rPr sz="750" b="0">
                <a:solidFill>
                  <a:srgbClr val="3A4654"/>
                </a:solidFill>
                <a:latin typeface="Consolas"/>
              </a:rPr>
              <a:t>B3</a:t>
            </a:r>
            <a:r>
              <a:rPr sz="750" b="0">
                <a:solidFill>
                  <a:srgbClr val="3A4654"/>
                </a:solidFill>
                <a:latin typeface="Segoe UI"/>
              </a:rPr>
              <a:t>, </a:t>
            </a:r>
            <a:r>
              <a:rPr sz="750" b="0">
                <a:solidFill>
                  <a:srgbClr val="3A4654"/>
                </a:solidFill>
                <a:latin typeface="Consolas"/>
              </a:rPr>
              <a:t>CN8</a:t>
            </a:r>
            <a:r>
              <a:rPr sz="750" b="0">
                <a:solidFill>
                  <a:srgbClr val="3A4654"/>
                </a:solidFill>
                <a:latin typeface="Segoe UI"/>
              </a:rPr>
              <a:t>).</a:t>
            </a:r>
          </a:p>
        </p:txBody>
      </p:sp>
      <p:sp>
        <p:nvSpPr>
          <p:cNvPr id="19" name="Rectangle 18"/>
          <p:cNvSpPr/>
          <p:nvPr/>
        </p:nvSpPr>
        <p:spPr>
          <a:xfrm>
            <a:off x="566928" y="2623021"/>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623021"/>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623021"/>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3</a:t>
            </a:r>
          </a:p>
        </p:txBody>
      </p:sp>
      <p:sp>
        <p:nvSpPr>
          <p:cNvPr id="22" name="TextBox 21"/>
          <p:cNvSpPr txBox="1"/>
          <p:nvPr/>
        </p:nvSpPr>
        <p:spPr>
          <a:xfrm>
            <a:off x="1435608" y="2714461"/>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Verificar que el repuesto es idéntico</a:t>
            </a:r>
          </a:p>
        </p:txBody>
      </p:sp>
      <p:sp>
        <p:nvSpPr>
          <p:cNvPr id="23" name="TextBox 22"/>
          <p:cNvSpPr txBox="1"/>
          <p:nvPr/>
        </p:nvSpPr>
        <p:spPr>
          <a:xfrm>
            <a:off x="1435608" y="2898738"/>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Código completo, no sólo la potencia. Un sufijo distinto puede significar otra interfaz de comando.</a:t>
            </a:r>
          </a:p>
        </p:txBody>
      </p:sp>
      <p:sp>
        <p:nvSpPr>
          <p:cNvPr id="24" name="Rectangle 23"/>
          <p:cNvSpPr/>
          <p:nvPr/>
        </p:nvSpPr>
        <p:spPr>
          <a:xfrm>
            <a:off x="566928" y="3193868"/>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193868"/>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193868"/>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4</a:t>
            </a:r>
          </a:p>
        </p:txBody>
      </p:sp>
      <p:sp>
        <p:nvSpPr>
          <p:cNvPr id="27" name="TextBox 26"/>
          <p:cNvSpPr txBox="1"/>
          <p:nvPr/>
        </p:nvSpPr>
        <p:spPr>
          <a:xfrm>
            <a:off x="1435608" y="3285308"/>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Montar, cablear y comprobar antes de energizar</a:t>
            </a:r>
          </a:p>
        </p:txBody>
      </p:sp>
      <p:sp>
        <p:nvSpPr>
          <p:cNvPr id="28" name="TextBox 27"/>
          <p:cNvSpPr txBox="1"/>
          <p:nvPr/>
        </p:nvSpPr>
        <p:spPr>
          <a:xfrm>
            <a:off x="1435608" y="3469585"/>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Usa la lista de verificación de instalación del Módulo 05.</a:t>
            </a:r>
          </a:p>
        </p:txBody>
      </p:sp>
      <p:sp>
        <p:nvSpPr>
          <p:cNvPr id="29" name="Rectangle 28"/>
          <p:cNvSpPr/>
          <p:nvPr/>
        </p:nvSpPr>
        <p:spPr>
          <a:xfrm>
            <a:off x="566928" y="3764715"/>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3764715"/>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3764715"/>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5</a:t>
            </a:r>
          </a:p>
        </p:txBody>
      </p:sp>
      <p:sp>
        <p:nvSpPr>
          <p:cNvPr id="32" name="TextBox 31"/>
          <p:cNvSpPr txBox="1"/>
          <p:nvPr/>
        </p:nvSpPr>
        <p:spPr>
          <a:xfrm>
            <a:off x="1435608" y="3856155"/>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Cargar el fichero de parámetros</a:t>
            </a:r>
          </a:p>
        </p:txBody>
      </p:sp>
      <p:sp>
        <p:nvSpPr>
          <p:cNvPr id="33" name="TextBox 32"/>
          <p:cNvSpPr txBox="1"/>
          <p:nvPr/>
        </p:nvSpPr>
        <p:spPr>
          <a:xfrm>
            <a:off x="1435608" y="4040432"/>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Desde SigmaWin+ o desde el operador digital. Verifica después algunos parámetros críticos a mano.</a:t>
            </a:r>
          </a:p>
        </p:txBody>
      </p:sp>
      <p:sp>
        <p:nvSpPr>
          <p:cNvPr id="34" name="Rectangle 33"/>
          <p:cNvSpPr/>
          <p:nvPr/>
        </p:nvSpPr>
        <p:spPr>
          <a:xfrm>
            <a:off x="566928" y="4335562"/>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335562"/>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335562"/>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6</a:t>
            </a:r>
          </a:p>
        </p:txBody>
      </p:sp>
      <p:sp>
        <p:nvSpPr>
          <p:cNvPr id="37" name="TextBox 36"/>
          <p:cNvSpPr txBox="1"/>
          <p:nvPr/>
        </p:nvSpPr>
        <p:spPr>
          <a:xfrm>
            <a:off x="1435608" y="4427002"/>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Ejecutar </a:t>
            </a:r>
            <a:r>
              <a:rPr sz="950" b="1">
                <a:solidFill>
                  <a:srgbClr val="0B2545"/>
                </a:solidFill>
                <a:latin typeface="Consolas"/>
              </a:rPr>
              <a:t>Fn008</a:t>
            </a:r>
            <a:r>
              <a:rPr sz="950" b="1">
                <a:solidFill>
                  <a:srgbClr val="0B2545"/>
                </a:solidFill>
                <a:latin typeface="Segoe UI Semibold"/>
              </a:rPr>
              <a:t> si el encoder es absoluto y rehacer el origen</a:t>
            </a:r>
          </a:p>
        </p:txBody>
      </p:sp>
      <p:sp>
        <p:nvSpPr>
          <p:cNvPr id="38" name="TextBox 37"/>
          <p:cNvSpPr txBox="1"/>
          <p:nvPr/>
        </p:nvSpPr>
        <p:spPr>
          <a:xfrm>
            <a:off x="1435608" y="4611279"/>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El fichero de parámetros no contiene el origen de la máquina.</a:t>
            </a:r>
          </a:p>
        </p:txBody>
      </p:sp>
      <p:sp>
        <p:nvSpPr>
          <p:cNvPr id="39" name="Rectangle 38"/>
          <p:cNvSpPr/>
          <p:nvPr/>
        </p:nvSpPr>
        <p:spPr>
          <a:xfrm>
            <a:off x="566928" y="4906409"/>
            <a:ext cx="11057839" cy="461118"/>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4906409"/>
            <a:ext cx="658368" cy="46111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66928" y="4906409"/>
            <a:ext cx="658368" cy="461118"/>
          </a:xfrm>
          <a:prstGeom prst="rect">
            <a:avLst/>
          </a:prstGeom>
          <a:noFill/>
        </p:spPr>
        <p:txBody>
          <a:bodyPr wrap="square" lIns="0" rIns="0" tIns="0" bIns="0" anchor="ctr">
            <a:spAutoFit/>
          </a:bodyPr>
          <a:lstStyle/>
          <a:p>
            <a:pPr algn="ctr">
              <a:lnSpc>
                <a:spcPct val="100000"/>
              </a:lnSpc>
              <a:buNone/>
            </a:pPr>
            <a:r>
              <a:rPr sz="1550" b="1">
                <a:solidFill>
                  <a:srgbClr val="00A9CE"/>
                </a:solidFill>
                <a:latin typeface="Segoe UI Semibold"/>
              </a:rPr>
              <a:t>7</a:t>
            </a:r>
          </a:p>
        </p:txBody>
      </p:sp>
      <p:sp>
        <p:nvSpPr>
          <p:cNvPr id="42" name="TextBox 41"/>
          <p:cNvSpPr txBox="1"/>
          <p:nvPr/>
        </p:nvSpPr>
        <p:spPr>
          <a:xfrm>
            <a:off x="1435608" y="4997849"/>
            <a:ext cx="9869119" cy="274320"/>
          </a:xfrm>
          <a:prstGeom prst="rect">
            <a:avLst/>
          </a:prstGeom>
          <a:noFill/>
        </p:spPr>
        <p:txBody>
          <a:bodyPr wrap="square" lIns="0" rIns="0" tIns="0" bIns="0" anchor="t">
            <a:spAutoFit/>
          </a:bodyPr>
          <a:lstStyle/>
          <a:p>
            <a:pPr algn="l">
              <a:lnSpc>
                <a:spcPct val="100000"/>
              </a:lnSpc>
              <a:buNone/>
            </a:pPr>
            <a:r>
              <a:rPr sz="950" b="1">
                <a:solidFill>
                  <a:srgbClr val="0B2545"/>
                </a:solidFill>
                <a:latin typeface="Segoe UI Semibold"/>
              </a:rPr>
              <a:t>Verificar el eje y volver a documentar</a:t>
            </a:r>
          </a:p>
        </p:txBody>
      </p:sp>
      <p:sp>
        <p:nvSpPr>
          <p:cNvPr id="43" name="TextBox 42"/>
          <p:cNvSpPr txBox="1"/>
          <p:nvPr/>
        </p:nvSpPr>
        <p:spPr>
          <a:xfrm>
            <a:off x="1435608" y="5182126"/>
            <a:ext cx="9869119" cy="185401"/>
          </a:xfrm>
          <a:prstGeom prst="rect">
            <a:avLst/>
          </a:prstGeom>
          <a:noFill/>
        </p:spPr>
        <p:txBody>
          <a:bodyPr wrap="square" lIns="0" rIns="0" tIns="0" bIns="0" anchor="t">
            <a:spAutoFit/>
          </a:bodyPr>
          <a:lstStyle/>
          <a:p>
            <a:pPr algn="l">
              <a:lnSpc>
                <a:spcPct val="105000"/>
              </a:lnSpc>
              <a:buNone/>
            </a:pPr>
            <a:r>
              <a:rPr sz="750" b="0">
                <a:solidFill>
                  <a:srgbClr val="3A4654"/>
                </a:solidFill>
                <a:latin typeface="Segoe UI"/>
              </a:rPr>
              <a:t>JOG sin carga, ciclo a baja velocidad, ciclo real. Actualiza el acta del eje con la fecha y el motivo de la sustitución.</a:t>
            </a:r>
          </a:p>
        </p:txBody>
      </p:sp>
      <p:sp>
        <p:nvSpPr>
          <p:cNvPr id="44" name="Rectangle 43"/>
          <p:cNvSpPr/>
          <p:nvPr/>
        </p:nvSpPr>
        <p:spPr>
          <a:xfrm>
            <a:off x="566928" y="5504688"/>
            <a:ext cx="11057839" cy="82296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566928" y="5504688"/>
            <a:ext cx="68580" cy="82296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Repuestos que conviene tener en planta</a:t>
            </a:r>
          </a:p>
        </p:txBody>
      </p:sp>
      <p:sp>
        <p:nvSpPr>
          <p:cNvPr id="47" name="TextBox 46"/>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Un amplificador y un motor de los modelos más críticos, baterías de encoder, un cable de encoder y uno de motor de las longitudes habituales, y ventiladores de repuesto. Y sobre todo: las copias de parámetros actualizadas de todos los ejes.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12</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Proyecto integrador</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Una máquina real de principio a fin</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1: dimensionamiento justificado</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2: arquitectura eléctrica y de control</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3: hoja de parámetros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Entregable 4: plan de puesta en marcha y criterios de aceptación</a:t>
            </a:r>
          </a:p>
        </p:txBody>
      </p:sp>
      <p:sp>
        <p:nvSpPr>
          <p:cNvPr id="17" name="Rectangle 16"/>
          <p:cNvSpPr/>
          <p:nvPr/>
        </p:nvSpPr>
        <p:spPr>
          <a:xfrm>
            <a:off x="1051560" y="59756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25880" y="58978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Defensa y evaluación</a:t>
            </a:r>
          </a:p>
        </p:txBody>
      </p:sp>
      <p:sp>
        <p:nvSpPr>
          <p:cNvPr id="19" name="TextBox 18"/>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8 h (trabajo guiado)</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El encargo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Lee el enunciado dos veces: la mitad de los errores nacen aquí</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111</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La máquina</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200" b="1">
                <a:solidFill>
                  <a:srgbClr val="1C2430"/>
                </a:solidFill>
                <a:latin typeface="Segoe UI"/>
              </a:rPr>
              <a:t>Estación de </a:t>
            </a:r>
            <a:r>
              <a:rPr sz="1200" b="1">
                <a:solidFill>
                  <a:srgbClr val="1C2430"/>
                </a:solidFill>
                <a:latin typeface="Segoe UI"/>
              </a:rPr>
              <a:t>carga y descarga</a:t>
            </a:r>
            <a:r>
              <a:rPr sz="1200" b="1">
                <a:solidFill>
                  <a:srgbClr val="1C2430"/>
                </a:solidFill>
                <a:latin typeface="Segoe UI"/>
              </a:rPr>
              <a:t> en una línea de mecanizado.</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Un </a:t>
            </a:r>
            <a:r>
              <a:rPr sz="1200" b="1">
                <a:solidFill>
                  <a:srgbClr val="1C2430"/>
                </a:solidFill>
                <a:latin typeface="Segoe UI"/>
              </a:rPr>
              <a:t>eje horizontal</a:t>
            </a:r>
            <a:r>
              <a:rPr sz="1200" b="1">
                <a:solidFill>
                  <a:srgbClr val="1C2430"/>
                </a:solidFill>
                <a:latin typeface="Segoe UI"/>
              </a:rPr>
              <a:t> con husillo de bolas mueve un carro con la pieza entre la posición de carga y la de mecanizado.</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El eje debe </a:t>
            </a:r>
            <a:r>
              <a:rPr sz="1200" b="1">
                <a:solidFill>
                  <a:srgbClr val="1C2430"/>
                </a:solidFill>
                <a:latin typeface="Segoe UI"/>
              </a:rPr>
              <a:t>sincronizarse</a:t>
            </a:r>
            <a:r>
              <a:rPr sz="1200" b="1">
                <a:solidFill>
                  <a:srgbClr val="1C2430"/>
                </a:solidFill>
                <a:latin typeface="Segoe UI"/>
              </a:rPr>
              <a:t> con el PLC de la línea y detenerse en posiciones repetibles.</a:t>
            </a:r>
          </a:p>
          <a:p>
            <a:pPr marL="274320" indent="-201168">
              <a:lnSpc>
                <a:spcPct val="106000"/>
              </a:lnSpc>
              <a:spcAft>
                <a:spcPts val="900"/>
              </a:spcAft>
              <a:buClr>
                <a:srgbClr val="1B5EA8"/>
              </a:buClr>
              <a:buSzPct val="90000"/>
              <a:buFont typeface="Arial"/>
              <a:buChar char="■"/>
            </a:pPr>
            <a:r>
              <a:rPr sz="1200" b="1">
                <a:solidFill>
                  <a:srgbClr val="1C2430"/>
                </a:solidFill>
                <a:latin typeface="Segoe UI"/>
              </a:rPr>
              <a:t>La línea trabaja a </a:t>
            </a:r>
            <a:r>
              <a:rPr sz="1200" b="1">
                <a:solidFill>
                  <a:srgbClr val="1C2430"/>
                </a:solidFill>
                <a:latin typeface="Segoe UI"/>
              </a:rPr>
              <a:t>tres turnos</a:t>
            </a:r>
            <a:r>
              <a:rPr sz="1200" b="1">
                <a:solidFill>
                  <a:srgbClr val="1C2430"/>
                </a:solidFill>
                <a:latin typeface="Segoe UI"/>
              </a:rPr>
              <a:t>, en una nave sin climatizar.</a:t>
            </a:r>
          </a:p>
          <a:p>
            <a:pPr marL="0" indent="0">
              <a:lnSpc>
                <a:spcPct val="106000"/>
              </a:lnSpc>
              <a:spcBef>
                <a:spcPts val="800"/>
              </a:spcBef>
              <a:spcAft>
                <a:spcPts val="900"/>
              </a:spcAft>
              <a:buNone/>
            </a:pPr>
            <a:r>
              <a:rPr sz="1150" b="1">
                <a:solidFill>
                  <a:srgbClr val="1B5EA8"/>
                </a:solidFill>
                <a:latin typeface="Segoe UI Semibold"/>
              </a:rPr>
              <a:t>Datos mecánicos</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Masa del carro más pieza: </a:t>
            </a:r>
            <a:r>
              <a:rPr sz="1050" b="1">
                <a:solidFill>
                  <a:srgbClr val="333F4C"/>
                </a:solidFill>
                <a:latin typeface="Segoe UI"/>
              </a:rPr>
              <a:t>400 kg</a:t>
            </a:r>
            <a:r>
              <a:rPr sz="1050" b="0">
                <a:solidFill>
                  <a:srgbClr val="333F4C"/>
                </a:solidFill>
                <a:latin typeface="Segoe UI"/>
              </a:rPr>
              <a:t> (pieza de hasta 120 kg).</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Husillo de bolas: </a:t>
            </a:r>
            <a:r>
              <a:rPr sz="1050" b="1">
                <a:solidFill>
                  <a:srgbClr val="333F4C"/>
                </a:solidFill>
                <a:latin typeface="Segoe UI"/>
              </a:rPr>
              <a:t>40 mm de diámetro, 1,5 m, paso 20 mm</a:t>
            </a:r>
            <a:r>
              <a:rPr sz="10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Guías lineales, coeficiente de rozamiento </a:t>
            </a:r>
            <a:r>
              <a:rPr sz="1050" b="1">
                <a:solidFill>
                  <a:srgbClr val="333F4C"/>
                </a:solidFill>
                <a:latin typeface="Segoe UI"/>
              </a:rPr>
              <a:t>0,05</a:t>
            </a:r>
            <a:r>
              <a:rPr sz="1050" b="0">
                <a:solidFill>
                  <a:srgbClr val="333F4C"/>
                </a:solidFill>
                <a:latin typeface="Segoe UI"/>
              </a:rPr>
              <a:t>.</a:t>
            </a:r>
          </a:p>
          <a:p>
            <a:pPr marL="566928" indent="-201168">
              <a:lnSpc>
                <a:spcPct val="106000"/>
              </a:lnSpc>
              <a:spcAft>
                <a:spcPts val="500"/>
              </a:spcAft>
              <a:buClr>
                <a:srgbClr val="00A9CE"/>
              </a:buClr>
              <a:buSzPct val="90000"/>
              <a:buFont typeface="Arial"/>
              <a:buChar char="▸"/>
            </a:pPr>
            <a:r>
              <a:rPr sz="1050" b="0">
                <a:solidFill>
                  <a:srgbClr val="333F4C"/>
                </a:solidFill>
                <a:latin typeface="Segoe UI"/>
              </a:rPr>
              <a:t>Rendimiento del conjunto: </a:t>
            </a:r>
            <a:r>
              <a:rPr sz="1050" b="1">
                <a:solidFill>
                  <a:srgbClr val="333F4C"/>
                </a:solidFill>
                <a:latin typeface="Segoe UI"/>
              </a:rPr>
              <a:t>0,90</a:t>
            </a:r>
            <a:r>
              <a:rPr sz="1050" b="0">
                <a:solidFill>
                  <a:srgbClr val="333F4C"/>
                </a:solidFill>
                <a:latin typeface="Segoe UI"/>
              </a:rPr>
              <a:t>.</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Los requisitos</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25" b="1">
                <a:solidFill>
                  <a:srgbClr val="1C2430"/>
                </a:solidFill>
                <a:latin typeface="Segoe UI"/>
              </a:rPr>
              <a:t>Recorrido útil</a:t>
            </a:r>
            <a:r>
              <a:rPr sz="1125" b="1">
                <a:solidFill>
                  <a:srgbClr val="1C2430"/>
                </a:solidFill>
                <a:latin typeface="Segoe UI"/>
              </a:rPr>
              <a:t>: 600 mm entre posiciones.</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Tiempo de movimiento</a:t>
            </a:r>
            <a:r>
              <a:rPr sz="1125" b="1">
                <a:solidFill>
                  <a:srgbClr val="1C2430"/>
                </a:solidFill>
                <a:latin typeface="Segoe UI"/>
              </a:rPr>
              <a:t>: 1,0 s como máximo.</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Tiempo de ciclo</a:t>
            </a:r>
            <a:r>
              <a:rPr sz="1125" b="1">
                <a:solidFill>
                  <a:srgbClr val="1C2430"/>
                </a:solidFill>
                <a:latin typeface="Segoe UI"/>
              </a:rPr>
              <a:t>: 2,5 s (movimiento + espera de proceso).</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Repetibilidad de posición</a:t>
            </a:r>
            <a:r>
              <a:rPr sz="1125" b="1">
                <a:solidFill>
                  <a:srgbClr val="1C2430"/>
                </a:solidFill>
                <a:latin typeface="Segoe UI"/>
              </a:rPr>
              <a:t>: ±0,05 mm.</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Sin búsqueda de origen</a:t>
            </a:r>
            <a:r>
              <a:rPr sz="1125" b="1">
                <a:solidFill>
                  <a:srgbClr val="1C2430"/>
                </a:solidFill>
                <a:latin typeface="Segoe UI"/>
              </a:rPr>
              <a:t> al arrancar tras un corte.</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Parada segura</a:t>
            </a:r>
            <a:r>
              <a:rPr sz="1125" b="1">
                <a:solidFill>
                  <a:srgbClr val="1C2430"/>
                </a:solidFill>
                <a:latin typeface="Segoe UI"/>
              </a:rPr>
              <a:t> integrada en la cadena de seguridad de la línea.</a:t>
            </a:r>
          </a:p>
          <a:p>
            <a:pPr marL="274320" indent="-201168">
              <a:lnSpc>
                <a:spcPct val="106000"/>
              </a:lnSpc>
              <a:spcAft>
                <a:spcPts val="900"/>
              </a:spcAft>
              <a:buClr>
                <a:srgbClr val="1B5EA8"/>
              </a:buClr>
              <a:buSzPct val="90000"/>
              <a:buFont typeface="Arial"/>
              <a:buChar char="■"/>
            </a:pPr>
            <a:r>
              <a:rPr sz="1125" b="1">
                <a:solidFill>
                  <a:srgbClr val="1C2430"/>
                </a:solidFill>
                <a:latin typeface="Segoe UI"/>
              </a:rPr>
              <a:t>Diagnóstico remoto</a:t>
            </a:r>
            <a:r>
              <a:rPr sz="1125" b="1">
                <a:solidFill>
                  <a:srgbClr val="1C2430"/>
                </a:solidFill>
                <a:latin typeface="Segoe UI"/>
              </a:rPr>
              <a:t> desde el sistema de supervisión de planta.</a:t>
            </a:r>
          </a:p>
          <a:p>
            <a:pPr marL="0" indent="0">
              <a:lnSpc>
                <a:spcPct val="106000"/>
              </a:lnSpc>
              <a:spcBef>
                <a:spcPts val="800"/>
              </a:spcBef>
              <a:spcAft>
                <a:spcPts val="900"/>
              </a:spcAft>
              <a:buNone/>
            </a:pPr>
            <a:r>
              <a:rPr sz="1075" b="1">
                <a:solidFill>
                  <a:srgbClr val="1B5EA8"/>
                </a:solidFill>
                <a:latin typeface="Segoe UI Semibold"/>
              </a:rPr>
              <a:t>Restricciones</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Armario existente con espacio limitado.</a:t>
            </a:r>
          </a:p>
          <a:p>
            <a:pPr marL="566928" indent="-201168">
              <a:lnSpc>
                <a:spcPct val="106000"/>
              </a:lnSpc>
              <a:spcAft>
                <a:spcPts val="500"/>
              </a:spcAft>
              <a:buClr>
                <a:srgbClr val="00A9CE"/>
              </a:buClr>
              <a:buSzPct val="90000"/>
              <a:buFont typeface="Arial"/>
              <a:buChar char="▸"/>
            </a:pPr>
            <a:r>
              <a:rPr sz="975" b="0">
                <a:solidFill>
                  <a:srgbClr val="333F4C"/>
                </a:solidFill>
                <a:latin typeface="Segoe UI"/>
              </a:rPr>
              <a:t>Red trifásica de 200 V con caídas ocasionales del 10 %.</a:t>
            </a:r>
          </a:p>
        </p:txBody>
      </p:sp>
      <p:sp>
        <p:nvSpPr>
          <p:cNvPr id="17" name="Rectangle 16"/>
          <p:cNvSpPr/>
          <p:nvPr/>
        </p:nvSpPr>
        <p:spPr>
          <a:xfrm>
            <a:off x="566928" y="5458968"/>
            <a:ext cx="11057839" cy="868680"/>
          </a:xfrm>
          <a:prstGeom prst="rect">
            <a:avLst/>
          </a:prstGeom>
          <a:solidFill>
            <a:srgbClr val="E4F2EA"/>
          </a:solidFill>
          <a:ln w="95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2E8B57"/>
                </a:solidFill>
                <a:latin typeface="Segoe UI Semibold"/>
              </a:rPr>
              <a:t>Primera tarea antes de calcular nada</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Traduce cada requisito a una decisión técnica. Por ejemplo: «sin búsqueda de origen» → encoder absoluto con batería y </a:t>
            </a:r>
            <a:r>
              <a:rPr sz="1150" b="0">
                <a:solidFill>
                  <a:srgbClr val="2B3644"/>
                </a:solidFill>
                <a:latin typeface="Consolas"/>
              </a:rPr>
              <a:t>Fn008</a:t>
            </a:r>
            <a:r>
              <a:rPr sz="1150" b="0">
                <a:solidFill>
                  <a:srgbClr val="2B3644"/>
                </a:solidFill>
                <a:latin typeface="Segoe UI"/>
              </a:rPr>
              <a:t>; «diagnóstico remoto» → interfaz de bus; «caídas del 10 %» → verificar la curva par-velocidad a tensión mínima.</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Entregable 1 — Dimensionamiento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el Módulo 04</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112</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2193290"/>
                <a:gridCol w="5117677"/>
                <a:gridCol w="3746871"/>
              </a:tblGrid>
              <a:tr h="347472">
                <a:tc>
                  <a:txBody>
                    <a:bodyPr wrap="square"/>
                    <a:lstStyle/>
                    <a:p>
                      <a:pPr algn="l">
                        <a:lnSpc>
                          <a:spcPct val="100000"/>
                        </a:lnSpc>
                        <a:buNone/>
                      </a:pPr>
                      <a:r>
                        <a:rPr sz="950" b="1">
                          <a:solidFill>
                            <a:srgbClr val="FFFFFF"/>
                          </a:solidFill>
                          <a:latin typeface="Segoe UI"/>
                        </a:rPr>
                        <a:t>Apartado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debe contener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evaluación</a:t>
                      </a:r>
                    </a:p>
                  </a:txBody>
                  <a:tcPr marL="82296" marR="82296" marT="27432" marB="27432" anchor="ctr">
                    <a:solidFill>
                      <a:srgbClr val="0B2545"/>
                    </a:solidFill>
                  </a:tcPr>
                </a:tc>
              </a:tr>
              <a:tr h="562356">
                <a:tc>
                  <a:txBody>
                    <a:bodyPr wrap="square"/>
                    <a:lstStyle/>
                    <a:p>
                      <a:pPr algn="l">
                        <a:lnSpc>
                          <a:spcPct val="100000"/>
                        </a:lnSpc>
                        <a:buNone/>
                      </a:pPr>
                      <a:r>
                        <a:rPr sz="950" b="0">
                          <a:solidFill>
                            <a:srgbClr val="1C2430"/>
                          </a:solidFill>
                          <a:latin typeface="Segoe UI"/>
                        </a:rPr>
                        <a:t>Datos de partida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Tabla con los once datos del Módulo 04 y las hipótesis asumidas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Ninguna cifra sin origen documentado</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Perfil de movimiento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Velocidad máxima, aceleración, velocidad del motor y aceleración angular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Coherencia con el tiempo de ciclo exigido</a:t>
                      </a:r>
                    </a:p>
                  </a:txBody>
                  <a:tcPr marL="82296" marR="82296" marT="27432" marB="27432" anchor="ctr">
                    <a:solidFill>
                      <a:srgbClr val="F2F5F8"/>
                    </a:solidFill>
                  </a:tcPr>
                </a:tc>
              </a:tr>
              <a:tr h="562356">
                <a:tc>
                  <a:txBody>
                    <a:bodyPr wrap="square"/>
                    <a:lstStyle/>
                    <a:p>
                      <a:pPr algn="l">
                        <a:lnSpc>
                          <a:spcPct val="100000"/>
                        </a:lnSpc>
                        <a:buNone/>
                      </a:pPr>
                      <a:r>
                        <a:rPr sz="950" b="0">
                          <a:solidFill>
                            <a:srgbClr val="1C2430"/>
                          </a:solidFill>
                          <a:latin typeface="Segoe UI"/>
                        </a:rPr>
                        <a:t>Inercias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Carga, husillo, acoplamiento y total, con las fórmulas empleadas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Todas las contribuciones consideradas</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Relación de inercias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Valor obtenido y valoración de si es adecuada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Justificación de la elección del motor</a:t>
                      </a:r>
                    </a:p>
                  </a:txBody>
                  <a:tcPr marL="82296" marR="82296" marT="27432" marB="27432" anchor="ctr">
                    <a:solidFill>
                      <a:srgbClr val="F2F5F8"/>
                    </a:solidFill>
                  </a:tcPr>
                </a:tc>
              </a:tr>
              <a:tr h="562356">
                <a:tc>
                  <a:txBody>
                    <a:bodyPr wrap="square"/>
                    <a:lstStyle/>
                    <a:p>
                      <a:pPr algn="l">
                        <a:lnSpc>
                          <a:spcPct val="100000"/>
                        </a:lnSpc>
                        <a:buNone/>
                      </a:pPr>
                      <a:r>
                        <a:rPr sz="950" b="0">
                          <a:solidFill>
                            <a:srgbClr val="1C2430"/>
                          </a:solidFill>
                          <a:latin typeface="Segoe UI"/>
                        </a:rPr>
                        <a:t>Pares del ciclo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Aceleración, régimen constante, deceleración y par RMS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Aplicación correcta del rendimiento y de la fricción</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Verificación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Comparación con la curva del motor y márgenes obtenidos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Margen mínimo del 20 % en continuo y en pico</a:t>
                      </a:r>
                    </a:p>
                  </a:txBody>
                  <a:tcPr marL="82296" marR="82296" marT="27432" marB="27432" anchor="ctr">
                    <a:solidFill>
                      <a:srgbClr val="F2F5F8"/>
                    </a:solidFill>
                  </a:tcPr>
                </a:tc>
              </a:tr>
              <a:tr h="562356">
                <a:tc>
                  <a:txBody>
                    <a:bodyPr wrap="square"/>
                    <a:lstStyle/>
                    <a:p>
                      <a:pPr algn="l">
                        <a:lnSpc>
                          <a:spcPct val="100000"/>
                        </a:lnSpc>
                        <a:buNone/>
                      </a:pPr>
                      <a:r>
                        <a:rPr sz="950" b="0">
                          <a:solidFill>
                            <a:srgbClr val="1C2430"/>
                          </a:solidFill>
                          <a:latin typeface="Segoe UI"/>
                        </a:rPr>
                        <a:t>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Energía por frenado, potencia media y decisión sobre resistencia externa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Conclusión razonada</a:t>
                      </a:r>
                    </a:p>
                  </a:txBody>
                  <a:tcPr marL="82296" marR="82296" marT="27432" marB="27432" anchor="ctr">
                    <a:solidFill>
                      <a:srgbClr val="FFFFFF"/>
                    </a:solidFill>
                  </a:tcPr>
                </a:tc>
              </a:tr>
              <a:tr h="562356">
                <a:tc>
                  <a:txBody>
                    <a:bodyPr wrap="square"/>
                    <a:lstStyle/>
                    <a:p>
                      <a:pPr algn="l">
                        <a:lnSpc>
                          <a:spcPct val="100000"/>
                        </a:lnSpc>
                        <a:buNone/>
                      </a:pPr>
                      <a:r>
                        <a:rPr sz="950" b="0">
                          <a:solidFill>
                            <a:srgbClr val="1C2430"/>
                          </a:solidFill>
                          <a:latin typeface="Segoe UI"/>
                        </a:rPr>
                        <a:t>Selección final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Modelo de SERVOPACK y de motor propuestos, con alternativa valorada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Combinación homologada y coherente con los requisitos</a:t>
                      </a:r>
                    </a:p>
                  </a:txBody>
                  <a:tcPr marL="82296" marR="82296" marT="27432" marB="27432" anchor="ctr">
                    <a:solidFill>
                      <a:srgbClr val="F2F5F8"/>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Entregable 2 — Arquitectura eléctrica y de control</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los Módulos 05, 06 y 10</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113</a:t>
            </a:r>
          </a:p>
        </p:txBody>
      </p:sp>
      <p:graphicFrame>
        <p:nvGraphicFramePr>
          <p:cNvPr id="9" name="Table 8"/>
          <p:cNvGraphicFramePr>
            <a:graphicFrameLocks noGrp="1"/>
          </p:cNvGraphicFramePr>
          <p:nvPr/>
        </p:nvGraphicFramePr>
        <p:xfrm>
          <a:off x="566928" y="1481328"/>
          <a:ext cx="11057838" cy="4846316"/>
        </p:xfrm>
        <a:graphic>
          <a:graphicData uri="http://schemas.openxmlformats.org/drawingml/2006/table">
            <a:tbl>
              <a:tblPr firstRow="1">
                <a:tableStyleId>{5C22544A-7EE6-4342-B048-85BDC9FD1C3A}</a:tableStyleId>
              </a:tblPr>
              <a:tblGrid>
                <a:gridCol w="2376064"/>
                <a:gridCol w="4934903"/>
                <a:gridCol w="3746871"/>
              </a:tblGrid>
              <a:tr h="347472">
                <a:tc>
                  <a:txBody>
                    <a:bodyPr wrap="square"/>
                    <a:lstStyle/>
                    <a:p>
                      <a:pPr algn="l">
                        <a:lnSpc>
                          <a:spcPct val="100000"/>
                        </a:lnSpc>
                        <a:buNone/>
                      </a:pPr>
                      <a:r>
                        <a:rPr sz="950" b="1">
                          <a:solidFill>
                            <a:srgbClr val="FFFFFF"/>
                          </a:solidFill>
                          <a:latin typeface="Segoe UI"/>
                        </a:rPr>
                        <a:t>Apartado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Qué debe contener</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Criterio de evaluación</a:t>
                      </a:r>
                    </a:p>
                  </a:txBody>
                  <a:tcPr marL="82296" marR="82296" marT="27432" marB="27432" anchor="ctr">
                    <a:solidFill>
                      <a:srgbClr val="0B2545"/>
                    </a:solidFill>
                  </a:tcPr>
                </a:tc>
              </a:tr>
              <a:tr h="642692">
                <a:tc>
                  <a:txBody>
                    <a:bodyPr wrap="square"/>
                    <a:lstStyle/>
                    <a:p>
                      <a:pPr algn="l">
                        <a:lnSpc>
                          <a:spcPct val="100000"/>
                        </a:lnSpc>
                        <a:buNone/>
                      </a:pPr>
                      <a:r>
                        <a:rPr sz="950" b="0">
                          <a:solidFill>
                            <a:srgbClr val="1C2430"/>
                          </a:solidFill>
                          <a:latin typeface="Segoe UI"/>
                        </a:rPr>
                        <a:t>Esquema unifilar de potencia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Protección, contactor, filtro, amplificador, motor y resistencia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Alimentación de control tomada antes del contactor</a:t>
                      </a:r>
                    </a:p>
                  </a:txBody>
                  <a:tcPr marL="82296" marR="82296" marT="27432" marB="27432" anchor="ctr">
                    <a:solidFill>
                      <a:srgbClr val="FFFFFF"/>
                    </a:solidFill>
                  </a:tcPr>
                </a:tc>
              </a:tr>
              <a:tr h="642692">
                <a:tc>
                  <a:txBody>
                    <a:bodyPr wrap="square"/>
                    <a:lstStyle/>
                    <a:p>
                      <a:pPr algn="l">
                        <a:lnSpc>
                          <a:spcPct val="100000"/>
                        </a:lnSpc>
                        <a:buNone/>
                      </a:pPr>
                      <a:r>
                        <a:rPr sz="950" b="0">
                          <a:solidFill>
                            <a:srgbClr val="1C2430"/>
                          </a:solidFill>
                          <a:latin typeface="Segoe UI"/>
                        </a:rPr>
                        <a:t>Selección de componentes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Protecciones, secciones de cable, contactor, filtro y fuente de 24 V</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Coherencia con los 21 A de entrada y los 18,5 A de salida</a:t>
                      </a:r>
                    </a:p>
                  </a:txBody>
                  <a:tcPr marL="82296" marR="82296" marT="27432" marB="27432" anchor="ctr">
                    <a:solidFill>
                      <a:srgbClr val="F2F5F8"/>
                    </a:solidFill>
                  </a:tcPr>
                </a:tc>
              </a:tr>
              <a:tr h="642692">
                <a:tc>
                  <a:txBody>
                    <a:bodyPr wrap="square"/>
                    <a:lstStyle/>
                    <a:p>
                      <a:pPr algn="l">
                        <a:lnSpc>
                          <a:spcPct val="100000"/>
                        </a:lnSpc>
                        <a:buNone/>
                      </a:pPr>
                      <a:r>
                        <a:rPr sz="950" b="0">
                          <a:solidFill>
                            <a:srgbClr val="1C2430"/>
                          </a:solidFill>
                          <a:latin typeface="Segoe UI"/>
                        </a:rPr>
                        <a:t>Plan de tierras y apantallamiento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Punto de estrella, conexión de mallas y separación de canalizaciones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Malla a tierra en ambos extremos con abrazadera de 360°</a:t>
                      </a:r>
                    </a:p>
                  </a:txBody>
                  <a:tcPr marL="82296" marR="82296" marT="27432" marB="27432" anchor="ctr">
                    <a:solidFill>
                      <a:srgbClr val="FFFFFF"/>
                    </a:solidFill>
                  </a:tcPr>
                </a:tc>
              </a:tr>
              <a:tr h="642692">
                <a:tc>
                  <a:txBody>
                    <a:bodyPr wrap="square"/>
                    <a:lstStyle/>
                    <a:p>
                      <a:pPr algn="l">
                        <a:lnSpc>
                          <a:spcPct val="100000"/>
                        </a:lnSpc>
                        <a:buNone/>
                      </a:pPr>
                      <a:r>
                        <a:rPr sz="950" b="0">
                          <a:solidFill>
                            <a:srgbClr val="1C2430"/>
                          </a:solidFill>
                          <a:latin typeface="Segoe UI"/>
                        </a:rPr>
                        <a:t>Arquitectura de control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Elección de interfaz (bus o analógica/pulsos) con justificación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Debe satisfacer el requisito de diagnóstico remoto</a:t>
                      </a:r>
                    </a:p>
                  </a:txBody>
                  <a:tcPr marL="82296" marR="82296" marT="27432" marB="27432" anchor="ctr">
                    <a:solidFill>
                      <a:srgbClr val="F2F5F8"/>
                    </a:solidFill>
                  </a:tcPr>
                </a:tc>
              </a:tr>
              <a:tr h="642692">
                <a:tc>
                  <a:txBody>
                    <a:bodyPr wrap="square"/>
                    <a:lstStyle/>
                    <a:p>
                      <a:pPr algn="l">
                        <a:lnSpc>
                          <a:spcPct val="100000"/>
                        </a:lnSpc>
                        <a:buNone/>
                      </a:pPr>
                      <a:r>
                        <a:rPr sz="950" b="0">
                          <a:solidFill>
                            <a:srgbClr val="1C2430"/>
                          </a:solidFill>
                          <a:latin typeface="Segoe UI"/>
                        </a:rPr>
                        <a:t>Esquema de </a:t>
                      </a:r>
                      <a:r>
                        <a:rPr sz="950" b="0">
                          <a:solidFill>
                            <a:srgbClr val="1C2430"/>
                          </a:solidFill>
                          <a:latin typeface="Consolas"/>
                        </a:rPr>
                        <a:t>CN1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Señales de entrada y salida elegidas y su asignación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Incluye </a:t>
                      </a:r>
                      <a:r>
                        <a:rPr sz="950" b="0">
                          <a:solidFill>
                            <a:srgbClr val="1C2430"/>
                          </a:solidFill>
                          <a:latin typeface="Consolas"/>
                        </a:rPr>
                        <a:t>ALM</a:t>
                      </a:r>
                      <a:r>
                        <a:rPr sz="950" b="0">
                          <a:solidFill>
                            <a:srgbClr val="1C2430"/>
                          </a:solidFill>
                          <a:latin typeface="Segoe UI"/>
                        </a:rPr>
                        <a:t>, </a:t>
                      </a:r>
                      <a:r>
                        <a:rPr sz="950" b="0">
                          <a:solidFill>
                            <a:srgbClr val="1C2430"/>
                          </a:solidFill>
                          <a:latin typeface="Consolas"/>
                        </a:rPr>
                        <a:t>/COIN</a:t>
                      </a:r>
                      <a:r>
                        <a:rPr sz="950" b="0">
                          <a:solidFill>
                            <a:srgbClr val="1C2430"/>
                          </a:solidFill>
                          <a:latin typeface="Segoe UI"/>
                        </a:rPr>
                        <a:t>, </a:t>
                      </a:r>
                      <a:r>
                        <a:rPr sz="950" b="0">
                          <a:solidFill>
                            <a:srgbClr val="1C2430"/>
                          </a:solidFill>
                          <a:latin typeface="Consolas"/>
                        </a:rPr>
                        <a:t>/S-RDY</a:t>
                      </a:r>
                      <a:r>
                        <a:rPr sz="950" b="0">
                          <a:solidFill>
                            <a:srgbClr val="1C2430"/>
                          </a:solidFill>
                          <a:latin typeface="Segoe UI"/>
                        </a:rPr>
                        <a:t> y finales de carrera</a:t>
                      </a:r>
                    </a:p>
                  </a:txBody>
                  <a:tcPr marL="82296" marR="82296" marT="27432" marB="27432" anchor="ctr">
                    <a:solidFill>
                      <a:srgbClr val="FFFFFF"/>
                    </a:solidFill>
                  </a:tcPr>
                </a:tc>
              </a:tr>
              <a:tr h="642692">
                <a:tc>
                  <a:txBody>
                    <a:bodyPr wrap="square"/>
                    <a:lstStyle/>
                    <a:p>
                      <a:pPr algn="l">
                        <a:lnSpc>
                          <a:spcPct val="100000"/>
                        </a:lnSpc>
                        <a:buNone/>
                      </a:pPr>
                      <a:r>
                        <a:rPr sz="950" b="0">
                          <a:solidFill>
                            <a:srgbClr val="1C2430"/>
                          </a:solidFill>
                          <a:latin typeface="Segoe UI"/>
                        </a:rPr>
                        <a:t>Cadena de seguridad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Cableado de </a:t>
                      </a:r>
                      <a:r>
                        <a:rPr sz="950" b="0">
                          <a:solidFill>
                            <a:srgbClr val="1C2430"/>
                          </a:solidFill>
                          <a:latin typeface="Consolas"/>
                        </a:rPr>
                        <a:t>CN8</a:t>
                      </a:r>
                      <a:r>
                        <a:rPr sz="950" b="0">
                          <a:solidFill>
                            <a:srgbClr val="1C2430"/>
                          </a:solidFill>
                          <a:latin typeface="Segoe UI"/>
                        </a:rPr>
                        <a:t>, módulo de seguridad y vigilancia EDM</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Dos canales independientes y EDM conectada</a:t>
                      </a:r>
                    </a:p>
                  </a:txBody>
                  <a:tcPr marL="82296" marR="82296" marT="27432" marB="27432" anchor="ctr">
                    <a:solidFill>
                      <a:srgbClr val="F2F5F8"/>
                    </a:solidFill>
                  </a:tcPr>
                </a:tc>
              </a:tr>
              <a:tr h="642692">
                <a:tc>
                  <a:txBody>
                    <a:bodyPr wrap="square"/>
                    <a:lstStyle/>
                    <a:p>
                      <a:pPr algn="l">
                        <a:lnSpc>
                          <a:spcPct val="100000"/>
                        </a:lnSpc>
                        <a:buNone/>
                      </a:pPr>
                      <a:r>
                        <a:rPr sz="950" b="0">
                          <a:solidFill>
                            <a:srgbClr val="1C2430"/>
                          </a:solidFill>
                          <a:latin typeface="Segoe UI"/>
                        </a:rPr>
                        <a:t>Balance térmico del armario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Pérdidas estimadas y medio de evacuación de calor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Considera el escenario de verano en nave sin climatizar</a:t>
                      </a:r>
                    </a:p>
                  </a:txBody>
                  <a:tcPr marL="82296" marR="82296" marT="27432" marB="27432" anchor="ctr">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Entregable 3 — Hoja de parámetros del eje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los Módulos 07 y 09</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114</a:t>
            </a:r>
          </a:p>
        </p:txBody>
      </p:sp>
      <p:graphicFrame>
        <p:nvGraphicFramePr>
          <p:cNvPr id="9" name="Table 8"/>
          <p:cNvGraphicFramePr>
            <a:graphicFrameLocks noGrp="1"/>
          </p:cNvGraphicFramePr>
          <p:nvPr/>
        </p:nvGraphicFramePr>
        <p:xfrm>
          <a:off x="566928" y="1481328"/>
          <a:ext cx="11057838" cy="4462272"/>
        </p:xfrm>
        <a:graphic>
          <a:graphicData uri="http://schemas.openxmlformats.org/drawingml/2006/table">
            <a:tbl>
              <a:tblPr firstRow="1">
                <a:tableStyleId>{5C22544A-7EE6-4342-B048-85BDC9FD1C3A}</a:tableStyleId>
              </a:tblPr>
              <a:tblGrid>
                <a:gridCol w="2924387"/>
                <a:gridCol w="3381322"/>
                <a:gridCol w="4752129"/>
              </a:tblGrid>
              <a:tr h="347472">
                <a:tc>
                  <a:txBody>
                    <a:bodyPr wrap="square"/>
                    <a:lstStyle/>
                    <a:p>
                      <a:pPr algn="l">
                        <a:lnSpc>
                          <a:spcPct val="100000"/>
                        </a:lnSpc>
                        <a:buNone/>
                      </a:pPr>
                      <a:r>
                        <a:rPr sz="950" b="1">
                          <a:solidFill>
                            <a:srgbClr val="FFFFFF"/>
                          </a:solidFill>
                          <a:latin typeface="Segoe UI"/>
                        </a:rPr>
                        <a:t>Parámetro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Valor propuesto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Justificación exigida</a:t>
                      </a:r>
                    </a:p>
                  </a:txBody>
                  <a:tcPr marL="82296" marR="82296" marT="27432" marB="27432" anchor="ctr">
                    <a:solidFill>
                      <a:srgbClr val="0B2545"/>
                    </a:solidFill>
                  </a:tcPr>
                </a:tc>
              </a:tr>
              <a:tr h="411480">
                <a:tc>
                  <a:txBody>
                    <a:bodyPr wrap="square"/>
                    <a:lstStyle/>
                    <a:p>
                      <a:pPr algn="l">
                        <a:lnSpc>
                          <a:spcPct val="100000"/>
                        </a:lnSpc>
                        <a:buNone/>
                      </a:pPr>
                      <a:r>
                        <a:rPr sz="950" b="0">
                          <a:solidFill>
                            <a:srgbClr val="1C2430"/>
                          </a:solidFill>
                          <a:latin typeface="Consolas"/>
                        </a:rPr>
                        <a:t>Pn000.0</a:t>
                      </a:r>
                      <a:r>
                        <a:rPr sz="950" b="0">
                          <a:solidFill>
                            <a:srgbClr val="1C2430"/>
                          </a:solidFill>
                          <a:latin typeface="Segoe UI"/>
                        </a:rPr>
                        <a:t> sentido de giro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determinar en la puesta en marcha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Coherente con el sentido positivo definido en el plano</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Pn000.1</a:t>
                      </a:r>
                      <a:r>
                        <a:rPr sz="950" b="0">
                          <a:solidFill>
                            <a:srgbClr val="1C2430"/>
                          </a:solidFill>
                          <a:latin typeface="Segoe UI"/>
                        </a:rPr>
                        <a:t> modo de control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Según la arquitectura elegida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Debe corresponder con la interfaz seleccionada</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Pn001.0</a:t>
                      </a:r>
                      <a:r>
                        <a:rPr sz="950" b="0">
                          <a:solidFill>
                            <a:srgbClr val="1C2430"/>
                          </a:solidFill>
                          <a:latin typeface="Segoe UI"/>
                        </a:rPr>
                        <a:t> método de parada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justificar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Eje horizontal: valorar freno dinámico frente a rampa</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 / </a:t>
                      </a:r>
                      <a:r>
                        <a:rPr sz="950" b="0">
                          <a:solidFill>
                            <a:srgbClr val="1C2430"/>
                          </a:solidFill>
                          <a:latin typeface="Consolas"/>
                        </a:rPr>
                        <a:t>Pn210</a:t>
                      </a:r>
                      <a:r>
                        <a:rPr sz="950" b="0">
                          <a:solidFill>
                            <a:srgbClr val="1C2430"/>
                          </a:solidFill>
                          <a:latin typeface="Segoe UI"/>
                        </a:rPr>
                        <a:t> engranaje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Calculado para 1 µm por unidad</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Cálculo completo y fracción simplificada</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Pn522</a:t>
                      </a:r>
                      <a:r>
                        <a:rPr sz="950" b="0">
                          <a:solidFill>
                            <a:srgbClr val="1C2430"/>
                          </a:solidFill>
                          <a:latin typeface="Segoe UI"/>
                        </a:rPr>
                        <a:t> ventana de posicionado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A determinar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Coherente con la repetibilidad exigida de ±0,05 mm</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Pn520</a:t>
                      </a:r>
                      <a:r>
                        <a:rPr sz="950" b="0">
                          <a:solidFill>
                            <a:srgbClr val="1C2430"/>
                          </a:solidFill>
                          <a:latin typeface="Segoe UI"/>
                        </a:rPr>
                        <a:t> error de posición máximo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 determinar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Debe detener el eje antes de dañar la mecánica</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Pn103</a:t>
                      </a:r>
                      <a:r>
                        <a:rPr sz="950" b="0">
                          <a:solidFill>
                            <a:srgbClr val="1C2430"/>
                          </a:solidFill>
                          <a:latin typeface="Segoe UI"/>
                        </a:rPr>
                        <a:t> relación de inercias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Del cálculo, a confirmar con autoajuste</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Comparación entre valor calculado y medido</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Pn100</a:t>
                      </a:r>
                      <a:r>
                        <a:rPr sz="950" b="0">
                          <a:solidFill>
                            <a:srgbClr val="1C2430"/>
                          </a:solidFill>
                          <a:latin typeface="Segoe UI"/>
                        </a:rPr>
                        <a:t> / </a:t>
                      </a:r>
                      <a:r>
                        <a:rPr sz="950" b="0">
                          <a:solidFill>
                            <a:srgbClr val="1C2430"/>
                          </a:solidFill>
                          <a:latin typeface="Consolas"/>
                        </a:rPr>
                        <a:t>Pn101</a:t>
                      </a:r>
                      <a:r>
                        <a:rPr sz="950" b="0">
                          <a:solidFill>
                            <a:srgbClr val="1C2430"/>
                          </a:solidFill>
                          <a:latin typeface="Segoe UI"/>
                        </a:rPr>
                        <a:t> / </a:t>
                      </a:r>
                      <a:r>
                        <a:rPr sz="950" b="0">
                          <a:solidFill>
                            <a:srgbClr val="1C2430"/>
                          </a:solidFill>
                          <a:latin typeface="Consolas"/>
                        </a:rPr>
                        <a:t>Pn102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Resultado del autoajuste y afinado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Capturas de traza antes y después</a:t>
                      </a:r>
                    </a:p>
                  </a:txBody>
                  <a:tcPr marL="82296" marR="82296" marT="27432" marB="27432" anchor="ctr">
                    <a:solidFill>
                      <a:srgbClr val="F2F5F8"/>
                    </a:solidFill>
                  </a:tcPr>
                </a:tc>
              </a:tr>
              <a:tr h="411480">
                <a:tc>
                  <a:txBody>
                    <a:bodyPr wrap="square"/>
                    <a:lstStyle/>
                    <a:p>
                      <a:pPr algn="l">
                        <a:lnSpc>
                          <a:spcPct val="100000"/>
                        </a:lnSpc>
                        <a:buNone/>
                      </a:pPr>
                      <a:r>
                        <a:rPr sz="950" b="0">
                          <a:solidFill>
                            <a:srgbClr val="1C2430"/>
                          </a:solidFill>
                          <a:latin typeface="Consolas"/>
                        </a:rPr>
                        <a:t>Pn600</a:t>
                      </a:r>
                      <a:r>
                        <a:rPr sz="950" b="0">
                          <a:solidFill>
                            <a:srgbClr val="1C2430"/>
                          </a:solidFill>
                          <a:latin typeface="Segoe UI"/>
                        </a:rPr>
                        <a:t> capacidad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Según la decisión del entregable 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Coherente con la resistencia instalada</a:t>
                      </a:r>
                    </a:p>
                  </a:txBody>
                  <a:tcPr marL="82296" marR="82296" marT="27432" marB="27432" anchor="ctr">
                    <a:solidFill>
                      <a:srgbClr val="FFFFFF"/>
                    </a:solidFill>
                  </a:tcPr>
                </a:tc>
              </a:tr>
              <a:tr h="411480">
                <a:tc>
                  <a:txBody>
                    <a:bodyPr wrap="square"/>
                    <a:lstStyle/>
                    <a:p>
                      <a:pPr algn="l">
                        <a:lnSpc>
                          <a:spcPct val="100000"/>
                        </a:lnSpc>
                        <a:buNone/>
                      </a:pPr>
                      <a:r>
                        <a:rPr sz="950" b="0">
                          <a:solidFill>
                            <a:srgbClr val="1C2430"/>
                          </a:solidFill>
                          <a:latin typeface="Consolas"/>
                        </a:rPr>
                        <a:t>Pn304</a:t>
                      </a:r>
                      <a:r>
                        <a:rPr sz="950" b="0">
                          <a:solidFill>
                            <a:srgbClr val="1C2430"/>
                          </a:solidFill>
                          <a:latin typeface="Segoe UI"/>
                        </a:rPr>
                        <a:t> velocidad de JOG</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50-100 rpm</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Velocidad segura para las primeras pruebas</a:t>
                      </a:r>
                    </a:p>
                  </a:txBody>
                  <a:tcPr marL="82296" marR="82296" marT="27432" marB="27432" anchor="ctr">
                    <a:solidFill>
                      <a:srgbClr val="F2F5F8"/>
                    </a:solidFill>
                  </a:tcPr>
                </a:tc>
              </a:tr>
            </a:tbl>
          </a:graphicData>
        </a:graphic>
      </p:graphicFrame>
      <p:sp>
        <p:nvSpPr>
          <p:cNvPr id="10" name="TextBox 9"/>
          <p:cNvSpPr txBox="1"/>
          <p:nvPr/>
        </p:nvSpPr>
        <p:spPr>
          <a:xfrm>
            <a:off x="566928" y="6035040"/>
            <a:ext cx="11057839" cy="274320"/>
          </a:xfrm>
          <a:prstGeom prst="rect">
            <a:avLst/>
          </a:prstGeom>
          <a:noFill/>
        </p:spPr>
        <p:txBody>
          <a:bodyPr wrap="square" lIns="0" rIns="0" tIns="0" bIns="0" anchor="t">
            <a:spAutoFit/>
          </a:bodyPr>
          <a:lstStyle/>
          <a:p>
            <a:pPr algn="l">
              <a:lnSpc>
                <a:spcPct val="100000"/>
              </a:lnSpc>
              <a:buNone/>
            </a:pPr>
            <a:r>
              <a:rPr sz="1000" b="0">
                <a:solidFill>
                  <a:srgbClr val="5A6B7B"/>
                </a:solidFill>
                <a:latin typeface="Segoe UI"/>
              </a:rPr>
              <a:t>Entrega además el fichero exportado de SigmaWin+ (o la tabla completa de parámetros modificados respecto a fábrica).</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487" b="1">
                <a:solidFill>
                  <a:srgbClr val="FFFFFF"/>
                </a:solidFill>
                <a:latin typeface="Segoe UI Semibold"/>
              </a:rPr>
              <a:t>Entregable 4 — Plan de puesta en marcha y aceptación</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Al terminar los Módulos 08 y 11</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115</a:t>
            </a:r>
          </a:p>
        </p:txBody>
      </p:sp>
      <p:sp>
        <p:nvSpPr>
          <p:cNvPr id="9" name="Rectangle 8"/>
          <p:cNvSpPr/>
          <p:nvPr/>
        </p:nvSpPr>
        <p:spPr>
          <a:xfrm>
            <a:off x="566928" y="148132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148132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1</a:t>
            </a:r>
          </a:p>
        </p:txBody>
      </p:sp>
      <p:sp>
        <p:nvSpPr>
          <p:cNvPr id="12" name="TextBox 11"/>
          <p:cNvSpPr txBox="1"/>
          <p:nvPr/>
        </p:nvSpPr>
        <p:spPr>
          <a:xfrm>
            <a:off x="1435608" y="157276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Procedimiento por fases</a:t>
            </a:r>
          </a:p>
        </p:txBody>
      </p:sp>
      <p:sp>
        <p:nvSpPr>
          <p:cNvPr id="13" name="TextBox 12"/>
          <p:cNvSpPr txBox="1"/>
          <p:nvPr/>
        </p:nvSpPr>
        <p:spPr>
          <a:xfrm>
            <a:off x="1435608" y="178181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Las seis fases del Módulo 08 adaptadas a esta máquina, con responsables y comprobaciones concretas en cada una.</a:t>
            </a:r>
          </a:p>
        </p:txBody>
      </p:sp>
      <p:sp>
        <p:nvSpPr>
          <p:cNvPr id="14" name="Rectangle 13"/>
          <p:cNvSpPr/>
          <p:nvPr/>
        </p:nvSpPr>
        <p:spPr>
          <a:xfrm>
            <a:off x="566928" y="2147316"/>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66928" y="2147316"/>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6928" y="2147316"/>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2</a:t>
            </a:r>
          </a:p>
        </p:txBody>
      </p:sp>
      <p:sp>
        <p:nvSpPr>
          <p:cNvPr id="17" name="TextBox 16"/>
          <p:cNvSpPr txBox="1"/>
          <p:nvPr/>
        </p:nvSpPr>
        <p:spPr>
          <a:xfrm>
            <a:off x="1435608" y="2238756"/>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Lista de verificación previa firmada</a:t>
            </a:r>
          </a:p>
        </p:txBody>
      </p:sp>
      <p:sp>
        <p:nvSpPr>
          <p:cNvPr id="18" name="TextBox 17"/>
          <p:cNvSpPr txBox="1"/>
          <p:nvPr/>
        </p:nvSpPr>
        <p:spPr>
          <a:xfrm>
            <a:off x="1435608" y="2447798"/>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La del Módulo 05, adaptada al armario y a la mecánica de la estación.</a:t>
            </a:r>
          </a:p>
        </p:txBody>
      </p:sp>
      <p:sp>
        <p:nvSpPr>
          <p:cNvPr id="19" name="Rectangle 18"/>
          <p:cNvSpPr/>
          <p:nvPr/>
        </p:nvSpPr>
        <p:spPr>
          <a:xfrm>
            <a:off x="566928" y="2813304"/>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2813304"/>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66928" y="2813304"/>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3</a:t>
            </a:r>
          </a:p>
        </p:txBody>
      </p:sp>
      <p:sp>
        <p:nvSpPr>
          <p:cNvPr id="22" name="TextBox 21"/>
          <p:cNvSpPr txBox="1"/>
          <p:nvPr/>
        </p:nvSpPr>
        <p:spPr>
          <a:xfrm>
            <a:off x="1435608" y="2904744"/>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Protocolo de pruebas de seguridad</a:t>
            </a:r>
          </a:p>
        </p:txBody>
      </p:sp>
      <p:sp>
        <p:nvSpPr>
          <p:cNvPr id="23" name="TextBox 22"/>
          <p:cNvSpPr txBox="1"/>
          <p:nvPr/>
        </p:nvSpPr>
        <p:spPr>
          <a:xfrm>
            <a:off x="1435608" y="3113786"/>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Finales de carrera, HWBB con vigilancia EDM y medida del tiempo real de parada del eje.</a:t>
            </a:r>
          </a:p>
        </p:txBody>
      </p:sp>
      <p:sp>
        <p:nvSpPr>
          <p:cNvPr id="24" name="Rectangle 23"/>
          <p:cNvSpPr/>
          <p:nvPr/>
        </p:nvSpPr>
        <p:spPr>
          <a:xfrm>
            <a:off x="566928" y="3479292"/>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6928" y="3479292"/>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66928" y="3479292"/>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4</a:t>
            </a:r>
          </a:p>
        </p:txBody>
      </p:sp>
      <p:sp>
        <p:nvSpPr>
          <p:cNvPr id="27" name="TextBox 26"/>
          <p:cNvSpPr txBox="1"/>
          <p:nvPr/>
        </p:nvSpPr>
        <p:spPr>
          <a:xfrm>
            <a:off x="1435608" y="3570732"/>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Criterios de aceptación medibles</a:t>
            </a:r>
          </a:p>
        </p:txBody>
      </p:sp>
      <p:sp>
        <p:nvSpPr>
          <p:cNvPr id="28" name="TextBox 27"/>
          <p:cNvSpPr txBox="1"/>
          <p:nvPr/>
        </p:nvSpPr>
        <p:spPr>
          <a:xfrm>
            <a:off x="1435608" y="3779774"/>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Tiempo de ciclo ≤ 2,5 s · repetibilidad ≤ ±0,05 mm · par RMS ≤ 80 % del nominal · temperatura estabilizada tras dos horas de producción.</a:t>
            </a:r>
          </a:p>
        </p:txBody>
      </p:sp>
      <p:sp>
        <p:nvSpPr>
          <p:cNvPr id="29" name="Rectangle 28"/>
          <p:cNvSpPr/>
          <p:nvPr/>
        </p:nvSpPr>
        <p:spPr>
          <a:xfrm>
            <a:off x="566928" y="4145280"/>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66928" y="4145280"/>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6928" y="4145280"/>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5</a:t>
            </a:r>
          </a:p>
        </p:txBody>
      </p:sp>
      <p:sp>
        <p:nvSpPr>
          <p:cNvPr id="32" name="TextBox 31"/>
          <p:cNvSpPr txBox="1"/>
          <p:nvPr/>
        </p:nvSpPr>
        <p:spPr>
          <a:xfrm>
            <a:off x="1435608" y="4236720"/>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Registro de resultados</a:t>
            </a:r>
          </a:p>
        </p:txBody>
      </p:sp>
      <p:sp>
        <p:nvSpPr>
          <p:cNvPr id="33" name="TextBox 32"/>
          <p:cNvSpPr txBox="1"/>
          <p:nvPr/>
        </p:nvSpPr>
        <p:spPr>
          <a:xfrm>
            <a:off x="1435608" y="4445762"/>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Trazas de SigmaWin+ del ciclo real, valores de </a:t>
            </a:r>
            <a:r>
              <a:rPr sz="900" b="0">
                <a:solidFill>
                  <a:srgbClr val="3A4654"/>
                </a:solidFill>
                <a:latin typeface="Consolas"/>
              </a:rPr>
              <a:t>Un002</a:t>
            </a:r>
            <a:r>
              <a:rPr sz="900" b="0">
                <a:solidFill>
                  <a:srgbClr val="3A4654"/>
                </a:solidFill>
                <a:latin typeface="Segoe UI"/>
              </a:rPr>
              <a:t> y </a:t>
            </a:r>
            <a:r>
              <a:rPr sz="900" b="0">
                <a:solidFill>
                  <a:srgbClr val="3A4654"/>
                </a:solidFill>
                <a:latin typeface="Consolas"/>
              </a:rPr>
              <a:t>Un008</a:t>
            </a:r>
            <a:r>
              <a:rPr sz="900" b="0">
                <a:solidFill>
                  <a:srgbClr val="3A4654"/>
                </a:solidFill>
                <a:latin typeface="Segoe UI"/>
              </a:rPr>
              <a:t>, y temperaturas medidas.</a:t>
            </a:r>
          </a:p>
        </p:txBody>
      </p:sp>
      <p:sp>
        <p:nvSpPr>
          <p:cNvPr id="34" name="Rectangle 33"/>
          <p:cNvSpPr/>
          <p:nvPr/>
        </p:nvSpPr>
        <p:spPr>
          <a:xfrm>
            <a:off x="566928" y="4811268"/>
            <a:ext cx="11057839" cy="556260"/>
          </a:xfrm>
          <a:prstGeom prst="rect">
            <a:avLst/>
          </a:prstGeom>
          <a:solidFill>
            <a:srgbClr val="F2F5F8"/>
          </a:solidFill>
          <a:ln w="9525">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66928" y="4811268"/>
            <a:ext cx="658368" cy="55626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66928" y="4811268"/>
            <a:ext cx="658368" cy="556260"/>
          </a:xfrm>
          <a:prstGeom prst="rect">
            <a:avLst/>
          </a:prstGeom>
          <a:noFill/>
        </p:spPr>
        <p:txBody>
          <a:bodyPr wrap="square" lIns="0" rIns="0" tIns="0" bIns="0" anchor="ctr">
            <a:spAutoFit/>
          </a:bodyPr>
          <a:lstStyle/>
          <a:p>
            <a:pPr algn="ctr">
              <a:lnSpc>
                <a:spcPct val="100000"/>
              </a:lnSpc>
              <a:buNone/>
            </a:pPr>
            <a:r>
              <a:rPr sz="1700" b="1">
                <a:solidFill>
                  <a:srgbClr val="00A9CE"/>
                </a:solidFill>
                <a:latin typeface="Segoe UI Semibold"/>
              </a:rPr>
              <a:t>6</a:t>
            </a:r>
          </a:p>
        </p:txBody>
      </p:sp>
      <p:sp>
        <p:nvSpPr>
          <p:cNvPr id="37" name="TextBox 36"/>
          <p:cNvSpPr txBox="1"/>
          <p:nvPr/>
        </p:nvSpPr>
        <p:spPr>
          <a:xfrm>
            <a:off x="1435608" y="4902708"/>
            <a:ext cx="9869119" cy="274320"/>
          </a:xfrm>
          <a:prstGeom prst="rect">
            <a:avLst/>
          </a:prstGeom>
          <a:noFill/>
        </p:spPr>
        <p:txBody>
          <a:bodyPr wrap="square" lIns="0" rIns="0" tIns="0" bIns="0" anchor="t">
            <a:spAutoFit/>
          </a:bodyPr>
          <a:lstStyle/>
          <a:p>
            <a:pPr algn="l">
              <a:lnSpc>
                <a:spcPct val="100000"/>
              </a:lnSpc>
              <a:buNone/>
            </a:pPr>
            <a:r>
              <a:rPr sz="1100" b="1">
                <a:solidFill>
                  <a:srgbClr val="0B2545"/>
                </a:solidFill>
                <a:latin typeface="Segoe UI Semibold"/>
              </a:rPr>
              <a:t>Documentación de entrega</a:t>
            </a:r>
          </a:p>
        </p:txBody>
      </p:sp>
      <p:sp>
        <p:nvSpPr>
          <p:cNvPr id="38" name="TextBox 37"/>
          <p:cNvSpPr txBox="1"/>
          <p:nvPr/>
        </p:nvSpPr>
        <p:spPr>
          <a:xfrm>
            <a:off x="1435608" y="5111750"/>
            <a:ext cx="9869119" cy="255778"/>
          </a:xfrm>
          <a:prstGeom prst="rect">
            <a:avLst/>
          </a:prstGeom>
          <a:noFill/>
        </p:spPr>
        <p:txBody>
          <a:bodyPr wrap="square" lIns="0" rIns="0" tIns="0" bIns="0" anchor="t">
            <a:spAutoFit/>
          </a:bodyPr>
          <a:lstStyle/>
          <a:p>
            <a:pPr algn="l">
              <a:lnSpc>
                <a:spcPct val="105000"/>
              </a:lnSpc>
              <a:buNone/>
            </a:pPr>
            <a:r>
              <a:rPr sz="900" b="0">
                <a:solidFill>
                  <a:srgbClr val="3A4654"/>
                </a:solidFill>
                <a:latin typeface="Segoe UI"/>
              </a:rPr>
              <a:t>Acta del eje, ficheros de parámetros, esquemas actualizados y plan de mantenimiento preventivo.</a:t>
            </a:r>
          </a:p>
        </p:txBody>
      </p:sp>
      <p:sp>
        <p:nvSpPr>
          <p:cNvPr id="39" name="Rectangle 38"/>
          <p:cNvSpPr/>
          <p:nvPr/>
        </p:nvSpPr>
        <p:spPr>
          <a:xfrm>
            <a:off x="566928" y="5504688"/>
            <a:ext cx="11057839" cy="822960"/>
          </a:xfrm>
          <a:prstGeom prst="rect">
            <a:avLst/>
          </a:prstGeom>
          <a:solidFill>
            <a:srgbClr val="E4EEF7"/>
          </a:solidFill>
          <a:ln w="9525">
            <a:solidFill>
              <a:srgbClr val="1B5E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566928" y="5504688"/>
            <a:ext cx="68580" cy="822960"/>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41248" y="5641848"/>
            <a:ext cx="10554919" cy="256032"/>
          </a:xfrm>
          <a:prstGeom prst="rect">
            <a:avLst/>
          </a:prstGeom>
          <a:noFill/>
        </p:spPr>
        <p:txBody>
          <a:bodyPr wrap="square" lIns="0" rIns="0" tIns="0" bIns="0" anchor="t">
            <a:spAutoFit/>
          </a:bodyPr>
          <a:lstStyle/>
          <a:p>
            <a:pPr algn="l">
              <a:lnSpc>
                <a:spcPct val="100000"/>
              </a:lnSpc>
              <a:buNone/>
            </a:pPr>
            <a:r>
              <a:rPr sz="1200" b="1">
                <a:solidFill>
                  <a:srgbClr val="1B5EA8"/>
                </a:solidFill>
                <a:latin typeface="Segoe UI Semibold"/>
              </a:rPr>
              <a:t>Qué se valora en la defensa del proyecto</a:t>
            </a:r>
          </a:p>
        </p:txBody>
      </p:sp>
      <p:sp>
        <p:nvSpPr>
          <p:cNvPr id="42" name="TextBox 41"/>
          <p:cNvSpPr txBox="1"/>
          <p:nvPr/>
        </p:nvSpPr>
        <p:spPr>
          <a:xfrm>
            <a:off x="841248" y="5916168"/>
            <a:ext cx="10554919" cy="32004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No la elegancia del documento, sino la </a:t>
            </a:r>
            <a:r>
              <a:rPr sz="1150" b="1">
                <a:solidFill>
                  <a:srgbClr val="2B3644"/>
                </a:solidFill>
                <a:latin typeface="Segoe UI"/>
              </a:rPr>
              <a:t>trazabilidad del razonamiento</a:t>
            </a:r>
            <a:r>
              <a:rPr sz="1150" b="0">
                <a:solidFill>
                  <a:srgbClr val="2B3644"/>
                </a:solidFill>
                <a:latin typeface="Segoe UI"/>
              </a:rPr>
              <a:t>: que cada decisión pueda justificarse con un dato, un cálculo o un requisito del enunciado.</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Rúbrica de evaluación del proyecto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Transparencia en la evaluación desde el primer día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12</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116</a:t>
            </a:r>
          </a:p>
        </p:txBody>
      </p:sp>
      <p:graphicFrame>
        <p:nvGraphicFramePr>
          <p:cNvPr id="9" name="Table 8"/>
          <p:cNvGraphicFramePr>
            <a:graphicFrameLocks noGrp="1"/>
          </p:cNvGraphicFramePr>
          <p:nvPr/>
        </p:nvGraphicFramePr>
        <p:xfrm>
          <a:off x="566928" y="1481328"/>
          <a:ext cx="11057837" cy="4846320"/>
        </p:xfrm>
        <a:graphic>
          <a:graphicData uri="http://schemas.openxmlformats.org/drawingml/2006/table">
            <a:tbl>
              <a:tblPr firstRow="1">
                <a:tableStyleId>{5C22544A-7EE6-4342-B048-85BDC9FD1C3A}</a:tableStyleId>
              </a:tblPr>
              <a:tblGrid>
                <a:gridCol w="2741612"/>
                <a:gridCol w="1096645"/>
                <a:gridCol w="7219580"/>
              </a:tblGrid>
              <a:tr h="347472">
                <a:tc>
                  <a:txBody>
                    <a:bodyPr wrap="square"/>
                    <a:lstStyle/>
                    <a:p>
                      <a:pPr algn="l">
                        <a:lnSpc>
                          <a:spcPct val="100000"/>
                        </a:lnSpc>
                        <a:buNone/>
                      </a:pPr>
                      <a:r>
                        <a:rPr sz="1050" b="1">
                          <a:solidFill>
                            <a:srgbClr val="FFFFFF"/>
                          </a:solidFill>
                          <a:latin typeface="Segoe UI"/>
                        </a:rPr>
                        <a:t>Criterio</a:t>
                      </a:r>
                    </a:p>
                  </a:txBody>
                  <a:tcPr marL="82296" marR="82296" marT="27432" marB="27432" anchor="ctr">
                    <a:solidFill>
                      <a:srgbClr val="0B2545"/>
                    </a:solidFill>
                  </a:tcPr>
                </a:tc>
                <a:tc>
                  <a:txBody>
                    <a:bodyPr wrap="square"/>
                    <a:lstStyle/>
                    <a:p>
                      <a:pPr algn="ctr">
                        <a:lnSpc>
                          <a:spcPct val="100000"/>
                        </a:lnSpc>
                        <a:buNone/>
                      </a:pPr>
                      <a:r>
                        <a:rPr sz="1050" b="1">
                          <a:solidFill>
                            <a:srgbClr val="FFFFFF"/>
                          </a:solidFill>
                          <a:latin typeface="Segoe UI"/>
                        </a:rPr>
                        <a:t>Peso</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Qué se espera de un trabajo excelente</a:t>
                      </a:r>
                    </a:p>
                  </a:txBody>
                  <a:tcPr marL="82296" marR="82296" marT="27432" marB="27432" anchor="ctr">
                    <a:solidFill>
                      <a:srgbClr val="0B2545"/>
                    </a:solidFill>
                  </a:tcPr>
                </a:tc>
              </a:tr>
              <a:tr h="749808">
                <a:tc>
                  <a:txBody>
                    <a:bodyPr wrap="square"/>
                    <a:lstStyle/>
                    <a:p>
                      <a:pPr algn="l">
                        <a:lnSpc>
                          <a:spcPct val="100000"/>
                        </a:lnSpc>
                        <a:buNone/>
                      </a:pPr>
                      <a:r>
                        <a:rPr sz="1050" b="0">
                          <a:solidFill>
                            <a:srgbClr val="1C2430"/>
                          </a:solidFill>
                          <a:latin typeface="Segoe UI"/>
                        </a:rPr>
                        <a:t>Dimensionamiento</a:t>
                      </a:r>
                    </a:p>
                  </a:txBody>
                  <a:tcPr marL="82296" marR="82296" marT="27432" marB="27432" anchor="ctr">
                    <a:solidFill>
                      <a:srgbClr val="FFFFFF"/>
                    </a:solidFill>
                  </a:tcPr>
                </a:tc>
                <a:tc>
                  <a:txBody>
                    <a:bodyPr wrap="square"/>
                    <a:lstStyle/>
                    <a:p>
                      <a:pPr algn="ctr">
                        <a:lnSpc>
                          <a:spcPct val="100000"/>
                        </a:lnSpc>
                        <a:buNone/>
                      </a:pPr>
                      <a:r>
                        <a:rPr sz="1050" b="0">
                          <a:solidFill>
                            <a:srgbClr val="1C2430"/>
                          </a:solidFill>
                          <a:latin typeface="Segoe UI"/>
                        </a:rPr>
                        <a:t>25 %</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Cálculo completo, hipótesis explícitas, márgenes justificados y alternativa valorada</a:t>
                      </a:r>
                    </a:p>
                  </a:txBody>
                  <a:tcPr marL="82296" marR="82296" marT="27432" marB="27432" anchor="ctr">
                    <a:solidFill>
                      <a:srgbClr val="FFFFFF"/>
                    </a:solidFill>
                  </a:tcPr>
                </a:tc>
              </a:tr>
              <a:tr h="749808">
                <a:tc>
                  <a:txBody>
                    <a:bodyPr wrap="square"/>
                    <a:lstStyle/>
                    <a:p>
                      <a:pPr algn="l">
                        <a:lnSpc>
                          <a:spcPct val="100000"/>
                        </a:lnSpc>
                        <a:buNone/>
                      </a:pPr>
                      <a:r>
                        <a:rPr sz="1050" b="0">
                          <a:solidFill>
                            <a:srgbClr val="1C2430"/>
                          </a:solidFill>
                          <a:latin typeface="Segoe UI"/>
                        </a:rPr>
                        <a:t>Arquitectura eléctrica</a:t>
                      </a:r>
                    </a:p>
                  </a:txBody>
                  <a:tcPr marL="82296" marR="82296" marT="27432" marB="27432" anchor="ctr">
                    <a:solidFill>
                      <a:srgbClr val="F2F5F8"/>
                    </a:solidFill>
                  </a:tcPr>
                </a:tc>
                <a:tc>
                  <a:txBody>
                    <a:bodyPr wrap="square"/>
                    <a:lstStyle/>
                    <a:p>
                      <a:pPr algn="ctr">
                        <a:lnSpc>
                          <a:spcPct val="100000"/>
                        </a:lnSpc>
                        <a:buNone/>
                      </a:pPr>
                      <a:r>
                        <a:rPr sz="1050" b="0">
                          <a:solidFill>
                            <a:srgbClr val="1C2430"/>
                          </a:solidFill>
                          <a:latin typeface="Segoe UI"/>
                        </a:rPr>
                        <a:t>20 %</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Esquema coherente, protecciones dimensionadas, EMC y tierras correctamente resueltas</a:t>
                      </a:r>
                    </a:p>
                  </a:txBody>
                  <a:tcPr marL="82296" marR="82296" marT="27432" marB="27432" anchor="ctr">
                    <a:solidFill>
                      <a:srgbClr val="F2F5F8"/>
                    </a:solidFill>
                  </a:tcPr>
                </a:tc>
              </a:tr>
              <a:tr h="749808">
                <a:tc>
                  <a:txBody>
                    <a:bodyPr wrap="square"/>
                    <a:lstStyle/>
                    <a:p>
                      <a:pPr algn="l">
                        <a:lnSpc>
                          <a:spcPct val="100000"/>
                        </a:lnSpc>
                        <a:buNone/>
                      </a:pPr>
                      <a:r>
                        <a:rPr sz="1050" b="0">
                          <a:solidFill>
                            <a:srgbClr val="1C2430"/>
                          </a:solidFill>
                          <a:latin typeface="Segoe UI"/>
                        </a:rPr>
                        <a:t>Configuración y parámetros</a:t>
                      </a:r>
                    </a:p>
                  </a:txBody>
                  <a:tcPr marL="82296" marR="82296" marT="27432" marB="27432" anchor="ctr">
                    <a:solidFill>
                      <a:srgbClr val="FFFFFF"/>
                    </a:solidFill>
                  </a:tcPr>
                </a:tc>
                <a:tc>
                  <a:txBody>
                    <a:bodyPr wrap="square"/>
                    <a:lstStyle/>
                    <a:p>
                      <a:pPr algn="ctr">
                        <a:lnSpc>
                          <a:spcPct val="100000"/>
                        </a:lnSpc>
                        <a:buNone/>
                      </a:pPr>
                      <a:r>
                        <a:rPr sz="1050" b="0">
                          <a:solidFill>
                            <a:srgbClr val="1C2430"/>
                          </a:solidFill>
                          <a:latin typeface="Segoe UI"/>
                        </a:rPr>
                        <a:t>20 %</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Engranaje electrónico verificado, asignación de E/S documentada, sintonización razonada con trazas</a:t>
                      </a:r>
                    </a:p>
                  </a:txBody>
                  <a:tcPr marL="82296" marR="82296" marT="27432" marB="27432" anchor="ctr">
                    <a:solidFill>
                      <a:srgbClr val="FFFFFF"/>
                    </a:solidFill>
                  </a:tcPr>
                </a:tc>
              </a:tr>
              <a:tr h="749808">
                <a:tc>
                  <a:txBody>
                    <a:bodyPr wrap="square"/>
                    <a:lstStyle/>
                    <a:p>
                      <a:pPr algn="l">
                        <a:lnSpc>
                          <a:spcPct val="100000"/>
                        </a:lnSpc>
                        <a:buNone/>
                      </a:pPr>
                      <a:r>
                        <a:rPr sz="1050" b="0">
                          <a:solidFill>
                            <a:srgbClr val="1C2430"/>
                          </a:solidFill>
                          <a:latin typeface="Segoe UI"/>
                        </a:rPr>
                        <a:t>Seguridad</a:t>
                      </a:r>
                    </a:p>
                  </a:txBody>
                  <a:tcPr marL="82296" marR="82296" marT="27432" marB="27432" anchor="ctr">
                    <a:solidFill>
                      <a:srgbClr val="F2F5F8"/>
                    </a:solidFill>
                  </a:tcPr>
                </a:tc>
                <a:tc>
                  <a:txBody>
                    <a:bodyPr wrap="square"/>
                    <a:lstStyle/>
                    <a:p>
                      <a:pPr algn="ctr">
                        <a:lnSpc>
                          <a:spcPct val="100000"/>
                        </a:lnSpc>
                        <a:buNone/>
                      </a:pPr>
                      <a:r>
                        <a:rPr sz="1050" b="0">
                          <a:solidFill>
                            <a:srgbClr val="1C2430"/>
                          </a:solidFill>
                          <a:latin typeface="Segoe UI"/>
                        </a:rPr>
                        <a:t>15 %</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HWBB correctamente integrado y validado; análisis de las limitaciones de STO en esta máquina</a:t>
                      </a:r>
                    </a:p>
                  </a:txBody>
                  <a:tcPr marL="82296" marR="82296" marT="27432" marB="27432" anchor="ctr">
                    <a:solidFill>
                      <a:srgbClr val="F2F5F8"/>
                    </a:solidFill>
                  </a:tcPr>
                </a:tc>
              </a:tr>
              <a:tr h="749808">
                <a:tc>
                  <a:txBody>
                    <a:bodyPr wrap="square"/>
                    <a:lstStyle/>
                    <a:p>
                      <a:pPr algn="l">
                        <a:lnSpc>
                          <a:spcPct val="100000"/>
                        </a:lnSpc>
                        <a:buNone/>
                      </a:pPr>
                      <a:r>
                        <a:rPr sz="1050" b="0">
                          <a:solidFill>
                            <a:srgbClr val="1C2430"/>
                          </a:solidFill>
                          <a:latin typeface="Segoe UI"/>
                        </a:rPr>
                        <a:t>Puesta en marcha y aceptación</a:t>
                      </a:r>
                    </a:p>
                  </a:txBody>
                  <a:tcPr marL="82296" marR="82296" marT="27432" marB="27432" anchor="ctr">
                    <a:solidFill>
                      <a:srgbClr val="FFFFFF"/>
                    </a:solidFill>
                  </a:tcPr>
                </a:tc>
                <a:tc>
                  <a:txBody>
                    <a:bodyPr wrap="square"/>
                    <a:lstStyle/>
                    <a:p>
                      <a:pPr algn="ctr">
                        <a:lnSpc>
                          <a:spcPct val="100000"/>
                        </a:lnSpc>
                        <a:buNone/>
                      </a:pPr>
                      <a:r>
                        <a:rPr sz="1050" b="0">
                          <a:solidFill>
                            <a:srgbClr val="1C2430"/>
                          </a:solidFill>
                          <a:latin typeface="Segoe UI"/>
                        </a:rPr>
                        <a:t>10 %</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Procedimiento por fases con criterios medibles y registro de resultados</a:t>
                      </a:r>
                    </a:p>
                  </a:txBody>
                  <a:tcPr marL="82296" marR="82296" marT="27432" marB="27432" anchor="ctr">
                    <a:solidFill>
                      <a:srgbClr val="FFFFFF"/>
                    </a:solidFill>
                  </a:tcPr>
                </a:tc>
              </a:tr>
              <a:tr h="749808">
                <a:tc>
                  <a:txBody>
                    <a:bodyPr wrap="square"/>
                    <a:lstStyle/>
                    <a:p>
                      <a:pPr algn="l">
                        <a:lnSpc>
                          <a:spcPct val="100000"/>
                        </a:lnSpc>
                        <a:buNone/>
                      </a:pPr>
                      <a:r>
                        <a:rPr sz="1050" b="0">
                          <a:solidFill>
                            <a:srgbClr val="1C2430"/>
                          </a:solidFill>
                          <a:latin typeface="Segoe UI"/>
                        </a:rPr>
                        <a:t>Documentación y defensa</a:t>
                      </a:r>
                    </a:p>
                  </a:txBody>
                  <a:tcPr marL="82296" marR="82296" marT="27432" marB="27432" anchor="ctr">
                    <a:solidFill>
                      <a:srgbClr val="F2F5F8"/>
                    </a:solidFill>
                  </a:tcPr>
                </a:tc>
                <a:tc>
                  <a:txBody>
                    <a:bodyPr wrap="square"/>
                    <a:lstStyle/>
                    <a:p>
                      <a:pPr algn="ctr">
                        <a:lnSpc>
                          <a:spcPct val="100000"/>
                        </a:lnSpc>
                        <a:buNone/>
                      </a:pPr>
                      <a:r>
                        <a:rPr sz="1050" b="0">
                          <a:solidFill>
                            <a:srgbClr val="1C2430"/>
                          </a:solidFill>
                          <a:latin typeface="Segoe UI"/>
                        </a:rPr>
                        <a:t>10 %</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Trazabilidad de las decisiones y claridad al explicarlas</a:t>
                      </a:r>
                    </a:p>
                  </a:txBody>
                  <a:tcPr marL="82296" marR="82296" marT="27432" marB="27432" anchor="ctr">
                    <a:solidFill>
                      <a:srgbClr val="F2F5F8"/>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51560" y="1234440"/>
            <a:ext cx="5486400" cy="1097280"/>
          </a:xfrm>
          <a:prstGeom prst="rect">
            <a:avLst/>
          </a:prstGeom>
          <a:noFill/>
        </p:spPr>
        <p:txBody>
          <a:bodyPr wrap="square" lIns="0" rIns="0" tIns="0" bIns="0" anchor="t">
            <a:spAutoFit/>
          </a:bodyPr>
          <a:lstStyle/>
          <a:p>
            <a:pPr algn="l">
              <a:lnSpc>
                <a:spcPct val="100000"/>
              </a:lnSpc>
              <a:buNone/>
            </a:pPr>
            <a:r>
              <a:rPr sz="5800" b="1">
                <a:solidFill>
                  <a:srgbClr val="143A63"/>
                </a:solidFill>
                <a:latin typeface="Segoe UI Semibold"/>
              </a:rPr>
              <a:t>MÓDULO 13</a:t>
            </a:r>
          </a:p>
        </p:txBody>
      </p:sp>
      <p:sp>
        <p:nvSpPr>
          <p:cNvPr id="5" name="TextBox 4"/>
          <p:cNvSpPr txBox="1"/>
          <p:nvPr/>
        </p:nvSpPr>
        <p:spPr>
          <a:xfrm>
            <a:off x="1051560" y="2331720"/>
            <a:ext cx="9875520" cy="1188720"/>
          </a:xfrm>
          <a:prstGeom prst="rect">
            <a:avLst/>
          </a:prstGeom>
          <a:noFill/>
        </p:spPr>
        <p:txBody>
          <a:bodyPr wrap="square" lIns="0" rIns="0" tIns="0" bIns="0" anchor="t">
            <a:spAutoFit/>
          </a:bodyPr>
          <a:lstStyle/>
          <a:p>
            <a:pPr algn="l">
              <a:lnSpc>
                <a:spcPct val="105000"/>
              </a:lnSpc>
              <a:buNone/>
            </a:pPr>
            <a:r>
              <a:rPr sz="3400" b="1">
                <a:solidFill>
                  <a:srgbClr val="FFFFFF"/>
                </a:solidFill>
                <a:latin typeface="Segoe UI Semibold"/>
              </a:rPr>
              <a:t>Anexos, evaluación y recursos</a:t>
            </a:r>
          </a:p>
        </p:txBody>
      </p:sp>
      <p:sp>
        <p:nvSpPr>
          <p:cNvPr id="6" name="Rectangle 5"/>
          <p:cNvSpPr/>
          <p:nvPr/>
        </p:nvSpPr>
        <p:spPr>
          <a:xfrm>
            <a:off x="1051560" y="3703320"/>
            <a:ext cx="1280160" cy="4572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51560" y="414680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325880" y="406908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Fichas de consulta rápida: parámetros, alarmas y fórmulas</a:t>
            </a:r>
          </a:p>
        </p:txBody>
      </p:sp>
      <p:sp>
        <p:nvSpPr>
          <p:cNvPr id="9" name="Rectangle 8"/>
          <p:cNvSpPr/>
          <p:nvPr/>
        </p:nvSpPr>
        <p:spPr>
          <a:xfrm>
            <a:off x="1051560" y="451256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25880" y="443484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Listas de verificación imprimibles</a:t>
            </a:r>
          </a:p>
        </p:txBody>
      </p:sp>
      <p:sp>
        <p:nvSpPr>
          <p:cNvPr id="11" name="Rectangle 10"/>
          <p:cNvSpPr/>
          <p:nvPr/>
        </p:nvSpPr>
        <p:spPr>
          <a:xfrm>
            <a:off x="1051560" y="487832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25880" y="480060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Glosario completo</a:t>
            </a:r>
          </a:p>
        </p:txBody>
      </p:sp>
      <p:sp>
        <p:nvSpPr>
          <p:cNvPr id="13" name="Rectangle 12"/>
          <p:cNvSpPr/>
          <p:nvPr/>
        </p:nvSpPr>
        <p:spPr>
          <a:xfrm>
            <a:off x="1051560" y="524408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25880" y="516636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Autoevaluación con respuestas comentadas</a:t>
            </a:r>
          </a:p>
        </p:txBody>
      </p:sp>
      <p:sp>
        <p:nvSpPr>
          <p:cNvPr id="15" name="Rectangle 14"/>
          <p:cNvSpPr/>
          <p:nvPr/>
        </p:nvSpPr>
        <p:spPr>
          <a:xfrm>
            <a:off x="1051560" y="5609844"/>
            <a:ext cx="91440" cy="91440"/>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25880" y="5532120"/>
            <a:ext cx="9326880" cy="292608"/>
          </a:xfrm>
          <a:prstGeom prst="rect">
            <a:avLst/>
          </a:prstGeom>
          <a:noFill/>
        </p:spPr>
        <p:txBody>
          <a:bodyPr wrap="square" lIns="0" rIns="0" tIns="0" bIns="0" anchor="t">
            <a:spAutoFit/>
          </a:bodyPr>
          <a:lstStyle/>
          <a:p>
            <a:pPr algn="l">
              <a:lnSpc>
                <a:spcPct val="100000"/>
              </a:lnSpc>
              <a:buNone/>
            </a:pPr>
            <a:r>
              <a:rPr sz="1350" b="0">
                <a:solidFill>
                  <a:srgbClr val="C9DCEE"/>
                </a:solidFill>
                <a:latin typeface="Segoe UI"/>
              </a:rPr>
              <a:t>Itinerario de aprendizaje y recursos oficiales</a:t>
            </a:r>
          </a:p>
        </p:txBody>
      </p:sp>
      <p:sp>
        <p:nvSpPr>
          <p:cNvPr id="17" name="TextBox 16"/>
          <p:cNvSpPr txBox="1"/>
          <p:nvPr/>
        </p:nvSpPr>
        <p:spPr>
          <a:xfrm>
            <a:off x="1051560" y="6172200"/>
            <a:ext cx="7315200" cy="274320"/>
          </a:xfrm>
          <a:prstGeom prst="rect">
            <a:avLst/>
          </a:prstGeom>
          <a:noFill/>
        </p:spPr>
        <p:txBody>
          <a:bodyPr wrap="square" lIns="0" rIns="0" tIns="0" bIns="0" anchor="t">
            <a:spAutoFit/>
          </a:bodyPr>
          <a:lstStyle/>
          <a:p>
            <a:pPr algn="l">
              <a:lnSpc>
                <a:spcPct val="100000"/>
              </a:lnSpc>
              <a:buNone/>
            </a:pPr>
            <a:r>
              <a:rPr sz="1100" b="1">
                <a:solidFill>
                  <a:srgbClr val="E89B1F"/>
                </a:solidFill>
                <a:latin typeface="Segoe UI"/>
              </a:rPr>
              <a:t>Duración orientativa: 2 h</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rápida — Fórmulas de dimensionamiento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Todo el Módulo 04 en una hoja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118</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3133054"/>
                <a:gridCol w="4238838"/>
                <a:gridCol w="3685946"/>
              </a:tblGrid>
              <a:tr h="347472">
                <a:tc>
                  <a:txBody>
                    <a:bodyPr wrap="square"/>
                    <a:lstStyle/>
                    <a:p>
                      <a:pPr algn="l">
                        <a:lnSpc>
                          <a:spcPct val="100000"/>
                        </a:lnSpc>
                        <a:buNone/>
                      </a:pPr>
                      <a:r>
                        <a:rPr sz="950" b="1">
                          <a:solidFill>
                            <a:srgbClr val="FFFFFF"/>
                          </a:solidFill>
                          <a:latin typeface="Segoe UI"/>
                        </a:rPr>
                        <a:t>Magnitud</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Fórmula</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Unidades y notas</a:t>
                      </a:r>
                    </a:p>
                  </a:txBody>
                  <a:tcPr marL="82296" marR="82296" marT="27432" marB="27432" anchor="ctr">
                    <a:solidFill>
                      <a:srgbClr val="0B2545"/>
                    </a:solidFill>
                  </a:tcPr>
                </a:tc>
              </a:tr>
              <a:tr h="374904">
                <a:tc>
                  <a:txBody>
                    <a:bodyPr wrap="square"/>
                    <a:lstStyle/>
                    <a:p>
                      <a:pPr algn="l">
                        <a:lnSpc>
                          <a:spcPct val="100000"/>
                        </a:lnSpc>
                        <a:buNone/>
                      </a:pPr>
                      <a:r>
                        <a:rPr sz="950" b="0">
                          <a:solidFill>
                            <a:srgbClr val="1C2430"/>
                          </a:solidFill>
                          <a:latin typeface="Segoe UI"/>
                        </a:rPr>
                        <a:t>Par nominal a partir de la potencia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9,55 × P[kW] / n[krpm]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N·m — comprobación mental instantánea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Velocidad angular</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ω = 2π · n / 60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rad/s — n en rpm</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Aceleración angular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α = Δω / Δt</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rad/s²</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Par de aceleración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J · α</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N·m — J en kg·m² referido al motor</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Inercia de masa con husillo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 = m · (p / 2π)²</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kg·m² — p en m/vuelta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Inercia de cilindro macizo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J = ½ · m · r²  con  m = ρ·π·r²·L</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kg·m² — ρ(acero) = 7.850 kg/m³</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Inercia a través de reducción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J_reflejada = J_carga / i²</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El efecto i² es la clave del diseño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Par de fricción (husillo)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 = μ·m·g·p / (2π·η)</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N·m — incluye el rendimiento</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Par de gravedad (eje vertical)</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m·g·p / (2π·η)</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N·m — presente también en reposo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Par eficaz del ciclo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T_rms = √[ Σ(Tᵢ²·tᵢ) / T_ciclo ]</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N·m — incluye los tiempos de parada</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Segoe UI"/>
                        </a:rPr>
                        <a:t>Energía cinética a frenar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 = ½ · J_total · ω²</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 — base del cálculo de regeneración</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Segoe UI"/>
                        </a:rPr>
                        <a:t>Engranaje electrónico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B/A = (resolución × relación) / (unidades por vuelta de carga)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 / </a:t>
                      </a:r>
                      <a:r>
                        <a:rPr sz="950" b="0">
                          <a:solidFill>
                            <a:srgbClr val="1C2430"/>
                          </a:solidFill>
                          <a:latin typeface="Consolas"/>
                        </a:rPr>
                        <a:t>Pn210</a:t>
                      </a:r>
                    </a:p>
                  </a:txBody>
                  <a:tcPr marL="82296" marR="82296" marT="27432" marB="27432" anchor="ctr">
                    <a:solidFill>
                      <a:srgbClr val="F2F5F8"/>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rápida — Parámetros, funciones y monitores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Chuleta de referencia (verifica siempre contra el manual de tu modelo)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119</a:t>
            </a:r>
          </a:p>
        </p:txBody>
      </p:sp>
      <p:graphicFrame>
        <p:nvGraphicFramePr>
          <p:cNvPr id="9" name="Table 8"/>
          <p:cNvGraphicFramePr>
            <a:graphicFrameLocks noGrp="1"/>
          </p:cNvGraphicFramePr>
          <p:nvPr/>
        </p:nvGraphicFramePr>
        <p:xfrm>
          <a:off x="566928" y="1481328"/>
          <a:ext cx="11057838" cy="4846312"/>
        </p:xfrm>
        <a:graphic>
          <a:graphicData uri="http://schemas.openxmlformats.org/drawingml/2006/table">
            <a:tbl>
              <a:tblPr firstRow="1">
                <a:tableStyleId>{5C22544A-7EE6-4342-B048-85BDC9FD1C3A}</a:tableStyleId>
              </a:tblPr>
              <a:tblGrid>
                <a:gridCol w="2193290"/>
                <a:gridCol w="8864548"/>
              </a:tblGrid>
              <a:tr h="347472">
                <a:tc>
                  <a:txBody>
                    <a:bodyPr wrap="square"/>
                    <a:lstStyle/>
                    <a:p>
                      <a:pPr algn="l">
                        <a:lnSpc>
                          <a:spcPct val="100000"/>
                        </a:lnSpc>
                        <a:buNone/>
                      </a:pPr>
                      <a:r>
                        <a:rPr sz="950" b="1">
                          <a:solidFill>
                            <a:srgbClr val="FFFFFF"/>
                          </a:solidFill>
                          <a:latin typeface="Segoe UI"/>
                        </a:rPr>
                        <a:t>Grupo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Referencias clave</a:t>
                      </a:r>
                    </a:p>
                  </a:txBody>
                  <a:tcPr marL="82296" marR="82296" marT="27432" marB="27432" anchor="ctr">
                    <a:solidFill>
                      <a:srgbClr val="0B2545"/>
                    </a:solidFill>
                  </a:tcPr>
                </a:tc>
              </a:tr>
              <a:tr h="449884">
                <a:tc>
                  <a:txBody>
                    <a:bodyPr wrap="square"/>
                    <a:lstStyle/>
                    <a:p>
                      <a:pPr algn="l">
                        <a:lnSpc>
                          <a:spcPct val="100000"/>
                        </a:lnSpc>
                        <a:buNone/>
                      </a:pPr>
                      <a:r>
                        <a:rPr sz="950" b="0">
                          <a:solidFill>
                            <a:srgbClr val="1C2430"/>
                          </a:solidFill>
                          <a:latin typeface="Segoe UI"/>
                        </a:rPr>
                        <a:t>Configuración básica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Pn000.0</a:t>
                      </a:r>
                      <a:r>
                        <a:rPr sz="950" b="0">
                          <a:solidFill>
                            <a:srgbClr val="1C2430"/>
                          </a:solidFill>
                          <a:latin typeface="Segoe UI"/>
                        </a:rPr>
                        <a:t> sentido de giro · </a:t>
                      </a:r>
                      <a:r>
                        <a:rPr sz="950" b="0">
                          <a:solidFill>
                            <a:srgbClr val="1C2430"/>
                          </a:solidFill>
                          <a:latin typeface="Consolas"/>
                        </a:rPr>
                        <a:t>Pn000.1</a:t>
                      </a:r>
                      <a:r>
                        <a:rPr sz="950" b="0">
                          <a:solidFill>
                            <a:srgbClr val="1C2430"/>
                          </a:solidFill>
                          <a:latin typeface="Segoe UI"/>
                        </a:rPr>
                        <a:t> modo de control · </a:t>
                      </a:r>
                      <a:r>
                        <a:rPr sz="950" b="0">
                          <a:solidFill>
                            <a:srgbClr val="1C2430"/>
                          </a:solidFill>
                          <a:latin typeface="Consolas"/>
                        </a:rPr>
                        <a:t>Pn001.0</a:t>
                      </a:r>
                      <a:r>
                        <a:rPr sz="950" b="0">
                          <a:solidFill>
                            <a:srgbClr val="1C2430"/>
                          </a:solidFill>
                          <a:latin typeface="Segoe UI"/>
                        </a:rPr>
                        <a:t> método de parada</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Posición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Pn20E</a:t>
                      </a:r>
                      <a:r>
                        <a:rPr sz="950" b="0">
                          <a:solidFill>
                            <a:srgbClr val="1C2430"/>
                          </a:solidFill>
                          <a:latin typeface="Segoe UI"/>
                        </a:rPr>
                        <a:t>/</a:t>
                      </a:r>
                      <a:r>
                        <a:rPr sz="950" b="0">
                          <a:solidFill>
                            <a:srgbClr val="1C2430"/>
                          </a:solidFill>
                          <a:latin typeface="Consolas"/>
                        </a:rPr>
                        <a:t>Pn210</a:t>
                      </a:r>
                      <a:r>
                        <a:rPr sz="950" b="0">
                          <a:solidFill>
                            <a:srgbClr val="1C2430"/>
                          </a:solidFill>
                          <a:latin typeface="Segoe UI"/>
                        </a:rPr>
                        <a:t> engranaje electrónico · </a:t>
                      </a:r>
                      <a:r>
                        <a:rPr sz="950" b="0">
                          <a:solidFill>
                            <a:srgbClr val="1C2430"/>
                          </a:solidFill>
                          <a:latin typeface="Consolas"/>
                        </a:rPr>
                        <a:t>Pn200.0</a:t>
                      </a:r>
                      <a:r>
                        <a:rPr sz="950" b="0">
                          <a:solidFill>
                            <a:srgbClr val="1C2430"/>
                          </a:solidFill>
                          <a:latin typeface="Segoe UI"/>
                        </a:rPr>
                        <a:t> formato de pulsos · </a:t>
                      </a:r>
                      <a:r>
                        <a:rPr sz="950" b="0">
                          <a:solidFill>
                            <a:srgbClr val="1C2430"/>
                          </a:solidFill>
                          <a:latin typeface="Consolas"/>
                        </a:rPr>
                        <a:t>Pn212</a:t>
                      </a:r>
                      <a:r>
                        <a:rPr sz="950" b="0">
                          <a:solidFill>
                            <a:srgbClr val="1C2430"/>
                          </a:solidFill>
                          <a:latin typeface="Segoe UI"/>
                        </a:rPr>
                        <a:t> salida de encoder · </a:t>
                      </a:r>
                      <a:r>
                        <a:rPr sz="950" b="0">
                          <a:solidFill>
                            <a:srgbClr val="1C2430"/>
                          </a:solidFill>
                          <a:latin typeface="Consolas"/>
                        </a:rPr>
                        <a:t>Pn522</a:t>
                      </a:r>
                      <a:r>
                        <a:rPr sz="950" b="0">
                          <a:solidFill>
                            <a:srgbClr val="1C2430"/>
                          </a:solidFill>
                          <a:latin typeface="Segoe UI"/>
                        </a:rPr>
                        <a:t> ventana de posicionado · </a:t>
                      </a:r>
                      <a:r>
                        <a:rPr sz="950" b="0">
                          <a:solidFill>
                            <a:srgbClr val="1C2430"/>
                          </a:solidFill>
                          <a:latin typeface="Consolas"/>
                        </a:rPr>
                        <a:t>Pn520</a:t>
                      </a:r>
                      <a:r>
                        <a:rPr sz="950" b="0">
                          <a:solidFill>
                            <a:srgbClr val="1C2430"/>
                          </a:solidFill>
                          <a:latin typeface="Segoe UI"/>
                        </a:rPr>
                        <a:t> error máximo</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Velocidad y par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Pn300</a:t>
                      </a:r>
                      <a:r>
                        <a:rPr sz="950" b="0">
                          <a:solidFill>
                            <a:srgbClr val="1C2430"/>
                          </a:solidFill>
                          <a:latin typeface="Segoe UI"/>
                        </a:rPr>
                        <a:t> escala de consigna de velocidad · </a:t>
                      </a:r>
                      <a:r>
                        <a:rPr sz="950" b="0">
                          <a:solidFill>
                            <a:srgbClr val="1C2430"/>
                          </a:solidFill>
                          <a:latin typeface="Consolas"/>
                        </a:rPr>
                        <a:t>Pn400</a:t>
                      </a:r>
                      <a:r>
                        <a:rPr sz="950" b="0">
                          <a:solidFill>
                            <a:srgbClr val="1C2430"/>
                          </a:solidFill>
                          <a:latin typeface="Segoe UI"/>
                        </a:rPr>
                        <a:t> escala de consigna de par · </a:t>
                      </a:r>
                      <a:r>
                        <a:rPr sz="950" b="0">
                          <a:solidFill>
                            <a:srgbClr val="1C2430"/>
                          </a:solidFill>
                          <a:latin typeface="Consolas"/>
                        </a:rPr>
                        <a:t>Pn502</a:t>
                      </a:r>
                      <a:r>
                        <a:rPr sz="950" b="0">
                          <a:solidFill>
                            <a:srgbClr val="1C2430"/>
                          </a:solidFill>
                          <a:latin typeface="Segoe UI"/>
                        </a:rPr>
                        <a:t> umbral de giro</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Sintonización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Pn103</a:t>
                      </a:r>
                      <a:r>
                        <a:rPr sz="950" b="0">
                          <a:solidFill>
                            <a:srgbClr val="1C2430"/>
                          </a:solidFill>
                          <a:latin typeface="Segoe UI"/>
                        </a:rPr>
                        <a:t> relación de inercias · </a:t>
                      </a:r>
                      <a:r>
                        <a:rPr sz="950" b="0">
                          <a:solidFill>
                            <a:srgbClr val="1C2430"/>
                          </a:solidFill>
                          <a:latin typeface="Consolas"/>
                        </a:rPr>
                        <a:t>Pn100</a:t>
                      </a:r>
                      <a:r>
                        <a:rPr sz="950" b="0">
                          <a:solidFill>
                            <a:srgbClr val="1C2430"/>
                          </a:solidFill>
                          <a:latin typeface="Segoe UI"/>
                        </a:rPr>
                        <a:t> ganancia de velocidad · </a:t>
                      </a:r>
                      <a:r>
                        <a:rPr sz="950" b="0">
                          <a:solidFill>
                            <a:srgbClr val="1C2430"/>
                          </a:solidFill>
                          <a:latin typeface="Consolas"/>
                        </a:rPr>
                        <a:t>Pn101</a:t>
                      </a:r>
                      <a:r>
                        <a:rPr sz="950" b="0">
                          <a:solidFill>
                            <a:srgbClr val="1C2430"/>
                          </a:solidFill>
                          <a:latin typeface="Segoe UI"/>
                        </a:rPr>
                        <a:t> integral · </a:t>
                      </a:r>
                      <a:r>
                        <a:rPr sz="950" b="0">
                          <a:solidFill>
                            <a:srgbClr val="1C2430"/>
                          </a:solidFill>
                          <a:latin typeface="Consolas"/>
                        </a:rPr>
                        <a:t>Pn102</a:t>
                      </a:r>
                      <a:r>
                        <a:rPr sz="950" b="0">
                          <a:solidFill>
                            <a:srgbClr val="1C2430"/>
                          </a:solidFill>
                          <a:latin typeface="Segoe UI"/>
                        </a:rPr>
                        <a:t> ganancia de posición · </a:t>
                      </a:r>
                      <a:r>
                        <a:rPr sz="950" b="0">
                          <a:solidFill>
                            <a:srgbClr val="1C2430"/>
                          </a:solidFill>
                          <a:latin typeface="Consolas"/>
                        </a:rPr>
                        <a:t>Pn401</a:t>
                      </a:r>
                      <a:r>
                        <a:rPr sz="950" b="0">
                          <a:solidFill>
                            <a:srgbClr val="1C2430"/>
                          </a:solidFill>
                          <a:latin typeface="Segoe UI"/>
                        </a:rPr>
                        <a:t> filtro de par · </a:t>
                      </a:r>
                      <a:r>
                        <a:rPr sz="950" b="0">
                          <a:solidFill>
                            <a:srgbClr val="1C2430"/>
                          </a:solidFill>
                          <a:latin typeface="Consolas"/>
                        </a:rPr>
                        <a:t>Pn170</a:t>
                      </a:r>
                      <a:r>
                        <a:rPr sz="950" b="0">
                          <a:solidFill>
                            <a:srgbClr val="1C2430"/>
                          </a:solidFill>
                          <a:latin typeface="Segoe UI"/>
                        </a:rPr>
                        <a:t> tuning-less</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Filtros y vibración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Pn408</a:t>
                      </a:r>
                      <a:r>
                        <a:rPr sz="950" b="0">
                          <a:solidFill>
                            <a:srgbClr val="1C2430"/>
                          </a:solidFill>
                          <a:latin typeface="Segoe UI"/>
                        </a:rPr>
                        <a:t> habilitación · </a:t>
                      </a:r>
                      <a:r>
                        <a:rPr sz="950" b="0">
                          <a:solidFill>
                            <a:srgbClr val="1C2430"/>
                          </a:solidFill>
                          <a:latin typeface="Consolas"/>
                        </a:rPr>
                        <a:t>Pn409</a:t>
                      </a:r>
                      <a:r>
                        <a:rPr sz="950" b="0">
                          <a:solidFill>
                            <a:srgbClr val="1C2430"/>
                          </a:solidFill>
                          <a:latin typeface="Segoe UI"/>
                        </a:rPr>
                        <a:t>/</a:t>
                      </a:r>
                      <a:r>
                        <a:rPr sz="950" b="0">
                          <a:solidFill>
                            <a:srgbClr val="1C2430"/>
                          </a:solidFill>
                          <a:latin typeface="Consolas"/>
                        </a:rPr>
                        <a:t>Pn40A</a:t>
                      </a:r>
                      <a:r>
                        <a:rPr sz="950" b="0">
                          <a:solidFill>
                            <a:srgbClr val="1C2430"/>
                          </a:solidFill>
                          <a:latin typeface="Segoe UI"/>
                        </a:rPr>
                        <a:t>/</a:t>
                      </a:r>
                      <a:r>
                        <a:rPr sz="950" b="0">
                          <a:solidFill>
                            <a:srgbClr val="1C2430"/>
                          </a:solidFill>
                          <a:latin typeface="Consolas"/>
                        </a:rPr>
                        <a:t>Pn40B</a:t>
                      </a:r>
                      <a:r>
                        <a:rPr sz="950" b="0">
                          <a:solidFill>
                            <a:srgbClr val="1C2430"/>
                          </a:solidFill>
                          <a:latin typeface="Segoe UI"/>
                        </a:rPr>
                        <a:t> primer notch · </a:t>
                      </a:r>
                      <a:r>
                        <a:rPr sz="950" b="0">
                          <a:solidFill>
                            <a:srgbClr val="1C2430"/>
                          </a:solidFill>
                          <a:latin typeface="Consolas"/>
                        </a:rPr>
                        <a:t>Pn140</a:t>
                      </a:r>
                      <a:r>
                        <a:rPr sz="950" b="0">
                          <a:solidFill>
                            <a:srgbClr val="1C2430"/>
                          </a:solidFill>
                          <a:latin typeface="Segoe UI"/>
                        </a:rPr>
                        <a:t> control por modelo · </a:t>
                      </a:r>
                      <a:r>
                        <a:rPr sz="950" b="0">
                          <a:solidFill>
                            <a:srgbClr val="1C2430"/>
                          </a:solidFill>
                          <a:latin typeface="Consolas"/>
                        </a:rPr>
                        <a:t>Pn14A</a:t>
                      </a:r>
                      <a:r>
                        <a:rPr sz="950" b="0">
                          <a:solidFill>
                            <a:srgbClr val="1C2430"/>
                          </a:solidFill>
                          <a:latin typeface="Segoe UI"/>
                        </a:rPr>
                        <a:t> supresión de vibración</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Entradas y salidas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Pn50A</a:t>
                      </a:r>
                      <a:r>
                        <a:rPr sz="950" b="0">
                          <a:solidFill>
                            <a:srgbClr val="1C2430"/>
                          </a:solidFill>
                          <a:latin typeface="Segoe UI"/>
                        </a:rPr>
                        <a:t>/</a:t>
                      </a:r>
                      <a:r>
                        <a:rPr sz="950" b="0">
                          <a:solidFill>
                            <a:srgbClr val="1C2430"/>
                          </a:solidFill>
                          <a:latin typeface="Consolas"/>
                        </a:rPr>
                        <a:t>Pn50B</a:t>
                      </a:r>
                      <a:r>
                        <a:rPr sz="950" b="0">
                          <a:solidFill>
                            <a:srgbClr val="1C2430"/>
                          </a:solidFill>
                          <a:latin typeface="Segoe UI"/>
                        </a:rPr>
                        <a:t> entradas · </a:t>
                      </a:r>
                      <a:r>
                        <a:rPr sz="950" b="0">
                          <a:solidFill>
                            <a:srgbClr val="1C2430"/>
                          </a:solidFill>
                          <a:latin typeface="Consolas"/>
                        </a:rPr>
                        <a:t>Pn50E</a:t>
                      </a:r>
                      <a:r>
                        <a:rPr sz="950" b="0">
                          <a:solidFill>
                            <a:srgbClr val="1C2430"/>
                          </a:solidFill>
                          <a:latin typeface="Segoe UI"/>
                        </a:rPr>
                        <a:t>/</a:t>
                      </a:r>
                      <a:r>
                        <a:rPr sz="950" b="0">
                          <a:solidFill>
                            <a:srgbClr val="1C2430"/>
                          </a:solidFill>
                          <a:latin typeface="Consolas"/>
                        </a:rPr>
                        <a:t>Pn50F</a:t>
                      </a:r>
                      <a:r>
                        <a:rPr sz="950" b="0">
                          <a:solidFill>
                            <a:srgbClr val="1C2430"/>
                          </a:solidFill>
                          <a:latin typeface="Segoe UI"/>
                        </a:rPr>
                        <a:t>/</a:t>
                      </a:r>
                      <a:r>
                        <a:rPr sz="950" b="0">
                          <a:solidFill>
                            <a:srgbClr val="1C2430"/>
                          </a:solidFill>
                          <a:latin typeface="Consolas"/>
                        </a:rPr>
                        <a:t>Pn510</a:t>
                      </a:r>
                      <a:r>
                        <a:rPr sz="950" b="0">
                          <a:solidFill>
                            <a:srgbClr val="1C2430"/>
                          </a:solidFill>
                          <a:latin typeface="Segoe UI"/>
                        </a:rPr>
                        <a:t> salidas</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Freno y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Pn506</a:t>
                      </a:r>
                      <a:r>
                        <a:rPr sz="950" b="0">
                          <a:solidFill>
                            <a:srgbClr val="1C2430"/>
                          </a:solidFill>
                          <a:latin typeface="Segoe UI"/>
                        </a:rPr>
                        <a:t>/</a:t>
                      </a:r>
                      <a:r>
                        <a:rPr sz="950" b="0">
                          <a:solidFill>
                            <a:srgbClr val="1C2430"/>
                          </a:solidFill>
                          <a:latin typeface="Consolas"/>
                        </a:rPr>
                        <a:t>Pn507</a:t>
                      </a:r>
                      <a:r>
                        <a:rPr sz="950" b="0">
                          <a:solidFill>
                            <a:srgbClr val="1C2430"/>
                          </a:solidFill>
                          <a:latin typeface="Segoe UI"/>
                        </a:rPr>
                        <a:t>/</a:t>
                      </a:r>
                      <a:r>
                        <a:rPr sz="950" b="0">
                          <a:solidFill>
                            <a:srgbClr val="1C2430"/>
                          </a:solidFill>
                          <a:latin typeface="Consolas"/>
                        </a:rPr>
                        <a:t>Pn508</a:t>
                      </a:r>
                      <a:r>
                        <a:rPr sz="950" b="0">
                          <a:solidFill>
                            <a:srgbClr val="1C2430"/>
                          </a:solidFill>
                          <a:latin typeface="Segoe UI"/>
                        </a:rPr>
                        <a:t> temporización de freno · </a:t>
                      </a:r>
                      <a:r>
                        <a:rPr sz="950" b="0">
                          <a:solidFill>
                            <a:srgbClr val="1C2430"/>
                          </a:solidFill>
                          <a:latin typeface="Consolas"/>
                        </a:rPr>
                        <a:t>Pn600</a:t>
                      </a:r>
                      <a:r>
                        <a:rPr sz="950" b="0">
                          <a:solidFill>
                            <a:srgbClr val="1C2430"/>
                          </a:solidFill>
                          <a:latin typeface="Segoe UI"/>
                        </a:rPr>
                        <a:t> capacidad de regeneración</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Encoder absoluto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Fn008</a:t>
                      </a:r>
                      <a:r>
                        <a:rPr sz="950" b="0">
                          <a:solidFill>
                            <a:srgbClr val="1C2430"/>
                          </a:solidFill>
                          <a:latin typeface="Segoe UI"/>
                        </a:rPr>
                        <a:t> setup · </a:t>
                      </a:r>
                      <a:r>
                        <a:rPr sz="950" b="0">
                          <a:solidFill>
                            <a:srgbClr val="1C2430"/>
                          </a:solidFill>
                          <a:latin typeface="Consolas"/>
                        </a:rPr>
                        <a:t>Pn205</a:t>
                      </a:r>
                      <a:r>
                        <a:rPr sz="950" b="0">
                          <a:solidFill>
                            <a:srgbClr val="1C2430"/>
                          </a:solidFill>
                          <a:latin typeface="Segoe UI"/>
                        </a:rPr>
                        <a:t> límite multivuelta</a:t>
                      </a:r>
                    </a:p>
                  </a:txBody>
                  <a:tcPr marL="82296" marR="82296" marT="27432" marB="27432" anchor="ctr">
                    <a:solidFill>
                      <a:srgbClr val="F2F5F8"/>
                    </a:solidFill>
                  </a:tcPr>
                </a:tc>
              </a:tr>
              <a:tr h="449884">
                <a:tc>
                  <a:txBody>
                    <a:bodyPr wrap="square"/>
                    <a:lstStyle/>
                    <a:p>
                      <a:pPr algn="l">
                        <a:lnSpc>
                          <a:spcPct val="100000"/>
                        </a:lnSpc>
                        <a:buNone/>
                      </a:pPr>
                      <a:r>
                        <a:rPr sz="950" b="0">
                          <a:solidFill>
                            <a:srgbClr val="1C2430"/>
                          </a:solidFill>
                          <a:latin typeface="Segoe UI"/>
                        </a:rPr>
                        <a:t>Funciones de utilidad</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Fn000</a:t>
                      </a:r>
                      <a:r>
                        <a:rPr sz="950" b="0">
                          <a:solidFill>
                            <a:srgbClr val="1C2430"/>
                          </a:solidFill>
                          <a:latin typeface="Segoe UI"/>
                        </a:rPr>
                        <a:t> historial de alarmas · </a:t>
                      </a:r>
                      <a:r>
                        <a:rPr sz="950" b="0">
                          <a:solidFill>
                            <a:srgbClr val="1C2430"/>
                          </a:solidFill>
                          <a:latin typeface="Consolas"/>
                        </a:rPr>
                        <a:t>Fn002</a:t>
                      </a:r>
                      <a:r>
                        <a:rPr sz="950" b="0">
                          <a:solidFill>
                            <a:srgbClr val="1C2430"/>
                          </a:solidFill>
                          <a:latin typeface="Segoe UI"/>
                        </a:rPr>
                        <a:t> JOG · </a:t>
                      </a:r>
                      <a:r>
                        <a:rPr sz="950" b="0">
                          <a:solidFill>
                            <a:srgbClr val="1C2430"/>
                          </a:solidFill>
                          <a:latin typeface="Consolas"/>
                        </a:rPr>
                        <a:t>Fn004</a:t>
                      </a:r>
                      <a:r>
                        <a:rPr sz="950" b="0">
                          <a:solidFill>
                            <a:srgbClr val="1C2430"/>
                          </a:solidFill>
                          <a:latin typeface="Segoe UI"/>
                        </a:rPr>
                        <a:t> JOG programado · </a:t>
                      </a:r>
                      <a:r>
                        <a:rPr sz="950" b="0">
                          <a:solidFill>
                            <a:srgbClr val="1C2430"/>
                          </a:solidFill>
                          <a:latin typeface="Consolas"/>
                        </a:rPr>
                        <a:t>Fn005</a:t>
                      </a:r>
                      <a:r>
                        <a:rPr sz="950" b="0">
                          <a:solidFill>
                            <a:srgbClr val="1C2430"/>
                          </a:solidFill>
                          <a:latin typeface="Segoe UI"/>
                        </a:rPr>
                        <a:t> inicialización · </a:t>
                      </a:r>
                      <a:r>
                        <a:rPr sz="950" b="0">
                          <a:solidFill>
                            <a:srgbClr val="1C2430"/>
                          </a:solidFill>
                          <a:latin typeface="Consolas"/>
                        </a:rPr>
                        <a:t>Fn201</a:t>
                      </a:r>
                      <a:r>
                        <a:rPr sz="950" b="0">
                          <a:solidFill>
                            <a:srgbClr val="1C2430"/>
                          </a:solidFill>
                          <a:latin typeface="Segoe UI"/>
                        </a:rPr>
                        <a:t> autoajuste avanzado · </a:t>
                      </a:r>
                      <a:r>
                        <a:rPr sz="950" b="0">
                          <a:solidFill>
                            <a:srgbClr val="1C2430"/>
                          </a:solidFill>
                          <a:latin typeface="Consolas"/>
                        </a:rPr>
                        <a:t>Fn202</a:t>
                      </a:r>
                      <a:r>
                        <a:rPr sz="950" b="0">
                          <a:solidFill>
                            <a:srgbClr val="1C2430"/>
                          </a:solidFill>
                          <a:latin typeface="Segoe UI"/>
                        </a:rPr>
                        <a:t> autoajuste con referencia · </a:t>
                      </a:r>
                      <a:r>
                        <a:rPr sz="950" b="0">
                          <a:solidFill>
                            <a:srgbClr val="1C2430"/>
                          </a:solidFill>
                          <a:latin typeface="Consolas"/>
                        </a:rPr>
                        <a:t>Fn203</a:t>
                      </a:r>
                      <a:r>
                        <a:rPr sz="950" b="0">
                          <a:solidFill>
                            <a:srgbClr val="1C2430"/>
                          </a:solidFill>
                          <a:latin typeface="Segoe UI"/>
                        </a:rPr>
                        <a:t> ajuste de un parámetro · </a:t>
                      </a:r>
                      <a:r>
                        <a:rPr sz="950" b="0">
                          <a:solidFill>
                            <a:srgbClr val="1C2430"/>
                          </a:solidFill>
                          <a:latin typeface="Consolas"/>
                        </a:rPr>
                        <a:t>Fn205</a:t>
                      </a:r>
                      <a:r>
                        <a:rPr sz="950" b="0">
                          <a:solidFill>
                            <a:srgbClr val="1C2430"/>
                          </a:solidFill>
                          <a:latin typeface="Segoe UI"/>
                        </a:rPr>
                        <a:t> supresión de vibración · </a:t>
                      </a:r>
                      <a:r>
                        <a:rPr sz="950" b="0">
                          <a:solidFill>
                            <a:srgbClr val="1C2430"/>
                          </a:solidFill>
                          <a:latin typeface="Consolas"/>
                        </a:rPr>
                        <a:t>Fn206</a:t>
                      </a:r>
                      <a:r>
                        <a:rPr sz="950" b="0">
                          <a:solidFill>
                            <a:srgbClr val="1C2430"/>
                          </a:solidFill>
                          <a:latin typeface="Segoe UI"/>
                        </a:rPr>
                        <a:t> análisis en frecuencia</a:t>
                      </a:r>
                    </a:p>
                  </a:txBody>
                  <a:tcPr marL="82296" marR="82296" marT="27432" marB="27432" anchor="ctr">
                    <a:solidFill>
                      <a:srgbClr val="FFFFFF"/>
                    </a:solidFill>
                  </a:tcPr>
                </a:tc>
              </a:tr>
              <a:tr h="449884">
                <a:tc>
                  <a:txBody>
                    <a:bodyPr wrap="square"/>
                    <a:lstStyle/>
                    <a:p>
                      <a:pPr algn="l">
                        <a:lnSpc>
                          <a:spcPct val="100000"/>
                        </a:lnSpc>
                        <a:buNone/>
                      </a:pPr>
                      <a:r>
                        <a:rPr sz="950" b="0">
                          <a:solidFill>
                            <a:srgbClr val="1C2430"/>
                          </a:solidFill>
                          <a:latin typeface="Segoe UI"/>
                        </a:rPr>
                        <a:t>Monitores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Un000</a:t>
                      </a:r>
                      <a:r>
                        <a:rPr sz="950" b="0">
                          <a:solidFill>
                            <a:srgbClr val="1C2430"/>
                          </a:solidFill>
                          <a:latin typeface="Segoe UI"/>
                        </a:rPr>
                        <a:t> velocidad · </a:t>
                      </a:r>
                      <a:r>
                        <a:rPr sz="950" b="0">
                          <a:solidFill>
                            <a:srgbClr val="1C2430"/>
                          </a:solidFill>
                          <a:latin typeface="Consolas"/>
                        </a:rPr>
                        <a:t>Un002</a:t>
                      </a:r>
                      <a:r>
                        <a:rPr sz="950" b="0">
                          <a:solidFill>
                            <a:srgbClr val="1C2430"/>
                          </a:solidFill>
                          <a:latin typeface="Segoe UI"/>
                        </a:rPr>
                        <a:t> par · </a:t>
                      </a:r>
                      <a:r>
                        <a:rPr sz="950" b="0">
                          <a:solidFill>
                            <a:srgbClr val="1C2430"/>
                          </a:solidFill>
                          <a:latin typeface="Consolas"/>
                        </a:rPr>
                        <a:t>Un005</a:t>
                      </a:r>
                      <a:r>
                        <a:rPr sz="950" b="0">
                          <a:solidFill>
                            <a:srgbClr val="1C2430"/>
                          </a:solidFill>
                          <a:latin typeface="Segoe UI"/>
                        </a:rPr>
                        <a:t>/</a:t>
                      </a:r>
                      <a:r>
                        <a:rPr sz="950" b="0">
                          <a:solidFill>
                            <a:srgbClr val="1C2430"/>
                          </a:solidFill>
                          <a:latin typeface="Consolas"/>
                        </a:rPr>
                        <a:t>Un006</a:t>
                      </a:r>
                      <a:r>
                        <a:rPr sz="950" b="0">
                          <a:solidFill>
                            <a:srgbClr val="1C2430"/>
                          </a:solidFill>
                          <a:latin typeface="Segoe UI"/>
                        </a:rPr>
                        <a:t> E/S · </a:t>
                      </a:r>
                      <a:r>
                        <a:rPr sz="950" b="0">
                          <a:solidFill>
                            <a:srgbClr val="1C2430"/>
                          </a:solidFill>
                          <a:latin typeface="Consolas"/>
                        </a:rPr>
                        <a:t>Un007</a:t>
                      </a:r>
                      <a:r>
                        <a:rPr sz="950" b="0">
                          <a:solidFill>
                            <a:srgbClr val="1C2430"/>
                          </a:solidFill>
                          <a:latin typeface="Segoe UI"/>
                        </a:rPr>
                        <a:t> consigna de pulsos · </a:t>
                      </a:r>
                      <a:r>
                        <a:rPr sz="950" b="0">
                          <a:solidFill>
                            <a:srgbClr val="1C2430"/>
                          </a:solidFill>
                          <a:latin typeface="Consolas"/>
                        </a:rPr>
                        <a:t>Un008</a:t>
                      </a:r>
                      <a:r>
                        <a:rPr sz="950" b="0">
                          <a:solidFill>
                            <a:srgbClr val="1C2430"/>
                          </a:solidFill>
                          <a:latin typeface="Segoe UI"/>
                        </a:rPr>
                        <a:t> error de posición</a:t>
                      </a:r>
                    </a:p>
                  </a:txBody>
                  <a:tcPr marL="82296" marR="82296" marT="27432" marB="27432" anchor="ctr">
                    <a:solidFill>
                      <a:srgbClr val="F2F5F8"/>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Ficha rápida — Familias de alarma</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Identifica la familia y habrás acotado el 80 % del problema</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120</a:t>
            </a:r>
          </a:p>
        </p:txBody>
      </p:sp>
      <p:graphicFrame>
        <p:nvGraphicFramePr>
          <p:cNvPr id="9" name="Table 8"/>
          <p:cNvGraphicFramePr>
            <a:graphicFrameLocks noGrp="1"/>
          </p:cNvGraphicFramePr>
          <p:nvPr/>
        </p:nvGraphicFramePr>
        <p:xfrm>
          <a:off x="566928" y="1481328"/>
          <a:ext cx="11057838" cy="4846320"/>
        </p:xfrm>
        <a:graphic>
          <a:graphicData uri="http://schemas.openxmlformats.org/drawingml/2006/table">
            <a:tbl>
              <a:tblPr firstRow="1">
                <a:tableStyleId>{5C22544A-7EE6-4342-B048-85BDC9FD1C3A}</a:tableStyleId>
              </a:tblPr>
              <a:tblGrid>
                <a:gridCol w="1279419"/>
                <a:gridCol w="3929645"/>
                <a:gridCol w="5848774"/>
              </a:tblGrid>
              <a:tr h="347472">
                <a:tc>
                  <a:txBody>
                    <a:bodyPr wrap="square"/>
                    <a:lstStyle/>
                    <a:p>
                      <a:pPr algn="l">
                        <a:lnSpc>
                          <a:spcPct val="100000"/>
                        </a:lnSpc>
                        <a:buNone/>
                      </a:pPr>
                      <a:r>
                        <a:rPr sz="950" b="1">
                          <a:solidFill>
                            <a:srgbClr val="FFFFFF"/>
                          </a:solidFill>
                          <a:latin typeface="Segoe UI"/>
                        </a:rPr>
                        <a:t>Prefijo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Ámbito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Primera pregunta que hay que hacerse</a:t>
                      </a:r>
                    </a:p>
                  </a:txBody>
                  <a:tcPr marL="82296" marR="82296" marT="27432" marB="27432" anchor="ctr">
                    <a:solidFill>
                      <a:srgbClr val="0B2545"/>
                    </a:solidFill>
                  </a:tcPr>
                </a:tc>
              </a:tr>
              <a:tr h="374904">
                <a:tc>
                  <a:txBody>
                    <a:bodyPr wrap="square"/>
                    <a:lstStyle/>
                    <a:p>
                      <a:pPr algn="l">
                        <a:lnSpc>
                          <a:spcPct val="100000"/>
                        </a:lnSpc>
                        <a:buNone/>
                      </a:pPr>
                      <a:r>
                        <a:rPr sz="950" b="0">
                          <a:solidFill>
                            <a:srgbClr val="1C2430"/>
                          </a:solidFill>
                          <a:latin typeface="Consolas"/>
                        </a:rPr>
                        <a:t>A.0__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Parámetros, memoria interna y combinación de equipos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¿Se ha cambiado algún equipo o se ha interrumpido una escritura?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A.1__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Sobrecorriente y etapa de potencia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¿Hay cortocircuito en el cable o en el motor?</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A.3__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Circuito de regeneración</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¿Está bien el puente </a:t>
                      </a:r>
                      <a:r>
                        <a:rPr sz="950" b="0">
                          <a:solidFill>
                            <a:srgbClr val="1C2430"/>
                          </a:solidFill>
                          <a:latin typeface="Consolas"/>
                        </a:rPr>
                        <a:t>B2</a:t>
                      </a:r>
                      <a:r>
                        <a:rPr sz="950" b="0">
                          <a:solidFill>
                            <a:srgbClr val="1C2430"/>
                          </a:solidFill>
                          <a:latin typeface="Segoe UI"/>
                        </a:rPr>
                        <a:t>-</a:t>
                      </a:r>
                      <a:r>
                        <a:rPr sz="950" b="0">
                          <a:solidFill>
                            <a:srgbClr val="1C2430"/>
                          </a:solidFill>
                          <a:latin typeface="Consolas"/>
                        </a:rPr>
                        <a:t>B3</a:t>
                      </a:r>
                      <a:r>
                        <a:rPr sz="950" b="0">
                          <a:solidFill>
                            <a:srgbClr val="1C2430"/>
                          </a:solidFill>
                          <a:latin typeface="Segoe UI"/>
                        </a:rPr>
                        <a:t> o la resistencia externa?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A.4__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Tensión del bus (sobre o subtensión)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¿Cómo está la red? ¿Se frena demasiado enérgicamente?</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A.5__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Velocidad excesiva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¿Están bien las fases del motor y el engranaje electrónico?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A.7__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Sobrecarga y temperatura</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¿Cuánto par pide realmente el eje (</a:t>
                      </a:r>
                      <a:r>
                        <a:rPr sz="950" b="0">
                          <a:solidFill>
                            <a:srgbClr val="1C2430"/>
                          </a:solidFill>
                          <a:latin typeface="Consolas"/>
                        </a:rPr>
                        <a:t>Un002</a:t>
                      </a:r>
                      <a:r>
                        <a:rPr sz="950" b="0">
                          <a:solidFill>
                            <a:srgbClr val="1C2430"/>
                          </a:solidFill>
                          <a:latin typeface="Segoe UI"/>
                        </a:rPr>
                        <a:t>)?</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A.8__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Encoder absoluto y batería</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¿Cuándo se cambió la batería por última vez?</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A.9__</a:t>
                      </a:r>
                    </a:p>
                  </a:txBody>
                  <a:tcPr marL="82296" marR="82296" marT="27432" marB="27432" anchor="ctr">
                    <a:solidFill>
                      <a:srgbClr val="F2F5F8"/>
                    </a:solidFill>
                  </a:tcPr>
                </a:tc>
                <a:tc>
                  <a:txBody>
                    <a:bodyPr wrap="square"/>
                    <a:lstStyle/>
                    <a:p>
                      <a:pPr algn="l">
                        <a:lnSpc>
                          <a:spcPct val="100000"/>
                        </a:lnSpc>
                        <a:buNone/>
                      </a:pPr>
                      <a:r>
                        <a:rPr sz="950" b="1">
                          <a:solidFill>
                            <a:srgbClr val="1C2430"/>
                          </a:solidFill>
                          <a:latin typeface="Segoe UI"/>
                        </a:rPr>
                        <a:t>Avisos</a:t>
                      </a:r>
                      <a:r>
                        <a:rPr sz="950" b="0">
                          <a:solidFill>
                            <a:srgbClr val="1C2430"/>
                          </a:solidFill>
                          <a:latin typeface="Segoe UI"/>
                        </a:rPr>
                        <a:t> (el eje sigue funcionando)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¿Qué me está anticipando el drive?</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A.C__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Comunicación con el encoder</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¿Cable original, apantallado y separado de la potencia?</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A.d__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Exceso de error de posición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¿Hay atasco mecánico o el eje está mal dimensionado?</a:t>
                      </a:r>
                    </a:p>
                  </a:txBody>
                  <a:tcPr marL="82296" marR="82296" marT="27432" marB="27432" anchor="ctr">
                    <a:solidFill>
                      <a:srgbClr val="F2F5F8"/>
                    </a:solidFill>
                  </a:tcPr>
                </a:tc>
              </a:tr>
              <a:tr h="374904">
                <a:tc>
                  <a:txBody>
                    <a:bodyPr wrap="square"/>
                    <a:lstStyle/>
                    <a:p>
                      <a:pPr algn="l">
                        <a:lnSpc>
                          <a:spcPct val="100000"/>
                        </a:lnSpc>
                        <a:buNone/>
                      </a:pPr>
                      <a:r>
                        <a:rPr sz="950" b="0">
                          <a:solidFill>
                            <a:srgbClr val="1C2430"/>
                          </a:solidFill>
                          <a:latin typeface="Consolas"/>
                        </a:rPr>
                        <a:t>A.E__</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Comunicación de bus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¿Qué dicen los contadores de error del maestro?</a:t>
                      </a:r>
                    </a:p>
                  </a:txBody>
                  <a:tcPr marL="82296" marR="82296" marT="27432" marB="27432" anchor="ctr">
                    <a:solidFill>
                      <a:srgbClr val="FFFFFF"/>
                    </a:solidFill>
                  </a:tcPr>
                </a:tc>
              </a:tr>
              <a:tr h="374904">
                <a:tc>
                  <a:txBody>
                    <a:bodyPr wrap="square"/>
                    <a:lstStyle/>
                    <a:p>
                      <a:pPr algn="l">
                        <a:lnSpc>
                          <a:spcPct val="100000"/>
                        </a:lnSpc>
                        <a:buNone/>
                      </a:pPr>
                      <a:r>
                        <a:rPr sz="950" b="0">
                          <a:solidFill>
                            <a:srgbClr val="1C2430"/>
                          </a:solidFill>
                          <a:latin typeface="Consolas"/>
                        </a:rPr>
                        <a:t>A.F__</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Alimentación principal (falta de fase)</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¿Están las tres fases presentes en los bornes?</a:t>
                      </a:r>
                    </a:p>
                  </a:txBody>
                  <a:tcPr marL="82296" marR="82296" marT="27432" marB="27432" anchor="ctr">
                    <a:solidFill>
                      <a:srgbClr val="F2F5F8"/>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Lista de verificación imprimible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Imprime, plastifica y guarda en el maletín</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121</a:t>
            </a:r>
          </a:p>
        </p:txBody>
      </p:sp>
      <p:sp>
        <p:nvSpPr>
          <p:cNvPr id="9" name="Rectangle 8"/>
          <p:cNvSpPr/>
          <p:nvPr/>
        </p:nvSpPr>
        <p:spPr>
          <a:xfrm>
            <a:off x="566928"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Antes de energizar</a:t>
            </a:r>
          </a:p>
        </p:txBody>
      </p:sp>
      <p:sp>
        <p:nvSpPr>
          <p:cNvPr id="12" name="TextBox 11"/>
          <p:cNvSpPr txBox="1"/>
          <p:nvPr/>
        </p:nvSpPr>
        <p:spPr>
          <a:xfrm>
            <a:off x="768096"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50" b="1">
                <a:solidFill>
                  <a:srgbClr val="1C2430"/>
                </a:solidFill>
                <a:latin typeface="Segoe UI"/>
              </a:rPr>
              <a:t>☐ Modelos de drive y motor coinciden y son combinación homologada.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Tensión de red medida y dentro de rango.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L1</a:t>
            </a:r>
            <a:r>
              <a:rPr sz="1150" b="1">
                <a:solidFill>
                  <a:srgbClr val="1C2430"/>
                </a:solidFill>
                <a:latin typeface="Segoe UI"/>
              </a:rPr>
              <a:t> </a:t>
            </a:r>
            <a:r>
              <a:rPr sz="1150" b="1">
                <a:solidFill>
                  <a:srgbClr val="1C2430"/>
                </a:solidFill>
                <a:latin typeface="Consolas"/>
              </a:rPr>
              <a:t>L2</a:t>
            </a:r>
            <a:r>
              <a:rPr sz="1150" b="1">
                <a:solidFill>
                  <a:srgbClr val="1C2430"/>
                </a:solidFill>
                <a:latin typeface="Segoe UI"/>
              </a:rPr>
              <a:t> </a:t>
            </a:r>
            <a:r>
              <a:rPr sz="1150" b="1">
                <a:solidFill>
                  <a:srgbClr val="1C2430"/>
                </a:solidFill>
                <a:latin typeface="Consolas"/>
              </a:rPr>
              <a:t>L3</a:t>
            </a:r>
            <a:r>
              <a:rPr sz="1150" b="1">
                <a:solidFill>
                  <a:srgbClr val="1C2430"/>
                </a:solidFill>
                <a:latin typeface="Segoe UI"/>
              </a:rPr>
              <a:t> y </a:t>
            </a:r>
            <a:r>
              <a:rPr sz="1150" b="1">
                <a:solidFill>
                  <a:srgbClr val="1C2430"/>
                </a:solidFill>
                <a:latin typeface="Consolas"/>
              </a:rPr>
              <a:t>L1C</a:t>
            </a:r>
            <a:r>
              <a:rPr sz="1150" b="1">
                <a:solidFill>
                  <a:srgbClr val="1C2430"/>
                </a:solidFill>
                <a:latin typeface="Segoe UI"/>
              </a:rPr>
              <a:t> </a:t>
            </a:r>
            <a:r>
              <a:rPr sz="1150" b="1">
                <a:solidFill>
                  <a:srgbClr val="1C2430"/>
                </a:solidFill>
                <a:latin typeface="Consolas"/>
              </a:rPr>
              <a:t>L2C</a:t>
            </a:r>
            <a:r>
              <a:rPr sz="1150" b="1">
                <a:solidFill>
                  <a:srgbClr val="1C2430"/>
                </a:solidFill>
                <a:latin typeface="Segoe UI"/>
              </a:rPr>
              <a:t> correctamente conectados.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Ninguna fase de red en </a:t>
            </a:r>
            <a:r>
              <a:rPr sz="1150" b="1">
                <a:solidFill>
                  <a:srgbClr val="1C2430"/>
                </a:solidFill>
                <a:latin typeface="Consolas"/>
              </a:rPr>
              <a:t>U</a:t>
            </a:r>
            <a:r>
              <a:rPr sz="1150" b="1">
                <a:solidFill>
                  <a:srgbClr val="1C2430"/>
                </a:solidFill>
                <a:latin typeface="Segoe UI"/>
              </a:rPr>
              <a:t> </a:t>
            </a:r>
            <a:r>
              <a:rPr sz="1150" b="1">
                <a:solidFill>
                  <a:srgbClr val="1C2430"/>
                </a:solidFill>
                <a:latin typeface="Consolas"/>
              </a:rPr>
              <a:t>V</a:t>
            </a:r>
            <a:r>
              <a:rPr sz="1150" b="1">
                <a:solidFill>
                  <a:srgbClr val="1C2430"/>
                </a:solidFill>
                <a:latin typeface="Segoe UI"/>
              </a:rPr>
              <a:t> </a:t>
            </a:r>
            <a:r>
              <a:rPr sz="1150" b="1">
                <a:solidFill>
                  <a:srgbClr val="1C2430"/>
                </a:solidFill>
                <a:latin typeface="Consolas"/>
              </a:rPr>
              <a:t>W</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Tierra del drive y del motor con continuidad verificada.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Puente </a:t>
            </a:r>
            <a:r>
              <a:rPr sz="1150" b="1">
                <a:solidFill>
                  <a:srgbClr val="1C2430"/>
                </a:solidFill>
                <a:latin typeface="Consolas"/>
              </a:rPr>
              <a:t>B2</a:t>
            </a:r>
            <a:r>
              <a:rPr sz="1150" b="1">
                <a:solidFill>
                  <a:srgbClr val="1C2430"/>
                </a:solidFill>
                <a:latin typeface="Segoe UI"/>
              </a:rPr>
              <a:t>-</a:t>
            </a:r>
            <a:r>
              <a:rPr sz="1150" b="1">
                <a:solidFill>
                  <a:srgbClr val="1C2430"/>
                </a:solidFill>
                <a:latin typeface="Consolas"/>
              </a:rPr>
              <a:t>B3</a:t>
            </a:r>
            <a:r>
              <a:rPr sz="1150" b="1">
                <a:solidFill>
                  <a:srgbClr val="1C2430"/>
                </a:solidFill>
                <a:latin typeface="Segoe UI"/>
              </a:rPr>
              <a:t> o resistencia externa según cálculo.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Cable de encoder en </a:t>
            </a:r>
            <a:r>
              <a:rPr sz="1150" b="1">
                <a:solidFill>
                  <a:srgbClr val="1C2430"/>
                </a:solidFill>
                <a:latin typeface="Consolas"/>
              </a:rPr>
              <a:t>CN2</a:t>
            </a:r>
            <a:r>
              <a:rPr sz="1150" b="1">
                <a:solidFill>
                  <a:srgbClr val="1C2430"/>
                </a:solidFill>
                <a:latin typeface="Segoe UI"/>
              </a:rPr>
              <a:t>, malla a tierra, separado de potencia.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+24VIN</a:t>
            </a:r>
            <a:r>
              <a:rPr sz="1150" b="1">
                <a:solidFill>
                  <a:srgbClr val="1C2430"/>
                </a:solidFill>
                <a:latin typeface="Segoe UI"/>
              </a:rPr>
              <a:t> alimentado y cableado de </a:t>
            </a:r>
            <a:r>
              <a:rPr sz="1150" b="1">
                <a:solidFill>
                  <a:srgbClr val="1C2430"/>
                </a:solidFill>
                <a:latin typeface="Consolas"/>
              </a:rPr>
              <a:t>CN1</a:t>
            </a:r>
            <a:r>
              <a:rPr sz="1150" b="1">
                <a:solidFill>
                  <a:srgbClr val="1C2430"/>
                </a:solidFill>
                <a:latin typeface="Segoe UI"/>
              </a:rPr>
              <a:t> verificado.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CN8</a:t>
            </a:r>
            <a:r>
              <a:rPr sz="1150" b="1">
                <a:solidFill>
                  <a:srgbClr val="1C2430"/>
                </a:solidFill>
                <a:latin typeface="Segoe UI"/>
              </a:rPr>
              <a:t>: puente original o circuito de seguridad cableado.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Freno de retención con alimentación propia y supresor.</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Zona mecánica despejada y motor desacoplado.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Parada de emergencia probada.</a:t>
            </a:r>
          </a:p>
        </p:txBody>
      </p:sp>
      <p:sp>
        <p:nvSpPr>
          <p:cNvPr id="13" name="Rectangle 12"/>
          <p:cNvSpPr/>
          <p:nvPr/>
        </p:nvSpPr>
        <p:spPr>
          <a:xfrm>
            <a:off x="6251295" y="1481328"/>
            <a:ext cx="5373471" cy="4846320"/>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Antes de dar por terminada la puesta en marcha</a:t>
            </a:r>
          </a:p>
        </p:txBody>
      </p:sp>
      <p:sp>
        <p:nvSpPr>
          <p:cNvPr id="16" name="TextBox 15"/>
          <p:cNvSpPr txBox="1"/>
          <p:nvPr/>
        </p:nvSpPr>
        <p:spPr>
          <a:xfrm>
            <a:off x="6452463" y="2048256"/>
            <a:ext cx="4971135" cy="4114800"/>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50" b="1">
                <a:solidFill>
                  <a:srgbClr val="1C2430"/>
                </a:solidFill>
                <a:latin typeface="Segoe UI"/>
              </a:rPr>
              <a:t>☐ JOG en ambos sentidos suave y silencioso.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Sentido de giro correcto ajustado con </a:t>
            </a:r>
            <a:r>
              <a:rPr sz="1150" b="1">
                <a:solidFill>
                  <a:srgbClr val="1C2430"/>
                </a:solidFill>
                <a:latin typeface="Consolas"/>
              </a:rPr>
              <a:t>Pn000.0</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Engranaje electrónico </a:t>
            </a:r>
            <a:r>
              <a:rPr sz="1150" b="1">
                <a:solidFill>
                  <a:srgbClr val="1C2430"/>
                </a:solidFill>
                <a:latin typeface="Segoe UI"/>
              </a:rPr>
              <a:t>verificado midiendo</a:t>
            </a:r>
            <a:r>
              <a:rPr sz="1150" b="1">
                <a:solidFill>
                  <a:srgbClr val="1C2430"/>
                </a:solidFill>
                <a:latin typeface="Segoe UI"/>
              </a:rPr>
              <a:t> un desplazamiento.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Finales de carrera probados físicamente.</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t>
            </a:r>
            <a:r>
              <a:rPr sz="1150" b="1">
                <a:solidFill>
                  <a:srgbClr val="1C2430"/>
                </a:solidFill>
                <a:latin typeface="Consolas"/>
              </a:rPr>
              <a:t>Fn008</a:t>
            </a:r>
            <a:r>
              <a:rPr sz="1150" b="1">
                <a:solidFill>
                  <a:srgbClr val="1C2430"/>
                </a:solidFill>
                <a:latin typeface="Segoe UI"/>
              </a:rPr>
              <a:t> ejecutado y origen documentado.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Autoajuste realizado </a:t>
            </a:r>
            <a:r>
              <a:rPr sz="1150" b="1">
                <a:solidFill>
                  <a:srgbClr val="1C2430"/>
                </a:solidFill>
                <a:latin typeface="Segoe UI"/>
              </a:rPr>
              <a:t>con la carga real</a:t>
            </a:r>
            <a:r>
              <a:rPr sz="1150" b="1">
                <a:solidFill>
                  <a:srgbClr val="1C2430"/>
                </a:solidFill>
                <a:latin typeface="Segoe UI"/>
              </a:rPr>
              <a:t>.</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Ciclo real ejecutado al menos 30 minutos sin alarmas.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Par RMS y de pico medidos y comparados con el cálculo.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HWBB probado y tiempo de parada medido.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Freno de retención verificado (agarra y no arrastra).</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Ficheros de parámetros guardados y archivados.</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 Acta del eje rellenada y firmada.</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Glosario</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Vocabulario del curso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122</a:t>
            </a:r>
          </a:p>
        </p:txBody>
      </p:sp>
      <p:graphicFrame>
        <p:nvGraphicFramePr>
          <p:cNvPr id="9" name="Table 8"/>
          <p:cNvGraphicFramePr>
            <a:graphicFrameLocks noGrp="1"/>
          </p:cNvGraphicFramePr>
          <p:nvPr/>
        </p:nvGraphicFramePr>
        <p:xfrm>
          <a:off x="566928" y="1481328"/>
          <a:ext cx="11057838" cy="4846316"/>
        </p:xfrm>
        <a:graphic>
          <a:graphicData uri="http://schemas.openxmlformats.org/drawingml/2006/table">
            <a:tbl>
              <a:tblPr firstRow="1">
                <a:tableStyleId>{5C22544A-7EE6-4342-B048-85BDC9FD1C3A}</a:tableStyleId>
              </a:tblPr>
              <a:tblGrid>
                <a:gridCol w="2376064"/>
                <a:gridCol w="8681774"/>
              </a:tblGrid>
              <a:tr h="347472">
                <a:tc>
                  <a:txBody>
                    <a:bodyPr wrap="square"/>
                    <a:lstStyle/>
                    <a:p>
                      <a:pPr algn="l">
                        <a:lnSpc>
                          <a:spcPct val="100000"/>
                        </a:lnSpc>
                        <a:buNone/>
                      </a:pPr>
                      <a:r>
                        <a:rPr sz="950" b="1">
                          <a:solidFill>
                            <a:srgbClr val="FFFFFF"/>
                          </a:solidFill>
                          <a:latin typeface="Segoe UI"/>
                        </a:rPr>
                        <a:t>Término</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Definición</a:t>
                      </a:r>
                    </a:p>
                  </a:txBody>
                  <a:tcPr marL="82296" marR="82296" marT="27432" marB="27432" anchor="ctr">
                    <a:solidFill>
                      <a:srgbClr val="0B2545"/>
                    </a:solidFill>
                  </a:tcPr>
                </a:tc>
              </a:tr>
              <a:tr h="321346">
                <a:tc>
                  <a:txBody>
                    <a:bodyPr wrap="square"/>
                    <a:lstStyle/>
                    <a:p>
                      <a:pPr algn="l">
                        <a:lnSpc>
                          <a:spcPct val="100000"/>
                        </a:lnSpc>
                        <a:buNone/>
                      </a:pPr>
                      <a:r>
                        <a:rPr sz="950" b="0">
                          <a:solidFill>
                            <a:srgbClr val="1C2430"/>
                          </a:solidFill>
                          <a:latin typeface="Segoe UI"/>
                        </a:rPr>
                        <a:t>Baseblock</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Estado en que los transistores de salida están bloqueados: el motor no recibe par y queda libre</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EDM</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Salida de vigilancia que confirma al módulo de seguridad que el drive ha entrado en estado seguro</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Engranaje electrónico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Relación programable que traduce las unidades de referencia del controlador a cuentas de encoder</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Error de seguimiento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Diferencia entre la posición ordenada y la real durante el movimiento</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f.c.e.m.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Fuerza contraelectromotriz: tensión que genera el motor al girar; limita la velocidad y permite la regeneración</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Freno dinámico</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Frenado por cortocircuito controlado de las fases del motor; no mantiene la carga parada</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HWBB</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Hard Wire Baseblock: implementación por hardware de la función de seguridad STO en la Σ-7</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Notch</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Filtro que elimina una banda estrecha de frecuencias para cancelar una resonancia mecánica</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PMSM</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Motor síncrono de imanes permanentes: el tipo de servomotor empleado</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Regeneración</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Energía devuelta por el motor al frenar, que debe disiparse o reinyectarse</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Relación de inercias</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Cociente entre la inercia de la carga reflejada y la del rotor; predice la dificultad de sintonización</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SERVOPACK</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Denominación comercial de YASKAWA para el servoamplificador</a:t>
                      </a:r>
                    </a:p>
                  </a:txBody>
                  <a:tcPr marL="82296" marR="82296" marT="27432" marB="27432" anchor="ctr">
                    <a:solidFill>
                      <a:srgbClr val="F2F5F8"/>
                    </a:solidFill>
                  </a:tcPr>
                </a:tc>
              </a:tr>
              <a:tr h="321346">
                <a:tc>
                  <a:txBody>
                    <a:bodyPr wrap="square"/>
                    <a:lstStyle/>
                    <a:p>
                      <a:pPr algn="l">
                        <a:lnSpc>
                          <a:spcPct val="100000"/>
                        </a:lnSpc>
                        <a:buNone/>
                      </a:pPr>
                      <a:r>
                        <a:rPr sz="950" b="0">
                          <a:solidFill>
                            <a:srgbClr val="1C2430"/>
                          </a:solidFill>
                          <a:latin typeface="Segoe UI"/>
                        </a:rPr>
                        <a:t>STO</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Safe Torque Off: función de seguridad que garantiza ausencia de par, no ausencia de movimiento</a:t>
                      </a:r>
                    </a:p>
                  </a:txBody>
                  <a:tcPr marL="82296" marR="82296" marT="27432" marB="27432" anchor="ctr">
                    <a:solidFill>
                      <a:srgbClr val="FFFFFF"/>
                    </a:solidFill>
                  </a:tcPr>
                </a:tc>
              </a:tr>
              <a:tr h="321346">
                <a:tc>
                  <a:txBody>
                    <a:bodyPr wrap="square"/>
                    <a:lstStyle/>
                    <a:p>
                      <a:pPr algn="l">
                        <a:lnSpc>
                          <a:spcPct val="100000"/>
                        </a:lnSpc>
                        <a:buNone/>
                      </a:pPr>
                      <a:r>
                        <a:rPr sz="950" b="0">
                          <a:solidFill>
                            <a:srgbClr val="1C2430"/>
                          </a:solidFill>
                          <a:latin typeface="Segoe UI"/>
                        </a:rPr>
                        <a:t>Tuning-less</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Función que permite operar sin ajustar ganancias adaptándose automáticamente a la carga</a:t>
                      </a:r>
                    </a:p>
                  </a:txBody>
                  <a:tcPr marL="82296" marR="82296" marT="27432" marB="27432" anchor="ctr">
                    <a:solidFill>
                      <a:srgbClr val="F2F5F8"/>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352" b="1">
                <a:solidFill>
                  <a:srgbClr val="FFFFFF"/>
                </a:solidFill>
                <a:latin typeface="Segoe UI Semibold"/>
              </a:rPr>
              <a:t>Autoevaluación (respuestas en la diapositiva siguiente)</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Diez preguntas para comprobar que el curso ha calado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123</a:t>
            </a:r>
          </a:p>
        </p:txBody>
      </p:sp>
      <p:graphicFrame>
        <p:nvGraphicFramePr>
          <p:cNvPr id="9" name="Table 8"/>
          <p:cNvGraphicFramePr>
            <a:graphicFrameLocks noGrp="1"/>
          </p:cNvGraphicFramePr>
          <p:nvPr/>
        </p:nvGraphicFramePr>
        <p:xfrm>
          <a:off x="566928" y="1481328"/>
          <a:ext cx="11057838" cy="4846312"/>
        </p:xfrm>
        <a:graphic>
          <a:graphicData uri="http://schemas.openxmlformats.org/drawingml/2006/table">
            <a:tbl>
              <a:tblPr firstRow="1">
                <a:tableStyleId>{5C22544A-7EE6-4342-B048-85BDC9FD1C3A}</a:tableStyleId>
              </a:tblPr>
              <a:tblGrid>
                <a:gridCol w="456935"/>
                <a:gridCol w="10600903"/>
              </a:tblGrid>
              <a:tr h="347472">
                <a:tc>
                  <a:txBody>
                    <a:bodyPr wrap="square"/>
                    <a:lstStyle/>
                    <a:p>
                      <a:pPr algn="ctr">
                        <a:lnSpc>
                          <a:spcPct val="100000"/>
                        </a:lnSpc>
                        <a:buNone/>
                      </a:pPr>
                      <a:r>
                        <a:rPr sz="10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1050" b="1">
                          <a:solidFill>
                            <a:srgbClr val="FFFFFF"/>
                          </a:solidFill>
                          <a:latin typeface="Segoe UI"/>
                        </a:rPr>
                        <a:t>Pregunta</a:t>
                      </a:r>
                    </a:p>
                  </a:txBody>
                  <a:tcPr marL="82296" marR="82296" marT="27432" marB="27432" anchor="ctr">
                    <a:solidFill>
                      <a:srgbClr val="0B2545"/>
                    </a:solidFill>
                  </a:tcPr>
                </a:tc>
              </a:tr>
              <a:tr h="449884">
                <a:tc>
                  <a:txBody>
                    <a:bodyPr wrap="square"/>
                    <a:lstStyle/>
                    <a:p>
                      <a:pPr algn="ctr">
                        <a:lnSpc>
                          <a:spcPct val="100000"/>
                        </a:lnSpc>
                        <a:buNone/>
                      </a:pPr>
                      <a:r>
                        <a:rPr sz="10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Un motor de 3 kW gira a 1.500 rpm. ¿Cuál es su par nominal aproximado?</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¿Por qué no se debe invertir el sentido de giro intercambiando dos fases del motor?</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Una carga de 200 kg se mueve con un husillo de 10 mm de paso. ¿Cuál es su inercia reflejada?</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El eje vibra al llegar al destino y oscila tres o cuatro veces. ¿Qué parámetro revisarías primero?</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¿Qué hay que hacer antes de conectar una resistencia de regeneración externa?</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El motor no da par y no aparece ninguna alarma. Cita las tres causas más probables.</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¿Qué diferencia hay entre la alarma </a:t>
                      </a:r>
                      <a:r>
                        <a:rPr sz="1050" b="0">
                          <a:solidFill>
                            <a:srgbClr val="1C2430"/>
                          </a:solidFill>
                          <a:latin typeface="Consolas"/>
                        </a:rPr>
                        <a:t>A.710</a:t>
                      </a:r>
                      <a:r>
                        <a:rPr sz="1050" b="0">
                          <a:solidFill>
                            <a:srgbClr val="1C2430"/>
                          </a:solidFill>
                          <a:latin typeface="Segoe UI"/>
                        </a:rPr>
                        <a:t> y la </a:t>
                      </a:r>
                      <a:r>
                        <a:rPr sz="1050" b="0">
                          <a:solidFill>
                            <a:srgbClr val="1C2430"/>
                          </a:solidFill>
                          <a:latin typeface="Consolas"/>
                        </a:rPr>
                        <a:t>A.720</a:t>
                      </a:r>
                      <a:r>
                        <a:rPr sz="1050" b="0">
                          <a:solidFill>
                            <a:srgbClr val="1C2430"/>
                          </a:solidFill>
                          <a:latin typeface="Segoe UI"/>
                        </a:rPr>
                        <a:t>?</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¿Por qué hay que cambiar la batería del encoder con la alimentación de control conectada?</a:t>
                      </a:r>
                    </a:p>
                  </a:txBody>
                  <a:tcPr marL="82296" marR="82296" marT="27432" marB="27432" anchor="ctr">
                    <a:solidFill>
                      <a:srgbClr val="F2F5F8"/>
                    </a:solidFill>
                  </a:tcPr>
                </a:tc>
              </a:tr>
              <a:tr h="449884">
                <a:tc>
                  <a:txBody>
                    <a:bodyPr wrap="square"/>
                    <a:lstStyle/>
                    <a:p>
                      <a:pPr algn="ctr">
                        <a:lnSpc>
                          <a:spcPct val="100000"/>
                        </a:lnSpc>
                        <a:buNone/>
                      </a:pPr>
                      <a:r>
                        <a:rPr sz="10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1050" b="0">
                          <a:solidFill>
                            <a:srgbClr val="1C2430"/>
                          </a:solidFill>
                          <a:latin typeface="Segoe UI"/>
                        </a:rPr>
                        <a:t>¿Garantiza la función STO que el eje esté parado?</a:t>
                      </a:r>
                    </a:p>
                  </a:txBody>
                  <a:tcPr marL="82296" marR="82296" marT="27432" marB="27432" anchor="ctr">
                    <a:solidFill>
                      <a:srgbClr val="FFFFFF"/>
                    </a:solidFill>
                  </a:tcPr>
                </a:tc>
              </a:tr>
              <a:tr h="449884">
                <a:tc>
                  <a:txBody>
                    <a:bodyPr wrap="square"/>
                    <a:lstStyle/>
                    <a:p>
                      <a:pPr algn="ctr">
                        <a:lnSpc>
                          <a:spcPct val="100000"/>
                        </a:lnSpc>
                        <a:buNone/>
                      </a:pPr>
                      <a:r>
                        <a:rPr sz="10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1050" b="0">
                          <a:solidFill>
                            <a:srgbClr val="1C2430"/>
                          </a:solidFill>
                          <a:latin typeface="Segoe UI"/>
                        </a:rPr>
                        <a:t>Tras sustituir un SERVOPACK y cargar el fichero de parámetros, ¿qué falta por hacer?</a:t>
                      </a:r>
                    </a:p>
                  </a:txBody>
                  <a:tcPr marL="82296" marR="82296" marT="27432" marB="27432" anchor="ctr">
                    <a:solidFill>
                      <a:srgbClr val="F2F5F8"/>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Autoevaluación — Respuestas comentadas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Si has acertado ocho o más, estás en condiciones de trabajar con el equipo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124</a:t>
            </a:r>
          </a:p>
        </p:txBody>
      </p:sp>
      <p:graphicFrame>
        <p:nvGraphicFramePr>
          <p:cNvPr id="9" name="Table 8"/>
          <p:cNvGraphicFramePr>
            <a:graphicFrameLocks noGrp="1"/>
          </p:cNvGraphicFramePr>
          <p:nvPr/>
        </p:nvGraphicFramePr>
        <p:xfrm>
          <a:off x="566928" y="1481328"/>
          <a:ext cx="11057838" cy="4846312"/>
        </p:xfrm>
        <a:graphic>
          <a:graphicData uri="http://schemas.openxmlformats.org/drawingml/2006/table">
            <a:tbl>
              <a:tblPr firstRow="1">
                <a:tableStyleId>{5C22544A-7EE6-4342-B048-85BDC9FD1C3A}</a:tableStyleId>
              </a:tblPr>
              <a:tblGrid>
                <a:gridCol w="456935"/>
                <a:gridCol w="10600903"/>
              </a:tblGrid>
              <a:tr h="347472">
                <a:tc>
                  <a:txBody>
                    <a:bodyPr wrap="square"/>
                    <a:lstStyle/>
                    <a:p>
                      <a:pPr algn="ctr">
                        <a:lnSpc>
                          <a:spcPct val="100000"/>
                        </a:lnSpc>
                        <a:buNone/>
                      </a:pPr>
                      <a:r>
                        <a:rPr sz="950" b="1">
                          <a:solidFill>
                            <a:srgbClr val="FFFFFF"/>
                          </a:solidFill>
                          <a:latin typeface="Segoe UI"/>
                        </a:rPr>
                        <a:t>#</a:t>
                      </a:r>
                    </a:p>
                  </a:txBody>
                  <a:tcPr marL="82296" marR="82296" marT="27432" marB="27432" anchor="ctr">
                    <a:solidFill>
                      <a:srgbClr val="0B2545"/>
                    </a:solidFill>
                  </a:tcPr>
                </a:tc>
                <a:tc>
                  <a:txBody>
                    <a:bodyPr wrap="square"/>
                    <a:lstStyle/>
                    <a:p>
                      <a:pPr algn="l">
                        <a:lnSpc>
                          <a:spcPct val="100000"/>
                        </a:lnSpc>
                        <a:buNone/>
                      </a:pPr>
                      <a:r>
                        <a:rPr sz="950" b="1">
                          <a:solidFill>
                            <a:srgbClr val="FFFFFF"/>
                          </a:solidFill>
                          <a:latin typeface="Segoe UI"/>
                        </a:rPr>
                        <a:t>Respuesta</a:t>
                      </a:r>
                    </a:p>
                  </a:txBody>
                  <a:tcPr marL="82296" marR="82296" marT="27432" marB="27432" anchor="ctr">
                    <a:solidFill>
                      <a:srgbClr val="0B2545"/>
                    </a:solidFill>
                  </a:tcPr>
                </a:tc>
              </a:tr>
              <a:tr h="449884">
                <a:tc>
                  <a:txBody>
                    <a:bodyPr wrap="square"/>
                    <a:lstStyle/>
                    <a:p>
                      <a:pPr algn="ctr">
                        <a:lnSpc>
                          <a:spcPct val="100000"/>
                        </a:lnSpc>
                        <a:buNone/>
                      </a:pPr>
                      <a:r>
                        <a:rPr sz="950" b="0">
                          <a:solidFill>
                            <a:srgbClr val="1C2430"/>
                          </a:solidFill>
                          <a:latin typeface="Segoe UI"/>
                        </a:rPr>
                        <a:t>1</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T ≈ 9,55 × 3 / 1,5 = </a:t>
                      </a:r>
                      <a:r>
                        <a:rPr sz="950" b="1">
                          <a:solidFill>
                            <a:srgbClr val="1C2430"/>
                          </a:solidFill>
                          <a:latin typeface="Segoe UI"/>
                        </a:rPr>
                        <a:t>19,1 N·m</a:t>
                      </a:r>
                      <a:r>
                        <a:rPr sz="950" b="0">
                          <a:solidFill>
                            <a:srgbClr val="1C2430"/>
                          </a:solidFill>
                          <a:latin typeface="Segoe UI"/>
                        </a:rPr>
                        <a:t>. El doble que a 3.000 rpm con la misma potencia.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2</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Porque la realimentación del encoder no se invierte: el lazo pasa a ser positivo y el eje se embala o dispara alarma. Se usa </a:t>
                      </a:r>
                      <a:r>
                        <a:rPr sz="950" b="0">
                          <a:solidFill>
                            <a:srgbClr val="1C2430"/>
                          </a:solidFill>
                          <a:latin typeface="Consolas"/>
                        </a:rPr>
                        <a:t>Pn000.0</a:t>
                      </a:r>
                      <a:r>
                        <a:rPr sz="950" b="0">
                          <a:solidFill>
                            <a:srgbClr val="1C2430"/>
                          </a:solidFill>
                          <a:latin typeface="Segoe UI"/>
                        </a:rPr>
                        <a:t>.</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3</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J = 200 × (0,010/2π)² = 200 × (0,001592)² ≈ </a:t>
                      </a:r>
                      <a:r>
                        <a:rPr sz="950" b="1">
                          <a:solidFill>
                            <a:srgbClr val="1C2430"/>
                          </a:solidFill>
                          <a:latin typeface="Segoe UI"/>
                        </a:rPr>
                        <a:t>5,1 × 10⁻⁴ kg·m²</a:t>
                      </a:r>
                      <a:r>
                        <a:rPr sz="950" b="0">
                          <a:solidFill>
                            <a:srgbClr val="1C2430"/>
                          </a:solidFill>
                          <a:latin typeface="Segoe UI"/>
                        </a:rPr>
                        <a:t>. Un paso pequeño reduce mucho la inercia reflejada.</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4</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Pn103</a:t>
                      </a:r>
                      <a:r>
                        <a:rPr sz="950" b="0">
                          <a:solidFill>
                            <a:srgbClr val="1C2430"/>
                          </a:solidFill>
                          <a:latin typeface="Segoe UI"/>
                        </a:rPr>
                        <a:t> (relación de inercias) y después la integral de velocidad </a:t>
                      </a:r>
                      <a:r>
                        <a:rPr sz="950" b="0">
                          <a:solidFill>
                            <a:srgbClr val="1C2430"/>
                          </a:solidFill>
                          <a:latin typeface="Consolas"/>
                        </a:rPr>
                        <a:t>Pn101</a:t>
                      </a:r>
                      <a:r>
                        <a:rPr sz="950" b="0">
                          <a:solidFill>
                            <a:srgbClr val="1C2430"/>
                          </a:solidFill>
                          <a:latin typeface="Segoe UI"/>
                        </a:rPr>
                        <a:t>. Antes de subir o bajar ganancias, comprobar que la inercia declarada es correcta.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5</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Segoe UI"/>
                        </a:rPr>
                        <a:t>Retirar el puente </a:t>
                      </a:r>
                      <a:r>
                        <a:rPr sz="950" b="0">
                          <a:solidFill>
                            <a:srgbClr val="1C2430"/>
                          </a:solidFill>
                          <a:latin typeface="Consolas"/>
                        </a:rPr>
                        <a:t>B2</a:t>
                      </a:r>
                      <a:r>
                        <a:rPr sz="950" b="0">
                          <a:solidFill>
                            <a:srgbClr val="1C2430"/>
                          </a:solidFill>
                          <a:latin typeface="Segoe UI"/>
                        </a:rPr>
                        <a:t>-</a:t>
                      </a:r>
                      <a:r>
                        <a:rPr sz="950" b="0">
                          <a:solidFill>
                            <a:srgbClr val="1C2430"/>
                          </a:solidFill>
                          <a:latin typeface="Consolas"/>
                        </a:rPr>
                        <a:t>B3</a:t>
                      </a:r>
                      <a:r>
                        <a:rPr sz="950" b="0">
                          <a:solidFill>
                            <a:srgbClr val="1C2430"/>
                          </a:solidFill>
                          <a:latin typeface="Segoe UI"/>
                        </a:rPr>
                        <a:t>, respetar la resistencia mínima admisible y declarar la capacidad en </a:t>
                      </a:r>
                      <a:r>
                        <a:rPr sz="950" b="0">
                          <a:solidFill>
                            <a:srgbClr val="1C2430"/>
                          </a:solidFill>
                          <a:latin typeface="Consolas"/>
                        </a:rPr>
                        <a:t>Pn600</a:t>
                      </a:r>
                      <a:r>
                        <a:rPr sz="950" b="0">
                          <a:solidFill>
                            <a:srgbClr val="1C2430"/>
                          </a:solidFill>
                          <a:latin typeface="Segoe UI"/>
                        </a:rPr>
                        <a:t>.</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6</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Consolas"/>
                        </a:rPr>
                        <a:t>CN8</a:t>
                      </a:r>
                      <a:r>
                        <a:rPr sz="950" b="0">
                          <a:solidFill>
                            <a:srgbClr val="1C2430"/>
                          </a:solidFill>
                          <a:latin typeface="Segoe UI"/>
                        </a:rPr>
                        <a:t> sin cablear tras retirar el puente · </a:t>
                      </a:r>
                      <a:r>
                        <a:rPr sz="950" b="0">
                          <a:solidFill>
                            <a:srgbClr val="1C2430"/>
                          </a:solidFill>
                          <a:latin typeface="Consolas"/>
                        </a:rPr>
                        <a:t>/S-ON</a:t>
                      </a:r>
                      <a:r>
                        <a:rPr sz="950" b="0">
                          <a:solidFill>
                            <a:srgbClr val="1C2430"/>
                          </a:solidFill>
                          <a:latin typeface="Segoe UI"/>
                        </a:rPr>
                        <a:t> que no llega (verificable en </a:t>
                      </a:r>
                      <a:r>
                        <a:rPr sz="950" b="0">
                          <a:solidFill>
                            <a:srgbClr val="1C2430"/>
                          </a:solidFill>
                          <a:latin typeface="Consolas"/>
                        </a:rPr>
                        <a:t>Un005</a:t>
                      </a:r>
                      <a:r>
                        <a:rPr sz="950" b="0">
                          <a:solidFill>
                            <a:srgbClr val="1C2430"/>
                          </a:solidFill>
                          <a:latin typeface="Segoe UI"/>
                        </a:rPr>
                        <a:t>) · </a:t>
                      </a:r>
                      <a:r>
                        <a:rPr sz="950" b="0">
                          <a:solidFill>
                            <a:srgbClr val="1C2430"/>
                          </a:solidFill>
                          <a:latin typeface="Consolas"/>
                        </a:rPr>
                        <a:t>+24VIN</a:t>
                      </a:r>
                      <a:r>
                        <a:rPr sz="950" b="0">
                          <a:solidFill>
                            <a:srgbClr val="1C2430"/>
                          </a:solidFill>
                          <a:latin typeface="Segoe UI"/>
                        </a:rPr>
                        <a:t> sin alimentar.</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7</a:t>
                      </a:r>
                    </a:p>
                  </a:txBody>
                  <a:tcPr marL="82296" marR="82296" marT="27432" marB="27432" anchor="ctr">
                    <a:solidFill>
                      <a:srgbClr val="FFFFFF"/>
                    </a:solidFill>
                  </a:tcPr>
                </a:tc>
                <a:tc>
                  <a:txBody>
                    <a:bodyPr wrap="square"/>
                    <a:lstStyle/>
                    <a:p>
                      <a:pPr algn="l">
                        <a:lnSpc>
                          <a:spcPct val="100000"/>
                        </a:lnSpc>
                        <a:buNone/>
                      </a:pPr>
                      <a:r>
                        <a:rPr sz="950" b="0">
                          <a:solidFill>
                            <a:srgbClr val="1C2430"/>
                          </a:solidFill>
                          <a:latin typeface="Consolas"/>
                        </a:rPr>
                        <a:t>A.710</a:t>
                      </a:r>
                      <a:r>
                        <a:rPr sz="950" b="0">
                          <a:solidFill>
                            <a:srgbClr val="1C2430"/>
                          </a:solidFill>
                          <a:latin typeface="Segoe UI"/>
                        </a:rPr>
                        <a:t> es sobrecarga instantánea (un pico muy alto); </a:t>
                      </a:r>
                      <a:r>
                        <a:rPr sz="950" b="0">
                          <a:solidFill>
                            <a:srgbClr val="1C2430"/>
                          </a:solidFill>
                          <a:latin typeface="Consolas"/>
                        </a:rPr>
                        <a:t>A.720</a:t>
                      </a:r>
                      <a:r>
                        <a:rPr sz="950" b="0">
                          <a:solidFill>
                            <a:srgbClr val="1C2430"/>
                          </a:solidFill>
                          <a:latin typeface="Segoe UI"/>
                        </a:rPr>
                        <a:t> es sobrecarga continua acumulada por el modelo térmico. La segunda apunta a un problema de dimensionamiento o de fricción.</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8</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Para que el encoder no pierda el contaje multivuelta. Si lo pierde, hay que ejecutar </a:t>
                      </a:r>
                      <a:r>
                        <a:rPr sz="950" b="0">
                          <a:solidFill>
                            <a:srgbClr val="1C2430"/>
                          </a:solidFill>
                          <a:latin typeface="Consolas"/>
                        </a:rPr>
                        <a:t>Fn008</a:t>
                      </a:r>
                      <a:r>
                        <a:rPr sz="950" b="0">
                          <a:solidFill>
                            <a:srgbClr val="1C2430"/>
                          </a:solidFill>
                          <a:latin typeface="Segoe UI"/>
                        </a:rPr>
                        <a:t> y </a:t>
                      </a:r>
                      <a:r>
                        <a:rPr sz="950" b="1">
                          <a:solidFill>
                            <a:srgbClr val="1C2430"/>
                          </a:solidFill>
                          <a:latin typeface="Segoe UI"/>
                        </a:rPr>
                        <a:t>rehacer el origen</a:t>
                      </a:r>
                      <a:r>
                        <a:rPr sz="950" b="0">
                          <a:solidFill>
                            <a:srgbClr val="1C2430"/>
                          </a:solidFill>
                          <a:latin typeface="Segoe UI"/>
                        </a:rPr>
                        <a:t> de la máquina.</a:t>
                      </a:r>
                    </a:p>
                  </a:txBody>
                  <a:tcPr marL="82296" marR="82296" marT="27432" marB="27432" anchor="ctr">
                    <a:solidFill>
                      <a:srgbClr val="F2F5F8"/>
                    </a:solidFill>
                  </a:tcPr>
                </a:tc>
              </a:tr>
              <a:tr h="449884">
                <a:tc>
                  <a:txBody>
                    <a:bodyPr wrap="square"/>
                    <a:lstStyle/>
                    <a:p>
                      <a:pPr algn="ctr">
                        <a:lnSpc>
                          <a:spcPct val="100000"/>
                        </a:lnSpc>
                        <a:buNone/>
                      </a:pPr>
                      <a:r>
                        <a:rPr sz="950" b="0">
                          <a:solidFill>
                            <a:srgbClr val="1C2430"/>
                          </a:solidFill>
                          <a:latin typeface="Segoe UI"/>
                        </a:rPr>
                        <a:t>9</a:t>
                      </a:r>
                    </a:p>
                  </a:txBody>
                  <a:tcPr marL="82296" marR="82296" marT="27432" marB="27432" anchor="ctr">
                    <a:solidFill>
                      <a:srgbClr val="FFFFFF"/>
                    </a:solidFill>
                  </a:tcPr>
                </a:tc>
                <a:tc>
                  <a:txBody>
                    <a:bodyPr wrap="square"/>
                    <a:lstStyle/>
                    <a:p>
                      <a:pPr algn="l">
                        <a:lnSpc>
                          <a:spcPct val="100000"/>
                        </a:lnSpc>
                        <a:buNone/>
                      </a:pPr>
                      <a:r>
                        <a:rPr sz="950" b="1">
                          <a:solidFill>
                            <a:srgbClr val="1C2430"/>
                          </a:solidFill>
                          <a:latin typeface="Segoe UI"/>
                        </a:rPr>
                        <a:t>No.</a:t>
                      </a:r>
                      <a:r>
                        <a:rPr sz="950" b="0">
                          <a:solidFill>
                            <a:srgbClr val="1C2430"/>
                          </a:solidFill>
                          <a:latin typeface="Segoe UI"/>
                        </a:rPr>
                        <a:t> Garantiza ausencia de par. El eje seguirá moviéndose por inercia y, en un eje vertical, la carga caerá.</a:t>
                      </a:r>
                    </a:p>
                  </a:txBody>
                  <a:tcPr marL="82296" marR="82296" marT="27432" marB="27432" anchor="ctr">
                    <a:solidFill>
                      <a:srgbClr val="FFFFFF"/>
                    </a:solidFill>
                  </a:tcPr>
                </a:tc>
              </a:tr>
              <a:tr h="449884">
                <a:tc>
                  <a:txBody>
                    <a:bodyPr wrap="square"/>
                    <a:lstStyle/>
                    <a:p>
                      <a:pPr algn="ctr">
                        <a:lnSpc>
                          <a:spcPct val="100000"/>
                        </a:lnSpc>
                        <a:buNone/>
                      </a:pPr>
                      <a:r>
                        <a:rPr sz="950" b="0">
                          <a:solidFill>
                            <a:srgbClr val="1C2430"/>
                          </a:solidFill>
                          <a:latin typeface="Segoe UI"/>
                        </a:rPr>
                        <a:t>10</a:t>
                      </a:r>
                    </a:p>
                  </a:txBody>
                  <a:tcPr marL="82296" marR="82296" marT="27432" marB="27432" anchor="ctr">
                    <a:solidFill>
                      <a:srgbClr val="F2F5F8"/>
                    </a:solidFill>
                  </a:tcPr>
                </a:tc>
                <a:tc>
                  <a:txBody>
                    <a:bodyPr wrap="square"/>
                    <a:lstStyle/>
                    <a:p>
                      <a:pPr algn="l">
                        <a:lnSpc>
                          <a:spcPct val="100000"/>
                        </a:lnSpc>
                        <a:buNone/>
                      </a:pPr>
                      <a:r>
                        <a:rPr sz="950" b="0">
                          <a:solidFill>
                            <a:srgbClr val="1C2430"/>
                          </a:solidFill>
                          <a:latin typeface="Segoe UI"/>
                        </a:rPr>
                        <a:t>Ejecutar </a:t>
                      </a:r>
                      <a:r>
                        <a:rPr sz="950" b="0">
                          <a:solidFill>
                            <a:srgbClr val="1C2430"/>
                          </a:solidFill>
                          <a:latin typeface="Consolas"/>
                        </a:rPr>
                        <a:t>Fn008</a:t>
                      </a:r>
                      <a:r>
                        <a:rPr sz="950" b="0">
                          <a:solidFill>
                            <a:srgbClr val="1C2430"/>
                          </a:solidFill>
                          <a:latin typeface="Segoe UI"/>
                        </a:rPr>
                        <a:t> si el encoder es absoluto, </a:t>
                      </a:r>
                      <a:r>
                        <a:rPr sz="950" b="1">
                          <a:solidFill>
                            <a:srgbClr val="1C2430"/>
                          </a:solidFill>
                          <a:latin typeface="Segoe UI"/>
                        </a:rPr>
                        <a:t>rehacer el origen</a:t>
                      </a:r>
                      <a:r>
                        <a:rPr sz="950" b="0">
                          <a:solidFill>
                            <a:srgbClr val="1C2430"/>
                          </a:solidFill>
                          <a:latin typeface="Segoe UI"/>
                        </a:rPr>
                        <a:t> (no está en el fichero de parámetros) y verificar el eje antes de devolverlo a producción.</a:t>
                      </a:r>
                    </a:p>
                  </a:txBody>
                  <a:tcPr marL="82296" marR="82296" marT="27432" marB="27432" anchor="ctr">
                    <a:solidFill>
                      <a:srgbClr val="F2F5F8"/>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078992"/>
            <a:ext cx="12191695" cy="41148"/>
          </a:xfrm>
          <a:prstGeom prst="rect">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182880"/>
            <a:ext cx="8954719" cy="502920"/>
          </a:xfrm>
          <a:prstGeom prst="rect">
            <a:avLst/>
          </a:prstGeom>
          <a:noFill/>
        </p:spPr>
        <p:txBody>
          <a:bodyPr wrap="square" lIns="0" rIns="0" tIns="0" bIns="0" anchor="t">
            <a:spAutoFit/>
          </a:bodyPr>
          <a:lstStyle/>
          <a:p>
            <a:pPr algn="l">
              <a:lnSpc>
                <a:spcPct val="100000"/>
              </a:lnSpc>
              <a:buNone/>
            </a:pPr>
            <a:r>
              <a:rPr sz="2500" b="1">
                <a:solidFill>
                  <a:srgbClr val="FFFFFF"/>
                </a:solidFill>
                <a:latin typeface="Segoe UI Semibold"/>
              </a:rPr>
              <a:t>Itinerario de aprendizaje y recursos</a:t>
            </a:r>
          </a:p>
        </p:txBody>
      </p:sp>
      <p:sp>
        <p:nvSpPr>
          <p:cNvPr id="5" name="TextBox 4"/>
          <p:cNvSpPr txBox="1"/>
          <p:nvPr/>
        </p:nvSpPr>
        <p:spPr>
          <a:xfrm>
            <a:off x="566928" y="694944"/>
            <a:ext cx="8954719" cy="292608"/>
          </a:xfrm>
          <a:prstGeom prst="rect">
            <a:avLst/>
          </a:prstGeom>
          <a:noFill/>
        </p:spPr>
        <p:txBody>
          <a:bodyPr wrap="square" lIns="0" rIns="0" tIns="0" bIns="0" anchor="t">
            <a:spAutoFit/>
          </a:bodyPr>
          <a:lstStyle/>
          <a:p>
            <a:pPr algn="l">
              <a:lnSpc>
                <a:spcPct val="100000"/>
              </a:lnSpc>
              <a:buNone/>
            </a:pPr>
            <a:r>
              <a:rPr sz="1250" b="0">
                <a:solidFill>
                  <a:srgbClr val="A9C6E0"/>
                </a:solidFill>
                <a:latin typeface="Segoe UI"/>
              </a:rPr>
              <a:t>El curso termina; el aprendizaje, no</a:t>
            </a:r>
          </a:p>
        </p:txBody>
      </p:sp>
      <p:sp>
        <p:nvSpPr>
          <p:cNvPr id="6" name="TextBox 5"/>
          <p:cNvSpPr txBox="1"/>
          <p:nvPr/>
        </p:nvSpPr>
        <p:spPr>
          <a:xfrm>
            <a:off x="9613087" y="274320"/>
            <a:ext cx="2011680" cy="274320"/>
          </a:xfrm>
          <a:prstGeom prst="rect">
            <a:avLst/>
          </a:prstGeom>
          <a:noFill/>
        </p:spPr>
        <p:txBody>
          <a:bodyPr wrap="square" lIns="0" rIns="0" tIns="0" bIns="0" anchor="t">
            <a:spAutoFit/>
          </a:bodyPr>
          <a:lstStyle/>
          <a:p>
            <a:pPr algn="r">
              <a:lnSpc>
                <a:spcPct val="100000"/>
              </a:lnSpc>
              <a:buNone/>
            </a:pPr>
            <a:r>
              <a:rPr sz="1100" b="1">
                <a:solidFill>
                  <a:srgbClr val="00A9CE"/>
                </a:solidFill>
                <a:latin typeface="Segoe UI"/>
              </a:rPr>
              <a:t>MÓDULO 13</a:t>
            </a:r>
          </a:p>
        </p:txBody>
      </p:sp>
      <p:sp>
        <p:nvSpPr>
          <p:cNvPr id="7" name="TextBox 6"/>
          <p:cNvSpPr txBox="1"/>
          <p:nvPr/>
        </p:nvSpPr>
        <p:spPr>
          <a:xfrm>
            <a:off x="566928" y="6419088"/>
            <a:ext cx="8229600" cy="237744"/>
          </a:xfrm>
          <a:prstGeom prst="rect">
            <a:avLst/>
          </a:prstGeom>
          <a:noFill/>
        </p:spPr>
        <p:txBody>
          <a:bodyPr wrap="square" lIns="0" rIns="0" tIns="0" bIns="0" anchor="t">
            <a:spAutoFit/>
          </a:bodyPr>
          <a:lstStyle/>
          <a:p>
            <a:pPr algn="l">
              <a:lnSpc>
                <a:spcPct val="100000"/>
              </a:lnSpc>
              <a:buNone/>
            </a:pPr>
            <a:r>
              <a:rPr sz="900" b="0">
                <a:solidFill>
                  <a:srgbClr val="5A6B7B"/>
                </a:solidFill>
                <a:latin typeface="Segoe UI"/>
              </a:rPr>
              <a:t>Curso YASKAWA SERVOPACK · SGD7S-200A + servomotor 3 kW · material de formación</a:t>
            </a:r>
          </a:p>
        </p:txBody>
      </p:sp>
      <p:sp>
        <p:nvSpPr>
          <p:cNvPr id="8" name="TextBox 7"/>
          <p:cNvSpPr txBox="1"/>
          <p:nvPr/>
        </p:nvSpPr>
        <p:spPr>
          <a:xfrm>
            <a:off x="10527487" y="6419088"/>
            <a:ext cx="1097280" cy="237744"/>
          </a:xfrm>
          <a:prstGeom prst="rect">
            <a:avLst/>
          </a:prstGeom>
          <a:noFill/>
        </p:spPr>
        <p:txBody>
          <a:bodyPr wrap="square" lIns="0" rIns="0" tIns="0" bIns="0" anchor="t">
            <a:spAutoFit/>
          </a:bodyPr>
          <a:lstStyle/>
          <a:p>
            <a:pPr algn="r">
              <a:lnSpc>
                <a:spcPct val="100000"/>
              </a:lnSpc>
              <a:buNone/>
            </a:pPr>
            <a:r>
              <a:rPr sz="900" b="0">
                <a:solidFill>
                  <a:srgbClr val="5A6B7B"/>
                </a:solidFill>
                <a:latin typeface="Segoe UI"/>
              </a:rPr>
              <a:t>125</a:t>
            </a:r>
          </a:p>
        </p:txBody>
      </p:sp>
      <p:sp>
        <p:nvSpPr>
          <p:cNvPr id="9" name="Rectangle 8"/>
          <p:cNvSpPr/>
          <p:nvPr/>
        </p:nvSpPr>
        <p:spPr>
          <a:xfrm>
            <a:off x="566928"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481328"/>
            <a:ext cx="5373471" cy="420624"/>
          </a:xfrm>
          <a:prstGeom prst="rect">
            <a:avLst/>
          </a:prstGeom>
          <a:solidFill>
            <a:srgbClr val="1B5E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Cómo seguir avanzando</a:t>
            </a:r>
          </a:p>
        </p:txBody>
      </p:sp>
      <p:sp>
        <p:nvSpPr>
          <p:cNvPr id="12" name="TextBox 11"/>
          <p:cNvSpPr txBox="1"/>
          <p:nvPr/>
        </p:nvSpPr>
        <p:spPr>
          <a:xfrm>
            <a:off x="768096" y="2048256"/>
            <a:ext cx="4971135" cy="3090672"/>
          </a:xfrm>
          <a:prstGeom prst="rect">
            <a:avLst/>
          </a:prstGeom>
          <a:noFill/>
        </p:spPr>
        <p:txBody>
          <a:bodyPr wrap="square" lIns="0" rIns="0" tIns="0" bIns="0">
            <a:spAutoFit/>
          </a:bodyPr>
          <a:lstStyle/>
          <a:p>
            <a:pPr marL="0" indent="0">
              <a:lnSpc>
                <a:spcPct val="106000"/>
              </a:lnSpc>
              <a:spcBef>
                <a:spcPts val="0"/>
              </a:spcBef>
              <a:spcAft>
                <a:spcPts val="900"/>
              </a:spcAft>
              <a:buNone/>
            </a:pPr>
            <a:r>
              <a:rPr sz="1100" b="1">
                <a:solidFill>
                  <a:srgbClr val="1B5EA8"/>
                </a:solidFill>
                <a:latin typeface="Segoe UI Semibold"/>
              </a:rPr>
              <a:t>Nivel 1 — Autonomía básica (este curso)</a:t>
            </a:r>
          </a:p>
          <a:p>
            <a:pPr marL="274320" indent="-201168">
              <a:lnSpc>
                <a:spcPct val="106000"/>
              </a:lnSpc>
              <a:spcAft>
                <a:spcPts val="900"/>
              </a:spcAft>
              <a:buClr>
                <a:srgbClr val="1B5EA8"/>
              </a:buClr>
              <a:buSzPct val="90000"/>
              <a:buFont typeface="Arial"/>
              <a:buChar char="■"/>
            </a:pPr>
            <a:r>
              <a:rPr sz="1150" b="1">
                <a:solidFill>
                  <a:srgbClr val="1C2430"/>
                </a:solidFill>
                <a:latin typeface="Segoe UI"/>
              </a:rPr>
              <a:t>Instalar, parametrizar, arrancar y diagnosticar un eje.</a:t>
            </a:r>
          </a:p>
          <a:p>
            <a:pPr marL="0" indent="0">
              <a:lnSpc>
                <a:spcPct val="106000"/>
              </a:lnSpc>
              <a:spcBef>
                <a:spcPts val="800"/>
              </a:spcBef>
              <a:spcAft>
                <a:spcPts val="900"/>
              </a:spcAft>
              <a:buNone/>
            </a:pPr>
            <a:r>
              <a:rPr sz="1100" b="1">
                <a:solidFill>
                  <a:srgbClr val="1B5EA8"/>
                </a:solidFill>
                <a:latin typeface="Segoe UI Semibold"/>
              </a:rPr>
              <a:t>Nivel 2 — Especialización</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Sintonización avanzada de ejes difíciles y análisis en frecuencia.</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Integración en bus con maestros de terceros y perfiles CiA 402.</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Sincronismo entre ejes: levas electrónicas, gantry, corte al vuelo.</a:t>
            </a:r>
          </a:p>
          <a:p>
            <a:pPr marL="0" indent="0">
              <a:lnSpc>
                <a:spcPct val="106000"/>
              </a:lnSpc>
              <a:spcBef>
                <a:spcPts val="800"/>
              </a:spcBef>
              <a:spcAft>
                <a:spcPts val="900"/>
              </a:spcAft>
              <a:buNone/>
            </a:pPr>
            <a:r>
              <a:rPr sz="1100" b="1">
                <a:solidFill>
                  <a:srgbClr val="1B5EA8"/>
                </a:solidFill>
                <a:latin typeface="Segoe UI Semibold"/>
              </a:rPr>
              <a:t>Nivel 3 — Diseño de máquina</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Selección de arquitecturas completas de accionamiento.</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Seguridad funcional aplicada: análisis de riesgos y validación.</a:t>
            </a:r>
          </a:p>
          <a:p>
            <a:pPr marL="566928" indent="-201168">
              <a:lnSpc>
                <a:spcPct val="106000"/>
              </a:lnSpc>
              <a:spcAft>
                <a:spcPts val="500"/>
              </a:spcAft>
              <a:buClr>
                <a:srgbClr val="00A9CE"/>
              </a:buClr>
              <a:buSzPct val="90000"/>
              <a:buFont typeface="Arial"/>
              <a:buChar char="▸"/>
            </a:pPr>
            <a:r>
              <a:rPr sz="1000" b="0">
                <a:solidFill>
                  <a:srgbClr val="333F4C"/>
                </a:solidFill>
                <a:latin typeface="Segoe UI"/>
              </a:rPr>
              <a:t>Eficiencia energética y gestión de la regeneración.</a:t>
            </a:r>
          </a:p>
        </p:txBody>
      </p:sp>
      <p:sp>
        <p:nvSpPr>
          <p:cNvPr id="13" name="Rectangle 12"/>
          <p:cNvSpPr/>
          <p:nvPr/>
        </p:nvSpPr>
        <p:spPr>
          <a:xfrm>
            <a:off x="6251295" y="1481328"/>
            <a:ext cx="5373471" cy="3822192"/>
          </a:xfrm>
          <a:prstGeom prst="rect">
            <a:avLst/>
          </a:prstGeom>
          <a:solidFill>
            <a:srgbClr val="F2F5F8"/>
          </a:solidFill>
          <a:ln w="12700">
            <a:solidFill>
              <a:srgbClr val="D3DAE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81328"/>
            <a:ext cx="5373471" cy="42062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52463" y="1581912"/>
            <a:ext cx="5007711" cy="274320"/>
          </a:xfrm>
          <a:prstGeom prst="rect">
            <a:avLst/>
          </a:prstGeom>
          <a:noFill/>
        </p:spPr>
        <p:txBody>
          <a:bodyPr wrap="square" lIns="0" rIns="0" tIns="0" bIns="0" anchor="t">
            <a:spAutoFit/>
          </a:bodyPr>
          <a:lstStyle/>
          <a:p>
            <a:pPr algn="l">
              <a:lnSpc>
                <a:spcPct val="100000"/>
              </a:lnSpc>
              <a:buNone/>
            </a:pPr>
            <a:r>
              <a:rPr sz="1350" b="1">
                <a:solidFill>
                  <a:srgbClr val="FFFFFF"/>
                </a:solidFill>
                <a:latin typeface="Segoe UI Semibold"/>
              </a:rPr>
              <a:t>Dónde buscar información fiable</a:t>
            </a:r>
          </a:p>
        </p:txBody>
      </p:sp>
      <p:sp>
        <p:nvSpPr>
          <p:cNvPr id="16" name="TextBox 15"/>
          <p:cNvSpPr txBox="1"/>
          <p:nvPr/>
        </p:nvSpPr>
        <p:spPr>
          <a:xfrm>
            <a:off x="6452463" y="2048256"/>
            <a:ext cx="4971135" cy="3090672"/>
          </a:xfrm>
          <a:prstGeom prst="rect">
            <a:avLst/>
          </a:prstGeom>
          <a:noFill/>
        </p:spPr>
        <p:txBody>
          <a:bodyPr wrap="square" lIns="0" rIns="0" tIns="0" bIns="0">
            <a:spAutoFit/>
          </a:bodyPr>
          <a:lstStyle/>
          <a:p>
            <a:pPr marL="274320" indent="-201168">
              <a:lnSpc>
                <a:spcPct val="106000"/>
              </a:lnSpc>
              <a:spcAft>
                <a:spcPts val="900"/>
              </a:spcAft>
              <a:buClr>
                <a:srgbClr val="1B5EA8"/>
              </a:buClr>
              <a:buSzPct val="90000"/>
              <a:buFont typeface="Arial"/>
              <a:buChar char="■"/>
            </a:pPr>
            <a:r>
              <a:rPr sz="1175" b="1">
                <a:solidFill>
                  <a:srgbClr val="1C2430"/>
                </a:solidFill>
                <a:latin typeface="Segoe UI"/>
              </a:rPr>
              <a:t>Manual de producto del SERVOPACK</a:t>
            </a:r>
            <a:r>
              <a:rPr sz="1175" b="1">
                <a:solidFill>
                  <a:srgbClr val="1C2430"/>
                </a:solidFill>
                <a:latin typeface="Segoe UI"/>
              </a:rPr>
              <a:t> correspondiente a tu variante: es la fuente principal y contiene todos los parámetros, alarmas y pinouts.</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Catálogo de la serie Σ-7</a:t>
            </a:r>
            <a:r>
              <a:rPr sz="1175" b="1">
                <a:solidFill>
                  <a:srgbClr val="1C2430"/>
                </a:solidFill>
                <a:latin typeface="Segoe UI"/>
              </a:rPr>
              <a:t>: datos de motores, curvas, inercias y combinaciones homologadas.</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Manual de selección de periféricos</a:t>
            </a:r>
            <a:r>
              <a:rPr sz="1175" b="1">
                <a:solidFill>
                  <a:srgbClr val="1C2430"/>
                </a:solidFill>
                <a:latin typeface="Segoe UI"/>
              </a:rPr>
              <a:t>: protecciones, filtros, resistencias de regeneración y cables.</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Ayuda de SigmaWin+</a:t>
            </a:r>
            <a:r>
              <a:rPr sz="1175" b="1">
                <a:solidFill>
                  <a:srgbClr val="1C2430"/>
                </a:solidFill>
                <a:latin typeface="Segoe UI"/>
              </a:rPr>
              <a:t>: describe cada función de ajuste con detalle.</a:t>
            </a:r>
          </a:p>
          <a:p>
            <a:pPr marL="274320" indent="-201168">
              <a:lnSpc>
                <a:spcPct val="106000"/>
              </a:lnSpc>
              <a:spcAft>
                <a:spcPts val="900"/>
              </a:spcAft>
              <a:buClr>
                <a:srgbClr val="1B5EA8"/>
              </a:buClr>
              <a:buSzPct val="90000"/>
              <a:buFont typeface="Arial"/>
              <a:buChar char="■"/>
            </a:pPr>
            <a:r>
              <a:rPr sz="1175" b="1">
                <a:solidFill>
                  <a:srgbClr val="1C2430"/>
                </a:solidFill>
                <a:latin typeface="Segoe UI"/>
              </a:rPr>
              <a:t>Soporte técnico oficial de YASKAWA</a:t>
            </a:r>
            <a:r>
              <a:rPr sz="1175" b="1">
                <a:solidFill>
                  <a:srgbClr val="1C2430"/>
                </a:solidFill>
                <a:latin typeface="Segoe UI"/>
              </a:rPr>
              <a:t> para dudas de aplicación y para confirmar combinaciones.</a:t>
            </a:r>
          </a:p>
          <a:p>
            <a:pPr marL="566928" indent="-201168">
              <a:lnSpc>
                <a:spcPct val="106000"/>
              </a:lnSpc>
              <a:spcAft>
                <a:spcPts val="500"/>
              </a:spcAft>
              <a:buClr>
                <a:srgbClr val="00A9CE"/>
              </a:buClr>
              <a:buSzPct val="90000"/>
              <a:buFont typeface="Arial"/>
              <a:buChar char="▸"/>
            </a:pPr>
            <a:r>
              <a:rPr sz="1025" b="0">
                <a:solidFill>
                  <a:srgbClr val="333F4C"/>
                </a:solidFill>
                <a:latin typeface="Segoe UI"/>
              </a:rPr>
              <a:t>Descarga los manuales y guárdalos </a:t>
            </a:r>
            <a:r>
              <a:rPr sz="1025" b="1">
                <a:solidFill>
                  <a:srgbClr val="333F4C"/>
                </a:solidFill>
                <a:latin typeface="Segoe UI"/>
              </a:rPr>
              <a:t>en local</a:t>
            </a:r>
            <a:r>
              <a:rPr sz="1025" b="0">
                <a:solidFill>
                  <a:srgbClr val="333F4C"/>
                </a:solidFill>
                <a:latin typeface="Segoe UI"/>
              </a:rPr>
              <a:t>: el día que los necesites puede que no tengas cobertura en la nave.</a:t>
            </a:r>
          </a:p>
        </p:txBody>
      </p:sp>
      <p:sp>
        <p:nvSpPr>
          <p:cNvPr id="17" name="Rectangle 16"/>
          <p:cNvSpPr/>
          <p:nvPr/>
        </p:nvSpPr>
        <p:spPr>
          <a:xfrm>
            <a:off x="566928" y="5458968"/>
            <a:ext cx="11057839" cy="868680"/>
          </a:xfrm>
          <a:prstGeom prst="rect">
            <a:avLst/>
          </a:prstGeom>
          <a:solidFill>
            <a:srgbClr val="FDF2DC"/>
          </a:solidFill>
          <a:ln w="9525">
            <a:solidFill>
              <a:srgbClr val="E89B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66928" y="5458968"/>
            <a:ext cx="68580" cy="86868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41248" y="5596128"/>
            <a:ext cx="10554919" cy="256032"/>
          </a:xfrm>
          <a:prstGeom prst="rect">
            <a:avLst/>
          </a:prstGeom>
          <a:noFill/>
        </p:spPr>
        <p:txBody>
          <a:bodyPr wrap="square" lIns="0" rIns="0" tIns="0" bIns="0" anchor="t">
            <a:spAutoFit/>
          </a:bodyPr>
          <a:lstStyle/>
          <a:p>
            <a:pPr algn="l">
              <a:lnSpc>
                <a:spcPct val="100000"/>
              </a:lnSpc>
              <a:buNone/>
            </a:pPr>
            <a:r>
              <a:rPr sz="1200" b="1">
                <a:solidFill>
                  <a:srgbClr val="E89B1F"/>
                </a:solidFill>
                <a:latin typeface="Segoe UI Semibold"/>
              </a:rPr>
              <a:t>Recordatorio final sobre los datos del curso</a:t>
            </a:r>
          </a:p>
        </p:txBody>
      </p:sp>
      <p:sp>
        <p:nvSpPr>
          <p:cNvPr id="20" name="TextBox 19"/>
          <p:cNvSpPr txBox="1"/>
          <p:nvPr/>
        </p:nvSpPr>
        <p:spPr>
          <a:xfrm>
            <a:off x="841248" y="5870448"/>
            <a:ext cx="10554919" cy="365760"/>
          </a:xfrm>
          <a:prstGeom prst="rect">
            <a:avLst/>
          </a:prstGeom>
          <a:noFill/>
        </p:spPr>
        <p:txBody>
          <a:bodyPr wrap="square" lIns="0" rIns="0" tIns="0" bIns="0" anchor="t">
            <a:spAutoFit/>
          </a:bodyPr>
          <a:lstStyle/>
          <a:p>
            <a:pPr algn="l">
              <a:lnSpc>
                <a:spcPct val="106000"/>
              </a:lnSpc>
              <a:buNone/>
            </a:pPr>
            <a:r>
              <a:rPr sz="1150" b="0">
                <a:solidFill>
                  <a:srgbClr val="2B3644"/>
                </a:solidFill>
                <a:latin typeface="Segoe UI"/>
              </a:rPr>
              <a:t>Los valores numéricos, códigos y asignaciones que has visto son didácticos. Antes de aplicarlos a un equipo real, contrástalos siempre con el manual oficial de tu modelo y con la placa de características.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384048" cy="6858000"/>
          </a:xfrm>
          <a:prstGeom prst="rect">
            <a:avLst/>
          </a:prstGeom>
          <a:solidFill>
            <a:srgbClr val="E89B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371600" y="2194560"/>
            <a:ext cx="9418320" cy="2194560"/>
          </a:xfrm>
          <a:prstGeom prst="rect">
            <a:avLst/>
          </a:prstGeom>
          <a:noFill/>
        </p:spPr>
        <p:txBody>
          <a:bodyPr wrap="square" lIns="0" rIns="0" tIns="0" bIns="0" anchor="t">
            <a:spAutoFit/>
          </a:bodyPr>
          <a:lstStyle/>
          <a:p>
            <a:pPr algn="l">
              <a:lnSpc>
                <a:spcPct val="120000"/>
              </a:lnSpc>
              <a:buNone/>
            </a:pPr>
            <a:r>
              <a:rPr sz="2800" b="1">
                <a:solidFill>
                  <a:srgbClr val="FFFFFF"/>
                </a:solidFill>
                <a:latin typeface="Segoe UI Semibold"/>
              </a:rPr>
              <a:t>Un servo no se instala: se dimensiona, se instala,</a:t>
            </a:r>
          </a:p>
          <a:p>
            <a:pPr algn="l">
              <a:lnSpc>
                <a:spcPct val="120000"/>
              </a:lnSpc>
              <a:buNone/>
            </a:pPr>
            <a:r>
              <a:rPr sz="2800" b="1">
                <a:solidFill>
                  <a:srgbClr val="FFFFFF"/>
                </a:solidFill>
                <a:latin typeface="Segoe UI Semibold"/>
              </a:rPr>
              <a:t>se parametriza y se sintoniza.</a:t>
            </a:r>
          </a:p>
        </p:txBody>
      </p:sp>
      <p:sp>
        <p:nvSpPr>
          <p:cNvPr id="5" name="TextBox 4"/>
          <p:cNvSpPr txBox="1"/>
          <p:nvPr/>
        </p:nvSpPr>
        <p:spPr>
          <a:xfrm>
            <a:off x="1371600" y="4663440"/>
            <a:ext cx="9418320" cy="365760"/>
          </a:xfrm>
          <a:prstGeom prst="rect">
            <a:avLst/>
          </a:prstGeom>
          <a:noFill/>
        </p:spPr>
        <p:txBody>
          <a:bodyPr wrap="square" lIns="0" rIns="0" tIns="0" bIns="0" anchor="t">
            <a:spAutoFit/>
          </a:bodyPr>
          <a:lstStyle/>
          <a:p>
            <a:pPr algn="l">
              <a:lnSpc>
                <a:spcPct val="100000"/>
              </a:lnSpc>
              <a:buNone/>
            </a:pPr>
            <a:r>
              <a:rPr sz="1400" b="0">
                <a:solidFill>
                  <a:srgbClr val="00A9CE"/>
                </a:solidFill>
                <a:latin typeface="Segoe UI"/>
              </a:rPr>
              <a:t>Si falta cualquiera de los cuatro pasos, el problema aparecerá más tarde — y más caro.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